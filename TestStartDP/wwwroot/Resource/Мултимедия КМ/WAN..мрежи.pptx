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4"/>
  </p:notesMasterIdLst>
  <p:sldIdLst>
    <p:sldId id="256" r:id="rId2"/>
    <p:sldId id="261" r:id="rId3"/>
    <p:sldId id="273" r:id="rId4"/>
    <p:sldId id="274" r:id="rId5"/>
    <p:sldId id="268" r:id="rId6"/>
    <p:sldId id="272" r:id="rId7"/>
    <p:sldId id="270" r:id="rId8"/>
    <p:sldId id="257" r:id="rId9"/>
    <p:sldId id="271" r:id="rId10"/>
    <p:sldId id="262" r:id="rId11"/>
    <p:sldId id="263" r:id="rId12"/>
    <p:sldId id="265" r:id="rId13"/>
    <p:sldId id="266" r:id="rId14"/>
    <p:sldId id="267" r:id="rId15"/>
    <p:sldId id="264" r:id="rId16"/>
    <p:sldId id="275" r:id="rId17"/>
    <p:sldId id="286" r:id="rId18"/>
    <p:sldId id="285" r:id="rId19"/>
    <p:sldId id="284" r:id="rId20"/>
    <p:sldId id="277" r:id="rId21"/>
    <p:sldId id="276" r:id="rId22"/>
    <p:sldId id="278" r:id="rId23"/>
    <p:sldId id="279" r:id="rId24"/>
    <p:sldId id="280" r:id="rId25"/>
    <p:sldId id="281" r:id="rId26"/>
    <p:sldId id="282" r:id="rId27"/>
    <p:sldId id="288" r:id="rId28"/>
    <p:sldId id="287" r:id="rId29"/>
    <p:sldId id="289" r:id="rId30"/>
    <p:sldId id="290" r:id="rId31"/>
    <p:sldId id="283" r:id="rId32"/>
    <p:sldId id="291"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35"/>
    <a:srgbClr val="FF0D97"/>
    <a:srgbClr val="0000CC"/>
    <a:srgbClr val="9EFF29"/>
    <a:srgbClr val="C80064"/>
    <a:srgbClr val="C33A1F"/>
    <a:srgbClr val="FF2549"/>
    <a:srgbClr val="007033"/>
    <a:srgbClr val="D6370C"/>
    <a:srgbClr val="1D3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756" y="-90"/>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12/15/2022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fld id="{AF533E96-F078-4B3D-A8F4-F1AF21EBC357}" type="slidenum">
              <a:rPr lang="en-US" smtClean="0"/>
              <a:t>3</a:t>
            </a:fld>
            <a:endParaRPr lang="en-US"/>
          </a:p>
        </p:txBody>
      </p:sp>
    </p:spTree>
    <p:extLst>
      <p:ext uri="{BB962C8B-B14F-4D97-AF65-F5344CB8AC3E}">
        <p14:creationId xmlns:p14="http://schemas.microsoft.com/office/powerpoint/2010/main" val="972237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75188" y="3303638"/>
            <a:ext cx="8008376" cy="951271"/>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575188" y="4254909"/>
            <a:ext cx="8001000" cy="678426"/>
          </a:xfrm>
        </p:spPr>
        <p:txBody>
          <a:bodyPr>
            <a:normAutofit/>
          </a:bodyPr>
          <a:lstStyle>
            <a:lvl1pPr marL="0" indent="0" algn="ctr">
              <a:buNone/>
              <a:defRPr sz="2800" b="0" i="0">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8" y="858518"/>
            <a:ext cx="8259098" cy="763526"/>
          </a:xfrm>
        </p:spPr>
        <p:txBody>
          <a:bodyPr>
            <a:normAutofit/>
          </a:bodyPr>
          <a:lstStyle>
            <a:lvl1pPr algn="ctr">
              <a:defRPr sz="3600" baseline="0">
                <a:solidFill>
                  <a:schemeClr val="tx2">
                    <a:lumMod val="40000"/>
                    <a:lumOff val="6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63714" y="1614948"/>
            <a:ext cx="8246070" cy="3163527"/>
          </a:xfrm>
        </p:spPr>
        <p:txBody>
          <a:bodyPr/>
          <a:lstStyle>
            <a:lvl1pPr algn="ctr">
              <a:defRPr sz="2800">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34344" y="406537"/>
            <a:ext cx="6805594" cy="725349"/>
          </a:xfrm>
        </p:spPr>
        <p:txBody>
          <a:bodyPr>
            <a:normAutofit/>
          </a:bodyPr>
          <a:lstStyle>
            <a:lvl1pPr algn="l">
              <a:defRPr sz="3600">
                <a:solidFill>
                  <a:srgbClr val="00206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1732936" y="1143000"/>
            <a:ext cx="6828503" cy="3545497"/>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8" y="832084"/>
            <a:ext cx="8093365" cy="763525"/>
          </a:xfrm>
        </p:spPr>
        <p:txBody>
          <a:bodyPr>
            <a:normAutofit/>
          </a:bodyPr>
          <a:lstStyle>
            <a:lvl1pPr algn="ctr">
              <a:defRPr sz="3600" baseline="0">
                <a:solidFill>
                  <a:schemeClr val="tx2">
                    <a:lumMod val="40000"/>
                    <a:lumOff val="6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22131" y="1736625"/>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22131" y="2209022"/>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57252" y="1736625"/>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57252" y="2209022"/>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xmlns=""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12/15/2022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xmlns=""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hyperlink" Target="https://download.pomagalo.com/1322581/wan+mreji+wan+protokoli+vryzki+mejdu+lan+i+wan/" TargetMode="External"/><Relationship Id="rId7" Type="http://schemas.openxmlformats.org/officeDocument/2006/relationships/hyperlink" Target="https://www.wikiwand.com/bg/WAN" TargetMode="External"/><Relationship Id="rId2" Type="http://schemas.openxmlformats.org/officeDocument/2006/relationships/hyperlink" Target="https://www.cisco.com/c/en/us/products/switches/what-is-a-wan-wide-area-network.html" TargetMode="External"/><Relationship Id="rId1" Type="http://schemas.openxmlformats.org/officeDocument/2006/relationships/slideLayout" Target="../slideLayouts/slideLayout8.xml"/><Relationship Id="rId6" Type="http://schemas.openxmlformats.org/officeDocument/2006/relationships/hyperlink" Target="https://www.bing.com/images/search?q" TargetMode="External"/><Relationship Id="rId5" Type="http://schemas.openxmlformats.org/officeDocument/2006/relationships/hyperlink" Target="http://gogors.free.bg/Mpe%D0%B6u.htm" TargetMode="External"/><Relationship Id="rId4" Type="http://schemas.openxmlformats.org/officeDocument/2006/relationships/hyperlink" Target="http://www.iseca.org/downloads/2003_2004-1/papers/43474_WAN.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Компютърни мрежи - Home">
            <a:extLst>
              <a:ext uri="{FF2B5EF4-FFF2-40B4-BE49-F238E27FC236}">
                <a16:creationId xmlns:a16="http://schemas.microsoft.com/office/drawing/2014/main" xmlns="" id="{7A5F0E9B-3454-E944-40A4-82847A869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4102" y="3339037"/>
            <a:ext cx="2477839" cy="17443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Компютърни мрежи - Home">
            <a:extLst>
              <a:ext uri="{FF2B5EF4-FFF2-40B4-BE49-F238E27FC236}">
                <a16:creationId xmlns:a16="http://schemas.microsoft.com/office/drawing/2014/main" xmlns="" id="{27739F2A-36DA-FA03-AD76-1EA818473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061" y="3339037"/>
            <a:ext cx="2477839" cy="174439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xmlns="" id="{55EF89CE-E7E3-C0E4-A244-7D442A95F36C}"/>
              </a:ext>
            </a:extLst>
          </p:cNvPr>
          <p:cNvSpPr/>
          <p:nvPr/>
        </p:nvSpPr>
        <p:spPr>
          <a:xfrm>
            <a:off x="3237115" y="3888070"/>
            <a:ext cx="2669769" cy="646331"/>
          </a:xfrm>
          <a:prstGeom prst="rect">
            <a:avLst/>
          </a:prstGeom>
          <a:noFill/>
        </p:spPr>
        <p:txBody>
          <a:bodyPr wrap="none" lIns="91440" tIns="45720" rIns="91440" bIns="45720">
            <a:spAutoFit/>
          </a:bodyPr>
          <a:lstStyle/>
          <a:p>
            <a:pPr algn="ctr"/>
            <a:r>
              <a:rPr lang="en-US" sz="3600" b="1" cap="none" spc="0" dirty="0">
                <a:ln w="9525">
                  <a:solidFill>
                    <a:schemeClr val="bg1"/>
                  </a:solidFill>
                  <a:prstDash val="solid"/>
                </a:ln>
                <a:solidFill>
                  <a:schemeClr val="accent5"/>
                </a:solidFill>
                <a:effectLst>
                  <a:outerShdw blurRad="12700" dist="38100" dir="2700000" algn="tl" rotWithShape="0">
                    <a:schemeClr val="accent5">
                      <a:lumMod val="60000"/>
                      <a:lumOff val="40000"/>
                      <a:alpha val="99000"/>
                    </a:schemeClr>
                  </a:outerShdw>
                </a:effectLst>
              </a:rPr>
              <a:t>WAN </a:t>
            </a:r>
            <a:r>
              <a:rPr lang="bg-BG" sz="3600" b="1" cap="none" spc="0" dirty="0">
                <a:ln w="9525">
                  <a:solidFill>
                    <a:schemeClr val="bg1"/>
                  </a:solidFill>
                  <a:prstDash val="solid"/>
                </a:ln>
                <a:solidFill>
                  <a:schemeClr val="accent5"/>
                </a:solidFill>
                <a:effectLst>
                  <a:outerShdw blurRad="12700" dist="38100" dir="2700000" algn="tl" rotWithShape="0">
                    <a:schemeClr val="accent5">
                      <a:lumMod val="60000"/>
                      <a:lumOff val="40000"/>
                      <a:alpha val="99000"/>
                    </a:schemeClr>
                  </a:outerShdw>
                </a:effectLst>
              </a:rPr>
              <a:t>мрежи</a:t>
            </a:r>
          </a:p>
        </p:txBody>
      </p:sp>
    </p:spTree>
    <p:extLst>
      <p:ext uri="{BB962C8B-B14F-4D97-AF65-F5344CB8AC3E}">
        <p14:creationId xmlns:p14="http://schemas.microsoft.com/office/powerpoint/2010/main" val="3639203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7F9CCE-EC23-349B-AAC3-8EBD07A17413}"/>
              </a:ext>
            </a:extLst>
          </p:cNvPr>
          <p:cNvSpPr>
            <a:spLocks noGrp="1"/>
          </p:cNvSpPr>
          <p:nvPr>
            <p:ph type="title"/>
          </p:nvPr>
        </p:nvSpPr>
        <p:spPr>
          <a:xfrm>
            <a:off x="1732936" y="222342"/>
            <a:ext cx="6805594" cy="725349"/>
          </a:xfrm>
        </p:spPr>
        <p:txBody>
          <a:bodyPr>
            <a:normAutofit/>
          </a:bodyPr>
          <a:lstStyle/>
          <a:p>
            <a:r>
              <a:rPr lang="bg-BG" sz="3200" b="1" dirty="0">
                <a:solidFill>
                  <a:schemeClr val="accent1">
                    <a:lumMod val="75000"/>
                  </a:schemeClr>
                </a:solidFill>
              </a:rPr>
              <a:t>Съдържание</a:t>
            </a:r>
          </a:p>
        </p:txBody>
      </p:sp>
      <p:sp>
        <p:nvSpPr>
          <p:cNvPr id="3" name="Content Placeholder 2">
            <a:extLst>
              <a:ext uri="{FF2B5EF4-FFF2-40B4-BE49-F238E27FC236}">
                <a16:creationId xmlns:a16="http://schemas.microsoft.com/office/drawing/2014/main" xmlns="" id="{6D5DF37A-FDAB-A145-7BC6-E3D3B14EE2A3}"/>
              </a:ext>
            </a:extLst>
          </p:cNvPr>
          <p:cNvSpPr>
            <a:spLocks noGrp="1"/>
          </p:cNvSpPr>
          <p:nvPr>
            <p:ph idx="1"/>
          </p:nvPr>
        </p:nvSpPr>
        <p:spPr>
          <a:xfrm>
            <a:off x="1534177" y="1244092"/>
            <a:ext cx="7274324" cy="3814711"/>
          </a:xfrm>
        </p:spPr>
        <p:txBody>
          <a:bodyPr>
            <a:normAutofit fontScale="70000" lnSpcReduction="20000"/>
          </a:bodyPr>
          <a:lstStyle/>
          <a:p>
            <a:pPr marL="514350" indent="-514350">
              <a:buFont typeface="+mj-lt"/>
              <a:buAutoNum type="arabicParenR"/>
            </a:pPr>
            <a:r>
              <a:rPr lang="bg-BG" sz="3400" b="1" dirty="0">
                <a:solidFill>
                  <a:schemeClr val="accent1">
                    <a:lumMod val="75000"/>
                  </a:schemeClr>
                </a:solidFill>
                <a:effectLst/>
                <a:latin typeface="+mj-lt"/>
              </a:rPr>
              <a:t>Компютърна мреж</a:t>
            </a:r>
            <a:r>
              <a:rPr lang="en-US" sz="3400" b="1" dirty="0">
                <a:solidFill>
                  <a:schemeClr val="accent1">
                    <a:lumMod val="75000"/>
                  </a:schemeClr>
                </a:solidFill>
                <a:effectLst/>
                <a:latin typeface="+mj-lt"/>
              </a:rPr>
              <a:t>a</a:t>
            </a:r>
            <a:r>
              <a:rPr lang="bg-BG" sz="3400" b="1" dirty="0">
                <a:solidFill>
                  <a:schemeClr val="accent1">
                    <a:lumMod val="75000"/>
                  </a:schemeClr>
                </a:solidFill>
                <a:effectLst/>
                <a:latin typeface="+mj-lt"/>
              </a:rPr>
              <a:t>.</a:t>
            </a:r>
          </a:p>
          <a:p>
            <a:pPr marL="514350" indent="-514350">
              <a:buFont typeface="+mj-lt"/>
              <a:buAutoNum type="arabicParenR"/>
            </a:pPr>
            <a:r>
              <a:rPr lang="ru-RU" sz="3400" b="1" dirty="0">
                <a:solidFill>
                  <a:schemeClr val="accent1">
                    <a:lumMod val="75000"/>
                  </a:schemeClr>
                </a:solidFill>
                <a:effectLst/>
                <a:latin typeface="+mj-lt"/>
              </a:rPr>
              <a:t>Категоризиране на мрежите според физическия обхват.</a:t>
            </a:r>
          </a:p>
          <a:p>
            <a:pPr marL="514350" indent="-514350">
              <a:buFont typeface="+mj-lt"/>
              <a:buAutoNum type="arabicParenR"/>
            </a:pPr>
            <a:r>
              <a:rPr lang="bg-BG" sz="3400" b="1" dirty="0">
                <a:solidFill>
                  <a:schemeClr val="accent1">
                    <a:lumMod val="75000"/>
                  </a:schemeClr>
                </a:solidFill>
                <a:effectLst/>
                <a:latin typeface="+mj-lt"/>
              </a:rPr>
              <a:t>Същност на </a:t>
            </a:r>
            <a:r>
              <a:rPr lang="nl-BE" sz="3400" b="1" dirty="0">
                <a:solidFill>
                  <a:schemeClr val="accent1">
                    <a:lumMod val="75000"/>
                  </a:schemeClr>
                </a:solidFill>
                <a:effectLst/>
                <a:latin typeface="+mj-lt"/>
              </a:rPr>
              <a:t>WAN </a:t>
            </a:r>
            <a:r>
              <a:rPr lang="bg-BG" sz="3400" b="1" dirty="0">
                <a:solidFill>
                  <a:schemeClr val="accent1">
                    <a:lumMod val="75000"/>
                  </a:schemeClr>
                </a:solidFill>
                <a:effectLst/>
                <a:latin typeface="+mj-lt"/>
              </a:rPr>
              <a:t>мрежи.</a:t>
            </a:r>
          </a:p>
          <a:p>
            <a:pPr marL="514350" indent="-514350">
              <a:buFont typeface="+mj-lt"/>
              <a:buAutoNum type="arabicParenR"/>
            </a:pPr>
            <a:r>
              <a:rPr lang="bg-BG" sz="3400" b="1" dirty="0">
                <a:solidFill>
                  <a:schemeClr val="accent1">
                    <a:lumMod val="75000"/>
                  </a:schemeClr>
                </a:solidFill>
                <a:effectLst/>
                <a:latin typeface="+mj-lt"/>
              </a:rPr>
              <a:t>Как започна широкообхватната мрежа?</a:t>
            </a:r>
          </a:p>
          <a:p>
            <a:pPr marL="514350" indent="-514350">
              <a:buFont typeface="+mj-lt"/>
              <a:buAutoNum type="arabicParenR"/>
            </a:pPr>
            <a:r>
              <a:rPr lang="nl-BE" sz="3400" b="1" i="0" dirty="0">
                <a:solidFill>
                  <a:schemeClr val="accent1">
                    <a:lumMod val="75000"/>
                  </a:schemeClr>
                </a:solidFill>
                <a:effectLst/>
                <a:latin typeface="+mj-lt"/>
              </a:rPr>
              <a:t>WAN </a:t>
            </a:r>
            <a:r>
              <a:rPr lang="bg-BG" sz="3400" b="1" i="0" dirty="0">
                <a:solidFill>
                  <a:schemeClr val="accent1">
                    <a:lumMod val="75000"/>
                  </a:schemeClr>
                </a:solidFill>
                <a:effectLst/>
                <a:latin typeface="+mj-lt"/>
              </a:rPr>
              <a:t>рутер.</a:t>
            </a:r>
            <a:endParaRPr lang="en-US" sz="3400" b="1" i="0" dirty="0">
              <a:solidFill>
                <a:schemeClr val="accent1">
                  <a:lumMod val="75000"/>
                </a:schemeClr>
              </a:solidFill>
              <a:effectLst/>
              <a:latin typeface="+mj-lt"/>
            </a:endParaRPr>
          </a:p>
          <a:p>
            <a:pPr marL="514350" indent="-514350">
              <a:buFont typeface="+mj-lt"/>
              <a:buAutoNum type="arabicParenR"/>
            </a:pPr>
            <a:r>
              <a:rPr lang="nl-BE" sz="3400" b="1" i="0" dirty="0">
                <a:solidFill>
                  <a:schemeClr val="accent1">
                    <a:lumMod val="75000"/>
                  </a:schemeClr>
                </a:solidFill>
                <a:effectLst/>
                <a:latin typeface="+mj-lt"/>
              </a:rPr>
              <a:t>Wan </a:t>
            </a:r>
            <a:r>
              <a:rPr lang="bg-BG" sz="3400" b="1" i="0" dirty="0">
                <a:solidFill>
                  <a:schemeClr val="accent1">
                    <a:lumMod val="75000"/>
                  </a:schemeClr>
                </a:solidFill>
                <a:effectLst/>
                <a:latin typeface="+mj-lt"/>
              </a:rPr>
              <a:t>топологии.</a:t>
            </a:r>
          </a:p>
          <a:p>
            <a:pPr marL="514350" indent="-514350">
              <a:buFont typeface="+mj-lt"/>
              <a:buAutoNum type="arabicParenR"/>
            </a:pPr>
            <a:r>
              <a:rPr lang="bg-BG" sz="3400" b="1" dirty="0">
                <a:solidFill>
                  <a:schemeClr val="accent1">
                    <a:lumMod val="75000"/>
                  </a:schemeClr>
                </a:solidFill>
                <a:effectLst/>
                <a:latin typeface="+mj-lt"/>
              </a:rPr>
              <a:t>Предимства и недостатъци.</a:t>
            </a:r>
          </a:p>
          <a:p>
            <a:pPr marL="514350" indent="-514350">
              <a:buFont typeface="+mj-lt"/>
              <a:buAutoNum type="arabicParenR"/>
            </a:pPr>
            <a:r>
              <a:rPr lang="bg-BG" sz="3400" b="1" dirty="0">
                <a:solidFill>
                  <a:schemeClr val="accent1">
                    <a:lumMod val="75000"/>
                  </a:schemeClr>
                </a:solidFill>
                <a:latin typeface="+mj-lt"/>
              </a:rPr>
              <a:t>Въпроси.</a:t>
            </a:r>
          </a:p>
          <a:p>
            <a:pPr marL="514350" indent="-514350">
              <a:buFont typeface="+mj-lt"/>
              <a:buAutoNum type="arabicParenR"/>
            </a:pPr>
            <a:r>
              <a:rPr lang="bg-BG" sz="3400" b="1" dirty="0">
                <a:solidFill>
                  <a:schemeClr val="accent1">
                    <a:lumMod val="75000"/>
                  </a:schemeClr>
                </a:solidFill>
                <a:latin typeface="+mj-lt"/>
              </a:rPr>
              <a:t>Източници.</a:t>
            </a:r>
          </a:p>
          <a:p>
            <a:pPr marL="514350" indent="-514350">
              <a:buFont typeface="+mj-lt"/>
              <a:buAutoNum type="arabicParenR"/>
            </a:pPr>
            <a:endParaRPr lang="bg-BG" sz="2400" b="1" dirty="0">
              <a:solidFill>
                <a:srgbClr val="00B0F0"/>
              </a:solidFill>
              <a:latin typeface="+mj-lt"/>
            </a:endParaRPr>
          </a:p>
          <a:p>
            <a:pPr marL="514350" indent="-514350">
              <a:buFont typeface="+mj-lt"/>
              <a:buAutoNum type="arabicParenR"/>
            </a:pPr>
            <a:endParaRPr lang="bg-BG" sz="2400" b="1" dirty="0">
              <a:solidFill>
                <a:schemeClr val="accent1">
                  <a:lumMod val="75000"/>
                </a:schemeClr>
              </a:solidFill>
              <a:effectLst/>
              <a:latin typeface="+mj-lt"/>
            </a:endParaRPr>
          </a:p>
          <a:p>
            <a:pPr marL="514350" indent="-514350">
              <a:buFont typeface="+mj-lt"/>
              <a:buAutoNum type="arabicParenR"/>
            </a:pPr>
            <a:endParaRPr lang="bg-BG" sz="2400" b="1" dirty="0">
              <a:solidFill>
                <a:srgbClr val="00B0F0"/>
              </a:solidFill>
              <a:effectLst/>
              <a:latin typeface="+mj-lt"/>
            </a:endParaRPr>
          </a:p>
          <a:p>
            <a:pPr marL="514350" indent="-514350">
              <a:buFont typeface="+mj-lt"/>
              <a:buAutoNum type="arabicParenR"/>
            </a:pPr>
            <a:endParaRPr lang="bg-BG" sz="2400" b="1" dirty="0">
              <a:solidFill>
                <a:srgbClr val="00B0F0"/>
              </a:solidFill>
              <a:effectLst/>
              <a:latin typeface="+mj-lt"/>
            </a:endParaRPr>
          </a:p>
          <a:p>
            <a:endParaRPr lang="bg-BG" sz="2400" dirty="0">
              <a:latin typeface="+mj-lt"/>
            </a:endParaRPr>
          </a:p>
        </p:txBody>
      </p:sp>
    </p:spTree>
    <p:extLst>
      <p:ext uri="{BB962C8B-B14F-4D97-AF65-F5344CB8AC3E}">
        <p14:creationId xmlns:p14="http://schemas.microsoft.com/office/powerpoint/2010/main" val="403922843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47B6CC8-B836-B904-5778-B6C152ACB1BA}"/>
              </a:ext>
            </a:extLst>
          </p:cNvPr>
          <p:cNvSpPr txBox="1"/>
          <p:nvPr/>
        </p:nvSpPr>
        <p:spPr>
          <a:xfrm>
            <a:off x="105770" y="1914815"/>
            <a:ext cx="8932459" cy="1938992"/>
          </a:xfrm>
          <a:prstGeom prst="rect">
            <a:avLst/>
          </a:prstGeom>
          <a:noFill/>
        </p:spPr>
        <p:txBody>
          <a:bodyPr wrap="square">
            <a:spAutoFit/>
          </a:bodyPr>
          <a:lstStyle/>
          <a:p>
            <a:r>
              <a:rPr lang="ru-RU" sz="2400" b="0" i="0" dirty="0">
                <a:solidFill>
                  <a:srgbClr val="00B0F0"/>
                </a:solidFill>
                <a:effectLst/>
                <a:latin typeface="+mj-lt"/>
              </a:rPr>
              <a:t>Компютърните мрежи представляват свързани помежду се компютри, периферни устройства и софтуер за съвместното им използване. Мрежата е механизма, позволяващ на разпръснатите компютри и техните потребители да комуникират помежду си и да споделят ресурси. </a:t>
            </a:r>
            <a:endParaRPr lang="en-US" sz="2400" b="0" i="0" dirty="0">
              <a:solidFill>
                <a:srgbClr val="00B0F0"/>
              </a:solidFill>
              <a:effectLst/>
              <a:latin typeface="+mj-lt"/>
            </a:endParaRPr>
          </a:p>
        </p:txBody>
      </p:sp>
      <p:sp>
        <p:nvSpPr>
          <p:cNvPr id="5" name="TextBox 4">
            <a:extLst>
              <a:ext uri="{FF2B5EF4-FFF2-40B4-BE49-F238E27FC236}">
                <a16:creationId xmlns:a16="http://schemas.microsoft.com/office/drawing/2014/main" xmlns="" id="{A3B51B09-4406-FA07-17AD-570A2E517949}"/>
              </a:ext>
            </a:extLst>
          </p:cNvPr>
          <p:cNvSpPr txBox="1"/>
          <p:nvPr/>
        </p:nvSpPr>
        <p:spPr>
          <a:xfrm>
            <a:off x="75063" y="1048182"/>
            <a:ext cx="9171295" cy="584775"/>
          </a:xfrm>
          <a:prstGeom prst="rect">
            <a:avLst/>
          </a:prstGeom>
          <a:noFill/>
        </p:spPr>
        <p:txBody>
          <a:bodyPr wrap="square">
            <a:spAutoFit/>
          </a:bodyPr>
          <a:lstStyle/>
          <a:p>
            <a:pPr algn="ctr"/>
            <a:r>
              <a:rPr lang="bg-BG" sz="3200" b="1" dirty="0">
                <a:solidFill>
                  <a:srgbClr val="00B0F0"/>
                </a:solidFill>
                <a:effectLst/>
                <a:latin typeface="Open Sans" panose="020B0606030504020204" pitchFamily="34" charset="0"/>
              </a:rPr>
              <a:t> </a:t>
            </a:r>
            <a:r>
              <a:rPr lang="bg-BG" sz="3200" b="1" dirty="0">
                <a:solidFill>
                  <a:srgbClr val="00B0F0"/>
                </a:solidFill>
                <a:latin typeface="Open Sans" panose="020B0606030504020204" pitchFamily="34" charset="0"/>
              </a:rPr>
              <a:t>К</a:t>
            </a:r>
            <a:r>
              <a:rPr lang="bg-BG" sz="3200" b="1" dirty="0">
                <a:solidFill>
                  <a:srgbClr val="00B0F0"/>
                </a:solidFill>
                <a:effectLst/>
                <a:latin typeface="Open Sans" panose="020B0606030504020204" pitchFamily="34" charset="0"/>
              </a:rPr>
              <a:t>омпютърна мреж</a:t>
            </a:r>
            <a:r>
              <a:rPr lang="en-US" sz="3200" b="1" dirty="0">
                <a:solidFill>
                  <a:srgbClr val="00B0F0"/>
                </a:solidFill>
                <a:effectLst/>
                <a:latin typeface="Open Sans" panose="020B0606030504020204" pitchFamily="34" charset="0"/>
              </a:rPr>
              <a:t>a</a:t>
            </a:r>
            <a:r>
              <a:rPr lang="bg-BG" sz="3200" b="1" dirty="0">
                <a:solidFill>
                  <a:srgbClr val="00B0F0"/>
                </a:solidFill>
                <a:effectLst/>
                <a:latin typeface="Open Sans" panose="020B0606030504020204" pitchFamily="34" charset="0"/>
              </a:rPr>
              <a:t>?</a:t>
            </a:r>
            <a:endParaRPr lang="bg-BG" sz="3200" dirty="0">
              <a:solidFill>
                <a:srgbClr val="00B0F0"/>
              </a:solidFill>
            </a:endParaRPr>
          </a:p>
        </p:txBody>
      </p:sp>
    </p:spTree>
    <p:extLst>
      <p:ext uri="{BB962C8B-B14F-4D97-AF65-F5344CB8AC3E}">
        <p14:creationId xmlns:p14="http://schemas.microsoft.com/office/powerpoint/2010/main" val="102912913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7D3343D-D4AF-B5B0-3EEF-E3771393C322}"/>
              </a:ext>
            </a:extLst>
          </p:cNvPr>
          <p:cNvSpPr txBox="1"/>
          <p:nvPr/>
        </p:nvSpPr>
        <p:spPr>
          <a:xfrm>
            <a:off x="208128" y="1426190"/>
            <a:ext cx="8727743" cy="3046988"/>
          </a:xfrm>
          <a:prstGeom prst="rect">
            <a:avLst/>
          </a:prstGeom>
          <a:noFill/>
        </p:spPr>
        <p:txBody>
          <a:bodyPr wrap="square">
            <a:spAutoFit/>
          </a:bodyPr>
          <a:lstStyle/>
          <a:p>
            <a:r>
              <a:rPr lang="ru-RU" sz="2400" b="0" i="0" dirty="0">
                <a:solidFill>
                  <a:srgbClr val="00B0F0"/>
                </a:solidFill>
                <a:effectLst/>
                <a:latin typeface="+mj-lt"/>
              </a:rPr>
              <a:t>Компютърните мрежи се организират за да се създаде възможност за</a:t>
            </a:r>
            <a:r>
              <a:rPr lang="en-US" sz="2400" dirty="0">
                <a:solidFill>
                  <a:srgbClr val="00B0F0"/>
                </a:solidFill>
                <a:latin typeface="+mj-lt"/>
              </a:rPr>
              <a:t>:</a:t>
            </a:r>
            <a:r>
              <a:rPr lang="ru-RU" sz="2400" dirty="0">
                <a:solidFill>
                  <a:srgbClr val="00B0F0"/>
                </a:solidFill>
                <a:latin typeface="+mj-lt"/>
              </a:rPr>
              <a:t/>
            </a:r>
            <a:br>
              <a:rPr lang="ru-RU" sz="2400" dirty="0">
                <a:solidFill>
                  <a:srgbClr val="00B0F0"/>
                </a:solidFill>
                <a:latin typeface="+mj-lt"/>
              </a:rPr>
            </a:br>
            <a:r>
              <a:rPr lang="ru-RU" sz="2400" b="0" i="0" dirty="0">
                <a:solidFill>
                  <a:srgbClr val="00B0F0"/>
                </a:solidFill>
                <a:effectLst/>
                <a:latin typeface="+mj-lt"/>
              </a:rPr>
              <a:t>-   обмен на данни между потребителите на различни компютри</a:t>
            </a:r>
            <a:r>
              <a:rPr lang="ru-RU" sz="2400" dirty="0">
                <a:solidFill>
                  <a:srgbClr val="00B0F0"/>
                </a:solidFill>
                <a:latin typeface="+mj-lt"/>
              </a:rPr>
              <a:t/>
            </a:r>
            <a:br>
              <a:rPr lang="ru-RU" sz="2400" dirty="0">
                <a:solidFill>
                  <a:srgbClr val="00B0F0"/>
                </a:solidFill>
                <a:latin typeface="+mj-lt"/>
              </a:rPr>
            </a:br>
            <a:r>
              <a:rPr lang="ru-RU" sz="2400" b="0" i="0" dirty="0">
                <a:solidFill>
                  <a:srgbClr val="00B0F0"/>
                </a:solidFill>
                <a:effectLst/>
                <a:latin typeface="+mj-lt"/>
              </a:rPr>
              <a:t>-   съвместно ползване на общи ресурси</a:t>
            </a:r>
            <a:r>
              <a:rPr lang="en-US" sz="2400" b="0" i="0" dirty="0">
                <a:solidFill>
                  <a:srgbClr val="00B0F0"/>
                </a:solidFill>
                <a:effectLst/>
                <a:latin typeface="+mj-lt"/>
              </a:rPr>
              <a:t> (</a:t>
            </a:r>
            <a:r>
              <a:rPr lang="ru-RU" sz="2400" b="0" i="0" dirty="0">
                <a:solidFill>
                  <a:srgbClr val="00B0F0"/>
                </a:solidFill>
                <a:effectLst/>
                <a:latin typeface="+mj-lt"/>
              </a:rPr>
              <a:t>апаратни, софтуерни и информационни</a:t>
            </a:r>
            <a:r>
              <a:rPr lang="en-US" sz="2400" b="0" i="0" dirty="0">
                <a:solidFill>
                  <a:srgbClr val="00B0F0"/>
                </a:solidFill>
                <a:effectLst/>
                <a:latin typeface="+mj-lt"/>
              </a:rPr>
              <a:t>)</a:t>
            </a:r>
            <a:r>
              <a:rPr lang="ru-RU" sz="2400" dirty="0">
                <a:solidFill>
                  <a:srgbClr val="00B0F0"/>
                </a:solidFill>
                <a:latin typeface="+mj-lt"/>
              </a:rPr>
              <a:t/>
            </a:r>
            <a:br>
              <a:rPr lang="ru-RU" sz="2400" dirty="0">
                <a:solidFill>
                  <a:srgbClr val="00B0F0"/>
                </a:solidFill>
                <a:latin typeface="+mj-lt"/>
              </a:rPr>
            </a:br>
            <a:r>
              <a:rPr lang="ru-RU" sz="2400" b="0" i="0" dirty="0">
                <a:solidFill>
                  <a:srgbClr val="00B0F0"/>
                </a:solidFill>
                <a:effectLst/>
                <a:latin typeface="+mj-lt"/>
              </a:rPr>
              <a:t>-   разпределена обработка на данни, т. е. обработка чрез различни компютри на данни, части от които се съхраняват в паметта на различни компютри.</a:t>
            </a:r>
            <a:endParaRPr lang="bg-BG" sz="2400" dirty="0">
              <a:solidFill>
                <a:srgbClr val="00B0F0"/>
              </a:solidFill>
              <a:latin typeface="+mj-lt"/>
            </a:endParaRPr>
          </a:p>
        </p:txBody>
      </p:sp>
    </p:spTree>
    <p:extLst>
      <p:ext uri="{BB962C8B-B14F-4D97-AF65-F5344CB8AC3E}">
        <p14:creationId xmlns:p14="http://schemas.microsoft.com/office/powerpoint/2010/main" val="5571455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03B92-787E-FF34-E3F6-63B10FD160B4}"/>
              </a:ext>
            </a:extLst>
          </p:cNvPr>
          <p:cNvSpPr>
            <a:spLocks noGrp="1"/>
          </p:cNvSpPr>
          <p:nvPr>
            <p:ph type="title"/>
          </p:nvPr>
        </p:nvSpPr>
        <p:spPr/>
        <p:txBody>
          <a:bodyPr>
            <a:noAutofit/>
          </a:bodyPr>
          <a:lstStyle/>
          <a:p>
            <a:r>
              <a:rPr lang="ru-RU" sz="3000" b="1" dirty="0">
                <a:solidFill>
                  <a:srgbClr val="00B0F0"/>
                </a:solidFill>
              </a:rPr>
              <a:t>Категоризиране на мрежите според физическия обхват</a:t>
            </a:r>
            <a:endParaRPr lang="bg-BG" sz="3000" b="1" dirty="0">
              <a:solidFill>
                <a:srgbClr val="00B0F0"/>
              </a:solidFill>
            </a:endParaRPr>
          </a:p>
        </p:txBody>
      </p:sp>
      <p:sp>
        <p:nvSpPr>
          <p:cNvPr id="6" name="TextBox 5">
            <a:extLst>
              <a:ext uri="{FF2B5EF4-FFF2-40B4-BE49-F238E27FC236}">
                <a16:creationId xmlns:a16="http://schemas.microsoft.com/office/drawing/2014/main" xmlns="" id="{8B12FB01-99CC-AD3C-53A3-D31DA681AE57}"/>
              </a:ext>
            </a:extLst>
          </p:cNvPr>
          <p:cNvSpPr txBox="1"/>
          <p:nvPr/>
        </p:nvSpPr>
        <p:spPr>
          <a:xfrm>
            <a:off x="308174" y="1976658"/>
            <a:ext cx="8557146" cy="2308324"/>
          </a:xfrm>
          <a:prstGeom prst="rect">
            <a:avLst/>
          </a:prstGeom>
          <a:noFill/>
        </p:spPr>
        <p:txBody>
          <a:bodyPr wrap="square">
            <a:spAutoFit/>
          </a:bodyPr>
          <a:lstStyle/>
          <a:p>
            <a:r>
              <a:rPr lang="bg-BG" sz="2400" dirty="0">
                <a:solidFill>
                  <a:srgbClr val="00B0F0"/>
                </a:solidFill>
              </a:rPr>
              <a:t>Физическият обхват включва географската област, която се заема от мрежата. Според</a:t>
            </a:r>
            <a:r>
              <a:rPr lang="en-US" sz="2400" dirty="0">
                <a:solidFill>
                  <a:srgbClr val="00B0F0"/>
                </a:solidFill>
              </a:rPr>
              <a:t> </a:t>
            </a:r>
            <a:r>
              <a:rPr lang="bg-BG" sz="2400" dirty="0">
                <a:solidFill>
                  <a:srgbClr val="00B0F0"/>
                </a:solidFill>
              </a:rPr>
              <a:t>физическия обхват съществуват следните категории мрежи:</a:t>
            </a:r>
          </a:p>
          <a:p>
            <a:r>
              <a:rPr lang="en-US" sz="2400" dirty="0">
                <a:solidFill>
                  <a:srgbClr val="00B0F0"/>
                </a:solidFill>
              </a:rPr>
              <a:t>1.</a:t>
            </a:r>
            <a:r>
              <a:rPr lang="bg-BG" sz="2400" b="1" i="1" dirty="0">
                <a:solidFill>
                  <a:srgbClr val="00B0F0"/>
                </a:solidFill>
              </a:rPr>
              <a:t>Локална мрежа </a:t>
            </a:r>
            <a:r>
              <a:rPr lang="bg-BG" sz="2400" dirty="0">
                <a:solidFill>
                  <a:srgbClr val="00B0F0"/>
                </a:solidFill>
              </a:rPr>
              <a:t>(</a:t>
            </a:r>
            <a:r>
              <a:rPr lang="nl-BE" sz="2400" b="1" dirty="0">
                <a:solidFill>
                  <a:srgbClr val="00B0F0"/>
                </a:solidFill>
              </a:rPr>
              <a:t>LAN</a:t>
            </a:r>
            <a:r>
              <a:rPr lang="nl-BE" sz="2400" dirty="0">
                <a:solidFill>
                  <a:srgbClr val="00B0F0"/>
                </a:solidFill>
              </a:rPr>
              <a:t>);</a:t>
            </a:r>
          </a:p>
          <a:p>
            <a:r>
              <a:rPr lang="nl-BE" sz="2400" dirty="0">
                <a:solidFill>
                  <a:srgbClr val="00B0F0"/>
                </a:solidFill>
              </a:rPr>
              <a:t>2.</a:t>
            </a:r>
            <a:r>
              <a:rPr lang="bg-BG" sz="2400" b="1" i="1" dirty="0">
                <a:solidFill>
                  <a:srgbClr val="00B0F0"/>
                </a:solidFill>
              </a:rPr>
              <a:t>Градска мрежа </a:t>
            </a:r>
            <a:r>
              <a:rPr lang="bg-BG" sz="2400" dirty="0">
                <a:solidFill>
                  <a:srgbClr val="00B0F0"/>
                </a:solidFill>
              </a:rPr>
              <a:t>(</a:t>
            </a:r>
            <a:r>
              <a:rPr lang="nl-BE" sz="2400" b="1" dirty="0">
                <a:solidFill>
                  <a:srgbClr val="00B0F0"/>
                </a:solidFill>
              </a:rPr>
              <a:t>MAN</a:t>
            </a:r>
            <a:r>
              <a:rPr lang="nl-BE" sz="2400" dirty="0">
                <a:solidFill>
                  <a:srgbClr val="00B0F0"/>
                </a:solidFill>
              </a:rPr>
              <a:t>);</a:t>
            </a:r>
          </a:p>
          <a:p>
            <a:r>
              <a:rPr lang="nl-BE" sz="2400" dirty="0">
                <a:solidFill>
                  <a:srgbClr val="00B0F0"/>
                </a:solidFill>
              </a:rPr>
              <a:t>3.</a:t>
            </a:r>
            <a:r>
              <a:rPr lang="bg-BG" sz="2400" b="1" i="1" dirty="0">
                <a:solidFill>
                  <a:srgbClr val="00B0F0"/>
                </a:solidFill>
              </a:rPr>
              <a:t>Глобална мрежа </a:t>
            </a:r>
            <a:r>
              <a:rPr lang="bg-BG" sz="2400" dirty="0">
                <a:solidFill>
                  <a:srgbClr val="00B0F0"/>
                </a:solidFill>
              </a:rPr>
              <a:t>(</a:t>
            </a:r>
            <a:r>
              <a:rPr lang="nl-BE" sz="2400" b="1" dirty="0">
                <a:solidFill>
                  <a:srgbClr val="00B0F0"/>
                </a:solidFill>
              </a:rPr>
              <a:t>WAN</a:t>
            </a:r>
            <a:r>
              <a:rPr lang="nl-BE" sz="2400" dirty="0">
                <a:solidFill>
                  <a:srgbClr val="00B0F0"/>
                </a:solidFill>
              </a:rPr>
              <a:t>);</a:t>
            </a:r>
            <a:endParaRPr lang="bg-BG" sz="2400" dirty="0">
              <a:solidFill>
                <a:srgbClr val="00B0F0"/>
              </a:solidFill>
            </a:endParaRPr>
          </a:p>
        </p:txBody>
      </p:sp>
    </p:spTree>
    <p:extLst>
      <p:ext uri="{BB962C8B-B14F-4D97-AF65-F5344CB8AC3E}">
        <p14:creationId xmlns:p14="http://schemas.microsoft.com/office/powerpoint/2010/main" val="31858762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72F27FE0-B2F0-AD9D-11EB-F45511EA30D7}"/>
              </a:ext>
            </a:extLst>
          </p:cNvPr>
          <p:cNvSpPr txBox="1"/>
          <p:nvPr/>
        </p:nvSpPr>
        <p:spPr>
          <a:xfrm>
            <a:off x="687436" y="1247978"/>
            <a:ext cx="7758753" cy="1200329"/>
          </a:xfrm>
          <a:prstGeom prst="rect">
            <a:avLst/>
          </a:prstGeom>
          <a:noFill/>
        </p:spPr>
        <p:txBody>
          <a:bodyPr wrap="square">
            <a:spAutoFit/>
          </a:bodyPr>
          <a:lstStyle/>
          <a:p>
            <a:r>
              <a:rPr lang="en-US" sz="2400" b="1" i="0" dirty="0">
                <a:solidFill>
                  <a:srgbClr val="00B0F0"/>
                </a:solidFill>
                <a:effectLst/>
                <a:latin typeface="+mj-lt"/>
              </a:rPr>
              <a:t>1.</a:t>
            </a:r>
            <a:r>
              <a:rPr lang="ru-RU" sz="2400" b="1" i="0" dirty="0">
                <a:solidFill>
                  <a:srgbClr val="00B0F0"/>
                </a:solidFill>
                <a:effectLst/>
                <a:latin typeface="+mj-lt"/>
              </a:rPr>
              <a:t>LAN (Local Area Network) </a:t>
            </a:r>
            <a:r>
              <a:rPr lang="ru-RU" sz="2400" b="0" i="0" dirty="0">
                <a:solidFill>
                  <a:srgbClr val="00B0F0"/>
                </a:solidFill>
                <a:effectLst/>
                <a:latin typeface="+mj-lt"/>
              </a:rPr>
              <a:t>–</a:t>
            </a:r>
            <a:r>
              <a:rPr lang="ru-RU" sz="2400" b="1" i="0" dirty="0">
                <a:solidFill>
                  <a:srgbClr val="00B0F0"/>
                </a:solidFill>
                <a:effectLst/>
                <a:latin typeface="+mj-lt"/>
              </a:rPr>
              <a:t> </a:t>
            </a:r>
            <a:r>
              <a:rPr lang="ru-RU" sz="2400" b="0" i="0" dirty="0">
                <a:solidFill>
                  <a:srgbClr val="00B0F0"/>
                </a:solidFill>
                <a:effectLst/>
                <a:latin typeface="+mj-lt"/>
              </a:rPr>
              <a:t>локална компютърна мрежа, която обслужва една организация и е разположена в една сграда.</a:t>
            </a:r>
            <a:endParaRPr lang="bg-BG" sz="2400" dirty="0">
              <a:solidFill>
                <a:srgbClr val="00B0F0"/>
              </a:solidFill>
              <a:latin typeface="+mj-lt"/>
            </a:endParaRPr>
          </a:p>
        </p:txBody>
      </p:sp>
      <p:pic>
        <p:nvPicPr>
          <p:cNvPr id="1026" name="Picture 2" descr="Picture">
            <a:extLst>
              <a:ext uri="{FF2B5EF4-FFF2-40B4-BE49-F238E27FC236}">
                <a16:creationId xmlns:a16="http://schemas.microsoft.com/office/drawing/2014/main" xmlns="" id="{C8724D9A-21C1-836E-F10F-B890B6DFE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694" y="2168409"/>
            <a:ext cx="2218495" cy="201184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xmlns="" id="{82EF34E8-CDE4-083C-BC33-15EC73B5A5B9}"/>
              </a:ext>
            </a:extLst>
          </p:cNvPr>
          <p:cNvSpPr/>
          <p:nvPr/>
        </p:nvSpPr>
        <p:spPr>
          <a:xfrm rot="5400000">
            <a:off x="5208682" y="3349131"/>
            <a:ext cx="1851785" cy="501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Rectangle 11">
            <a:extLst>
              <a:ext uri="{FF2B5EF4-FFF2-40B4-BE49-F238E27FC236}">
                <a16:creationId xmlns:a16="http://schemas.microsoft.com/office/drawing/2014/main" xmlns="" id="{D25E2963-9C5F-38E9-CA91-DCA5B2316AEF}"/>
              </a:ext>
            </a:extLst>
          </p:cNvPr>
          <p:cNvSpPr/>
          <p:nvPr/>
        </p:nvSpPr>
        <p:spPr>
          <a:xfrm>
            <a:off x="6109506" y="4249955"/>
            <a:ext cx="2109626" cy="50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3" name="Rectangle 12">
            <a:extLst>
              <a:ext uri="{FF2B5EF4-FFF2-40B4-BE49-F238E27FC236}">
                <a16:creationId xmlns:a16="http://schemas.microsoft.com/office/drawing/2014/main" xmlns="" id="{5335B3F1-FC57-F2B5-3417-D9038E4B8240}"/>
              </a:ext>
            </a:extLst>
          </p:cNvPr>
          <p:cNvSpPr/>
          <p:nvPr/>
        </p:nvSpPr>
        <p:spPr>
          <a:xfrm>
            <a:off x="736952" y="2448308"/>
            <a:ext cx="5422691" cy="50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5" name="TextBox 14">
            <a:extLst>
              <a:ext uri="{FF2B5EF4-FFF2-40B4-BE49-F238E27FC236}">
                <a16:creationId xmlns:a16="http://schemas.microsoft.com/office/drawing/2014/main" xmlns="" id="{199D5018-4F1A-FE89-2A3A-6125158203D7}"/>
              </a:ext>
            </a:extLst>
          </p:cNvPr>
          <p:cNvSpPr txBox="1"/>
          <p:nvPr/>
        </p:nvSpPr>
        <p:spPr>
          <a:xfrm>
            <a:off x="736952" y="2630156"/>
            <a:ext cx="5343644" cy="1569660"/>
          </a:xfrm>
          <a:prstGeom prst="rect">
            <a:avLst/>
          </a:prstGeom>
          <a:noFill/>
        </p:spPr>
        <p:txBody>
          <a:bodyPr wrap="square">
            <a:spAutoFit/>
          </a:bodyPr>
          <a:lstStyle/>
          <a:p>
            <a:r>
              <a:rPr lang="en-US" sz="2400" b="1" i="0" dirty="0">
                <a:solidFill>
                  <a:srgbClr val="00B0F0"/>
                </a:solidFill>
                <a:effectLst/>
                <a:latin typeface="+mj-lt"/>
              </a:rPr>
              <a:t>2.</a:t>
            </a:r>
            <a:r>
              <a:rPr lang="ru-RU" sz="2400" b="1" i="0" dirty="0">
                <a:solidFill>
                  <a:srgbClr val="00B0F0"/>
                </a:solidFill>
                <a:effectLst/>
                <a:latin typeface="+mj-lt"/>
              </a:rPr>
              <a:t>MAN (Metropolitan Area Network)</a:t>
            </a:r>
            <a:r>
              <a:rPr lang="ru-RU" sz="2400" b="0" i="0" dirty="0">
                <a:solidFill>
                  <a:srgbClr val="00B0F0"/>
                </a:solidFill>
                <a:effectLst/>
                <a:latin typeface="+mj-lt"/>
              </a:rPr>
              <a:t> – </a:t>
            </a:r>
            <a:r>
              <a:rPr lang="ru-RU" sz="2400" b="1" i="0" dirty="0">
                <a:solidFill>
                  <a:srgbClr val="00B0F0"/>
                </a:solidFill>
                <a:effectLst/>
                <a:latin typeface="+mj-lt"/>
              </a:rPr>
              <a:t>о</a:t>
            </a:r>
            <a:r>
              <a:rPr lang="ru-RU" sz="2400" b="0" i="0" dirty="0">
                <a:solidFill>
                  <a:srgbClr val="00B0F0"/>
                </a:solidFill>
                <a:effectLst/>
                <a:latin typeface="+mj-lt"/>
              </a:rPr>
              <a:t>бхваща територия на едно населено място или голяма сграда с много разположени в нея организации.</a:t>
            </a:r>
            <a:endParaRPr lang="bg-BG" sz="2400" dirty="0">
              <a:solidFill>
                <a:srgbClr val="00B0F0"/>
              </a:solidFill>
              <a:latin typeface="+mj-lt"/>
            </a:endParaRPr>
          </a:p>
        </p:txBody>
      </p:sp>
      <p:pic>
        <p:nvPicPr>
          <p:cNvPr id="1028" name="Picture 4" descr="Picture">
            <a:extLst>
              <a:ext uri="{FF2B5EF4-FFF2-40B4-BE49-F238E27FC236}">
                <a16:creationId xmlns:a16="http://schemas.microsoft.com/office/drawing/2014/main" xmlns="" id="{A06638E0-C38F-8261-8240-F35256ED2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732" y="2178877"/>
            <a:ext cx="2164801" cy="200457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xmlns="" id="{4323D99A-E834-B3D1-DBD9-822EBF4E0E0E}"/>
              </a:ext>
            </a:extLst>
          </p:cNvPr>
          <p:cNvSpPr/>
          <p:nvPr/>
        </p:nvSpPr>
        <p:spPr>
          <a:xfrm rot="5400000">
            <a:off x="5925377" y="2218460"/>
            <a:ext cx="413974"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7" name="Rectangle 16">
            <a:extLst>
              <a:ext uri="{FF2B5EF4-FFF2-40B4-BE49-F238E27FC236}">
                <a16:creationId xmlns:a16="http://schemas.microsoft.com/office/drawing/2014/main" xmlns="" id="{7B701EE9-B00B-98BC-FE3B-615099F19E0C}"/>
              </a:ext>
            </a:extLst>
          </p:cNvPr>
          <p:cNvSpPr/>
          <p:nvPr/>
        </p:nvSpPr>
        <p:spPr>
          <a:xfrm>
            <a:off x="6109504" y="2034332"/>
            <a:ext cx="2336685" cy="50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19829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nodeType="clickEffect">
                                  <p:stCondLst>
                                    <p:cond delay="0"/>
                                  </p:stCondLst>
                                  <p:childTnLst>
                                    <p:animEffect transition="out" filter="wheel(1)">
                                      <p:cBhvr>
                                        <p:cTn id="6" dur="2000"/>
                                        <p:tgtEl>
                                          <p:spTgt spid="1026"/>
                                        </p:tgtEl>
                                      </p:cBhvr>
                                    </p:animEffect>
                                    <p:set>
                                      <p:cBhvr>
                                        <p:cTn id="7" dur="1" fill="hold">
                                          <p:stCondLst>
                                            <p:cond delay="1999"/>
                                          </p:stCondLst>
                                        </p:cTn>
                                        <p:tgtEl>
                                          <p:spTgt spid="10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arn(inVertical)">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1028"/>
                                        </p:tgtEl>
                                        <p:attrNameLst>
                                          <p:attrName>style.visibility</p:attrName>
                                        </p:attrNameLst>
                                      </p:cBhvr>
                                      <p:to>
                                        <p:strVal val="visible"/>
                                      </p:to>
                                    </p:set>
                                    <p:animEffect transition="in" filter="wheel(1)">
                                      <p:cBhvr>
                                        <p:cTn id="30" dur="2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46A4F95-4020-FDB0-132E-07617C1A4303}"/>
              </a:ext>
            </a:extLst>
          </p:cNvPr>
          <p:cNvSpPr/>
          <p:nvPr/>
        </p:nvSpPr>
        <p:spPr>
          <a:xfrm>
            <a:off x="5626289" y="1499475"/>
            <a:ext cx="3316407" cy="2738155"/>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7" name="TextBox 6">
            <a:extLst>
              <a:ext uri="{FF2B5EF4-FFF2-40B4-BE49-F238E27FC236}">
                <a16:creationId xmlns:a16="http://schemas.microsoft.com/office/drawing/2014/main" xmlns="" id="{CFE4ABC7-39AC-E935-E671-5E204ADD2321}"/>
              </a:ext>
            </a:extLst>
          </p:cNvPr>
          <p:cNvSpPr txBox="1"/>
          <p:nvPr/>
        </p:nvSpPr>
        <p:spPr>
          <a:xfrm>
            <a:off x="296839" y="1714390"/>
            <a:ext cx="5424985" cy="2308324"/>
          </a:xfrm>
          <a:prstGeom prst="rect">
            <a:avLst/>
          </a:prstGeom>
          <a:noFill/>
        </p:spPr>
        <p:txBody>
          <a:bodyPr wrap="square">
            <a:spAutoFit/>
          </a:bodyPr>
          <a:lstStyle/>
          <a:p>
            <a:r>
              <a:rPr lang="en-US" sz="2400" b="1" i="0" dirty="0">
                <a:solidFill>
                  <a:srgbClr val="00B0F0"/>
                </a:solidFill>
                <a:effectLst/>
                <a:latin typeface="+mj-lt"/>
              </a:rPr>
              <a:t>3.</a:t>
            </a:r>
            <a:r>
              <a:rPr lang="ru-RU" sz="2400" b="1" i="0" dirty="0">
                <a:solidFill>
                  <a:srgbClr val="00B0F0"/>
                </a:solidFill>
                <a:effectLst/>
                <a:latin typeface="+mj-lt"/>
              </a:rPr>
              <a:t>WAN (Wide Area Network) </a:t>
            </a:r>
            <a:r>
              <a:rPr lang="ru-RU" sz="2400" b="0" i="0" dirty="0">
                <a:solidFill>
                  <a:srgbClr val="00B0F0"/>
                </a:solidFill>
                <a:effectLst/>
                <a:latin typeface="+mj-lt"/>
              </a:rPr>
              <a:t>– глобална компютърна мрежа, която използва високоскоростни, далечни комуникации или спътници, за да свърже ком­пютри, намиращи се в различни географски точки.</a:t>
            </a:r>
            <a:endParaRPr lang="bg-BG" sz="2400" dirty="0">
              <a:solidFill>
                <a:srgbClr val="00B0F0"/>
              </a:solidFill>
              <a:latin typeface="+mj-lt"/>
            </a:endParaRPr>
          </a:p>
        </p:txBody>
      </p:sp>
      <p:pic>
        <p:nvPicPr>
          <p:cNvPr id="2052" name="Picture 4" descr="Международни мрежи (Wide Area Network — WAN)">
            <a:extLst>
              <a:ext uri="{FF2B5EF4-FFF2-40B4-BE49-F238E27FC236}">
                <a16:creationId xmlns:a16="http://schemas.microsoft.com/office/drawing/2014/main" xmlns="" id="{AFB99A15-7557-3077-2DD2-D0221FFD7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0516" y="1675226"/>
            <a:ext cx="3373724" cy="238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509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40171"/>
            <a:ext cx="9144000" cy="763526"/>
          </a:xfrm>
        </p:spPr>
        <p:txBody>
          <a:bodyPr>
            <a:normAutofit fontScale="90000"/>
          </a:bodyPr>
          <a:lstStyle/>
          <a:p>
            <a:r>
              <a:rPr lang="bg-BG" dirty="0"/>
              <a:t/>
            </a:r>
            <a:br>
              <a:rPr lang="bg-BG" dirty="0"/>
            </a:br>
            <a:r>
              <a:rPr lang="bg-BG" b="1" i="0" dirty="0">
                <a:solidFill>
                  <a:srgbClr val="00B0F0"/>
                </a:solidFill>
                <a:effectLst/>
              </a:rPr>
              <a:t>Същност на </a:t>
            </a:r>
            <a:r>
              <a:rPr lang="nl-BE" b="1" i="0" dirty="0">
                <a:solidFill>
                  <a:srgbClr val="00B0F0"/>
                </a:solidFill>
                <a:effectLst/>
              </a:rPr>
              <a:t>WAN </a:t>
            </a:r>
            <a:r>
              <a:rPr lang="bg-BG" b="1" i="0" dirty="0">
                <a:solidFill>
                  <a:srgbClr val="00B0F0"/>
                </a:solidFill>
                <a:effectLst/>
              </a:rPr>
              <a:t>мрежи</a:t>
            </a:r>
            <a:endParaRPr lang="en-US" sz="3300" b="1" dirty="0">
              <a:solidFill>
                <a:srgbClr val="00B0F0"/>
              </a:solidFill>
            </a:endParaRPr>
          </a:p>
        </p:txBody>
      </p:sp>
      <p:sp>
        <p:nvSpPr>
          <p:cNvPr id="5" name="TextBox 4">
            <a:extLst>
              <a:ext uri="{FF2B5EF4-FFF2-40B4-BE49-F238E27FC236}">
                <a16:creationId xmlns:a16="http://schemas.microsoft.com/office/drawing/2014/main" xmlns="" id="{4CFD51F9-7A3E-4B0A-9132-BFB383E9DFB0}"/>
              </a:ext>
            </a:extLst>
          </p:cNvPr>
          <p:cNvSpPr txBox="1"/>
          <p:nvPr/>
        </p:nvSpPr>
        <p:spPr>
          <a:xfrm>
            <a:off x="621792" y="1840538"/>
            <a:ext cx="7900416" cy="2308324"/>
          </a:xfrm>
          <a:prstGeom prst="rect">
            <a:avLst/>
          </a:prstGeom>
          <a:noFill/>
        </p:spPr>
        <p:txBody>
          <a:bodyPr wrap="square">
            <a:spAutoFit/>
          </a:bodyPr>
          <a:lstStyle/>
          <a:p>
            <a:pPr marL="0" indent="0">
              <a:buNone/>
            </a:pPr>
            <a:r>
              <a:rPr lang="ru-RU" sz="2400" b="0" i="0" dirty="0">
                <a:solidFill>
                  <a:schemeClr val="tx2">
                    <a:lumMod val="60000"/>
                    <a:lumOff val="40000"/>
                  </a:schemeClr>
                </a:solidFill>
                <a:effectLst/>
                <a:latin typeface="+mj-lt"/>
              </a:rPr>
              <a:t>Глобалната мрежа (WAN - Wide Area Network) обхваща голяма географска област. Компютрите включени в мрежата могат да бъдат в различни градове или различни държави. Най-голямата глобална мрежа е Интернет (Internet-International Network). Глобалната мрежа може да бъде и частна собственост.</a:t>
            </a:r>
            <a:endParaRPr lang="en-US" sz="2400" dirty="0">
              <a:solidFill>
                <a:schemeClr val="tx2">
                  <a:lumMod val="60000"/>
                  <a:lumOff val="40000"/>
                </a:schemeClr>
              </a:solidFill>
              <a:latin typeface="+mj-lt"/>
            </a:endParaRPr>
          </a:p>
        </p:txBody>
      </p:sp>
    </p:spTree>
    <p:extLst>
      <p:ext uri="{BB962C8B-B14F-4D97-AF65-F5344CB8AC3E}">
        <p14:creationId xmlns:p14="http://schemas.microsoft.com/office/powerpoint/2010/main" val="41033094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Какво представлява широкообластна мрежа (WAN)? (Как да) | Компютърни съвети  и полезна информация за съвременните технологии!">
            <a:extLst>
              <a:ext uri="{FF2B5EF4-FFF2-40B4-BE49-F238E27FC236}">
                <a16:creationId xmlns:a16="http://schemas.microsoft.com/office/drawing/2014/main" xmlns="" id="{644CDD1B-1F2E-A2A5-9AB5-45147E649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754" y="1542198"/>
            <a:ext cx="6078491" cy="2804970"/>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7211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498400C-0867-D51B-737E-D2DC33EBA972}"/>
              </a:ext>
            </a:extLst>
          </p:cNvPr>
          <p:cNvSpPr>
            <a:spLocks noGrp="1"/>
          </p:cNvSpPr>
          <p:nvPr>
            <p:ph idx="1"/>
          </p:nvPr>
        </p:nvSpPr>
        <p:spPr>
          <a:xfrm>
            <a:off x="153538" y="1280582"/>
            <a:ext cx="8901752" cy="3163527"/>
          </a:xfrm>
        </p:spPr>
        <p:txBody>
          <a:bodyPr>
            <a:normAutofit/>
          </a:bodyPr>
          <a:lstStyle/>
          <a:p>
            <a:pPr marL="0" indent="0" algn="l">
              <a:buNone/>
            </a:pPr>
            <a:r>
              <a:rPr lang="ru-RU" sz="2400" b="0" i="0" dirty="0">
                <a:solidFill>
                  <a:srgbClr val="00B0F0"/>
                </a:solidFill>
                <a:effectLst/>
                <a:latin typeface="+mj-lt"/>
              </a:rPr>
              <a:t>Например организация с офиси в различни градове или държави може да свърже своите компютри в мрежа посредством телефонни линии, сателити или други технологии. Глобалната мрежа най-често се състои от множество свързани помежду си локални мрежи. </a:t>
            </a:r>
            <a:endParaRPr lang="bg-BG" sz="2400" dirty="0">
              <a:solidFill>
                <a:srgbClr val="00B0F0"/>
              </a:solidFill>
              <a:latin typeface="+mj-lt"/>
            </a:endParaRPr>
          </a:p>
        </p:txBody>
      </p:sp>
      <p:pic>
        <p:nvPicPr>
          <p:cNvPr id="5122" name="Picture 2" descr="WebOpas - WebOpas.net">
            <a:extLst>
              <a:ext uri="{FF2B5EF4-FFF2-40B4-BE49-F238E27FC236}">
                <a16:creationId xmlns:a16="http://schemas.microsoft.com/office/drawing/2014/main" xmlns="" id="{F76975D2-2F1D-F2E3-B369-754E94C825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835721" cy="51434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286000" y="1602254"/>
            <a:ext cx="4572000" cy="2308324"/>
          </a:xfrm>
          <a:prstGeom prst="rect">
            <a:avLst/>
          </a:prstGeom>
        </p:spPr>
        <p:txBody>
          <a:bodyPr>
            <a:spAutoFit/>
          </a:bodyPr>
          <a:lstStyle/>
          <a:p>
            <a:pPr lvl="0"/>
            <a:r>
              <a:rPr lang="ru-RU" sz="2400" b="1" dirty="0">
                <a:solidFill>
                  <a:schemeClr val="bg2">
                    <a:lumMod val="50000"/>
                  </a:schemeClr>
                </a:solidFill>
              </a:rPr>
              <a:t>За връзка между тях обикновено се използват обществени среди за пренос на информация, например обществената телефонна система.</a:t>
            </a:r>
            <a:endParaRPr lang="bg-BG" sz="2400" b="1" dirty="0">
              <a:solidFill>
                <a:schemeClr val="bg2">
                  <a:lumMod val="50000"/>
                </a:schemeClr>
              </a:solidFill>
            </a:endParaRPr>
          </a:p>
        </p:txBody>
      </p:sp>
    </p:spTree>
    <p:extLst>
      <p:ext uri="{BB962C8B-B14F-4D97-AF65-F5344CB8AC3E}">
        <p14:creationId xmlns:p14="http://schemas.microsoft.com/office/powerpoint/2010/main" val="422615557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5E8E926-AE7F-B090-7966-ECADE67BF418}"/>
              </a:ext>
            </a:extLst>
          </p:cNvPr>
          <p:cNvSpPr txBox="1"/>
          <p:nvPr/>
        </p:nvSpPr>
        <p:spPr>
          <a:xfrm>
            <a:off x="624384" y="1530727"/>
            <a:ext cx="4234218" cy="2677656"/>
          </a:xfrm>
          <a:prstGeom prst="rect">
            <a:avLst/>
          </a:prstGeom>
          <a:noFill/>
        </p:spPr>
        <p:txBody>
          <a:bodyPr wrap="square">
            <a:spAutoFit/>
          </a:bodyPr>
          <a:lstStyle/>
          <a:p>
            <a:r>
              <a:rPr lang="ru-RU" sz="2400" dirty="0">
                <a:solidFill>
                  <a:srgbClr val="00B0F0"/>
                </a:solidFill>
                <a:latin typeface="+mj-lt"/>
              </a:rPr>
              <a:t>От гледна точка на начина на управление, WAN мрежите се разделят на разпределени и централизирани. Разпределените WAN, например Интернет, нямат централизирано управление.</a:t>
            </a:r>
            <a:endParaRPr lang="bg-BG" sz="2400" dirty="0">
              <a:solidFill>
                <a:srgbClr val="00B0F0"/>
              </a:solidFill>
              <a:latin typeface="+mj-lt"/>
            </a:endParaRPr>
          </a:p>
        </p:txBody>
      </p:sp>
      <p:pic>
        <p:nvPicPr>
          <p:cNvPr id="1032" name="Picture 8" descr="Inštalácia a návrh počítačových sietí - Technologické správy a špičkové  technológie flipperworld.org">
            <a:extLst>
              <a:ext uri="{FF2B5EF4-FFF2-40B4-BE49-F238E27FC236}">
                <a16:creationId xmlns:a16="http://schemas.microsoft.com/office/drawing/2014/main" xmlns="" id="{0057E2EB-AEC0-D3C7-5735-7AF834CBD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608" y="1698036"/>
            <a:ext cx="3760384" cy="234303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84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5212AB7-B757-FE31-9807-873850B595B5}"/>
              </a:ext>
            </a:extLst>
          </p:cNvPr>
          <p:cNvSpPr txBox="1"/>
          <p:nvPr/>
        </p:nvSpPr>
        <p:spPr>
          <a:xfrm>
            <a:off x="284897" y="1479424"/>
            <a:ext cx="4757951" cy="3046988"/>
          </a:xfrm>
          <a:prstGeom prst="rect">
            <a:avLst/>
          </a:prstGeom>
          <a:noFill/>
        </p:spPr>
        <p:txBody>
          <a:bodyPr wrap="square">
            <a:spAutoFit/>
          </a:bodyPr>
          <a:lstStyle/>
          <a:p>
            <a:r>
              <a:rPr lang="ru-RU" sz="2400" dirty="0">
                <a:solidFill>
                  <a:srgbClr val="00B0F0"/>
                </a:solidFill>
              </a:rPr>
              <a:t>Връзките между локалните мрежи в рамките на глобалната мрежа се осъществяват с помощта на шлюз (gateway). Шлюзът представлява маршрутизатор, който определя пакетите с информация по кой път да преминат, за да достигнат до местоназначението си.</a:t>
            </a:r>
            <a:endParaRPr lang="bg-BG" sz="2400" dirty="0">
              <a:solidFill>
                <a:srgbClr val="00B0F0"/>
              </a:solidFill>
            </a:endParaRPr>
          </a:p>
        </p:txBody>
      </p:sp>
      <p:pic>
        <p:nvPicPr>
          <p:cNvPr id="7174" name="Picture 6" descr="Компютърни мрежи. Сравнение между еталонния модел ISO за отворени системи и  TCP/IP модела — Pоstvai.Com">
            <a:extLst>
              <a:ext uri="{FF2B5EF4-FFF2-40B4-BE49-F238E27FC236}">
                <a16:creationId xmlns:a16="http://schemas.microsoft.com/office/drawing/2014/main" xmlns="" id="{DE67E541-C108-364E-3BE2-765B4C9997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2" t="4909" r="3408" b="1824"/>
          <a:stretch/>
        </p:blipFill>
        <p:spPr bwMode="auto">
          <a:xfrm>
            <a:off x="5222148" y="1442382"/>
            <a:ext cx="3485123" cy="3121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40740"/>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Видове компютърна мрежа за фирма | BOREL-M">
            <a:extLst>
              <a:ext uri="{FF2B5EF4-FFF2-40B4-BE49-F238E27FC236}">
                <a16:creationId xmlns:a16="http://schemas.microsoft.com/office/drawing/2014/main" xmlns="" id="{4F5F8FC8-4134-9242-3905-4D1D63F1F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3733" y="3261815"/>
            <a:ext cx="2975652" cy="15893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xmlns="" id="{1C3832D5-8DB9-40D3-5776-F59E2743D077}"/>
              </a:ext>
            </a:extLst>
          </p:cNvPr>
          <p:cNvSpPr txBox="1"/>
          <p:nvPr/>
        </p:nvSpPr>
        <p:spPr>
          <a:xfrm>
            <a:off x="271427" y="1283853"/>
            <a:ext cx="8601146" cy="3416320"/>
          </a:xfrm>
          <a:prstGeom prst="rect">
            <a:avLst/>
          </a:prstGeom>
          <a:noFill/>
        </p:spPr>
        <p:txBody>
          <a:bodyPr wrap="square">
            <a:spAutoFit/>
          </a:bodyPr>
          <a:lstStyle/>
          <a:p>
            <a:r>
              <a:rPr lang="bg-BG" sz="2400" dirty="0">
                <a:solidFill>
                  <a:srgbClr val="00B0F0"/>
                </a:solidFill>
                <a:latin typeface="+mj-lt"/>
              </a:rPr>
              <a:t>Ч</a:t>
            </a:r>
            <a:r>
              <a:rPr lang="ru-RU" sz="2400" dirty="0">
                <a:solidFill>
                  <a:srgbClr val="00B0F0"/>
                </a:solidFill>
                <a:latin typeface="+mj-lt"/>
              </a:rPr>
              <a:t>астните глобални мрежи се изграждат с технологии – хардуерни и софтуерни – предназначени и използвани в глобалната мрежа Интернет. Затова те се наричат интранетмрежи. Интранет мрежите използват за преносна среда собствени кабелни или безжични трасета на връзка или наемат такива от телекомуникационна</a:t>
            </a:r>
          </a:p>
          <a:p>
            <a:r>
              <a:rPr lang="ru-RU" sz="2400" dirty="0">
                <a:solidFill>
                  <a:srgbClr val="00B0F0"/>
                </a:solidFill>
                <a:latin typeface="+mj-lt"/>
              </a:rPr>
              <a:t>компания. Значително поевтино е при</a:t>
            </a:r>
          </a:p>
          <a:p>
            <a:r>
              <a:rPr lang="ru-RU" sz="2400" dirty="0">
                <a:solidFill>
                  <a:srgbClr val="00B0F0"/>
                </a:solidFill>
                <a:latin typeface="+mj-lt"/>
              </a:rPr>
              <a:t>изграждането на частна мрежа да се </a:t>
            </a:r>
          </a:p>
          <a:p>
            <a:r>
              <a:rPr lang="ru-RU" sz="2400" dirty="0">
                <a:solidFill>
                  <a:srgbClr val="00B0F0"/>
                </a:solidFill>
                <a:latin typeface="+mj-lt"/>
              </a:rPr>
              <a:t>използва Интернет катопреносна среда. </a:t>
            </a:r>
            <a:endParaRPr lang="bg-BG" sz="2400" dirty="0">
              <a:solidFill>
                <a:srgbClr val="00B0F0"/>
              </a:solidFill>
              <a:latin typeface="+mj-lt"/>
            </a:endParaRPr>
          </a:p>
        </p:txBody>
      </p:sp>
    </p:spTree>
    <p:extLst>
      <p:ext uri="{BB962C8B-B14F-4D97-AF65-F5344CB8AC3E}">
        <p14:creationId xmlns:p14="http://schemas.microsoft.com/office/powerpoint/2010/main" val="3159532450"/>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022C852-3695-D82E-A019-F4774B20ED2D}"/>
              </a:ext>
            </a:extLst>
          </p:cNvPr>
          <p:cNvSpPr txBox="1"/>
          <p:nvPr/>
        </p:nvSpPr>
        <p:spPr>
          <a:xfrm>
            <a:off x="606472" y="1357953"/>
            <a:ext cx="7931056" cy="1569660"/>
          </a:xfrm>
          <a:prstGeom prst="rect">
            <a:avLst/>
          </a:prstGeom>
          <a:noFill/>
        </p:spPr>
        <p:txBody>
          <a:bodyPr wrap="square">
            <a:spAutoFit/>
          </a:bodyPr>
          <a:lstStyle/>
          <a:p>
            <a:r>
              <a:rPr lang="ru-RU" sz="2400" dirty="0">
                <a:solidFill>
                  <a:srgbClr val="00B0F0"/>
                </a:solidFill>
              </a:rPr>
              <a:t>Прилагат се VPN (Virtual Private Networks) технологии, които гарантират висока сигурност и изолират частната мрежа от публичната чрез криптиране на обменяните данни. </a:t>
            </a:r>
            <a:r>
              <a:rPr lang="ru-RU" sz="2400" dirty="0">
                <a:solidFill>
                  <a:srgbClr val="00B0F0"/>
                </a:solidFill>
                <a:latin typeface="+mj-lt"/>
              </a:rPr>
              <a:t>Та</a:t>
            </a:r>
            <a:r>
              <a:rPr lang="ru-RU" sz="2400" dirty="0">
                <a:solidFill>
                  <a:srgbClr val="00B0F0"/>
                </a:solidFill>
              </a:rPr>
              <a:t>кива мрежи е прието да се наричат екстранет. </a:t>
            </a:r>
            <a:endParaRPr lang="bg-BG" sz="2400" dirty="0">
              <a:solidFill>
                <a:srgbClr val="00B0F0"/>
              </a:solidFill>
            </a:endParaRPr>
          </a:p>
        </p:txBody>
      </p:sp>
      <p:pic>
        <p:nvPicPr>
          <p:cNvPr id="8194" name="Picture 2" descr="Преглед на изображението източник">
            <a:extLst>
              <a:ext uri="{FF2B5EF4-FFF2-40B4-BE49-F238E27FC236}">
                <a16:creationId xmlns:a16="http://schemas.microsoft.com/office/drawing/2014/main" xmlns="" id="{35A9FD24-5B45-4317-FA89-952CCAAEB0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2120" y="3203526"/>
            <a:ext cx="3199759" cy="170113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8907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CE3F84A-BA08-9082-44AD-9CDACD72EE8E}"/>
              </a:ext>
            </a:extLst>
          </p:cNvPr>
          <p:cNvPicPr>
            <a:picLocks noChangeAspect="1"/>
          </p:cNvPicPr>
          <p:nvPr/>
        </p:nvPicPr>
        <p:blipFill>
          <a:blip r:embed="rId2"/>
          <a:stretch>
            <a:fillRect/>
          </a:stretch>
        </p:blipFill>
        <p:spPr>
          <a:xfrm>
            <a:off x="2028470" y="1532168"/>
            <a:ext cx="5087060" cy="3143689"/>
          </a:xfrm>
          <a:prstGeom prst="rect">
            <a:avLst/>
          </a:prstGeom>
        </p:spPr>
      </p:pic>
      <p:sp>
        <p:nvSpPr>
          <p:cNvPr id="7" name="TextBox 6">
            <a:extLst>
              <a:ext uri="{FF2B5EF4-FFF2-40B4-BE49-F238E27FC236}">
                <a16:creationId xmlns:a16="http://schemas.microsoft.com/office/drawing/2014/main" xmlns="" id="{78E3ECF5-674B-2DFB-437C-DACFF5EAC9FD}"/>
              </a:ext>
            </a:extLst>
          </p:cNvPr>
          <p:cNvSpPr txBox="1"/>
          <p:nvPr/>
        </p:nvSpPr>
        <p:spPr>
          <a:xfrm>
            <a:off x="2028471" y="1070503"/>
            <a:ext cx="5087059" cy="461665"/>
          </a:xfrm>
          <a:prstGeom prst="rect">
            <a:avLst/>
          </a:prstGeom>
          <a:noFill/>
        </p:spPr>
        <p:txBody>
          <a:bodyPr wrap="square">
            <a:spAutoFit/>
          </a:bodyPr>
          <a:lstStyle/>
          <a:p>
            <a:pPr algn="ctr"/>
            <a:r>
              <a:rPr lang="bg-BG" sz="2400" b="1" i="1" dirty="0">
                <a:solidFill>
                  <a:srgbClr val="00B0F0"/>
                </a:solidFill>
                <a:latin typeface="+mj-lt"/>
              </a:rPr>
              <a:t>Схема на </a:t>
            </a:r>
            <a:r>
              <a:rPr lang="nl-BE" sz="2400" b="1" i="1" dirty="0">
                <a:solidFill>
                  <a:srgbClr val="00B0F0"/>
                </a:solidFill>
                <a:latin typeface="+mj-lt"/>
              </a:rPr>
              <a:t>WAN</a:t>
            </a:r>
            <a:endParaRPr lang="bg-BG" sz="2400" b="1" i="1" dirty="0">
              <a:solidFill>
                <a:srgbClr val="00B0F0"/>
              </a:solidFill>
              <a:latin typeface="+mj-lt"/>
            </a:endParaRPr>
          </a:p>
        </p:txBody>
      </p:sp>
    </p:spTree>
    <p:extLst>
      <p:ext uri="{BB962C8B-B14F-4D97-AF65-F5344CB8AC3E}">
        <p14:creationId xmlns:p14="http://schemas.microsoft.com/office/powerpoint/2010/main" val="3318529818"/>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818A110-3C9A-555C-80CD-CE603BD28A4B}"/>
              </a:ext>
            </a:extLst>
          </p:cNvPr>
          <p:cNvSpPr txBox="1"/>
          <p:nvPr/>
        </p:nvSpPr>
        <p:spPr>
          <a:xfrm>
            <a:off x="42760" y="820891"/>
            <a:ext cx="9058480" cy="553998"/>
          </a:xfrm>
          <a:prstGeom prst="rect">
            <a:avLst/>
          </a:prstGeom>
          <a:noFill/>
        </p:spPr>
        <p:txBody>
          <a:bodyPr wrap="square">
            <a:spAutoFit/>
          </a:bodyPr>
          <a:lstStyle/>
          <a:p>
            <a:pPr algn="ctr" fontAlgn="base"/>
            <a:r>
              <a:rPr lang="bg-BG" sz="3000" b="1" i="0" dirty="0">
                <a:solidFill>
                  <a:srgbClr val="00B0F0"/>
                </a:solidFill>
                <a:effectLst/>
                <a:latin typeface="+mj-lt"/>
              </a:rPr>
              <a:t>Как започна широкообхватната мрежа?</a:t>
            </a:r>
          </a:p>
        </p:txBody>
      </p:sp>
      <p:sp>
        <p:nvSpPr>
          <p:cNvPr id="5" name="TextBox 4">
            <a:extLst>
              <a:ext uri="{FF2B5EF4-FFF2-40B4-BE49-F238E27FC236}">
                <a16:creationId xmlns:a16="http://schemas.microsoft.com/office/drawing/2014/main" xmlns="" id="{A7C9F636-4CFF-2145-1364-4213312E1E1D}"/>
              </a:ext>
            </a:extLst>
          </p:cNvPr>
          <p:cNvSpPr txBox="1"/>
          <p:nvPr/>
        </p:nvSpPr>
        <p:spPr>
          <a:xfrm>
            <a:off x="42760" y="1344691"/>
            <a:ext cx="9144000" cy="3785652"/>
          </a:xfrm>
          <a:prstGeom prst="rect">
            <a:avLst/>
          </a:prstGeom>
          <a:noFill/>
        </p:spPr>
        <p:txBody>
          <a:bodyPr wrap="square">
            <a:spAutoFit/>
          </a:bodyPr>
          <a:lstStyle/>
          <a:p>
            <a:pPr algn="l" fontAlgn="base">
              <a:buFont typeface="Arial" panose="020B0604020202020204" pitchFamily="34" charset="0"/>
              <a:buChar char="•"/>
            </a:pPr>
            <a:r>
              <a:rPr lang="ru-RU" sz="2400" b="0" i="0" dirty="0">
                <a:solidFill>
                  <a:srgbClr val="00B0F0"/>
                </a:solidFill>
                <a:effectLst/>
                <a:latin typeface="+mj-lt"/>
              </a:rPr>
              <a:t>Първата известна WAN е създадена от Военновъздушните сили на САЩ в края на 50-те години на миналия век, за да свързва обекти в системата за радарна отбрана </a:t>
            </a:r>
            <a:r>
              <a:rPr lang="ru-RU" sz="2400" dirty="0">
                <a:solidFill>
                  <a:srgbClr val="00B0F0"/>
                </a:solidFill>
                <a:latin typeface="+mj-lt"/>
              </a:rPr>
              <a:t>Semi-Automatic Ground Environment</a:t>
            </a:r>
            <a:r>
              <a:rPr lang="ru-RU" sz="2400" b="0" i="0" dirty="0">
                <a:solidFill>
                  <a:srgbClr val="00B0F0"/>
                </a:solidFill>
                <a:effectLst/>
                <a:latin typeface="+mj-lt"/>
              </a:rPr>
              <a:t> (SAGE). Огромна мрежа от специални телефонни линии, телефони и модеми свързваше сайтовете заедно.</a:t>
            </a:r>
          </a:p>
          <a:p>
            <a:pPr algn="l" fontAlgn="base">
              <a:buFont typeface="Arial" panose="020B0604020202020204" pitchFamily="34" charset="0"/>
              <a:buChar char="•"/>
            </a:pPr>
            <a:r>
              <a:rPr lang="ru-RU" sz="2400" b="0" i="0" dirty="0">
                <a:solidFill>
                  <a:srgbClr val="00B0F0"/>
                </a:solidFill>
                <a:effectLst/>
                <a:latin typeface="+mj-lt"/>
              </a:rPr>
              <a:t>Основата на IP-базирания интернет започна с мрежата на агенцията за напреднали изследователски проекти (ARPANET), първата широкообхватна мрежа за комутация на пакети с разпределен контрол и първата мрежа, която внедрява TCP/IP пакет от протоколи.</a:t>
            </a:r>
          </a:p>
        </p:txBody>
      </p:sp>
    </p:spTree>
    <p:extLst>
      <p:ext uri="{BB962C8B-B14F-4D97-AF65-F5344CB8AC3E}">
        <p14:creationId xmlns:p14="http://schemas.microsoft.com/office/powerpoint/2010/main" val="4261387748"/>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F44E914-58FA-ADDC-A92C-BCB6E17DCC6B}"/>
              </a:ext>
            </a:extLst>
          </p:cNvPr>
          <p:cNvSpPr txBox="1"/>
          <p:nvPr/>
        </p:nvSpPr>
        <p:spPr>
          <a:xfrm>
            <a:off x="1225230" y="693553"/>
            <a:ext cx="6693539" cy="553998"/>
          </a:xfrm>
          <a:prstGeom prst="rect">
            <a:avLst/>
          </a:prstGeom>
          <a:noFill/>
        </p:spPr>
        <p:txBody>
          <a:bodyPr wrap="square">
            <a:spAutoFit/>
          </a:bodyPr>
          <a:lstStyle/>
          <a:p>
            <a:pPr algn="ctr" fontAlgn="base"/>
            <a:r>
              <a:rPr lang="nl-BE" sz="3000" b="1" i="0" dirty="0">
                <a:solidFill>
                  <a:srgbClr val="00B0F0"/>
                </a:solidFill>
                <a:effectLst/>
                <a:latin typeface="+mj-lt"/>
              </a:rPr>
              <a:t>WAN </a:t>
            </a:r>
            <a:r>
              <a:rPr lang="bg-BG" sz="3000" b="1" i="0" dirty="0">
                <a:solidFill>
                  <a:srgbClr val="00B0F0"/>
                </a:solidFill>
                <a:effectLst/>
                <a:latin typeface="+mj-lt"/>
              </a:rPr>
              <a:t>рутер</a:t>
            </a:r>
          </a:p>
        </p:txBody>
      </p:sp>
      <p:pic>
        <p:nvPicPr>
          <p:cNvPr id="1026" name="Picture 2" descr="Резултат с изображение за WAN рутер">
            <a:extLst>
              <a:ext uri="{FF2B5EF4-FFF2-40B4-BE49-F238E27FC236}">
                <a16:creationId xmlns:a16="http://schemas.microsoft.com/office/drawing/2014/main" xmlns="" id="{ABD95B42-8CFC-1B3F-2EA6-94218A244E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712" b="20432"/>
          <a:stretch/>
        </p:blipFill>
        <p:spPr bwMode="auto">
          <a:xfrm>
            <a:off x="5754880" y="3977242"/>
            <a:ext cx="2800350" cy="102623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C69F09C9-5F08-FAA1-3821-DDFA158F6365}"/>
              </a:ext>
            </a:extLst>
          </p:cNvPr>
          <p:cNvSpPr txBox="1"/>
          <p:nvPr/>
        </p:nvSpPr>
        <p:spPr>
          <a:xfrm>
            <a:off x="588767" y="1530127"/>
            <a:ext cx="7966463" cy="2677656"/>
          </a:xfrm>
          <a:prstGeom prst="rect">
            <a:avLst/>
          </a:prstGeom>
          <a:noFill/>
        </p:spPr>
        <p:txBody>
          <a:bodyPr wrap="square">
            <a:spAutoFit/>
          </a:bodyPr>
          <a:lstStyle/>
          <a:p>
            <a:pPr algn="l" fontAlgn="base">
              <a:buFont typeface="Arial" panose="020B0604020202020204" pitchFamily="34" charset="0"/>
              <a:buChar char="•"/>
            </a:pPr>
            <a:r>
              <a:rPr lang="ru-RU" sz="2400" b="0" i="0" dirty="0">
                <a:solidFill>
                  <a:srgbClr val="00B0F0"/>
                </a:solidFill>
                <a:effectLst/>
                <a:latin typeface="+mj-lt"/>
              </a:rPr>
              <a:t>WAN рутер, известен още като периферен рутер или граничен рутер, е устройство, което насочва пакети с данни между WAN местоположения, давайки на предприятието достъп до операторска мрежа. С течение на времето са разработени няколко WAN протокола, включително Packet over SONET/SDH (PoS), Multiprotocol Label Switching (MPLS), ATM и Frame Relay.</a:t>
            </a:r>
          </a:p>
        </p:txBody>
      </p:sp>
    </p:spTree>
    <p:extLst>
      <p:ext uri="{BB962C8B-B14F-4D97-AF65-F5344CB8AC3E}">
        <p14:creationId xmlns:p14="http://schemas.microsoft.com/office/powerpoint/2010/main" val="23466530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C88E60A-CD74-61B6-70F0-D39108C3C3CE}"/>
              </a:ext>
            </a:extLst>
          </p:cNvPr>
          <p:cNvSpPr txBox="1"/>
          <p:nvPr/>
        </p:nvSpPr>
        <p:spPr>
          <a:xfrm>
            <a:off x="308361" y="1682542"/>
            <a:ext cx="8527273" cy="3416320"/>
          </a:xfrm>
          <a:prstGeom prst="rect">
            <a:avLst/>
          </a:prstGeom>
          <a:noFill/>
        </p:spPr>
        <p:txBody>
          <a:bodyPr wrap="square">
            <a:spAutoFit/>
          </a:bodyPr>
          <a:lstStyle/>
          <a:p>
            <a:r>
              <a:rPr lang="ru-RU" sz="2400" b="0" i="0" dirty="0">
                <a:solidFill>
                  <a:srgbClr val="00B0F0"/>
                </a:solidFill>
                <a:effectLst/>
                <a:latin typeface="+mj-lt"/>
              </a:rPr>
              <a:t>WAN мрежите се използват за да свързват много </a:t>
            </a:r>
            <a:r>
              <a:rPr lang="ru-RU" sz="2400" dirty="0">
                <a:solidFill>
                  <a:srgbClr val="00B0F0"/>
                </a:solidFill>
                <a:latin typeface="+mj-lt"/>
              </a:rPr>
              <a:t>LAN</a:t>
            </a:r>
            <a:r>
              <a:rPr lang="ru-RU" sz="2400" b="0" i="0" dirty="0">
                <a:solidFill>
                  <a:srgbClr val="00B0F0"/>
                </a:solidFill>
                <a:effectLst/>
                <a:latin typeface="+mj-lt"/>
              </a:rPr>
              <a:t> и други видове мрежи, така че потребителите и устройствата разположени в една от тези мрежи да могат да достъпват, да обменят информация и да използват ресурси от отдалечените мрежи. Много WAN мрежи са изградени за една организация и са частни. Други се изграждат и поддържат от Интернет доставчици и предлагат свързаност от локалните мрежи на различни организации към Интернет. </a:t>
            </a:r>
          </a:p>
          <a:p>
            <a:endParaRPr lang="bg-BG" sz="2400" dirty="0">
              <a:solidFill>
                <a:srgbClr val="00B0F0"/>
              </a:solidFill>
              <a:latin typeface="+mj-lt"/>
            </a:endParaRPr>
          </a:p>
        </p:txBody>
      </p:sp>
      <p:sp>
        <p:nvSpPr>
          <p:cNvPr id="8" name="TextBox 7">
            <a:extLst>
              <a:ext uri="{FF2B5EF4-FFF2-40B4-BE49-F238E27FC236}">
                <a16:creationId xmlns:a16="http://schemas.microsoft.com/office/drawing/2014/main" xmlns="" id="{A2168AF1-FEF2-0CA9-8669-F52E6262824B}"/>
              </a:ext>
            </a:extLst>
          </p:cNvPr>
          <p:cNvSpPr txBox="1"/>
          <p:nvPr/>
        </p:nvSpPr>
        <p:spPr>
          <a:xfrm>
            <a:off x="62493" y="822302"/>
            <a:ext cx="9019010" cy="553998"/>
          </a:xfrm>
          <a:prstGeom prst="rect">
            <a:avLst/>
          </a:prstGeom>
          <a:noFill/>
        </p:spPr>
        <p:txBody>
          <a:bodyPr wrap="square" rtlCol="0">
            <a:spAutoFit/>
          </a:bodyPr>
          <a:lstStyle/>
          <a:p>
            <a:pPr algn="ctr"/>
            <a:r>
              <a:rPr lang="bg-BG" sz="3000" b="1" dirty="0">
                <a:solidFill>
                  <a:srgbClr val="00B0F0"/>
                </a:solidFill>
                <a:latin typeface="+mj-lt"/>
              </a:rPr>
              <a:t>Предназначение на </a:t>
            </a:r>
            <a:r>
              <a:rPr lang="en-US" sz="3000" b="1" dirty="0">
                <a:solidFill>
                  <a:srgbClr val="00B0F0"/>
                </a:solidFill>
                <a:latin typeface="+mj-lt"/>
              </a:rPr>
              <a:t>WAN</a:t>
            </a:r>
            <a:r>
              <a:rPr lang="bg-BG" dirty="0"/>
              <a:t> </a:t>
            </a:r>
          </a:p>
        </p:txBody>
      </p:sp>
    </p:spTree>
    <p:extLst>
      <p:ext uri="{BB962C8B-B14F-4D97-AF65-F5344CB8AC3E}">
        <p14:creationId xmlns:p14="http://schemas.microsoft.com/office/powerpoint/2010/main" val="162711166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E893590-396F-AAD2-18AB-A2A131010C90}"/>
              </a:ext>
            </a:extLst>
          </p:cNvPr>
          <p:cNvSpPr txBox="1"/>
          <p:nvPr/>
        </p:nvSpPr>
        <p:spPr>
          <a:xfrm>
            <a:off x="2279422" y="782420"/>
            <a:ext cx="4585156" cy="553998"/>
          </a:xfrm>
          <a:prstGeom prst="rect">
            <a:avLst/>
          </a:prstGeom>
          <a:noFill/>
        </p:spPr>
        <p:txBody>
          <a:bodyPr wrap="square">
            <a:spAutoFit/>
          </a:bodyPr>
          <a:lstStyle/>
          <a:p>
            <a:pPr algn="ctr"/>
            <a:r>
              <a:rPr lang="nl-BE" sz="3000" b="0" i="0" dirty="0">
                <a:solidFill>
                  <a:srgbClr val="00B0F0"/>
                </a:solidFill>
                <a:effectLst/>
                <a:latin typeface="+mj-lt"/>
              </a:rPr>
              <a:t>Wan </a:t>
            </a:r>
            <a:r>
              <a:rPr lang="bg-BG" sz="3000" b="0" i="0" dirty="0">
                <a:solidFill>
                  <a:srgbClr val="00B0F0"/>
                </a:solidFill>
                <a:effectLst/>
                <a:latin typeface="+mj-lt"/>
              </a:rPr>
              <a:t>топологии</a:t>
            </a:r>
            <a:endParaRPr lang="bg-BG" sz="3000" dirty="0">
              <a:solidFill>
                <a:srgbClr val="00B0F0"/>
              </a:solidFill>
              <a:latin typeface="+mj-lt"/>
            </a:endParaRPr>
          </a:p>
        </p:txBody>
      </p:sp>
      <p:sp>
        <p:nvSpPr>
          <p:cNvPr id="9" name="TextBox 8">
            <a:extLst>
              <a:ext uri="{FF2B5EF4-FFF2-40B4-BE49-F238E27FC236}">
                <a16:creationId xmlns:a16="http://schemas.microsoft.com/office/drawing/2014/main" xmlns="" id="{5B7BB6CE-5879-2E3D-30E0-119F394F7EAB}"/>
              </a:ext>
            </a:extLst>
          </p:cNvPr>
          <p:cNvSpPr txBox="1"/>
          <p:nvPr/>
        </p:nvSpPr>
        <p:spPr>
          <a:xfrm>
            <a:off x="230244" y="1598555"/>
            <a:ext cx="8683511" cy="2677656"/>
          </a:xfrm>
          <a:prstGeom prst="rect">
            <a:avLst/>
          </a:prstGeom>
          <a:noFill/>
        </p:spPr>
        <p:txBody>
          <a:bodyPr wrap="square">
            <a:spAutoFit/>
          </a:bodyPr>
          <a:lstStyle/>
          <a:p>
            <a:r>
              <a:rPr lang="ru-RU" sz="2400" b="0" i="0" dirty="0">
                <a:solidFill>
                  <a:srgbClr val="00B0F0"/>
                </a:solidFill>
                <a:effectLst/>
                <a:latin typeface="+mj-lt"/>
              </a:rPr>
              <a:t>Топологията на една мрежа определя геометричното свързване, на чисто физическо ниво, на различните устройства и кабели. Определя се на база разположението на компютрите в реалното пространство и отразява географския изглед на самата мрежа. Също така се отчита обемът на предаваните данни, капацитета (или, казано терминологично пропускателната способност) на свързващите линии</a:t>
            </a:r>
            <a:r>
              <a:rPr lang="en-US" sz="2400" b="0" i="0" dirty="0">
                <a:solidFill>
                  <a:srgbClr val="00B0F0"/>
                </a:solidFill>
                <a:effectLst/>
                <a:latin typeface="+mj-lt"/>
              </a:rPr>
              <a:t>.</a:t>
            </a:r>
            <a:endParaRPr lang="bg-BG" sz="2400" dirty="0">
              <a:solidFill>
                <a:srgbClr val="00B0F0"/>
              </a:solidFill>
              <a:latin typeface="+mj-lt"/>
            </a:endParaRPr>
          </a:p>
        </p:txBody>
      </p:sp>
    </p:spTree>
    <p:extLst>
      <p:ext uri="{BB962C8B-B14F-4D97-AF65-F5344CB8AC3E}">
        <p14:creationId xmlns:p14="http://schemas.microsoft.com/office/powerpoint/2010/main" val="4157718269"/>
      </p:ext>
    </p:extLst>
  </p:cSld>
  <p:clrMapOvr>
    <a:masterClrMapping/>
  </p:clrMapOvr>
  <p:transition spd="slow">
    <p:wheel spokes="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F088EE39-D6E6-BE89-492E-ED3B135E5FE3}"/>
              </a:ext>
            </a:extLst>
          </p:cNvPr>
          <p:cNvSpPr/>
          <p:nvPr/>
        </p:nvSpPr>
        <p:spPr>
          <a:xfrm>
            <a:off x="1282792" y="1309111"/>
            <a:ext cx="6683672" cy="3302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2" name="Picture 1">
            <a:extLst>
              <a:ext uri="{FF2B5EF4-FFF2-40B4-BE49-F238E27FC236}">
                <a16:creationId xmlns:a16="http://schemas.microsoft.com/office/drawing/2014/main" xmlns="" id="{2D74F15B-0848-9F9C-907E-9348E7F7065C}"/>
              </a:ext>
            </a:extLst>
          </p:cNvPr>
          <p:cNvPicPr>
            <a:picLocks noChangeAspect="1"/>
          </p:cNvPicPr>
          <p:nvPr/>
        </p:nvPicPr>
        <p:blipFill>
          <a:blip r:embed="rId2"/>
          <a:stretch>
            <a:fillRect/>
          </a:stretch>
        </p:blipFill>
        <p:spPr>
          <a:xfrm>
            <a:off x="2136547" y="1689289"/>
            <a:ext cx="4857750" cy="2667000"/>
          </a:xfrm>
          <a:prstGeom prst="rect">
            <a:avLst/>
          </a:prstGeom>
        </p:spPr>
      </p:pic>
      <p:sp>
        <p:nvSpPr>
          <p:cNvPr id="4" name="TextBox 3">
            <a:extLst>
              <a:ext uri="{FF2B5EF4-FFF2-40B4-BE49-F238E27FC236}">
                <a16:creationId xmlns:a16="http://schemas.microsoft.com/office/drawing/2014/main" xmlns="" id="{336F14DF-485B-EDA5-B60C-58DEAA27D66E}"/>
              </a:ext>
            </a:extLst>
          </p:cNvPr>
          <p:cNvSpPr txBox="1"/>
          <p:nvPr/>
        </p:nvSpPr>
        <p:spPr>
          <a:xfrm>
            <a:off x="1282792" y="1355160"/>
            <a:ext cx="6683672" cy="400110"/>
          </a:xfrm>
          <a:prstGeom prst="rect">
            <a:avLst/>
          </a:prstGeom>
          <a:noFill/>
        </p:spPr>
        <p:txBody>
          <a:bodyPr wrap="square" rtlCol="0">
            <a:spAutoFit/>
          </a:bodyPr>
          <a:lstStyle/>
          <a:p>
            <a:pPr algn="ctr"/>
            <a:r>
              <a:rPr lang="bg-BG" sz="2000" b="1" dirty="0">
                <a:solidFill>
                  <a:schemeClr val="tx2">
                    <a:lumMod val="75000"/>
                  </a:schemeClr>
                </a:solidFill>
              </a:rPr>
              <a:t>Основните видове мрежови топологии</a:t>
            </a:r>
          </a:p>
        </p:txBody>
      </p:sp>
    </p:spTree>
    <p:extLst>
      <p:ext uri="{BB962C8B-B14F-4D97-AF65-F5344CB8AC3E}">
        <p14:creationId xmlns:p14="http://schemas.microsoft.com/office/powerpoint/2010/main" val="108587703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792BAF3-BF59-3BC5-0178-DDA48CA8DC35}"/>
              </a:ext>
            </a:extLst>
          </p:cNvPr>
          <p:cNvSpPr txBox="1"/>
          <p:nvPr/>
        </p:nvSpPr>
        <p:spPr>
          <a:xfrm>
            <a:off x="1235098" y="1206138"/>
            <a:ext cx="6673804" cy="3046988"/>
          </a:xfrm>
          <a:prstGeom prst="rect">
            <a:avLst/>
          </a:prstGeom>
          <a:noFill/>
        </p:spPr>
        <p:txBody>
          <a:bodyPr wrap="square">
            <a:spAutoFit/>
          </a:bodyPr>
          <a:lstStyle/>
          <a:p>
            <a:pPr algn="ctr"/>
            <a:r>
              <a:rPr lang="ru-RU" sz="2400" b="0" i="0" dirty="0">
                <a:solidFill>
                  <a:srgbClr val="00B0F0"/>
                </a:solidFill>
                <a:effectLst/>
                <a:latin typeface="+mj-lt"/>
              </a:rPr>
              <a:t>Една WAN може да бъде изградена по най-различни начини като архитектура. Избирането на подходяща за целите с които ще използваме нашата мрека, топология е много важно. От нея зависи надежността на нашата мрека например, дали проблем породен в някоя от линиите на WAN-а ще срути цялата мрежа или WAN- а ще продълки да функционира.</a:t>
            </a:r>
            <a:endParaRPr lang="bg-BG" sz="2400" dirty="0">
              <a:solidFill>
                <a:srgbClr val="00B0F0"/>
              </a:solidFill>
              <a:latin typeface="+mj-lt"/>
            </a:endParaRPr>
          </a:p>
        </p:txBody>
      </p:sp>
    </p:spTree>
    <p:extLst>
      <p:ext uri="{BB962C8B-B14F-4D97-AF65-F5344CB8AC3E}">
        <p14:creationId xmlns:p14="http://schemas.microsoft.com/office/powerpoint/2010/main" val="7636715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BD5A92B-A27C-B045-9E80-757ECB5A77E5}"/>
              </a:ext>
            </a:extLst>
          </p:cNvPr>
          <p:cNvSpPr txBox="1"/>
          <p:nvPr/>
        </p:nvSpPr>
        <p:spPr>
          <a:xfrm>
            <a:off x="69073" y="1804240"/>
            <a:ext cx="9005854" cy="3046988"/>
          </a:xfrm>
          <a:prstGeom prst="rect">
            <a:avLst/>
          </a:prstGeom>
          <a:noFill/>
        </p:spPr>
        <p:txBody>
          <a:bodyPr wrap="square">
            <a:spAutoFit/>
          </a:bodyPr>
          <a:lstStyle/>
          <a:p>
            <a:r>
              <a:rPr lang="ru-RU" sz="2400" dirty="0">
                <a:solidFill>
                  <a:srgbClr val="00B0F0"/>
                </a:solidFill>
                <a:latin typeface="+mj-lt"/>
              </a:rPr>
              <a:t>Тази топология е подобна на топологията,по която се изграждат повечето LAN-ове . Идеята и е в това да се свържат няколко офиса така че всеки едни офис е свързан с найблизката си точка (например) и с никоя повече.Това е най-ненадежната топология за WAN при нея който и офис да има проблем( или която и де е връзка м/у два офиса) , то той би разделил WAN-a на две части които не биха могли да си комуникират .Друг основен недостатък е невъзможността за разрастване . </a:t>
            </a:r>
            <a:endParaRPr lang="bg-BG" sz="2400" dirty="0">
              <a:solidFill>
                <a:srgbClr val="00B0F0"/>
              </a:solidFill>
              <a:latin typeface="+mj-lt"/>
            </a:endParaRPr>
          </a:p>
        </p:txBody>
      </p:sp>
      <p:sp>
        <p:nvSpPr>
          <p:cNvPr id="7" name="TextBox 6">
            <a:extLst>
              <a:ext uri="{FF2B5EF4-FFF2-40B4-BE49-F238E27FC236}">
                <a16:creationId xmlns:a16="http://schemas.microsoft.com/office/drawing/2014/main" xmlns="" id="{1DA9E3DD-BFD8-6B8A-8F81-854704AC644E}"/>
              </a:ext>
            </a:extLst>
          </p:cNvPr>
          <p:cNvSpPr txBox="1"/>
          <p:nvPr/>
        </p:nvSpPr>
        <p:spPr>
          <a:xfrm>
            <a:off x="69073" y="934802"/>
            <a:ext cx="9005854" cy="553998"/>
          </a:xfrm>
          <a:prstGeom prst="rect">
            <a:avLst/>
          </a:prstGeom>
          <a:noFill/>
        </p:spPr>
        <p:txBody>
          <a:bodyPr wrap="square">
            <a:spAutoFit/>
          </a:bodyPr>
          <a:lstStyle/>
          <a:p>
            <a:pPr algn="ctr"/>
            <a:r>
              <a:rPr lang="ru-RU" sz="3000" b="1" dirty="0">
                <a:solidFill>
                  <a:srgbClr val="00B0F0"/>
                </a:solidFill>
                <a:latin typeface="+mj-lt"/>
              </a:rPr>
              <a:t>WAN от точка до точка</a:t>
            </a:r>
            <a:endParaRPr lang="bg-BG" sz="3000" b="1" dirty="0">
              <a:solidFill>
                <a:srgbClr val="00B0F0"/>
              </a:solidFill>
              <a:latin typeface="+mj-lt"/>
            </a:endParaRPr>
          </a:p>
        </p:txBody>
      </p:sp>
    </p:spTree>
    <p:extLst>
      <p:ext uri="{BB962C8B-B14F-4D97-AF65-F5344CB8AC3E}">
        <p14:creationId xmlns:p14="http://schemas.microsoft.com/office/powerpoint/2010/main" val="305505887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EA2D0CC-3C20-1E07-8EF0-F851A7F093D4}"/>
              </a:ext>
            </a:extLst>
          </p:cNvPr>
          <p:cNvSpPr txBox="1"/>
          <p:nvPr/>
        </p:nvSpPr>
        <p:spPr>
          <a:xfrm>
            <a:off x="955516" y="1516066"/>
            <a:ext cx="4333532" cy="3046988"/>
          </a:xfrm>
          <a:prstGeom prst="rect">
            <a:avLst/>
          </a:prstGeom>
          <a:noFill/>
        </p:spPr>
        <p:txBody>
          <a:bodyPr wrap="square">
            <a:spAutoFit/>
          </a:bodyPr>
          <a:lstStyle/>
          <a:p>
            <a:r>
              <a:rPr lang="ru-RU" sz="2400" dirty="0">
                <a:solidFill>
                  <a:srgbClr val="00B0F0"/>
                </a:solidFill>
                <a:latin typeface="+mj-lt"/>
              </a:rPr>
              <a:t>Това е така понеже при свързване на повече офиси пътя между офисите става много дълъг и ефикасността на мрежата намаля поради прекаленно многото скачания за комуникация между офисите. </a:t>
            </a:r>
            <a:endParaRPr lang="bg-BG" sz="2400" dirty="0">
              <a:latin typeface="+mj-lt"/>
            </a:endParaRPr>
          </a:p>
        </p:txBody>
      </p:sp>
      <p:pic>
        <p:nvPicPr>
          <p:cNvPr id="5" name="Picture 4">
            <a:extLst>
              <a:ext uri="{FF2B5EF4-FFF2-40B4-BE49-F238E27FC236}">
                <a16:creationId xmlns:a16="http://schemas.microsoft.com/office/drawing/2014/main" xmlns="" id="{85F4F2B2-0041-2824-7D16-D4B3CF918980}"/>
              </a:ext>
            </a:extLst>
          </p:cNvPr>
          <p:cNvPicPr>
            <a:picLocks noChangeAspect="1"/>
          </p:cNvPicPr>
          <p:nvPr/>
        </p:nvPicPr>
        <p:blipFill>
          <a:blip r:embed="rId2"/>
          <a:stretch>
            <a:fillRect/>
          </a:stretch>
        </p:blipFill>
        <p:spPr>
          <a:xfrm>
            <a:off x="5897549" y="2019574"/>
            <a:ext cx="2429082" cy="1821812"/>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xmlns="" id="{70D05776-0F83-44DE-DA4C-3447A9219A7A}"/>
              </a:ext>
            </a:extLst>
          </p:cNvPr>
          <p:cNvSpPr txBox="1"/>
          <p:nvPr/>
        </p:nvSpPr>
        <p:spPr>
          <a:xfrm>
            <a:off x="5895906" y="1650242"/>
            <a:ext cx="3019494" cy="369332"/>
          </a:xfrm>
          <a:prstGeom prst="rect">
            <a:avLst/>
          </a:prstGeom>
          <a:noFill/>
        </p:spPr>
        <p:txBody>
          <a:bodyPr wrap="square">
            <a:spAutoFit/>
          </a:bodyPr>
          <a:lstStyle/>
          <a:p>
            <a:r>
              <a:rPr lang="ru-RU" dirty="0">
                <a:solidFill>
                  <a:srgbClr val="00B0F0"/>
                </a:solidFill>
              </a:rPr>
              <a:t>WAN от точка до точка</a:t>
            </a:r>
            <a:endParaRPr lang="bg-BG" dirty="0">
              <a:solidFill>
                <a:srgbClr val="00B0F0"/>
              </a:solidFill>
            </a:endParaRPr>
          </a:p>
        </p:txBody>
      </p:sp>
    </p:spTree>
    <p:extLst>
      <p:ext uri="{BB962C8B-B14F-4D97-AF65-F5344CB8AC3E}">
        <p14:creationId xmlns:p14="http://schemas.microsoft.com/office/powerpoint/2010/main" val="313284807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6C8EFE2-0825-5C9A-63AC-8F8F8BF218C6}"/>
              </a:ext>
            </a:extLst>
          </p:cNvPr>
          <p:cNvSpPr txBox="1"/>
          <p:nvPr/>
        </p:nvSpPr>
        <p:spPr>
          <a:xfrm>
            <a:off x="2279421" y="797274"/>
            <a:ext cx="4585156" cy="553998"/>
          </a:xfrm>
          <a:prstGeom prst="rect">
            <a:avLst/>
          </a:prstGeom>
          <a:noFill/>
        </p:spPr>
        <p:txBody>
          <a:bodyPr wrap="square">
            <a:spAutoFit/>
          </a:bodyPr>
          <a:lstStyle/>
          <a:p>
            <a:pPr algn="ctr"/>
            <a:r>
              <a:rPr lang="nl-BE" sz="3000" dirty="0">
                <a:solidFill>
                  <a:srgbClr val="00B0F0"/>
                </a:solidFill>
                <a:latin typeface="+mj-lt"/>
              </a:rPr>
              <a:t>WAN </a:t>
            </a:r>
            <a:r>
              <a:rPr lang="bg-BG" sz="3000" dirty="0">
                <a:solidFill>
                  <a:srgbClr val="00B0F0"/>
                </a:solidFill>
                <a:latin typeface="+mj-lt"/>
              </a:rPr>
              <a:t>кръг</a:t>
            </a:r>
          </a:p>
        </p:txBody>
      </p:sp>
      <p:sp>
        <p:nvSpPr>
          <p:cNvPr id="5" name="TextBox 4">
            <a:extLst>
              <a:ext uri="{FF2B5EF4-FFF2-40B4-BE49-F238E27FC236}">
                <a16:creationId xmlns:a16="http://schemas.microsoft.com/office/drawing/2014/main" xmlns="" id="{6E0AC1FC-525D-D004-A2FB-83FF90B119A4}"/>
              </a:ext>
            </a:extLst>
          </p:cNvPr>
          <p:cNvSpPr txBox="1"/>
          <p:nvPr/>
        </p:nvSpPr>
        <p:spPr>
          <a:xfrm>
            <a:off x="930845" y="1668570"/>
            <a:ext cx="7282309" cy="2677656"/>
          </a:xfrm>
          <a:prstGeom prst="rect">
            <a:avLst/>
          </a:prstGeom>
          <a:noFill/>
        </p:spPr>
        <p:txBody>
          <a:bodyPr wrap="square">
            <a:spAutoFit/>
          </a:bodyPr>
          <a:lstStyle/>
          <a:p>
            <a:pPr algn="ctr"/>
            <a:r>
              <a:rPr lang="ru-RU" sz="2400" dirty="0">
                <a:solidFill>
                  <a:srgbClr val="00B0F0"/>
                </a:solidFill>
              </a:rPr>
              <a:t>Тази топология се състои в изграждане на връзка от тип 'от точка до точка' като освен това се свързва първата с последната точка така че да се образува кръг( А се свързва с Б,Б със С и С със А ) .Кръговата топология осигурява излишък.Ако линията между А и Б пропадне то А пак може да се свърже с Б през С.Това дава по голяма надежност на връзката .</a:t>
            </a:r>
            <a:endParaRPr lang="bg-BG" sz="2400" dirty="0">
              <a:solidFill>
                <a:srgbClr val="00B0F0"/>
              </a:solidFill>
            </a:endParaRPr>
          </a:p>
        </p:txBody>
      </p:sp>
    </p:spTree>
    <p:extLst>
      <p:ext uri="{BB962C8B-B14F-4D97-AF65-F5344CB8AC3E}">
        <p14:creationId xmlns:p14="http://schemas.microsoft.com/office/powerpoint/2010/main" val="102177973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587EACD-3BDF-A9F7-CFFA-CAB5BCA16393}"/>
              </a:ext>
            </a:extLst>
          </p:cNvPr>
          <p:cNvSpPr txBox="1"/>
          <p:nvPr/>
        </p:nvSpPr>
        <p:spPr>
          <a:xfrm>
            <a:off x="215443" y="1131133"/>
            <a:ext cx="5553829" cy="3785652"/>
          </a:xfrm>
          <a:prstGeom prst="rect">
            <a:avLst/>
          </a:prstGeom>
          <a:noFill/>
        </p:spPr>
        <p:txBody>
          <a:bodyPr wrap="square">
            <a:spAutoFit/>
          </a:bodyPr>
          <a:lstStyle/>
          <a:p>
            <a:pPr algn="ctr"/>
            <a:r>
              <a:rPr lang="ru-RU" sz="2400" dirty="0">
                <a:solidFill>
                  <a:srgbClr val="00B0F0"/>
                </a:solidFill>
              </a:rPr>
              <a:t>Кръговата топология е по-скъпа за реализиране от топологията 'от точка до точка' , но и тя страда от същия проблем с мащабируемостта, характерен за топологията от точка до точка.Кръговата топология е подходяща за WAN мрежи,които свързват само няколко местоположения и имат нужда от от надежността, предлагана от редундантните пътища. </a:t>
            </a:r>
            <a:endParaRPr lang="bg-BG" sz="2400" dirty="0"/>
          </a:p>
        </p:txBody>
      </p:sp>
      <p:pic>
        <p:nvPicPr>
          <p:cNvPr id="5" name="Picture 4">
            <a:extLst>
              <a:ext uri="{FF2B5EF4-FFF2-40B4-BE49-F238E27FC236}">
                <a16:creationId xmlns:a16="http://schemas.microsoft.com/office/drawing/2014/main" xmlns="" id="{660BCD15-4DCF-752C-AB8E-E7C8B6B30FC9}"/>
              </a:ext>
            </a:extLst>
          </p:cNvPr>
          <p:cNvPicPr>
            <a:picLocks noChangeAspect="1"/>
          </p:cNvPicPr>
          <p:nvPr/>
        </p:nvPicPr>
        <p:blipFill>
          <a:blip r:embed="rId2"/>
          <a:stretch>
            <a:fillRect/>
          </a:stretch>
        </p:blipFill>
        <p:spPr>
          <a:xfrm>
            <a:off x="6386055" y="2032731"/>
            <a:ext cx="2204819" cy="1663517"/>
          </a:xfrm>
          <a:prstGeom prst="rect">
            <a:avLst/>
          </a:prstGeom>
        </p:spPr>
      </p:pic>
      <p:sp>
        <p:nvSpPr>
          <p:cNvPr id="7" name="TextBox 6">
            <a:extLst>
              <a:ext uri="{FF2B5EF4-FFF2-40B4-BE49-F238E27FC236}">
                <a16:creationId xmlns:a16="http://schemas.microsoft.com/office/drawing/2014/main" xmlns="" id="{599FF58C-1CD2-53C3-CCE9-23E7E090241A}"/>
              </a:ext>
            </a:extLst>
          </p:cNvPr>
          <p:cNvSpPr txBox="1"/>
          <p:nvPr/>
        </p:nvSpPr>
        <p:spPr>
          <a:xfrm>
            <a:off x="5404750" y="1663399"/>
            <a:ext cx="4167428" cy="369332"/>
          </a:xfrm>
          <a:prstGeom prst="rect">
            <a:avLst/>
          </a:prstGeom>
          <a:noFill/>
        </p:spPr>
        <p:txBody>
          <a:bodyPr wrap="square">
            <a:spAutoFit/>
          </a:bodyPr>
          <a:lstStyle/>
          <a:p>
            <a:pPr algn="ctr"/>
            <a:r>
              <a:rPr lang="nl-BE" sz="1800" dirty="0">
                <a:solidFill>
                  <a:srgbClr val="00B0F0"/>
                </a:solidFill>
                <a:latin typeface="+mj-lt"/>
              </a:rPr>
              <a:t>WAN </a:t>
            </a:r>
            <a:r>
              <a:rPr lang="bg-BG" sz="1800" dirty="0">
                <a:solidFill>
                  <a:srgbClr val="00B0F0"/>
                </a:solidFill>
                <a:latin typeface="+mj-lt"/>
              </a:rPr>
              <a:t>кръг</a:t>
            </a:r>
          </a:p>
        </p:txBody>
      </p:sp>
    </p:spTree>
    <p:extLst>
      <p:ext uri="{BB962C8B-B14F-4D97-AF65-F5344CB8AC3E}">
        <p14:creationId xmlns:p14="http://schemas.microsoft.com/office/powerpoint/2010/main" val="7802290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56CD3EB-4CFC-2689-BCDD-D487BB989C9A}"/>
              </a:ext>
            </a:extLst>
          </p:cNvPr>
          <p:cNvSpPr txBox="1"/>
          <p:nvPr/>
        </p:nvSpPr>
        <p:spPr>
          <a:xfrm>
            <a:off x="2279422" y="660661"/>
            <a:ext cx="4585156" cy="553998"/>
          </a:xfrm>
          <a:prstGeom prst="rect">
            <a:avLst/>
          </a:prstGeom>
          <a:noFill/>
        </p:spPr>
        <p:txBody>
          <a:bodyPr wrap="square">
            <a:spAutoFit/>
          </a:bodyPr>
          <a:lstStyle/>
          <a:p>
            <a:pPr algn="ctr"/>
            <a:r>
              <a:rPr lang="nl-BE" sz="3000" dirty="0">
                <a:solidFill>
                  <a:srgbClr val="00B0F0"/>
                </a:solidFill>
                <a:latin typeface="+mj-lt"/>
              </a:rPr>
              <a:t>WAN </a:t>
            </a:r>
            <a:r>
              <a:rPr lang="bg-BG" sz="3000" dirty="0">
                <a:solidFill>
                  <a:srgbClr val="00B0F0"/>
                </a:solidFill>
                <a:latin typeface="+mj-lt"/>
              </a:rPr>
              <a:t>от тип звезда</a:t>
            </a:r>
          </a:p>
        </p:txBody>
      </p:sp>
      <p:sp>
        <p:nvSpPr>
          <p:cNvPr id="5" name="TextBox 4">
            <a:extLst>
              <a:ext uri="{FF2B5EF4-FFF2-40B4-BE49-F238E27FC236}">
                <a16:creationId xmlns:a16="http://schemas.microsoft.com/office/drawing/2014/main" xmlns="" id="{FFF846E1-DFC9-DFA3-566E-00E9CB093393}"/>
              </a:ext>
            </a:extLst>
          </p:cNvPr>
          <p:cNvSpPr txBox="1"/>
          <p:nvPr/>
        </p:nvSpPr>
        <p:spPr>
          <a:xfrm>
            <a:off x="82230" y="1339649"/>
            <a:ext cx="8979539" cy="3416320"/>
          </a:xfrm>
          <a:prstGeom prst="rect">
            <a:avLst/>
          </a:prstGeom>
          <a:noFill/>
        </p:spPr>
        <p:txBody>
          <a:bodyPr wrap="square">
            <a:spAutoFit/>
          </a:bodyPr>
          <a:lstStyle/>
          <a:p>
            <a:r>
              <a:rPr lang="ru-RU" sz="2400" dirty="0">
                <a:solidFill>
                  <a:srgbClr val="00B0F0"/>
                </a:solidFill>
              </a:rPr>
              <a:t>При тази топология имаме централизиране на WAN-a като всички офиси са свързани към един.Използва се устройство 'концентратор-маршрутизатор' като то служи за централна точка,към която се свързват всички мрежови маршрутизатори. Топологията от тип звезда е по мащабируема от кръга като освен, че може да бъде използвана за свързване на повече офиси , могат да се прибавят и нови . Основен недостатък на тази топология е,че има само една точка на прекъсване . Ако централния маршрутизатор пропадне то цялата мрежа пропада. </a:t>
            </a:r>
            <a:endParaRPr lang="bg-BG" sz="2400" dirty="0">
              <a:solidFill>
                <a:srgbClr val="00B0F0"/>
              </a:solidFill>
            </a:endParaRPr>
          </a:p>
        </p:txBody>
      </p:sp>
      <p:pic>
        <p:nvPicPr>
          <p:cNvPr id="7" name="Picture 6">
            <a:extLst>
              <a:ext uri="{FF2B5EF4-FFF2-40B4-BE49-F238E27FC236}">
                <a16:creationId xmlns:a16="http://schemas.microsoft.com/office/drawing/2014/main" xmlns="" id="{4A9E2522-7279-D890-180D-25F1C04C842D}"/>
              </a:ext>
            </a:extLst>
          </p:cNvPr>
          <p:cNvPicPr>
            <a:picLocks noChangeAspect="1"/>
          </p:cNvPicPr>
          <p:nvPr/>
        </p:nvPicPr>
        <p:blipFill>
          <a:blip r:embed="rId2"/>
          <a:stretch>
            <a:fillRect/>
          </a:stretch>
        </p:blipFill>
        <p:spPr>
          <a:xfrm>
            <a:off x="3126903" y="1650782"/>
            <a:ext cx="2890192" cy="1841936"/>
          </a:xfrm>
          <a:prstGeom prst="rect">
            <a:avLst/>
          </a:prstGeom>
        </p:spPr>
      </p:pic>
    </p:spTree>
    <p:extLst>
      <p:ext uri="{BB962C8B-B14F-4D97-AF65-F5344CB8AC3E}">
        <p14:creationId xmlns:p14="http://schemas.microsoft.com/office/powerpoint/2010/main" val="357678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5"/>
                                        </p:tgtEl>
                                        <p:attrNameLst>
                                          <p:attrName>ppt_w</p:attrName>
                                        </p:attrNameLst>
                                      </p:cBhvr>
                                      <p:tavLst>
                                        <p:tav tm="0">
                                          <p:val>
                                            <p:strVal val="ppt_w"/>
                                          </p:val>
                                        </p:tav>
                                        <p:tav tm="100000">
                                          <p:val>
                                            <p:fltVal val="0"/>
                                          </p:val>
                                        </p:tav>
                                      </p:tavLst>
                                    </p:anim>
                                    <p:anim calcmode="lin" valueType="num">
                                      <p:cBhvr>
                                        <p:cTn id="7" dur="1000"/>
                                        <p:tgtEl>
                                          <p:spTgt spid="5"/>
                                        </p:tgtEl>
                                        <p:attrNameLst>
                                          <p:attrName>ppt_h</p:attrName>
                                        </p:attrNameLst>
                                      </p:cBhvr>
                                      <p:tavLst>
                                        <p:tav tm="0">
                                          <p:val>
                                            <p:strVal val="ppt_h"/>
                                          </p:val>
                                        </p:tav>
                                        <p:tav tm="100000">
                                          <p:val>
                                            <p:fltVal val="0"/>
                                          </p:val>
                                        </p:tav>
                                      </p:tavLst>
                                    </p:anim>
                                    <p:anim calcmode="lin" valueType="num">
                                      <p:cBhvr>
                                        <p:cTn id="8" dur="1000"/>
                                        <p:tgtEl>
                                          <p:spTgt spid="5"/>
                                        </p:tgtEl>
                                        <p:attrNameLst>
                                          <p:attrName>style.rotation</p:attrName>
                                        </p:attrNameLst>
                                      </p:cBhvr>
                                      <p:tavLst>
                                        <p:tav tm="0">
                                          <p:val>
                                            <p:fltVal val="0"/>
                                          </p:val>
                                        </p:tav>
                                        <p:tav tm="100000">
                                          <p:val>
                                            <p:fltVal val="90"/>
                                          </p:val>
                                        </p:tav>
                                      </p:tavLst>
                                    </p:anim>
                                    <p:animEffect transition="out" filter="fade">
                                      <p:cBhvr>
                                        <p:cTn id="9" dur="1000"/>
                                        <p:tgtEl>
                                          <p:spTgt spid="5"/>
                                        </p:tgtEl>
                                      </p:cBhvr>
                                    </p:animEffect>
                                    <p:set>
                                      <p:cBhvr>
                                        <p:cTn id="10" dur="1" fill="hold">
                                          <p:stCondLst>
                                            <p:cond delay="999"/>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D6259C5-A088-1B2C-A1D4-298DF0513E11}"/>
              </a:ext>
            </a:extLst>
          </p:cNvPr>
          <p:cNvSpPr txBox="1"/>
          <p:nvPr/>
        </p:nvSpPr>
        <p:spPr>
          <a:xfrm>
            <a:off x="2897793" y="618482"/>
            <a:ext cx="6246207" cy="1015663"/>
          </a:xfrm>
          <a:prstGeom prst="rect">
            <a:avLst/>
          </a:prstGeom>
          <a:noFill/>
        </p:spPr>
        <p:txBody>
          <a:bodyPr wrap="square">
            <a:spAutoFit/>
          </a:bodyPr>
          <a:lstStyle/>
          <a:p>
            <a:r>
              <a:rPr lang="ru-RU" sz="3000" b="1" dirty="0">
                <a:solidFill>
                  <a:srgbClr val="00B0F0"/>
                </a:solidFill>
                <a:latin typeface="+mj-lt"/>
              </a:rPr>
              <a:t>WAN от тип пълна или частична </a:t>
            </a:r>
            <a:r>
              <a:rPr lang="ru-RU" sz="3000" b="1" dirty="0">
                <a:latin typeface="+mj-lt"/>
              </a:rPr>
              <a:t>решетка </a:t>
            </a:r>
            <a:endParaRPr lang="bg-BG" sz="3000" b="1" dirty="0">
              <a:latin typeface="+mj-lt"/>
            </a:endParaRPr>
          </a:p>
        </p:txBody>
      </p:sp>
      <p:sp>
        <p:nvSpPr>
          <p:cNvPr id="5" name="TextBox 4">
            <a:extLst>
              <a:ext uri="{FF2B5EF4-FFF2-40B4-BE49-F238E27FC236}">
                <a16:creationId xmlns:a16="http://schemas.microsoft.com/office/drawing/2014/main" xmlns="" id="{9EA8749B-FB78-B6CA-E6A3-FE5C6CD29643}"/>
              </a:ext>
            </a:extLst>
          </p:cNvPr>
          <p:cNvSpPr txBox="1"/>
          <p:nvPr/>
        </p:nvSpPr>
        <p:spPr>
          <a:xfrm>
            <a:off x="36181" y="1126313"/>
            <a:ext cx="9071637" cy="2677656"/>
          </a:xfrm>
          <a:prstGeom prst="rect">
            <a:avLst/>
          </a:prstGeom>
          <a:noFill/>
        </p:spPr>
        <p:txBody>
          <a:bodyPr wrap="square">
            <a:spAutoFit/>
          </a:bodyPr>
          <a:lstStyle/>
          <a:p>
            <a:r>
              <a:rPr lang="ru-RU" sz="2400" dirty="0">
                <a:solidFill>
                  <a:srgbClr val="00B0F0"/>
                </a:solidFill>
                <a:latin typeface="+mj-lt"/>
              </a:rPr>
              <a:t>Топологията тип пълна решетка изгражда връзки от всеки до всеки като с това осигурява максимална надежност на мрежата.Основен недостатък е цената и. Неподходяща топология за свързване на много офиси защото цената става непосилно висока . Топологията тип частична решетка има по малък брой редундантни връзки. По тоя начин тя се опитва да осигури надеждност близка до топологията от тип пълна решетка, но на много по ниска цена</a:t>
            </a:r>
            <a:r>
              <a:rPr lang="ru-RU" dirty="0">
                <a:solidFill>
                  <a:srgbClr val="00B0F0"/>
                </a:solidFill>
                <a:latin typeface="+mj-lt"/>
              </a:rPr>
              <a:t>. </a:t>
            </a:r>
            <a:endParaRPr lang="bg-BG" dirty="0">
              <a:solidFill>
                <a:srgbClr val="00B0F0"/>
              </a:solidFill>
              <a:latin typeface="+mj-lt"/>
            </a:endParaRPr>
          </a:p>
        </p:txBody>
      </p:sp>
      <p:pic>
        <p:nvPicPr>
          <p:cNvPr id="7" name="Picture 6">
            <a:extLst>
              <a:ext uri="{FF2B5EF4-FFF2-40B4-BE49-F238E27FC236}">
                <a16:creationId xmlns:a16="http://schemas.microsoft.com/office/drawing/2014/main" xmlns="" id="{8239D162-F6D3-0E6C-6C92-03031FBA18EA}"/>
              </a:ext>
            </a:extLst>
          </p:cNvPr>
          <p:cNvPicPr>
            <a:picLocks noChangeAspect="1"/>
          </p:cNvPicPr>
          <p:nvPr/>
        </p:nvPicPr>
        <p:blipFill>
          <a:blip r:embed="rId2"/>
          <a:stretch>
            <a:fillRect/>
          </a:stretch>
        </p:blipFill>
        <p:spPr>
          <a:xfrm>
            <a:off x="3518630" y="3803969"/>
            <a:ext cx="2106739" cy="1210883"/>
          </a:xfrm>
          <a:prstGeom prst="rect">
            <a:avLst/>
          </a:prstGeom>
        </p:spPr>
      </p:pic>
    </p:spTree>
    <p:extLst>
      <p:ext uri="{BB962C8B-B14F-4D97-AF65-F5344CB8AC3E}">
        <p14:creationId xmlns:p14="http://schemas.microsoft.com/office/powerpoint/2010/main" val="1475548460"/>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EA60DF5-3D96-5975-4674-7701D7DFE79E}"/>
              </a:ext>
            </a:extLst>
          </p:cNvPr>
          <p:cNvSpPr txBox="1"/>
          <p:nvPr/>
        </p:nvSpPr>
        <p:spPr>
          <a:xfrm>
            <a:off x="2463617" y="746180"/>
            <a:ext cx="6489607" cy="584775"/>
          </a:xfrm>
          <a:prstGeom prst="rect">
            <a:avLst/>
          </a:prstGeom>
          <a:noFill/>
        </p:spPr>
        <p:txBody>
          <a:bodyPr wrap="square">
            <a:spAutoFit/>
          </a:bodyPr>
          <a:lstStyle/>
          <a:p>
            <a:pPr algn="ctr"/>
            <a:r>
              <a:rPr lang="bg-BG" sz="3200" b="1" dirty="0">
                <a:solidFill>
                  <a:srgbClr val="00B0F0"/>
                </a:solidFill>
                <a:latin typeface="+mj-lt"/>
              </a:rPr>
              <a:t>Многослойни </a:t>
            </a:r>
            <a:r>
              <a:rPr lang="nl-BE" sz="3200" b="1" dirty="0">
                <a:solidFill>
                  <a:srgbClr val="00B0F0"/>
                </a:solidFill>
                <a:latin typeface="+mj-lt"/>
              </a:rPr>
              <a:t>WAN </a:t>
            </a:r>
            <a:r>
              <a:rPr lang="bg-BG" sz="3200" b="1" dirty="0">
                <a:solidFill>
                  <a:srgbClr val="00B0F0"/>
                </a:solidFill>
                <a:latin typeface="+mj-lt"/>
              </a:rPr>
              <a:t>мрежи</a:t>
            </a:r>
          </a:p>
        </p:txBody>
      </p:sp>
      <p:sp>
        <p:nvSpPr>
          <p:cNvPr id="5" name="TextBox 4">
            <a:extLst>
              <a:ext uri="{FF2B5EF4-FFF2-40B4-BE49-F238E27FC236}">
                <a16:creationId xmlns:a16="http://schemas.microsoft.com/office/drawing/2014/main" xmlns="" id="{6C103A56-4AFD-1C20-FE98-96378107647B}"/>
              </a:ext>
            </a:extLst>
          </p:cNvPr>
          <p:cNvSpPr txBox="1"/>
          <p:nvPr/>
        </p:nvSpPr>
        <p:spPr>
          <a:xfrm>
            <a:off x="190776" y="1508572"/>
            <a:ext cx="8762448" cy="3416320"/>
          </a:xfrm>
          <a:prstGeom prst="rect">
            <a:avLst/>
          </a:prstGeom>
          <a:noFill/>
        </p:spPr>
        <p:txBody>
          <a:bodyPr wrap="square">
            <a:spAutoFit/>
          </a:bodyPr>
          <a:lstStyle/>
          <a:p>
            <a:r>
              <a:rPr lang="ru-RU" sz="2400" dirty="0">
                <a:solidFill>
                  <a:srgbClr val="00B0F0"/>
                </a:solidFill>
                <a:latin typeface="+mj-lt"/>
              </a:rPr>
              <a:t>Многослойните WAN мрежи са мащабируеми, защото сравнително лесно могат да бъдат добавяни допълнителни местоположения(и дори допълнителни слоеве). Тази топология се използва за големи и бързо разрастващи се WAN мрежи. Потока на трафика може да се превърне в проблем при големите многослойни WAN мрежи. Моделите на потока трябва да бъдат анализирани внимателно, за да се гарантира най-ефикасното разположение на оборудването с цел постигане на най-добра производителност. </a:t>
            </a:r>
            <a:endParaRPr lang="bg-BG" sz="2400" dirty="0">
              <a:solidFill>
                <a:srgbClr val="00B0F0"/>
              </a:solidFill>
              <a:latin typeface="+mj-lt"/>
            </a:endParaRPr>
          </a:p>
        </p:txBody>
      </p:sp>
      <p:pic>
        <p:nvPicPr>
          <p:cNvPr id="7" name="Picture 6">
            <a:extLst>
              <a:ext uri="{FF2B5EF4-FFF2-40B4-BE49-F238E27FC236}">
                <a16:creationId xmlns:a16="http://schemas.microsoft.com/office/drawing/2014/main" xmlns="" id="{046456BA-6CD9-3139-76F4-33284EDFCDF6}"/>
              </a:ext>
            </a:extLst>
          </p:cNvPr>
          <p:cNvPicPr>
            <a:picLocks noChangeAspect="1"/>
          </p:cNvPicPr>
          <p:nvPr/>
        </p:nvPicPr>
        <p:blipFill>
          <a:blip r:embed="rId2"/>
          <a:stretch>
            <a:fillRect/>
          </a:stretch>
        </p:blipFill>
        <p:spPr>
          <a:xfrm>
            <a:off x="4354912" y="1508572"/>
            <a:ext cx="2874199" cy="1660649"/>
          </a:xfrm>
          <a:prstGeom prst="rect">
            <a:avLst/>
          </a:prstGeom>
        </p:spPr>
      </p:pic>
    </p:spTree>
    <p:extLst>
      <p:ext uri="{BB962C8B-B14F-4D97-AF65-F5344CB8AC3E}">
        <p14:creationId xmlns:p14="http://schemas.microsoft.com/office/powerpoint/2010/main" val="279604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5"/>
                                        </p:tgtEl>
                                      </p:cBhvr>
                                    </p:animEffect>
                                    <p:anim calcmode="lin" valueType="num">
                                      <p:cBhvr>
                                        <p:cTn id="7" dur="1000"/>
                                        <p:tgtEl>
                                          <p:spTgt spid="5"/>
                                        </p:tgtEl>
                                        <p:attrNameLst>
                                          <p:attrName>ppt_x</p:attrName>
                                        </p:attrNameLst>
                                      </p:cBhvr>
                                      <p:tavLst>
                                        <p:tav tm="0">
                                          <p:val>
                                            <p:strVal val="ppt_x"/>
                                          </p:val>
                                        </p:tav>
                                        <p:tav tm="100000">
                                          <p:val>
                                            <p:strVal val="ppt_x"/>
                                          </p:val>
                                        </p:tav>
                                      </p:tavLst>
                                    </p:anim>
                                    <p:anim calcmode="lin" valueType="num">
                                      <p:cBhvr>
                                        <p:cTn id="8" dur="1000"/>
                                        <p:tgtEl>
                                          <p:spTgt spid="5"/>
                                        </p:tgtEl>
                                        <p:attrNameLst>
                                          <p:attrName>ppt_y</p:attrName>
                                        </p:attrNameLst>
                                      </p:cBhvr>
                                      <p:tavLst>
                                        <p:tav tm="0">
                                          <p:val>
                                            <p:strVal val="ppt_y"/>
                                          </p:val>
                                        </p:tav>
                                        <p:tav tm="100000">
                                          <p:val>
                                            <p:strVal val="ppt_y+.1"/>
                                          </p:val>
                                        </p:tav>
                                      </p:tavLst>
                                    </p:anim>
                                    <p:set>
                                      <p:cBhvr>
                                        <p:cTn id="9" dur="1" fill="hold">
                                          <p:stCondLst>
                                            <p:cond delay="999"/>
                                          </p:stCondLst>
                                        </p:cTn>
                                        <p:tgtEl>
                                          <p:spTgt spid="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7D056C63-3CD4-A238-E107-8D730D5AB3F3}"/>
              </a:ext>
            </a:extLst>
          </p:cNvPr>
          <p:cNvSpPr txBox="1"/>
          <p:nvPr/>
        </p:nvSpPr>
        <p:spPr>
          <a:xfrm>
            <a:off x="1471921" y="555407"/>
            <a:ext cx="6200157" cy="553998"/>
          </a:xfrm>
          <a:prstGeom prst="rect">
            <a:avLst/>
          </a:prstGeom>
          <a:noFill/>
        </p:spPr>
        <p:txBody>
          <a:bodyPr wrap="square">
            <a:spAutoFit/>
          </a:bodyPr>
          <a:lstStyle/>
          <a:p>
            <a:pPr marL="353060" indent="-6350" algn="ctr">
              <a:spcAft>
                <a:spcPts val="1030"/>
              </a:spcAft>
            </a:pPr>
            <a:r>
              <a:rPr lang="bg-BG" sz="3000" b="1" i="0" dirty="0">
                <a:solidFill>
                  <a:srgbClr val="00B0F0"/>
                </a:solidFill>
                <a:effectLst/>
                <a:latin typeface="+mj-lt"/>
              </a:rPr>
              <a:t>Предимства</a:t>
            </a:r>
          </a:p>
        </p:txBody>
      </p:sp>
      <p:sp>
        <p:nvSpPr>
          <p:cNvPr id="10" name="TextBox 9">
            <a:extLst>
              <a:ext uri="{FF2B5EF4-FFF2-40B4-BE49-F238E27FC236}">
                <a16:creationId xmlns:a16="http://schemas.microsoft.com/office/drawing/2014/main" xmlns="" id="{F8141E39-0746-5EC1-C6BB-34B08000DAC1}"/>
              </a:ext>
            </a:extLst>
          </p:cNvPr>
          <p:cNvSpPr txBox="1"/>
          <p:nvPr/>
        </p:nvSpPr>
        <p:spPr>
          <a:xfrm>
            <a:off x="49337" y="1188346"/>
            <a:ext cx="9239387" cy="3816429"/>
          </a:xfrm>
          <a:prstGeom prst="rect">
            <a:avLst/>
          </a:prstGeom>
          <a:noFill/>
        </p:spPr>
        <p:txBody>
          <a:bodyPr wrap="square">
            <a:spAutoFit/>
          </a:bodyPr>
          <a:lstStyle/>
          <a:p>
            <a:r>
              <a:rPr lang="bg-BG" sz="2200" dirty="0">
                <a:solidFill>
                  <a:srgbClr val="00B0F0"/>
                </a:solidFill>
                <a:latin typeface="+mj-lt"/>
              </a:rPr>
              <a:t>-Осигуряване на общи ресурси с цел, споделяне или намаляване на разходите за скъп хардуер. Такъв тип ресурси могат да бъдат процесорно време, дискова памет, файлове и входно-изходни устройства;</a:t>
            </a:r>
          </a:p>
          <a:p>
            <a:r>
              <a:rPr lang="bg-BG" sz="2200" dirty="0">
                <a:solidFill>
                  <a:srgbClr val="00B0F0"/>
                </a:solidFill>
                <a:latin typeface="+mj-lt"/>
              </a:rPr>
              <a:t>-Повишаване на ефективността на сравнително непроизводителни компютри. Например използване на процесорно време на друг компютър, повече дискова памет от сървър;</a:t>
            </a:r>
          </a:p>
          <a:p>
            <a:r>
              <a:rPr lang="bg-BG" sz="2200" dirty="0">
                <a:solidFill>
                  <a:srgbClr val="00B0F0"/>
                </a:solidFill>
                <a:latin typeface="+mj-lt"/>
              </a:rPr>
              <a:t>-Възможност за използване на общи бази от данни и системи за съхранение;</a:t>
            </a:r>
          </a:p>
          <a:p>
            <a:r>
              <a:rPr lang="bg-BG" sz="2200" dirty="0">
                <a:solidFill>
                  <a:srgbClr val="00B0F0"/>
                </a:solidFill>
                <a:latin typeface="+mj-lt"/>
              </a:rPr>
              <a:t>-Колективна работа при разработването на проекти в група;</a:t>
            </a:r>
          </a:p>
          <a:p>
            <a:r>
              <a:rPr lang="bg-BG" sz="2200" dirty="0">
                <a:solidFill>
                  <a:srgbClr val="00B0F0"/>
                </a:solidFill>
                <a:latin typeface="+mj-lt"/>
              </a:rPr>
              <a:t>-Възможност за електронна комуникация и обучение; Възможност за свързване към други LAN/WAN.</a:t>
            </a:r>
          </a:p>
        </p:txBody>
      </p:sp>
      <p:pic>
        <p:nvPicPr>
          <p:cNvPr id="13" name="Picture 12">
            <a:extLst>
              <a:ext uri="{FF2B5EF4-FFF2-40B4-BE49-F238E27FC236}">
                <a16:creationId xmlns:a16="http://schemas.microsoft.com/office/drawing/2014/main" xmlns="" id="{7408B3AC-E9F6-B617-930D-E3A019F1CB30}"/>
              </a:ext>
            </a:extLst>
          </p:cNvPr>
          <p:cNvPicPr>
            <a:picLocks noChangeAspect="1"/>
          </p:cNvPicPr>
          <p:nvPr/>
        </p:nvPicPr>
        <p:blipFill>
          <a:blip r:embed="rId2"/>
          <a:stretch>
            <a:fillRect/>
          </a:stretch>
        </p:blipFill>
        <p:spPr>
          <a:xfrm>
            <a:off x="7762532" y="138786"/>
            <a:ext cx="1076819" cy="97061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 name="Picture 15">
            <a:extLst>
              <a:ext uri="{FF2B5EF4-FFF2-40B4-BE49-F238E27FC236}">
                <a16:creationId xmlns:a16="http://schemas.microsoft.com/office/drawing/2014/main" xmlns="" id="{B28239BB-D7D4-B5D1-27DF-91A1BFAFB1AC}"/>
              </a:ext>
            </a:extLst>
          </p:cNvPr>
          <p:cNvPicPr>
            <a:picLocks noChangeAspect="1"/>
          </p:cNvPicPr>
          <p:nvPr/>
        </p:nvPicPr>
        <p:blipFill>
          <a:blip r:embed="rId2"/>
          <a:stretch>
            <a:fillRect/>
          </a:stretch>
        </p:blipFill>
        <p:spPr>
          <a:xfrm>
            <a:off x="304649" y="217727"/>
            <a:ext cx="1076819" cy="97061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901147314"/>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CE8B4FB3-354D-1F19-48B6-C31A5D4D5F52}"/>
              </a:ext>
            </a:extLst>
          </p:cNvPr>
          <p:cNvSpPr txBox="1"/>
          <p:nvPr/>
        </p:nvSpPr>
        <p:spPr>
          <a:xfrm>
            <a:off x="2279422" y="654083"/>
            <a:ext cx="4585156" cy="553998"/>
          </a:xfrm>
          <a:prstGeom prst="rect">
            <a:avLst/>
          </a:prstGeom>
          <a:noFill/>
        </p:spPr>
        <p:txBody>
          <a:bodyPr wrap="square">
            <a:spAutoFit/>
          </a:bodyPr>
          <a:lstStyle/>
          <a:p>
            <a:pPr algn="ctr"/>
            <a:r>
              <a:rPr lang="bg-BG" sz="3000" b="1" dirty="0">
                <a:solidFill>
                  <a:srgbClr val="00B0F0"/>
                </a:solidFill>
                <a:latin typeface="+mj-lt"/>
              </a:rPr>
              <a:t>Н</a:t>
            </a:r>
            <a:r>
              <a:rPr lang="bg-BG" sz="3000" b="1" i="0" dirty="0">
                <a:solidFill>
                  <a:srgbClr val="00B0F0"/>
                </a:solidFill>
                <a:effectLst/>
                <a:latin typeface="+mj-lt"/>
              </a:rPr>
              <a:t>едостатъци</a:t>
            </a:r>
            <a:endParaRPr lang="bg-BG" sz="3000" dirty="0"/>
          </a:p>
        </p:txBody>
      </p:sp>
      <p:sp>
        <p:nvSpPr>
          <p:cNvPr id="9" name="TextBox 8">
            <a:extLst>
              <a:ext uri="{FF2B5EF4-FFF2-40B4-BE49-F238E27FC236}">
                <a16:creationId xmlns:a16="http://schemas.microsoft.com/office/drawing/2014/main" xmlns="" id="{B291F54E-4944-BE30-A403-3926589AF7BE}"/>
              </a:ext>
            </a:extLst>
          </p:cNvPr>
          <p:cNvSpPr txBox="1"/>
          <p:nvPr/>
        </p:nvSpPr>
        <p:spPr>
          <a:xfrm>
            <a:off x="65783" y="1357848"/>
            <a:ext cx="9078217" cy="3785652"/>
          </a:xfrm>
          <a:prstGeom prst="rect">
            <a:avLst/>
          </a:prstGeom>
          <a:noFill/>
        </p:spPr>
        <p:txBody>
          <a:bodyPr wrap="square">
            <a:spAutoFit/>
          </a:bodyPr>
          <a:lstStyle/>
          <a:p>
            <a:r>
              <a:rPr lang="bg-BG" sz="2400" dirty="0">
                <a:solidFill>
                  <a:srgbClr val="00B0F0"/>
                </a:solidFill>
                <a:latin typeface="+mj-lt"/>
              </a:rPr>
              <a:t>-Уязвимост на мрежовата инфраструктура – всички устройства, изграждащи мрежата могат да бъдат обект на атака от нежелани потребители;-Социални проблеми, свързани с разпространяването на не цензурирана информация и лъжи;-Претоварване на мрежата, което може да бъде с локален характер (в някаква част от нея) или глобален характер (по всичките ѝ части), намаляващо нейната ефективност или причиняващо нейната неработоспособност;-Технически проблеми с участващите устройства, което може да предизвика прекъсване на свързаността между отделните компютри.</a:t>
            </a:r>
          </a:p>
        </p:txBody>
      </p:sp>
      <p:pic>
        <p:nvPicPr>
          <p:cNvPr id="11" name="Picture 10">
            <a:extLst>
              <a:ext uri="{FF2B5EF4-FFF2-40B4-BE49-F238E27FC236}">
                <a16:creationId xmlns:a16="http://schemas.microsoft.com/office/drawing/2014/main" xmlns="" id="{C75DE533-7D81-C6FB-0EB2-2B59DA915AA7}"/>
              </a:ext>
            </a:extLst>
          </p:cNvPr>
          <p:cNvPicPr>
            <a:picLocks noChangeAspect="1"/>
          </p:cNvPicPr>
          <p:nvPr/>
        </p:nvPicPr>
        <p:blipFill>
          <a:blip r:embed="rId2"/>
          <a:stretch>
            <a:fillRect/>
          </a:stretch>
        </p:blipFill>
        <p:spPr>
          <a:xfrm>
            <a:off x="7729640" y="431059"/>
            <a:ext cx="966133" cy="9267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Picture 11">
            <a:extLst>
              <a:ext uri="{FF2B5EF4-FFF2-40B4-BE49-F238E27FC236}">
                <a16:creationId xmlns:a16="http://schemas.microsoft.com/office/drawing/2014/main" xmlns="" id="{C713C915-65F8-0812-8A53-92C4BEE5FC42}"/>
              </a:ext>
            </a:extLst>
          </p:cNvPr>
          <p:cNvPicPr>
            <a:picLocks noChangeAspect="1"/>
          </p:cNvPicPr>
          <p:nvPr/>
        </p:nvPicPr>
        <p:blipFill>
          <a:blip r:embed="rId2"/>
          <a:stretch>
            <a:fillRect/>
          </a:stretch>
        </p:blipFill>
        <p:spPr>
          <a:xfrm>
            <a:off x="448227" y="431058"/>
            <a:ext cx="966133" cy="9267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915093211"/>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7CCB055C-F175-FF25-4C0E-B34E6772FF05}"/>
              </a:ext>
            </a:extLst>
          </p:cNvPr>
          <p:cNvSpPr txBox="1"/>
          <p:nvPr/>
        </p:nvSpPr>
        <p:spPr>
          <a:xfrm>
            <a:off x="3108302" y="579605"/>
            <a:ext cx="2927395" cy="553998"/>
          </a:xfrm>
          <a:prstGeom prst="rect">
            <a:avLst/>
          </a:prstGeom>
          <a:noFill/>
        </p:spPr>
        <p:txBody>
          <a:bodyPr wrap="square" rtlCol="0">
            <a:spAutoFit/>
          </a:bodyPr>
          <a:lstStyle/>
          <a:p>
            <a:pPr algn="ctr"/>
            <a:r>
              <a:rPr lang="bg-BG" sz="3000" b="1" dirty="0">
                <a:solidFill>
                  <a:srgbClr val="00B0F0"/>
                </a:solidFill>
                <a:latin typeface="+mj-lt"/>
              </a:rPr>
              <a:t>Въпроси</a:t>
            </a:r>
          </a:p>
        </p:txBody>
      </p:sp>
      <p:sp>
        <p:nvSpPr>
          <p:cNvPr id="6" name="TextBox 5">
            <a:extLst>
              <a:ext uri="{FF2B5EF4-FFF2-40B4-BE49-F238E27FC236}">
                <a16:creationId xmlns:a16="http://schemas.microsoft.com/office/drawing/2014/main" xmlns="" id="{A676DC65-9DDB-F5DF-C0D3-128E1DAC838F}"/>
              </a:ext>
            </a:extLst>
          </p:cNvPr>
          <p:cNvSpPr txBox="1"/>
          <p:nvPr/>
        </p:nvSpPr>
        <p:spPr>
          <a:xfrm>
            <a:off x="184196" y="1217007"/>
            <a:ext cx="8611145" cy="4431983"/>
          </a:xfrm>
          <a:prstGeom prst="rect">
            <a:avLst/>
          </a:prstGeom>
          <a:noFill/>
        </p:spPr>
        <p:txBody>
          <a:bodyPr wrap="square">
            <a:spAutoFit/>
          </a:bodyPr>
          <a:lstStyle/>
          <a:p>
            <a:pPr marL="342900" indent="-342900">
              <a:buFont typeface="+mj-lt"/>
              <a:buAutoNum type="arabicPeriod"/>
            </a:pPr>
            <a:r>
              <a:rPr lang="bg-BG" sz="2400" b="1" dirty="0">
                <a:solidFill>
                  <a:srgbClr val="00B0F0"/>
                </a:solidFill>
                <a:effectLst/>
                <a:latin typeface="+mj-lt"/>
              </a:rPr>
              <a:t>Какво е компютърна мреж</a:t>
            </a:r>
            <a:r>
              <a:rPr lang="en-US" sz="2400" b="1" dirty="0">
                <a:solidFill>
                  <a:srgbClr val="00B0F0"/>
                </a:solidFill>
                <a:effectLst/>
                <a:latin typeface="+mj-lt"/>
              </a:rPr>
              <a:t>a</a:t>
            </a:r>
            <a:r>
              <a:rPr lang="bg-BG" sz="2400" b="1" dirty="0">
                <a:solidFill>
                  <a:srgbClr val="00B0F0"/>
                </a:solidFill>
                <a:effectLst/>
                <a:latin typeface="+mj-lt"/>
              </a:rPr>
              <a:t>?</a:t>
            </a:r>
          </a:p>
          <a:p>
            <a:r>
              <a:rPr lang="bg-BG" sz="2400" b="1" dirty="0">
                <a:solidFill>
                  <a:srgbClr val="00B0F0"/>
                </a:solidFill>
                <a:latin typeface="+mj-lt"/>
              </a:rPr>
              <a:t>-отг.</a:t>
            </a:r>
            <a:r>
              <a:rPr lang="nl-BE" sz="2400" b="1" dirty="0">
                <a:solidFill>
                  <a:srgbClr val="00B0F0"/>
                </a:solidFill>
                <a:latin typeface="+mj-lt"/>
              </a:rPr>
              <a:t> slide[3]</a:t>
            </a:r>
            <a:endParaRPr lang="bg-BG" sz="2400" b="1" dirty="0">
              <a:solidFill>
                <a:srgbClr val="00B0F0"/>
              </a:solidFill>
              <a:effectLst/>
              <a:latin typeface="+mj-lt"/>
            </a:endParaRPr>
          </a:p>
          <a:p>
            <a:r>
              <a:rPr lang="en-US" sz="2400" b="1" dirty="0">
                <a:solidFill>
                  <a:srgbClr val="00B0F0"/>
                </a:solidFill>
                <a:latin typeface="+mj-lt"/>
              </a:rPr>
              <a:t>2. </a:t>
            </a:r>
            <a:r>
              <a:rPr lang="bg-BG" sz="2400" b="1" dirty="0">
                <a:solidFill>
                  <a:srgbClr val="00B0F0"/>
                </a:solidFill>
                <a:latin typeface="+mj-lt"/>
              </a:rPr>
              <a:t>Според Физическият обхват колко вида мрежи познавате?</a:t>
            </a:r>
            <a:endParaRPr lang="en-US" sz="2400" b="1" dirty="0">
              <a:solidFill>
                <a:srgbClr val="00B0F0"/>
              </a:solidFill>
              <a:latin typeface="+mj-lt"/>
            </a:endParaRPr>
          </a:p>
          <a:p>
            <a:r>
              <a:rPr lang="bg-BG" sz="2400" b="1" dirty="0">
                <a:solidFill>
                  <a:srgbClr val="00B0F0"/>
                </a:solidFill>
                <a:latin typeface="+mj-lt"/>
              </a:rPr>
              <a:t>-отг. </a:t>
            </a:r>
            <a:r>
              <a:rPr lang="nl-BE" sz="2400" b="1" dirty="0">
                <a:solidFill>
                  <a:srgbClr val="00B0F0"/>
                </a:solidFill>
                <a:latin typeface="+mj-lt"/>
              </a:rPr>
              <a:t>slide[5-7]</a:t>
            </a:r>
          </a:p>
          <a:p>
            <a:r>
              <a:rPr lang="en-US" sz="2400" b="1" dirty="0">
                <a:solidFill>
                  <a:srgbClr val="00B0F0"/>
                </a:solidFill>
                <a:latin typeface="+mj-lt"/>
              </a:rPr>
              <a:t>3.</a:t>
            </a:r>
            <a:r>
              <a:rPr lang="bg-BG" sz="2400" b="1" dirty="0">
                <a:solidFill>
                  <a:srgbClr val="00B0F0"/>
                </a:solidFill>
                <a:latin typeface="+mj-lt"/>
              </a:rPr>
              <a:t>Кои са основните предназначения на </a:t>
            </a:r>
            <a:r>
              <a:rPr lang="en-US" sz="2400" b="1" dirty="0">
                <a:solidFill>
                  <a:srgbClr val="00B0F0"/>
                </a:solidFill>
                <a:latin typeface="+mj-lt"/>
              </a:rPr>
              <a:t>WAN </a:t>
            </a:r>
            <a:r>
              <a:rPr lang="bg-BG" sz="2400" b="1" dirty="0">
                <a:solidFill>
                  <a:srgbClr val="00B0F0"/>
                </a:solidFill>
                <a:latin typeface="+mj-lt"/>
              </a:rPr>
              <a:t>мрежите ?</a:t>
            </a:r>
            <a:endParaRPr lang="en-US" sz="2400" b="1" dirty="0">
              <a:solidFill>
                <a:srgbClr val="00B0F0"/>
              </a:solidFill>
              <a:latin typeface="+mj-lt"/>
            </a:endParaRPr>
          </a:p>
          <a:p>
            <a:r>
              <a:rPr lang="bg-BG" sz="2400" b="1" dirty="0">
                <a:solidFill>
                  <a:srgbClr val="00B0F0"/>
                </a:solidFill>
                <a:latin typeface="+mj-lt"/>
              </a:rPr>
              <a:t>-отг.</a:t>
            </a:r>
            <a:r>
              <a:rPr lang="nl-BE" sz="2400" b="1" dirty="0">
                <a:solidFill>
                  <a:srgbClr val="00B0F0"/>
                </a:solidFill>
                <a:latin typeface="+mj-lt"/>
              </a:rPr>
              <a:t> slide[18]</a:t>
            </a:r>
            <a:endParaRPr lang="bg-BG" sz="2400" b="1" dirty="0">
              <a:solidFill>
                <a:srgbClr val="00B0F0"/>
              </a:solidFill>
              <a:latin typeface="+mj-lt"/>
            </a:endParaRPr>
          </a:p>
          <a:p>
            <a:r>
              <a:rPr lang="en-US" sz="2400" b="1" i="0" dirty="0">
                <a:solidFill>
                  <a:srgbClr val="00B0F0"/>
                </a:solidFill>
                <a:effectLst/>
                <a:latin typeface="+mj-lt"/>
              </a:rPr>
              <a:t>4.</a:t>
            </a:r>
            <a:r>
              <a:rPr lang="bg-BG" sz="2400" b="1" i="0" dirty="0">
                <a:solidFill>
                  <a:srgbClr val="00B0F0"/>
                </a:solidFill>
                <a:effectLst/>
                <a:latin typeface="+mj-lt"/>
              </a:rPr>
              <a:t>Какво е </a:t>
            </a:r>
            <a:r>
              <a:rPr lang="nl-BE" sz="2400" b="1" i="0" dirty="0">
                <a:solidFill>
                  <a:srgbClr val="00B0F0"/>
                </a:solidFill>
                <a:effectLst/>
                <a:latin typeface="+mj-lt"/>
              </a:rPr>
              <a:t>WAN </a:t>
            </a:r>
            <a:r>
              <a:rPr lang="bg-BG" sz="2400" b="1" i="0" dirty="0">
                <a:solidFill>
                  <a:srgbClr val="00B0F0"/>
                </a:solidFill>
                <a:effectLst/>
                <a:latin typeface="+mj-lt"/>
              </a:rPr>
              <a:t>рутер?</a:t>
            </a:r>
            <a:endParaRPr lang="en-US" sz="2400" b="1" i="0" dirty="0">
              <a:solidFill>
                <a:srgbClr val="00B0F0"/>
              </a:solidFill>
              <a:effectLst/>
              <a:latin typeface="+mj-lt"/>
            </a:endParaRPr>
          </a:p>
          <a:p>
            <a:r>
              <a:rPr lang="bg-BG" sz="2400" b="1" dirty="0">
                <a:solidFill>
                  <a:srgbClr val="00B0F0"/>
                </a:solidFill>
                <a:latin typeface="+mj-lt"/>
              </a:rPr>
              <a:t>-отг.</a:t>
            </a:r>
            <a:r>
              <a:rPr lang="nl-BE" sz="2400" b="1" dirty="0">
                <a:solidFill>
                  <a:srgbClr val="00B0F0"/>
                </a:solidFill>
                <a:latin typeface="+mj-lt"/>
              </a:rPr>
              <a:t> slide[17]</a:t>
            </a:r>
            <a:endParaRPr lang="bg-BG" sz="2400" b="1" i="0" dirty="0">
              <a:solidFill>
                <a:srgbClr val="00B0F0"/>
              </a:solidFill>
              <a:effectLst/>
              <a:latin typeface="+mj-lt"/>
            </a:endParaRPr>
          </a:p>
          <a:p>
            <a:r>
              <a:rPr lang="en-US" sz="2400" b="1" i="0" dirty="0">
                <a:solidFill>
                  <a:srgbClr val="00B0F0"/>
                </a:solidFill>
                <a:effectLst/>
                <a:latin typeface="+mj-lt"/>
              </a:rPr>
              <a:t>5.</a:t>
            </a:r>
            <a:r>
              <a:rPr lang="bg-BG" sz="2400" b="1" i="0" dirty="0">
                <a:solidFill>
                  <a:srgbClr val="00B0F0"/>
                </a:solidFill>
                <a:effectLst/>
                <a:latin typeface="+mj-lt"/>
              </a:rPr>
              <a:t>Какви са предимствата и недостатъците на </a:t>
            </a:r>
            <a:r>
              <a:rPr lang="en-US" sz="2400" b="1" dirty="0">
                <a:solidFill>
                  <a:srgbClr val="00B0F0"/>
                </a:solidFill>
                <a:latin typeface="+mj-lt"/>
              </a:rPr>
              <a:t>WAN ?</a:t>
            </a:r>
          </a:p>
          <a:p>
            <a:r>
              <a:rPr lang="bg-BG" sz="2400" b="1" dirty="0">
                <a:solidFill>
                  <a:srgbClr val="00B0F0"/>
                </a:solidFill>
                <a:latin typeface="+mj-lt"/>
              </a:rPr>
              <a:t>-отг.</a:t>
            </a:r>
            <a:r>
              <a:rPr lang="nl-BE" sz="2400" b="1" dirty="0">
                <a:solidFill>
                  <a:srgbClr val="00B0F0"/>
                </a:solidFill>
                <a:latin typeface="+mj-lt"/>
              </a:rPr>
              <a:t> slide[29-30]</a:t>
            </a:r>
            <a:endParaRPr lang="bg-BG" sz="2400" b="1" dirty="0">
              <a:solidFill>
                <a:srgbClr val="00B0F0"/>
              </a:solidFill>
              <a:effectLst/>
              <a:latin typeface="+mj-lt"/>
            </a:endParaRPr>
          </a:p>
          <a:p>
            <a:endParaRPr lang="bg-BG" sz="2400" b="1" i="0" dirty="0">
              <a:solidFill>
                <a:srgbClr val="00B0F0"/>
              </a:solidFill>
              <a:effectLst/>
              <a:latin typeface="+mj-lt"/>
            </a:endParaRPr>
          </a:p>
          <a:p>
            <a:pPr marL="342900" indent="-342900">
              <a:buFont typeface="+mj-lt"/>
              <a:buAutoNum type="arabicPeriod"/>
            </a:pPr>
            <a:endParaRPr lang="bg-BG" sz="1800" dirty="0">
              <a:solidFill>
                <a:srgbClr val="00B0F0"/>
              </a:solidFill>
            </a:endParaRPr>
          </a:p>
        </p:txBody>
      </p:sp>
    </p:spTree>
    <p:extLst>
      <p:ext uri="{BB962C8B-B14F-4D97-AF65-F5344CB8AC3E}">
        <p14:creationId xmlns:p14="http://schemas.microsoft.com/office/powerpoint/2010/main" val="2933522169"/>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B2C2092-B6B1-6BBF-D516-CC76030F54E8}"/>
              </a:ext>
            </a:extLst>
          </p:cNvPr>
          <p:cNvSpPr txBox="1"/>
          <p:nvPr/>
        </p:nvSpPr>
        <p:spPr>
          <a:xfrm>
            <a:off x="2279422" y="686975"/>
            <a:ext cx="4585156" cy="553998"/>
          </a:xfrm>
          <a:prstGeom prst="rect">
            <a:avLst/>
          </a:prstGeom>
          <a:noFill/>
        </p:spPr>
        <p:txBody>
          <a:bodyPr wrap="square">
            <a:spAutoFit/>
          </a:bodyPr>
          <a:lstStyle/>
          <a:p>
            <a:pPr algn="ctr"/>
            <a:r>
              <a:rPr lang="bg-BG" sz="3000" b="1" dirty="0">
                <a:solidFill>
                  <a:srgbClr val="00B0F0"/>
                </a:solidFill>
                <a:latin typeface="+mj-lt"/>
              </a:rPr>
              <a:t>Източници</a:t>
            </a:r>
          </a:p>
        </p:txBody>
      </p:sp>
      <p:sp>
        <p:nvSpPr>
          <p:cNvPr id="7" name="TextBox 6">
            <a:extLst>
              <a:ext uri="{FF2B5EF4-FFF2-40B4-BE49-F238E27FC236}">
                <a16:creationId xmlns:a16="http://schemas.microsoft.com/office/drawing/2014/main" xmlns="" id="{5B4EBD34-372C-5E73-3334-16125FF4D079}"/>
              </a:ext>
            </a:extLst>
          </p:cNvPr>
          <p:cNvSpPr txBox="1"/>
          <p:nvPr/>
        </p:nvSpPr>
        <p:spPr>
          <a:xfrm>
            <a:off x="596991" y="1844423"/>
            <a:ext cx="7950018" cy="2862322"/>
          </a:xfrm>
          <a:prstGeom prst="rect">
            <a:avLst/>
          </a:prstGeom>
          <a:noFill/>
        </p:spPr>
        <p:txBody>
          <a:bodyPr wrap="square">
            <a:spAutoFit/>
          </a:bodyPr>
          <a:lstStyle/>
          <a:p>
            <a:pPr marL="285750" indent="-285750">
              <a:buFont typeface="Wingdings" panose="05000000000000000000" pitchFamily="2" charset="2"/>
              <a:buChar char="§"/>
            </a:pPr>
            <a:r>
              <a:rPr lang="nl-BE" dirty="0">
                <a:solidFill>
                  <a:srgbClr val="00B0F0"/>
                </a:solidFill>
                <a:hlinkClick r:id="rId2">
                  <a:extLst>
                    <a:ext uri="{A12FA001-AC4F-418D-AE19-62706E023703}">
                      <ahyp:hlinkClr xmlns:ahyp="http://schemas.microsoft.com/office/drawing/2018/hyperlinkcolor" xmlns="" val="tx"/>
                    </a:ext>
                  </a:extLst>
                </a:hlinkClick>
              </a:rPr>
              <a:t>https://www.cisco.com/c/en/us/products/switches/what-is-a-wan-wide-area-network.html</a:t>
            </a:r>
            <a:endParaRPr lang="bg-BG" dirty="0">
              <a:solidFill>
                <a:srgbClr val="00B0F0"/>
              </a:solidFill>
            </a:endParaRPr>
          </a:p>
          <a:p>
            <a:pPr marL="285750" indent="-285750">
              <a:buFont typeface="Wingdings" panose="05000000000000000000" pitchFamily="2" charset="2"/>
              <a:buChar char="§"/>
            </a:pPr>
            <a:r>
              <a:rPr lang="nl-BE" dirty="0">
                <a:solidFill>
                  <a:srgbClr val="00B0F0"/>
                </a:solidFill>
                <a:hlinkClick r:id="rId3">
                  <a:extLst>
                    <a:ext uri="{A12FA001-AC4F-418D-AE19-62706E023703}">
                      <ahyp:hlinkClr xmlns:ahyp="http://schemas.microsoft.com/office/drawing/2018/hyperlinkcolor" xmlns="" val="tx"/>
                    </a:ext>
                  </a:extLst>
                </a:hlinkClick>
              </a:rPr>
              <a:t>https://download.pomagalo.com/1322581/wan+mreji+wan+protokoli+vryzki+mejdu+lan+i+wan/</a:t>
            </a:r>
            <a:endParaRPr lang="bg-BG" dirty="0">
              <a:solidFill>
                <a:srgbClr val="00B0F0"/>
              </a:solidFill>
            </a:endParaRPr>
          </a:p>
          <a:p>
            <a:pPr marL="285750" indent="-285750">
              <a:buFont typeface="Wingdings" panose="05000000000000000000" pitchFamily="2" charset="2"/>
              <a:buChar char="§"/>
            </a:pPr>
            <a:r>
              <a:rPr lang="nl-BE" dirty="0">
                <a:solidFill>
                  <a:srgbClr val="00B0F0"/>
                </a:solidFill>
                <a:hlinkClick r:id="rId4">
                  <a:extLst>
                    <a:ext uri="{A12FA001-AC4F-418D-AE19-62706E023703}">
                      <ahyp:hlinkClr xmlns:ahyp="http://schemas.microsoft.com/office/drawing/2018/hyperlinkcolor" xmlns="" val="tx"/>
                    </a:ext>
                  </a:extLst>
                </a:hlinkClick>
              </a:rPr>
              <a:t>http://www.iseca.org/downloads/2003_2004-1/papers/43474_WAN.pdf</a:t>
            </a:r>
            <a:endParaRPr lang="bg-BG" dirty="0">
              <a:solidFill>
                <a:srgbClr val="00B0F0"/>
              </a:solidFill>
            </a:endParaRPr>
          </a:p>
          <a:p>
            <a:pPr marL="285750" indent="-285750">
              <a:buFont typeface="Wingdings" panose="05000000000000000000" pitchFamily="2" charset="2"/>
              <a:buChar char="§"/>
            </a:pPr>
            <a:r>
              <a:rPr lang="nl-BE" dirty="0">
                <a:solidFill>
                  <a:srgbClr val="00B0F0"/>
                </a:solidFill>
                <a:hlinkClick r:id="rId5">
                  <a:extLst>
                    <a:ext uri="{A12FA001-AC4F-418D-AE19-62706E023703}">
                      <ahyp:hlinkClr xmlns:ahyp="http://schemas.microsoft.com/office/drawing/2018/hyperlinkcolor" xmlns="" val="tx"/>
                    </a:ext>
                  </a:extLst>
                </a:hlinkClick>
              </a:rPr>
              <a:t>http://gogors.free.bg/Mpe%D0%B6u.htm</a:t>
            </a:r>
            <a:endParaRPr lang="bg-BG" dirty="0">
              <a:solidFill>
                <a:srgbClr val="00B0F0"/>
              </a:solidFill>
            </a:endParaRPr>
          </a:p>
          <a:p>
            <a:pPr marL="285750" indent="-285750">
              <a:buFont typeface="Wingdings" panose="05000000000000000000" pitchFamily="2" charset="2"/>
              <a:buChar char="§"/>
            </a:pPr>
            <a:r>
              <a:rPr lang="nl-BE" dirty="0">
                <a:solidFill>
                  <a:srgbClr val="00B0F0"/>
                </a:solidFill>
                <a:hlinkClick r:id="rId6">
                  <a:extLst>
                    <a:ext uri="{A12FA001-AC4F-418D-AE19-62706E023703}">
                      <ahyp:hlinkClr xmlns:ahyp="http://schemas.microsoft.com/office/drawing/2018/hyperlinkcolor" xmlns="" val="tx"/>
                    </a:ext>
                  </a:extLst>
                </a:hlinkClick>
              </a:rPr>
              <a:t>https://www.bing.com/images/search?q</a:t>
            </a:r>
            <a:endParaRPr lang="bg-BG" dirty="0">
              <a:solidFill>
                <a:srgbClr val="00B0F0"/>
              </a:solidFill>
            </a:endParaRPr>
          </a:p>
          <a:p>
            <a:pPr marL="285750" indent="-285750">
              <a:buFont typeface="Wingdings" panose="05000000000000000000" pitchFamily="2" charset="2"/>
              <a:buChar char="§"/>
            </a:pPr>
            <a:r>
              <a:rPr lang="nl-BE" dirty="0">
                <a:solidFill>
                  <a:srgbClr val="00B0F0"/>
                </a:solidFill>
                <a:hlinkClick r:id="rId7">
                  <a:extLst>
                    <a:ext uri="{A12FA001-AC4F-418D-AE19-62706E023703}">
                      <ahyp:hlinkClr xmlns:ahyp="http://schemas.microsoft.com/office/drawing/2018/hyperlinkcolor" xmlns="" val="tx"/>
                    </a:ext>
                  </a:extLst>
                </a:hlinkClick>
              </a:rPr>
              <a:t>https://www.wikiwand.com/bg/WAN</a:t>
            </a:r>
            <a:endParaRPr lang="bg-BG" dirty="0">
              <a:solidFill>
                <a:srgbClr val="00B0F0"/>
              </a:solidFill>
            </a:endParaRPr>
          </a:p>
          <a:p>
            <a:pPr marL="285750" indent="-285750">
              <a:buFont typeface="Wingdings" panose="05000000000000000000" pitchFamily="2" charset="2"/>
              <a:buChar char="§"/>
            </a:pPr>
            <a:endParaRPr lang="bg-BG" dirty="0">
              <a:solidFill>
                <a:srgbClr val="00B0F0"/>
              </a:solidFill>
            </a:endParaRPr>
          </a:p>
          <a:p>
            <a:pPr marL="285750" indent="-285750">
              <a:buFont typeface="Wingdings" panose="05000000000000000000" pitchFamily="2" charset="2"/>
              <a:buChar char="§"/>
            </a:pPr>
            <a:endParaRPr lang="bg-BG" dirty="0">
              <a:solidFill>
                <a:srgbClr val="00B0F0"/>
              </a:solidFill>
            </a:endParaRPr>
          </a:p>
        </p:txBody>
      </p:sp>
      <p:sp>
        <p:nvSpPr>
          <p:cNvPr id="8" name="TextBox 7">
            <a:extLst>
              <a:ext uri="{FF2B5EF4-FFF2-40B4-BE49-F238E27FC236}">
                <a16:creationId xmlns:a16="http://schemas.microsoft.com/office/drawing/2014/main" xmlns="" id="{8AE4AD48-70B9-80F5-2F73-1CBE64EF94BC}"/>
              </a:ext>
            </a:extLst>
          </p:cNvPr>
          <p:cNvSpPr txBox="1"/>
          <p:nvPr/>
        </p:nvSpPr>
        <p:spPr>
          <a:xfrm>
            <a:off x="5833411" y="4808823"/>
            <a:ext cx="3310589" cy="276999"/>
          </a:xfrm>
          <a:prstGeom prst="rect">
            <a:avLst/>
          </a:prstGeom>
          <a:noFill/>
        </p:spPr>
        <p:txBody>
          <a:bodyPr wrap="square" rtlCol="0">
            <a:spAutoFit/>
          </a:bodyPr>
          <a:lstStyle/>
          <a:p>
            <a:pPr algn="r"/>
            <a:r>
              <a:rPr lang="bg-BG" sz="1200" dirty="0">
                <a:solidFill>
                  <a:srgbClr val="00B0F0"/>
                </a:solidFill>
              </a:rPr>
              <a:t>/Изготвил: Тодор Димитров/ </a:t>
            </a:r>
          </a:p>
        </p:txBody>
      </p:sp>
    </p:spTree>
    <p:extLst>
      <p:ext uri="{BB962C8B-B14F-4D97-AF65-F5344CB8AC3E}">
        <p14:creationId xmlns:p14="http://schemas.microsoft.com/office/powerpoint/2010/main" val="2066700785"/>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1397</Words>
  <Application>Microsoft Office PowerPoint</Application>
  <PresentationFormat>On-screen Show (16:9)</PresentationFormat>
  <Paragraphs>90</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Съдържание</vt:lpstr>
      <vt:lpstr>PowerPoint Presentation</vt:lpstr>
      <vt:lpstr>PowerPoint Presentation</vt:lpstr>
      <vt:lpstr>Категоризиране на мрежите според физическия обхват</vt:lpstr>
      <vt:lpstr>PowerPoint Presentation</vt:lpstr>
      <vt:lpstr>PowerPoint Presentation</vt:lpstr>
      <vt:lpstr> Същност на WAN мрежи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2022-12-15T07:17:16Z</dcterms:modified>
</cp:coreProperties>
</file>