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9" r:id="rId4"/>
  </p:sldMasterIdLst>
  <p:notesMasterIdLst>
    <p:notesMasterId r:id="rId24"/>
  </p:notesMasterIdLst>
  <p:sldIdLst>
    <p:sldId id="256" r:id="rId5"/>
    <p:sldId id="316" r:id="rId6"/>
    <p:sldId id="298" r:id="rId7"/>
    <p:sldId id="257" r:id="rId8"/>
    <p:sldId id="299" r:id="rId9"/>
    <p:sldId id="300" r:id="rId10"/>
    <p:sldId id="301" r:id="rId11"/>
    <p:sldId id="302" r:id="rId12"/>
    <p:sldId id="304" r:id="rId13"/>
    <p:sldId id="303" r:id="rId14"/>
    <p:sldId id="305" r:id="rId15"/>
    <p:sldId id="306" r:id="rId16"/>
    <p:sldId id="307" r:id="rId17"/>
    <p:sldId id="310" r:id="rId18"/>
    <p:sldId id="311" r:id="rId19"/>
    <p:sldId id="312" r:id="rId20"/>
    <p:sldId id="313" r:id="rId21"/>
    <p:sldId id="315" r:id="rId22"/>
    <p:sldId id="314" r:id="rId23"/>
  </p:sldIdLst>
  <p:sldSz cx="9144000" cy="5143500" type="screen16x9"/>
  <p:notesSz cx="6858000" cy="9144000"/>
  <p:embeddedFontLst>
    <p:embeddedFont>
      <p:font typeface="Advent Pro Light" panose="020B0604020202020204" charset="0"/>
      <p:regular r:id="rId25"/>
      <p:bold r:id="rId26"/>
    </p:embeddedFont>
    <p:embeddedFont>
      <p:font typeface="Rajdhani" panose="020B0604020202020204" charset="0"/>
      <p:regular r:id="rId27"/>
      <p:bold r:id="rId28"/>
    </p:embeddedFont>
    <p:embeddedFont>
      <p:font typeface="Fira Sans Condensed Light" panose="020B0604020202020204" charset="0"/>
      <p:regular r:id="rId29"/>
      <p:bold r:id="rId30"/>
      <p:italic r:id="rId31"/>
      <p:boldItalic r:id="rId32"/>
    </p:embeddedFont>
    <p:embeddedFont>
      <p:font typeface="Anton" panose="020B0604020202020204" charset="0"/>
      <p:regular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1860F817-8076-4B22-BE86-E8FF10E9BA2D}">
  <a:tblStyle styleId="{1860F817-8076-4B22-BE86-E8FF10E9BA2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8" d="100"/>
          <a:sy n="98" d="100"/>
        </p:scale>
        <p:origin x="-558" y="-10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2.fntdata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5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4.fntdata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7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0065457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708a6ee8a1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708a6ee8a1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708a6ee8a1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708a6ee8a1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изображение на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Контейнер за бележ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3699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20000" y="1139150"/>
            <a:ext cx="4404000" cy="259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7200">
                <a:latin typeface="Anton"/>
                <a:ea typeface="Anton"/>
                <a:cs typeface="Anton"/>
                <a:sym typeface="Anto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r>
              <a:rPr lang="bg-BG"/>
              <a:t>Редакт. стил загл. образец</a:t>
            </a: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20000" y="3585075"/>
            <a:ext cx="3384900" cy="4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latin typeface="Advent Pro Light"/>
                <a:ea typeface="Advent Pro Light"/>
                <a:cs typeface="Advent Pro Light"/>
                <a:sym typeface="Advent Pro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r>
              <a:rPr lang="bg-BG"/>
              <a:t>Щракнете, за да редактирате стила на подзаглавието в образеца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solidFill>
            <a:srgbClr val="FFFFFF">
              <a:alpha val="45090"/>
            </a:srgbClr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AutoNum type="arabicPeriod"/>
              <a:defRPr sz="1300">
                <a:solidFill>
                  <a:srgbClr val="F3F3F3"/>
                </a:solidFill>
              </a:defRPr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lphaLcPeriod"/>
              <a:defRPr sz="1200"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romanLcPeriod"/>
              <a:defRPr sz="1200"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rabicPeriod"/>
              <a:defRPr sz="1200"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lphaLcPeriod"/>
              <a:defRPr sz="1200"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romanLcPeriod"/>
              <a:defRPr sz="1200"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rabicPeriod"/>
              <a:defRPr sz="1200"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AutoNum type="alphaLcPeriod"/>
              <a:defRPr sz="1200"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100"/>
              <a:buAutoNum type="romanLcPeriod"/>
              <a:defRPr sz="12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15" name="Google Shape;15;p4"/>
          <p:cNvSpPr txBox="1">
            <a:spLocks noGrp="1"/>
          </p:cNvSpPr>
          <p:nvPr>
            <p:ph type="title"/>
          </p:nvPr>
        </p:nvSpPr>
        <p:spPr>
          <a:xfrm>
            <a:off x="720100" y="5098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lang="bg-BG"/>
              <a:t>Редакт. стил загл. образец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Празен">
    <p:bg>
      <p:bgPr>
        <a:noFill/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LANK_1_1_1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Rajdhani"/>
              <a:buNone/>
              <a:defRPr sz="28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Rajdhani"/>
              <a:buNone/>
              <a:defRPr sz="28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Rajdhani"/>
              <a:buNone/>
              <a:defRPr sz="28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Rajdhani"/>
              <a:buNone/>
              <a:defRPr sz="28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Rajdhani"/>
              <a:buNone/>
              <a:defRPr sz="28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Rajdhani"/>
              <a:buNone/>
              <a:defRPr sz="28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Rajdhani"/>
              <a:buNone/>
              <a:defRPr sz="28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Rajdhani"/>
              <a:buNone/>
              <a:defRPr sz="28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Rajdhani"/>
              <a:buNone/>
              <a:defRPr sz="28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Fira Sans Condensed Light"/>
              <a:buChar char="●"/>
              <a:defRPr sz="1200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1pPr>
            <a:lvl2pPr marL="914400" lvl="1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Fira Sans Condensed Light"/>
              <a:buChar char="○"/>
              <a:defRPr sz="1200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2pPr>
            <a:lvl3pPr marL="1371600" lvl="2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Fira Sans Condensed Light"/>
              <a:buChar char="■"/>
              <a:defRPr sz="1200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3pPr>
            <a:lvl4pPr marL="1828800" lvl="3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Fira Sans Condensed Light"/>
              <a:buChar char="●"/>
              <a:defRPr sz="1200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4pPr>
            <a:lvl5pPr marL="2286000" lvl="4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Fira Sans Condensed Light"/>
              <a:buChar char="○"/>
              <a:defRPr sz="1200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5pPr>
            <a:lvl6pPr marL="2743200" lvl="5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Fira Sans Condensed Light"/>
              <a:buChar char="■"/>
              <a:defRPr sz="1200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6pPr>
            <a:lvl7pPr marL="3200400" lvl="6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Fira Sans Condensed Light"/>
              <a:buChar char="●"/>
              <a:defRPr sz="1200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7pPr>
            <a:lvl8pPr marL="3657600" lvl="7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Fira Sans Condensed Light"/>
              <a:buChar char="○"/>
              <a:defRPr sz="1200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8pPr>
            <a:lvl9pPr marL="4114800" lvl="8" indent="-30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200"/>
              <a:buFont typeface="Fira Sans Condensed Light"/>
              <a:buChar char="■"/>
              <a:defRPr sz="1200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9" r:id="rId3"/>
    <p:sldLayoutId id="2147483666" r:id="rId4"/>
    <p:sldLayoutId id="2147483667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1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bg.wikipedia.org/wiki/%D0%9A%D0%BE%D0%BC%D0%BF%D1%8E%D1%82%D1%8A%D1%80%D0%BD%D0%B0_%D0%BC%D1%80%D0%B5%D0%B6%D0%B0#%D0%9A%D0%B0%D1%82%D0%B5%D0%B3%D0%BE%D1%80%D0%B8%D0%B7%D0%B8%D1%80%D0%B0%D0%BD%D0%B5_%D0%BD%D0%B0_%D0%BC%D1%80%D0%B5%D0%B6%D0%B8%D1%82%D0%B5_%D0%BF%D0%BE_%D1%82%D0%BE%D0%BF%D0%BE%D0%BB%D0%BE%D0%B3%D0%B8%D1%8F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4"/>
          <p:cNvSpPr txBox="1">
            <a:spLocks noGrp="1"/>
          </p:cNvSpPr>
          <p:nvPr>
            <p:ph type="ctrTitle"/>
          </p:nvPr>
        </p:nvSpPr>
        <p:spPr>
          <a:xfrm>
            <a:off x="720000" y="1139150"/>
            <a:ext cx="4404000" cy="259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dirty="0">
                <a:latin typeface="Arial" panose="020B0604020202020204" pitchFamily="34" charset="0"/>
                <a:ea typeface="Rajdhani"/>
                <a:cs typeface="Arial" panose="020B0604020202020204" pitchFamily="34" charset="0"/>
                <a:sym typeface="Rajdhani"/>
              </a:rPr>
              <a:t/>
            </a:r>
            <a:br>
              <a:rPr lang="en-US" sz="3200" b="0" dirty="0">
                <a:latin typeface="Arial" panose="020B0604020202020204" pitchFamily="34" charset="0"/>
                <a:ea typeface="Rajdhani"/>
                <a:cs typeface="Arial" panose="020B0604020202020204" pitchFamily="34" charset="0"/>
                <a:sym typeface="Rajdhani"/>
              </a:rPr>
            </a:br>
            <a:r>
              <a:rPr lang="bg-BG" sz="3200" b="0" dirty="0">
                <a:latin typeface="Arial" panose="020B0604020202020204" pitchFamily="34" charset="0"/>
                <a:ea typeface="Rajdhani"/>
                <a:cs typeface="Arial" panose="020B0604020202020204" pitchFamily="34" charset="0"/>
                <a:sym typeface="Rajdhani"/>
              </a:rPr>
              <a:t>Категоризация на мрежите.</a:t>
            </a:r>
            <a:r>
              <a:rPr lang="en-US" sz="3200" b="0" dirty="0">
                <a:latin typeface="Arial" panose="020B0604020202020204" pitchFamily="34" charset="0"/>
                <a:ea typeface="Rajdhani"/>
                <a:cs typeface="Arial" panose="020B0604020202020204" pitchFamily="34" charset="0"/>
                <a:sym typeface="Rajdhani"/>
              </a:rPr>
              <a:t>LAN</a:t>
            </a:r>
            <a:r>
              <a:rPr lang="bg-BG" sz="3200" b="0" dirty="0">
                <a:latin typeface="Arial" panose="020B0604020202020204" pitchFamily="34" charset="0"/>
                <a:ea typeface="Rajdhani"/>
                <a:cs typeface="Arial" panose="020B0604020202020204" pitchFamily="34" charset="0"/>
                <a:sym typeface="Rajdhani"/>
              </a:rPr>
              <a:t> мрежи същност, характерни особености и компоненти.</a:t>
            </a:r>
            <a:endParaRPr sz="3200" b="0" dirty="0">
              <a:latin typeface="Arial" panose="020B0604020202020204" pitchFamily="34" charset="0"/>
              <a:ea typeface="Rajdhani"/>
              <a:cs typeface="Arial" panose="020B0604020202020204" pitchFamily="34" charset="0"/>
              <a:sym typeface="Rajdhani"/>
            </a:endParaRPr>
          </a:p>
        </p:txBody>
      </p:sp>
      <p:pic>
        <p:nvPicPr>
          <p:cNvPr id="104" name="Google Shape;104;p24"/>
          <p:cNvPicPr preferRelativeResize="0"/>
          <p:nvPr/>
        </p:nvPicPr>
        <p:blipFill rotWithShape="1">
          <a:blip r:embed="rId4">
            <a:alphaModFix/>
          </a:blip>
          <a:srcRect l="6664" t="4858" r="6220" b="5495"/>
          <a:stretch/>
        </p:blipFill>
        <p:spPr>
          <a:xfrm>
            <a:off x="4946650" y="411985"/>
            <a:ext cx="4197350" cy="43195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лавие 2">
            <a:extLst>
              <a:ext uri="{FF2B5EF4-FFF2-40B4-BE49-F238E27FC236}">
                <a16:creationId xmlns:a16="http://schemas.microsoft.com/office/drawing/2014/main" xmlns="" id="{C63A3B7C-9FE2-D6EF-6DDD-B078EC0E4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091" y="0"/>
            <a:ext cx="7704000" cy="572700"/>
          </a:xfrm>
        </p:spPr>
        <p:txBody>
          <a:bodyPr/>
          <a:lstStyle/>
          <a:p>
            <a:r>
              <a:rPr lang="bg-BG" sz="3200" b="0" dirty="0">
                <a:latin typeface="Arial" panose="020B0604020202020204" pitchFamily="34" charset="0"/>
                <a:cs typeface="Arial" panose="020B0604020202020204" pitchFamily="34" charset="0"/>
              </a:rPr>
              <a:t>Съдържание</a:t>
            </a:r>
            <a:endParaRPr lang="en-US" sz="32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Текстово поле 3">
            <a:extLst>
              <a:ext uri="{FF2B5EF4-FFF2-40B4-BE49-F238E27FC236}">
                <a16:creationId xmlns:a16="http://schemas.microsoft.com/office/drawing/2014/main" xmlns="" id="{9E333F92-65CC-E179-BADE-BD0AAA52D24F}"/>
              </a:ext>
            </a:extLst>
          </p:cNvPr>
          <p:cNvSpPr txBox="1"/>
          <p:nvPr/>
        </p:nvSpPr>
        <p:spPr>
          <a:xfrm>
            <a:off x="0" y="643467"/>
            <a:ext cx="9144000" cy="400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400" dirty="0">
                <a:solidFill>
                  <a:schemeClr val="tx2"/>
                </a:solidFill>
              </a:rPr>
              <a:t>1.   Категоризация на мрежите по видове</a:t>
            </a:r>
          </a:p>
          <a:p>
            <a:r>
              <a:rPr lang="bg-BG" sz="2400" dirty="0">
                <a:solidFill>
                  <a:schemeClr val="tx2"/>
                </a:solidFill>
              </a:rPr>
              <a:t>1.1</a:t>
            </a:r>
            <a:r>
              <a:rPr lang="ru-RU" sz="2400" b="0" dirty="0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dirty="0" err="1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Категоризиране</a:t>
            </a:r>
            <a:r>
              <a:rPr lang="ru-RU" sz="2400" b="0" dirty="0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на </a:t>
            </a:r>
            <a:r>
              <a:rPr lang="ru-RU" sz="2400" b="0" dirty="0" err="1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мрежите</a:t>
            </a:r>
            <a:r>
              <a:rPr lang="ru-RU" sz="2400" b="0" dirty="0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по топология</a:t>
            </a:r>
            <a:endParaRPr lang="bg-BG" sz="2400" dirty="0">
              <a:solidFill>
                <a:schemeClr val="tx2"/>
              </a:solidFill>
            </a:endParaRPr>
          </a:p>
          <a:p>
            <a:r>
              <a:rPr lang="bg-BG" sz="2400" dirty="0">
                <a:solidFill>
                  <a:schemeClr val="tx2"/>
                </a:solidFill>
              </a:rPr>
              <a:t>1.2 </a:t>
            </a:r>
            <a:r>
              <a:rPr lang="ru-RU" sz="2400" b="0" i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Категоризация на </a:t>
            </a:r>
            <a:r>
              <a:rPr lang="ru-RU" sz="2400" b="0" i="0" dirty="0" err="1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мрежите</a:t>
            </a:r>
            <a:r>
              <a:rPr lang="ru-RU" sz="2400" b="0" i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по архитектура</a:t>
            </a:r>
          </a:p>
          <a:p>
            <a:r>
              <a:rPr lang="ru-RU" sz="2400" dirty="0">
                <a:solidFill>
                  <a:schemeClr val="tx2"/>
                </a:solidFill>
                <a:latin typeface="Arial" panose="020B0604020202020204" pitchFamily="34" charset="0"/>
              </a:rPr>
              <a:t>1.3 </a:t>
            </a:r>
            <a:r>
              <a:rPr lang="ru-RU" sz="2400" b="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Категоризиране</a:t>
            </a:r>
            <a:r>
              <a:rPr lang="ru-RU" sz="2400" b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на </a:t>
            </a:r>
            <a:r>
              <a:rPr lang="ru-RU" sz="2400" b="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мрежите</a:t>
            </a:r>
            <a:r>
              <a:rPr lang="ru-RU" sz="2400" b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b="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според</a:t>
            </a:r>
            <a:r>
              <a:rPr lang="ru-RU" sz="2400" b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протокол  </a:t>
            </a:r>
          </a:p>
          <a:p>
            <a:r>
              <a:rPr lang="bg-BG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  </a:t>
            </a:r>
            <a:r>
              <a:rPr lang="en-US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 </a:t>
            </a:r>
            <a:r>
              <a:rPr lang="bg-BG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същност</a:t>
            </a:r>
          </a:p>
          <a:p>
            <a:r>
              <a:rPr lang="bg-BG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  </a:t>
            </a:r>
            <a:r>
              <a:rPr lang="en-US" sz="2400" b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 </a:t>
            </a:r>
            <a:r>
              <a:rPr lang="bg-BG" sz="2400" b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компоненти</a:t>
            </a:r>
          </a:p>
          <a:p>
            <a:r>
              <a:rPr lang="bg-BG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3.1 </a:t>
            </a:r>
            <a:r>
              <a:rPr lang="bg-BG" sz="2400" b="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Съобщителната</a:t>
            </a:r>
            <a:r>
              <a:rPr lang="bg-BG" sz="2400" b="0" spc="5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bg-BG" sz="2400" b="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среда</a:t>
            </a:r>
            <a:r>
              <a:rPr lang="bg-BG" sz="2400" b="0" spc="5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</a:p>
          <a:p>
            <a:r>
              <a:rPr lang="bg-BG" sz="2400" spc="5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3.2 </a:t>
            </a:r>
            <a:r>
              <a:rPr lang="bg-BG" sz="2400" b="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Мрежова карта </a:t>
            </a:r>
            <a:r>
              <a:rPr lang="en-US" sz="2400" b="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bg-BG" sz="2400" b="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и мрежови софтуер</a:t>
            </a:r>
            <a:r>
              <a:rPr lang="bg-BG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</a:p>
          <a:p>
            <a:r>
              <a:rPr lang="bg-BG" sz="2400" b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  И</a:t>
            </a:r>
            <a:r>
              <a:rPr lang="bg-BG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зточници</a:t>
            </a:r>
          </a:p>
          <a:p>
            <a:r>
              <a:rPr lang="bg-BG" sz="2400" b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   Въпроси</a:t>
            </a:r>
          </a:p>
          <a:p>
            <a:r>
              <a:rPr lang="bg-BG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8014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лавие 2">
            <a:extLst>
              <a:ext uri="{FF2B5EF4-FFF2-40B4-BE49-F238E27FC236}">
                <a16:creationId xmlns:a16="http://schemas.microsoft.com/office/drawing/2014/main" xmlns="" id="{4EB96A87-04DE-6096-8863-5F543440D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z="3200" b="0" dirty="0">
                <a:latin typeface="Arial" panose="020B0604020202020204" pitchFamily="34" charset="0"/>
                <a:cs typeface="Arial" panose="020B0604020202020204" pitchFamily="34" charset="0"/>
              </a:rPr>
              <a:t>Категоризация на мрежите по видове</a:t>
            </a:r>
            <a:endParaRPr lang="en-US" sz="32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Текстово поле 4">
            <a:extLst>
              <a:ext uri="{FF2B5EF4-FFF2-40B4-BE49-F238E27FC236}">
                <a16:creationId xmlns:a16="http://schemas.microsoft.com/office/drawing/2014/main" xmlns="" id="{C3538569-530F-A99C-AB28-275E86E234E8}"/>
              </a:ext>
            </a:extLst>
          </p:cNvPr>
          <p:cNvSpPr txBox="1"/>
          <p:nvPr/>
        </p:nvSpPr>
        <p:spPr>
          <a:xfrm>
            <a:off x="916743" y="1941443"/>
            <a:ext cx="750735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err="1">
                <a:solidFill>
                  <a:schemeClr val="tx2"/>
                </a:solidFill>
              </a:rPr>
              <a:t>Категоризиране</a:t>
            </a:r>
            <a:r>
              <a:rPr lang="ru-RU" sz="2400" dirty="0">
                <a:solidFill>
                  <a:schemeClr val="tx2"/>
                </a:solidFill>
              </a:rPr>
              <a:t> на </a:t>
            </a:r>
            <a:r>
              <a:rPr lang="ru-RU" sz="2400" dirty="0" err="1">
                <a:solidFill>
                  <a:schemeClr val="tx2"/>
                </a:solidFill>
              </a:rPr>
              <a:t>мрежите</a:t>
            </a:r>
            <a:r>
              <a:rPr lang="ru-RU" sz="2400" dirty="0">
                <a:solidFill>
                  <a:schemeClr val="tx2"/>
                </a:solidFill>
              </a:rPr>
              <a:t> по топология</a:t>
            </a:r>
          </a:p>
          <a:p>
            <a:r>
              <a:rPr lang="ru-RU" sz="2400" b="0" i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Категоризация на </a:t>
            </a:r>
            <a:r>
              <a:rPr lang="ru-RU" sz="2400" b="0" i="0" dirty="0" err="1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мрежите</a:t>
            </a:r>
            <a:r>
              <a:rPr lang="ru-RU" sz="2400" b="0" i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по архитектура</a:t>
            </a:r>
          </a:p>
          <a:p>
            <a:r>
              <a:rPr lang="ru-RU" sz="2400" b="0" dirty="0" err="1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Категоризиране</a:t>
            </a:r>
            <a:r>
              <a:rPr lang="ru-RU" sz="2400" b="0" dirty="0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на </a:t>
            </a:r>
            <a:r>
              <a:rPr lang="ru-RU" sz="2400" b="0" dirty="0" err="1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мрежите</a:t>
            </a:r>
            <a:r>
              <a:rPr lang="ru-RU" sz="2400" b="0" dirty="0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по топология</a:t>
            </a:r>
            <a:endParaRPr lang="ru-RU" sz="2400" b="0" i="0" dirty="0"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endParaRPr lang="ru-RU" sz="2400" dirty="0">
              <a:solidFill>
                <a:schemeClr val="tx2"/>
              </a:solidFill>
            </a:endParaRPr>
          </a:p>
          <a:p>
            <a:endParaRPr lang="en-US" sz="2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0405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5"/>
          <p:cNvSpPr txBox="1">
            <a:spLocks noGrp="1"/>
          </p:cNvSpPr>
          <p:nvPr>
            <p:ph type="title"/>
          </p:nvPr>
        </p:nvSpPr>
        <p:spPr>
          <a:xfrm>
            <a:off x="351282" y="-119269"/>
            <a:ext cx="7911447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sz="3200" b="0" dirty="0" err="1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Категоризиране</a:t>
            </a:r>
            <a:r>
              <a:rPr lang="ru-RU" sz="3200" b="0" dirty="0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на </a:t>
            </a:r>
            <a:r>
              <a:rPr lang="ru-RU" sz="3200" b="0" dirty="0" err="1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мрежите</a:t>
            </a:r>
            <a:r>
              <a:rPr lang="ru-RU" sz="3200" b="0" dirty="0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по топология</a:t>
            </a:r>
            <a:br>
              <a:rPr lang="ru-RU" sz="3200" b="0" dirty="0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3200" b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0" name="Google Shape;110;p25"/>
          <p:cNvSpPr txBox="1">
            <a:spLocks noGrp="1"/>
          </p:cNvSpPr>
          <p:nvPr>
            <p:ph type="body" idx="1"/>
          </p:nvPr>
        </p:nvSpPr>
        <p:spPr>
          <a:xfrm>
            <a:off x="251791" y="901149"/>
            <a:ext cx="8494642" cy="4141303"/>
          </a:xfrm>
          <a:prstGeom prst="rect">
            <a:avLst/>
          </a:prstGeom>
          <a:solidFill>
            <a:schemeClr val="dk1">
              <a:alpha val="56699"/>
            </a:schemeClr>
          </a:solidFill>
        </p:spPr>
        <p:txBody>
          <a:bodyPr spcFirstLastPara="1" wrap="square" lIns="234000" tIns="234000" rIns="234000" bIns="91425" anchor="ctr" anchorCtr="0">
            <a:noAutofit/>
          </a:bodyPr>
          <a:lstStyle/>
          <a:p>
            <a:r>
              <a:rPr lang="ru-RU" sz="2400" b="1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Линейна шина</a:t>
            </a:r>
            <a:r>
              <a:rPr lang="ru-RU" sz="2400" b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 – </a:t>
            </a:r>
            <a:r>
              <a:rPr lang="ru-RU" sz="2400" b="1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(шина)</a:t>
            </a:r>
            <a:r>
              <a:rPr lang="ru-RU" sz="2400" b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ru-RU" sz="2400" b="0" dirty="0" err="1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представлява</a:t>
            </a:r>
            <a:r>
              <a:rPr lang="ru-RU" sz="2400" b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мрежа, </a:t>
            </a:r>
            <a:r>
              <a:rPr lang="ru-RU" sz="2400" b="0" dirty="0" err="1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която</a:t>
            </a:r>
            <a:r>
              <a:rPr lang="ru-RU" sz="2400" b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е </a:t>
            </a:r>
            <a:r>
              <a:rPr lang="ru-RU" sz="2400" b="0" dirty="0" err="1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разположена</a:t>
            </a:r>
            <a:r>
              <a:rPr lang="ru-RU" sz="2400" b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линейно. </a:t>
            </a:r>
            <a:r>
              <a:rPr lang="ru-RU" sz="2400" b="0" dirty="0" err="1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Линията</a:t>
            </a:r>
            <a:r>
              <a:rPr lang="ru-RU" sz="2400" b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не е </a:t>
            </a:r>
            <a:r>
              <a:rPr lang="ru-RU" sz="2400" b="0" dirty="0" err="1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задължително</a:t>
            </a:r>
            <a:r>
              <a:rPr lang="ru-RU" sz="2400" b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да </a:t>
            </a:r>
            <a:r>
              <a:rPr lang="ru-RU" sz="2400" b="0" dirty="0" err="1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бъде</a:t>
            </a:r>
            <a:r>
              <a:rPr lang="ru-RU" sz="2400" b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права, просто </a:t>
            </a:r>
            <a:r>
              <a:rPr lang="ru-RU" sz="2400" b="0" dirty="0" err="1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кабелът</a:t>
            </a:r>
            <a:r>
              <a:rPr lang="ru-RU" sz="2400" b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u-RU" sz="2400" b="0" dirty="0" err="1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преминава</a:t>
            </a:r>
            <a:r>
              <a:rPr lang="ru-RU" sz="2400" b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от един </a:t>
            </a:r>
            <a:r>
              <a:rPr lang="ru-RU" sz="2400" b="0" dirty="0" err="1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компютър</a:t>
            </a:r>
            <a:r>
              <a:rPr lang="ru-RU" sz="2400" b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на друг. </a:t>
            </a:r>
            <a:r>
              <a:rPr lang="ru-RU" sz="2400" b="0" dirty="0" err="1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Мрежата</a:t>
            </a:r>
            <a:r>
              <a:rPr lang="ru-RU" sz="2400" b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u-RU" sz="2400" b="0" dirty="0" err="1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изисква</a:t>
            </a:r>
            <a:r>
              <a:rPr lang="ru-RU" sz="2400" b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ru-RU" sz="2400" b="0" dirty="0" err="1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терминиране</a:t>
            </a:r>
            <a:r>
              <a:rPr lang="ru-RU" sz="2400" b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на </a:t>
            </a:r>
            <a:r>
              <a:rPr lang="ru-RU" sz="2400" b="0" dirty="0" err="1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всеки</a:t>
            </a:r>
            <a:r>
              <a:rPr lang="ru-RU" sz="2400" b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край в противен случай </a:t>
            </a:r>
            <a:r>
              <a:rPr lang="ru-RU" sz="2400" b="0" dirty="0" err="1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възниква</a:t>
            </a:r>
            <a:r>
              <a:rPr lang="ru-RU" sz="2400" b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ru-RU" sz="2400" b="0" dirty="0" err="1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отраззен</a:t>
            </a:r>
            <a:r>
              <a:rPr lang="ru-RU" sz="2400" b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сигнал, </a:t>
            </a:r>
            <a:r>
              <a:rPr lang="ru-RU" sz="2400" b="0" dirty="0" err="1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който</a:t>
            </a:r>
            <a:r>
              <a:rPr lang="ru-RU" sz="2400" b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u-RU" sz="2400" b="0" dirty="0" err="1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може</a:t>
            </a:r>
            <a:r>
              <a:rPr lang="ru-RU" sz="2400" b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да </a:t>
            </a:r>
            <a:r>
              <a:rPr lang="ru-RU" sz="2400" b="0" dirty="0" err="1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наруши</a:t>
            </a:r>
            <a:r>
              <a:rPr lang="ru-RU" sz="2400" b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или да </a:t>
            </a:r>
            <a:r>
              <a:rPr lang="ru-RU" sz="2400" b="0" dirty="0" err="1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прекъсне</a:t>
            </a:r>
            <a:r>
              <a:rPr lang="ru-RU" sz="2400" b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u-RU" sz="2400" b="0" dirty="0" err="1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комуникациите</a:t>
            </a:r>
            <a:r>
              <a:rPr lang="ru-RU" sz="2400" b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по </a:t>
            </a:r>
            <a:r>
              <a:rPr lang="ru-RU" sz="2400" b="0" dirty="0" err="1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мрежата</a:t>
            </a:r>
            <a:r>
              <a:rPr lang="ru-RU" sz="2400" b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. </a:t>
            </a:r>
            <a:r>
              <a:rPr lang="ru-RU" sz="2400" b="0" dirty="0" err="1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Единият</a:t>
            </a:r>
            <a:r>
              <a:rPr lang="ru-RU" sz="2400" b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от </a:t>
            </a:r>
            <a:r>
              <a:rPr lang="ru-RU" sz="2400" b="0" dirty="0" err="1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краищата</a:t>
            </a:r>
            <a:r>
              <a:rPr lang="ru-RU" sz="2400" b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u-RU" sz="2400" b="0" dirty="0" err="1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трябва</a:t>
            </a:r>
            <a:r>
              <a:rPr lang="ru-RU" sz="2400" b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да </a:t>
            </a:r>
            <a:r>
              <a:rPr lang="ru-RU" sz="2400" b="0" dirty="0" err="1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бъде</a:t>
            </a:r>
            <a:r>
              <a:rPr lang="ru-RU" sz="2400" b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u-RU" sz="2400" b="0" dirty="0" err="1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заземен</a:t>
            </a:r>
            <a:r>
              <a:rPr lang="ru-RU" sz="2400" b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.</a:t>
            </a:r>
            <a:r>
              <a:rPr lang="ru-RU" sz="3200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r>
              <a:rPr lang="ru-RU" sz="2400" b="1" i="0" dirty="0" err="1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Хибридна</a:t>
            </a:r>
            <a:r>
              <a:rPr lang="ru-RU" sz="2400" i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– Мрежа, </a:t>
            </a:r>
            <a:r>
              <a:rPr lang="ru-RU" sz="2400" i="0" dirty="0" err="1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която</a:t>
            </a:r>
            <a:r>
              <a:rPr lang="ru-RU" sz="2400" i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u-RU" sz="2400" i="0" dirty="0" err="1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комбинира</a:t>
            </a:r>
            <a:r>
              <a:rPr lang="ru-RU" sz="2400" i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u-RU" sz="2400" i="0" dirty="0" err="1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елементи</a:t>
            </a:r>
            <a:r>
              <a:rPr lang="ru-RU" sz="2400" i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на две или </a:t>
            </a:r>
            <a:r>
              <a:rPr lang="ru-RU" sz="2400" i="0" dirty="0" err="1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повече</a:t>
            </a:r>
            <a:r>
              <a:rPr lang="ru-RU" sz="2400" i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u-RU" sz="2400" i="0" dirty="0" err="1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стандартни</a:t>
            </a:r>
            <a:r>
              <a:rPr lang="ru-RU" sz="2400" i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топологии.</a:t>
            </a:r>
          </a:p>
          <a:p>
            <a:pPr algn="l"/>
            <a:endParaRPr lang="ru-RU" sz="2400" b="0" dirty="0"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ово поле 4">
            <a:extLst>
              <a:ext uri="{FF2B5EF4-FFF2-40B4-BE49-F238E27FC236}">
                <a16:creationId xmlns:a16="http://schemas.microsoft.com/office/drawing/2014/main" xmlns="" id="{86015237-D2A8-7B45-443A-EC9AB432FCF3}"/>
              </a:ext>
            </a:extLst>
          </p:cNvPr>
          <p:cNvSpPr txBox="1"/>
          <p:nvPr/>
        </p:nvSpPr>
        <p:spPr>
          <a:xfrm>
            <a:off x="0" y="428917"/>
            <a:ext cx="8739809" cy="501675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ru-RU" sz="2400" dirty="0" err="1">
                <a:solidFill>
                  <a:schemeClr val="tx2"/>
                </a:solidFill>
              </a:rPr>
              <a:t>Кръг</a:t>
            </a:r>
            <a:r>
              <a:rPr lang="ru-RU" sz="2400" dirty="0">
                <a:solidFill>
                  <a:schemeClr val="tx2"/>
                </a:solidFill>
              </a:rPr>
              <a:t> – В </a:t>
            </a:r>
            <a:r>
              <a:rPr lang="ru-RU" sz="2400" dirty="0" err="1">
                <a:solidFill>
                  <a:schemeClr val="tx2"/>
                </a:solidFill>
              </a:rPr>
              <a:t>шината</a:t>
            </a:r>
            <a:r>
              <a:rPr lang="ru-RU" sz="2400" dirty="0">
                <a:solidFill>
                  <a:schemeClr val="tx2"/>
                </a:solidFill>
              </a:rPr>
              <a:t> се </a:t>
            </a:r>
            <a:r>
              <a:rPr lang="ru-RU" sz="2400" dirty="0" err="1">
                <a:solidFill>
                  <a:schemeClr val="tx2"/>
                </a:solidFill>
              </a:rPr>
              <a:t>свърже</a:t>
            </a:r>
            <a:r>
              <a:rPr lang="ru-RU" sz="2400" dirty="0">
                <a:solidFill>
                  <a:schemeClr val="tx2"/>
                </a:solidFill>
              </a:rPr>
              <a:t> </a:t>
            </a:r>
            <a:r>
              <a:rPr lang="ru-RU" sz="2400" dirty="0" err="1">
                <a:solidFill>
                  <a:schemeClr val="tx2"/>
                </a:solidFill>
              </a:rPr>
              <a:t>последният</a:t>
            </a:r>
            <a:r>
              <a:rPr lang="ru-RU" sz="2400" dirty="0">
                <a:solidFill>
                  <a:schemeClr val="tx2"/>
                </a:solidFill>
              </a:rPr>
              <a:t> с </a:t>
            </a:r>
            <a:r>
              <a:rPr lang="ru-RU" sz="2400" dirty="0" err="1">
                <a:solidFill>
                  <a:schemeClr val="tx2"/>
                </a:solidFill>
              </a:rPr>
              <a:t>първия</a:t>
            </a:r>
            <a:r>
              <a:rPr lang="ru-RU" sz="2400" dirty="0">
                <a:solidFill>
                  <a:schemeClr val="tx2"/>
                </a:solidFill>
              </a:rPr>
              <a:t>, се </a:t>
            </a:r>
            <a:r>
              <a:rPr lang="ru-RU" sz="2400" dirty="0" err="1">
                <a:solidFill>
                  <a:schemeClr val="tx2"/>
                </a:solidFill>
              </a:rPr>
              <a:t>получава</a:t>
            </a:r>
            <a:r>
              <a:rPr lang="ru-RU" sz="2400" dirty="0">
                <a:solidFill>
                  <a:schemeClr val="tx2"/>
                </a:solidFill>
              </a:rPr>
              <a:t> </a:t>
            </a:r>
            <a:r>
              <a:rPr lang="ru-RU" sz="2400" dirty="0" err="1">
                <a:solidFill>
                  <a:schemeClr val="tx2"/>
                </a:solidFill>
              </a:rPr>
              <a:t>кръгова</a:t>
            </a:r>
            <a:r>
              <a:rPr lang="ru-RU" sz="2400" dirty="0">
                <a:solidFill>
                  <a:schemeClr val="tx2"/>
                </a:solidFill>
              </a:rPr>
              <a:t> мрежа. </a:t>
            </a:r>
            <a:r>
              <a:rPr lang="ru-RU" sz="2400" dirty="0" err="1">
                <a:solidFill>
                  <a:schemeClr val="tx2"/>
                </a:solidFill>
              </a:rPr>
              <a:t>Всеки</a:t>
            </a:r>
            <a:r>
              <a:rPr lang="ru-RU" sz="2400" dirty="0">
                <a:solidFill>
                  <a:schemeClr val="tx2"/>
                </a:solidFill>
              </a:rPr>
              <a:t> </a:t>
            </a:r>
            <a:r>
              <a:rPr lang="ru-RU" sz="2400" dirty="0" err="1">
                <a:solidFill>
                  <a:schemeClr val="tx2"/>
                </a:solidFill>
              </a:rPr>
              <a:t>компютър</a:t>
            </a:r>
            <a:r>
              <a:rPr lang="ru-RU" sz="2400" dirty="0">
                <a:solidFill>
                  <a:schemeClr val="tx2"/>
                </a:solidFill>
              </a:rPr>
              <a:t> се </a:t>
            </a:r>
            <a:r>
              <a:rPr lang="ru-RU" sz="2400" dirty="0" err="1">
                <a:solidFill>
                  <a:schemeClr val="tx2"/>
                </a:solidFill>
              </a:rPr>
              <a:t>свързва</a:t>
            </a:r>
            <a:r>
              <a:rPr lang="ru-RU" sz="2400" dirty="0">
                <a:solidFill>
                  <a:schemeClr val="tx2"/>
                </a:solidFill>
              </a:rPr>
              <a:t> с два </a:t>
            </a:r>
            <a:r>
              <a:rPr lang="ru-RU" sz="2400" dirty="0" err="1">
                <a:solidFill>
                  <a:schemeClr val="tx2"/>
                </a:solidFill>
              </a:rPr>
              <a:t>други</a:t>
            </a:r>
            <a:r>
              <a:rPr lang="ru-RU" sz="2400" dirty="0">
                <a:solidFill>
                  <a:schemeClr val="tx2"/>
                </a:solidFill>
              </a:rPr>
              <a:t>, а </a:t>
            </a:r>
            <a:r>
              <a:rPr lang="ru-RU" sz="2400" dirty="0" err="1">
                <a:solidFill>
                  <a:schemeClr val="tx2"/>
                </a:solidFill>
              </a:rPr>
              <a:t>сигналът</a:t>
            </a:r>
            <a:r>
              <a:rPr lang="ru-RU" sz="2400" dirty="0">
                <a:solidFill>
                  <a:schemeClr val="tx2"/>
                </a:solidFill>
              </a:rPr>
              <a:t> </a:t>
            </a:r>
            <a:r>
              <a:rPr lang="ru-RU" sz="2400" dirty="0" err="1">
                <a:solidFill>
                  <a:schemeClr val="tx2"/>
                </a:solidFill>
              </a:rPr>
              <a:t>може</a:t>
            </a:r>
            <a:r>
              <a:rPr lang="ru-RU" sz="2400" dirty="0">
                <a:solidFill>
                  <a:schemeClr val="tx2"/>
                </a:solidFill>
              </a:rPr>
              <a:t> да </a:t>
            </a:r>
            <a:r>
              <a:rPr lang="ru-RU" sz="2400" dirty="0" err="1">
                <a:solidFill>
                  <a:schemeClr val="tx2"/>
                </a:solidFill>
              </a:rPr>
              <a:t>обикаля</a:t>
            </a:r>
            <a:r>
              <a:rPr lang="ru-RU" sz="2400" dirty="0">
                <a:solidFill>
                  <a:schemeClr val="tx2"/>
                </a:solidFill>
              </a:rPr>
              <a:t> </a:t>
            </a:r>
            <a:r>
              <a:rPr lang="ru-RU" sz="2400" dirty="0" err="1">
                <a:solidFill>
                  <a:schemeClr val="tx2"/>
                </a:solidFill>
              </a:rPr>
              <a:t>непрекъсноато</a:t>
            </a:r>
            <a:r>
              <a:rPr lang="ru-RU" sz="2400" dirty="0">
                <a:solidFill>
                  <a:schemeClr val="tx2"/>
                </a:solidFill>
              </a:rPr>
              <a:t> в </a:t>
            </a:r>
            <a:r>
              <a:rPr lang="ru-RU" sz="2400" dirty="0" err="1">
                <a:solidFill>
                  <a:schemeClr val="tx2"/>
                </a:solidFill>
              </a:rPr>
              <a:t>кръга</a:t>
            </a:r>
            <a:r>
              <a:rPr lang="ru-RU" sz="2400" dirty="0">
                <a:solidFill>
                  <a:schemeClr val="tx2"/>
                </a:solidFill>
              </a:rPr>
              <a:t>. Не е необходимо </a:t>
            </a:r>
            <a:r>
              <a:rPr lang="ru-RU" sz="2400" dirty="0" err="1">
                <a:solidFill>
                  <a:schemeClr val="tx2"/>
                </a:solidFill>
              </a:rPr>
              <a:t>терминиране</a:t>
            </a:r>
            <a:r>
              <a:rPr lang="ru-RU" sz="2400" dirty="0">
                <a:solidFill>
                  <a:schemeClr val="tx2"/>
                </a:solidFill>
              </a:rPr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>
                <a:solidFill>
                  <a:schemeClr val="tx2"/>
                </a:solidFill>
              </a:rPr>
              <a:t>Звезда (</a:t>
            </a:r>
            <a:r>
              <a:rPr lang="ru-RU" sz="2400" dirty="0" err="1">
                <a:solidFill>
                  <a:schemeClr val="tx2"/>
                </a:solidFill>
              </a:rPr>
              <a:t>star</a:t>
            </a:r>
            <a:r>
              <a:rPr lang="ru-RU" sz="2400" dirty="0">
                <a:solidFill>
                  <a:schemeClr val="tx2"/>
                </a:solidFill>
              </a:rPr>
              <a:t>) – </a:t>
            </a:r>
            <a:r>
              <a:rPr lang="ru-RU" sz="2400" dirty="0" err="1">
                <a:solidFill>
                  <a:schemeClr val="tx2"/>
                </a:solidFill>
              </a:rPr>
              <a:t>Една</a:t>
            </a:r>
            <a:r>
              <a:rPr lang="ru-RU" sz="2400" dirty="0">
                <a:solidFill>
                  <a:schemeClr val="tx2"/>
                </a:solidFill>
              </a:rPr>
              <a:t> от най – </a:t>
            </a:r>
            <a:r>
              <a:rPr lang="ru-RU" sz="2400" dirty="0" err="1">
                <a:solidFill>
                  <a:schemeClr val="tx2"/>
                </a:solidFill>
              </a:rPr>
              <a:t>популярните</a:t>
            </a:r>
            <a:r>
              <a:rPr lang="ru-RU" sz="2400" dirty="0">
                <a:solidFill>
                  <a:schemeClr val="tx2"/>
                </a:solidFill>
              </a:rPr>
              <a:t> LAN мрежи. </a:t>
            </a:r>
            <a:r>
              <a:rPr lang="ru-RU" sz="2400" dirty="0" err="1">
                <a:solidFill>
                  <a:schemeClr val="tx2"/>
                </a:solidFill>
              </a:rPr>
              <a:t>Тя</a:t>
            </a:r>
            <a:r>
              <a:rPr lang="ru-RU" sz="2400" dirty="0">
                <a:solidFill>
                  <a:schemeClr val="tx2"/>
                </a:solidFill>
              </a:rPr>
              <a:t> е </a:t>
            </a:r>
            <a:r>
              <a:rPr lang="ru-RU" sz="2400" dirty="0" err="1">
                <a:solidFill>
                  <a:schemeClr val="tx2"/>
                </a:solidFill>
              </a:rPr>
              <a:t>реализирана</a:t>
            </a:r>
            <a:r>
              <a:rPr lang="ru-RU" sz="2400" dirty="0">
                <a:solidFill>
                  <a:schemeClr val="tx2"/>
                </a:solidFill>
              </a:rPr>
              <a:t> чрез </a:t>
            </a:r>
            <a:r>
              <a:rPr lang="ru-RU" sz="2400" dirty="0" err="1">
                <a:solidFill>
                  <a:schemeClr val="tx2"/>
                </a:solidFill>
              </a:rPr>
              <a:t>свързването</a:t>
            </a:r>
            <a:r>
              <a:rPr lang="ru-RU" sz="2400" dirty="0">
                <a:solidFill>
                  <a:schemeClr val="tx2"/>
                </a:solidFill>
              </a:rPr>
              <a:t> на </a:t>
            </a:r>
            <a:r>
              <a:rPr lang="ru-RU" sz="2400" dirty="0" err="1">
                <a:solidFill>
                  <a:schemeClr val="tx2"/>
                </a:solidFill>
              </a:rPr>
              <a:t>всеки</a:t>
            </a:r>
            <a:r>
              <a:rPr lang="ru-RU" sz="2400" dirty="0">
                <a:solidFill>
                  <a:schemeClr val="tx2"/>
                </a:solidFill>
              </a:rPr>
              <a:t> </a:t>
            </a:r>
            <a:r>
              <a:rPr lang="ru-RU" sz="2400" dirty="0" err="1">
                <a:solidFill>
                  <a:schemeClr val="tx2"/>
                </a:solidFill>
              </a:rPr>
              <a:t>компютър</a:t>
            </a:r>
            <a:r>
              <a:rPr lang="ru-RU" sz="2400" dirty="0">
                <a:solidFill>
                  <a:schemeClr val="tx2"/>
                </a:solidFill>
              </a:rPr>
              <a:t> </a:t>
            </a:r>
            <a:r>
              <a:rPr lang="ru-RU" sz="2400" dirty="0" err="1">
                <a:solidFill>
                  <a:schemeClr val="tx2"/>
                </a:solidFill>
              </a:rPr>
              <a:t>към</a:t>
            </a:r>
            <a:r>
              <a:rPr lang="ru-RU" sz="2400" dirty="0">
                <a:solidFill>
                  <a:schemeClr val="tx2"/>
                </a:solidFill>
              </a:rPr>
              <a:t> централен </a:t>
            </a:r>
            <a:r>
              <a:rPr lang="ru-RU" sz="2400" dirty="0" err="1">
                <a:solidFill>
                  <a:schemeClr val="tx2"/>
                </a:solidFill>
              </a:rPr>
              <a:t>хъб.Хъбът</a:t>
            </a:r>
            <a:r>
              <a:rPr lang="ru-RU" sz="2400" dirty="0">
                <a:solidFill>
                  <a:schemeClr val="tx2"/>
                </a:solidFill>
              </a:rPr>
              <a:t> </a:t>
            </a:r>
            <a:r>
              <a:rPr lang="ru-RU" sz="2400" dirty="0" err="1">
                <a:solidFill>
                  <a:schemeClr val="tx2"/>
                </a:solidFill>
              </a:rPr>
              <a:t>може</a:t>
            </a:r>
            <a:r>
              <a:rPr lang="ru-RU" sz="2400" dirty="0">
                <a:solidFill>
                  <a:schemeClr val="tx2"/>
                </a:solidFill>
              </a:rPr>
              <a:t> да </a:t>
            </a:r>
            <a:r>
              <a:rPr lang="ru-RU" sz="2400" dirty="0" err="1">
                <a:solidFill>
                  <a:schemeClr val="tx2"/>
                </a:solidFill>
              </a:rPr>
              <a:t>бъде</a:t>
            </a:r>
            <a:r>
              <a:rPr lang="ru-RU" sz="2400" dirty="0">
                <a:solidFill>
                  <a:schemeClr val="tx2"/>
                </a:solidFill>
              </a:rPr>
              <a:t> активен, </a:t>
            </a:r>
            <a:r>
              <a:rPr lang="ru-RU" sz="2400" dirty="0" err="1">
                <a:solidFill>
                  <a:schemeClr val="tx2"/>
                </a:solidFill>
              </a:rPr>
              <a:t>пасивен</a:t>
            </a:r>
            <a:r>
              <a:rPr lang="ru-RU" sz="2400" dirty="0">
                <a:solidFill>
                  <a:schemeClr val="tx2"/>
                </a:solidFill>
              </a:rPr>
              <a:t> или </a:t>
            </a:r>
            <a:r>
              <a:rPr lang="ru-RU" sz="2400" dirty="0" err="1">
                <a:solidFill>
                  <a:schemeClr val="tx2"/>
                </a:solidFill>
              </a:rPr>
              <a:t>интелигентен</a:t>
            </a:r>
            <a:r>
              <a:rPr lang="ru-RU" sz="2400" dirty="0">
                <a:solidFill>
                  <a:schemeClr val="tx2"/>
                </a:solidFill>
              </a:rPr>
              <a:t>.</a:t>
            </a:r>
            <a:r>
              <a:rPr lang="ru-RU" sz="3200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b="1" i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Решетка (</a:t>
            </a:r>
            <a:r>
              <a:rPr lang="ru-RU" sz="2400" b="1" i="0" dirty="0" err="1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mesh</a:t>
            </a:r>
            <a:r>
              <a:rPr lang="ru-RU" sz="2400" b="1" i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)</a:t>
            </a:r>
            <a:r>
              <a:rPr lang="ru-RU" sz="2400" b="0" i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 – </a:t>
            </a:r>
            <a:r>
              <a:rPr lang="ru-RU" sz="2400" b="0" i="0" dirty="0" err="1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Всеки</a:t>
            </a:r>
            <a:r>
              <a:rPr lang="ru-RU" sz="2400" b="0" i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компютър</a:t>
            </a:r>
            <a:r>
              <a:rPr lang="ru-RU" sz="2400" b="0" i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има</a:t>
            </a:r>
            <a:r>
              <a:rPr lang="ru-RU" sz="2400" b="0" i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директна</a:t>
            </a:r>
            <a:r>
              <a:rPr lang="ru-RU" sz="2400" b="0" i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връзка</a:t>
            </a:r>
            <a:r>
              <a:rPr lang="ru-RU" sz="2400" b="0" i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към</a:t>
            </a:r>
            <a:r>
              <a:rPr lang="ru-RU" sz="2400" b="0" i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всеки</a:t>
            </a:r>
            <a:r>
              <a:rPr lang="ru-RU" sz="2400" b="0" i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друг </a:t>
            </a:r>
            <a:r>
              <a:rPr lang="ru-RU" sz="2400" b="0" i="0" dirty="0" err="1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компютър</a:t>
            </a:r>
            <a:r>
              <a:rPr lang="ru-RU" sz="2400" b="0" i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в </a:t>
            </a:r>
            <a:r>
              <a:rPr lang="ru-RU" sz="2400" b="0" i="0" dirty="0" err="1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мрежата.Ако</a:t>
            </a:r>
            <a:r>
              <a:rPr lang="ru-RU" sz="2400" b="0" i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пропадне</a:t>
            </a:r>
            <a:r>
              <a:rPr lang="ru-RU" sz="2400" b="0" i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един от </a:t>
            </a:r>
            <a:r>
              <a:rPr lang="ru-RU" sz="2400" b="0" i="0" dirty="0" err="1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пътищата</a:t>
            </a:r>
            <a:r>
              <a:rPr lang="ru-RU" sz="2400" b="0" i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от </a:t>
            </a:r>
            <a:r>
              <a:rPr lang="ru-RU" sz="2400" b="0" i="0" dirty="0" err="1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изпращащия</a:t>
            </a:r>
            <a:r>
              <a:rPr lang="ru-RU" sz="2400" b="0" i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компютър</a:t>
            </a:r>
            <a:r>
              <a:rPr lang="ru-RU" sz="2400" b="0" i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към</a:t>
            </a:r>
            <a:r>
              <a:rPr lang="ru-RU" sz="2400" b="0" i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другия</a:t>
            </a:r>
            <a:r>
              <a:rPr lang="ru-RU" sz="2400" b="0" i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ru-RU" sz="2400" b="0" i="0" dirty="0" err="1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сигналът</a:t>
            </a:r>
            <a:r>
              <a:rPr lang="ru-RU" sz="2400" b="0" i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може</a:t>
            </a:r>
            <a:r>
              <a:rPr lang="ru-RU" sz="2400" b="0" i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да поеме по друг </a:t>
            </a:r>
            <a:r>
              <a:rPr lang="ru-RU" sz="2400" b="0" i="0" dirty="0" err="1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път</a:t>
            </a:r>
            <a:r>
              <a:rPr lang="ru-RU" sz="2400" b="0" i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. </a:t>
            </a:r>
            <a:endParaRPr lang="en-US" sz="2400" dirty="0">
              <a:solidFill>
                <a:schemeClr val="tx2"/>
              </a:solidFill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8594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шина">
            <a:extLst>
              <a:ext uri="{FF2B5EF4-FFF2-40B4-BE49-F238E27FC236}">
                <a16:creationId xmlns:a16="http://schemas.microsoft.com/office/drawing/2014/main" xmlns="" id="{6F43C6FD-5841-CD09-010A-FDED02996E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183" y="522427"/>
            <a:ext cx="2400876" cy="1730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Текстово поле 4">
            <a:extLst>
              <a:ext uri="{FF2B5EF4-FFF2-40B4-BE49-F238E27FC236}">
                <a16:creationId xmlns:a16="http://schemas.microsoft.com/office/drawing/2014/main" xmlns="" id="{56AEBCB5-1FBE-654B-B735-C02D63DB335D}"/>
              </a:ext>
            </a:extLst>
          </p:cNvPr>
          <p:cNvSpPr txBox="1"/>
          <p:nvPr/>
        </p:nvSpPr>
        <p:spPr>
          <a:xfrm>
            <a:off x="140473" y="2159443"/>
            <a:ext cx="25642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400" dirty="0">
                <a:solidFill>
                  <a:schemeClr val="tx2"/>
                </a:solidFill>
              </a:rPr>
              <a:t>шина</a:t>
            </a:r>
            <a:endParaRPr lang="en-US" sz="2400" dirty="0">
              <a:solidFill>
                <a:schemeClr val="tx2"/>
              </a:solidFill>
            </a:endParaRPr>
          </a:p>
        </p:txBody>
      </p:sp>
      <p:pic>
        <p:nvPicPr>
          <p:cNvPr id="1028" name="Picture 4" descr="What Is Mesh Topology? Advantages And Disadvantages Of Mesh Topology">
            <a:extLst>
              <a:ext uri="{FF2B5EF4-FFF2-40B4-BE49-F238E27FC236}">
                <a16:creationId xmlns:a16="http://schemas.microsoft.com/office/drawing/2014/main" xmlns="" id="{79514DC2-B133-5C4B-7B95-F57F48FC48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6555" y="545873"/>
            <a:ext cx="2564295" cy="1683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Текстово поле 5">
            <a:extLst>
              <a:ext uri="{FF2B5EF4-FFF2-40B4-BE49-F238E27FC236}">
                <a16:creationId xmlns:a16="http://schemas.microsoft.com/office/drawing/2014/main" xmlns="" id="{EBC1920C-71FD-2238-A567-7901AC9AA480}"/>
              </a:ext>
            </a:extLst>
          </p:cNvPr>
          <p:cNvSpPr txBox="1"/>
          <p:nvPr/>
        </p:nvSpPr>
        <p:spPr>
          <a:xfrm>
            <a:off x="2884846" y="2110085"/>
            <a:ext cx="25159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400" dirty="0">
                <a:solidFill>
                  <a:schemeClr val="tx2"/>
                </a:solidFill>
              </a:rPr>
              <a:t>решетка</a:t>
            </a:r>
            <a:endParaRPr lang="en-US" sz="2400" dirty="0">
              <a:solidFill>
                <a:schemeClr val="tx2"/>
              </a:solidFill>
            </a:endParaRPr>
          </a:p>
        </p:txBody>
      </p:sp>
      <p:pic>
        <p:nvPicPr>
          <p:cNvPr id="1030" name="Picture 6" descr="Difference between Star Topology and Tree Topology - GeeksforGeeks">
            <a:extLst>
              <a:ext uri="{FF2B5EF4-FFF2-40B4-BE49-F238E27FC236}">
                <a16:creationId xmlns:a16="http://schemas.microsoft.com/office/drawing/2014/main" xmlns="" id="{EF209CBC-C881-DD9A-2E6A-5D9F758691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8509" y="544838"/>
            <a:ext cx="2719577" cy="1683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Текстово поле 6">
            <a:extLst>
              <a:ext uri="{FF2B5EF4-FFF2-40B4-BE49-F238E27FC236}">
                <a16:creationId xmlns:a16="http://schemas.microsoft.com/office/drawing/2014/main" xmlns="" id="{AB76FD5A-E323-B349-C0AD-00EC9A070E59}"/>
              </a:ext>
            </a:extLst>
          </p:cNvPr>
          <p:cNvSpPr txBox="1"/>
          <p:nvPr/>
        </p:nvSpPr>
        <p:spPr>
          <a:xfrm>
            <a:off x="6022318" y="2110084"/>
            <a:ext cx="26257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400" dirty="0">
                <a:solidFill>
                  <a:schemeClr val="tx2"/>
                </a:solidFill>
              </a:rPr>
              <a:t>звезда</a:t>
            </a:r>
            <a:endParaRPr lang="en-US" sz="2400" dirty="0">
              <a:solidFill>
                <a:schemeClr val="tx2"/>
              </a:solidFill>
            </a:endParaRPr>
          </a:p>
        </p:txBody>
      </p:sp>
      <p:pic>
        <p:nvPicPr>
          <p:cNvPr id="9" name="Картина 8">
            <a:extLst>
              <a:ext uri="{FF2B5EF4-FFF2-40B4-BE49-F238E27FC236}">
                <a16:creationId xmlns:a16="http://schemas.microsoft.com/office/drawing/2014/main" xmlns="" id="{965BAAF8-3FFF-141E-9DB9-EBD79C9545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636" y="2834223"/>
            <a:ext cx="2660222" cy="1423901"/>
          </a:xfrm>
          <a:prstGeom prst="rect">
            <a:avLst/>
          </a:prstGeom>
        </p:spPr>
      </p:pic>
      <p:sp>
        <p:nvSpPr>
          <p:cNvPr id="10" name="Текстово поле 9">
            <a:extLst>
              <a:ext uri="{FF2B5EF4-FFF2-40B4-BE49-F238E27FC236}">
                <a16:creationId xmlns:a16="http://schemas.microsoft.com/office/drawing/2014/main" xmlns="" id="{BBF8A3C5-BB5F-432B-D0F8-82505FF54D94}"/>
              </a:ext>
            </a:extLst>
          </p:cNvPr>
          <p:cNvSpPr txBox="1"/>
          <p:nvPr/>
        </p:nvSpPr>
        <p:spPr>
          <a:xfrm>
            <a:off x="1051636" y="4170210"/>
            <a:ext cx="24914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400" dirty="0">
                <a:solidFill>
                  <a:schemeClr val="tx2"/>
                </a:solidFill>
              </a:rPr>
              <a:t>хибридна</a:t>
            </a:r>
            <a:endParaRPr lang="en-US" sz="2400" dirty="0">
              <a:solidFill>
                <a:schemeClr val="tx2"/>
              </a:solidFill>
            </a:endParaRPr>
          </a:p>
        </p:txBody>
      </p:sp>
      <p:pic>
        <p:nvPicPr>
          <p:cNvPr id="1032" name="Picture 8" descr="Difference between Ring Topology and Tree Topology - GeeksforGeeks">
            <a:extLst>
              <a:ext uri="{FF2B5EF4-FFF2-40B4-BE49-F238E27FC236}">
                <a16:creationId xmlns:a16="http://schemas.microsoft.com/office/drawing/2014/main" xmlns="" id="{516F9C12-AA12-0166-BC5C-1197EB255E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8193" y="2688449"/>
            <a:ext cx="2370104" cy="1844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Текстово поле 10">
            <a:extLst>
              <a:ext uri="{FF2B5EF4-FFF2-40B4-BE49-F238E27FC236}">
                <a16:creationId xmlns:a16="http://schemas.microsoft.com/office/drawing/2014/main" xmlns="" id="{C7571C94-14DC-BEEC-AB3F-D64192BA3886}"/>
              </a:ext>
            </a:extLst>
          </p:cNvPr>
          <p:cNvSpPr txBox="1"/>
          <p:nvPr/>
        </p:nvSpPr>
        <p:spPr>
          <a:xfrm>
            <a:off x="4918193" y="4418703"/>
            <a:ext cx="23701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400" dirty="0">
                <a:solidFill>
                  <a:schemeClr val="tx2"/>
                </a:solidFill>
              </a:rPr>
              <a:t>кръг</a:t>
            </a:r>
            <a:endParaRPr lang="en-US" sz="2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1346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лавие 2">
            <a:extLst>
              <a:ext uri="{FF2B5EF4-FFF2-40B4-BE49-F238E27FC236}">
                <a16:creationId xmlns:a16="http://schemas.microsoft.com/office/drawing/2014/main" xmlns="" id="{13B51DC7-5A04-2095-0562-54313F9EC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448" y="35220"/>
            <a:ext cx="7704000" cy="572700"/>
          </a:xfrm>
        </p:spPr>
        <p:txBody>
          <a:bodyPr/>
          <a:lstStyle/>
          <a:p>
            <a:r>
              <a:rPr lang="ru-RU" sz="3200" b="0" i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Категоризация на </a:t>
            </a:r>
            <a:r>
              <a:rPr lang="ru-RU" sz="3200" b="0" i="0" dirty="0" err="1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мрежите</a:t>
            </a:r>
            <a:r>
              <a:rPr lang="ru-RU" sz="3200" b="0" i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по архитектура</a:t>
            </a:r>
            <a:r>
              <a:rPr lang="ru-RU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/>
            </a:r>
            <a:br>
              <a:rPr lang="ru-RU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endParaRPr lang="en-US" dirty="0"/>
          </a:p>
        </p:txBody>
      </p:sp>
      <p:sp>
        <p:nvSpPr>
          <p:cNvPr id="4" name="Текстово поле 3">
            <a:extLst>
              <a:ext uri="{FF2B5EF4-FFF2-40B4-BE49-F238E27FC236}">
                <a16:creationId xmlns:a16="http://schemas.microsoft.com/office/drawing/2014/main" xmlns="" id="{050FF3DA-267F-9476-EC69-6FC561112066}"/>
              </a:ext>
            </a:extLst>
          </p:cNvPr>
          <p:cNvSpPr txBox="1"/>
          <p:nvPr/>
        </p:nvSpPr>
        <p:spPr>
          <a:xfrm>
            <a:off x="198784" y="1133060"/>
            <a:ext cx="637429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Ethernet </a:t>
            </a:r>
            <a:r>
              <a:rPr lang="bg-BG" sz="2400" dirty="0">
                <a:solidFill>
                  <a:schemeClr val="tx2"/>
                </a:solidFill>
              </a:rPr>
              <a:t>мрежи – Разработена през 60-те, усъвършенствана от </a:t>
            </a:r>
            <a:r>
              <a:rPr lang="en-US" sz="2400" dirty="0">
                <a:solidFill>
                  <a:schemeClr val="tx2"/>
                </a:solidFill>
              </a:rPr>
              <a:t>Xerox, Digital </a:t>
            </a:r>
            <a:r>
              <a:rPr lang="bg-BG" sz="2400" dirty="0">
                <a:solidFill>
                  <a:schemeClr val="tx2"/>
                </a:solidFill>
              </a:rPr>
              <a:t>и </a:t>
            </a:r>
            <a:r>
              <a:rPr lang="en-US" sz="2400" dirty="0">
                <a:solidFill>
                  <a:schemeClr val="tx2"/>
                </a:solidFill>
              </a:rPr>
              <a:t>Intel </a:t>
            </a:r>
            <a:r>
              <a:rPr lang="bg-BG" sz="2400" dirty="0">
                <a:solidFill>
                  <a:schemeClr val="tx2"/>
                </a:solidFill>
              </a:rPr>
              <a:t>за формиране на базата на спецификациите </a:t>
            </a:r>
            <a:r>
              <a:rPr lang="en-US" sz="2400" dirty="0">
                <a:solidFill>
                  <a:schemeClr val="tx2"/>
                </a:solidFill>
              </a:rPr>
              <a:t>IEEE 802.3. </a:t>
            </a:r>
            <a:r>
              <a:rPr lang="bg-BG" sz="2400" dirty="0">
                <a:solidFill>
                  <a:schemeClr val="tx2"/>
                </a:solidFill>
              </a:rPr>
              <a:t>Конфигурират се като физическа шина или звезда и използват метод на достъп до преносната среда. Стандартният </a:t>
            </a:r>
            <a:r>
              <a:rPr lang="en-US" sz="2400" dirty="0">
                <a:solidFill>
                  <a:schemeClr val="tx2"/>
                </a:solidFill>
              </a:rPr>
              <a:t>Ethernet </a:t>
            </a:r>
            <a:r>
              <a:rPr lang="bg-BG" sz="2400" dirty="0">
                <a:solidFill>
                  <a:schemeClr val="tx2"/>
                </a:solidFill>
              </a:rPr>
              <a:t>е ограничен до 10</a:t>
            </a:r>
            <a:r>
              <a:rPr lang="en-US" sz="2400" dirty="0" err="1">
                <a:solidFill>
                  <a:schemeClr val="tx2"/>
                </a:solidFill>
              </a:rPr>
              <a:t>Mbsps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bg-BG" sz="2400" dirty="0">
                <a:solidFill>
                  <a:schemeClr val="tx2"/>
                </a:solidFill>
              </a:rPr>
              <a:t>но в днешно време се използва </a:t>
            </a:r>
            <a:r>
              <a:rPr lang="en-US" sz="2400" dirty="0">
                <a:solidFill>
                  <a:schemeClr val="tx2"/>
                </a:solidFill>
              </a:rPr>
              <a:t>Fast Ethernet </a:t>
            </a:r>
            <a:r>
              <a:rPr lang="bg-BG" sz="2400" dirty="0">
                <a:solidFill>
                  <a:schemeClr val="tx2"/>
                </a:solidFill>
              </a:rPr>
              <a:t>до 100</a:t>
            </a:r>
            <a:r>
              <a:rPr lang="en-US" sz="2400" dirty="0">
                <a:solidFill>
                  <a:schemeClr val="tx2"/>
                </a:solidFill>
              </a:rPr>
              <a:t>Mbps. </a:t>
            </a:r>
            <a:r>
              <a:rPr lang="bg-BG" sz="2400" dirty="0">
                <a:solidFill>
                  <a:schemeClr val="tx2"/>
                </a:solidFill>
              </a:rPr>
              <a:t>Съществува и </a:t>
            </a:r>
            <a:r>
              <a:rPr lang="en-US" sz="2400" dirty="0">
                <a:solidFill>
                  <a:schemeClr val="tx2"/>
                </a:solidFill>
              </a:rPr>
              <a:t>Gigabit Ethernet </a:t>
            </a:r>
            <a:r>
              <a:rPr lang="bg-BG" sz="2400" dirty="0">
                <a:solidFill>
                  <a:schemeClr val="tx2"/>
                </a:solidFill>
              </a:rPr>
              <a:t>до 1</a:t>
            </a:r>
            <a:r>
              <a:rPr lang="en-US" sz="2400" dirty="0">
                <a:solidFill>
                  <a:schemeClr val="tx2"/>
                </a:solidFill>
              </a:rPr>
              <a:t>Gbps</a:t>
            </a:r>
          </a:p>
        </p:txBody>
      </p:sp>
      <p:pic>
        <p:nvPicPr>
          <p:cNvPr id="4102" name="Picture 6" descr="Ethernet vs Internet: What's the Difference? | by Echo Brown | Medium">
            <a:extLst>
              <a:ext uri="{FF2B5EF4-FFF2-40B4-BE49-F238E27FC236}">
                <a16:creationId xmlns:a16="http://schemas.microsoft.com/office/drawing/2014/main" xmlns="" id="{3DAD959E-3E6D-A66F-0E1B-5C6C58D0E6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4282" y="2261816"/>
            <a:ext cx="2720934" cy="1700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6017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ов контейнер 1">
            <a:extLst>
              <a:ext uri="{FF2B5EF4-FFF2-40B4-BE49-F238E27FC236}">
                <a16:creationId xmlns:a16="http://schemas.microsoft.com/office/drawing/2014/main" xmlns="" id="{28086268-6F93-22D7-7310-AA533597E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752" y="324057"/>
            <a:ext cx="5209622" cy="4819443"/>
          </a:xfrm>
        </p:spPr>
        <p:txBody>
          <a:bodyPr/>
          <a:lstStyle/>
          <a:p>
            <a:pPr algn="l"/>
            <a:r>
              <a:rPr lang="ru-RU" sz="2400" b="1" i="0" dirty="0" err="1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TokenRing</a:t>
            </a:r>
            <a:r>
              <a:rPr lang="ru-RU" sz="2400" b="1" i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мрежи</a:t>
            </a:r>
            <a:r>
              <a:rPr lang="ru-RU" sz="2400" b="0" i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 – </a:t>
            </a:r>
            <a:r>
              <a:rPr lang="ru-RU" sz="2400" b="0" i="0" dirty="0" err="1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Разработена</a:t>
            </a:r>
            <a:r>
              <a:rPr lang="ru-RU" sz="2400" b="0" i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от IBM </a:t>
            </a:r>
            <a:r>
              <a:rPr lang="ru-RU" sz="2400" b="0" i="0" dirty="0" err="1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през</a:t>
            </a:r>
            <a:r>
              <a:rPr lang="ru-RU" sz="2400" b="0" i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80-те. </a:t>
            </a:r>
            <a:r>
              <a:rPr lang="ru-RU" sz="2400" b="0" i="0" dirty="0" err="1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Проектирана</a:t>
            </a:r>
            <a:r>
              <a:rPr lang="ru-RU" sz="2400" b="0" i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с цел </a:t>
            </a:r>
            <a:r>
              <a:rPr lang="ru-RU" sz="2400" b="0" i="0" dirty="0" err="1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преодоляване</a:t>
            </a:r>
            <a:r>
              <a:rPr lang="ru-RU" sz="2400" b="0" i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на </a:t>
            </a:r>
            <a:r>
              <a:rPr lang="ru-RU" sz="2400" b="0" i="0" dirty="0" err="1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някои</a:t>
            </a:r>
            <a:r>
              <a:rPr lang="ru-RU" sz="2400" b="0" i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от </a:t>
            </a:r>
            <a:r>
              <a:rPr lang="ru-RU" sz="2400" b="0" i="0" dirty="0" err="1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проблемите</a:t>
            </a:r>
            <a:r>
              <a:rPr lang="ru-RU" sz="2400" b="0" i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ru-RU" sz="2400" b="0" i="0" dirty="0" err="1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свързани</a:t>
            </a:r>
            <a:r>
              <a:rPr lang="ru-RU" sz="2400" b="0" i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с Ethernet, </a:t>
            </a:r>
            <a:r>
              <a:rPr lang="ru-RU" sz="2400" b="0" i="0" dirty="0" err="1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където</a:t>
            </a:r>
            <a:r>
              <a:rPr lang="ru-RU" sz="2400" b="0" i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компютрите</a:t>
            </a:r>
            <a:r>
              <a:rPr lang="ru-RU" sz="2400" b="0" i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в </a:t>
            </a:r>
            <a:r>
              <a:rPr lang="ru-RU" sz="2400" b="0" i="0" dirty="0" err="1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мрежата</a:t>
            </a:r>
            <a:r>
              <a:rPr lang="ru-RU" sz="2400" b="0" i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се </a:t>
            </a:r>
            <a:r>
              <a:rPr lang="ru-RU" sz="2400" b="0" i="0" dirty="0" err="1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състезават</a:t>
            </a:r>
            <a:r>
              <a:rPr lang="ru-RU" sz="2400" b="0" i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за право да </a:t>
            </a:r>
            <a:r>
              <a:rPr lang="ru-RU" sz="2400" b="0" i="0" dirty="0" err="1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предават</a:t>
            </a:r>
            <a:r>
              <a:rPr lang="ru-RU" sz="2400" b="0" i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. </a:t>
            </a:r>
            <a:r>
              <a:rPr lang="ru-RU" sz="2400" b="0" i="0" dirty="0" err="1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Използва</a:t>
            </a:r>
            <a:r>
              <a:rPr lang="ru-RU" sz="2400" b="0" i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се </a:t>
            </a:r>
            <a:r>
              <a:rPr lang="ru-RU" sz="2400" b="0" i="0" dirty="0" err="1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топологията</a:t>
            </a:r>
            <a:r>
              <a:rPr lang="ru-RU" sz="2400" b="0" i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логически </a:t>
            </a:r>
            <a:r>
              <a:rPr lang="ru-RU" sz="2400" b="0" i="0" dirty="0" err="1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кръг</a:t>
            </a:r>
            <a:r>
              <a:rPr lang="ru-RU" sz="2400" b="0" i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, един сигнал маркер (</a:t>
            </a:r>
            <a:r>
              <a:rPr lang="ru-RU" sz="2400" b="0" i="0" dirty="0" err="1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token</a:t>
            </a:r>
            <a:r>
              <a:rPr lang="ru-RU" sz="2400" b="0" i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), се </a:t>
            </a:r>
            <a:r>
              <a:rPr lang="ru-RU" sz="2400" b="0" i="0" dirty="0" err="1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предава</a:t>
            </a:r>
            <a:r>
              <a:rPr lang="ru-RU" sz="2400" b="0" i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в </a:t>
            </a:r>
            <a:r>
              <a:rPr lang="ru-RU" sz="2400" b="0" i="0" dirty="0" err="1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кръг</a:t>
            </a:r>
            <a:r>
              <a:rPr lang="ru-RU" sz="2400" b="0" i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и даден </a:t>
            </a:r>
            <a:r>
              <a:rPr lang="ru-RU" sz="2400" b="0" i="0" dirty="0" err="1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компютър</a:t>
            </a:r>
            <a:r>
              <a:rPr lang="ru-RU" sz="2400" b="0" i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не </a:t>
            </a:r>
            <a:r>
              <a:rPr lang="ru-RU" sz="2400" b="0" i="0" dirty="0" err="1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може</a:t>
            </a:r>
            <a:r>
              <a:rPr lang="ru-RU" sz="2400" b="0" i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да </a:t>
            </a:r>
            <a:r>
              <a:rPr lang="ru-RU" sz="2400" b="0" i="0" dirty="0" err="1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предава</a:t>
            </a:r>
            <a:r>
              <a:rPr lang="ru-RU" sz="2400" b="0" i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ru-RU" sz="2400" b="0" i="0" dirty="0" err="1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докато</a:t>
            </a:r>
            <a:r>
              <a:rPr lang="ru-RU" sz="2400" b="0" i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не получи маркера. Не </a:t>
            </a:r>
            <a:r>
              <a:rPr lang="ru-RU" sz="2400" b="0" i="0" dirty="0" err="1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съществуват</a:t>
            </a:r>
            <a:r>
              <a:rPr lang="ru-RU" sz="2400" b="0" i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колизии</a:t>
            </a:r>
            <a:r>
              <a:rPr lang="ru-RU" sz="2400" b="0" i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на </a:t>
            </a:r>
            <a:r>
              <a:rPr lang="ru-RU" sz="2400" b="0" i="0" dirty="0" err="1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данни</a:t>
            </a:r>
            <a:r>
              <a:rPr lang="ru-RU" sz="2400" b="0" i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.</a:t>
            </a:r>
            <a:endParaRPr lang="en-US" sz="2400" dirty="0">
              <a:solidFill>
                <a:schemeClr val="tx2"/>
              </a:solidFill>
            </a:endParaRPr>
          </a:p>
        </p:txBody>
      </p:sp>
      <p:pic>
        <p:nvPicPr>
          <p:cNvPr id="5124" name="Picture 4" descr="Token Ring Topology | Know Why we Use Token Ring Topology?">
            <a:extLst>
              <a:ext uri="{FF2B5EF4-FFF2-40B4-BE49-F238E27FC236}">
                <a16:creationId xmlns:a16="http://schemas.microsoft.com/office/drawing/2014/main" xmlns="" id="{F309F0D4-728A-16A1-A8A5-5328150ECA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4151" y="1080053"/>
            <a:ext cx="3842097" cy="2259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2601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лавие 2">
            <a:extLst>
              <a:ext uri="{FF2B5EF4-FFF2-40B4-BE49-F238E27FC236}">
                <a16:creationId xmlns:a16="http://schemas.microsoft.com/office/drawing/2014/main" xmlns="" id="{995A8AB2-287C-283B-5A90-94FA09017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529" y="12753"/>
            <a:ext cx="7675152" cy="1140072"/>
          </a:xfrm>
        </p:spPr>
        <p:txBody>
          <a:bodyPr/>
          <a:lstStyle/>
          <a:p>
            <a:r>
              <a:rPr lang="ru-RU" sz="2800" b="0" dirty="0" err="1">
                <a:latin typeface="Arial" panose="020B0604020202020204" pitchFamily="34" charset="0"/>
                <a:cs typeface="Arial" panose="020B0604020202020204" pitchFamily="34" charset="0"/>
              </a:rPr>
              <a:t>Категоризиране</a:t>
            </a:r>
            <a:r>
              <a:rPr lang="ru-RU" sz="2800" b="0" dirty="0">
                <a:latin typeface="Arial" panose="020B0604020202020204" pitchFamily="34" charset="0"/>
                <a:cs typeface="Arial" panose="020B0604020202020204" pitchFamily="34" charset="0"/>
              </a:rPr>
              <a:t> на </a:t>
            </a:r>
            <a:r>
              <a:rPr lang="ru-RU" sz="2800" b="0" dirty="0" err="1">
                <a:latin typeface="Arial" panose="020B0604020202020204" pitchFamily="34" charset="0"/>
                <a:cs typeface="Arial" panose="020B0604020202020204" pitchFamily="34" charset="0"/>
              </a:rPr>
              <a:t>мрежите</a:t>
            </a:r>
            <a:r>
              <a:rPr lang="ru-RU" sz="2800" b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800" b="0" dirty="0" err="1">
                <a:latin typeface="Arial" panose="020B0604020202020204" pitchFamily="34" charset="0"/>
                <a:cs typeface="Arial" panose="020B0604020202020204" pitchFamily="34" charset="0"/>
              </a:rPr>
              <a:t>според</a:t>
            </a:r>
            <a:r>
              <a:rPr lang="ru-RU" sz="2800" b="0" dirty="0">
                <a:latin typeface="Arial" panose="020B0604020202020204" pitchFamily="34" charset="0"/>
                <a:cs typeface="Arial" panose="020B0604020202020204" pitchFamily="34" charset="0"/>
              </a:rPr>
              <a:t> протокол</a:t>
            </a:r>
            <a:endParaRPr lang="en-US" dirty="0"/>
          </a:p>
        </p:txBody>
      </p:sp>
      <p:sp>
        <p:nvSpPr>
          <p:cNvPr id="4" name="Текстово поле 3">
            <a:extLst>
              <a:ext uri="{FF2B5EF4-FFF2-40B4-BE49-F238E27FC236}">
                <a16:creationId xmlns:a16="http://schemas.microsoft.com/office/drawing/2014/main" xmlns="" id="{1BEB1F72-4075-73A6-443B-AEE87CEDDB77}"/>
              </a:ext>
            </a:extLst>
          </p:cNvPr>
          <p:cNvSpPr txBox="1"/>
          <p:nvPr/>
        </p:nvSpPr>
        <p:spPr>
          <a:xfrm>
            <a:off x="284923" y="907773"/>
            <a:ext cx="5963478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400" dirty="0">
                <a:solidFill>
                  <a:schemeClr val="tx2"/>
                </a:solidFill>
              </a:rPr>
              <a:t>Мрежовите протоколи представляват правилата, следвани от свързаните компютри при установяване и поддържане на комуникация по мрежата. Най-използваният протокол е </a:t>
            </a:r>
            <a:r>
              <a:rPr lang="en-US" sz="2400" dirty="0">
                <a:solidFill>
                  <a:schemeClr val="tx2"/>
                </a:solidFill>
              </a:rPr>
              <a:t>TCP/IPv4.</a:t>
            </a:r>
          </a:p>
          <a:p>
            <a:endParaRPr lang="en-US" sz="2400" dirty="0">
              <a:solidFill>
                <a:schemeClr val="tx2"/>
              </a:solidFill>
            </a:endParaRPr>
          </a:p>
          <a:p>
            <a:r>
              <a:rPr lang="en-US" sz="2400" dirty="0">
                <a:solidFill>
                  <a:schemeClr val="tx2"/>
                </a:solidFill>
              </a:rPr>
              <a:t>IPX/SPX </a:t>
            </a:r>
            <a:r>
              <a:rPr lang="bg-BG" sz="2400" dirty="0">
                <a:solidFill>
                  <a:schemeClr val="tx2"/>
                </a:solidFill>
              </a:rPr>
              <a:t>мрежи – </a:t>
            </a:r>
            <a:r>
              <a:rPr lang="en-US" sz="2400" dirty="0">
                <a:solidFill>
                  <a:schemeClr val="tx2"/>
                </a:solidFill>
              </a:rPr>
              <a:t>Internet Package Exchange/Sequenced Packet Exchange. IPX/SPX </a:t>
            </a:r>
            <a:r>
              <a:rPr lang="bg-BG" sz="2400" dirty="0">
                <a:solidFill>
                  <a:schemeClr val="tx2"/>
                </a:solidFill>
              </a:rPr>
              <a:t>обикновено се асоциира с </a:t>
            </a:r>
            <a:r>
              <a:rPr lang="en-US" sz="2400" dirty="0">
                <a:solidFill>
                  <a:schemeClr val="tx2"/>
                </a:solidFill>
              </a:rPr>
              <a:t>NetWare </a:t>
            </a:r>
            <a:r>
              <a:rPr lang="bg-BG" sz="2400" dirty="0">
                <a:solidFill>
                  <a:schemeClr val="tx2"/>
                </a:solidFill>
              </a:rPr>
              <a:t>мрежите.</a:t>
            </a:r>
            <a:endParaRPr lang="en-US" sz="2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1814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ово поле 3">
            <a:extLst>
              <a:ext uri="{FF2B5EF4-FFF2-40B4-BE49-F238E27FC236}">
                <a16:creationId xmlns:a16="http://schemas.microsoft.com/office/drawing/2014/main" xmlns="" id="{DCCE3667-AF06-27C7-5BC0-8D46C85AE7E8}"/>
              </a:ext>
            </a:extLst>
          </p:cNvPr>
          <p:cNvSpPr txBox="1"/>
          <p:nvPr/>
        </p:nvSpPr>
        <p:spPr>
          <a:xfrm>
            <a:off x="417443" y="781258"/>
            <a:ext cx="856090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i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TCP/IP</a:t>
            </a:r>
            <a:r>
              <a:rPr lang="ru-RU" sz="2400" b="0" i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 – </a:t>
            </a:r>
            <a:r>
              <a:rPr lang="ru-RU" sz="2400" b="0" i="0" dirty="0" err="1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използва</a:t>
            </a:r>
            <a:r>
              <a:rPr lang="ru-RU" sz="2400" b="0" i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гъвкава</a:t>
            </a:r>
            <a:r>
              <a:rPr lang="ru-RU" sz="2400" b="0" i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схема на </a:t>
            </a:r>
            <a:r>
              <a:rPr lang="ru-RU" sz="2400" b="0" i="0" dirty="0" err="1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адресиране</a:t>
            </a:r>
            <a:r>
              <a:rPr lang="ru-RU" sz="2400" b="0" i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ru-RU" sz="2400" b="0" i="0" dirty="0" err="1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която</a:t>
            </a:r>
            <a:r>
              <a:rPr lang="ru-RU" sz="2400" b="0" i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е </a:t>
            </a:r>
            <a:r>
              <a:rPr lang="ru-RU" sz="2400" b="0" i="0" dirty="0" err="1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изключително</a:t>
            </a:r>
            <a:r>
              <a:rPr lang="ru-RU" sz="2400" b="0" i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подходяща</a:t>
            </a:r>
            <a:r>
              <a:rPr lang="ru-RU" sz="2400" b="0" i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за </a:t>
            </a:r>
            <a:r>
              <a:rPr lang="ru-RU" sz="2400" b="0" i="0" dirty="0" err="1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маршрутизиране</a:t>
            </a:r>
            <a:r>
              <a:rPr lang="ru-RU" sz="2400" b="0" i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дори при най-</a:t>
            </a:r>
            <a:r>
              <a:rPr lang="ru-RU" sz="2400" b="0" i="0" dirty="0" err="1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големите</a:t>
            </a:r>
            <a:r>
              <a:rPr lang="ru-RU" sz="2400" b="0" i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мрежи. </a:t>
            </a:r>
            <a:r>
              <a:rPr lang="ru-RU" sz="2400" b="0" i="0" dirty="0" err="1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Всички</a:t>
            </a:r>
            <a:r>
              <a:rPr lang="ru-RU" sz="2400" b="0" i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операционни</a:t>
            </a:r>
            <a:r>
              <a:rPr lang="ru-RU" sz="2400" b="0" i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системи</a:t>
            </a:r>
            <a:r>
              <a:rPr lang="ru-RU" sz="2400" b="0" i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и </a:t>
            </a:r>
            <a:r>
              <a:rPr lang="ru-RU" sz="2400" b="0" i="0" dirty="0" err="1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платформи</a:t>
            </a:r>
            <a:r>
              <a:rPr lang="ru-RU" sz="2400" b="0" i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могат</a:t>
            </a:r>
            <a:r>
              <a:rPr lang="ru-RU" sz="2400" b="0" i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да </a:t>
            </a:r>
            <a:r>
              <a:rPr lang="ru-RU" sz="2400" b="0" i="0" dirty="0" err="1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използват</a:t>
            </a:r>
            <a:r>
              <a:rPr lang="ru-RU" sz="2400" b="0" i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TCP/IP. </a:t>
            </a:r>
            <a:r>
              <a:rPr lang="ru-RU" sz="2400" b="0" i="0" dirty="0" err="1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Достъпни</a:t>
            </a:r>
            <a:r>
              <a:rPr lang="ru-RU" sz="2400" b="0" i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са</a:t>
            </a:r>
            <a:r>
              <a:rPr lang="ru-RU" sz="2400" b="0" i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огромен </a:t>
            </a:r>
            <a:r>
              <a:rPr lang="ru-RU" sz="2400" b="0" i="0" dirty="0" err="1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брой</a:t>
            </a:r>
            <a:r>
              <a:rPr lang="ru-RU" sz="2400" b="0" i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помощни</a:t>
            </a:r>
            <a:r>
              <a:rPr lang="ru-RU" sz="2400" b="0" i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програми</a:t>
            </a:r>
            <a:r>
              <a:rPr lang="ru-RU" sz="2400" b="0" i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и </a:t>
            </a:r>
            <a:r>
              <a:rPr lang="ru-RU" sz="2400" b="0" i="0" dirty="0" err="1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инструменти</a:t>
            </a:r>
            <a:r>
              <a:rPr lang="ru-RU" sz="2400" b="0" i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ru-RU" sz="2400" b="0" i="0" dirty="0" err="1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някои</a:t>
            </a:r>
            <a:r>
              <a:rPr lang="ru-RU" sz="2400" b="0" i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от </a:t>
            </a:r>
            <a:r>
              <a:rPr lang="ru-RU" sz="2400" b="0" i="0" dirty="0" err="1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които</a:t>
            </a:r>
            <a:r>
              <a:rPr lang="ru-RU" sz="2400" b="0" i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са</a:t>
            </a:r>
            <a:r>
              <a:rPr lang="ru-RU" sz="2400" b="0" i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включени</a:t>
            </a:r>
            <a:r>
              <a:rPr lang="ru-RU" sz="2400" b="0" i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в комплекта от </a:t>
            </a:r>
            <a:r>
              <a:rPr lang="ru-RU" sz="2400" b="0" i="0" dirty="0" err="1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протоколи</a:t>
            </a:r>
            <a:r>
              <a:rPr lang="ru-RU" sz="2400" b="0" i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, а </a:t>
            </a:r>
            <a:r>
              <a:rPr lang="ru-RU" sz="2400" b="0" i="0" dirty="0" err="1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други</a:t>
            </a:r>
            <a:r>
              <a:rPr lang="ru-RU" sz="2400" b="0" i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са</a:t>
            </a:r>
            <a:r>
              <a:rPr lang="ru-RU" sz="2400" b="0" i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допълнително</a:t>
            </a:r>
            <a:r>
              <a:rPr lang="ru-RU" sz="2400" b="0" i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добавяни</a:t>
            </a:r>
            <a:r>
              <a:rPr lang="ru-RU" sz="2400" b="0" i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програми</a:t>
            </a:r>
            <a:r>
              <a:rPr lang="ru-RU" sz="2400" b="0" i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за наблюдение и управление на TCP/IP. За да се </a:t>
            </a:r>
            <a:r>
              <a:rPr lang="ru-RU" sz="2400" b="0" i="0" dirty="0" err="1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свърже</a:t>
            </a:r>
            <a:r>
              <a:rPr lang="ru-RU" sz="2400" b="0" i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u-RU" sz="2400" b="0" i="0" dirty="0" err="1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компютър</a:t>
            </a:r>
            <a:r>
              <a:rPr lang="ru-RU" sz="2400" b="0" i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с интернет </a:t>
            </a:r>
            <a:r>
              <a:rPr lang="ru-RU" sz="2400" b="0" i="0" dirty="0" err="1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трябва</a:t>
            </a:r>
            <a:r>
              <a:rPr lang="ru-RU" sz="2400" b="0" i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да </a:t>
            </a:r>
            <a:r>
              <a:rPr lang="ru-RU" sz="2400" b="0" i="0" dirty="0" err="1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работи</a:t>
            </a:r>
            <a:r>
              <a:rPr lang="ru-RU" sz="2400" b="0" i="0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с TCP/IP.</a:t>
            </a:r>
            <a:endParaRPr lang="en-US" sz="2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0975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Internetwork Packet Exchange/Sequenced Packet Exchange (IPX/SPX) | Linux.org">
            <a:extLst>
              <a:ext uri="{FF2B5EF4-FFF2-40B4-BE49-F238E27FC236}">
                <a16:creationId xmlns:a16="http://schemas.microsoft.com/office/drawing/2014/main" xmlns="" id="{C8B420C4-A302-17A0-949A-69451A149F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88" y="825113"/>
            <a:ext cx="3549508" cy="2362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TCP/IP: What Is It And How Does It Work? - IPXO">
            <a:extLst>
              <a:ext uri="{FF2B5EF4-FFF2-40B4-BE49-F238E27FC236}">
                <a16:creationId xmlns:a16="http://schemas.microsoft.com/office/drawing/2014/main" xmlns="" id="{D1AAD941-7AA6-09C6-62CF-5C004EA778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7809" y="828675"/>
            <a:ext cx="4342572" cy="2436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Текстово поле 4">
            <a:extLst>
              <a:ext uri="{FF2B5EF4-FFF2-40B4-BE49-F238E27FC236}">
                <a16:creationId xmlns:a16="http://schemas.microsoft.com/office/drawing/2014/main" xmlns="" id="{FBF52914-8B10-E775-05F5-7DD75C7995EB}"/>
              </a:ext>
            </a:extLst>
          </p:cNvPr>
          <p:cNvSpPr txBox="1"/>
          <p:nvPr/>
        </p:nvSpPr>
        <p:spPr>
          <a:xfrm>
            <a:off x="278296" y="3193775"/>
            <a:ext cx="33196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IPX/SPX</a:t>
            </a:r>
          </a:p>
        </p:txBody>
      </p:sp>
      <p:sp>
        <p:nvSpPr>
          <p:cNvPr id="6" name="Текстово поле 5">
            <a:extLst>
              <a:ext uri="{FF2B5EF4-FFF2-40B4-BE49-F238E27FC236}">
                <a16:creationId xmlns:a16="http://schemas.microsoft.com/office/drawing/2014/main" xmlns="" id="{63B43EDE-0F0C-C867-191C-64DDA07C45F7}"/>
              </a:ext>
            </a:extLst>
          </p:cNvPr>
          <p:cNvSpPr txBox="1"/>
          <p:nvPr/>
        </p:nvSpPr>
        <p:spPr>
          <a:xfrm>
            <a:off x="4214192" y="3264752"/>
            <a:ext cx="40021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TCP/IP</a:t>
            </a:r>
          </a:p>
        </p:txBody>
      </p:sp>
    </p:spTree>
    <p:extLst>
      <p:ext uri="{BB962C8B-B14F-4D97-AF65-F5344CB8AC3E}">
        <p14:creationId xmlns:p14="http://schemas.microsoft.com/office/powerpoint/2010/main" val="3871096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лавие 2">
            <a:extLst>
              <a:ext uri="{FF2B5EF4-FFF2-40B4-BE49-F238E27FC236}">
                <a16:creationId xmlns:a16="http://schemas.microsoft.com/office/drawing/2014/main" xmlns="" id="{038798F4-F3C9-B68B-D9E0-F9A7D20763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334" y="46486"/>
            <a:ext cx="7704000" cy="572700"/>
          </a:xfrm>
        </p:spPr>
        <p:txBody>
          <a:bodyPr/>
          <a:lstStyle/>
          <a:p>
            <a:r>
              <a:rPr lang="en-US" sz="3200" b="0" dirty="0">
                <a:latin typeface="Arial" panose="020B0604020202020204" pitchFamily="34" charset="0"/>
                <a:cs typeface="Arial" panose="020B0604020202020204" pitchFamily="34" charset="0"/>
              </a:rPr>
              <a:t>LAN</a:t>
            </a:r>
            <a:r>
              <a:rPr lang="bg-BG" sz="3200" b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bg-BG" sz="3200" b="0" dirty="0" smtClean="0">
                <a:latin typeface="Arial" panose="020B0604020202020204" pitchFamily="34" charset="0"/>
                <a:cs typeface="Arial" panose="020B0604020202020204" pitchFamily="34" charset="0"/>
              </a:rPr>
              <a:t>същно</a:t>
            </a:r>
            <a:r>
              <a:rPr lang="bg-BG" sz="3200" b="0" dirty="0">
                <a:latin typeface="Arial" panose="020B0604020202020204" pitchFamily="34" charset="0"/>
                <a:cs typeface="Arial" panose="020B0604020202020204" pitchFamily="34" charset="0"/>
              </a:rPr>
              <a:t>с</a:t>
            </a:r>
            <a:r>
              <a:rPr lang="bg-BG" sz="3200" b="0" dirty="0" smtClean="0">
                <a:latin typeface="Arial" panose="020B0604020202020204" pitchFamily="34" charset="0"/>
                <a:cs typeface="Arial" panose="020B0604020202020204" pitchFamily="34" charset="0"/>
              </a:rPr>
              <a:t>т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Текстово поле 3">
            <a:extLst>
              <a:ext uri="{FF2B5EF4-FFF2-40B4-BE49-F238E27FC236}">
                <a16:creationId xmlns:a16="http://schemas.microsoft.com/office/drawing/2014/main" xmlns="" id="{8B3974E6-580B-E0AB-BCC7-35BC704AD567}"/>
              </a:ext>
            </a:extLst>
          </p:cNvPr>
          <p:cNvSpPr txBox="1"/>
          <p:nvPr/>
        </p:nvSpPr>
        <p:spPr>
          <a:xfrm>
            <a:off x="1254867" y="619186"/>
            <a:ext cx="7275443" cy="4297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bg-BG" sz="24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Локална компютърна мрежа (</a:t>
            </a:r>
            <a:r>
              <a:rPr lang="bg-BG" sz="2400" dirty="0" err="1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Local</a:t>
            </a:r>
            <a:r>
              <a:rPr lang="bg-BG" sz="24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bg-BG" sz="2400" dirty="0" err="1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Area</a:t>
            </a:r>
            <a:r>
              <a:rPr lang="bg-BG" sz="24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bg-BG" sz="2400" dirty="0" err="1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Network</a:t>
            </a:r>
            <a:r>
              <a:rPr lang="bg-BG" sz="24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LAN) може да се образува от два</a:t>
            </a:r>
            <a:r>
              <a:rPr lang="bg-BG" sz="2400" spc="5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bg-BG" sz="24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или повече компютъра, които са свързани помежду си с помощта на някакво физическо</a:t>
            </a:r>
            <a:r>
              <a:rPr lang="bg-BG" sz="2400" spc="5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bg-BG" sz="24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средство (коаксиален</a:t>
            </a:r>
            <a:r>
              <a:rPr lang="bg-BG" sz="2400" spc="5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bg-BG" sz="24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кабел, кабел с</a:t>
            </a:r>
            <a:r>
              <a:rPr lang="bg-BG" sz="2400" spc="5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bg-BG" sz="24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усукани</a:t>
            </a:r>
            <a:r>
              <a:rPr lang="bg-BG" sz="2400" spc="5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bg-BG" sz="24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двойки проводници</a:t>
            </a:r>
            <a:r>
              <a:rPr lang="bg-BG" sz="2400" spc="3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bg-BG" sz="24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 др.). Свързаните по</a:t>
            </a:r>
            <a:r>
              <a:rPr lang="bg-BG" sz="2400" spc="5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bg-BG" sz="24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този начин компютри могат да обменят своите данни и да използват общи периферни</a:t>
            </a:r>
            <a:r>
              <a:rPr lang="bg-BG" sz="2400" spc="5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bg-BG" sz="24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устройства, като скоростта при на преноса на данни е обикновено висока, поне 100Mb/сек.</a:t>
            </a:r>
            <a:r>
              <a:rPr lang="bg-BG" sz="2400" spc="5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bg-BG" sz="24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Свързаните компютри са разположени върху ограничена площ, например в рамките на</a:t>
            </a:r>
            <a:r>
              <a:rPr lang="bg-BG" sz="2400" spc="5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bg-BG" sz="24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един</a:t>
            </a:r>
            <a:r>
              <a:rPr lang="bg-BG" sz="2400" spc="-5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bg-BG" sz="24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етаж.</a:t>
            </a:r>
            <a:endParaRPr lang="en-US" sz="2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3166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What is Local Area Network? Definition and FAQs | HEAVY.AI">
            <a:extLst>
              <a:ext uri="{FF2B5EF4-FFF2-40B4-BE49-F238E27FC236}">
                <a16:creationId xmlns:a16="http://schemas.microsoft.com/office/drawing/2014/main" xmlns="" id="{947AF657-AD79-78EE-CCAC-50D945CC3E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940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лавие 2">
            <a:extLst>
              <a:ext uri="{FF2B5EF4-FFF2-40B4-BE49-F238E27FC236}">
                <a16:creationId xmlns:a16="http://schemas.microsoft.com/office/drawing/2014/main" xmlns="" id="{1B1AE972-79B5-66F6-7284-0A9D3497E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0" dirty="0">
                <a:latin typeface="Arial" panose="020B0604020202020204" pitchFamily="34" charset="0"/>
                <a:cs typeface="Arial" panose="020B0604020202020204" pitchFamily="34" charset="0"/>
              </a:rPr>
              <a:t>LAN </a:t>
            </a:r>
            <a:r>
              <a:rPr lang="bg-BG" sz="3200" b="0" dirty="0">
                <a:latin typeface="Arial" panose="020B0604020202020204" pitchFamily="34" charset="0"/>
                <a:cs typeface="Arial" panose="020B0604020202020204" pitchFamily="34" charset="0"/>
              </a:rPr>
              <a:t>компоненти</a:t>
            </a:r>
            <a:endParaRPr lang="en-US" sz="32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Текстово поле 3">
            <a:extLst>
              <a:ext uri="{FF2B5EF4-FFF2-40B4-BE49-F238E27FC236}">
                <a16:creationId xmlns:a16="http://schemas.microsoft.com/office/drawing/2014/main" xmlns="" id="{F31137FB-6FA8-3FAB-6A35-09F41D035D6C}"/>
              </a:ext>
            </a:extLst>
          </p:cNvPr>
          <p:cNvSpPr txBox="1"/>
          <p:nvPr/>
        </p:nvSpPr>
        <p:spPr>
          <a:xfrm>
            <a:off x="373405" y="1137846"/>
            <a:ext cx="7904921" cy="3972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3660" marR="186055">
              <a:lnSpc>
                <a:spcPct val="150000"/>
              </a:lnSpc>
              <a:spcBef>
                <a:spcPts val="785"/>
              </a:spcBef>
              <a:spcAft>
                <a:spcPts val="0"/>
              </a:spcAft>
            </a:pPr>
            <a:r>
              <a:rPr lang="bg-BG" sz="24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Всяка</a:t>
            </a:r>
            <a:r>
              <a:rPr lang="bg-BG" sz="2400" spc="-5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bg-BG" sz="24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компютърна</a:t>
            </a:r>
            <a:r>
              <a:rPr lang="bg-BG" sz="2400" spc="-1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bg-BG" sz="24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мрежа</a:t>
            </a:r>
            <a:r>
              <a:rPr lang="bg-BG" sz="2400" spc="-15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bg-BG" sz="24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включва няколко</a:t>
            </a:r>
            <a:r>
              <a:rPr lang="bg-BG" sz="2400" spc="-5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bg-BG" sz="24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основни</a:t>
            </a:r>
            <a:r>
              <a:rPr lang="bg-BG" sz="2400" spc="-15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bg-BG" sz="24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компонента:</a:t>
            </a:r>
          </a:p>
          <a:p>
            <a:pPr marL="530860" marR="186055" indent="-457200">
              <a:lnSpc>
                <a:spcPct val="150000"/>
              </a:lnSpc>
              <a:spcBef>
                <a:spcPts val="785"/>
              </a:spcBef>
              <a:spcAft>
                <a:spcPts val="0"/>
              </a:spcAft>
              <a:buFont typeface="+mj-lt"/>
              <a:buAutoNum type="arabicPeriod"/>
            </a:pPr>
            <a:r>
              <a:rPr lang="bg-BG" sz="2400" dirty="0">
                <a:solidFill>
                  <a:schemeClr val="tx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К</a:t>
            </a:r>
            <a:r>
              <a:rPr lang="bg-BG" sz="24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омпютър</a:t>
            </a:r>
            <a:endParaRPr lang="en-US" sz="2400" dirty="0">
              <a:solidFill>
                <a:schemeClr val="tx2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457200" marR="0" lvl="0" indent="-457200">
              <a:spcBef>
                <a:spcPts val="695"/>
              </a:spcBef>
              <a:spcAft>
                <a:spcPts val="0"/>
              </a:spcAft>
              <a:buSzPts val="1200"/>
              <a:buFont typeface="+mj-lt"/>
              <a:buAutoNum type="arabicPeriod"/>
              <a:tabLst>
                <a:tab pos="981075" algn="l"/>
              </a:tabLst>
            </a:pPr>
            <a:r>
              <a:rPr lang="bg-BG" sz="24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Wingdings" panose="05000000000000000000" pitchFamily="2" charset="2"/>
                <a:cs typeface="Arial" panose="020B0604020202020204" pitchFamily="34" charset="0"/>
              </a:rPr>
              <a:t>Съобщителна</a:t>
            </a:r>
            <a:r>
              <a:rPr lang="bg-BG" sz="2400" spc="-2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Wingdings" panose="05000000000000000000" pitchFamily="2" charset="2"/>
                <a:cs typeface="Arial" panose="020B0604020202020204" pitchFamily="34" charset="0"/>
              </a:rPr>
              <a:t> </a:t>
            </a:r>
            <a:r>
              <a:rPr lang="bg-BG" sz="24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Wingdings" panose="05000000000000000000" pitchFamily="2" charset="2"/>
                <a:cs typeface="Arial" panose="020B0604020202020204" pitchFamily="34" charset="0"/>
              </a:rPr>
              <a:t>среда</a:t>
            </a:r>
            <a:endParaRPr lang="en-US" sz="2400" dirty="0">
              <a:solidFill>
                <a:schemeClr val="tx2"/>
              </a:solidFill>
              <a:effectLst/>
              <a:latin typeface="Arial" panose="020B0604020202020204" pitchFamily="34" charset="0"/>
              <a:ea typeface="Wingdings" panose="05000000000000000000" pitchFamily="2" charset="2"/>
              <a:cs typeface="Arial" panose="020B0604020202020204" pitchFamily="34" charset="0"/>
            </a:endParaRPr>
          </a:p>
          <a:p>
            <a:pPr marL="457200" marR="0" lvl="0" indent="-457200">
              <a:spcBef>
                <a:spcPts val="685"/>
              </a:spcBef>
              <a:spcAft>
                <a:spcPts val="0"/>
              </a:spcAft>
              <a:buSzPts val="1200"/>
              <a:buFont typeface="+mj-lt"/>
              <a:buAutoNum type="arabicPeriod"/>
              <a:tabLst>
                <a:tab pos="981075" algn="l"/>
              </a:tabLst>
            </a:pPr>
            <a:r>
              <a:rPr lang="bg-BG" sz="24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Wingdings" panose="05000000000000000000" pitchFamily="2" charset="2"/>
                <a:cs typeface="Arial" panose="020B0604020202020204" pitchFamily="34" charset="0"/>
              </a:rPr>
              <a:t>Мрежови</a:t>
            </a:r>
            <a:r>
              <a:rPr lang="bg-BG" sz="2400" spc="-15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Wingdings" panose="05000000000000000000" pitchFamily="2" charset="2"/>
                <a:cs typeface="Arial" panose="020B0604020202020204" pitchFamily="34" charset="0"/>
              </a:rPr>
              <a:t> </a:t>
            </a:r>
            <a:r>
              <a:rPr lang="bg-BG" sz="24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Wingdings" panose="05000000000000000000" pitchFamily="2" charset="2"/>
                <a:cs typeface="Arial" panose="020B0604020202020204" pitchFamily="34" charset="0"/>
              </a:rPr>
              <a:t>карти</a:t>
            </a:r>
            <a:endParaRPr lang="en-US" sz="2400" dirty="0">
              <a:solidFill>
                <a:schemeClr val="tx2"/>
              </a:solidFill>
              <a:effectLst/>
              <a:latin typeface="Arial" panose="020B0604020202020204" pitchFamily="34" charset="0"/>
              <a:ea typeface="Wingdings" panose="05000000000000000000" pitchFamily="2" charset="2"/>
              <a:cs typeface="Arial" panose="020B0604020202020204" pitchFamily="34" charset="0"/>
            </a:endParaRPr>
          </a:p>
          <a:p>
            <a:pPr marL="457200" marR="0" lvl="0" indent="-457200">
              <a:spcBef>
                <a:spcPts val="695"/>
              </a:spcBef>
              <a:spcAft>
                <a:spcPts val="0"/>
              </a:spcAft>
              <a:buSzPts val="1200"/>
              <a:buFont typeface="+mj-lt"/>
              <a:buAutoNum type="arabicPeriod"/>
              <a:tabLst>
                <a:tab pos="981075" algn="l"/>
              </a:tabLst>
            </a:pPr>
            <a:r>
              <a:rPr lang="bg-BG" sz="24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Wingdings" panose="05000000000000000000" pitchFamily="2" charset="2"/>
                <a:cs typeface="Arial" panose="020B0604020202020204" pitchFamily="34" charset="0"/>
              </a:rPr>
              <a:t>Свързващо</a:t>
            </a:r>
            <a:r>
              <a:rPr lang="bg-BG" sz="2400" spc="-5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Wingdings" panose="05000000000000000000" pitchFamily="2" charset="2"/>
                <a:cs typeface="Arial" panose="020B0604020202020204" pitchFamily="34" charset="0"/>
              </a:rPr>
              <a:t> </a:t>
            </a:r>
            <a:r>
              <a:rPr lang="bg-BG" sz="24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Wingdings" panose="05000000000000000000" pitchFamily="2" charset="2"/>
                <a:cs typeface="Arial" panose="020B0604020202020204" pitchFamily="34" charset="0"/>
              </a:rPr>
              <a:t>устройство</a:t>
            </a:r>
            <a:r>
              <a:rPr lang="bg-BG" sz="2400" spc="-5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Wingdings" panose="05000000000000000000" pitchFamily="2" charset="2"/>
                <a:cs typeface="Arial" panose="020B0604020202020204" pitchFamily="34" charset="0"/>
              </a:rPr>
              <a:t> </a:t>
            </a:r>
            <a:r>
              <a:rPr lang="bg-BG" sz="24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Wingdings" panose="05000000000000000000" pitchFamily="2" charset="2"/>
                <a:cs typeface="Arial" panose="020B0604020202020204" pitchFamily="34" charset="0"/>
              </a:rPr>
              <a:t>в</a:t>
            </a:r>
            <a:r>
              <a:rPr lang="bg-BG" sz="2400" spc="-2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Wingdings" panose="05000000000000000000" pitchFamily="2" charset="2"/>
                <a:cs typeface="Arial" panose="020B0604020202020204" pitchFamily="34" charset="0"/>
              </a:rPr>
              <a:t> </a:t>
            </a:r>
            <a:r>
              <a:rPr lang="bg-BG" sz="24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Wingdings" panose="05000000000000000000" pitchFamily="2" charset="2"/>
                <a:cs typeface="Arial" panose="020B0604020202020204" pitchFamily="34" charset="0"/>
              </a:rPr>
              <a:t>зависимост</a:t>
            </a:r>
            <a:r>
              <a:rPr lang="bg-BG" sz="2400" spc="-1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Wingdings" panose="05000000000000000000" pitchFamily="2" charset="2"/>
                <a:cs typeface="Arial" panose="020B0604020202020204" pitchFamily="34" charset="0"/>
              </a:rPr>
              <a:t> </a:t>
            </a:r>
            <a:r>
              <a:rPr lang="bg-BG" sz="24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Wingdings" panose="05000000000000000000" pitchFamily="2" charset="2"/>
                <a:cs typeface="Arial" panose="020B0604020202020204" pitchFamily="34" charset="0"/>
              </a:rPr>
              <a:t>от</a:t>
            </a:r>
            <a:r>
              <a:rPr lang="bg-BG" sz="2400" spc="-15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Wingdings" panose="05000000000000000000" pitchFamily="2" charset="2"/>
                <a:cs typeface="Arial" panose="020B0604020202020204" pitchFamily="34" charset="0"/>
              </a:rPr>
              <a:t> </a:t>
            </a:r>
            <a:r>
              <a:rPr lang="bg-BG" sz="24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Wingdings" panose="05000000000000000000" pitchFamily="2" charset="2"/>
                <a:cs typeface="Arial" panose="020B0604020202020204" pitchFamily="34" charset="0"/>
              </a:rPr>
              <a:t>типа</a:t>
            </a:r>
            <a:r>
              <a:rPr lang="bg-BG" sz="2400" spc="-15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Wingdings" panose="05000000000000000000" pitchFamily="2" charset="2"/>
                <a:cs typeface="Arial" panose="020B0604020202020204" pitchFamily="34" charset="0"/>
              </a:rPr>
              <a:t> </a:t>
            </a:r>
            <a:r>
              <a:rPr lang="bg-BG" sz="24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Wingdings" panose="05000000000000000000" pitchFamily="2" charset="2"/>
                <a:cs typeface="Arial" panose="020B0604020202020204" pitchFamily="34" charset="0"/>
              </a:rPr>
              <a:t>на</a:t>
            </a:r>
            <a:r>
              <a:rPr lang="bg-BG" sz="2400" spc="-3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Wingdings" panose="05000000000000000000" pitchFamily="2" charset="2"/>
                <a:cs typeface="Arial" panose="020B0604020202020204" pitchFamily="34" charset="0"/>
              </a:rPr>
              <a:t> </a:t>
            </a:r>
            <a:r>
              <a:rPr lang="bg-BG" sz="24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Wingdings" panose="05000000000000000000" pitchFamily="2" charset="2"/>
                <a:cs typeface="Arial" panose="020B0604020202020204" pitchFamily="34" charset="0"/>
              </a:rPr>
              <a:t>мрежата</a:t>
            </a:r>
            <a:endParaRPr lang="en-US" sz="2400" dirty="0">
              <a:solidFill>
                <a:schemeClr val="tx2"/>
              </a:solidFill>
              <a:effectLst/>
              <a:latin typeface="Arial" panose="020B0604020202020204" pitchFamily="34" charset="0"/>
              <a:ea typeface="Wingdings" panose="05000000000000000000" pitchFamily="2" charset="2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bg-BG" sz="24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Мрежов</a:t>
            </a:r>
            <a:r>
              <a:rPr lang="bg-BG" sz="2400" spc="-15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bg-BG" sz="24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софтуер</a:t>
            </a:r>
            <a:endParaRPr lang="en-US" sz="24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2931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лавие 2">
            <a:extLst>
              <a:ext uri="{FF2B5EF4-FFF2-40B4-BE49-F238E27FC236}">
                <a16:creationId xmlns:a16="http://schemas.microsoft.com/office/drawing/2014/main" xmlns="" id="{84BBF4E0-E624-C31B-5049-277EB1116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185146"/>
            <a:ext cx="7704000" cy="572700"/>
          </a:xfrm>
        </p:spPr>
        <p:txBody>
          <a:bodyPr/>
          <a:lstStyle/>
          <a:p>
            <a:r>
              <a:rPr lang="bg-BG" sz="3200" b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Съобщителната</a:t>
            </a:r>
            <a:r>
              <a:rPr lang="bg-BG" sz="3200" b="0" spc="5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bg-BG" sz="3200" b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среда</a:t>
            </a:r>
            <a:r>
              <a:rPr lang="bg-BG" sz="3200" b="0" spc="5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en-US" sz="32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Текстово поле 5">
            <a:extLst>
              <a:ext uri="{FF2B5EF4-FFF2-40B4-BE49-F238E27FC236}">
                <a16:creationId xmlns:a16="http://schemas.microsoft.com/office/drawing/2014/main" xmlns="" id="{8179A659-47CF-940C-6B25-3F48A422F84C}"/>
              </a:ext>
            </a:extLst>
          </p:cNvPr>
          <p:cNvSpPr txBox="1"/>
          <p:nvPr/>
        </p:nvSpPr>
        <p:spPr>
          <a:xfrm>
            <a:off x="0" y="1166191"/>
            <a:ext cx="756036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err="1">
                <a:solidFill>
                  <a:schemeClr val="tx2"/>
                </a:solidFill>
              </a:rPr>
              <a:t>Съобщителната</a:t>
            </a:r>
            <a:r>
              <a:rPr lang="ru-RU" sz="2400" dirty="0">
                <a:solidFill>
                  <a:schemeClr val="tx2"/>
                </a:solidFill>
              </a:rPr>
              <a:t> среда </a:t>
            </a:r>
            <a:r>
              <a:rPr lang="ru-RU" sz="2400" dirty="0" err="1">
                <a:solidFill>
                  <a:schemeClr val="tx2"/>
                </a:solidFill>
              </a:rPr>
              <a:t>осигурява</a:t>
            </a:r>
            <a:r>
              <a:rPr lang="ru-RU" sz="2400" dirty="0">
                <a:solidFill>
                  <a:schemeClr val="tx2"/>
                </a:solidFill>
              </a:rPr>
              <a:t> </a:t>
            </a:r>
            <a:r>
              <a:rPr lang="ru-RU" sz="2400" dirty="0" err="1">
                <a:solidFill>
                  <a:schemeClr val="tx2"/>
                </a:solidFill>
              </a:rPr>
              <a:t>прехвърлянето</a:t>
            </a:r>
            <a:r>
              <a:rPr lang="ru-RU" sz="2400" dirty="0">
                <a:solidFill>
                  <a:schemeClr val="tx2"/>
                </a:solidFill>
              </a:rPr>
              <a:t> на </a:t>
            </a:r>
            <a:r>
              <a:rPr lang="ru-RU" sz="2400" dirty="0" err="1">
                <a:solidFill>
                  <a:schemeClr val="tx2"/>
                </a:solidFill>
              </a:rPr>
              <a:t>данните</a:t>
            </a:r>
            <a:r>
              <a:rPr lang="ru-RU" sz="2400" dirty="0">
                <a:solidFill>
                  <a:schemeClr val="tx2"/>
                </a:solidFill>
              </a:rPr>
              <a:t> между </a:t>
            </a:r>
            <a:r>
              <a:rPr lang="ru-RU" sz="2400" dirty="0" err="1">
                <a:solidFill>
                  <a:schemeClr val="tx2"/>
                </a:solidFill>
              </a:rPr>
              <a:t>различните</a:t>
            </a:r>
            <a:r>
              <a:rPr lang="ru-RU" sz="2400" dirty="0">
                <a:solidFill>
                  <a:schemeClr val="tx2"/>
                </a:solidFill>
              </a:rPr>
              <a:t> </a:t>
            </a:r>
            <a:r>
              <a:rPr lang="ru-RU" sz="2400" dirty="0" err="1">
                <a:solidFill>
                  <a:schemeClr val="tx2"/>
                </a:solidFill>
              </a:rPr>
              <a:t>устройства.Обикновено</a:t>
            </a:r>
            <a:r>
              <a:rPr lang="ru-RU" sz="2400" dirty="0">
                <a:solidFill>
                  <a:schemeClr val="tx2"/>
                </a:solidFill>
              </a:rPr>
              <a:t> се </a:t>
            </a:r>
            <a:r>
              <a:rPr lang="ru-RU" sz="2400" dirty="0" err="1">
                <a:solidFill>
                  <a:schemeClr val="tx2"/>
                </a:solidFill>
              </a:rPr>
              <a:t>изгражда</a:t>
            </a:r>
            <a:r>
              <a:rPr lang="ru-RU" sz="2400" dirty="0">
                <a:solidFill>
                  <a:schemeClr val="tx2"/>
                </a:solidFill>
              </a:rPr>
              <a:t> чрез: коаксиален </a:t>
            </a:r>
            <a:r>
              <a:rPr lang="ru-RU" sz="2400" dirty="0" err="1">
                <a:solidFill>
                  <a:schemeClr val="tx2"/>
                </a:solidFill>
              </a:rPr>
              <a:t>кабел</a:t>
            </a:r>
            <a:r>
              <a:rPr lang="ru-RU" sz="2400" dirty="0">
                <a:solidFill>
                  <a:schemeClr val="tx2"/>
                </a:solidFill>
              </a:rPr>
              <a:t>, </a:t>
            </a:r>
            <a:r>
              <a:rPr lang="ru-RU" sz="2400" dirty="0" err="1">
                <a:solidFill>
                  <a:schemeClr val="tx2"/>
                </a:solidFill>
              </a:rPr>
              <a:t>кабел</a:t>
            </a:r>
            <a:r>
              <a:rPr lang="ru-RU" sz="2400" dirty="0">
                <a:solidFill>
                  <a:schemeClr val="tx2"/>
                </a:solidFill>
              </a:rPr>
              <a:t> тип </a:t>
            </a:r>
            <a:r>
              <a:rPr lang="ru-RU" sz="2400" dirty="0" err="1">
                <a:solidFill>
                  <a:schemeClr val="tx2"/>
                </a:solidFill>
              </a:rPr>
              <a:t>усукана</a:t>
            </a:r>
            <a:r>
              <a:rPr lang="ru-RU" sz="2400" dirty="0">
                <a:solidFill>
                  <a:schemeClr val="tx2"/>
                </a:solidFill>
              </a:rPr>
              <a:t> двойка, </a:t>
            </a:r>
            <a:r>
              <a:rPr lang="ru-RU" sz="2400" dirty="0" err="1">
                <a:solidFill>
                  <a:schemeClr val="tx2"/>
                </a:solidFill>
              </a:rPr>
              <a:t>оптичен</a:t>
            </a:r>
            <a:r>
              <a:rPr lang="ru-RU" sz="2400" dirty="0">
                <a:solidFill>
                  <a:schemeClr val="tx2"/>
                </a:solidFill>
              </a:rPr>
              <a:t> </a:t>
            </a:r>
            <a:r>
              <a:rPr lang="ru-RU" sz="2400" dirty="0" err="1">
                <a:solidFill>
                  <a:schemeClr val="tx2"/>
                </a:solidFill>
              </a:rPr>
              <a:t>кабел</a:t>
            </a:r>
            <a:r>
              <a:rPr lang="ru-RU" sz="2400" dirty="0">
                <a:solidFill>
                  <a:schemeClr val="tx2"/>
                </a:solidFill>
              </a:rPr>
              <a:t> или чрез </a:t>
            </a:r>
            <a:r>
              <a:rPr lang="ru-RU" sz="2400" dirty="0" err="1">
                <a:solidFill>
                  <a:schemeClr val="tx2"/>
                </a:solidFill>
              </a:rPr>
              <a:t>радиопредавател</a:t>
            </a:r>
            <a:endParaRPr lang="en-US" sz="2400" dirty="0">
              <a:solidFill>
                <a:schemeClr val="tx2"/>
              </a:solidFill>
            </a:endParaRPr>
          </a:p>
        </p:txBody>
      </p:sp>
      <p:pic>
        <p:nvPicPr>
          <p:cNvPr id="10242" name="Picture 2" descr="Коаксиален кабел – Уикипедия">
            <a:extLst>
              <a:ext uri="{FF2B5EF4-FFF2-40B4-BE49-F238E27FC236}">
                <a16:creationId xmlns:a16="http://schemas.microsoft.com/office/drawing/2014/main" xmlns="" id="{E27E0209-3204-9226-5614-BA5D5D3581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123" y="2928523"/>
            <a:ext cx="2097571" cy="2097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 descr="УСУКАНА ДВОЙКА UTP/K5/305M/PE - Усукани двойки UTP, FTP - Delta">
            <a:extLst>
              <a:ext uri="{FF2B5EF4-FFF2-40B4-BE49-F238E27FC236}">
                <a16:creationId xmlns:a16="http://schemas.microsoft.com/office/drawing/2014/main" xmlns="" id="{8BD13E33-6868-05E6-F99D-33300869FD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2226" y="3230112"/>
            <a:ext cx="3001617" cy="1795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8" name="Picture 8" descr="Инсталационен оптичен кабел FTTH оптичен кабел, 1xG657 влакно, Фигура 8 с  носеща тел на цена 2.35 лв - BestPC.BG">
            <a:extLst>
              <a:ext uri="{FF2B5EF4-FFF2-40B4-BE49-F238E27FC236}">
                <a16:creationId xmlns:a16="http://schemas.microsoft.com/office/drawing/2014/main" xmlns="" id="{DF34C867-4B5F-0AA7-5F16-E791D96EEB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 flipV="1">
            <a:off x="6263408" y="3230112"/>
            <a:ext cx="2716664" cy="168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2393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лавие 2">
            <a:extLst>
              <a:ext uri="{FF2B5EF4-FFF2-40B4-BE49-F238E27FC236}">
                <a16:creationId xmlns:a16="http://schemas.microsoft.com/office/drawing/2014/main" xmlns="" id="{A8AC8393-44E3-E795-9BD6-CFC08490F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231529"/>
            <a:ext cx="7704000" cy="572700"/>
          </a:xfrm>
        </p:spPr>
        <p:txBody>
          <a:bodyPr/>
          <a:lstStyle/>
          <a:p>
            <a:r>
              <a:rPr lang="bg-BG" sz="3200" b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Мрежова карта </a:t>
            </a:r>
            <a:r>
              <a:rPr lang="en-US" sz="3200" b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bg-BG" sz="3200" b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и мрежови софтуер</a:t>
            </a:r>
            <a:endParaRPr lang="en-US" sz="32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Текстово поле 3">
            <a:extLst>
              <a:ext uri="{FF2B5EF4-FFF2-40B4-BE49-F238E27FC236}">
                <a16:creationId xmlns:a16="http://schemas.microsoft.com/office/drawing/2014/main" xmlns="" id="{4A6DDE42-D4AC-88FD-7453-F03F6C73494F}"/>
              </a:ext>
            </a:extLst>
          </p:cNvPr>
          <p:cNvSpPr txBox="1"/>
          <p:nvPr/>
        </p:nvSpPr>
        <p:spPr>
          <a:xfrm>
            <a:off x="212036" y="863590"/>
            <a:ext cx="6255026" cy="4198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bg-BG" sz="2400" b="1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Мрежовата карта </a:t>
            </a:r>
            <a:r>
              <a:rPr lang="bg-BG" sz="24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</a:t>
            </a:r>
            <a:r>
              <a:rPr lang="bg-BG" sz="2400" dirty="0" err="1">
                <a:solidFill>
                  <a:schemeClr val="tx2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Network</a:t>
            </a:r>
            <a:r>
              <a:rPr lang="bg-BG" sz="24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bg-BG" sz="2400" dirty="0" err="1">
                <a:solidFill>
                  <a:schemeClr val="tx2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interface</a:t>
            </a:r>
            <a:r>
              <a:rPr lang="bg-BG" sz="24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bg-BG" sz="2400" dirty="0" err="1">
                <a:solidFill>
                  <a:schemeClr val="tx2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card</a:t>
            </a:r>
            <a:r>
              <a:rPr lang="bg-BG" sz="24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NIC) осигурява връзката на компютъра с</a:t>
            </a:r>
            <a:r>
              <a:rPr lang="bg-BG" sz="2400" spc="5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bg-BG" sz="24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локалната</a:t>
            </a:r>
            <a:r>
              <a:rPr lang="bg-BG" sz="2400" spc="-1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bg-BG" sz="24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мрежа</a:t>
            </a:r>
          </a:p>
          <a:p>
            <a:pPr marL="457200" indent="-457200">
              <a:buFont typeface="+mj-lt"/>
              <a:buAutoNum type="arabicPeriod"/>
            </a:pPr>
            <a:endParaRPr lang="ru-RU" sz="24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ru-RU" sz="24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Мрежовият</a:t>
            </a:r>
            <a:r>
              <a:rPr lang="ru-RU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софтуер</a:t>
            </a:r>
            <a:r>
              <a:rPr lang="ru-RU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играе</a:t>
            </a:r>
            <a:r>
              <a:rPr lang="ru-RU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управляваща</a:t>
            </a:r>
            <a:r>
              <a:rPr lang="ru-RU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роля. Той </a:t>
            </a:r>
            <a:r>
              <a:rPr lang="ru-RU" sz="24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задава</a:t>
            </a:r>
            <a:r>
              <a:rPr lang="ru-RU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режима на работа на </a:t>
            </a:r>
            <a:r>
              <a:rPr lang="ru-RU" sz="24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компютъра</a:t>
            </a:r>
            <a:r>
              <a:rPr lang="ru-RU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в </a:t>
            </a:r>
            <a:r>
              <a:rPr lang="ru-RU" sz="24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мрежата</a:t>
            </a:r>
            <a:r>
              <a:rPr lang="ru-RU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sz="24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определя</a:t>
            </a:r>
            <a:r>
              <a:rPr lang="ru-RU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различната</a:t>
            </a:r>
            <a:r>
              <a:rPr lang="ru-RU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роля на </a:t>
            </a:r>
            <a:r>
              <a:rPr lang="ru-RU" sz="24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компютрите</a:t>
            </a:r>
            <a:r>
              <a:rPr lang="ru-RU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в </a:t>
            </a:r>
            <a:r>
              <a:rPr lang="ru-RU" sz="24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мрежата</a:t>
            </a:r>
            <a:r>
              <a:rPr lang="ru-RU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ru-RU" sz="24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Така</a:t>
            </a:r>
            <a:r>
              <a:rPr lang="ru-RU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два </a:t>
            </a:r>
            <a:r>
              <a:rPr lang="ru-RU" sz="24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напълно</a:t>
            </a:r>
            <a:r>
              <a:rPr lang="ru-RU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еднакви</a:t>
            </a:r>
            <a:r>
              <a:rPr lang="ru-RU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компютъра</a:t>
            </a:r>
            <a:r>
              <a:rPr lang="ru-RU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могат</a:t>
            </a:r>
            <a:r>
              <a:rPr lang="ru-RU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да </a:t>
            </a:r>
            <a:r>
              <a:rPr lang="ru-RU" sz="24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работят</a:t>
            </a:r>
            <a:r>
              <a:rPr lang="ru-RU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по различен начин в </a:t>
            </a:r>
            <a:r>
              <a:rPr lang="ru-RU" sz="24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мрежата</a:t>
            </a:r>
            <a:endParaRPr lang="en-US" sz="24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3936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72" name="Picture 8" descr="LAN карта Value - SAVE COMPUTERS">
            <a:extLst>
              <a:ext uri="{FF2B5EF4-FFF2-40B4-BE49-F238E27FC236}">
                <a16:creationId xmlns:a16="http://schemas.microsoft.com/office/drawing/2014/main" xmlns="" id="{8DCB7905-1773-6DD5-6D9C-BAC5791761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7509" y="586490"/>
            <a:ext cx="6126771" cy="4114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7909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лавие 2">
            <a:extLst>
              <a:ext uri="{FF2B5EF4-FFF2-40B4-BE49-F238E27FC236}">
                <a16:creationId xmlns:a16="http://schemas.microsoft.com/office/drawing/2014/main" xmlns="" id="{2DBF4573-CC3B-9C62-5D2A-307143B13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z="3200" b="0" smtClean="0">
                <a:latin typeface="Arial" panose="020B0604020202020204" pitchFamily="34" charset="0"/>
                <a:cs typeface="Arial" panose="020B0604020202020204" pitchFamily="34" charset="0"/>
              </a:rPr>
              <a:t>Тест:</a:t>
            </a:r>
            <a:endParaRPr lang="en-US" sz="32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Текстово поле 4">
            <a:extLst>
              <a:ext uri="{FF2B5EF4-FFF2-40B4-BE49-F238E27FC236}">
                <a16:creationId xmlns:a16="http://schemas.microsoft.com/office/drawing/2014/main" xmlns="" id="{264D1463-2CAC-59C6-73BC-DB6EFBA06E52}"/>
              </a:ext>
            </a:extLst>
          </p:cNvPr>
          <p:cNvSpPr txBox="1"/>
          <p:nvPr/>
        </p:nvSpPr>
        <p:spPr>
          <a:xfrm>
            <a:off x="106017" y="1240858"/>
            <a:ext cx="9037983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2400" dirty="0">
                <a:solidFill>
                  <a:schemeClr val="tx2"/>
                </a:solidFill>
              </a:rPr>
              <a:t>Какво е </a:t>
            </a:r>
            <a:r>
              <a:rPr lang="en-US" sz="2400" dirty="0">
                <a:solidFill>
                  <a:schemeClr val="tx2"/>
                </a:solidFill>
              </a:rPr>
              <a:t>LAN</a:t>
            </a:r>
            <a:r>
              <a:rPr lang="bg-BG" sz="2400" dirty="0">
                <a:solidFill>
                  <a:schemeClr val="tx2"/>
                </a:solidFill>
              </a:rPr>
              <a:t>?</a:t>
            </a:r>
          </a:p>
          <a:p>
            <a:r>
              <a:rPr lang="en-US" sz="2400" dirty="0" smtClean="0">
                <a:solidFill>
                  <a:schemeClr val="tx2"/>
                </a:solidFill>
                <a:hlinkClick r:id="rId2" action="ppaction://hlinksldjump"/>
              </a:rPr>
              <a:t>LAN </a:t>
            </a:r>
            <a:r>
              <a:rPr lang="bg-BG" sz="2400" dirty="0" smtClean="0">
                <a:solidFill>
                  <a:schemeClr val="tx2"/>
                </a:solidFill>
                <a:hlinkClick r:id="rId2" action="ppaction://hlinksldjump"/>
              </a:rPr>
              <a:t>същност</a:t>
            </a:r>
            <a:endParaRPr lang="bg-BG" sz="2400" dirty="0" smtClean="0">
              <a:solidFill>
                <a:schemeClr val="tx2"/>
              </a:solidFill>
            </a:endParaRPr>
          </a:p>
          <a:p>
            <a:r>
              <a:rPr lang="bg-BG" sz="2400" dirty="0" smtClean="0">
                <a:solidFill>
                  <a:schemeClr val="tx2"/>
                </a:solidFill>
              </a:rPr>
              <a:t>Какви </a:t>
            </a:r>
            <a:r>
              <a:rPr lang="bg-BG" sz="2400" dirty="0">
                <a:solidFill>
                  <a:schemeClr val="tx2"/>
                </a:solidFill>
              </a:rPr>
              <a:t>са видовете топологии?  </a:t>
            </a:r>
          </a:p>
          <a:p>
            <a:r>
              <a:rPr lang="ru-RU" sz="2400" dirty="0" smtClean="0">
                <a:solidFill>
                  <a:schemeClr val="tx2"/>
                </a:solidFill>
                <a:hlinkClick r:id="rId3" action="ppaction://hlinksldjump"/>
              </a:rPr>
              <a:t>Категоризиране на мрежите по топология </a:t>
            </a:r>
            <a:endParaRPr lang="ru-RU" sz="2400" dirty="0" smtClean="0">
              <a:solidFill>
                <a:schemeClr val="tx2"/>
              </a:solidFill>
            </a:endParaRPr>
          </a:p>
          <a:p>
            <a:endParaRPr lang="bg-BG" sz="2400" dirty="0">
              <a:solidFill>
                <a:schemeClr val="tx2"/>
              </a:solidFill>
            </a:endParaRPr>
          </a:p>
          <a:p>
            <a:r>
              <a:rPr lang="bg-BG" sz="2400" dirty="0">
                <a:solidFill>
                  <a:schemeClr val="tx2"/>
                </a:solidFill>
              </a:rPr>
              <a:t>Какви са видовете протоколи?</a:t>
            </a:r>
          </a:p>
          <a:p>
            <a:r>
              <a:rPr lang="ru-RU" sz="2400" dirty="0" smtClean="0">
                <a:solidFill>
                  <a:schemeClr val="tx2"/>
                </a:solidFill>
                <a:hlinkClick r:id="rId4" action="ppaction://hlinksldjump"/>
              </a:rPr>
              <a:t>Категоризиране на мрежите според протокол</a:t>
            </a:r>
            <a:endParaRPr lang="bg-BG" sz="2400" dirty="0">
              <a:solidFill>
                <a:schemeClr val="tx2"/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lang="bg-BG" dirty="0">
              <a:solidFill>
                <a:schemeClr val="tx2"/>
              </a:solidFill>
            </a:endParaRPr>
          </a:p>
          <a:p>
            <a:endParaRPr lang="bg-BG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7458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лавие 2">
            <a:extLst>
              <a:ext uri="{FF2B5EF4-FFF2-40B4-BE49-F238E27FC236}">
                <a16:creationId xmlns:a16="http://schemas.microsoft.com/office/drawing/2014/main" xmlns="" id="{1F6430F4-972D-C348-0A58-DC70652B3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z="3200" b="0" dirty="0">
                <a:latin typeface="Arial" panose="020B0604020202020204" pitchFamily="34" charset="0"/>
                <a:cs typeface="Arial" panose="020B0604020202020204" pitchFamily="34" charset="0"/>
              </a:rPr>
              <a:t>източници</a:t>
            </a:r>
            <a:endParaRPr lang="en-US" sz="32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Текстово поле 5">
            <a:extLst>
              <a:ext uri="{FF2B5EF4-FFF2-40B4-BE49-F238E27FC236}">
                <a16:creationId xmlns:a16="http://schemas.microsoft.com/office/drawing/2014/main" xmlns="" id="{559712EC-CAA7-1929-08D6-01F98465307B}"/>
              </a:ext>
            </a:extLst>
          </p:cNvPr>
          <p:cNvSpPr txBox="1"/>
          <p:nvPr/>
        </p:nvSpPr>
        <p:spPr>
          <a:xfrm>
            <a:off x="720100" y="1560780"/>
            <a:ext cx="7103166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hlinkClick r:id="rId2"/>
              </a:rPr>
              <a:t>https://bg.wikipedia.org/wiki/%D0%9A%D0%BE%D0%BC%D0%BF%D1%8E%D1%82%D1%8A%D1%80%D0%BD%D0%B0_%D0%BC%D1%80%D0%B5%D0%B6%D0%B0#%D0%9A%D0%B0%D1%82%D0%B5%D0%B3%D0%BE%D1%80%D0%B8%D0%B7%D0%B8%D1%80%D0%B0%D0%BD%D0%B5_%D0%BD%D0%B0_%D0%BC%D1%80%D0%B5%D0%B6%D0%B8%D1%82%D0%B5_%D0%BF%D0%BE_%D1%82%D0%BE%D0%BF%D0%BE%D0%BB%D0%BE%D0%B3%D0%B8%D1%8F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                                                                                                     </a:t>
            </a:r>
            <a:r>
              <a:rPr lang="bg-BG" dirty="0" err="1">
                <a:solidFill>
                  <a:schemeClr val="tx2"/>
                </a:solidFill>
              </a:rPr>
              <a:t>изготвил:Мерт</a:t>
            </a:r>
            <a:r>
              <a:rPr lang="bg-BG" dirty="0">
                <a:solidFill>
                  <a:schemeClr val="tx2"/>
                </a:solidFill>
              </a:rPr>
              <a:t> Арабов</a:t>
            </a:r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9447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Ai Tech Agency by Slidesgo">
  <a:themeElements>
    <a:clrScheme name="Simple Light">
      <a:dk1>
        <a:srgbClr val="0C343D"/>
      </a:dk1>
      <a:lt1>
        <a:srgbClr val="00C3B1"/>
      </a:lt1>
      <a:dk2>
        <a:srgbClr val="CC4125"/>
      </a:dk2>
      <a:lt2>
        <a:srgbClr val="F3F3F3"/>
      </a:lt2>
      <a:accent1>
        <a:srgbClr val="0C343D"/>
      </a:accent1>
      <a:accent2>
        <a:srgbClr val="00C3B1"/>
      </a:accent2>
      <a:accent3>
        <a:srgbClr val="CC4125"/>
      </a:accent3>
      <a:accent4>
        <a:srgbClr val="F3F3F3"/>
      </a:accent4>
      <a:accent5>
        <a:srgbClr val="0C343D"/>
      </a:accent5>
      <a:accent6>
        <a:srgbClr val="00C3B1"/>
      </a:accent6>
      <a:hlink>
        <a:srgbClr val="F3F3F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D75E95A0F27BD47AC31300285970B0D" ma:contentTypeVersion="12" ma:contentTypeDescription="Create a new document." ma:contentTypeScope="" ma:versionID="4e62386be509f1ae54562fb5500113cf">
  <xsd:schema xmlns:xsd="http://www.w3.org/2001/XMLSchema" xmlns:xs="http://www.w3.org/2001/XMLSchema" xmlns:p="http://schemas.microsoft.com/office/2006/metadata/properties" xmlns:ns3="22ed0b84-1c1a-4e2f-9e80-b3044996c17d" xmlns:ns4="0f1bafad-2bef-486d-a10d-70434011b57b" targetNamespace="http://schemas.microsoft.com/office/2006/metadata/properties" ma:root="true" ma:fieldsID="a0e63b63c144b7b164f17752d05f0e9c" ns3:_="" ns4:_="">
    <xsd:import namespace="22ed0b84-1c1a-4e2f-9e80-b3044996c17d"/>
    <xsd:import namespace="0f1bafad-2bef-486d-a10d-70434011b57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ed0b84-1c1a-4e2f-9e80-b3044996c17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1bafad-2bef-486d-a10d-70434011b57b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8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90DF3F0-35E1-4FAD-9E0F-EDCD1E769330}">
  <ds:schemaRefs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purl.org/dc/dcmitype/"/>
    <ds:schemaRef ds:uri="0f1bafad-2bef-486d-a10d-70434011b57b"/>
    <ds:schemaRef ds:uri="http://schemas.microsoft.com/office/infopath/2007/PartnerControls"/>
    <ds:schemaRef ds:uri="http://schemas.microsoft.com/office/2006/documentManagement/types"/>
    <ds:schemaRef ds:uri="22ed0b84-1c1a-4e2f-9e80-b3044996c17d"/>
    <ds:schemaRef ds:uri="http://www.w3.org/XML/1998/namespace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C4DCA274-0E2D-4D2E-9F82-FC605274E6A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2ed0b84-1c1a-4e2f-9e80-b3044996c17d"/>
    <ds:schemaRef ds:uri="0f1bafad-2bef-486d-a10d-70434011b57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3556B81-5269-4C76-85E3-D9B9B993168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Lan мрежи</Template>
  <TotalTime>8</TotalTime>
  <Words>529</Words>
  <Application>Microsoft Office PowerPoint</Application>
  <PresentationFormat>On-screen Show (16:9)</PresentationFormat>
  <Paragraphs>69</Paragraphs>
  <Slides>19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Arial</vt:lpstr>
      <vt:lpstr>Times New Roman</vt:lpstr>
      <vt:lpstr>Advent Pro Light</vt:lpstr>
      <vt:lpstr>Rajdhani</vt:lpstr>
      <vt:lpstr>Fira Sans Condensed Light</vt:lpstr>
      <vt:lpstr>Anton</vt:lpstr>
      <vt:lpstr>Wingdings</vt:lpstr>
      <vt:lpstr>Ai Tech Agency by Slidesgo</vt:lpstr>
      <vt:lpstr> Категоризация на мрежите.LAN мрежи същност, характерни особености и компоненти.</vt:lpstr>
      <vt:lpstr>Съдържание</vt:lpstr>
      <vt:lpstr>Категоризация на мрежите по видове</vt:lpstr>
      <vt:lpstr>Категоризиране на мрежите по топология </vt:lpstr>
      <vt:lpstr>PowerPoint Presentation</vt:lpstr>
      <vt:lpstr>PowerPoint Presentation</vt:lpstr>
      <vt:lpstr>Категоризация на мрежите по архитектура </vt:lpstr>
      <vt:lpstr>TokenRing мрежи – Разработена от IBM през 80-те. Проектирана с цел преодоляване на някои от проблемите, свързани с Ethernet, където компютрите в мрежата се състезават за право да предават. Използва се топологията логически кръг, един сигнал маркер (token), се предава в кръг и даден компютър не може да предава, докато не получи маркера. Не съществуват колизии на данни.</vt:lpstr>
      <vt:lpstr>Категоризиране на мрежите според протокол</vt:lpstr>
      <vt:lpstr>PowerPoint Presentation</vt:lpstr>
      <vt:lpstr>PowerPoint Presentation</vt:lpstr>
      <vt:lpstr>LAN същност</vt:lpstr>
      <vt:lpstr>PowerPoint Presentation</vt:lpstr>
      <vt:lpstr>LAN компоненти</vt:lpstr>
      <vt:lpstr>Съобщителната среда </vt:lpstr>
      <vt:lpstr>Мрежова карта  и мрежови софтуер</vt:lpstr>
      <vt:lpstr>PowerPoint Presentation</vt:lpstr>
      <vt:lpstr>Тест:</vt:lpstr>
      <vt:lpstr>източници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Категоризация на мрежите.LAN мрежи същност, характерни особености и компоненти.</dc:title>
  <dc:creator>Мерт М. Арабов</dc:creator>
  <cp:lastModifiedBy>PC-0</cp:lastModifiedBy>
  <cp:revision>5</cp:revision>
  <dcterms:created xsi:type="dcterms:W3CDTF">2022-12-14T22:25:00Z</dcterms:created>
  <dcterms:modified xsi:type="dcterms:W3CDTF">2022-12-20T08:12:01Z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0x010100DD75E95A0F27BD47AC31300285970B0D</vt:lpwstr>
  </property>
</Properties>
</file>