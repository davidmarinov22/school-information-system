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71" r:id="rId6"/>
    <p:sldId id="260" r:id="rId7"/>
    <p:sldId id="261" r:id="rId8"/>
    <p:sldId id="270" r:id="rId9"/>
    <p:sldId id="262" r:id="rId10"/>
    <p:sldId id="263" r:id="rId11"/>
    <p:sldId id="264" r:id="rId12"/>
    <p:sldId id="265" r:id="rId13"/>
    <p:sldId id="266" r:id="rId14"/>
    <p:sldId id="267" r:id="rId15"/>
    <p:sldId id="268" r:id="rId16"/>
    <p:sldId id="269"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90" d="100"/>
          <a:sy n="90" d="100"/>
        </p:scale>
        <p:origin x="114"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BAF839-5F1C-4CBD-96D6-B766FCAE8A62}"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3003334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3BAF839-5F1C-4CBD-96D6-B766FCAE8A62}"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1010095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3BAF839-5F1C-4CBD-96D6-B766FCAE8A62}"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2758816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83BAF839-5F1C-4CBD-96D6-B766FCAE8A62}" type="datetimeFigureOut">
              <a:rPr lang="en-US" smtClean="0"/>
              <a:t>12/20/2022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2265112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p:cNvSpPr>
            <a:spLocks noGrp="1"/>
          </p:cNvSpPr>
          <p:nvPr>
            <p:ph type="dt" sz="half" idx="10"/>
          </p:nvPr>
        </p:nvSpPr>
        <p:spPr/>
        <p:txBody>
          <a:bodyPr/>
          <a:lstStyle/>
          <a:p>
            <a:fld id="{83BAF839-5F1C-4CBD-96D6-B766FCAE8A62}" type="datetimeFigureOut">
              <a:rPr lang="en-US" smtClean="0"/>
              <a:t>12/20/2022</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3475782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2" name="Date Placeholder 1"/>
          <p:cNvSpPr>
            <a:spLocks noGrp="1"/>
          </p:cNvSpPr>
          <p:nvPr>
            <p:ph type="dt" sz="half" idx="10"/>
          </p:nvPr>
        </p:nvSpPr>
        <p:spPr/>
        <p:txBody>
          <a:bodyPr/>
          <a:lstStyle/>
          <a:p>
            <a:fld id="{83BAF839-5F1C-4CBD-96D6-B766FCAE8A62}" type="datetimeFigureOut">
              <a:rPr lang="en-US" smtClean="0"/>
              <a:t>12/20/2022</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262732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BAF839-5F1C-4CBD-96D6-B766FCAE8A62}"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3169576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83BAF839-5F1C-4CBD-96D6-B766FCAE8A62}" type="datetimeFigureOut">
              <a:rPr lang="en-US" smtClean="0"/>
              <a:t>12/20/2022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1780238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83BAF839-5F1C-4CBD-96D6-B766FCAE8A62}" type="datetimeFigureOut">
              <a:rPr lang="en-US" smtClean="0"/>
              <a:t>12/20/2022</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3951285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3BAF839-5F1C-4CBD-96D6-B766FCAE8A62}" type="datetimeFigureOut">
              <a:rPr lang="en-US" smtClean="0"/>
              <a:t>12/20/2022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244723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3BAF839-5F1C-4CBD-96D6-B766FCAE8A62}" type="datetimeFigureOut">
              <a:rPr lang="en-US" smtClean="0"/>
              <a:t>12/20/2022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0248E6-8E55-40F5-927D-BC4F2CD224DE}" type="slidenum">
              <a:rPr lang="en-US" smtClean="0"/>
              <a:t>‹#›</a:t>
            </a:fld>
            <a:endParaRPr lang="en-US"/>
          </a:p>
        </p:txBody>
      </p:sp>
    </p:spTree>
    <p:extLst>
      <p:ext uri="{BB962C8B-B14F-4D97-AF65-F5344CB8AC3E}">
        <p14:creationId xmlns:p14="http://schemas.microsoft.com/office/powerpoint/2010/main" val="3192298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83BAF839-5F1C-4CBD-96D6-B766FCAE8A62}" type="datetimeFigureOut">
              <a:rPr lang="en-US" smtClean="0"/>
              <a:t>12/20/2022</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E50248E6-8E55-40F5-927D-BC4F2CD224DE}" type="slidenum">
              <a:rPr lang="en-US" smtClean="0"/>
              <a:t>‹#›</a:t>
            </a:fld>
            <a:endParaRPr lang="en-US"/>
          </a:p>
        </p:txBody>
      </p:sp>
    </p:spTree>
    <p:extLst>
      <p:ext uri="{BB962C8B-B14F-4D97-AF65-F5344CB8AC3E}">
        <p14:creationId xmlns:p14="http://schemas.microsoft.com/office/powerpoint/2010/main" val="538277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4467" y="1363133"/>
            <a:ext cx="7620000" cy="3776133"/>
          </a:xfrm>
        </p:spPr>
        <p:txBody>
          <a:bodyPr>
            <a:normAutofit fontScale="90000"/>
          </a:bodyPr>
          <a:lstStyle/>
          <a:p>
            <a:r>
              <a:rPr lang="bg-BG" dirty="0" smtClean="0">
                <a:latin typeface="Times New Roman" panose="02020603050405020304" pitchFamily="18" charset="0"/>
                <a:cs typeface="Times New Roman" panose="02020603050405020304" pitchFamily="18" charset="0"/>
              </a:rPr>
              <a:t>Оси</a:t>
            </a:r>
            <a:r>
              <a:rPr lang="bg-BG" dirty="0" smtClean="0"/>
              <a:t> модел архитектура и приложения.протоколи осигуряващи и разрешаващи достъп в мрежата.</a:t>
            </a:r>
            <a:endParaRPr lang="en-US" dirty="0"/>
          </a:p>
        </p:txBody>
      </p:sp>
    </p:spTree>
    <p:extLst>
      <p:ext uri="{BB962C8B-B14F-4D97-AF65-F5344CB8AC3E}">
        <p14:creationId xmlns:p14="http://schemas.microsoft.com/office/powerpoint/2010/main" val="1503858522"/>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Съдържание</a:t>
            </a:r>
            <a:r>
              <a:rPr lang="bg-BG" dirty="0" smtClean="0"/>
              <a:t> </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Какво е оси модел</a:t>
            </a:r>
          </a:p>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История </a:t>
            </a:r>
          </a:p>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Соеве </a:t>
            </a:r>
          </a:p>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Приложен слой</a:t>
            </a:r>
          </a:p>
          <a:p>
            <a:pPr marL="457200" indent="-457200">
              <a:buFont typeface="+mj-lt"/>
              <a:buAutoNum type="arabicPeriod"/>
            </a:pPr>
            <a:r>
              <a:rPr lang="bg-BG" dirty="0">
                <a:latin typeface="Times New Roman" panose="02020603050405020304" pitchFamily="18" charset="0"/>
                <a:cs typeface="Times New Roman" panose="02020603050405020304" pitchFamily="18" charset="0"/>
              </a:rPr>
              <a:t>Сесиен слой </a:t>
            </a:r>
            <a:endParaRPr lang="bg-BG"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bg-BG" dirty="0">
                <a:latin typeface="Times New Roman" panose="02020603050405020304" pitchFamily="18" charset="0"/>
                <a:cs typeface="Times New Roman" panose="02020603050405020304" pitchFamily="18" charset="0"/>
              </a:rPr>
              <a:t>Транспортен слой </a:t>
            </a:r>
            <a:endParaRPr lang="bg-BG"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Мрежов </a:t>
            </a:r>
            <a:r>
              <a:rPr lang="bg-BG" dirty="0">
                <a:latin typeface="Times New Roman" panose="02020603050405020304" pitchFamily="18" charset="0"/>
                <a:cs typeface="Times New Roman" panose="02020603050405020304" pitchFamily="18" charset="0"/>
              </a:rPr>
              <a:t>слой </a:t>
            </a:r>
            <a:endParaRPr lang="bg-BG"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bg-BG" dirty="0">
                <a:latin typeface="Times New Roman" panose="02020603050405020304" pitchFamily="18" charset="0"/>
                <a:cs typeface="Times New Roman" panose="02020603050405020304" pitchFamily="18" charset="0"/>
              </a:rPr>
              <a:t>Канален </a:t>
            </a:r>
            <a:r>
              <a:rPr lang="bg-BG" dirty="0" smtClean="0">
                <a:latin typeface="Times New Roman" panose="02020603050405020304" pitchFamily="18" charset="0"/>
                <a:cs typeface="Times New Roman" panose="02020603050405020304" pitchFamily="18" charset="0"/>
              </a:rPr>
              <a:t>слой</a:t>
            </a:r>
          </a:p>
          <a:p>
            <a:pPr marL="457200" indent="-457200">
              <a:buFont typeface="+mj-lt"/>
              <a:buAutoNum type="arabicPeriod"/>
            </a:pPr>
            <a:r>
              <a:rPr lang="bg-BG" dirty="0">
                <a:latin typeface="Times New Roman" panose="02020603050405020304" pitchFamily="18" charset="0"/>
                <a:cs typeface="Times New Roman" panose="02020603050405020304" pitchFamily="18" charset="0"/>
              </a:rPr>
              <a:t> Физически слой </a:t>
            </a:r>
            <a:endParaRPr lang="bg-BG"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bg-BG" dirty="0" smtClean="0">
                <a:latin typeface="Times New Roman" panose="02020603050405020304" pitchFamily="18" charset="0"/>
                <a:cs typeface="Times New Roman" panose="02020603050405020304" pitchFamily="18" charset="0"/>
              </a:rPr>
              <a:t>Източници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661692"/>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Какво е оси модел </a:t>
            </a:r>
            <a:endParaRPr lang="en-US" dirty="0"/>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OSI (на английски: Open Systems Interconnection Basic Reference Model) е теоретичен модел, описващ принципния начин на комуникация и строежа на телекомуникационните и компютърните мрежи. Като главна градивна единица са използвани така наречените слоеве – всеки слой предоставя интерфейс и услуги към по-горния слой, като в същото време получава услуги от слоя под него.</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882485"/>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История</a:t>
            </a:r>
            <a:r>
              <a:rPr lang="bg-BG" dirty="0" smtClean="0"/>
              <a:t> </a:t>
            </a:r>
            <a:endParaRPr lang="en-US" dirty="0"/>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През 1982 г. Международната организация по стандартизация (ISO) в сътрудничество с ITU-T започва нов проект в областта на мрежовите технологии, наречен взаимодействие на отворени системи, на английски: Open Systems Interconnection или OSI.</a:t>
            </a:r>
          </a:p>
          <a:p>
            <a:pPr algn="just"/>
            <a:r>
              <a:rPr lang="ru-RU" dirty="0" smtClean="0">
                <a:latin typeface="Times New Roman" panose="02020603050405020304" pitchFamily="18" charset="0"/>
                <a:cs typeface="Times New Roman" panose="02020603050405020304" pitchFamily="18" charset="0"/>
              </a:rPr>
              <a:t>Еталонът на OSI е голяма крачка напред в създаване на концепцията за модерните мрежи. Тя популяризира идеята за единен модел на протоколи, разположени на различни нива и определящи взаимодействието между мрежовите устройства и софтуера.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8300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ru-RU" dirty="0" smtClean="0">
                <a:latin typeface="Times New Roman" panose="02020603050405020304" pitchFamily="18" charset="0"/>
                <a:cs typeface="Times New Roman" panose="02020603050405020304" pitchFamily="18" charset="0"/>
              </a:rPr>
              <a:t>Преди това мрежовите технологии са били изцяло частна собственост (собственически софтуер, на английски: proprietary software), основан на предимно щатски корпоративни стандарти като SNA, Decnet и XNS. OSI представлява опит за създаване на мрежови стандарти, осигуряващи оперативна съвместимост на устройствата и решенията, предоставени от различни доставчици. Дотогава много от големите мрежи са принудени да поддържат по няколко протокола за взаимодействие и включват голям брой устройства, които не могат да комуникират с устройства от други производители поради липсата на общи протоколи.</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107140"/>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Слоеве</a:t>
            </a:r>
            <a:r>
              <a:rPr lang="bg-BG" dirty="0" smtClean="0"/>
              <a:t>  </a:t>
            </a:r>
            <a:endParaRPr lang="en-US" dirty="0"/>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OSI моделът е концептуален и съдържа описания за различните функции и операции, необходими за обмен на данни. Тези описания са групирани логически в отделни етапи (слоеве), като всеки слой съдържа близки по същност и замисъл операции, общо представяне на данните и има относителна функционална независимост от другите слоеве. Макар практическата реализация на мрежовите комуникации често да нарушава тези граници или да обединява съседни слоеве, тя винаги запазва логическата последователност и зависимости.</a:t>
            </a:r>
          </a:p>
          <a:p>
            <a:pPr algn="just"/>
            <a:r>
              <a:rPr lang="ru-RU" dirty="0" smtClean="0">
                <a:latin typeface="Times New Roman" panose="02020603050405020304" pitchFamily="18" charset="0"/>
                <a:cs typeface="Times New Roman" panose="02020603050405020304" pitchFamily="18" charset="0"/>
              </a:rPr>
              <a:t>Във всеки един от слоевете в OSI модела, освен в първия и последния, се извършва групиране (пакетиране) на данните на порции, при което се образуват два или повече пакета. При пакетирането всеки слой добавя своята служебна информация, като поредност, код за грешка, евентуално адреси или номер на услугата и други параметри в зависимост от необходимата функционалност на даденото ниво.</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3763453"/>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2132" y="584200"/>
            <a:ext cx="7831667" cy="5592763"/>
          </a:xfrm>
        </p:spPr>
        <p:txBody>
          <a:bodyPr>
            <a:normAutofit/>
          </a:bodyPr>
          <a:lstStyle/>
          <a:p>
            <a:pPr algn="just"/>
            <a:r>
              <a:rPr lang="ru-RU" dirty="0" smtClean="0">
                <a:latin typeface="Times New Roman" panose="02020603050405020304" pitchFamily="18" charset="0"/>
                <a:cs typeface="Times New Roman" panose="02020603050405020304" pitchFamily="18" charset="0"/>
              </a:rPr>
              <a:t>Процесът на предаване и приемане на информация между източника и приемника се осъществява по строго определени правила, наречени протокол. Протоколът представлява сбор от правила, определящи форма̀та на данните и начина на предаване и приемане за съответния слой (за транспортирането се грижат протоколите от по-долните нива, с изключение на каналното ниво, където транспорт трудно може да се дефинира). Обикновено протоколът не засяга повече от един или два слоя на OSI модела, т.е. предназначен е за комуникация вътре в слоя или между съседни слоеве.</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378640"/>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54400" y="1303867"/>
            <a:ext cx="7899400" cy="4873096"/>
          </a:xfrm>
        </p:spPr>
        <p:txBody>
          <a:bodyPr/>
          <a:lstStyle/>
          <a:p>
            <a:pPr algn="just"/>
            <a:r>
              <a:rPr lang="ru-RU" dirty="0" smtClean="0">
                <a:latin typeface="Times New Roman" panose="02020603050405020304" pitchFamily="18" charset="0"/>
                <a:cs typeface="Times New Roman" panose="02020603050405020304" pitchFamily="18" charset="0"/>
              </a:rPr>
              <a:t>Това позволява оперативна съвместимост и преносимост на протоколите в различни преносни среди (допустими са различни реализации на по-долните слоеве). Свързването на протоколи от различни слоеве става с помощта на предварително дефинирани интерфейси, като всеки по-долен слой ограничава и определя възможностите за предаване на информация на по-горните. По време на този процес протоколите от всеки слой си разменят специфична информация/данни, наречени PDU (Protocol Data Unit)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404767"/>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8738" y="1728852"/>
            <a:ext cx="7315200" cy="3390771"/>
          </a:xfrm>
        </p:spPr>
      </p:pic>
    </p:spTree>
    <p:extLst>
      <p:ext uri="{BB962C8B-B14F-4D97-AF65-F5344CB8AC3E}">
        <p14:creationId xmlns:p14="http://schemas.microsoft.com/office/powerpoint/2010/main" val="3794923822"/>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Приложен</a:t>
            </a:r>
            <a:r>
              <a:rPr lang="bg-BG" dirty="0" smtClean="0"/>
              <a:t> слой</a:t>
            </a:r>
            <a:endParaRPr lang="en-US" dirty="0"/>
          </a:p>
        </p:txBody>
      </p:sp>
      <p:sp>
        <p:nvSpPr>
          <p:cNvPr id="3" name="Content Placeholder 2"/>
          <p:cNvSpPr>
            <a:spLocks noGrp="1"/>
          </p:cNvSpPr>
          <p:nvPr>
            <p:ph idx="1"/>
          </p:nvPr>
        </p:nvSpPr>
        <p:spPr/>
        <p:txBody>
          <a:bodyPr>
            <a:normAutofit fontScale="92500" lnSpcReduction="20000"/>
          </a:bodyPr>
          <a:lstStyle/>
          <a:p>
            <a:pPr algn="just"/>
            <a:r>
              <a:rPr lang="ru-RU" dirty="0" smtClean="0">
                <a:latin typeface="Times New Roman" panose="02020603050405020304" pitchFamily="18" charset="0"/>
                <a:cs typeface="Times New Roman" panose="02020603050405020304" pitchFamily="18" charset="0"/>
              </a:rPr>
              <a:t>Приложният слой (на английски: Application layer) е най-горният слой от OSI модела, който се отнася за приложения (програми) като интернет браузъри, мениджъри за отдалечено управление, клиенти за обмен на съобщения, HTTP, FTP, DNS сървъри и др. Този слой позволява на потребителските приложения да заявяват услуги или информация, а на сървър приложенията – да се регистрират и предоставят услуги в мрежата.</a:t>
            </a:r>
          </a:p>
          <a:p>
            <a:pPr algn="just"/>
            <a:r>
              <a:rPr lang="ru-RU" dirty="0" smtClean="0">
                <a:latin typeface="Times New Roman" panose="02020603050405020304" pitchFamily="18" charset="0"/>
                <a:cs typeface="Times New Roman" panose="02020603050405020304" pitchFamily="18" charset="0"/>
              </a:rPr>
              <a:t>Някои от основните услуги, които се регистрират на приложния слой са електронна поща (e-mail), достъп до Web, файлови и принтерни услуги (приложения с мрежови услуги) и др. Някои от по-важните протоколи, функциониращи на този слой, са FTP, TFTP, DNS, HTTP, SMTP, Telnet и др.</a:t>
            </a:r>
          </a:p>
          <a:p>
            <a:pPr algn="just"/>
            <a:r>
              <a:rPr lang="ru-RU" dirty="0" smtClean="0">
                <a:latin typeface="Times New Roman" panose="02020603050405020304" pitchFamily="18" charset="0"/>
                <a:cs typeface="Times New Roman" panose="02020603050405020304" pitchFamily="18" charset="0"/>
              </a:rPr>
              <a:t>Представителен слой</a:t>
            </a:r>
          </a:p>
          <a:p>
            <a:pPr algn="just"/>
            <a:r>
              <a:rPr lang="ru-RU" dirty="0" smtClean="0">
                <a:latin typeface="Times New Roman" panose="02020603050405020304" pitchFamily="18" charset="0"/>
                <a:cs typeface="Times New Roman" panose="02020603050405020304" pitchFamily="18" charset="0"/>
              </a:rPr>
              <a:t> Основна статия: Представителен слой</a:t>
            </a:r>
          </a:p>
          <a:p>
            <a:pPr algn="just"/>
            <a:r>
              <a:rPr lang="ru-RU" dirty="0" smtClean="0">
                <a:latin typeface="Times New Roman" panose="02020603050405020304" pitchFamily="18" charset="0"/>
                <a:cs typeface="Times New Roman" panose="02020603050405020304" pitchFamily="18" charset="0"/>
              </a:rPr>
              <a:t>Представителният слой (на английски: Presentation layer) се грижи за представяне на данните във вид, разбираем за получателя, като осигурява общия им формат за различни платформи. Извършва конвертиране и „превеждане“ на данните, компресиране/декомпресиране, както и криптиране/декриптиране на информацията. Към протоколите, отнасящи се към представителния слой, спадат XDR, NFS и др.</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309288"/>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Сесиен </a:t>
            </a:r>
            <a:r>
              <a:rPr lang="bg-BG" dirty="0" smtClean="0">
                <a:latin typeface="Times New Roman" panose="02020603050405020304" pitchFamily="18" charset="0"/>
                <a:cs typeface="Times New Roman" panose="02020603050405020304" pitchFamily="18" charset="0"/>
              </a:rPr>
              <a:t>слой</a:t>
            </a:r>
            <a:r>
              <a:rPr lang="bg-BG" dirty="0" smtClean="0"/>
              <a:t> </a:t>
            </a:r>
            <a:endParaRPr lang="en-US" dirty="0"/>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Сесийният слой (на английски: Session layer) управлява създаването (и съответно прекъсването) на сесиите (диалога) между представителните слоеве на две (или повече) системи. Контролира и диалога между две приложения на различни сървъри и управлява потоците от данни посредством точки на синхронизация (checkpoints). Това включва поставянето на маркери в потока от данни. При некоректно предаване на информацията или при прекратяване на връзката в мрежата, данните трябва да бъдат предадени само в частта им след последния коректно предаден маркер.</a:t>
            </a:r>
          </a:p>
          <a:p>
            <a:pPr algn="just"/>
            <a:r>
              <a:rPr lang="ru-RU" dirty="0" smtClean="0">
                <a:latin typeface="Times New Roman" panose="02020603050405020304" pitchFamily="18" charset="0"/>
                <a:cs typeface="Times New Roman" panose="02020603050405020304" pitchFamily="18" charset="0"/>
              </a:rPr>
              <a:t>Ефективността на управление на потока зависи от комуникационния режим – пълен дуплекс или полу-дуплекс (при първия вид и двете станции могат да „говорят“ едновременно, докато при полу-дуплекса в даден момент данни може да предава само едната страна). Типичен протокол, функциониращ в този слой, е NetBIOS</a:t>
            </a:r>
            <a:r>
              <a:rPr lang="ru-RU" dirty="0" smtClean="0"/>
              <a:t>.</a:t>
            </a:r>
            <a:endParaRPr lang="en-US" dirty="0"/>
          </a:p>
        </p:txBody>
      </p:sp>
    </p:spTree>
    <p:extLst>
      <p:ext uri="{BB962C8B-B14F-4D97-AF65-F5344CB8AC3E}">
        <p14:creationId xmlns:p14="http://schemas.microsoft.com/office/powerpoint/2010/main" val="1309517678"/>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Транспортен слой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Транспортният слой (на английски: Transport layer) осигурява комуникация от край до край (end-to-end) между процеси, изпълнявани на различни сървъри. Предоставя на по-горните слоеве услуги с или без установяване на връзка (connection-oriented или connectionless), в зависимост от застъпените протоколи. Слоят използва адресите на клиентските и сървърните портове, за да идентифицира различните процеси. Извършва сегментиране на данните, подадени му от сесийния слой, с цел правилното им подреждане от получателя, като определя пореден номер за всеки сегмент. Протоколи, отнасящи се към транспортния слой, са TCP и UDP (първият – осигуряващ надеждност, а вторият – бързина при трансфера на данните).</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6729008"/>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Мрежов слой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ru-RU" dirty="0" smtClean="0">
                <a:latin typeface="Times New Roman" panose="02020603050405020304" pitchFamily="18" charset="0"/>
                <a:cs typeface="Times New Roman" panose="02020603050405020304" pitchFamily="18" charset="0"/>
              </a:rPr>
              <a:t>Мрежовият слой (на английски: Network layer) има за основна цел да задава логически адреси на източника и местоназначението, както и да определя най-добрия път за маршрутизиране на данните. За постигане на възможно най-добра маршрутизация устройствата от мрежовия слой (маршрутизаторите) използват превключване на пакети (packet switching), което накратко се състои в това, че четейки адреса на логическото местоназначение, получен от един интерфейс, маршрутизаторът изпраща трафика (пакетите) чрез друг интерфейс към местоназначението. Протоколи, работещи на този слой, са IP, IPsec, ICMP, IGMP, OSPF и др.</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599327"/>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Канален</a:t>
            </a:r>
            <a:r>
              <a:rPr lang="bg-BG" dirty="0" smtClean="0"/>
              <a:t> слой </a:t>
            </a:r>
            <a:endParaRPr lang="en-US" dirty="0"/>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Каналният слой (на английски: DataLink layer) има за цел да предава и да приема кадри (на английски: frames), а също така отговаря за тяхното физическо адресиране. Преди предаването на всеки пакет тук се прибавят глава (хедър) – в началото – и ремарке (трейлър) – в края, превръщайки го по този начин в кадър. Хедъри към данните прибавят и мрежовият и транспортният слоеве, но трейлърът се добавя само на ниво Data-link. Каналният слой се разделя на два подслоя, LLC и MAC, като първия добавя още контролна информация, служеща за правилното транспортиране на данните, а вторият осигурява достъп до преносната среда (медията).</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532924"/>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1332" y="821267"/>
            <a:ext cx="7882467" cy="5240866"/>
          </a:xfrm>
        </p:spPr>
        <p:txBody>
          <a:bodyPr>
            <a:normAutofit/>
          </a:bodyPr>
          <a:lstStyle/>
          <a:p>
            <a:pPr algn="just"/>
            <a:r>
              <a:rPr lang="ru-RU" dirty="0" smtClean="0">
                <a:latin typeface="Times New Roman" panose="02020603050405020304" pitchFamily="18" charset="0"/>
                <a:cs typeface="Times New Roman" panose="02020603050405020304" pitchFamily="18" charset="0"/>
              </a:rPr>
              <a:t>Някои от основните характеристики на слоя са контрол на достъпа до преносната среда, добавяне на хардуерни (MAC) адреси на източника и местоназначението, подготвяне на пакетите за предаване (чрез капсулирането им в кадри, описано по-горе), изчисляване на контролната сума на кадъра (FCS), както и кодирането на електрическите, светлинните или електромагнитните импулси в преносната среда. При предаване на данни изпращащите устройства изпълняват алгоритъм за циклична проверка с остатък (CRC) или контрол на последователността на данните (FCS), като записват получената стойност в трейлъра на кадъра. Станцията-получател изпълнява същия алгоритъм и сверява стойностите, като по тази начин се установява дали кадърът се е повредил по време на преноса. Към този слой се отнасят протоколи като Frame Relay, ISDN, HDLC, PPP и др.</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0603350"/>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Физически слой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ru-RU" dirty="0" smtClean="0">
                <a:latin typeface="Times New Roman" panose="02020603050405020304" pitchFamily="18" charset="0"/>
                <a:cs typeface="Times New Roman" panose="02020603050405020304" pitchFamily="18" charset="0"/>
              </a:rPr>
              <a:t>Физическият слой (на английски: Physical layer) е най-долният слой от модела и работи само с единици и нули (битове), изграждащи кадъра. Основната му функция е да предава битове по комуникационна линия. Битовете са кодирани като физически състояния на преносната среда. При жичните кабели това са електрически сигнали, при оптичните влакна – светлинни импулси, а при безжичните връзки – електромагнитни вълни. В този слой имат значение електрическите и механичните характеристики, които определят представянето и формирането на сигналите. Към този слой има спецификации за отделните типове преносна среда и конектори, като форма, структура и състав.</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644749"/>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latin typeface="Times New Roman" panose="02020603050405020304" pitchFamily="18" charset="0"/>
                <a:cs typeface="Times New Roman" panose="02020603050405020304" pitchFamily="18" charset="0"/>
              </a:rPr>
              <a:t>Благодаря</a:t>
            </a:r>
            <a:r>
              <a:rPr lang="bg-BG" dirty="0" smtClean="0"/>
              <a:t> за вниманието!</a:t>
            </a:r>
            <a:endParaRPr lang="en-US" dirty="0"/>
          </a:p>
        </p:txBody>
      </p:sp>
      <p:sp>
        <p:nvSpPr>
          <p:cNvPr id="3" name="Content Placeholder 2"/>
          <p:cNvSpPr>
            <a:spLocks noGrp="1"/>
          </p:cNvSpPr>
          <p:nvPr>
            <p:ph idx="1"/>
          </p:nvPr>
        </p:nvSpPr>
        <p:spPr/>
        <p:txBody>
          <a:bodyPr/>
          <a:lstStyle/>
          <a:p>
            <a:r>
              <a:rPr lang="bg-BG" sz="2400" dirty="0" smtClean="0">
                <a:latin typeface="Times New Roman" panose="02020603050405020304" pitchFamily="18" charset="0"/>
                <a:cs typeface="Times New Roman" panose="02020603050405020304" pitchFamily="18" charset="0"/>
              </a:rPr>
              <a:t>Източници </a:t>
            </a:r>
          </a:p>
          <a:p>
            <a:pPr marL="342900" indent="-342900">
              <a:buFont typeface="+mj-lt"/>
              <a:buAutoNum type="arabicPeriod"/>
            </a:pPr>
            <a:r>
              <a:rPr lang="bg-BG" sz="1400" dirty="0" smtClean="0"/>
              <a:t>Уикипедия </a:t>
            </a:r>
          </a:p>
          <a:p>
            <a:pPr marL="342900" indent="-342900">
              <a:buFont typeface="+mj-lt"/>
              <a:buAutoNum type="arabicPeriod"/>
            </a:pPr>
            <a:r>
              <a:rPr lang="en-US" sz="1400" dirty="0"/>
              <a:t> ITU-T Recommendation Q.1400 (03/1993), Architecture framework for the development of signaling and OA&amp;M protocols using OSI concepts, pp. 4, 7.</a:t>
            </a:r>
          </a:p>
          <a:p>
            <a:pPr marL="342900" indent="-342900">
              <a:buFont typeface="+mj-lt"/>
              <a:buAutoNum type="arabicPeriod"/>
            </a:pPr>
            <a:r>
              <a:rPr lang="en-US" sz="1400" dirty="0"/>
              <a:t> ITU Rec. X.227 (ISO 8650), X.217 (ISO 8649)</a:t>
            </a:r>
          </a:p>
          <a:p>
            <a:pPr marL="342900" indent="-342900">
              <a:buFont typeface="+mj-lt"/>
              <a:buAutoNum type="arabicPeriod"/>
            </a:pPr>
            <a:r>
              <a:rPr lang="en-US" sz="1400" dirty="0"/>
              <a:t> X.700 series of recommendations from the ITU-T (in particular X.711), and ISO 9596</a:t>
            </a:r>
          </a:p>
          <a:p>
            <a:pPr marL="342900" indent="-342900">
              <a:buFont typeface="+mj-lt"/>
              <a:buAutoNum type="arabicPeriod"/>
            </a:pPr>
            <a:r>
              <a:rPr lang="en-US" sz="1400" dirty="0"/>
              <a:t> CISCO </a:t>
            </a:r>
            <a:r>
              <a:rPr lang="en-US" sz="1400" dirty="0" err="1"/>
              <a:t>Cisco</a:t>
            </a:r>
            <a:r>
              <a:rPr lang="en-US" sz="1400" dirty="0"/>
              <a:t> Systems, Inc. Internetworking Technology Handbook OSI Model Physical layer</a:t>
            </a:r>
          </a:p>
        </p:txBody>
      </p:sp>
    </p:spTree>
    <p:extLst>
      <p:ext uri="{BB962C8B-B14F-4D97-AF65-F5344CB8AC3E}">
        <p14:creationId xmlns:p14="http://schemas.microsoft.com/office/powerpoint/2010/main" val="532627193"/>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xmlns=""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73</TotalTime>
  <Words>1606</Words>
  <Application>Microsoft Office PowerPoint</Application>
  <PresentationFormat>Custom</PresentationFormat>
  <Paragraphs>48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Frame</vt:lpstr>
      <vt:lpstr>Оси модел архитектура и приложения.протоколи осигуряващи и разрешаващи достъп в мрежата.</vt:lpstr>
      <vt:lpstr>Съдържание </vt:lpstr>
      <vt:lpstr>Какво е оси модел </vt:lpstr>
      <vt:lpstr>История </vt:lpstr>
      <vt:lpstr>PowerPoint Presentation</vt:lpstr>
      <vt:lpstr>Слоеве  </vt:lpstr>
      <vt:lpstr>PowerPoint Presentation</vt:lpstr>
      <vt:lpstr>PowerPoint Presentation</vt:lpstr>
      <vt:lpstr>PowerPoint Presentation</vt:lpstr>
      <vt:lpstr>Приложен слой</vt:lpstr>
      <vt:lpstr>Сесиен слой </vt:lpstr>
      <vt:lpstr>Транспортен слой </vt:lpstr>
      <vt:lpstr>Мрежов слой </vt:lpstr>
      <vt:lpstr>Канален слой </vt:lpstr>
      <vt:lpstr>PowerPoint Presentation</vt:lpstr>
      <vt:lpstr>Физически слой </vt:lpstr>
      <vt:lpstr>Благодаря за вниманието!</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Оси модел архитектура и приложения.протоколи осигуряващи и разрешаващи достъп в мрежата.</dc:title>
  <dc:creator>Lenovo</dc:creator>
  <cp:lastModifiedBy>PC-0</cp:lastModifiedBy>
  <cp:revision>9</cp:revision>
  <dcterms:created xsi:type="dcterms:W3CDTF">2022-12-19T20:22:46Z</dcterms:created>
  <dcterms:modified xsi:type="dcterms:W3CDTF">2022-12-20T06:03:59Z</dcterms:modified>
</cp:coreProperties>
</file>