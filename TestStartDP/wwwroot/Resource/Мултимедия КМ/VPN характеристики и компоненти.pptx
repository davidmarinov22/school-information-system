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78" r:id="rId3"/>
    <p:sldId id="257" r:id="rId4"/>
    <p:sldId id="258" r:id="rId5"/>
    <p:sldId id="259" r:id="rId6"/>
    <p:sldId id="260" r:id="rId7"/>
    <p:sldId id="261" r:id="rId8"/>
    <p:sldId id="262" r:id="rId9"/>
    <p:sldId id="263" r:id="rId10"/>
    <p:sldId id="264" r:id="rId11"/>
    <p:sldId id="266" r:id="rId12"/>
    <p:sldId id="268" r:id="rId13"/>
    <p:sldId id="270" r:id="rId14"/>
    <p:sldId id="265" r:id="rId15"/>
    <p:sldId id="267" r:id="rId16"/>
    <p:sldId id="269" r:id="rId17"/>
    <p:sldId id="271" r:id="rId18"/>
    <p:sldId id="273" r:id="rId19"/>
    <p:sldId id="274" r:id="rId20"/>
    <p:sldId id="275" r:id="rId21"/>
    <p:sldId id="276" r:id="rId22"/>
    <p:sldId id="277"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p:scale>
          <a:sx n="81" d="100"/>
          <a:sy n="81" d="100"/>
        </p:scale>
        <p:origin x="-216" y="21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05EA33-F233-4E31-BA88-F24CF0F81875}" type="doc">
      <dgm:prSet loTypeId="urn:microsoft.com/office/officeart/2005/8/layout/vProcess5" loCatId="process" qsTypeId="urn:microsoft.com/office/officeart/2005/8/quickstyle/simple1" qsCatId="simple" csTypeId="urn:microsoft.com/office/officeart/2005/8/colors/colorful1" csCatId="colorful"/>
      <dgm:spPr/>
      <dgm:t>
        <a:bodyPr/>
        <a:lstStyle/>
        <a:p>
          <a:endParaRPr lang="en-US"/>
        </a:p>
      </dgm:t>
    </dgm:pt>
    <dgm:pt modelId="{53FB9455-F924-4FED-AD53-02E4E0E8ED99}">
      <dgm:prSet/>
      <dgm:spPr/>
      <dgm:t>
        <a:bodyPr/>
        <a:lstStyle/>
        <a:p>
          <a:r>
            <a:rPr lang="bg-BG" b="0" i="0"/>
            <a:t>VPN услугите са значително по-евтини от други конфигурации за сигурност.</a:t>
          </a:r>
          <a:endParaRPr lang="en-US"/>
        </a:p>
      </dgm:t>
    </dgm:pt>
    <dgm:pt modelId="{7686B3FF-D184-4C83-893E-00A73B520C4F}" type="parTrans" cxnId="{9DA63E5D-FE96-4123-BA9C-6E2D9CA58A4F}">
      <dgm:prSet/>
      <dgm:spPr/>
      <dgm:t>
        <a:bodyPr/>
        <a:lstStyle/>
        <a:p>
          <a:endParaRPr lang="en-US"/>
        </a:p>
      </dgm:t>
    </dgm:pt>
    <dgm:pt modelId="{B8227DD6-868E-44FD-9D48-7134D1AAA4A5}" type="sibTrans" cxnId="{9DA63E5D-FE96-4123-BA9C-6E2D9CA58A4F}">
      <dgm:prSet/>
      <dgm:spPr/>
      <dgm:t>
        <a:bodyPr/>
        <a:lstStyle/>
        <a:p>
          <a:endParaRPr lang="en-US"/>
        </a:p>
      </dgm:t>
    </dgm:pt>
    <dgm:pt modelId="{E3EF0CCE-1FB5-4842-AAE2-A93ADA0F8BD9}">
      <dgm:prSet/>
      <dgm:spPr/>
      <dgm:t>
        <a:bodyPr/>
        <a:lstStyle/>
        <a:p>
          <a:r>
            <a:rPr lang="bg-BG" b="0" i="0"/>
            <a:t>Не е нужно да се тревожите за хардуер за сигурност, който трябва да инсталирате.</a:t>
          </a:r>
          <a:endParaRPr lang="en-US"/>
        </a:p>
      </dgm:t>
    </dgm:pt>
    <dgm:pt modelId="{E86943DB-CD45-453B-A827-B9D07F3072DD}" type="parTrans" cxnId="{C8F09353-B506-4C25-BEE9-E5C6EFC2BF55}">
      <dgm:prSet/>
      <dgm:spPr/>
      <dgm:t>
        <a:bodyPr/>
        <a:lstStyle/>
        <a:p>
          <a:endParaRPr lang="en-US"/>
        </a:p>
      </dgm:t>
    </dgm:pt>
    <dgm:pt modelId="{88FD5773-7CC6-430A-8647-64E33A7A5001}" type="sibTrans" cxnId="{C8F09353-B506-4C25-BEE9-E5C6EFC2BF55}">
      <dgm:prSet/>
      <dgm:spPr/>
      <dgm:t>
        <a:bodyPr/>
        <a:lstStyle/>
        <a:p>
          <a:endParaRPr lang="en-US"/>
        </a:p>
      </dgm:t>
    </dgm:pt>
    <dgm:pt modelId="{2ECFEC8A-84A2-469D-84D0-5DEE5521C77B}">
      <dgm:prSet/>
      <dgm:spPr/>
      <dgm:t>
        <a:bodyPr/>
        <a:lstStyle/>
        <a:p>
          <a:r>
            <a:rPr lang="bg-BG" b="0" i="0"/>
            <a:t>Не са необходими външни специалисти, което елиминира необходимостта от заплащане на такси за настройване, инсталиране или месечни такси.</a:t>
          </a:r>
          <a:endParaRPr lang="en-US"/>
        </a:p>
      </dgm:t>
    </dgm:pt>
    <dgm:pt modelId="{A03968BE-1B64-4BA3-BBBB-E55DAB2CF9D5}" type="parTrans" cxnId="{13993E51-8A16-43F0-86F0-40D711561968}">
      <dgm:prSet/>
      <dgm:spPr/>
      <dgm:t>
        <a:bodyPr/>
        <a:lstStyle/>
        <a:p>
          <a:endParaRPr lang="en-US"/>
        </a:p>
      </dgm:t>
    </dgm:pt>
    <dgm:pt modelId="{76224298-0821-4C32-A703-0E316527A4D0}" type="sibTrans" cxnId="{13993E51-8A16-43F0-86F0-40D711561968}">
      <dgm:prSet/>
      <dgm:spPr/>
      <dgm:t>
        <a:bodyPr/>
        <a:lstStyle/>
        <a:p>
          <a:endParaRPr lang="en-US"/>
        </a:p>
      </dgm:t>
    </dgm:pt>
    <dgm:pt modelId="{519180ED-5CA2-41A3-9086-D8781DD9AA7F}">
      <dgm:prSet/>
      <dgm:spPr/>
      <dgm:t>
        <a:bodyPr/>
        <a:lstStyle/>
        <a:p>
          <a:r>
            <a:rPr lang="bg-BG" b="0" i="0"/>
            <a:t>Трябва само да вземете предвид разходите за месечна или годишна такса.</a:t>
          </a:r>
          <a:endParaRPr lang="en-US"/>
        </a:p>
      </dgm:t>
    </dgm:pt>
    <dgm:pt modelId="{E8D02EBC-9AF8-4C9F-9B55-EB203393F022}" type="parTrans" cxnId="{E8712588-82DB-4A7E-9E60-25FEFE928DDF}">
      <dgm:prSet/>
      <dgm:spPr/>
      <dgm:t>
        <a:bodyPr/>
        <a:lstStyle/>
        <a:p>
          <a:endParaRPr lang="en-US"/>
        </a:p>
      </dgm:t>
    </dgm:pt>
    <dgm:pt modelId="{6C1F792F-E229-4749-8148-2C9A21D2D387}" type="sibTrans" cxnId="{E8712588-82DB-4A7E-9E60-25FEFE928DDF}">
      <dgm:prSet/>
      <dgm:spPr/>
      <dgm:t>
        <a:bodyPr/>
        <a:lstStyle/>
        <a:p>
          <a:endParaRPr lang="en-US"/>
        </a:p>
      </dgm:t>
    </dgm:pt>
    <dgm:pt modelId="{2467BB73-ECED-4917-861B-517DDDF873AE}" type="pres">
      <dgm:prSet presAssocID="{4405EA33-F233-4E31-BA88-F24CF0F81875}" presName="outerComposite" presStyleCnt="0">
        <dgm:presLayoutVars>
          <dgm:chMax val="5"/>
          <dgm:dir/>
          <dgm:resizeHandles val="exact"/>
        </dgm:presLayoutVars>
      </dgm:prSet>
      <dgm:spPr/>
      <dgm:t>
        <a:bodyPr/>
        <a:lstStyle/>
        <a:p>
          <a:endParaRPr lang="bg-BG"/>
        </a:p>
      </dgm:t>
    </dgm:pt>
    <dgm:pt modelId="{3827EA8E-E327-46E6-A61E-587E4B873455}" type="pres">
      <dgm:prSet presAssocID="{4405EA33-F233-4E31-BA88-F24CF0F81875}" presName="dummyMaxCanvas" presStyleCnt="0">
        <dgm:presLayoutVars/>
      </dgm:prSet>
      <dgm:spPr/>
    </dgm:pt>
    <dgm:pt modelId="{DA8C9D75-CED6-4872-A431-7078F592D3C7}" type="pres">
      <dgm:prSet presAssocID="{4405EA33-F233-4E31-BA88-F24CF0F81875}" presName="FourNodes_1" presStyleLbl="node1" presStyleIdx="0" presStyleCnt="4">
        <dgm:presLayoutVars>
          <dgm:bulletEnabled val="1"/>
        </dgm:presLayoutVars>
      </dgm:prSet>
      <dgm:spPr/>
      <dgm:t>
        <a:bodyPr/>
        <a:lstStyle/>
        <a:p>
          <a:endParaRPr lang="bg-BG"/>
        </a:p>
      </dgm:t>
    </dgm:pt>
    <dgm:pt modelId="{5C59FAA3-E30A-4777-A2D1-D5B0D629F3EC}" type="pres">
      <dgm:prSet presAssocID="{4405EA33-F233-4E31-BA88-F24CF0F81875}" presName="FourNodes_2" presStyleLbl="node1" presStyleIdx="1" presStyleCnt="4">
        <dgm:presLayoutVars>
          <dgm:bulletEnabled val="1"/>
        </dgm:presLayoutVars>
      </dgm:prSet>
      <dgm:spPr/>
      <dgm:t>
        <a:bodyPr/>
        <a:lstStyle/>
        <a:p>
          <a:endParaRPr lang="bg-BG"/>
        </a:p>
      </dgm:t>
    </dgm:pt>
    <dgm:pt modelId="{99AC0459-5D7F-42A7-9401-43ADD6922C2D}" type="pres">
      <dgm:prSet presAssocID="{4405EA33-F233-4E31-BA88-F24CF0F81875}" presName="FourNodes_3" presStyleLbl="node1" presStyleIdx="2" presStyleCnt="4">
        <dgm:presLayoutVars>
          <dgm:bulletEnabled val="1"/>
        </dgm:presLayoutVars>
      </dgm:prSet>
      <dgm:spPr/>
      <dgm:t>
        <a:bodyPr/>
        <a:lstStyle/>
        <a:p>
          <a:endParaRPr lang="bg-BG"/>
        </a:p>
      </dgm:t>
    </dgm:pt>
    <dgm:pt modelId="{C7702C33-7173-414B-9025-6C99FDB9BA85}" type="pres">
      <dgm:prSet presAssocID="{4405EA33-F233-4E31-BA88-F24CF0F81875}" presName="FourNodes_4" presStyleLbl="node1" presStyleIdx="3" presStyleCnt="4">
        <dgm:presLayoutVars>
          <dgm:bulletEnabled val="1"/>
        </dgm:presLayoutVars>
      </dgm:prSet>
      <dgm:spPr/>
      <dgm:t>
        <a:bodyPr/>
        <a:lstStyle/>
        <a:p>
          <a:endParaRPr lang="bg-BG"/>
        </a:p>
      </dgm:t>
    </dgm:pt>
    <dgm:pt modelId="{0EFBD0B1-7A6B-49D7-A781-411DA74B1A76}" type="pres">
      <dgm:prSet presAssocID="{4405EA33-F233-4E31-BA88-F24CF0F81875}" presName="FourConn_1-2" presStyleLbl="fgAccFollowNode1" presStyleIdx="0" presStyleCnt="3">
        <dgm:presLayoutVars>
          <dgm:bulletEnabled val="1"/>
        </dgm:presLayoutVars>
      </dgm:prSet>
      <dgm:spPr/>
      <dgm:t>
        <a:bodyPr/>
        <a:lstStyle/>
        <a:p>
          <a:endParaRPr lang="bg-BG"/>
        </a:p>
      </dgm:t>
    </dgm:pt>
    <dgm:pt modelId="{6CB9D099-E805-4093-8270-6CF840FB1757}" type="pres">
      <dgm:prSet presAssocID="{4405EA33-F233-4E31-BA88-F24CF0F81875}" presName="FourConn_2-3" presStyleLbl="fgAccFollowNode1" presStyleIdx="1" presStyleCnt="3">
        <dgm:presLayoutVars>
          <dgm:bulletEnabled val="1"/>
        </dgm:presLayoutVars>
      </dgm:prSet>
      <dgm:spPr/>
      <dgm:t>
        <a:bodyPr/>
        <a:lstStyle/>
        <a:p>
          <a:endParaRPr lang="bg-BG"/>
        </a:p>
      </dgm:t>
    </dgm:pt>
    <dgm:pt modelId="{AE48A046-8386-4B08-A1CF-57234A1BA237}" type="pres">
      <dgm:prSet presAssocID="{4405EA33-F233-4E31-BA88-F24CF0F81875}" presName="FourConn_3-4" presStyleLbl="fgAccFollowNode1" presStyleIdx="2" presStyleCnt="3">
        <dgm:presLayoutVars>
          <dgm:bulletEnabled val="1"/>
        </dgm:presLayoutVars>
      </dgm:prSet>
      <dgm:spPr/>
      <dgm:t>
        <a:bodyPr/>
        <a:lstStyle/>
        <a:p>
          <a:endParaRPr lang="bg-BG"/>
        </a:p>
      </dgm:t>
    </dgm:pt>
    <dgm:pt modelId="{1B9A7629-942A-464E-91B7-0E9AA0661315}" type="pres">
      <dgm:prSet presAssocID="{4405EA33-F233-4E31-BA88-F24CF0F81875}" presName="FourNodes_1_text" presStyleLbl="node1" presStyleIdx="3" presStyleCnt="4">
        <dgm:presLayoutVars>
          <dgm:bulletEnabled val="1"/>
        </dgm:presLayoutVars>
      </dgm:prSet>
      <dgm:spPr/>
      <dgm:t>
        <a:bodyPr/>
        <a:lstStyle/>
        <a:p>
          <a:endParaRPr lang="bg-BG"/>
        </a:p>
      </dgm:t>
    </dgm:pt>
    <dgm:pt modelId="{E9008992-50A7-4C66-8A71-0FC835AC3CA5}" type="pres">
      <dgm:prSet presAssocID="{4405EA33-F233-4E31-BA88-F24CF0F81875}" presName="FourNodes_2_text" presStyleLbl="node1" presStyleIdx="3" presStyleCnt="4">
        <dgm:presLayoutVars>
          <dgm:bulletEnabled val="1"/>
        </dgm:presLayoutVars>
      </dgm:prSet>
      <dgm:spPr/>
      <dgm:t>
        <a:bodyPr/>
        <a:lstStyle/>
        <a:p>
          <a:endParaRPr lang="bg-BG"/>
        </a:p>
      </dgm:t>
    </dgm:pt>
    <dgm:pt modelId="{194C078D-5D2B-4394-8CAD-B8A5A7E79A06}" type="pres">
      <dgm:prSet presAssocID="{4405EA33-F233-4E31-BA88-F24CF0F81875}" presName="FourNodes_3_text" presStyleLbl="node1" presStyleIdx="3" presStyleCnt="4">
        <dgm:presLayoutVars>
          <dgm:bulletEnabled val="1"/>
        </dgm:presLayoutVars>
      </dgm:prSet>
      <dgm:spPr/>
      <dgm:t>
        <a:bodyPr/>
        <a:lstStyle/>
        <a:p>
          <a:endParaRPr lang="bg-BG"/>
        </a:p>
      </dgm:t>
    </dgm:pt>
    <dgm:pt modelId="{76180383-3B4B-4A20-8FEA-CAFB393420F6}" type="pres">
      <dgm:prSet presAssocID="{4405EA33-F233-4E31-BA88-F24CF0F81875}" presName="FourNodes_4_text" presStyleLbl="node1" presStyleIdx="3" presStyleCnt="4">
        <dgm:presLayoutVars>
          <dgm:bulletEnabled val="1"/>
        </dgm:presLayoutVars>
      </dgm:prSet>
      <dgm:spPr/>
      <dgm:t>
        <a:bodyPr/>
        <a:lstStyle/>
        <a:p>
          <a:endParaRPr lang="bg-BG"/>
        </a:p>
      </dgm:t>
    </dgm:pt>
  </dgm:ptLst>
  <dgm:cxnLst>
    <dgm:cxn modelId="{03552D4C-1C78-4506-88A8-E8F6140A33AB}" type="presOf" srcId="{E3EF0CCE-1FB5-4842-AAE2-A93ADA0F8BD9}" destId="{5C59FAA3-E30A-4777-A2D1-D5B0D629F3EC}" srcOrd="0" destOrd="0" presId="urn:microsoft.com/office/officeart/2005/8/layout/vProcess5"/>
    <dgm:cxn modelId="{7975D168-019A-4CAB-8955-062B8C608BDE}" type="presOf" srcId="{76224298-0821-4C32-A703-0E316527A4D0}" destId="{AE48A046-8386-4B08-A1CF-57234A1BA237}" srcOrd="0" destOrd="0" presId="urn:microsoft.com/office/officeart/2005/8/layout/vProcess5"/>
    <dgm:cxn modelId="{C8F09353-B506-4C25-BEE9-E5C6EFC2BF55}" srcId="{4405EA33-F233-4E31-BA88-F24CF0F81875}" destId="{E3EF0CCE-1FB5-4842-AAE2-A93ADA0F8BD9}" srcOrd="1" destOrd="0" parTransId="{E86943DB-CD45-453B-A827-B9D07F3072DD}" sibTransId="{88FD5773-7CC6-430A-8647-64E33A7A5001}"/>
    <dgm:cxn modelId="{AC916E7A-AFA8-4A77-BE10-EC64C15BCC4C}" type="presOf" srcId="{519180ED-5CA2-41A3-9086-D8781DD9AA7F}" destId="{C7702C33-7173-414B-9025-6C99FDB9BA85}" srcOrd="0" destOrd="0" presId="urn:microsoft.com/office/officeart/2005/8/layout/vProcess5"/>
    <dgm:cxn modelId="{1B35560E-6C68-424E-8C05-0E9E09904ABA}" type="presOf" srcId="{88FD5773-7CC6-430A-8647-64E33A7A5001}" destId="{6CB9D099-E805-4093-8270-6CF840FB1757}" srcOrd="0" destOrd="0" presId="urn:microsoft.com/office/officeart/2005/8/layout/vProcess5"/>
    <dgm:cxn modelId="{E0E6D819-12B6-4349-90C4-A61972203DF1}" type="presOf" srcId="{B8227DD6-868E-44FD-9D48-7134D1AAA4A5}" destId="{0EFBD0B1-7A6B-49D7-A781-411DA74B1A76}" srcOrd="0" destOrd="0" presId="urn:microsoft.com/office/officeart/2005/8/layout/vProcess5"/>
    <dgm:cxn modelId="{B19BE89B-A554-4AA4-A707-AC31D8626DD7}" type="presOf" srcId="{4405EA33-F233-4E31-BA88-F24CF0F81875}" destId="{2467BB73-ECED-4917-861B-517DDDF873AE}" srcOrd="0" destOrd="0" presId="urn:microsoft.com/office/officeart/2005/8/layout/vProcess5"/>
    <dgm:cxn modelId="{C5B86417-9B21-4D1D-A7DB-E686DF96D0A6}" type="presOf" srcId="{519180ED-5CA2-41A3-9086-D8781DD9AA7F}" destId="{76180383-3B4B-4A20-8FEA-CAFB393420F6}" srcOrd="1" destOrd="0" presId="urn:microsoft.com/office/officeart/2005/8/layout/vProcess5"/>
    <dgm:cxn modelId="{9DA63E5D-FE96-4123-BA9C-6E2D9CA58A4F}" srcId="{4405EA33-F233-4E31-BA88-F24CF0F81875}" destId="{53FB9455-F924-4FED-AD53-02E4E0E8ED99}" srcOrd="0" destOrd="0" parTransId="{7686B3FF-D184-4C83-893E-00A73B520C4F}" sibTransId="{B8227DD6-868E-44FD-9D48-7134D1AAA4A5}"/>
    <dgm:cxn modelId="{EB04AA79-EEC4-42DA-B70C-19D7E5DE125D}" type="presOf" srcId="{2ECFEC8A-84A2-469D-84D0-5DEE5521C77B}" destId="{99AC0459-5D7F-42A7-9401-43ADD6922C2D}" srcOrd="0" destOrd="0" presId="urn:microsoft.com/office/officeart/2005/8/layout/vProcess5"/>
    <dgm:cxn modelId="{6AA98CDA-6AC1-4DC5-AB86-636426BC7C01}" type="presOf" srcId="{E3EF0CCE-1FB5-4842-AAE2-A93ADA0F8BD9}" destId="{E9008992-50A7-4C66-8A71-0FC835AC3CA5}" srcOrd="1" destOrd="0" presId="urn:microsoft.com/office/officeart/2005/8/layout/vProcess5"/>
    <dgm:cxn modelId="{236A7BD4-B6E6-4232-9155-50E7663D62B0}" type="presOf" srcId="{53FB9455-F924-4FED-AD53-02E4E0E8ED99}" destId="{1B9A7629-942A-464E-91B7-0E9AA0661315}" srcOrd="1" destOrd="0" presId="urn:microsoft.com/office/officeart/2005/8/layout/vProcess5"/>
    <dgm:cxn modelId="{3DE62FA4-543B-4EE5-895D-AEFE43627FEA}" type="presOf" srcId="{2ECFEC8A-84A2-469D-84D0-5DEE5521C77B}" destId="{194C078D-5D2B-4394-8CAD-B8A5A7E79A06}" srcOrd="1" destOrd="0" presId="urn:microsoft.com/office/officeart/2005/8/layout/vProcess5"/>
    <dgm:cxn modelId="{13993E51-8A16-43F0-86F0-40D711561968}" srcId="{4405EA33-F233-4E31-BA88-F24CF0F81875}" destId="{2ECFEC8A-84A2-469D-84D0-5DEE5521C77B}" srcOrd="2" destOrd="0" parTransId="{A03968BE-1B64-4BA3-BBBB-E55DAB2CF9D5}" sibTransId="{76224298-0821-4C32-A703-0E316527A4D0}"/>
    <dgm:cxn modelId="{E8712588-82DB-4A7E-9E60-25FEFE928DDF}" srcId="{4405EA33-F233-4E31-BA88-F24CF0F81875}" destId="{519180ED-5CA2-41A3-9086-D8781DD9AA7F}" srcOrd="3" destOrd="0" parTransId="{E8D02EBC-9AF8-4C9F-9B55-EB203393F022}" sibTransId="{6C1F792F-E229-4749-8148-2C9A21D2D387}"/>
    <dgm:cxn modelId="{1D0700F6-3AFA-4056-819A-2118E853ED8A}" type="presOf" srcId="{53FB9455-F924-4FED-AD53-02E4E0E8ED99}" destId="{DA8C9D75-CED6-4872-A431-7078F592D3C7}" srcOrd="0" destOrd="0" presId="urn:microsoft.com/office/officeart/2005/8/layout/vProcess5"/>
    <dgm:cxn modelId="{20056897-457C-42C6-821D-C5D7B7D68929}" type="presParOf" srcId="{2467BB73-ECED-4917-861B-517DDDF873AE}" destId="{3827EA8E-E327-46E6-A61E-587E4B873455}" srcOrd="0" destOrd="0" presId="urn:microsoft.com/office/officeart/2005/8/layout/vProcess5"/>
    <dgm:cxn modelId="{13A966B9-073D-407A-A846-6DC4CF8F8951}" type="presParOf" srcId="{2467BB73-ECED-4917-861B-517DDDF873AE}" destId="{DA8C9D75-CED6-4872-A431-7078F592D3C7}" srcOrd="1" destOrd="0" presId="urn:microsoft.com/office/officeart/2005/8/layout/vProcess5"/>
    <dgm:cxn modelId="{6BDD9640-AA37-4DC7-9525-6DBD9B40731E}" type="presParOf" srcId="{2467BB73-ECED-4917-861B-517DDDF873AE}" destId="{5C59FAA3-E30A-4777-A2D1-D5B0D629F3EC}" srcOrd="2" destOrd="0" presId="urn:microsoft.com/office/officeart/2005/8/layout/vProcess5"/>
    <dgm:cxn modelId="{926DF524-6844-4424-BEFB-4359962F3A03}" type="presParOf" srcId="{2467BB73-ECED-4917-861B-517DDDF873AE}" destId="{99AC0459-5D7F-42A7-9401-43ADD6922C2D}" srcOrd="3" destOrd="0" presId="urn:microsoft.com/office/officeart/2005/8/layout/vProcess5"/>
    <dgm:cxn modelId="{531B336B-C576-409F-B318-D8F8AFA5ECD2}" type="presParOf" srcId="{2467BB73-ECED-4917-861B-517DDDF873AE}" destId="{C7702C33-7173-414B-9025-6C99FDB9BA85}" srcOrd="4" destOrd="0" presId="urn:microsoft.com/office/officeart/2005/8/layout/vProcess5"/>
    <dgm:cxn modelId="{12F93641-9608-495F-BE0B-506978FAC2FA}" type="presParOf" srcId="{2467BB73-ECED-4917-861B-517DDDF873AE}" destId="{0EFBD0B1-7A6B-49D7-A781-411DA74B1A76}" srcOrd="5" destOrd="0" presId="urn:microsoft.com/office/officeart/2005/8/layout/vProcess5"/>
    <dgm:cxn modelId="{F777CB5B-6601-42BB-BD99-0D2C9930F01C}" type="presParOf" srcId="{2467BB73-ECED-4917-861B-517DDDF873AE}" destId="{6CB9D099-E805-4093-8270-6CF840FB1757}" srcOrd="6" destOrd="0" presId="urn:microsoft.com/office/officeart/2005/8/layout/vProcess5"/>
    <dgm:cxn modelId="{C67F5A13-D89E-4E19-8FAA-DCC733996ACD}" type="presParOf" srcId="{2467BB73-ECED-4917-861B-517DDDF873AE}" destId="{AE48A046-8386-4B08-A1CF-57234A1BA237}" srcOrd="7" destOrd="0" presId="urn:microsoft.com/office/officeart/2005/8/layout/vProcess5"/>
    <dgm:cxn modelId="{36D4B340-A019-4DB8-940D-BFC317A73DF1}" type="presParOf" srcId="{2467BB73-ECED-4917-861B-517DDDF873AE}" destId="{1B9A7629-942A-464E-91B7-0E9AA0661315}" srcOrd="8" destOrd="0" presId="urn:microsoft.com/office/officeart/2005/8/layout/vProcess5"/>
    <dgm:cxn modelId="{C3A7B00E-1ED8-4A67-B4A6-6B6F42DB1793}" type="presParOf" srcId="{2467BB73-ECED-4917-861B-517DDDF873AE}" destId="{E9008992-50A7-4C66-8A71-0FC835AC3CA5}" srcOrd="9" destOrd="0" presId="urn:microsoft.com/office/officeart/2005/8/layout/vProcess5"/>
    <dgm:cxn modelId="{CCBF221C-A77E-4AAC-AAF8-63E283AEA94D}" type="presParOf" srcId="{2467BB73-ECED-4917-861B-517DDDF873AE}" destId="{194C078D-5D2B-4394-8CAD-B8A5A7E79A06}" srcOrd="10" destOrd="0" presId="urn:microsoft.com/office/officeart/2005/8/layout/vProcess5"/>
    <dgm:cxn modelId="{507B26E9-D6F7-4AE2-8AF1-642E3BE3B556}" type="presParOf" srcId="{2467BB73-ECED-4917-861B-517DDDF873AE}" destId="{76180383-3B4B-4A20-8FEA-CAFB393420F6}"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21E214-49C9-45FC-8996-885934178566}"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A18419F-2642-43CB-9688-32B488BAB78A}">
      <dgm:prSet/>
      <dgm:spPr/>
      <dgm:t>
        <a:bodyPr/>
        <a:lstStyle/>
        <a:p>
          <a:r>
            <a:rPr lang="bg-BG" b="0" i="0"/>
            <a:t>Много VPN услуги имат лесен за ползване интерфейс, което е идеално за начинаещи или потребители, които не са особено напред в техническо отношение.</a:t>
          </a:r>
          <a:endParaRPr lang="en-US"/>
        </a:p>
      </dgm:t>
    </dgm:pt>
    <dgm:pt modelId="{FD2FCAAA-696B-40D6-9818-C53F9AA3E459}" type="parTrans" cxnId="{3D9C3635-305A-48A1-93DD-5D94A1812A72}">
      <dgm:prSet/>
      <dgm:spPr/>
      <dgm:t>
        <a:bodyPr/>
        <a:lstStyle/>
        <a:p>
          <a:endParaRPr lang="en-US"/>
        </a:p>
      </dgm:t>
    </dgm:pt>
    <dgm:pt modelId="{A747D9A9-5816-4614-ADCF-9AD843445845}" type="sibTrans" cxnId="{3D9C3635-305A-48A1-93DD-5D94A1812A72}">
      <dgm:prSet/>
      <dgm:spPr/>
      <dgm:t>
        <a:bodyPr/>
        <a:lstStyle/>
        <a:p>
          <a:endParaRPr lang="en-US"/>
        </a:p>
      </dgm:t>
    </dgm:pt>
    <dgm:pt modelId="{F07B9B9B-447E-4F18-99A6-8583758B1761}">
      <dgm:prSet/>
      <dgm:spPr/>
      <dgm:t>
        <a:bodyPr/>
        <a:lstStyle/>
        <a:p>
          <a:r>
            <a:rPr lang="bg-BG" b="0" i="0"/>
            <a:t>Удобният за потребителя дизайн прави използването на VPN услуга много по-лесно като цяло</a:t>
          </a:r>
          <a:endParaRPr lang="en-US"/>
        </a:p>
      </dgm:t>
    </dgm:pt>
    <dgm:pt modelId="{7F81D1E4-E392-408F-A54C-7F8FF0D8F301}" type="parTrans" cxnId="{12360D48-CF1B-4E62-9B28-AD17399F62CF}">
      <dgm:prSet/>
      <dgm:spPr/>
      <dgm:t>
        <a:bodyPr/>
        <a:lstStyle/>
        <a:p>
          <a:endParaRPr lang="en-US"/>
        </a:p>
      </dgm:t>
    </dgm:pt>
    <dgm:pt modelId="{2AF58EBD-BD4A-413A-B9D2-C519FEC4C507}" type="sibTrans" cxnId="{12360D48-CF1B-4E62-9B28-AD17399F62CF}">
      <dgm:prSet/>
      <dgm:spPr/>
      <dgm:t>
        <a:bodyPr/>
        <a:lstStyle/>
        <a:p>
          <a:endParaRPr lang="en-US"/>
        </a:p>
      </dgm:t>
    </dgm:pt>
    <dgm:pt modelId="{E97429F4-E3C0-4B5E-B35E-02F7B248FB16}" type="pres">
      <dgm:prSet presAssocID="{8B21E214-49C9-45FC-8996-885934178566}" presName="hierChild1" presStyleCnt="0">
        <dgm:presLayoutVars>
          <dgm:chPref val="1"/>
          <dgm:dir/>
          <dgm:animOne val="branch"/>
          <dgm:animLvl val="lvl"/>
          <dgm:resizeHandles/>
        </dgm:presLayoutVars>
      </dgm:prSet>
      <dgm:spPr/>
      <dgm:t>
        <a:bodyPr/>
        <a:lstStyle/>
        <a:p>
          <a:endParaRPr lang="bg-BG"/>
        </a:p>
      </dgm:t>
    </dgm:pt>
    <dgm:pt modelId="{EC905D6B-64BD-4F1A-AFA0-424DA1C4A3E2}" type="pres">
      <dgm:prSet presAssocID="{4A18419F-2642-43CB-9688-32B488BAB78A}" presName="hierRoot1" presStyleCnt="0"/>
      <dgm:spPr/>
    </dgm:pt>
    <dgm:pt modelId="{58A337E1-A20A-4BB3-B59D-7D69576F52AA}" type="pres">
      <dgm:prSet presAssocID="{4A18419F-2642-43CB-9688-32B488BAB78A}" presName="composite" presStyleCnt="0"/>
      <dgm:spPr/>
    </dgm:pt>
    <dgm:pt modelId="{C7B16ABC-5277-42A3-B759-3536F6C161B9}" type="pres">
      <dgm:prSet presAssocID="{4A18419F-2642-43CB-9688-32B488BAB78A}" presName="background" presStyleLbl="node0" presStyleIdx="0" presStyleCnt="2"/>
      <dgm:spPr/>
    </dgm:pt>
    <dgm:pt modelId="{D6BD4792-B048-43F5-8C2B-4CFF8A2D7D3E}" type="pres">
      <dgm:prSet presAssocID="{4A18419F-2642-43CB-9688-32B488BAB78A}" presName="text" presStyleLbl="fgAcc0" presStyleIdx="0" presStyleCnt="2">
        <dgm:presLayoutVars>
          <dgm:chPref val="3"/>
        </dgm:presLayoutVars>
      </dgm:prSet>
      <dgm:spPr/>
      <dgm:t>
        <a:bodyPr/>
        <a:lstStyle/>
        <a:p>
          <a:endParaRPr lang="bg-BG"/>
        </a:p>
      </dgm:t>
    </dgm:pt>
    <dgm:pt modelId="{8F544B49-A06B-49CE-8B34-CE8FC156AA67}" type="pres">
      <dgm:prSet presAssocID="{4A18419F-2642-43CB-9688-32B488BAB78A}" presName="hierChild2" presStyleCnt="0"/>
      <dgm:spPr/>
    </dgm:pt>
    <dgm:pt modelId="{36835274-A523-4939-A68A-7E4B2BC19F93}" type="pres">
      <dgm:prSet presAssocID="{F07B9B9B-447E-4F18-99A6-8583758B1761}" presName="hierRoot1" presStyleCnt="0"/>
      <dgm:spPr/>
    </dgm:pt>
    <dgm:pt modelId="{72DA6145-C521-4EB0-876A-2E40455B5584}" type="pres">
      <dgm:prSet presAssocID="{F07B9B9B-447E-4F18-99A6-8583758B1761}" presName="composite" presStyleCnt="0"/>
      <dgm:spPr/>
    </dgm:pt>
    <dgm:pt modelId="{C782E47F-67A4-404E-92A1-E92FFE806974}" type="pres">
      <dgm:prSet presAssocID="{F07B9B9B-447E-4F18-99A6-8583758B1761}" presName="background" presStyleLbl="node0" presStyleIdx="1" presStyleCnt="2"/>
      <dgm:spPr/>
    </dgm:pt>
    <dgm:pt modelId="{1847C3A5-A69B-48F4-A558-341F14BE6E12}" type="pres">
      <dgm:prSet presAssocID="{F07B9B9B-447E-4F18-99A6-8583758B1761}" presName="text" presStyleLbl="fgAcc0" presStyleIdx="1" presStyleCnt="2">
        <dgm:presLayoutVars>
          <dgm:chPref val="3"/>
        </dgm:presLayoutVars>
      </dgm:prSet>
      <dgm:spPr/>
      <dgm:t>
        <a:bodyPr/>
        <a:lstStyle/>
        <a:p>
          <a:endParaRPr lang="bg-BG"/>
        </a:p>
      </dgm:t>
    </dgm:pt>
    <dgm:pt modelId="{434D8916-058E-4914-9172-29231439EE61}" type="pres">
      <dgm:prSet presAssocID="{F07B9B9B-447E-4F18-99A6-8583758B1761}" presName="hierChild2" presStyleCnt="0"/>
      <dgm:spPr/>
    </dgm:pt>
  </dgm:ptLst>
  <dgm:cxnLst>
    <dgm:cxn modelId="{3D9C3635-305A-48A1-93DD-5D94A1812A72}" srcId="{8B21E214-49C9-45FC-8996-885934178566}" destId="{4A18419F-2642-43CB-9688-32B488BAB78A}" srcOrd="0" destOrd="0" parTransId="{FD2FCAAA-696B-40D6-9818-C53F9AA3E459}" sibTransId="{A747D9A9-5816-4614-ADCF-9AD843445845}"/>
    <dgm:cxn modelId="{12360D48-CF1B-4E62-9B28-AD17399F62CF}" srcId="{8B21E214-49C9-45FC-8996-885934178566}" destId="{F07B9B9B-447E-4F18-99A6-8583758B1761}" srcOrd="1" destOrd="0" parTransId="{7F81D1E4-E392-408F-A54C-7F8FF0D8F301}" sibTransId="{2AF58EBD-BD4A-413A-B9D2-C519FEC4C507}"/>
    <dgm:cxn modelId="{AADF7265-E9B1-4BD0-9AFF-A2E082B72E34}" type="presOf" srcId="{8B21E214-49C9-45FC-8996-885934178566}" destId="{E97429F4-E3C0-4B5E-B35E-02F7B248FB16}" srcOrd="0" destOrd="0" presId="urn:microsoft.com/office/officeart/2005/8/layout/hierarchy1"/>
    <dgm:cxn modelId="{6913E8E0-32F6-4614-A2DC-60704EE6CDFF}" type="presOf" srcId="{4A18419F-2642-43CB-9688-32B488BAB78A}" destId="{D6BD4792-B048-43F5-8C2B-4CFF8A2D7D3E}" srcOrd="0" destOrd="0" presId="urn:microsoft.com/office/officeart/2005/8/layout/hierarchy1"/>
    <dgm:cxn modelId="{DDC36A2F-D980-452B-9FD4-AA2651748F2F}" type="presOf" srcId="{F07B9B9B-447E-4F18-99A6-8583758B1761}" destId="{1847C3A5-A69B-48F4-A558-341F14BE6E12}" srcOrd="0" destOrd="0" presId="urn:microsoft.com/office/officeart/2005/8/layout/hierarchy1"/>
    <dgm:cxn modelId="{54E36646-929C-4C51-9E90-559D353066D5}" type="presParOf" srcId="{E97429F4-E3C0-4B5E-B35E-02F7B248FB16}" destId="{EC905D6B-64BD-4F1A-AFA0-424DA1C4A3E2}" srcOrd="0" destOrd="0" presId="urn:microsoft.com/office/officeart/2005/8/layout/hierarchy1"/>
    <dgm:cxn modelId="{AF86CF92-784A-4689-AD31-B8C1A0E77B10}" type="presParOf" srcId="{EC905D6B-64BD-4F1A-AFA0-424DA1C4A3E2}" destId="{58A337E1-A20A-4BB3-B59D-7D69576F52AA}" srcOrd="0" destOrd="0" presId="urn:microsoft.com/office/officeart/2005/8/layout/hierarchy1"/>
    <dgm:cxn modelId="{855EF2BE-B7C9-497A-A804-8321AFCA6FAC}" type="presParOf" srcId="{58A337E1-A20A-4BB3-B59D-7D69576F52AA}" destId="{C7B16ABC-5277-42A3-B759-3536F6C161B9}" srcOrd="0" destOrd="0" presId="urn:microsoft.com/office/officeart/2005/8/layout/hierarchy1"/>
    <dgm:cxn modelId="{42EDB215-6251-4F09-8BB7-5A6B771D7F54}" type="presParOf" srcId="{58A337E1-A20A-4BB3-B59D-7D69576F52AA}" destId="{D6BD4792-B048-43F5-8C2B-4CFF8A2D7D3E}" srcOrd="1" destOrd="0" presId="urn:microsoft.com/office/officeart/2005/8/layout/hierarchy1"/>
    <dgm:cxn modelId="{0FB90CC7-844D-41D5-8732-B416D915CE3B}" type="presParOf" srcId="{EC905D6B-64BD-4F1A-AFA0-424DA1C4A3E2}" destId="{8F544B49-A06B-49CE-8B34-CE8FC156AA67}" srcOrd="1" destOrd="0" presId="urn:microsoft.com/office/officeart/2005/8/layout/hierarchy1"/>
    <dgm:cxn modelId="{D848DAB3-E452-4C91-946A-3C328511CDB6}" type="presParOf" srcId="{E97429F4-E3C0-4B5E-B35E-02F7B248FB16}" destId="{36835274-A523-4939-A68A-7E4B2BC19F93}" srcOrd="1" destOrd="0" presId="urn:microsoft.com/office/officeart/2005/8/layout/hierarchy1"/>
    <dgm:cxn modelId="{3B0D709B-1A92-42BA-B39E-5083A3AF6256}" type="presParOf" srcId="{36835274-A523-4939-A68A-7E4B2BC19F93}" destId="{72DA6145-C521-4EB0-876A-2E40455B5584}" srcOrd="0" destOrd="0" presId="urn:microsoft.com/office/officeart/2005/8/layout/hierarchy1"/>
    <dgm:cxn modelId="{4E7BB37A-B3EE-4F37-827E-3EC15A8B0E49}" type="presParOf" srcId="{72DA6145-C521-4EB0-876A-2E40455B5584}" destId="{C782E47F-67A4-404E-92A1-E92FFE806974}" srcOrd="0" destOrd="0" presId="urn:microsoft.com/office/officeart/2005/8/layout/hierarchy1"/>
    <dgm:cxn modelId="{C08E26EA-8195-4FB0-A687-120FE74804C0}" type="presParOf" srcId="{72DA6145-C521-4EB0-876A-2E40455B5584}" destId="{1847C3A5-A69B-48F4-A558-341F14BE6E12}" srcOrd="1" destOrd="0" presId="urn:microsoft.com/office/officeart/2005/8/layout/hierarchy1"/>
    <dgm:cxn modelId="{0EA52434-3923-4B38-B0A9-B3DD11A536F4}" type="presParOf" srcId="{36835274-A523-4939-A68A-7E4B2BC19F93}" destId="{434D8916-058E-4914-9172-29231439EE6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4A5AC6-5C7F-427F-B1D7-6114A7D8B7CA}" type="doc">
      <dgm:prSet loTypeId="urn:microsoft.com/office/officeart/2005/8/layout/process5" loCatId="process" qsTypeId="urn:microsoft.com/office/officeart/2005/8/quickstyle/simple4" qsCatId="simple" csTypeId="urn:microsoft.com/office/officeart/2005/8/colors/colorful5" csCatId="colorful"/>
      <dgm:spPr/>
      <dgm:t>
        <a:bodyPr/>
        <a:lstStyle/>
        <a:p>
          <a:endParaRPr lang="en-US"/>
        </a:p>
      </dgm:t>
    </dgm:pt>
    <dgm:pt modelId="{080ED84C-2C31-4E0C-82A0-EBD29162422B}">
      <dgm:prSet/>
      <dgm:spPr/>
      <dgm:t>
        <a:bodyPr/>
        <a:lstStyle/>
        <a:p>
          <a:r>
            <a:rPr lang="bg-BG" b="0" i="0"/>
            <a:t>Една VPN услуга може да струва повече или по-малко в зависимост от функциите, така че трябва да проучите добре сегмента, за да сте сигурни, че получавате достатъчни висока стойност срещу парите си.</a:t>
          </a:r>
          <a:endParaRPr lang="en-US"/>
        </a:p>
      </dgm:t>
    </dgm:pt>
    <dgm:pt modelId="{C6C11120-9F50-4DF2-9209-2E3FCADA336D}" type="parTrans" cxnId="{8F15671E-DD40-4975-BF08-C89608BC756E}">
      <dgm:prSet/>
      <dgm:spPr/>
      <dgm:t>
        <a:bodyPr/>
        <a:lstStyle/>
        <a:p>
          <a:endParaRPr lang="en-US"/>
        </a:p>
      </dgm:t>
    </dgm:pt>
    <dgm:pt modelId="{DAEB86EC-F387-4E78-97F1-B5C08165B529}" type="sibTrans" cxnId="{8F15671E-DD40-4975-BF08-C89608BC756E}">
      <dgm:prSet/>
      <dgm:spPr/>
      <dgm:t>
        <a:bodyPr/>
        <a:lstStyle/>
        <a:p>
          <a:endParaRPr lang="en-US"/>
        </a:p>
      </dgm:t>
    </dgm:pt>
    <dgm:pt modelId="{15B98AE5-67A2-4D8D-907E-A52B28CBACD3}">
      <dgm:prSet/>
      <dgm:spPr/>
      <dgm:t>
        <a:bodyPr/>
        <a:lstStyle/>
        <a:p>
          <a:r>
            <a:rPr lang="bg-BG" b="0" i="0"/>
            <a:t>Срокът на абонамента също променя цената.</a:t>
          </a:r>
          <a:endParaRPr lang="en-US"/>
        </a:p>
      </dgm:t>
    </dgm:pt>
    <dgm:pt modelId="{AB243A02-0BD9-47AB-A5D6-6A45B27603E4}" type="parTrans" cxnId="{E17354CC-9448-47B7-A610-8FF87637CA3E}">
      <dgm:prSet/>
      <dgm:spPr/>
      <dgm:t>
        <a:bodyPr/>
        <a:lstStyle/>
        <a:p>
          <a:endParaRPr lang="en-US"/>
        </a:p>
      </dgm:t>
    </dgm:pt>
    <dgm:pt modelId="{376D8C31-395C-42EB-8981-74B33D29E842}" type="sibTrans" cxnId="{E17354CC-9448-47B7-A610-8FF87637CA3E}">
      <dgm:prSet/>
      <dgm:spPr/>
      <dgm:t>
        <a:bodyPr/>
        <a:lstStyle/>
        <a:p>
          <a:endParaRPr lang="en-US"/>
        </a:p>
      </dgm:t>
    </dgm:pt>
    <dgm:pt modelId="{EDE27B5B-C2C0-435A-BB75-2A1CCFADFA27}">
      <dgm:prSet/>
      <dgm:spPr/>
      <dgm:t>
        <a:bodyPr/>
        <a:lstStyle/>
        <a:p>
          <a:r>
            <a:rPr lang="bg-BG" b="0" i="0"/>
            <a:t>Безплатните услуги нямат същите нива на сигурност и всъщност могат да представляват риск за сигурността или поверителността на данните ви.</a:t>
          </a:r>
          <a:endParaRPr lang="en-US"/>
        </a:p>
      </dgm:t>
    </dgm:pt>
    <dgm:pt modelId="{2A96046F-01B0-469B-970F-FDB5FDE2096C}" type="parTrans" cxnId="{55B15663-14B8-417F-8C6F-98B80AD45211}">
      <dgm:prSet/>
      <dgm:spPr/>
      <dgm:t>
        <a:bodyPr/>
        <a:lstStyle/>
        <a:p>
          <a:endParaRPr lang="en-US"/>
        </a:p>
      </dgm:t>
    </dgm:pt>
    <dgm:pt modelId="{58A9EAB1-4B08-4C9D-8DEB-E1AA9FC181D0}" type="sibTrans" cxnId="{55B15663-14B8-417F-8C6F-98B80AD45211}">
      <dgm:prSet/>
      <dgm:spPr/>
      <dgm:t>
        <a:bodyPr/>
        <a:lstStyle/>
        <a:p>
          <a:endParaRPr lang="en-US"/>
        </a:p>
      </dgm:t>
    </dgm:pt>
    <dgm:pt modelId="{935B3F69-0A6C-44AA-B90B-EC430DFC34C9}" type="pres">
      <dgm:prSet presAssocID="{FE4A5AC6-5C7F-427F-B1D7-6114A7D8B7CA}" presName="diagram" presStyleCnt="0">
        <dgm:presLayoutVars>
          <dgm:dir/>
          <dgm:resizeHandles val="exact"/>
        </dgm:presLayoutVars>
      </dgm:prSet>
      <dgm:spPr/>
      <dgm:t>
        <a:bodyPr/>
        <a:lstStyle/>
        <a:p>
          <a:endParaRPr lang="bg-BG"/>
        </a:p>
      </dgm:t>
    </dgm:pt>
    <dgm:pt modelId="{0A07EA0C-CB85-44A0-8D98-2D90770C3077}" type="pres">
      <dgm:prSet presAssocID="{080ED84C-2C31-4E0C-82A0-EBD29162422B}" presName="node" presStyleLbl="node1" presStyleIdx="0" presStyleCnt="3">
        <dgm:presLayoutVars>
          <dgm:bulletEnabled val="1"/>
        </dgm:presLayoutVars>
      </dgm:prSet>
      <dgm:spPr/>
      <dgm:t>
        <a:bodyPr/>
        <a:lstStyle/>
        <a:p>
          <a:endParaRPr lang="bg-BG"/>
        </a:p>
      </dgm:t>
    </dgm:pt>
    <dgm:pt modelId="{1E4E5CE9-A401-47EC-A968-EB1452EC2270}" type="pres">
      <dgm:prSet presAssocID="{DAEB86EC-F387-4E78-97F1-B5C08165B529}" presName="sibTrans" presStyleLbl="sibTrans2D1" presStyleIdx="0" presStyleCnt="2"/>
      <dgm:spPr/>
      <dgm:t>
        <a:bodyPr/>
        <a:lstStyle/>
        <a:p>
          <a:endParaRPr lang="bg-BG"/>
        </a:p>
      </dgm:t>
    </dgm:pt>
    <dgm:pt modelId="{EAA97486-C1E2-49F8-A943-B847590304E6}" type="pres">
      <dgm:prSet presAssocID="{DAEB86EC-F387-4E78-97F1-B5C08165B529}" presName="connectorText" presStyleLbl="sibTrans2D1" presStyleIdx="0" presStyleCnt="2"/>
      <dgm:spPr/>
      <dgm:t>
        <a:bodyPr/>
        <a:lstStyle/>
        <a:p>
          <a:endParaRPr lang="bg-BG"/>
        </a:p>
      </dgm:t>
    </dgm:pt>
    <dgm:pt modelId="{522BE736-A1E3-47A6-A47F-C6E8BB8E4DD7}" type="pres">
      <dgm:prSet presAssocID="{15B98AE5-67A2-4D8D-907E-A52B28CBACD3}" presName="node" presStyleLbl="node1" presStyleIdx="1" presStyleCnt="3">
        <dgm:presLayoutVars>
          <dgm:bulletEnabled val="1"/>
        </dgm:presLayoutVars>
      </dgm:prSet>
      <dgm:spPr/>
      <dgm:t>
        <a:bodyPr/>
        <a:lstStyle/>
        <a:p>
          <a:endParaRPr lang="bg-BG"/>
        </a:p>
      </dgm:t>
    </dgm:pt>
    <dgm:pt modelId="{D001B599-85B7-4BFA-9C36-7BBC3D06BB91}" type="pres">
      <dgm:prSet presAssocID="{376D8C31-395C-42EB-8981-74B33D29E842}" presName="sibTrans" presStyleLbl="sibTrans2D1" presStyleIdx="1" presStyleCnt="2"/>
      <dgm:spPr/>
      <dgm:t>
        <a:bodyPr/>
        <a:lstStyle/>
        <a:p>
          <a:endParaRPr lang="bg-BG"/>
        </a:p>
      </dgm:t>
    </dgm:pt>
    <dgm:pt modelId="{DE7691CC-6C3B-4124-AAB0-472AE9BA048F}" type="pres">
      <dgm:prSet presAssocID="{376D8C31-395C-42EB-8981-74B33D29E842}" presName="connectorText" presStyleLbl="sibTrans2D1" presStyleIdx="1" presStyleCnt="2"/>
      <dgm:spPr/>
      <dgm:t>
        <a:bodyPr/>
        <a:lstStyle/>
        <a:p>
          <a:endParaRPr lang="bg-BG"/>
        </a:p>
      </dgm:t>
    </dgm:pt>
    <dgm:pt modelId="{59EE08E4-D6BB-45DB-AA90-AA0713E1F1A1}" type="pres">
      <dgm:prSet presAssocID="{EDE27B5B-C2C0-435A-BB75-2A1CCFADFA27}" presName="node" presStyleLbl="node1" presStyleIdx="2" presStyleCnt="3">
        <dgm:presLayoutVars>
          <dgm:bulletEnabled val="1"/>
        </dgm:presLayoutVars>
      </dgm:prSet>
      <dgm:spPr/>
      <dgm:t>
        <a:bodyPr/>
        <a:lstStyle/>
        <a:p>
          <a:endParaRPr lang="bg-BG"/>
        </a:p>
      </dgm:t>
    </dgm:pt>
  </dgm:ptLst>
  <dgm:cxnLst>
    <dgm:cxn modelId="{8F15671E-DD40-4975-BF08-C89608BC756E}" srcId="{FE4A5AC6-5C7F-427F-B1D7-6114A7D8B7CA}" destId="{080ED84C-2C31-4E0C-82A0-EBD29162422B}" srcOrd="0" destOrd="0" parTransId="{C6C11120-9F50-4DF2-9209-2E3FCADA336D}" sibTransId="{DAEB86EC-F387-4E78-97F1-B5C08165B529}"/>
    <dgm:cxn modelId="{75DA77CC-4D04-4EFF-AFDC-68963343E104}" type="presOf" srcId="{FE4A5AC6-5C7F-427F-B1D7-6114A7D8B7CA}" destId="{935B3F69-0A6C-44AA-B90B-EC430DFC34C9}" srcOrd="0" destOrd="0" presId="urn:microsoft.com/office/officeart/2005/8/layout/process5"/>
    <dgm:cxn modelId="{7FD000BC-E0EC-47E8-B53C-0F28D1AB9899}" type="presOf" srcId="{080ED84C-2C31-4E0C-82A0-EBD29162422B}" destId="{0A07EA0C-CB85-44A0-8D98-2D90770C3077}" srcOrd="0" destOrd="0" presId="urn:microsoft.com/office/officeart/2005/8/layout/process5"/>
    <dgm:cxn modelId="{65148343-AAF4-467F-B7EA-094BED0BD2FA}" type="presOf" srcId="{DAEB86EC-F387-4E78-97F1-B5C08165B529}" destId="{EAA97486-C1E2-49F8-A943-B847590304E6}" srcOrd="1" destOrd="0" presId="urn:microsoft.com/office/officeart/2005/8/layout/process5"/>
    <dgm:cxn modelId="{0C2804DB-F2A1-4167-B40E-53F303BE9E39}" type="presOf" srcId="{EDE27B5B-C2C0-435A-BB75-2A1CCFADFA27}" destId="{59EE08E4-D6BB-45DB-AA90-AA0713E1F1A1}" srcOrd="0" destOrd="0" presId="urn:microsoft.com/office/officeart/2005/8/layout/process5"/>
    <dgm:cxn modelId="{EB103FA5-F504-4D45-9835-F3E4A609F94A}" type="presOf" srcId="{376D8C31-395C-42EB-8981-74B33D29E842}" destId="{DE7691CC-6C3B-4124-AAB0-472AE9BA048F}" srcOrd="1" destOrd="0" presId="urn:microsoft.com/office/officeart/2005/8/layout/process5"/>
    <dgm:cxn modelId="{D8923097-1608-40B1-8815-78EC1E4D4ECC}" type="presOf" srcId="{376D8C31-395C-42EB-8981-74B33D29E842}" destId="{D001B599-85B7-4BFA-9C36-7BBC3D06BB91}" srcOrd="0" destOrd="0" presId="urn:microsoft.com/office/officeart/2005/8/layout/process5"/>
    <dgm:cxn modelId="{55B15663-14B8-417F-8C6F-98B80AD45211}" srcId="{FE4A5AC6-5C7F-427F-B1D7-6114A7D8B7CA}" destId="{EDE27B5B-C2C0-435A-BB75-2A1CCFADFA27}" srcOrd="2" destOrd="0" parTransId="{2A96046F-01B0-469B-970F-FDB5FDE2096C}" sibTransId="{58A9EAB1-4B08-4C9D-8DEB-E1AA9FC181D0}"/>
    <dgm:cxn modelId="{75F6EB68-2F8F-4CA1-ABC0-6CBA8E841C3A}" type="presOf" srcId="{DAEB86EC-F387-4E78-97F1-B5C08165B529}" destId="{1E4E5CE9-A401-47EC-A968-EB1452EC2270}" srcOrd="0" destOrd="0" presId="urn:microsoft.com/office/officeart/2005/8/layout/process5"/>
    <dgm:cxn modelId="{E17354CC-9448-47B7-A610-8FF87637CA3E}" srcId="{FE4A5AC6-5C7F-427F-B1D7-6114A7D8B7CA}" destId="{15B98AE5-67A2-4D8D-907E-A52B28CBACD3}" srcOrd="1" destOrd="0" parTransId="{AB243A02-0BD9-47AB-A5D6-6A45B27603E4}" sibTransId="{376D8C31-395C-42EB-8981-74B33D29E842}"/>
    <dgm:cxn modelId="{42973F3D-56F0-4AE7-9655-CFACE8C2D5F1}" type="presOf" srcId="{15B98AE5-67A2-4D8D-907E-A52B28CBACD3}" destId="{522BE736-A1E3-47A6-A47F-C6E8BB8E4DD7}" srcOrd="0" destOrd="0" presId="urn:microsoft.com/office/officeart/2005/8/layout/process5"/>
    <dgm:cxn modelId="{139939F2-552A-4166-9A8C-2088EE533258}" type="presParOf" srcId="{935B3F69-0A6C-44AA-B90B-EC430DFC34C9}" destId="{0A07EA0C-CB85-44A0-8D98-2D90770C3077}" srcOrd="0" destOrd="0" presId="urn:microsoft.com/office/officeart/2005/8/layout/process5"/>
    <dgm:cxn modelId="{32A82D57-9B87-4A20-AE4C-00A2900A542E}" type="presParOf" srcId="{935B3F69-0A6C-44AA-B90B-EC430DFC34C9}" destId="{1E4E5CE9-A401-47EC-A968-EB1452EC2270}" srcOrd="1" destOrd="0" presId="urn:microsoft.com/office/officeart/2005/8/layout/process5"/>
    <dgm:cxn modelId="{965E229E-1E4C-45F5-9BDC-D77D391B3C95}" type="presParOf" srcId="{1E4E5CE9-A401-47EC-A968-EB1452EC2270}" destId="{EAA97486-C1E2-49F8-A943-B847590304E6}" srcOrd="0" destOrd="0" presId="urn:microsoft.com/office/officeart/2005/8/layout/process5"/>
    <dgm:cxn modelId="{1BE1A22F-191D-446D-9981-DE25F98C28DC}" type="presParOf" srcId="{935B3F69-0A6C-44AA-B90B-EC430DFC34C9}" destId="{522BE736-A1E3-47A6-A47F-C6E8BB8E4DD7}" srcOrd="2" destOrd="0" presId="urn:microsoft.com/office/officeart/2005/8/layout/process5"/>
    <dgm:cxn modelId="{79E5FEBE-A021-47C4-932D-7D03D1054717}" type="presParOf" srcId="{935B3F69-0A6C-44AA-B90B-EC430DFC34C9}" destId="{D001B599-85B7-4BFA-9C36-7BBC3D06BB91}" srcOrd="3" destOrd="0" presId="urn:microsoft.com/office/officeart/2005/8/layout/process5"/>
    <dgm:cxn modelId="{0711FACE-0881-42A3-A384-5822E3663318}" type="presParOf" srcId="{D001B599-85B7-4BFA-9C36-7BBC3D06BB91}" destId="{DE7691CC-6C3B-4124-AAB0-472AE9BA048F}" srcOrd="0" destOrd="0" presId="urn:microsoft.com/office/officeart/2005/8/layout/process5"/>
    <dgm:cxn modelId="{92AA4186-20AA-45E5-B8B7-9B2DA512E716}" type="presParOf" srcId="{935B3F69-0A6C-44AA-B90B-EC430DFC34C9}" destId="{59EE08E4-D6BB-45DB-AA90-AA0713E1F1A1}"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6C3B09-EF60-4C18-84B5-9A61E963FDA9}"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03DB33AD-37B1-4457-A470-85B09CC29B04}">
      <dgm:prSet/>
      <dgm:spPr/>
      <dgm:t>
        <a:bodyPr/>
        <a:lstStyle/>
        <a:p>
          <a:r>
            <a:rPr lang="bg-BG" b="0" i="0" dirty="0"/>
            <a:t>Ако липсва удобен за ползване дизайн, може да изгубите излишно много време в опити да конфигурирате вашата VPN услуга.</a:t>
          </a:r>
          <a:endParaRPr lang="en-US" dirty="0"/>
        </a:p>
      </dgm:t>
    </dgm:pt>
    <dgm:pt modelId="{6BC2902D-C613-4C04-A8C1-A6134E09572D}" type="parTrans" cxnId="{EBF50895-D6BF-44A5-A38C-CEE41C6D262E}">
      <dgm:prSet/>
      <dgm:spPr/>
      <dgm:t>
        <a:bodyPr/>
        <a:lstStyle/>
        <a:p>
          <a:endParaRPr lang="en-US"/>
        </a:p>
      </dgm:t>
    </dgm:pt>
    <dgm:pt modelId="{98A271AB-7D9D-4BBD-A562-1CF15599DA5B}" type="sibTrans" cxnId="{EBF50895-D6BF-44A5-A38C-CEE41C6D262E}">
      <dgm:prSet/>
      <dgm:spPr/>
      <dgm:t>
        <a:bodyPr/>
        <a:lstStyle/>
        <a:p>
          <a:endParaRPr lang="en-US"/>
        </a:p>
      </dgm:t>
    </dgm:pt>
    <dgm:pt modelId="{89F00563-A751-483F-BC02-A5746FB47118}">
      <dgm:prSet/>
      <dgm:spPr/>
      <dgm:t>
        <a:bodyPr/>
        <a:lstStyle/>
        <a:p>
          <a:r>
            <a:rPr lang="bg-BG" b="0" i="0"/>
            <a:t>Ръчното настройване понякога може да доведе до изтичане на DNS и IP адреси</a:t>
          </a:r>
          <a:endParaRPr lang="en-US"/>
        </a:p>
      </dgm:t>
    </dgm:pt>
    <dgm:pt modelId="{F2707FC7-48CA-47BA-A7FD-054989C5A3DB}" type="parTrans" cxnId="{C1E00D9F-58F0-4C24-94E4-56BEF3B76FCF}">
      <dgm:prSet/>
      <dgm:spPr/>
      <dgm:t>
        <a:bodyPr/>
        <a:lstStyle/>
        <a:p>
          <a:endParaRPr lang="en-US"/>
        </a:p>
      </dgm:t>
    </dgm:pt>
    <dgm:pt modelId="{8D691965-2741-4B64-B740-3B38A88B0B8F}" type="sibTrans" cxnId="{C1E00D9F-58F0-4C24-94E4-56BEF3B76FCF}">
      <dgm:prSet/>
      <dgm:spPr/>
      <dgm:t>
        <a:bodyPr/>
        <a:lstStyle/>
        <a:p>
          <a:endParaRPr lang="en-US"/>
        </a:p>
      </dgm:t>
    </dgm:pt>
    <dgm:pt modelId="{7F7F38D4-2DC9-4A45-878D-4533889F40B3}" type="pres">
      <dgm:prSet presAssocID="{C16C3B09-EF60-4C18-84B5-9A61E963FDA9}" presName="diagram" presStyleCnt="0">
        <dgm:presLayoutVars>
          <dgm:chPref val="1"/>
          <dgm:dir/>
          <dgm:animOne val="branch"/>
          <dgm:animLvl val="lvl"/>
          <dgm:resizeHandles/>
        </dgm:presLayoutVars>
      </dgm:prSet>
      <dgm:spPr/>
      <dgm:t>
        <a:bodyPr/>
        <a:lstStyle/>
        <a:p>
          <a:endParaRPr lang="bg-BG"/>
        </a:p>
      </dgm:t>
    </dgm:pt>
    <dgm:pt modelId="{ED6E25CA-0820-40FC-AE06-E457A3D59CA5}" type="pres">
      <dgm:prSet presAssocID="{03DB33AD-37B1-4457-A470-85B09CC29B04}" presName="root" presStyleCnt="0"/>
      <dgm:spPr/>
    </dgm:pt>
    <dgm:pt modelId="{79D83800-EB3B-4366-B9D9-994A13CAEC8A}" type="pres">
      <dgm:prSet presAssocID="{03DB33AD-37B1-4457-A470-85B09CC29B04}" presName="rootComposite" presStyleCnt="0"/>
      <dgm:spPr/>
    </dgm:pt>
    <dgm:pt modelId="{129CEC93-378B-499A-8A2B-8662ABE4DD8B}" type="pres">
      <dgm:prSet presAssocID="{03DB33AD-37B1-4457-A470-85B09CC29B04}" presName="rootText" presStyleLbl="node1" presStyleIdx="0" presStyleCnt="2"/>
      <dgm:spPr/>
      <dgm:t>
        <a:bodyPr/>
        <a:lstStyle/>
        <a:p>
          <a:endParaRPr lang="bg-BG"/>
        </a:p>
      </dgm:t>
    </dgm:pt>
    <dgm:pt modelId="{59C00966-6606-49FD-87A4-6C967FC58D91}" type="pres">
      <dgm:prSet presAssocID="{03DB33AD-37B1-4457-A470-85B09CC29B04}" presName="rootConnector" presStyleLbl="node1" presStyleIdx="0" presStyleCnt="2"/>
      <dgm:spPr/>
      <dgm:t>
        <a:bodyPr/>
        <a:lstStyle/>
        <a:p>
          <a:endParaRPr lang="bg-BG"/>
        </a:p>
      </dgm:t>
    </dgm:pt>
    <dgm:pt modelId="{51D95CF9-ECCC-4D28-9DE4-23ADC6E6DA98}" type="pres">
      <dgm:prSet presAssocID="{03DB33AD-37B1-4457-A470-85B09CC29B04}" presName="childShape" presStyleCnt="0"/>
      <dgm:spPr/>
    </dgm:pt>
    <dgm:pt modelId="{60CA97B1-4FA5-476F-A9CA-8A2D814F2A2E}" type="pres">
      <dgm:prSet presAssocID="{89F00563-A751-483F-BC02-A5746FB47118}" presName="root" presStyleCnt="0"/>
      <dgm:spPr/>
    </dgm:pt>
    <dgm:pt modelId="{45DEF06D-0F03-4E86-B998-D670535ADFD3}" type="pres">
      <dgm:prSet presAssocID="{89F00563-A751-483F-BC02-A5746FB47118}" presName="rootComposite" presStyleCnt="0"/>
      <dgm:spPr/>
    </dgm:pt>
    <dgm:pt modelId="{9D950C8F-DA88-46B7-B8BB-9A86FADFAE4C}" type="pres">
      <dgm:prSet presAssocID="{89F00563-A751-483F-BC02-A5746FB47118}" presName="rootText" presStyleLbl="node1" presStyleIdx="1" presStyleCnt="2"/>
      <dgm:spPr/>
      <dgm:t>
        <a:bodyPr/>
        <a:lstStyle/>
        <a:p>
          <a:endParaRPr lang="bg-BG"/>
        </a:p>
      </dgm:t>
    </dgm:pt>
    <dgm:pt modelId="{C4FEDD4A-68B7-49A5-AF66-660507280FB9}" type="pres">
      <dgm:prSet presAssocID="{89F00563-A751-483F-BC02-A5746FB47118}" presName="rootConnector" presStyleLbl="node1" presStyleIdx="1" presStyleCnt="2"/>
      <dgm:spPr/>
      <dgm:t>
        <a:bodyPr/>
        <a:lstStyle/>
        <a:p>
          <a:endParaRPr lang="bg-BG"/>
        </a:p>
      </dgm:t>
    </dgm:pt>
    <dgm:pt modelId="{6FA005F3-8BB7-4673-9CCB-651BBC3D1D67}" type="pres">
      <dgm:prSet presAssocID="{89F00563-A751-483F-BC02-A5746FB47118}" presName="childShape" presStyleCnt="0"/>
      <dgm:spPr/>
    </dgm:pt>
  </dgm:ptLst>
  <dgm:cxnLst>
    <dgm:cxn modelId="{EBF50895-D6BF-44A5-A38C-CEE41C6D262E}" srcId="{C16C3B09-EF60-4C18-84B5-9A61E963FDA9}" destId="{03DB33AD-37B1-4457-A470-85B09CC29B04}" srcOrd="0" destOrd="0" parTransId="{6BC2902D-C613-4C04-A8C1-A6134E09572D}" sibTransId="{98A271AB-7D9D-4BBD-A562-1CF15599DA5B}"/>
    <dgm:cxn modelId="{487B51BE-E465-4F84-9BEA-6A586DAF6CB5}" type="presOf" srcId="{C16C3B09-EF60-4C18-84B5-9A61E963FDA9}" destId="{7F7F38D4-2DC9-4A45-878D-4533889F40B3}" srcOrd="0" destOrd="0" presId="urn:microsoft.com/office/officeart/2005/8/layout/hierarchy3"/>
    <dgm:cxn modelId="{45019EEB-EC72-47F7-92DE-72BCB2D560B3}" type="presOf" srcId="{03DB33AD-37B1-4457-A470-85B09CC29B04}" destId="{129CEC93-378B-499A-8A2B-8662ABE4DD8B}" srcOrd="0" destOrd="0" presId="urn:microsoft.com/office/officeart/2005/8/layout/hierarchy3"/>
    <dgm:cxn modelId="{C1E00D9F-58F0-4C24-94E4-56BEF3B76FCF}" srcId="{C16C3B09-EF60-4C18-84B5-9A61E963FDA9}" destId="{89F00563-A751-483F-BC02-A5746FB47118}" srcOrd="1" destOrd="0" parTransId="{F2707FC7-48CA-47BA-A7FD-054989C5A3DB}" sibTransId="{8D691965-2741-4B64-B740-3B38A88B0B8F}"/>
    <dgm:cxn modelId="{EB6E1958-F75F-4C28-AF28-01DDBAEE3BEA}" type="presOf" srcId="{03DB33AD-37B1-4457-A470-85B09CC29B04}" destId="{59C00966-6606-49FD-87A4-6C967FC58D91}" srcOrd="1" destOrd="0" presId="urn:microsoft.com/office/officeart/2005/8/layout/hierarchy3"/>
    <dgm:cxn modelId="{BA5B3FC8-0E21-4C6F-9C5E-D0F9EFE98B20}" type="presOf" srcId="{89F00563-A751-483F-BC02-A5746FB47118}" destId="{9D950C8F-DA88-46B7-B8BB-9A86FADFAE4C}" srcOrd="0" destOrd="0" presId="urn:microsoft.com/office/officeart/2005/8/layout/hierarchy3"/>
    <dgm:cxn modelId="{084A1E6E-1FBC-4FA6-AA46-78A718A151C0}" type="presOf" srcId="{89F00563-A751-483F-BC02-A5746FB47118}" destId="{C4FEDD4A-68B7-49A5-AF66-660507280FB9}" srcOrd="1" destOrd="0" presId="urn:microsoft.com/office/officeart/2005/8/layout/hierarchy3"/>
    <dgm:cxn modelId="{5DE76917-276B-4127-BF79-BF25FFA8A524}" type="presParOf" srcId="{7F7F38D4-2DC9-4A45-878D-4533889F40B3}" destId="{ED6E25CA-0820-40FC-AE06-E457A3D59CA5}" srcOrd="0" destOrd="0" presId="urn:microsoft.com/office/officeart/2005/8/layout/hierarchy3"/>
    <dgm:cxn modelId="{6E729F36-BCD0-438D-B3F5-F3FC30682144}" type="presParOf" srcId="{ED6E25CA-0820-40FC-AE06-E457A3D59CA5}" destId="{79D83800-EB3B-4366-B9D9-994A13CAEC8A}" srcOrd="0" destOrd="0" presId="urn:microsoft.com/office/officeart/2005/8/layout/hierarchy3"/>
    <dgm:cxn modelId="{B3BE471D-962D-4336-84CB-957158ADFE98}" type="presParOf" srcId="{79D83800-EB3B-4366-B9D9-994A13CAEC8A}" destId="{129CEC93-378B-499A-8A2B-8662ABE4DD8B}" srcOrd="0" destOrd="0" presId="urn:microsoft.com/office/officeart/2005/8/layout/hierarchy3"/>
    <dgm:cxn modelId="{84E17D4F-23F8-4ED9-9C23-0E97E9720C39}" type="presParOf" srcId="{79D83800-EB3B-4366-B9D9-994A13CAEC8A}" destId="{59C00966-6606-49FD-87A4-6C967FC58D91}" srcOrd="1" destOrd="0" presId="urn:microsoft.com/office/officeart/2005/8/layout/hierarchy3"/>
    <dgm:cxn modelId="{144FA08F-0307-48EC-A915-EFCD2F15B6F3}" type="presParOf" srcId="{ED6E25CA-0820-40FC-AE06-E457A3D59CA5}" destId="{51D95CF9-ECCC-4D28-9DE4-23ADC6E6DA98}" srcOrd="1" destOrd="0" presId="urn:microsoft.com/office/officeart/2005/8/layout/hierarchy3"/>
    <dgm:cxn modelId="{CF59734D-8F98-4C5E-9B7E-CAA712A11BBB}" type="presParOf" srcId="{7F7F38D4-2DC9-4A45-878D-4533889F40B3}" destId="{60CA97B1-4FA5-476F-A9CA-8A2D814F2A2E}" srcOrd="1" destOrd="0" presId="urn:microsoft.com/office/officeart/2005/8/layout/hierarchy3"/>
    <dgm:cxn modelId="{A01B5EB7-4D5D-4241-B0BF-FB273D10E170}" type="presParOf" srcId="{60CA97B1-4FA5-476F-A9CA-8A2D814F2A2E}" destId="{45DEF06D-0F03-4E86-B998-D670535ADFD3}" srcOrd="0" destOrd="0" presId="urn:microsoft.com/office/officeart/2005/8/layout/hierarchy3"/>
    <dgm:cxn modelId="{7B8CDE6C-B132-457A-959B-5C394B7DA482}" type="presParOf" srcId="{45DEF06D-0F03-4E86-B998-D670535ADFD3}" destId="{9D950C8F-DA88-46B7-B8BB-9A86FADFAE4C}" srcOrd="0" destOrd="0" presId="urn:microsoft.com/office/officeart/2005/8/layout/hierarchy3"/>
    <dgm:cxn modelId="{F0053FB5-0E23-43DE-BEC2-BE885F71C7C0}" type="presParOf" srcId="{45DEF06D-0F03-4E86-B998-D670535ADFD3}" destId="{C4FEDD4A-68B7-49A5-AF66-660507280FB9}" srcOrd="1" destOrd="0" presId="urn:microsoft.com/office/officeart/2005/8/layout/hierarchy3"/>
    <dgm:cxn modelId="{928B53D4-7989-4218-AF56-D80B752F76DA}" type="presParOf" srcId="{60CA97B1-4FA5-476F-A9CA-8A2D814F2A2E}" destId="{6FA005F3-8BB7-4673-9CCB-651BBC3D1D6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E49147-60F1-4000-8856-EFE95E19B44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129AD26B-9ED5-4E4C-8D92-99399279CE2F}">
      <dgm:prSet/>
      <dgm:spPr/>
      <dgm:t>
        <a:bodyPr/>
        <a:lstStyle/>
        <a:p>
          <a:r>
            <a:rPr lang="bg-BG" b="0" i="0" dirty="0"/>
            <a:t>Някои VPN услуги имат ограничения касаещи мащабирането, в зависимост от закупения пакет.</a:t>
          </a:r>
          <a:endParaRPr lang="en-US" dirty="0"/>
        </a:p>
      </dgm:t>
    </dgm:pt>
    <dgm:pt modelId="{418B363E-969C-47D5-BB1B-45B72BC88675}" type="parTrans" cxnId="{DAD51AE5-1195-43F6-B05A-9C46A18F3519}">
      <dgm:prSet/>
      <dgm:spPr/>
      <dgm:t>
        <a:bodyPr/>
        <a:lstStyle/>
        <a:p>
          <a:endParaRPr lang="en-US"/>
        </a:p>
      </dgm:t>
    </dgm:pt>
    <dgm:pt modelId="{03C1B6EF-2DCE-40EE-BE58-C4C63127F274}" type="sibTrans" cxnId="{DAD51AE5-1195-43F6-B05A-9C46A18F3519}">
      <dgm:prSet/>
      <dgm:spPr/>
      <dgm:t>
        <a:bodyPr/>
        <a:lstStyle/>
        <a:p>
          <a:endParaRPr lang="en-US"/>
        </a:p>
      </dgm:t>
    </dgm:pt>
    <dgm:pt modelId="{D7DC8997-DD92-4BD3-91F2-431A830148C9}">
      <dgm:prSet/>
      <dgm:spPr/>
      <dgm:t>
        <a:bodyPr/>
        <a:lstStyle/>
        <a:p>
          <a:r>
            <a:rPr lang="bg-BG" b="0" i="0"/>
            <a:t>За всяка услуга е позволен ограничен брой едновременни връзки.</a:t>
          </a:r>
          <a:endParaRPr lang="en-US"/>
        </a:p>
      </dgm:t>
    </dgm:pt>
    <dgm:pt modelId="{3F6D1DB8-D41D-4F58-B187-76834CBCEBAD}" type="parTrans" cxnId="{4B16013D-DBBB-4655-9D1E-1F27AB7A5429}">
      <dgm:prSet/>
      <dgm:spPr/>
      <dgm:t>
        <a:bodyPr/>
        <a:lstStyle/>
        <a:p>
          <a:endParaRPr lang="en-US"/>
        </a:p>
      </dgm:t>
    </dgm:pt>
    <dgm:pt modelId="{18F8F7FB-6343-4AD3-834F-03403D6B898F}" type="sibTrans" cxnId="{4B16013D-DBBB-4655-9D1E-1F27AB7A5429}">
      <dgm:prSet/>
      <dgm:spPr/>
      <dgm:t>
        <a:bodyPr/>
        <a:lstStyle/>
        <a:p>
          <a:endParaRPr lang="en-US"/>
        </a:p>
      </dgm:t>
    </dgm:pt>
    <dgm:pt modelId="{20C9316F-70E3-4001-AA79-F07488E08FAF}">
      <dgm:prSet/>
      <dgm:spPr/>
      <dgm:t>
        <a:bodyPr/>
        <a:lstStyle/>
        <a:p>
          <a:r>
            <a:rPr lang="bg-BG" b="0" i="0"/>
            <a:t>Пакетите ограничават броя на сървърните комутатори, честотната лента и скоростта, достъпни в дадения пакет.</a:t>
          </a:r>
          <a:endParaRPr lang="en-US"/>
        </a:p>
      </dgm:t>
    </dgm:pt>
    <dgm:pt modelId="{AC1B7F50-5B68-475E-8FC3-F0D7EE447449}" type="parTrans" cxnId="{BB03B706-F39D-4E4F-9A61-F14AE32102D5}">
      <dgm:prSet/>
      <dgm:spPr/>
      <dgm:t>
        <a:bodyPr/>
        <a:lstStyle/>
        <a:p>
          <a:endParaRPr lang="en-US"/>
        </a:p>
      </dgm:t>
    </dgm:pt>
    <dgm:pt modelId="{73CE230F-9035-4AEE-9B35-35B17CDB9BBC}" type="sibTrans" cxnId="{BB03B706-F39D-4E4F-9A61-F14AE32102D5}">
      <dgm:prSet/>
      <dgm:spPr/>
      <dgm:t>
        <a:bodyPr/>
        <a:lstStyle/>
        <a:p>
          <a:endParaRPr lang="en-US"/>
        </a:p>
      </dgm:t>
    </dgm:pt>
    <dgm:pt modelId="{8857C429-0CDE-4EF4-981F-F810D59ABB31}" type="pres">
      <dgm:prSet presAssocID="{1FE49147-60F1-4000-8856-EFE95E19B44E}" presName="linear" presStyleCnt="0">
        <dgm:presLayoutVars>
          <dgm:animLvl val="lvl"/>
          <dgm:resizeHandles val="exact"/>
        </dgm:presLayoutVars>
      </dgm:prSet>
      <dgm:spPr/>
      <dgm:t>
        <a:bodyPr/>
        <a:lstStyle/>
        <a:p>
          <a:endParaRPr lang="bg-BG"/>
        </a:p>
      </dgm:t>
    </dgm:pt>
    <dgm:pt modelId="{1CDD2736-0DDE-451B-9C6D-BD7B3EC5D99D}" type="pres">
      <dgm:prSet presAssocID="{129AD26B-9ED5-4E4C-8D92-99399279CE2F}" presName="parentText" presStyleLbl="node1" presStyleIdx="0" presStyleCnt="3">
        <dgm:presLayoutVars>
          <dgm:chMax val="0"/>
          <dgm:bulletEnabled val="1"/>
        </dgm:presLayoutVars>
      </dgm:prSet>
      <dgm:spPr/>
      <dgm:t>
        <a:bodyPr/>
        <a:lstStyle/>
        <a:p>
          <a:endParaRPr lang="bg-BG"/>
        </a:p>
      </dgm:t>
    </dgm:pt>
    <dgm:pt modelId="{B577775B-4C5A-47B0-8CB0-1F675615CA15}" type="pres">
      <dgm:prSet presAssocID="{03C1B6EF-2DCE-40EE-BE58-C4C63127F274}" presName="spacer" presStyleCnt="0"/>
      <dgm:spPr/>
    </dgm:pt>
    <dgm:pt modelId="{F516DDE8-83E2-4D3F-8C34-F4C8BCCDB379}" type="pres">
      <dgm:prSet presAssocID="{D7DC8997-DD92-4BD3-91F2-431A830148C9}" presName="parentText" presStyleLbl="node1" presStyleIdx="1" presStyleCnt="3">
        <dgm:presLayoutVars>
          <dgm:chMax val="0"/>
          <dgm:bulletEnabled val="1"/>
        </dgm:presLayoutVars>
      </dgm:prSet>
      <dgm:spPr/>
      <dgm:t>
        <a:bodyPr/>
        <a:lstStyle/>
        <a:p>
          <a:endParaRPr lang="bg-BG"/>
        </a:p>
      </dgm:t>
    </dgm:pt>
    <dgm:pt modelId="{D5CF5AF3-7516-40B7-B893-F84D423A79A5}" type="pres">
      <dgm:prSet presAssocID="{18F8F7FB-6343-4AD3-834F-03403D6B898F}" presName="spacer" presStyleCnt="0"/>
      <dgm:spPr/>
    </dgm:pt>
    <dgm:pt modelId="{3AD37B2A-7587-4F2B-8254-8C98BA684960}" type="pres">
      <dgm:prSet presAssocID="{20C9316F-70E3-4001-AA79-F07488E08FAF}" presName="parentText" presStyleLbl="node1" presStyleIdx="2" presStyleCnt="3">
        <dgm:presLayoutVars>
          <dgm:chMax val="0"/>
          <dgm:bulletEnabled val="1"/>
        </dgm:presLayoutVars>
      </dgm:prSet>
      <dgm:spPr/>
      <dgm:t>
        <a:bodyPr/>
        <a:lstStyle/>
        <a:p>
          <a:endParaRPr lang="bg-BG"/>
        </a:p>
      </dgm:t>
    </dgm:pt>
  </dgm:ptLst>
  <dgm:cxnLst>
    <dgm:cxn modelId="{BB03B706-F39D-4E4F-9A61-F14AE32102D5}" srcId="{1FE49147-60F1-4000-8856-EFE95E19B44E}" destId="{20C9316F-70E3-4001-AA79-F07488E08FAF}" srcOrd="2" destOrd="0" parTransId="{AC1B7F50-5B68-475E-8FC3-F0D7EE447449}" sibTransId="{73CE230F-9035-4AEE-9B35-35B17CDB9BBC}"/>
    <dgm:cxn modelId="{DAD51AE5-1195-43F6-B05A-9C46A18F3519}" srcId="{1FE49147-60F1-4000-8856-EFE95E19B44E}" destId="{129AD26B-9ED5-4E4C-8D92-99399279CE2F}" srcOrd="0" destOrd="0" parTransId="{418B363E-969C-47D5-BB1B-45B72BC88675}" sibTransId="{03C1B6EF-2DCE-40EE-BE58-C4C63127F274}"/>
    <dgm:cxn modelId="{85715503-60BC-44D3-A59C-E3E5B30600CA}" type="presOf" srcId="{129AD26B-9ED5-4E4C-8D92-99399279CE2F}" destId="{1CDD2736-0DDE-451B-9C6D-BD7B3EC5D99D}" srcOrd="0" destOrd="0" presId="urn:microsoft.com/office/officeart/2005/8/layout/vList2"/>
    <dgm:cxn modelId="{4B16013D-DBBB-4655-9D1E-1F27AB7A5429}" srcId="{1FE49147-60F1-4000-8856-EFE95E19B44E}" destId="{D7DC8997-DD92-4BD3-91F2-431A830148C9}" srcOrd="1" destOrd="0" parTransId="{3F6D1DB8-D41D-4F58-B187-76834CBCEBAD}" sibTransId="{18F8F7FB-6343-4AD3-834F-03403D6B898F}"/>
    <dgm:cxn modelId="{F93551D1-80C5-45A3-923A-F297C4AF8EA4}" type="presOf" srcId="{20C9316F-70E3-4001-AA79-F07488E08FAF}" destId="{3AD37B2A-7587-4F2B-8254-8C98BA684960}" srcOrd="0" destOrd="0" presId="urn:microsoft.com/office/officeart/2005/8/layout/vList2"/>
    <dgm:cxn modelId="{90CC7241-65CE-42CA-AE3B-780D61350C0F}" type="presOf" srcId="{1FE49147-60F1-4000-8856-EFE95E19B44E}" destId="{8857C429-0CDE-4EF4-981F-F810D59ABB31}" srcOrd="0" destOrd="0" presId="urn:microsoft.com/office/officeart/2005/8/layout/vList2"/>
    <dgm:cxn modelId="{DE1BAEF8-4258-40FB-A829-1EAE84DAF3E9}" type="presOf" srcId="{D7DC8997-DD92-4BD3-91F2-431A830148C9}" destId="{F516DDE8-83E2-4D3F-8C34-F4C8BCCDB379}" srcOrd="0" destOrd="0" presId="urn:microsoft.com/office/officeart/2005/8/layout/vList2"/>
    <dgm:cxn modelId="{737A00F9-94D5-44B7-8AB4-2FA7524F1715}" type="presParOf" srcId="{8857C429-0CDE-4EF4-981F-F810D59ABB31}" destId="{1CDD2736-0DDE-451B-9C6D-BD7B3EC5D99D}" srcOrd="0" destOrd="0" presId="urn:microsoft.com/office/officeart/2005/8/layout/vList2"/>
    <dgm:cxn modelId="{327EE9BA-7B9C-4A0E-A526-C4DE8606D3C6}" type="presParOf" srcId="{8857C429-0CDE-4EF4-981F-F810D59ABB31}" destId="{B577775B-4C5A-47B0-8CB0-1F675615CA15}" srcOrd="1" destOrd="0" presId="urn:microsoft.com/office/officeart/2005/8/layout/vList2"/>
    <dgm:cxn modelId="{086F77B2-9A6F-4379-8DB5-C74F8FEEEB32}" type="presParOf" srcId="{8857C429-0CDE-4EF4-981F-F810D59ABB31}" destId="{F516DDE8-83E2-4D3F-8C34-F4C8BCCDB379}" srcOrd="2" destOrd="0" presId="urn:microsoft.com/office/officeart/2005/8/layout/vList2"/>
    <dgm:cxn modelId="{C0C8A894-E538-437B-8A88-8FF4442741E3}" type="presParOf" srcId="{8857C429-0CDE-4EF4-981F-F810D59ABB31}" destId="{D5CF5AF3-7516-40B7-B893-F84D423A79A5}" srcOrd="3" destOrd="0" presId="urn:microsoft.com/office/officeart/2005/8/layout/vList2"/>
    <dgm:cxn modelId="{DC132B55-9C32-4BD6-8737-C74648EE0CCA}" type="presParOf" srcId="{8857C429-0CDE-4EF4-981F-F810D59ABB31}" destId="{3AD37B2A-7587-4F2B-8254-8C98BA684960}"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C9D75-CED6-4872-A431-7078F592D3C7}">
      <dsp:nvSpPr>
        <dsp:cNvPr id="0" name=""/>
        <dsp:cNvSpPr/>
      </dsp:nvSpPr>
      <dsp:spPr>
        <a:xfrm>
          <a:off x="0" y="0"/>
          <a:ext cx="5047440" cy="1038058"/>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bg-BG" sz="1600" b="0" i="0" kern="1200"/>
            <a:t>VPN услугите са значително по-евтини от други конфигурации за сигурност.</a:t>
          </a:r>
          <a:endParaRPr lang="en-US" sz="1600" kern="1200"/>
        </a:p>
      </dsp:txBody>
      <dsp:txXfrm>
        <a:off x="30404" y="30404"/>
        <a:ext cx="3839577" cy="977250"/>
      </dsp:txXfrm>
    </dsp:sp>
    <dsp:sp modelId="{5C59FAA3-E30A-4777-A2D1-D5B0D629F3EC}">
      <dsp:nvSpPr>
        <dsp:cNvPr id="0" name=""/>
        <dsp:cNvSpPr/>
      </dsp:nvSpPr>
      <dsp:spPr>
        <a:xfrm>
          <a:off x="422723" y="1226796"/>
          <a:ext cx="5047440" cy="1038058"/>
        </a:xfrm>
        <a:prstGeom prst="roundRect">
          <a:avLst>
            <a:gd name="adj" fmla="val 1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bg-BG" sz="1600" b="0" i="0" kern="1200"/>
            <a:t>Не е нужно да се тревожите за хардуер за сигурност, който трябва да инсталирате.</a:t>
          </a:r>
          <a:endParaRPr lang="en-US" sz="1600" kern="1200"/>
        </a:p>
      </dsp:txBody>
      <dsp:txXfrm>
        <a:off x="453127" y="1257200"/>
        <a:ext cx="3889170" cy="977250"/>
      </dsp:txXfrm>
    </dsp:sp>
    <dsp:sp modelId="{99AC0459-5D7F-42A7-9401-43ADD6922C2D}">
      <dsp:nvSpPr>
        <dsp:cNvPr id="0" name=""/>
        <dsp:cNvSpPr/>
      </dsp:nvSpPr>
      <dsp:spPr>
        <a:xfrm>
          <a:off x="839136" y="2453592"/>
          <a:ext cx="5047440" cy="1038058"/>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bg-BG" sz="1600" b="0" i="0" kern="1200"/>
            <a:t>Не са необходими външни специалисти, което елиминира необходимостта от заплащане на такси за настройване, инсталиране или месечни такси.</a:t>
          </a:r>
          <a:endParaRPr lang="en-US" sz="1600" kern="1200"/>
        </a:p>
      </dsp:txBody>
      <dsp:txXfrm>
        <a:off x="869540" y="2483996"/>
        <a:ext cx="3895480" cy="977250"/>
      </dsp:txXfrm>
    </dsp:sp>
    <dsp:sp modelId="{C7702C33-7173-414B-9025-6C99FDB9BA85}">
      <dsp:nvSpPr>
        <dsp:cNvPr id="0" name=""/>
        <dsp:cNvSpPr/>
      </dsp:nvSpPr>
      <dsp:spPr>
        <a:xfrm>
          <a:off x="1261859" y="3680389"/>
          <a:ext cx="5047440" cy="1038058"/>
        </a:xfrm>
        <a:prstGeom prst="roundRect">
          <a:avLst>
            <a:gd name="adj" fmla="val 10000"/>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bg-BG" sz="1600" b="0" i="0" kern="1200"/>
            <a:t>Трябва само да вземете предвид разходите за месечна или годишна такса.</a:t>
          </a:r>
          <a:endParaRPr lang="en-US" sz="1600" kern="1200"/>
        </a:p>
      </dsp:txBody>
      <dsp:txXfrm>
        <a:off x="1292263" y="3710793"/>
        <a:ext cx="3889170" cy="977250"/>
      </dsp:txXfrm>
    </dsp:sp>
    <dsp:sp modelId="{0EFBD0B1-7A6B-49D7-A781-411DA74B1A76}">
      <dsp:nvSpPr>
        <dsp:cNvPr id="0" name=""/>
        <dsp:cNvSpPr/>
      </dsp:nvSpPr>
      <dsp:spPr>
        <a:xfrm>
          <a:off x="4372701" y="795058"/>
          <a:ext cx="674738" cy="674738"/>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US" sz="3200" kern="1200"/>
        </a:p>
      </dsp:txBody>
      <dsp:txXfrm>
        <a:off x="4524517" y="795058"/>
        <a:ext cx="371106" cy="507740"/>
      </dsp:txXfrm>
    </dsp:sp>
    <dsp:sp modelId="{6CB9D099-E805-4093-8270-6CF840FB1757}">
      <dsp:nvSpPr>
        <dsp:cNvPr id="0" name=""/>
        <dsp:cNvSpPr/>
      </dsp:nvSpPr>
      <dsp:spPr>
        <a:xfrm>
          <a:off x="4795425" y="2021854"/>
          <a:ext cx="674738" cy="674738"/>
        </a:xfrm>
        <a:prstGeom prst="downArrow">
          <a:avLst>
            <a:gd name="adj1" fmla="val 55000"/>
            <a:gd name="adj2" fmla="val 45000"/>
          </a:avLst>
        </a:prstGeom>
        <a:solidFill>
          <a:schemeClr val="accent3">
            <a:tint val="40000"/>
            <a:alpha val="90000"/>
            <a:hueOff val="0"/>
            <a:satOff val="0"/>
            <a:lumOff val="0"/>
            <a:alphaOff val="0"/>
          </a:schemeClr>
        </a:solidFill>
        <a:ln w="1587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US" sz="3200" kern="1200"/>
        </a:p>
      </dsp:txBody>
      <dsp:txXfrm>
        <a:off x="4947241" y="2021854"/>
        <a:ext cx="371106" cy="507740"/>
      </dsp:txXfrm>
    </dsp:sp>
    <dsp:sp modelId="{AE48A046-8386-4B08-A1CF-57234A1BA237}">
      <dsp:nvSpPr>
        <dsp:cNvPr id="0" name=""/>
        <dsp:cNvSpPr/>
      </dsp:nvSpPr>
      <dsp:spPr>
        <a:xfrm>
          <a:off x="5211838" y="3248651"/>
          <a:ext cx="674738" cy="674738"/>
        </a:xfrm>
        <a:prstGeom prst="downArrow">
          <a:avLst>
            <a:gd name="adj1" fmla="val 55000"/>
            <a:gd name="adj2" fmla="val 45000"/>
          </a:avLst>
        </a:prstGeom>
        <a:solidFill>
          <a:schemeClr val="accent4">
            <a:tint val="40000"/>
            <a:alpha val="90000"/>
            <a:hueOff val="0"/>
            <a:satOff val="0"/>
            <a:lumOff val="0"/>
            <a:alphaOff val="0"/>
          </a:schemeClr>
        </a:solidFill>
        <a:ln w="1587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endParaRPr lang="en-US" sz="3200" kern="1200"/>
        </a:p>
      </dsp:txBody>
      <dsp:txXfrm>
        <a:off x="5363654" y="3248651"/>
        <a:ext cx="371106" cy="5077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16ABC-5277-42A3-B759-3536F6C161B9}">
      <dsp:nvSpPr>
        <dsp:cNvPr id="0" name=""/>
        <dsp:cNvSpPr/>
      </dsp:nvSpPr>
      <dsp:spPr>
        <a:xfrm>
          <a:off x="1263" y="386733"/>
          <a:ext cx="4436243" cy="281701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BD4792-B048-43F5-8C2B-4CFF8A2D7D3E}">
      <dsp:nvSpPr>
        <dsp:cNvPr id="0" name=""/>
        <dsp:cNvSpPr/>
      </dsp:nvSpPr>
      <dsp:spPr>
        <a:xfrm>
          <a:off x="494179" y="855003"/>
          <a:ext cx="4436243" cy="281701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bg-BG" sz="2600" b="0" i="0" kern="1200"/>
            <a:t>Много VPN услуги имат лесен за ползване интерфейс, което е идеално за начинаещи или потребители, които не са особено напред в техническо отношение.</a:t>
          </a:r>
          <a:endParaRPr lang="en-US" sz="2600" kern="1200"/>
        </a:p>
      </dsp:txBody>
      <dsp:txXfrm>
        <a:off x="576687" y="937511"/>
        <a:ext cx="4271227" cy="2651998"/>
      </dsp:txXfrm>
    </dsp:sp>
    <dsp:sp modelId="{C782E47F-67A4-404E-92A1-E92FFE806974}">
      <dsp:nvSpPr>
        <dsp:cNvPr id="0" name=""/>
        <dsp:cNvSpPr/>
      </dsp:nvSpPr>
      <dsp:spPr>
        <a:xfrm>
          <a:off x="5423338" y="386733"/>
          <a:ext cx="4436243" cy="281701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47C3A5-A69B-48F4-A558-341F14BE6E12}">
      <dsp:nvSpPr>
        <dsp:cNvPr id="0" name=""/>
        <dsp:cNvSpPr/>
      </dsp:nvSpPr>
      <dsp:spPr>
        <a:xfrm>
          <a:off x="5916254" y="855003"/>
          <a:ext cx="4436243" cy="281701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bg-BG" sz="2600" b="0" i="0" kern="1200"/>
            <a:t>Удобният за потребителя дизайн прави използването на VPN услуга много по-лесно като цяло</a:t>
          </a:r>
          <a:endParaRPr lang="en-US" sz="2600" kern="1200"/>
        </a:p>
      </dsp:txBody>
      <dsp:txXfrm>
        <a:off x="5998762" y="937511"/>
        <a:ext cx="4271227" cy="26519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07EA0C-CB85-44A0-8D98-2D90770C3077}">
      <dsp:nvSpPr>
        <dsp:cNvPr id="0" name=""/>
        <dsp:cNvSpPr/>
      </dsp:nvSpPr>
      <dsp:spPr>
        <a:xfrm>
          <a:off x="9099" y="1213659"/>
          <a:ext cx="2719861" cy="1631917"/>
        </a:xfrm>
        <a:prstGeom prst="roundRect">
          <a:avLst>
            <a:gd name="adj" fmla="val 10000"/>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bg-BG" sz="1400" b="0" i="0" kern="1200"/>
            <a:t>Една VPN услуга може да струва повече или по-малко в зависимост от функциите, така че трябва да проучите добре сегмента, за да сте сигурни, че получавате достатъчни висока стойност срещу парите си.</a:t>
          </a:r>
          <a:endParaRPr lang="en-US" sz="1400" kern="1200"/>
        </a:p>
      </dsp:txBody>
      <dsp:txXfrm>
        <a:off x="56896" y="1261456"/>
        <a:ext cx="2624267" cy="1536323"/>
      </dsp:txXfrm>
    </dsp:sp>
    <dsp:sp modelId="{1E4E5CE9-A401-47EC-A968-EB1452EC2270}">
      <dsp:nvSpPr>
        <dsp:cNvPr id="0" name=""/>
        <dsp:cNvSpPr/>
      </dsp:nvSpPr>
      <dsp:spPr>
        <a:xfrm>
          <a:off x="2968309" y="1692355"/>
          <a:ext cx="576610" cy="674525"/>
        </a:xfrm>
        <a:prstGeom prst="rightArrow">
          <a:avLst>
            <a:gd name="adj1" fmla="val 60000"/>
            <a:gd name="adj2" fmla="val 50000"/>
          </a:avLst>
        </a:prstGeom>
        <a:gradFill rotWithShape="0">
          <a:gsLst>
            <a:gs pos="0">
              <a:schemeClr val="accent5">
                <a:hueOff val="0"/>
                <a:satOff val="0"/>
                <a:lumOff val="0"/>
                <a:alphaOff val="0"/>
                <a:tint val="96000"/>
                <a:lumMod val="104000"/>
              </a:schemeClr>
            </a:gs>
            <a:gs pos="100000">
              <a:schemeClr val="accent5">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2968309" y="1827260"/>
        <a:ext cx="403627" cy="404715"/>
      </dsp:txXfrm>
    </dsp:sp>
    <dsp:sp modelId="{522BE736-A1E3-47A6-A47F-C6E8BB8E4DD7}">
      <dsp:nvSpPr>
        <dsp:cNvPr id="0" name=""/>
        <dsp:cNvSpPr/>
      </dsp:nvSpPr>
      <dsp:spPr>
        <a:xfrm>
          <a:off x="3816906" y="1213659"/>
          <a:ext cx="2719861" cy="1631917"/>
        </a:xfrm>
        <a:prstGeom prst="roundRect">
          <a:avLst>
            <a:gd name="adj" fmla="val 10000"/>
          </a:avLst>
        </a:prstGeom>
        <a:gradFill rotWithShape="0">
          <a:gsLst>
            <a:gs pos="0">
              <a:schemeClr val="accent5">
                <a:hueOff val="801523"/>
                <a:satOff val="-9438"/>
                <a:lumOff val="6274"/>
                <a:alphaOff val="0"/>
                <a:tint val="96000"/>
                <a:lumMod val="104000"/>
              </a:schemeClr>
            </a:gs>
            <a:gs pos="100000">
              <a:schemeClr val="accent5">
                <a:hueOff val="801523"/>
                <a:satOff val="-9438"/>
                <a:lumOff val="6274"/>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bg-BG" sz="1400" b="0" i="0" kern="1200"/>
            <a:t>Срокът на абонамента също променя цената.</a:t>
          </a:r>
          <a:endParaRPr lang="en-US" sz="1400" kern="1200"/>
        </a:p>
      </dsp:txBody>
      <dsp:txXfrm>
        <a:off x="3864703" y="1261456"/>
        <a:ext cx="2624267" cy="1536323"/>
      </dsp:txXfrm>
    </dsp:sp>
    <dsp:sp modelId="{D001B599-85B7-4BFA-9C36-7BBC3D06BB91}">
      <dsp:nvSpPr>
        <dsp:cNvPr id="0" name=""/>
        <dsp:cNvSpPr/>
      </dsp:nvSpPr>
      <dsp:spPr>
        <a:xfrm>
          <a:off x="6776116" y="1692355"/>
          <a:ext cx="576610" cy="674525"/>
        </a:xfrm>
        <a:prstGeom prst="rightArrow">
          <a:avLst>
            <a:gd name="adj1" fmla="val 60000"/>
            <a:gd name="adj2" fmla="val 50000"/>
          </a:avLst>
        </a:prstGeom>
        <a:gradFill rotWithShape="0">
          <a:gsLst>
            <a:gs pos="0">
              <a:schemeClr val="accent5">
                <a:hueOff val="1603046"/>
                <a:satOff val="-18876"/>
                <a:lumOff val="12549"/>
                <a:alphaOff val="0"/>
                <a:tint val="96000"/>
                <a:lumMod val="104000"/>
              </a:schemeClr>
            </a:gs>
            <a:gs pos="100000">
              <a:schemeClr val="accent5">
                <a:hueOff val="1603046"/>
                <a:satOff val="-18876"/>
                <a:lumOff val="12549"/>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6776116" y="1827260"/>
        <a:ext cx="403627" cy="404715"/>
      </dsp:txXfrm>
    </dsp:sp>
    <dsp:sp modelId="{59EE08E4-D6BB-45DB-AA90-AA0713E1F1A1}">
      <dsp:nvSpPr>
        <dsp:cNvPr id="0" name=""/>
        <dsp:cNvSpPr/>
      </dsp:nvSpPr>
      <dsp:spPr>
        <a:xfrm>
          <a:off x="7624713" y="1213659"/>
          <a:ext cx="2719861" cy="1631917"/>
        </a:xfrm>
        <a:prstGeom prst="roundRect">
          <a:avLst>
            <a:gd name="adj" fmla="val 10000"/>
          </a:avLst>
        </a:prstGeom>
        <a:gradFill rotWithShape="0">
          <a:gsLst>
            <a:gs pos="0">
              <a:schemeClr val="accent5">
                <a:hueOff val="1603046"/>
                <a:satOff val="-18876"/>
                <a:lumOff val="12549"/>
                <a:alphaOff val="0"/>
                <a:tint val="96000"/>
                <a:lumMod val="104000"/>
              </a:schemeClr>
            </a:gs>
            <a:gs pos="100000">
              <a:schemeClr val="accent5">
                <a:hueOff val="1603046"/>
                <a:satOff val="-18876"/>
                <a:lumOff val="12549"/>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bg-BG" sz="1400" b="0" i="0" kern="1200"/>
            <a:t>Безплатните услуги нямат същите нива на сигурност и всъщност могат да представляват риск за сигурността или поверителността на данните ви.</a:t>
          </a:r>
          <a:endParaRPr lang="en-US" sz="1400" kern="1200"/>
        </a:p>
      </dsp:txBody>
      <dsp:txXfrm>
        <a:off x="7672510" y="1261456"/>
        <a:ext cx="2624267" cy="15363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9CEC93-378B-499A-8A2B-8662ABE4DD8B}">
      <dsp:nvSpPr>
        <dsp:cNvPr id="0" name=""/>
        <dsp:cNvSpPr/>
      </dsp:nvSpPr>
      <dsp:spPr>
        <a:xfrm>
          <a:off x="1263" y="879238"/>
          <a:ext cx="4600548" cy="23002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bg-BG" sz="2600" b="0" i="0" kern="1200" dirty="0"/>
            <a:t>Ако липсва удобен за ползване дизайн, може да изгубите излишно много време в опити да конфигурирате вашата VPN услуга.</a:t>
          </a:r>
          <a:endParaRPr lang="en-US" sz="2600" kern="1200" dirty="0"/>
        </a:p>
      </dsp:txBody>
      <dsp:txXfrm>
        <a:off x="68636" y="946611"/>
        <a:ext cx="4465802" cy="2165528"/>
      </dsp:txXfrm>
    </dsp:sp>
    <dsp:sp modelId="{9D950C8F-DA88-46B7-B8BB-9A86FADFAE4C}">
      <dsp:nvSpPr>
        <dsp:cNvPr id="0" name=""/>
        <dsp:cNvSpPr/>
      </dsp:nvSpPr>
      <dsp:spPr>
        <a:xfrm>
          <a:off x="5751949" y="879238"/>
          <a:ext cx="4600548" cy="230027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33020" rIns="49530" bIns="33020" numCol="1" spcCol="1270" anchor="ctr" anchorCtr="0">
          <a:noAutofit/>
        </a:bodyPr>
        <a:lstStyle/>
        <a:p>
          <a:pPr lvl="0" algn="ctr" defTabSz="1155700">
            <a:lnSpc>
              <a:spcPct val="90000"/>
            </a:lnSpc>
            <a:spcBef>
              <a:spcPct val="0"/>
            </a:spcBef>
            <a:spcAft>
              <a:spcPct val="35000"/>
            </a:spcAft>
          </a:pPr>
          <a:r>
            <a:rPr lang="bg-BG" sz="2600" b="0" i="0" kern="1200"/>
            <a:t>Ръчното настройване понякога може да доведе до изтичане на DNS и IP адреси</a:t>
          </a:r>
          <a:endParaRPr lang="en-US" sz="2600" kern="1200"/>
        </a:p>
      </dsp:txBody>
      <dsp:txXfrm>
        <a:off x="5819322" y="946611"/>
        <a:ext cx="4465802" cy="21655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D2736-0DDE-451B-9C6D-BD7B3EC5D99D}">
      <dsp:nvSpPr>
        <dsp:cNvPr id="0" name=""/>
        <dsp:cNvSpPr/>
      </dsp:nvSpPr>
      <dsp:spPr>
        <a:xfrm>
          <a:off x="0" y="321543"/>
          <a:ext cx="6266011" cy="136890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bg-BG" sz="2600" b="0" i="0" kern="1200" dirty="0"/>
            <a:t>Някои VPN услуги имат ограничения касаещи мащабирането, в зависимост от закупения пакет.</a:t>
          </a:r>
          <a:endParaRPr lang="en-US" sz="2600" kern="1200" dirty="0"/>
        </a:p>
      </dsp:txBody>
      <dsp:txXfrm>
        <a:off x="66824" y="388367"/>
        <a:ext cx="6132363" cy="1235252"/>
      </dsp:txXfrm>
    </dsp:sp>
    <dsp:sp modelId="{F516DDE8-83E2-4D3F-8C34-F4C8BCCDB379}">
      <dsp:nvSpPr>
        <dsp:cNvPr id="0" name=""/>
        <dsp:cNvSpPr/>
      </dsp:nvSpPr>
      <dsp:spPr>
        <a:xfrm>
          <a:off x="0" y="1765323"/>
          <a:ext cx="6266011" cy="1368900"/>
        </a:xfrm>
        <a:prstGeom prst="roundRect">
          <a:avLst/>
        </a:prstGeom>
        <a:gradFill rotWithShape="0">
          <a:gsLst>
            <a:gs pos="0">
              <a:schemeClr val="accent2">
                <a:hueOff val="-355029"/>
                <a:satOff val="-2934"/>
                <a:lumOff val="-6274"/>
                <a:alphaOff val="0"/>
                <a:tint val="96000"/>
                <a:lumMod val="104000"/>
              </a:schemeClr>
            </a:gs>
            <a:gs pos="100000">
              <a:schemeClr val="accent2">
                <a:hueOff val="-355029"/>
                <a:satOff val="-2934"/>
                <a:lumOff val="-6274"/>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bg-BG" sz="2600" b="0" i="0" kern="1200"/>
            <a:t>За всяка услуга е позволен ограничен брой едновременни връзки.</a:t>
          </a:r>
          <a:endParaRPr lang="en-US" sz="2600" kern="1200"/>
        </a:p>
      </dsp:txBody>
      <dsp:txXfrm>
        <a:off x="66824" y="1832147"/>
        <a:ext cx="6132363" cy="1235252"/>
      </dsp:txXfrm>
    </dsp:sp>
    <dsp:sp modelId="{3AD37B2A-7587-4F2B-8254-8C98BA684960}">
      <dsp:nvSpPr>
        <dsp:cNvPr id="0" name=""/>
        <dsp:cNvSpPr/>
      </dsp:nvSpPr>
      <dsp:spPr>
        <a:xfrm>
          <a:off x="0" y="3209103"/>
          <a:ext cx="6266011" cy="1368900"/>
        </a:xfrm>
        <a:prstGeom prst="roundRect">
          <a:avLst/>
        </a:prstGeom>
        <a:gradFill rotWithShape="0">
          <a:gsLst>
            <a:gs pos="0">
              <a:schemeClr val="accent2">
                <a:hueOff val="-710059"/>
                <a:satOff val="-5868"/>
                <a:lumOff val="-12549"/>
                <a:alphaOff val="0"/>
                <a:tint val="96000"/>
                <a:lumMod val="104000"/>
              </a:schemeClr>
            </a:gs>
            <a:gs pos="100000">
              <a:schemeClr val="accent2">
                <a:hueOff val="-710059"/>
                <a:satOff val="-5868"/>
                <a:lumOff val="-12549"/>
                <a:alphaOff val="0"/>
                <a:shade val="90000"/>
                <a:lumMod val="90000"/>
              </a:schemeClr>
            </a:gs>
          </a:gsLst>
          <a:lin ang="5400000" scaled="0"/>
        </a:gradFill>
        <a:ln>
          <a:noFill/>
        </a:ln>
        <a:effectLst>
          <a:outerShdw blurRad="63500" dist="25400" dir="5400000"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bg-BG" sz="2600" b="0" i="0" kern="1200"/>
            <a:t>Пакетите ограничават броя на сървърните комутатори, честотната лента и скоростта, достъпни в дадения пакет.</a:t>
          </a:r>
          <a:endParaRPr lang="en-US" sz="2600" kern="1200"/>
        </a:p>
      </dsp:txBody>
      <dsp:txXfrm>
        <a:off x="66824" y="3275927"/>
        <a:ext cx="6132363" cy="123525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Заглавен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bg-BG"/>
              <a:t>Редакт. стил загл. образец</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bg-BG"/>
              <a:t>Щракнете, за да редактирате стила на подзаглавието в образеца</a:t>
            </a:r>
            <a:endParaRPr lang="en-US" dirty="0"/>
          </a:p>
        </p:txBody>
      </p:sp>
      <p:sp>
        <p:nvSpPr>
          <p:cNvPr id="4" name="Date Placeholder 3"/>
          <p:cNvSpPr>
            <a:spLocks noGrp="1"/>
          </p:cNvSpPr>
          <p:nvPr>
            <p:ph type="dt" sz="half" idx="10"/>
          </p:nvPr>
        </p:nvSpPr>
        <p:spPr/>
        <p:txBody>
          <a:bodyPr/>
          <a:lstStyle/>
          <a:p>
            <a:fld id="{2E7B11C4-5812-4EE1-9692-551353E66AEF}"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2788235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лавие и съдържа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Content Placeholder 2"/>
          <p:cNvSpPr>
            <a:spLocks noGrp="1"/>
          </p:cNvSpPr>
          <p:nvPr>
            <p:ph idx="1"/>
          </p:nvPr>
        </p:nvSpPr>
        <p:spPr/>
        <p:txBody>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2E7B11C4-5812-4EE1-9692-551353E66AEF}"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621340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лавка разд.">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bg-BG"/>
              <a:t>Редакт. стил загл. образец</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bg-BG"/>
              <a:t>Щракнете, за да редактирате стиловете на текста в образеца</a:t>
            </a:r>
          </a:p>
        </p:txBody>
      </p:sp>
      <p:sp>
        <p:nvSpPr>
          <p:cNvPr id="4" name="Date Placeholder 3"/>
          <p:cNvSpPr>
            <a:spLocks noGrp="1"/>
          </p:cNvSpPr>
          <p:nvPr>
            <p:ph type="dt" sz="half" idx="10"/>
          </p:nvPr>
        </p:nvSpPr>
        <p:spPr/>
        <p:txBody>
          <a:bodyPr/>
          <a:lstStyle/>
          <a:p>
            <a:fld id="{2E7B11C4-5812-4EE1-9692-551353E66AEF}"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3688655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е съдържани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926280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bg-BG"/>
              <a:t>Редакт. стил загл. образец</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7" name="Date Placeholder 6"/>
          <p:cNvSpPr>
            <a:spLocks noGrp="1"/>
          </p:cNvSpPr>
          <p:nvPr>
            <p:ph type="dt" sz="half" idx="10"/>
          </p:nvPr>
        </p:nvSpPr>
        <p:spPr/>
        <p:txBody>
          <a:bodyPr/>
          <a:lstStyle/>
          <a:p>
            <a:fld id="{2E7B11C4-5812-4EE1-9692-551353E66AEF}" type="datetimeFigureOut">
              <a:rPr lang="en-US" smtClean="0"/>
              <a:t>12/20/2022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410965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Само заглав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Date Placeholder 2"/>
          <p:cNvSpPr>
            <a:spLocks noGrp="1"/>
          </p:cNvSpPr>
          <p:nvPr>
            <p:ph type="dt" sz="half" idx="10"/>
          </p:nvPr>
        </p:nvSpPr>
        <p:spPr/>
        <p:txBody>
          <a:bodyPr/>
          <a:lstStyle/>
          <a:p>
            <a:fld id="{2E7B11C4-5812-4EE1-9692-551353E66AEF}" type="datetimeFigureOut">
              <a:rPr lang="en-US" smtClean="0"/>
              <a:t>12/20/2022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2118708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разе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7B11C4-5812-4EE1-9692-551353E66AEF}" type="datetimeFigureOut">
              <a:rPr lang="en-US" smtClean="0"/>
              <a:t>12/20/2022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997353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Съдържание с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bg-BG"/>
              <a:t>Редакт. стил загл. образец</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975697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Картина с надпис">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bg-BG"/>
              <a:t>Редакт. стил загл. образец</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350183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картина с надпис">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bg-BG"/>
              <a:t>Редакт. стил загл. образец</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bg-BG"/>
              <a:t>Щракнете върху иконата, за да добавите картина</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3315375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лавие и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bg-BG"/>
              <a:t>Редакт. стил загл. образец</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59051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 с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bg-BG"/>
              <a:t>Редакт. стил загл. образец</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9433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ичка с име">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bg-BG"/>
              <a:t>Редакт. стил загл. образец</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2E7B11C4-5812-4EE1-9692-551353E66AEF}" type="datetimeFigureOut">
              <a:rPr lang="en-US" smtClean="0"/>
              <a:t>12/20/2022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19404712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и">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bg-BG"/>
              <a:t>Редакт. стил загл. образец</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3" name="Date Placeholder 2"/>
          <p:cNvSpPr>
            <a:spLocks noGrp="1"/>
          </p:cNvSpPr>
          <p:nvPr>
            <p:ph type="dt" sz="half" idx="10"/>
          </p:nvPr>
        </p:nvSpPr>
        <p:spPr/>
        <p:txBody>
          <a:bodyPr/>
          <a:lstStyle/>
          <a:p>
            <a:fld id="{2E7B11C4-5812-4EE1-9692-551353E66AEF}" type="datetimeFigureOut">
              <a:rPr lang="en-US" smtClean="0"/>
              <a:t>12/20/2022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281446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и с картини">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bg-BG"/>
              <a:t>Редакт. стил загл. образец</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3" name="Date Placeholder 2"/>
          <p:cNvSpPr>
            <a:spLocks noGrp="1"/>
          </p:cNvSpPr>
          <p:nvPr>
            <p:ph type="dt" sz="half" idx="10"/>
          </p:nvPr>
        </p:nvSpPr>
        <p:spPr/>
        <p:txBody>
          <a:bodyPr/>
          <a:lstStyle/>
          <a:p>
            <a:fld id="{2E7B11C4-5812-4EE1-9692-551353E66AEF}" type="datetimeFigureOut">
              <a:rPr lang="en-US" smtClean="0"/>
              <a:t>12/20/2022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2742999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лавие и вертикален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Vertical Text Placeholder 2"/>
          <p:cNvSpPr>
            <a:spLocks noGrp="1"/>
          </p:cNvSpPr>
          <p:nvPr>
            <p:ph type="body" orient="vert" idx="1"/>
          </p:nvPr>
        </p:nvSpPr>
        <p:spPr/>
        <p:txBody>
          <a:bodyPr vert="eaVert" anchor="t"/>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2E7B11C4-5812-4EE1-9692-551353E66AEF}"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2645647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но заглавие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bg-BG"/>
              <a:t>Редакт. стил загл. образец</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2E7B11C4-5812-4EE1-9692-551353E66AEF}" type="datetimeFigureOut">
              <a:rPr lang="en-US" smtClean="0"/>
              <a:t>12/20/2022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2F1E49-4434-462C-9170-B43D8B919362}" type="slidenum">
              <a:rPr lang="en-US" smtClean="0"/>
              <a:t>‹#›</a:t>
            </a:fld>
            <a:endParaRPr lang="en-US"/>
          </a:p>
        </p:txBody>
      </p:sp>
    </p:spTree>
    <p:extLst>
      <p:ext uri="{BB962C8B-B14F-4D97-AF65-F5344CB8AC3E}">
        <p14:creationId xmlns:p14="http://schemas.microsoft.com/office/powerpoint/2010/main" val="3334846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bg-BG"/>
              <a:t>Редакт. стил загл. образец</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E7B11C4-5812-4EE1-9692-551353E66AEF}" type="datetimeFigureOut">
              <a:rPr lang="en-US" smtClean="0"/>
              <a:t>12/20/2022</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02F1E49-4434-462C-9170-B43D8B919362}" type="slidenum">
              <a:rPr lang="en-US" smtClean="0"/>
              <a:t>‹#›</a:t>
            </a:fld>
            <a:endParaRPr lang="en-US"/>
          </a:p>
        </p:txBody>
      </p:sp>
    </p:spTree>
    <p:extLst>
      <p:ext uri="{BB962C8B-B14F-4D97-AF65-F5344CB8AC3E}">
        <p14:creationId xmlns:p14="http://schemas.microsoft.com/office/powerpoint/2010/main" val="376109391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bg.wikipedia.org/wiki/%D0%92%D0%B8%D1%80%D1%82%D1%83%D0%B0%D0%BB%D0%B8%D0%B7%D0%B0%D1%86%D0%B8%D1%8F" TargetMode="External"/><Relationship Id="rId2" Type="http://schemas.openxmlformats.org/officeDocument/2006/relationships/hyperlink" Target="https://bg.vpnmentor.com/blog/%D0%BF%D1%80%D0%B5%D0%B4%D0%B8%D0%BC%D1%81%D1%82%D0%B2%D0%B0-%D0%B8-%D0%BD%D0%B5%D0%B4%D0%BE%D1%81%D1%82%D0%B0%D1%82%D1%8A%D1%86%D0%B8-%D0%BD%D0%B0-vpn-%D1%82%D0%B5%D1%85%D0%BD%D0%BE%D0%BB%D0%BE%D0%B3/" TargetMode="External"/><Relationship Id="rId1" Type="http://schemas.openxmlformats.org/officeDocument/2006/relationships/slideLayout" Target="../slideLayouts/slideLayout2.xml"/><Relationship Id="rId5" Type="http://schemas.openxmlformats.org/officeDocument/2006/relationships/hyperlink" Target="https://bg.wizcase.com/blog/%D0%BF%D1%8A%D0%BB%D0%BD%D0%BE-%D1%80%D1%8A%D0%BA%D0%BE%D0%B2%D0%BE%D0%B4%D1%81%D1%82%D0%B2%D0%BD%D0%B0%D1%87%D0%B8%D0%BD%D0%B0%D0%B5%D1%89%D0%B8-%D0%B7%D0%B0-vpn/" TargetMode="External"/><Relationship Id="rId4" Type="http://schemas.openxmlformats.org/officeDocument/2006/relationships/hyperlink" Target="http://vschool.info/cn/km2/vp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8562C3E3-1010-AB6E-CE31-7445277F45BA}"/>
              </a:ext>
            </a:extLst>
          </p:cNvPr>
          <p:cNvSpPr>
            <a:spLocks noGrp="1"/>
          </p:cNvSpPr>
          <p:nvPr>
            <p:ph type="ctrTitle"/>
          </p:nvPr>
        </p:nvSpPr>
        <p:spPr/>
        <p:txBody>
          <a:bodyPr>
            <a:normAutofit/>
          </a:bodyPr>
          <a:lstStyle/>
          <a:p>
            <a:r>
              <a:rPr lang="en-US" sz="3200" dirty="0"/>
              <a:t>VPN</a:t>
            </a:r>
            <a:r>
              <a:rPr lang="bg-BG" sz="3200" dirty="0"/>
              <a:t> характеристики и компоненти. Процеси при изграждане на </a:t>
            </a:r>
            <a:r>
              <a:rPr lang="en-US" sz="3200" dirty="0" err="1"/>
              <a:t>vpn</a:t>
            </a:r>
            <a:r>
              <a:rPr lang="bg-BG" sz="3200" dirty="0"/>
              <a:t> мрежа. Предимства и недостатъци. Процес на виртуализация</a:t>
            </a:r>
            <a:endParaRPr lang="en-US" sz="3200" dirty="0"/>
          </a:p>
        </p:txBody>
      </p:sp>
      <p:sp>
        <p:nvSpPr>
          <p:cNvPr id="3" name="Подзаглавие 2">
            <a:extLst>
              <a:ext uri="{FF2B5EF4-FFF2-40B4-BE49-F238E27FC236}">
                <a16:creationId xmlns:a16="http://schemas.microsoft.com/office/drawing/2014/main" xmlns="" id="{6C7062C2-5D4A-280C-7018-5898870CE3C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30679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F6D14246-2984-3C30-94FB-024D10221F5D}"/>
              </a:ext>
            </a:extLst>
          </p:cNvPr>
          <p:cNvSpPr>
            <a:spLocks noGrp="1"/>
          </p:cNvSpPr>
          <p:nvPr>
            <p:ph type="title"/>
          </p:nvPr>
        </p:nvSpPr>
        <p:spPr/>
        <p:txBody>
          <a:bodyPr/>
          <a:lstStyle/>
          <a:p>
            <a:r>
              <a:rPr lang="bg-BG" dirty="0"/>
              <a:t>СЪДЪРЖАНИЕ</a:t>
            </a:r>
            <a:endParaRPr lang="en-US" dirty="0"/>
          </a:p>
        </p:txBody>
      </p:sp>
      <p:sp>
        <p:nvSpPr>
          <p:cNvPr id="3" name="Контейнер за съдържание 2">
            <a:extLst>
              <a:ext uri="{FF2B5EF4-FFF2-40B4-BE49-F238E27FC236}">
                <a16:creationId xmlns:a16="http://schemas.microsoft.com/office/drawing/2014/main" xmlns="" id="{1759D26E-7564-6692-C60C-9E0FB5252BB3}"/>
              </a:ext>
            </a:extLst>
          </p:cNvPr>
          <p:cNvSpPr>
            <a:spLocks noGrp="1"/>
          </p:cNvSpPr>
          <p:nvPr>
            <p:ph idx="1"/>
          </p:nvPr>
        </p:nvSpPr>
        <p:spPr/>
        <p:txBody>
          <a:bodyPr/>
          <a:lstStyle/>
          <a:p>
            <a:pPr marL="494100" indent="-457200">
              <a:buFont typeface="+mj-lt"/>
              <a:buAutoNum type="arabicPeriod"/>
            </a:pPr>
            <a:r>
              <a:rPr lang="bg-BG" dirty="0"/>
              <a:t>Какво е </a:t>
            </a:r>
            <a:r>
              <a:rPr lang="en-US" dirty="0"/>
              <a:t>VPN</a:t>
            </a:r>
            <a:endParaRPr lang="bg-BG" dirty="0"/>
          </a:p>
          <a:p>
            <a:pPr marL="494100" indent="-457200">
              <a:buFont typeface="+mj-lt"/>
              <a:buAutoNum type="arabicPeriod"/>
            </a:pPr>
            <a:r>
              <a:rPr lang="bg-BG" dirty="0"/>
              <a:t>Характеристиката авариен ключ на </a:t>
            </a:r>
            <a:r>
              <a:rPr lang="en-US" dirty="0" err="1"/>
              <a:t>vpn</a:t>
            </a:r>
            <a:endParaRPr lang="bg-BG" dirty="0"/>
          </a:p>
          <a:p>
            <a:pPr marL="494100" indent="-457200">
              <a:buFont typeface="+mj-lt"/>
              <a:buAutoNum type="arabicPeriod"/>
            </a:pPr>
            <a:r>
              <a:rPr lang="bg-BG" dirty="0"/>
              <a:t>Изграждане на </a:t>
            </a:r>
            <a:r>
              <a:rPr lang="en-US" dirty="0" err="1"/>
              <a:t>vpn</a:t>
            </a:r>
            <a:r>
              <a:rPr lang="bg-BG" dirty="0"/>
              <a:t> мрежи</a:t>
            </a:r>
          </a:p>
          <a:p>
            <a:pPr marL="494100" indent="-457200">
              <a:buFont typeface="+mj-lt"/>
              <a:buAutoNum type="arabicPeriod"/>
            </a:pPr>
            <a:r>
              <a:rPr lang="en-US" dirty="0" err="1"/>
              <a:t>Vpn</a:t>
            </a:r>
            <a:r>
              <a:rPr lang="bg-BG" dirty="0"/>
              <a:t> мрежа за отдалечен достъп</a:t>
            </a:r>
          </a:p>
          <a:p>
            <a:pPr marL="494100" indent="-457200">
              <a:buFont typeface="+mj-lt"/>
              <a:buAutoNum type="arabicPeriod"/>
            </a:pPr>
            <a:r>
              <a:rPr lang="bg-BG" dirty="0"/>
              <a:t>Предимства и недостатъци на </a:t>
            </a:r>
            <a:r>
              <a:rPr lang="en-US" dirty="0" err="1"/>
              <a:t>vpn</a:t>
            </a:r>
            <a:endParaRPr lang="bg-BG" dirty="0"/>
          </a:p>
          <a:p>
            <a:pPr marL="494100" indent="-457200">
              <a:buFont typeface="+mj-lt"/>
              <a:buAutoNum type="arabicPeriod"/>
            </a:pPr>
            <a:r>
              <a:rPr lang="bg-BG" dirty="0"/>
              <a:t>Виртуализация  и видове виртуализация </a:t>
            </a:r>
          </a:p>
          <a:p>
            <a:pPr marL="494100" indent="-457200">
              <a:buFont typeface="+mj-lt"/>
              <a:buAutoNum type="arabicPeriod"/>
            </a:pPr>
            <a:endParaRPr lang="bg-BG" dirty="0"/>
          </a:p>
          <a:p>
            <a:pPr marL="494100" indent="-457200">
              <a:buFont typeface="+mj-lt"/>
              <a:buAutoNum type="arabicPeriod"/>
            </a:pPr>
            <a:endParaRPr lang="bg-BG" dirty="0"/>
          </a:p>
          <a:p>
            <a:pPr marL="494100" indent="-457200">
              <a:buFont typeface="+mj-lt"/>
              <a:buAutoNum type="arabicPeriod"/>
            </a:pPr>
            <a:endParaRPr lang="en-US" dirty="0"/>
          </a:p>
        </p:txBody>
      </p:sp>
    </p:spTree>
    <p:extLst>
      <p:ext uri="{BB962C8B-B14F-4D97-AF65-F5344CB8AC3E}">
        <p14:creationId xmlns:p14="http://schemas.microsoft.com/office/powerpoint/2010/main" val="2503789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4" name="Картина 3" descr="Картина, която съдържа текст, каска&#10;&#10;Описанието е генерирано автоматично">
            <a:extLst>
              <a:ext uri="{FF2B5EF4-FFF2-40B4-BE49-F238E27FC236}">
                <a16:creationId xmlns:a16="http://schemas.microsoft.com/office/drawing/2014/main" xmlns="" id="{B1DE8EE8-5A0C-B618-4800-3D696F9A4970}"/>
              </a:ext>
            </a:extLst>
          </p:cNvPr>
          <p:cNvPicPr>
            <a:picLocks noChangeAspect="1"/>
          </p:cNvPicPr>
          <p:nvPr/>
        </p:nvPicPr>
        <p:blipFill rotWithShape="1">
          <a:blip r:embed="rId3">
            <a:duotone>
              <a:prstClr val="black"/>
              <a:schemeClr val="tx2">
                <a:tint val="45000"/>
                <a:satMod val="400000"/>
              </a:schemeClr>
            </a:duotone>
            <a:alphaModFix amt="35000"/>
          </a:blip>
          <a:srcRect t="16903" b="26847"/>
          <a:stretch/>
        </p:blipFill>
        <p:spPr>
          <a:xfrm>
            <a:off x="20" y="10"/>
            <a:ext cx="12191980" cy="6857990"/>
          </a:xfrm>
          <a:prstGeom prst="rect">
            <a:avLst/>
          </a:prstGeom>
        </p:spPr>
      </p:pic>
      <p:sp>
        <p:nvSpPr>
          <p:cNvPr id="2" name="Заглавие 1">
            <a:extLst>
              <a:ext uri="{FF2B5EF4-FFF2-40B4-BE49-F238E27FC236}">
                <a16:creationId xmlns:a16="http://schemas.microsoft.com/office/drawing/2014/main" xmlns="" id="{00C97264-41FE-5FCC-BA4A-F8C606F34A23}"/>
              </a:ext>
            </a:extLst>
          </p:cNvPr>
          <p:cNvSpPr>
            <a:spLocks noGrp="1"/>
          </p:cNvSpPr>
          <p:nvPr>
            <p:ph type="title"/>
          </p:nvPr>
        </p:nvSpPr>
        <p:spPr>
          <a:xfrm>
            <a:off x="913795" y="609600"/>
            <a:ext cx="10353762" cy="970450"/>
          </a:xfrm>
        </p:spPr>
        <p:txBody>
          <a:bodyPr>
            <a:normAutofit/>
          </a:bodyPr>
          <a:lstStyle/>
          <a:p>
            <a:r>
              <a:rPr lang="bg-BG" dirty="0"/>
              <a:t>Какво е </a:t>
            </a:r>
            <a:r>
              <a:rPr lang="en-US" dirty="0"/>
              <a:t>VPN</a:t>
            </a:r>
            <a:r>
              <a:rPr lang="bg-BG" dirty="0"/>
              <a:t>?</a:t>
            </a:r>
            <a:endParaRPr lang="en-US" dirty="0"/>
          </a:p>
        </p:txBody>
      </p:sp>
      <p:sp>
        <p:nvSpPr>
          <p:cNvPr id="3" name="Контейнер за съдържание 2">
            <a:extLst>
              <a:ext uri="{FF2B5EF4-FFF2-40B4-BE49-F238E27FC236}">
                <a16:creationId xmlns:a16="http://schemas.microsoft.com/office/drawing/2014/main" xmlns="" id="{006A79F6-DDD8-5FF0-440F-35004D112246}"/>
              </a:ext>
            </a:extLst>
          </p:cNvPr>
          <p:cNvSpPr>
            <a:spLocks noGrp="1"/>
          </p:cNvSpPr>
          <p:nvPr>
            <p:ph idx="1"/>
          </p:nvPr>
        </p:nvSpPr>
        <p:spPr>
          <a:xfrm>
            <a:off x="913795" y="1732449"/>
            <a:ext cx="10353762" cy="4058751"/>
          </a:xfrm>
        </p:spPr>
        <p:txBody>
          <a:bodyPr anchor="ctr">
            <a:normAutofit/>
          </a:bodyPr>
          <a:lstStyle/>
          <a:p>
            <a:pPr>
              <a:buClr>
                <a:srgbClr val="3FD7EB"/>
              </a:buClr>
            </a:pPr>
            <a:r>
              <a:rPr lang="bg-BG" b="1" i="0">
                <a:effectLst/>
                <a:latin typeface="Arial" panose="020B0604020202020204" pitchFamily="34" charset="0"/>
              </a:rPr>
              <a:t>VPN-</a:t>
            </a:r>
            <a:r>
              <a:rPr lang="bg-BG" b="1" i="0" err="1">
                <a:effectLst/>
                <a:latin typeface="Arial" panose="020B0604020202020204" pitchFamily="34" charset="0"/>
              </a:rPr>
              <a:t>ът</a:t>
            </a:r>
            <a:r>
              <a:rPr lang="bg-BG" b="1" i="0">
                <a:effectLst/>
                <a:latin typeface="Arial" panose="020B0604020202020204" pitchFamily="34" charset="0"/>
              </a:rPr>
              <a:t> създава сигурна връзка между Вас и мрежата</a:t>
            </a:r>
            <a:r>
              <a:rPr lang="bg-BG" b="0" i="0">
                <a:effectLst/>
                <a:latin typeface="Arial" panose="020B0604020202020204" pitchFamily="34" charset="0"/>
              </a:rPr>
              <a:t>. Предоставя Ви допълнителен слой защита и анонимност, така че ще можете да:</a:t>
            </a:r>
          </a:p>
          <a:p>
            <a:pPr>
              <a:buClr>
                <a:srgbClr val="3FD7EB"/>
              </a:buClr>
              <a:buFont typeface="Arial" panose="020B0604020202020204" pitchFamily="34" charset="0"/>
              <a:buChar char="•"/>
            </a:pPr>
            <a:r>
              <a:rPr lang="bg-BG" b="0" i="0">
                <a:effectLst/>
                <a:latin typeface="Arial" panose="020B0604020202020204" pitchFamily="34" charset="0"/>
              </a:rPr>
              <a:t>  Скриете интернет дейностите и местоположението си, като по този начин няма да може да бъдете следени (особено на публични </a:t>
            </a:r>
            <a:r>
              <a:rPr lang="bg-BG" b="0" i="0" err="1">
                <a:effectLst/>
                <a:latin typeface="Arial" panose="020B0604020202020204" pitchFamily="34" charset="0"/>
              </a:rPr>
              <a:t>WiFi</a:t>
            </a:r>
            <a:r>
              <a:rPr lang="bg-BG" b="0" i="0">
                <a:effectLst/>
                <a:latin typeface="Arial" panose="020B0604020202020204" pitchFamily="34" charset="0"/>
              </a:rPr>
              <a:t> мрежи)</a:t>
            </a:r>
          </a:p>
          <a:p>
            <a:pPr>
              <a:buClr>
                <a:srgbClr val="3FD7EB"/>
              </a:buClr>
              <a:buFont typeface="Arial" panose="020B0604020202020204" pitchFamily="34" charset="0"/>
              <a:buChar char="•"/>
            </a:pPr>
            <a:r>
              <a:rPr lang="bg-BG" b="0" i="0">
                <a:effectLst/>
                <a:latin typeface="Arial" panose="020B0604020202020204" pitchFamily="34" charset="0"/>
              </a:rPr>
              <a:t>  Превъзмогнете онлайн цензурата и да сърфирате мрежата свободно</a:t>
            </a:r>
          </a:p>
          <a:p>
            <a:pPr>
              <a:buClr>
                <a:srgbClr val="3FD7EB"/>
              </a:buClr>
              <a:buFont typeface="Arial" panose="020B0604020202020204" pitchFamily="34" charset="0"/>
              <a:buChar char="•"/>
            </a:pPr>
            <a:r>
              <a:rPr lang="bg-BG" b="0" i="0">
                <a:effectLst/>
                <a:latin typeface="Arial" panose="020B0604020202020204" pitchFamily="34" charset="0"/>
              </a:rPr>
              <a:t>  Теглите </a:t>
            </a:r>
            <a:r>
              <a:rPr lang="bg-BG" b="0" i="0" err="1">
                <a:effectLst/>
                <a:latin typeface="Arial" panose="020B0604020202020204" pitchFamily="34" charset="0"/>
              </a:rPr>
              <a:t>торенти</a:t>
            </a:r>
            <a:r>
              <a:rPr lang="bg-BG" b="0" i="0">
                <a:effectLst/>
                <a:latin typeface="Arial" panose="020B0604020202020204" pitchFamily="34" charset="0"/>
              </a:rPr>
              <a:t> сигурно и анонимно без ограничения на скоростта</a:t>
            </a:r>
          </a:p>
          <a:p>
            <a:pPr>
              <a:buClr>
                <a:srgbClr val="3FD7EB"/>
              </a:buClr>
              <a:buFont typeface="Arial" panose="020B0604020202020204" pitchFamily="34" charset="0"/>
              <a:buChar char="•"/>
            </a:pPr>
            <a:r>
              <a:rPr lang="bg-BG" b="0" i="0">
                <a:effectLst/>
                <a:latin typeface="Arial" panose="020B0604020202020204" pitchFamily="34" charset="0"/>
              </a:rPr>
              <a:t>  </a:t>
            </a:r>
            <a:r>
              <a:rPr lang="bg-BG" b="0" i="0" err="1">
                <a:effectLst/>
                <a:latin typeface="Arial" panose="020B0604020202020204" pitchFamily="34" charset="0"/>
              </a:rPr>
              <a:t>Отблокирате</a:t>
            </a:r>
            <a:r>
              <a:rPr lang="bg-BG" b="0" i="0">
                <a:effectLst/>
                <a:latin typeface="Arial" panose="020B0604020202020204" pitchFamily="34" charset="0"/>
              </a:rPr>
              <a:t> </a:t>
            </a:r>
            <a:r>
              <a:rPr lang="bg-BG" b="0" i="0" err="1">
                <a:effectLst/>
                <a:latin typeface="Arial" panose="020B0604020202020204" pitchFamily="34" charset="0"/>
              </a:rPr>
              <a:t>стрийминг</a:t>
            </a:r>
            <a:r>
              <a:rPr lang="bg-BG" b="0" i="0">
                <a:effectLst/>
                <a:latin typeface="Arial" panose="020B0604020202020204" pitchFamily="34" charset="0"/>
              </a:rPr>
              <a:t> платформи като </a:t>
            </a:r>
            <a:r>
              <a:rPr lang="bg-BG" b="0" i="0" err="1">
                <a:effectLst/>
                <a:latin typeface="Arial" panose="020B0604020202020204" pitchFamily="34" charset="0"/>
              </a:rPr>
              <a:t>Netflix</a:t>
            </a:r>
            <a:r>
              <a:rPr lang="bg-BG" b="0" i="0">
                <a:effectLst/>
                <a:latin typeface="Arial" panose="020B0604020202020204" pitchFamily="34" charset="0"/>
              </a:rPr>
              <a:t>, Disney+ и други</a:t>
            </a:r>
          </a:p>
          <a:p>
            <a:pPr>
              <a:buClr>
                <a:srgbClr val="3FD7EB"/>
              </a:buClr>
            </a:pPr>
            <a:endParaRPr lang="en-US"/>
          </a:p>
        </p:txBody>
      </p:sp>
    </p:spTree>
    <p:extLst>
      <p:ext uri="{BB962C8B-B14F-4D97-AF65-F5344CB8AC3E}">
        <p14:creationId xmlns:p14="http://schemas.microsoft.com/office/powerpoint/2010/main" val="3496109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F94E5C99-65F7-5034-0F5E-A203258D802F}"/>
              </a:ext>
            </a:extLst>
          </p:cNvPr>
          <p:cNvSpPr>
            <a:spLocks noGrp="1"/>
          </p:cNvSpPr>
          <p:nvPr>
            <p:ph type="title"/>
          </p:nvPr>
        </p:nvSpPr>
        <p:spPr>
          <a:xfrm>
            <a:off x="913795" y="664464"/>
            <a:ext cx="10353762" cy="970450"/>
          </a:xfrm>
        </p:spPr>
        <p:txBody>
          <a:bodyPr/>
          <a:lstStyle/>
          <a:p>
            <a:r>
              <a:rPr lang="bg-BG" b="0" i="0" dirty="0">
                <a:solidFill>
                  <a:schemeClr val="tx1"/>
                </a:solidFill>
                <a:effectLst/>
                <a:latin typeface="Arial" panose="020B0604020202020204" pitchFamily="34" charset="0"/>
              </a:rPr>
              <a:t>Характеристиката авариен ключ на VPN</a:t>
            </a:r>
            <a:endParaRPr lang="bg-BG" dirty="0">
              <a:solidFill>
                <a:schemeClr val="tx1"/>
              </a:solidFill>
            </a:endParaRPr>
          </a:p>
        </p:txBody>
      </p:sp>
      <p:sp>
        <p:nvSpPr>
          <p:cNvPr id="3" name="Контейнер за съдържание 2">
            <a:extLst>
              <a:ext uri="{FF2B5EF4-FFF2-40B4-BE49-F238E27FC236}">
                <a16:creationId xmlns:a16="http://schemas.microsoft.com/office/drawing/2014/main" xmlns="" id="{F995640A-CE42-49A8-7E12-D79D89F4A5B3}"/>
              </a:ext>
            </a:extLst>
          </p:cNvPr>
          <p:cNvSpPr>
            <a:spLocks noGrp="1"/>
          </p:cNvSpPr>
          <p:nvPr>
            <p:ph idx="1"/>
          </p:nvPr>
        </p:nvSpPr>
        <p:spPr/>
        <p:txBody>
          <a:bodyPr/>
          <a:lstStyle/>
          <a:p>
            <a:r>
              <a:rPr lang="bg-BG" dirty="0">
                <a:solidFill>
                  <a:schemeClr val="tx1"/>
                </a:solidFill>
                <a:effectLst/>
                <a:latin typeface="Arial" panose="020B0604020202020204" pitchFamily="34" charset="0"/>
              </a:rPr>
              <a:t>М</a:t>
            </a:r>
            <a:r>
              <a:rPr lang="bg-BG" b="0" i="0" dirty="0">
                <a:solidFill>
                  <a:schemeClr val="tx1"/>
                </a:solidFill>
                <a:effectLst/>
                <a:latin typeface="Arial" panose="020B0604020202020204" pitchFamily="34" charset="0"/>
              </a:rPr>
              <a:t>режите са моделирани да </a:t>
            </a:r>
            <a:r>
              <a:rPr lang="bg-BG" b="1" i="0" dirty="0">
                <a:solidFill>
                  <a:schemeClr val="tx1"/>
                </a:solidFill>
                <a:effectLst/>
                <a:latin typeface="Arial" panose="020B0604020202020204" pitchFamily="34" charset="0"/>
              </a:rPr>
              <a:t>защитават Вашата</a:t>
            </a:r>
            <a:r>
              <a:rPr lang="bg-BG" b="0" i="0" dirty="0">
                <a:solidFill>
                  <a:schemeClr val="tx1"/>
                </a:solidFill>
                <a:effectLst/>
                <a:latin typeface="Arial" panose="020B0604020202020204" pitchFamily="34" charset="0"/>
              </a:rPr>
              <a:t> </a:t>
            </a:r>
            <a:r>
              <a:rPr lang="bg-BG" b="1" i="0" dirty="0">
                <a:solidFill>
                  <a:schemeClr val="tx1"/>
                </a:solidFill>
                <a:effectLst/>
                <a:latin typeface="Arial" panose="020B0604020202020204" pitchFamily="34" charset="0"/>
              </a:rPr>
              <a:t>VPN мрежа от непреднамерено излагане</a:t>
            </a:r>
            <a:r>
              <a:rPr lang="bg-BG" b="0" i="0" dirty="0">
                <a:solidFill>
                  <a:schemeClr val="tx1"/>
                </a:solidFill>
                <a:effectLst/>
                <a:latin typeface="Arial" panose="020B0604020202020204" pitchFamily="34" charset="0"/>
              </a:rPr>
              <a:t>. Някои доставчици на VPN услуга включват тази характеристика за безопасност, докато други не. Тази характеристика е от решаващо значение за Вас, ако не желаете Вашата информация да попаднете в ръцете на преследвачите.</a:t>
            </a:r>
          </a:p>
          <a:p>
            <a:r>
              <a:rPr lang="bg-BG" b="1" i="0" dirty="0">
                <a:solidFill>
                  <a:schemeClr val="tx1"/>
                </a:solidFill>
                <a:effectLst/>
                <a:latin typeface="Arial" panose="020B0604020202020204" pitchFamily="34" charset="0"/>
              </a:rPr>
              <a:t>Принципно, аварийният ключ прекъсва Вашата Интернет връзка, </a:t>
            </a:r>
            <a:r>
              <a:rPr lang="bg-BG" b="0" i="0" dirty="0">
                <a:solidFill>
                  <a:schemeClr val="tx1"/>
                </a:solidFill>
                <a:effectLst/>
                <a:latin typeface="Arial" panose="020B0604020202020204" pitchFamily="34" charset="0"/>
              </a:rPr>
              <a:t>веднага щом VPN връзката се разпадне.</a:t>
            </a:r>
            <a:endParaRPr lang="bg-BG" dirty="0">
              <a:solidFill>
                <a:schemeClr val="tx1"/>
              </a:solidFill>
            </a:endParaRPr>
          </a:p>
        </p:txBody>
      </p:sp>
    </p:spTree>
    <p:extLst>
      <p:ext uri="{BB962C8B-B14F-4D97-AF65-F5344CB8AC3E}">
        <p14:creationId xmlns:p14="http://schemas.microsoft.com/office/powerpoint/2010/main" val="907181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AB703057-64D8-CBA3-2274-F79DA0277EAE}"/>
              </a:ext>
            </a:extLst>
          </p:cNvPr>
          <p:cNvSpPr>
            <a:spLocks noGrp="1"/>
          </p:cNvSpPr>
          <p:nvPr>
            <p:ph type="title"/>
          </p:nvPr>
        </p:nvSpPr>
        <p:spPr>
          <a:xfrm>
            <a:off x="5279472" y="609600"/>
            <a:ext cx="5844759" cy="970450"/>
          </a:xfrm>
        </p:spPr>
        <p:txBody>
          <a:bodyPr>
            <a:normAutofit/>
          </a:bodyPr>
          <a:lstStyle/>
          <a:p>
            <a:pPr>
              <a:lnSpc>
                <a:spcPct val="90000"/>
              </a:lnSpc>
            </a:pPr>
            <a:r>
              <a:rPr lang="bg-BG" sz="1900" b="1" i="0">
                <a:effectLst/>
                <a:latin typeface="Arial" panose="020B0604020202020204" pitchFamily="34" charset="0"/>
              </a:rPr>
              <a:t>Как работи характеристиката авариен ключ</a:t>
            </a:r>
            <a:r>
              <a:rPr lang="ru-RU" sz="1900" b="1" i="0">
                <a:effectLst/>
                <a:latin typeface="Arial" panose="020B0604020202020204" pitchFamily="34" charset="0"/>
              </a:rPr>
              <a:t/>
            </a:r>
            <a:br>
              <a:rPr lang="ru-RU" sz="1900" b="1" i="0">
                <a:effectLst/>
                <a:latin typeface="Arial" panose="020B0604020202020204" pitchFamily="34" charset="0"/>
              </a:rPr>
            </a:br>
            <a:endParaRPr lang="en-US" sz="1900"/>
          </a:p>
        </p:txBody>
      </p:sp>
      <p:pic>
        <p:nvPicPr>
          <p:cNvPr id="9" name="Picture 8">
            <a:extLst>
              <a:ext uri="{FF2B5EF4-FFF2-40B4-BE49-F238E27FC236}">
                <a16:creationId xmlns:a16="http://schemas.microsoft.com/office/drawing/2014/main" xmlns="" id="{5405F23C-C82E-4181-95EA-321F3D891A40}"/>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50" y="1"/>
            <a:ext cx="4966697" cy="6858000"/>
          </a:xfrm>
          <a:prstGeom prst="rect">
            <a:avLst/>
          </a:prstGeom>
        </p:spPr>
      </p:pic>
      <p:pic>
        <p:nvPicPr>
          <p:cNvPr id="4" name="Картина 3" descr="Картина, която съдържа текст, знак&#10;&#10;Описанието е генерирано автоматично">
            <a:extLst>
              <a:ext uri="{FF2B5EF4-FFF2-40B4-BE49-F238E27FC236}">
                <a16:creationId xmlns:a16="http://schemas.microsoft.com/office/drawing/2014/main" xmlns="" id="{C9EBF74F-2504-69BE-B5F0-BAAE51362820}"/>
              </a:ext>
            </a:extLst>
          </p:cNvPr>
          <p:cNvPicPr>
            <a:picLocks noChangeAspect="1"/>
          </p:cNvPicPr>
          <p:nvPr/>
        </p:nvPicPr>
        <p:blipFill>
          <a:blip r:embed="rId4"/>
          <a:stretch>
            <a:fillRect/>
          </a:stretch>
        </p:blipFill>
        <p:spPr>
          <a:xfrm>
            <a:off x="292609" y="1813487"/>
            <a:ext cx="4343400" cy="2562605"/>
          </a:xfrm>
          <a:prstGeom prst="rect">
            <a:avLst/>
          </a:prstGeom>
        </p:spPr>
      </p:pic>
      <p:sp>
        <p:nvSpPr>
          <p:cNvPr id="3" name="Контейнер за съдържание 2">
            <a:extLst>
              <a:ext uri="{FF2B5EF4-FFF2-40B4-BE49-F238E27FC236}">
                <a16:creationId xmlns:a16="http://schemas.microsoft.com/office/drawing/2014/main" xmlns="" id="{11FC0E66-2578-9DB7-3DC4-9CE1EB46056A}"/>
              </a:ext>
            </a:extLst>
          </p:cNvPr>
          <p:cNvSpPr>
            <a:spLocks noGrp="1"/>
          </p:cNvSpPr>
          <p:nvPr>
            <p:ph idx="1"/>
          </p:nvPr>
        </p:nvSpPr>
        <p:spPr>
          <a:xfrm>
            <a:off x="5279472" y="1828801"/>
            <a:ext cx="5844760" cy="3866048"/>
          </a:xfrm>
        </p:spPr>
        <p:txBody>
          <a:bodyPr anchor="ctr">
            <a:normAutofit/>
          </a:bodyPr>
          <a:lstStyle/>
          <a:p>
            <a:pPr marL="36900" indent="0">
              <a:buClr>
                <a:srgbClr val="FFA500"/>
              </a:buClr>
              <a:buNone/>
            </a:pPr>
            <a:r>
              <a:rPr lang="bg-BG" b="0" i="0" dirty="0">
                <a:effectLst/>
                <a:latin typeface="Arial" panose="020B0604020202020204" pitchFamily="34" charset="0"/>
              </a:rPr>
              <a:t>Аварийният ключ е сходен на кабела, постоянно наблюдава Вашата връзка с Интернет за каквато и да е било промяна на IP адрес или статус. </a:t>
            </a:r>
            <a:r>
              <a:rPr lang="bg-BG" b="1" i="0" dirty="0">
                <a:effectLst/>
                <a:latin typeface="Arial" panose="020B0604020202020204" pitchFamily="34" charset="0"/>
              </a:rPr>
              <a:t>Ако забележи нещо, като разпаднала се връзка, аварийният ключ ще блокира веднага Вашето устройство да се свърже към Интернет, </a:t>
            </a:r>
            <a:r>
              <a:rPr lang="bg-BG" b="0" i="0" dirty="0">
                <a:effectLst/>
                <a:latin typeface="Arial" panose="020B0604020202020204" pitchFamily="34" charset="0"/>
              </a:rPr>
              <a:t>докато Вашата връзка с  VPN не се възобнови отново или VPN софтуера не бъде затворен.</a:t>
            </a:r>
            <a:endParaRPr lang="bg-BG" dirty="0"/>
          </a:p>
        </p:txBody>
      </p:sp>
    </p:spTree>
    <p:extLst>
      <p:ext uri="{BB962C8B-B14F-4D97-AF65-F5344CB8AC3E}">
        <p14:creationId xmlns:p14="http://schemas.microsoft.com/office/powerpoint/2010/main" val="1755509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Картина 3" descr="Картина, която съдържа текст, електроника, верига&#10;&#10;Описанието е генерирано автоматично">
            <a:extLst>
              <a:ext uri="{FF2B5EF4-FFF2-40B4-BE49-F238E27FC236}">
                <a16:creationId xmlns:a16="http://schemas.microsoft.com/office/drawing/2014/main" xmlns="" id="{C1339BB3-A4A3-74E0-9BCC-E4F484A34ABA}"/>
              </a:ext>
            </a:extLst>
          </p:cNvPr>
          <p:cNvPicPr>
            <a:picLocks noChangeAspect="1"/>
          </p:cNvPicPr>
          <p:nvPr/>
        </p:nvPicPr>
        <p:blipFill rotWithShape="1">
          <a:blip r:embed="rId2">
            <a:alphaModFix amt="25000"/>
          </a:blip>
          <a:srcRect l="1778" r="1" b="1"/>
          <a:stretch/>
        </p:blipFill>
        <p:spPr>
          <a:xfrm>
            <a:off x="20" y="10"/>
            <a:ext cx="12191980" cy="6857990"/>
          </a:xfrm>
          <a:prstGeom prst="rect">
            <a:avLst/>
          </a:prstGeom>
        </p:spPr>
      </p:pic>
      <p:sp>
        <p:nvSpPr>
          <p:cNvPr id="2" name="Заглавие 1">
            <a:extLst>
              <a:ext uri="{FF2B5EF4-FFF2-40B4-BE49-F238E27FC236}">
                <a16:creationId xmlns:a16="http://schemas.microsoft.com/office/drawing/2014/main" xmlns="" id="{EBAE2677-04BA-B1E2-0895-BD0AD3FF52C6}"/>
              </a:ext>
            </a:extLst>
          </p:cNvPr>
          <p:cNvSpPr>
            <a:spLocks noGrp="1"/>
          </p:cNvSpPr>
          <p:nvPr>
            <p:ph type="title"/>
          </p:nvPr>
        </p:nvSpPr>
        <p:spPr>
          <a:xfrm>
            <a:off x="913795" y="609600"/>
            <a:ext cx="10353762" cy="970450"/>
          </a:xfrm>
        </p:spPr>
        <p:txBody>
          <a:bodyPr>
            <a:normAutofit/>
          </a:bodyPr>
          <a:lstStyle/>
          <a:p>
            <a:pPr>
              <a:lnSpc>
                <a:spcPct val="90000"/>
              </a:lnSpc>
            </a:pPr>
            <a:r>
              <a:rPr lang="en-US" sz="3100"/>
              <a:t/>
            </a:r>
            <a:br>
              <a:rPr lang="en-US" sz="3100"/>
            </a:br>
            <a:r>
              <a:rPr lang="bg-BG" sz="3100" b="1" i="0">
                <a:effectLst/>
                <a:latin typeface="Times New Roman" panose="02020603050405020304" pitchFamily="18" charset="0"/>
              </a:rPr>
              <a:t>Изграждане на </a:t>
            </a:r>
            <a:r>
              <a:rPr lang="en-US" sz="3100" b="1" i="0">
                <a:effectLst/>
                <a:latin typeface="Times New Roman" panose="02020603050405020304" pitchFamily="18" charset="0"/>
              </a:rPr>
              <a:t>VPN </a:t>
            </a:r>
            <a:r>
              <a:rPr lang="bg-BG" sz="3100" b="1" i="0">
                <a:effectLst/>
                <a:latin typeface="Times New Roman" panose="02020603050405020304" pitchFamily="18" charset="0"/>
              </a:rPr>
              <a:t>мрежи</a:t>
            </a:r>
            <a:r>
              <a:rPr lang="en-US" sz="3100" b="1" i="0">
                <a:effectLst/>
                <a:latin typeface="Times New Roman" panose="02020603050405020304" pitchFamily="18" charset="0"/>
              </a:rPr>
              <a:t> </a:t>
            </a:r>
            <a:endParaRPr lang="en-US" sz="3100"/>
          </a:p>
        </p:txBody>
      </p:sp>
      <p:sp>
        <p:nvSpPr>
          <p:cNvPr id="3" name="Контейнер за съдържание 2">
            <a:extLst>
              <a:ext uri="{FF2B5EF4-FFF2-40B4-BE49-F238E27FC236}">
                <a16:creationId xmlns:a16="http://schemas.microsoft.com/office/drawing/2014/main" xmlns="" id="{DD2D1E0E-5F34-22B1-0D5F-8A6CF6151CA2}"/>
              </a:ext>
            </a:extLst>
          </p:cNvPr>
          <p:cNvSpPr>
            <a:spLocks noGrp="1"/>
          </p:cNvSpPr>
          <p:nvPr>
            <p:ph idx="1"/>
          </p:nvPr>
        </p:nvSpPr>
        <p:spPr>
          <a:xfrm>
            <a:off x="913795" y="1732449"/>
            <a:ext cx="10353762" cy="4058751"/>
          </a:xfrm>
        </p:spPr>
        <p:txBody>
          <a:bodyPr anchor="ctr">
            <a:normAutofit/>
          </a:bodyPr>
          <a:lstStyle/>
          <a:p>
            <a:pPr marL="414000" lvl="1" indent="0">
              <a:buClr>
                <a:srgbClr val="18AED3"/>
              </a:buClr>
              <a:buNone/>
            </a:pPr>
            <a:r>
              <a:rPr lang="bg-BG" b="0" i="0">
                <a:effectLst/>
                <a:latin typeface="Times New Roman" panose="02020603050405020304" pitchFamily="18" charset="0"/>
              </a:rPr>
              <a:t>Виртуалните частни мрежи могат да бъдат реализирани по няколко начина най-използваните, от които са:</a:t>
            </a:r>
            <a:r>
              <a:rPr lang="bg-BG"/>
              <a:t/>
            </a:r>
            <a:br>
              <a:rPr lang="bg-BG"/>
            </a:br>
            <a:r>
              <a:rPr lang="bg-BG" b="0" i="0">
                <a:effectLst/>
                <a:latin typeface="Times New Roman" panose="02020603050405020304" pitchFamily="18" charset="0"/>
              </a:rPr>
              <a:t>За осигуряване на отдалечен достъп до мобилни служители или служители работещи от дома си; </a:t>
            </a:r>
          </a:p>
          <a:p>
            <a:pPr marL="414000" lvl="1" indent="0">
              <a:buClr>
                <a:srgbClr val="18AED3"/>
              </a:buClr>
              <a:buNone/>
            </a:pPr>
            <a:r>
              <a:rPr lang="bg-BG" b="0" i="0">
                <a:effectLst/>
                <a:latin typeface="Times New Roman" panose="02020603050405020304" pitchFamily="18" charset="0"/>
              </a:rPr>
              <a:t>За осигуряване на екстранет мрежа, до която да имат достъп служители, клиенти или партньори;</a:t>
            </a:r>
            <a:br>
              <a:rPr lang="bg-BG" b="0" i="0">
                <a:effectLst/>
                <a:latin typeface="Times New Roman" panose="02020603050405020304" pitchFamily="18" charset="0"/>
              </a:rPr>
            </a:br>
            <a:r>
              <a:rPr lang="bg-BG" b="0" i="0">
                <a:effectLst/>
                <a:latin typeface="Times New Roman" panose="02020603050405020304" pitchFamily="18" charset="0"/>
              </a:rPr>
              <a:t>За осъществяване на контакт между два офиса в различни местоположения без за целта да е необходимо специална директна връзка.</a:t>
            </a:r>
            <a:br>
              <a:rPr lang="bg-BG" b="0" i="0">
                <a:effectLst/>
                <a:latin typeface="Times New Roman" panose="02020603050405020304" pitchFamily="18" charset="0"/>
              </a:rPr>
            </a:br>
            <a:endParaRPr lang="bg-BG" b="0" i="0">
              <a:effectLst/>
              <a:latin typeface="Times New Roman" panose="02020603050405020304" pitchFamily="18" charset="0"/>
            </a:endParaRPr>
          </a:p>
          <a:p>
            <a:pPr marL="36900" indent="0">
              <a:buClr>
                <a:srgbClr val="18AED3"/>
              </a:buClr>
              <a:buNone/>
            </a:pPr>
            <a:r>
              <a:rPr lang="ru-RU" dirty="0"/>
              <a:t/>
            </a:r>
            <a:br>
              <a:rPr lang="ru-RU" dirty="0"/>
            </a:br>
            <a:endParaRPr lang="en-US"/>
          </a:p>
        </p:txBody>
      </p:sp>
    </p:spTree>
    <p:extLst>
      <p:ext uri="{BB962C8B-B14F-4D97-AF65-F5344CB8AC3E}">
        <p14:creationId xmlns:p14="http://schemas.microsoft.com/office/powerpoint/2010/main" val="3007562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AC224410-FF86-4FBB-A05E-61232D4B13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xmlns="" id="{F3BDD110-869E-4A8C-9250-C7AE5C84084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лавие 1">
            <a:extLst>
              <a:ext uri="{FF2B5EF4-FFF2-40B4-BE49-F238E27FC236}">
                <a16:creationId xmlns:a16="http://schemas.microsoft.com/office/drawing/2014/main" xmlns="" id="{D195698D-8AFB-8EF6-9837-991785CE6DF3}"/>
              </a:ext>
            </a:extLst>
          </p:cNvPr>
          <p:cNvSpPr>
            <a:spLocks noGrp="1"/>
          </p:cNvSpPr>
          <p:nvPr>
            <p:ph type="title"/>
          </p:nvPr>
        </p:nvSpPr>
        <p:spPr>
          <a:xfrm>
            <a:off x="900506" y="1118808"/>
            <a:ext cx="4671467" cy="4747683"/>
          </a:xfrm>
        </p:spPr>
        <p:txBody>
          <a:bodyPr anchor="ctr">
            <a:normAutofit/>
          </a:bodyPr>
          <a:lstStyle/>
          <a:p>
            <a:pPr algn="l"/>
            <a:r>
              <a:rPr lang="bg-BG" sz="4800" b="1" i="0" dirty="0">
                <a:effectLst/>
                <a:latin typeface="Times New Roman" panose="02020603050405020304" pitchFamily="18" charset="0"/>
              </a:rPr>
              <a:t>VPN мрежи за отдалечен достъп</a:t>
            </a:r>
            <a:endParaRPr lang="bg-BG" sz="4800" dirty="0"/>
          </a:p>
        </p:txBody>
      </p:sp>
      <p:sp>
        <p:nvSpPr>
          <p:cNvPr id="3" name="Контейнер за съдържание 2">
            <a:extLst>
              <a:ext uri="{FF2B5EF4-FFF2-40B4-BE49-F238E27FC236}">
                <a16:creationId xmlns:a16="http://schemas.microsoft.com/office/drawing/2014/main" xmlns="" id="{967399ED-89B4-6DF7-341E-22F5B82676EB}"/>
              </a:ext>
            </a:extLst>
          </p:cNvPr>
          <p:cNvSpPr>
            <a:spLocks noGrp="1"/>
          </p:cNvSpPr>
          <p:nvPr>
            <p:ph idx="1"/>
          </p:nvPr>
        </p:nvSpPr>
        <p:spPr>
          <a:xfrm>
            <a:off x="6498769" y="1118809"/>
            <a:ext cx="5049763" cy="4747681"/>
          </a:xfrm>
          <a:effectLst/>
        </p:spPr>
        <p:txBody>
          <a:bodyPr anchor="ctr">
            <a:normAutofit/>
          </a:bodyPr>
          <a:lstStyle/>
          <a:p>
            <a:r>
              <a:rPr lang="bg-BG" sz="1900" b="0" i="0">
                <a:solidFill>
                  <a:schemeClr val="tx1"/>
                </a:solidFill>
                <a:effectLst/>
                <a:latin typeface="Times New Roman" panose="02020603050405020304" pitchFamily="18" charset="0"/>
              </a:rPr>
              <a:t>Използването на VPN за осигуряване на отдалечен достъп до потребители е най-често използвания метод за изграждане. Реализацията може да бъде усложнена от фактори като: използване на различни операционни системи и протоколите, които са инсталирани от страната на клиентите.VPN клиентът трябва да може да използва протоколи, поддържани от VPN сървъра - тунелни, мрежови и транспортни протоколи както и протоколи за криптиране. След инсталиране и конфигуриране на компонентите на VPN, се установява връзката. Редът за изграждане и пускане в експлоатация на такава мрежа е следният:</a:t>
            </a:r>
          </a:p>
        </p:txBody>
      </p:sp>
    </p:spTree>
    <p:extLst>
      <p:ext uri="{BB962C8B-B14F-4D97-AF65-F5344CB8AC3E}">
        <p14:creationId xmlns:p14="http://schemas.microsoft.com/office/powerpoint/2010/main" val="435639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1C3D9BD5-A493-4B97-963D-60135D53382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1F759AF4-E342-4E60-8A32-C44A328F2F4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321564" y="320040"/>
            <a:ext cx="11548872" cy="6217920"/>
          </a:xfrm>
          <a:prstGeom prst="rect">
            <a:avLst/>
          </a:prstGeom>
          <a:ln w="15875" cap="sq" cmpd="sng">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лавие 1">
            <a:extLst>
              <a:ext uri="{FF2B5EF4-FFF2-40B4-BE49-F238E27FC236}">
                <a16:creationId xmlns:a16="http://schemas.microsoft.com/office/drawing/2014/main" xmlns="" id="{C636D0F8-1D3E-FACF-A857-7167DBB4F181}"/>
              </a:ext>
            </a:extLst>
          </p:cNvPr>
          <p:cNvSpPr>
            <a:spLocks noGrp="1"/>
          </p:cNvSpPr>
          <p:nvPr>
            <p:ph type="title"/>
          </p:nvPr>
        </p:nvSpPr>
        <p:spPr>
          <a:xfrm>
            <a:off x="7534655" y="1023257"/>
            <a:ext cx="3732902" cy="4570457"/>
          </a:xfrm>
          <a:effectLst/>
        </p:spPr>
        <p:txBody>
          <a:bodyPr>
            <a:normAutofit/>
          </a:bodyPr>
          <a:lstStyle/>
          <a:p>
            <a:pPr algn="l"/>
            <a:endParaRPr lang="en-US"/>
          </a:p>
        </p:txBody>
      </p:sp>
      <p:sp>
        <p:nvSpPr>
          <p:cNvPr id="3" name="Контейнер за съдържание 2">
            <a:extLst>
              <a:ext uri="{FF2B5EF4-FFF2-40B4-BE49-F238E27FC236}">
                <a16:creationId xmlns:a16="http://schemas.microsoft.com/office/drawing/2014/main" xmlns="" id="{27E6F797-C7A3-0444-E6AE-39A61F463A02}"/>
              </a:ext>
            </a:extLst>
          </p:cNvPr>
          <p:cNvSpPr>
            <a:spLocks noGrp="1"/>
          </p:cNvSpPr>
          <p:nvPr>
            <p:ph idx="1"/>
          </p:nvPr>
        </p:nvSpPr>
        <p:spPr>
          <a:xfrm>
            <a:off x="913795" y="1023257"/>
            <a:ext cx="6025645" cy="4570457"/>
          </a:xfrm>
          <a:effectLst/>
        </p:spPr>
        <p:txBody>
          <a:bodyPr anchor="ctr">
            <a:normAutofit/>
          </a:bodyPr>
          <a:lstStyle/>
          <a:p>
            <a:pPr marL="36900" indent="0">
              <a:buNone/>
            </a:pPr>
            <a:r>
              <a:rPr lang="bg-BG" b="0" i="0">
                <a:effectLst/>
                <a:latin typeface="Times New Roman" panose="02020603050405020304" pitchFamily="18" charset="0"/>
              </a:rPr>
              <a:t>Съществуващите перспективни стандарти улесняват организациите в използването по екстранет общи данни и приложения. Някои от тези стандарти са следните:</a:t>
            </a:r>
            <a:br>
              <a:rPr lang="bg-BG" b="0" i="0">
                <a:effectLst/>
                <a:latin typeface="Times New Roman" panose="02020603050405020304" pitchFamily="18" charset="0"/>
              </a:rPr>
            </a:br>
            <a:r>
              <a:rPr lang="en-US" b="0" i="0">
                <a:effectLst/>
                <a:latin typeface="Times New Roman" panose="02020603050405020304" pitchFamily="18" charset="0"/>
              </a:rPr>
              <a:t>Hypertext Markup Language </a:t>
            </a:r>
            <a:r>
              <a:rPr lang="bg-BG" b="0" i="0">
                <a:effectLst/>
                <a:latin typeface="Times New Roman" panose="02020603050405020304" pitchFamily="18" charset="0"/>
              </a:rPr>
              <a:t>(HTML) - Позволява споделянето на документи през всеки </a:t>
            </a:r>
            <a:r>
              <a:rPr lang="en-US" b="0" i="0">
                <a:effectLst/>
                <a:latin typeface="Times New Roman" panose="02020603050405020304" pitchFamily="18" charset="0"/>
              </a:rPr>
              <a:t>Web</a:t>
            </a:r>
            <a:r>
              <a:rPr lang="bg-BG" b="0" i="0">
                <a:effectLst/>
                <a:latin typeface="Times New Roman" panose="02020603050405020304" pitchFamily="18" charset="0"/>
              </a:rPr>
              <a:t> браузър. На потребителите не е нужно да се инсталира конкретна програма за текстообработка или друга програма, за да отварят файловете;</a:t>
            </a:r>
            <a:br>
              <a:rPr lang="bg-BG" b="0" i="0">
                <a:effectLst/>
                <a:latin typeface="Times New Roman" panose="02020603050405020304" pitchFamily="18" charset="0"/>
              </a:rPr>
            </a:br>
            <a:r>
              <a:rPr lang="en-US" b="0" i="0">
                <a:effectLst/>
                <a:latin typeface="Times New Roman" panose="02020603050405020304" pitchFamily="18" charset="0"/>
              </a:rPr>
              <a:t>Extensible Markup Language </a:t>
            </a:r>
            <a:r>
              <a:rPr lang="bg-BG" b="0" i="0">
                <a:effectLst/>
                <a:latin typeface="Times New Roman" panose="02020603050405020304" pitchFamily="18" charset="0"/>
              </a:rPr>
              <a:t>(XML) и </a:t>
            </a:r>
            <a:r>
              <a:rPr lang="en-US" b="0" i="0">
                <a:effectLst/>
                <a:latin typeface="Times New Roman" panose="02020603050405020304" pitchFamily="18" charset="0"/>
              </a:rPr>
              <a:t>Commerce</a:t>
            </a:r>
            <a:r>
              <a:rPr lang="bg-BG" b="0" i="0">
                <a:effectLst/>
                <a:latin typeface="Times New Roman" panose="02020603050405020304" pitchFamily="18" charset="0"/>
              </a:rPr>
              <a:t> XML (CXML) - Предлага между- платформена съвместимост;</a:t>
            </a:r>
            <a:br>
              <a:rPr lang="bg-BG" b="0" i="0">
                <a:effectLst/>
                <a:latin typeface="Times New Roman" panose="02020603050405020304" pitchFamily="18" charset="0"/>
              </a:rPr>
            </a:br>
            <a:r>
              <a:rPr lang="en-US" b="0" i="0">
                <a:effectLst/>
                <a:latin typeface="Times New Roman" panose="02020603050405020304" pitchFamily="18" charset="0"/>
              </a:rPr>
              <a:t>Open Buying on the </a:t>
            </a:r>
            <a:r>
              <a:rPr lang="bg-BG" b="0" i="0">
                <a:effectLst/>
                <a:latin typeface="Times New Roman" panose="02020603050405020304" pitchFamily="18" charset="0"/>
              </a:rPr>
              <a:t>Internet (OBI) - Създава стандарти за транзакции на електронната търговия.</a:t>
            </a:r>
          </a:p>
          <a:p>
            <a:endParaRPr lang="en-US" dirty="0"/>
          </a:p>
        </p:txBody>
      </p:sp>
      <p:cxnSp>
        <p:nvCxnSpPr>
          <p:cNvPr id="12" name="Straight Connector 11">
            <a:extLst>
              <a:ext uri="{FF2B5EF4-FFF2-40B4-BE49-F238E27FC236}">
                <a16:creationId xmlns:a16="http://schemas.microsoft.com/office/drawing/2014/main" xmlns="" id="{A49B2805-6469-407A-A68A-BB85AC8A8596}"/>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7223630" y="2057399"/>
            <a:ext cx="0" cy="27432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563353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32A4578-DD2D-42E5-A30D-A61A991B852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лавие 1">
            <a:extLst>
              <a:ext uri="{FF2B5EF4-FFF2-40B4-BE49-F238E27FC236}">
                <a16:creationId xmlns:a16="http://schemas.microsoft.com/office/drawing/2014/main" xmlns="" id="{536BA3D7-9C36-6CC1-6492-979CB80CE292}"/>
              </a:ext>
            </a:extLst>
          </p:cNvPr>
          <p:cNvSpPr>
            <a:spLocks noGrp="1"/>
          </p:cNvSpPr>
          <p:nvPr>
            <p:ph type="title"/>
          </p:nvPr>
        </p:nvSpPr>
        <p:spPr>
          <a:xfrm>
            <a:off x="8153486" y="609599"/>
            <a:ext cx="3413156" cy="5273675"/>
          </a:xfrm>
        </p:spPr>
        <p:txBody>
          <a:bodyPr>
            <a:normAutofit/>
          </a:bodyPr>
          <a:lstStyle/>
          <a:p>
            <a:pPr algn="l"/>
            <a:r>
              <a:rPr lang="bg-BG" sz="3600" b="1" i="0">
                <a:effectLst/>
                <a:latin typeface="Times New Roman" panose="02020603050405020304" pitchFamily="18" charset="0"/>
              </a:rPr>
              <a:t>Обосновка на </a:t>
            </a:r>
            <a:r>
              <a:rPr lang="en-US" sz="3600" b="1" i="0">
                <a:effectLst/>
                <a:latin typeface="Times New Roman" panose="02020603050405020304" pitchFamily="18" charset="0"/>
              </a:rPr>
              <a:t>VPN </a:t>
            </a:r>
            <a:r>
              <a:rPr lang="bg-BG" sz="3600" b="1" i="0">
                <a:effectLst/>
                <a:latin typeface="Times New Roman" panose="02020603050405020304" pitchFamily="18" charset="0"/>
              </a:rPr>
              <a:t>протоколите</a:t>
            </a:r>
            <a:endParaRPr lang="en-US" sz="3600"/>
          </a:p>
        </p:txBody>
      </p:sp>
      <p:pic>
        <p:nvPicPr>
          <p:cNvPr id="10" name="Picture 9">
            <a:extLst>
              <a:ext uri="{FF2B5EF4-FFF2-40B4-BE49-F238E27FC236}">
                <a16:creationId xmlns:a16="http://schemas.microsoft.com/office/drawing/2014/main" xmlns="" id="{0A14F76F-D1CE-4226-A477-F8A3F641E7F9}"/>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3">
            <a:extLst>
              <a:ext uri="{28A0092B-C50C-407E-A947-70E740481C1C}">
                <a14:useLocalDpi xmlns:a14="http://schemas.microsoft.com/office/drawing/2010/main" val="0"/>
              </a:ext>
            </a:extLst>
          </a:blip>
          <a:stretch>
            <a:fillRect/>
          </a:stretch>
        </p:blipFill>
        <p:spPr>
          <a:xfrm>
            <a:off x="606376" y="609599"/>
            <a:ext cx="6889687" cy="5273675"/>
          </a:xfrm>
          <a:prstGeom prst="rect">
            <a:avLst/>
          </a:prstGeom>
        </p:spPr>
      </p:pic>
      <p:sp>
        <p:nvSpPr>
          <p:cNvPr id="3" name="Контейнер за съдържание 2">
            <a:extLst>
              <a:ext uri="{FF2B5EF4-FFF2-40B4-BE49-F238E27FC236}">
                <a16:creationId xmlns:a16="http://schemas.microsoft.com/office/drawing/2014/main" xmlns="" id="{64956A55-6D22-B200-5C6D-CFBCA22F6F29}"/>
              </a:ext>
            </a:extLst>
          </p:cNvPr>
          <p:cNvSpPr>
            <a:spLocks noGrp="1"/>
          </p:cNvSpPr>
          <p:nvPr>
            <p:ph idx="1"/>
          </p:nvPr>
        </p:nvSpPr>
        <p:spPr>
          <a:xfrm>
            <a:off x="900506" y="957943"/>
            <a:ext cx="6292785" cy="4615543"/>
          </a:xfrm>
        </p:spPr>
        <p:txBody>
          <a:bodyPr anchor="ctr">
            <a:normAutofit/>
          </a:bodyPr>
          <a:lstStyle/>
          <a:p>
            <a:pPr marL="36900" indent="0">
              <a:buNone/>
            </a:pPr>
            <a:r>
              <a:rPr lang="bg-BG" b="0" i="0" dirty="0">
                <a:effectLst/>
                <a:latin typeface="Times New Roman" panose="02020603050405020304" pitchFamily="18" charset="0"/>
              </a:rPr>
              <a:t>Във VPN мрежите се използват три типа протоколи:</a:t>
            </a:r>
            <a:r>
              <a:rPr lang="bg-BG" dirty="0"/>
              <a:t/>
            </a:r>
            <a:br>
              <a:rPr lang="bg-BG" dirty="0"/>
            </a:br>
            <a:r>
              <a:rPr lang="bg-BG" b="0" i="0" dirty="0">
                <a:effectLst/>
                <a:latin typeface="Times New Roman" panose="02020603050405020304" pitchFamily="18" charset="0"/>
              </a:rPr>
              <a:t>Тунелни протоколи - понякога означавани като VPN протоколи, те се из ползват за изграждане на тунели;</a:t>
            </a:r>
            <a:br>
              <a:rPr lang="bg-BG" b="0" i="0" dirty="0">
                <a:effectLst/>
                <a:latin typeface="Times New Roman" panose="02020603050405020304" pitchFamily="18" charset="0"/>
              </a:rPr>
            </a:br>
            <a:r>
              <a:rPr lang="bg-BG" b="0" i="0" dirty="0">
                <a:effectLst/>
                <a:latin typeface="Times New Roman" panose="02020603050405020304" pitchFamily="18" charset="0"/>
              </a:rPr>
              <a:t>Протоколи за криптиране - означавани като протоколи за сигурност, използват се за криптиране на данните;</a:t>
            </a:r>
            <a:br>
              <a:rPr lang="bg-BG" b="0" i="0" dirty="0">
                <a:effectLst/>
                <a:latin typeface="Times New Roman" panose="02020603050405020304" pitchFamily="18" charset="0"/>
              </a:rPr>
            </a:br>
            <a:r>
              <a:rPr lang="bg-BG" b="0" i="0" dirty="0">
                <a:effectLst/>
                <a:latin typeface="Times New Roman" panose="02020603050405020304" pitchFamily="18" charset="0"/>
              </a:rPr>
              <a:t>Мрежови/транспортни протоколи - означавани </a:t>
            </a:r>
            <a:r>
              <a:rPr lang="bg-BG" dirty="0">
                <a:effectLst/>
                <a:latin typeface="Times New Roman" panose="02020603050405020304" pitchFamily="18" charset="0"/>
              </a:rPr>
              <a:t>още като LAN протоколи</a:t>
            </a:r>
            <a:r>
              <a:rPr lang="bg-BG" b="0" i="0" dirty="0">
                <a:effectLst/>
                <a:latin typeface="Times New Roman" panose="02020603050405020304" pitchFamily="18" charset="0"/>
              </a:rPr>
              <a:t>, използват се за комуникация на съобшенията по частната мрежа.</a:t>
            </a:r>
          </a:p>
          <a:p>
            <a:endParaRPr lang="en-US" dirty="0"/>
          </a:p>
        </p:txBody>
      </p:sp>
    </p:spTree>
    <p:extLst>
      <p:ext uri="{BB962C8B-B14F-4D97-AF65-F5344CB8AC3E}">
        <p14:creationId xmlns:p14="http://schemas.microsoft.com/office/powerpoint/2010/main" val="72543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4EFA1D63-8F45-3B53-ED5C-BAB6F505381A}"/>
              </a:ext>
            </a:extLst>
          </p:cNvPr>
          <p:cNvSpPr>
            <a:spLocks noGrp="1"/>
          </p:cNvSpPr>
          <p:nvPr>
            <p:ph type="title"/>
          </p:nvPr>
        </p:nvSpPr>
        <p:spPr>
          <a:xfrm>
            <a:off x="5279472" y="609600"/>
            <a:ext cx="5844759" cy="970450"/>
          </a:xfrm>
        </p:spPr>
        <p:txBody>
          <a:bodyPr>
            <a:normAutofit/>
          </a:bodyPr>
          <a:lstStyle/>
          <a:p>
            <a:pPr>
              <a:lnSpc>
                <a:spcPct val="90000"/>
              </a:lnSpc>
            </a:pPr>
            <a:r>
              <a:rPr lang="bg-BG" sz="3100" b="1" i="0">
                <a:effectLst/>
                <a:latin typeface="Arial" panose="020B0604020202020204" pitchFamily="34" charset="0"/>
              </a:rPr>
              <a:t>Предимства на </a:t>
            </a:r>
            <a:r>
              <a:rPr lang="en-US" sz="3100" b="1" i="0" err="1">
                <a:effectLst/>
                <a:latin typeface="Arial" panose="020B0604020202020204" pitchFamily="34" charset="0"/>
              </a:rPr>
              <a:t>vpn</a:t>
            </a:r>
            <a:r>
              <a:rPr lang="bg-BG" sz="3100" b="1" i="0">
                <a:effectLst/>
                <a:latin typeface="Arial" panose="020B0604020202020204" pitchFamily="34" charset="0"/>
              </a:rPr>
              <a:t/>
            </a:r>
            <a:br>
              <a:rPr lang="bg-BG" sz="3100" b="1" i="0">
                <a:effectLst/>
                <a:latin typeface="Arial" panose="020B0604020202020204" pitchFamily="34" charset="0"/>
              </a:rPr>
            </a:br>
            <a:endParaRPr lang="en-US" sz="3100">
              <a:ln>
                <a:solidFill>
                  <a:srgbClr val="404040">
                    <a:alpha val="10000"/>
                  </a:srgbClr>
                </a:solidFill>
              </a:ln>
            </a:endParaRPr>
          </a:p>
        </p:txBody>
      </p:sp>
      <p:pic>
        <p:nvPicPr>
          <p:cNvPr id="21" name="Picture 20">
            <a:extLst>
              <a:ext uri="{FF2B5EF4-FFF2-40B4-BE49-F238E27FC236}">
                <a16:creationId xmlns:a16="http://schemas.microsoft.com/office/drawing/2014/main" xmlns="" id="{5405F23C-C82E-4181-95EA-321F3D891A40}"/>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50" y="1"/>
            <a:ext cx="4966697" cy="6858000"/>
          </a:xfrm>
          <a:prstGeom prst="rect">
            <a:avLst/>
          </a:prstGeom>
        </p:spPr>
      </p:pic>
      <p:pic>
        <p:nvPicPr>
          <p:cNvPr id="4" name="Картина 3" descr="Картина, която съдържа текст&#10;&#10;Описанието е генерирано автоматично">
            <a:extLst>
              <a:ext uri="{FF2B5EF4-FFF2-40B4-BE49-F238E27FC236}">
                <a16:creationId xmlns:a16="http://schemas.microsoft.com/office/drawing/2014/main" xmlns="" id="{4E0ABE70-F5DC-DF7B-6A78-296AB79D2670}"/>
              </a:ext>
            </a:extLst>
          </p:cNvPr>
          <p:cNvPicPr>
            <a:picLocks noChangeAspect="1"/>
          </p:cNvPicPr>
          <p:nvPr/>
        </p:nvPicPr>
        <p:blipFill>
          <a:blip r:embed="rId4"/>
          <a:stretch>
            <a:fillRect/>
          </a:stretch>
        </p:blipFill>
        <p:spPr>
          <a:xfrm>
            <a:off x="632815" y="1673938"/>
            <a:ext cx="4003193" cy="3042426"/>
          </a:xfrm>
          <a:prstGeom prst="rect">
            <a:avLst/>
          </a:prstGeom>
        </p:spPr>
      </p:pic>
      <p:sp>
        <p:nvSpPr>
          <p:cNvPr id="3" name="Контейнер за съдържание 2">
            <a:extLst>
              <a:ext uri="{FF2B5EF4-FFF2-40B4-BE49-F238E27FC236}">
                <a16:creationId xmlns:a16="http://schemas.microsoft.com/office/drawing/2014/main" xmlns="" id="{439B04EE-3EAB-50E3-28E6-F34F29930D95}"/>
              </a:ext>
            </a:extLst>
          </p:cNvPr>
          <p:cNvSpPr>
            <a:spLocks noGrp="1"/>
          </p:cNvSpPr>
          <p:nvPr>
            <p:ph idx="1"/>
          </p:nvPr>
        </p:nvSpPr>
        <p:spPr>
          <a:xfrm>
            <a:off x="5279472" y="1828801"/>
            <a:ext cx="5844760" cy="3866048"/>
          </a:xfrm>
        </p:spPr>
        <p:txBody>
          <a:bodyPr anchor="ctr">
            <a:normAutofit/>
          </a:bodyPr>
          <a:lstStyle/>
          <a:p>
            <a:pPr fontAlgn="base">
              <a:lnSpc>
                <a:spcPct val="90000"/>
              </a:lnSpc>
              <a:buClr>
                <a:srgbClr val="FDD44E"/>
              </a:buClr>
            </a:pPr>
            <a:r>
              <a:rPr lang="bg-BG" sz="1900" b="0" i="0" dirty="0">
                <a:effectLst/>
                <a:latin typeface="Arial" panose="020B0604020202020204" pitchFamily="34" charset="0"/>
              </a:rPr>
              <a:t>Личният ви трафик е криптиран и добре защитен при в интернет. Това ви предпазва от множество заплахи онлайн.</a:t>
            </a:r>
          </a:p>
          <a:p>
            <a:pPr fontAlgn="base">
              <a:lnSpc>
                <a:spcPct val="90000"/>
              </a:lnSpc>
              <a:buClr>
                <a:srgbClr val="FDD44E"/>
              </a:buClr>
            </a:pPr>
            <a:r>
              <a:rPr lang="bg-BG" sz="1900" b="0" i="0" dirty="0">
                <a:effectLst/>
                <a:latin typeface="Arial" panose="020B0604020202020204" pitchFamily="34" charset="0"/>
              </a:rPr>
              <a:t>VPN мрежите силно затрудняват хакерите да проследяват или да пречат на личните ви или бизнес комуникации.</a:t>
            </a:r>
          </a:p>
          <a:p>
            <a:pPr fontAlgn="base">
              <a:lnSpc>
                <a:spcPct val="90000"/>
              </a:lnSpc>
              <a:buClr>
                <a:srgbClr val="FDD44E"/>
              </a:buClr>
            </a:pPr>
            <a:r>
              <a:rPr lang="bg-BG" sz="1900" b="0" i="0" dirty="0">
                <a:effectLst/>
                <a:latin typeface="Arial" panose="020B0604020202020204" pitchFamily="34" charset="0"/>
              </a:rPr>
              <a:t>Можете да ползвате обществени </a:t>
            </a:r>
            <a:r>
              <a:rPr lang="bg-BG" sz="1900" b="0" i="0" dirty="0" err="1">
                <a:effectLst/>
                <a:latin typeface="Arial" panose="020B0604020202020204" pitchFamily="34" charset="0"/>
              </a:rPr>
              <a:t>WiFi</a:t>
            </a:r>
            <a:r>
              <a:rPr lang="bg-BG" sz="1900" b="0" i="0" dirty="0">
                <a:effectLst/>
                <a:latin typeface="Arial" panose="020B0604020202020204" pitchFamily="34" charset="0"/>
              </a:rPr>
              <a:t> мрежи, без да се боите от хакери, и е напълно безопасно да се свържете към отдалечен сървър.</a:t>
            </a:r>
          </a:p>
          <a:p>
            <a:pPr fontAlgn="base">
              <a:lnSpc>
                <a:spcPct val="90000"/>
              </a:lnSpc>
              <a:buClr>
                <a:srgbClr val="FDD44E"/>
              </a:buClr>
            </a:pPr>
            <a:r>
              <a:rPr lang="bg-BG" sz="1900" b="0" i="0" dirty="0">
                <a:effectLst/>
                <a:latin typeface="Arial" panose="020B0604020202020204" pitchFamily="34" charset="0"/>
              </a:rPr>
              <a:t>С такова високо ниво на сигурност можете да сте анонимни в мрежата.</a:t>
            </a:r>
          </a:p>
          <a:p>
            <a:pPr>
              <a:lnSpc>
                <a:spcPct val="90000"/>
              </a:lnSpc>
              <a:buClr>
                <a:srgbClr val="FDD44E"/>
              </a:buClr>
            </a:pPr>
            <a:endParaRPr lang="en-US" sz="1900" dirty="0">
              <a:ln>
                <a:solidFill>
                  <a:srgbClr val="404040">
                    <a:alpha val="10000"/>
                  </a:srgbClr>
                </a:solidFill>
              </a:ln>
            </a:endParaRPr>
          </a:p>
        </p:txBody>
      </p:sp>
    </p:spTree>
    <p:extLst>
      <p:ext uri="{BB962C8B-B14F-4D97-AF65-F5344CB8AC3E}">
        <p14:creationId xmlns:p14="http://schemas.microsoft.com/office/powerpoint/2010/main" val="1753604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BED12C17-9C65-C513-AD17-F73CF2B97E44}"/>
              </a:ext>
            </a:extLst>
          </p:cNvPr>
          <p:cNvSpPr>
            <a:spLocks noGrp="1"/>
          </p:cNvSpPr>
          <p:nvPr>
            <p:ph type="title"/>
          </p:nvPr>
        </p:nvSpPr>
        <p:spPr>
          <a:xfrm>
            <a:off x="633743" y="609599"/>
            <a:ext cx="3413156" cy="5273675"/>
          </a:xfrm>
        </p:spPr>
        <p:txBody>
          <a:bodyPr>
            <a:normAutofit/>
          </a:bodyPr>
          <a:lstStyle/>
          <a:p>
            <a:r>
              <a:rPr lang="bg-BG" b="1" i="0" dirty="0">
                <a:effectLst/>
                <a:latin typeface="Arial" panose="020B0604020202020204" pitchFamily="34" charset="0"/>
              </a:rPr>
              <a:t>Предимства</a:t>
            </a:r>
            <a:br>
              <a:rPr lang="bg-BG" b="1" i="0" dirty="0">
                <a:effectLst/>
                <a:latin typeface="Arial" panose="020B0604020202020204" pitchFamily="34" charset="0"/>
              </a:rPr>
            </a:br>
            <a:endParaRPr lang="en-US" dirty="0"/>
          </a:p>
        </p:txBody>
      </p:sp>
      <p:pic>
        <p:nvPicPr>
          <p:cNvPr id="9" name="Picture 8">
            <a:extLst>
              <a:ext uri="{FF2B5EF4-FFF2-40B4-BE49-F238E27FC236}">
                <a16:creationId xmlns:a16="http://schemas.microsoft.com/office/drawing/2014/main" xmlns="" id="{B577D423-FE81-4236-89DE-39776B810941}"/>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a:blip r:embed="rId3">
            <a:extLst>
              <a:ext uri="{28A0092B-C50C-407E-A947-70E740481C1C}">
                <a14:useLocalDpi xmlns:a14="http://schemas.microsoft.com/office/drawing/2010/main" val="0"/>
              </a:ext>
            </a:extLst>
          </a:blip>
          <a:stretch>
            <a:fillRect/>
          </a:stretch>
        </p:blipFill>
        <p:spPr>
          <a:xfrm>
            <a:off x="4680641" y="609599"/>
            <a:ext cx="6889687" cy="5273675"/>
          </a:xfrm>
          <a:prstGeom prst="rect">
            <a:avLst/>
          </a:prstGeom>
        </p:spPr>
      </p:pic>
      <p:graphicFrame>
        <p:nvGraphicFramePr>
          <p:cNvPr id="5" name="Контейнер за съдържание 2">
            <a:extLst>
              <a:ext uri="{FF2B5EF4-FFF2-40B4-BE49-F238E27FC236}">
                <a16:creationId xmlns:a16="http://schemas.microsoft.com/office/drawing/2014/main" xmlns="" id="{B655CFAD-1A28-E816-36E6-22745DFF61C4}"/>
              </a:ext>
            </a:extLst>
          </p:cNvPr>
          <p:cNvGraphicFramePr>
            <a:graphicFrameLocks noGrp="1"/>
          </p:cNvGraphicFramePr>
          <p:nvPr>
            <p:ph idx="1"/>
            <p:extLst>
              <p:ext uri="{D42A27DB-BD31-4B8C-83A1-F6EECF244321}">
                <p14:modId xmlns:p14="http://schemas.microsoft.com/office/powerpoint/2010/main" val="96126049"/>
              </p:ext>
            </p:extLst>
          </p:nvPr>
        </p:nvGraphicFramePr>
        <p:xfrm>
          <a:off x="4958257" y="887213"/>
          <a:ext cx="6309300" cy="47184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1130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E727BF13-A21F-5B6D-5CF7-C393B079F757}"/>
              </a:ext>
            </a:extLst>
          </p:cNvPr>
          <p:cNvSpPr>
            <a:spLocks noGrp="1"/>
          </p:cNvSpPr>
          <p:nvPr>
            <p:ph type="title"/>
          </p:nvPr>
        </p:nvSpPr>
        <p:spPr/>
        <p:txBody>
          <a:bodyPr>
            <a:normAutofit fontScale="90000"/>
          </a:bodyPr>
          <a:lstStyle/>
          <a:p>
            <a:r>
              <a:rPr lang="bg-BG" b="1" i="0" dirty="0">
                <a:solidFill>
                  <a:schemeClr val="tx1"/>
                </a:solidFill>
                <a:effectLst/>
                <a:latin typeface="Arial" panose="020B0604020202020204" pitchFamily="34" charset="0"/>
              </a:rPr>
              <a:t>Предимства</a:t>
            </a:r>
            <a:r>
              <a:rPr lang="bg-BG" b="1" i="0" dirty="0">
                <a:solidFill>
                  <a:srgbClr val="333333"/>
                </a:solidFill>
                <a:effectLst/>
                <a:latin typeface="Arial" panose="020B0604020202020204" pitchFamily="34" charset="0"/>
              </a:rPr>
              <a:t/>
            </a:r>
            <a:br>
              <a:rPr lang="bg-BG" b="1" i="0" dirty="0">
                <a:solidFill>
                  <a:srgbClr val="333333"/>
                </a:solidFill>
                <a:effectLst/>
                <a:latin typeface="Arial" panose="020B0604020202020204" pitchFamily="34" charset="0"/>
              </a:rPr>
            </a:br>
            <a:endParaRPr lang="en-US" dirty="0"/>
          </a:p>
        </p:txBody>
      </p:sp>
      <p:graphicFrame>
        <p:nvGraphicFramePr>
          <p:cNvPr id="5" name="Контейнер за съдържание 2">
            <a:extLst>
              <a:ext uri="{FF2B5EF4-FFF2-40B4-BE49-F238E27FC236}">
                <a16:creationId xmlns:a16="http://schemas.microsoft.com/office/drawing/2014/main" xmlns="" id="{FCA59CAC-D7D7-FA2A-04F0-EA140B2D39E8}"/>
              </a:ext>
            </a:extLst>
          </p:cNvPr>
          <p:cNvGraphicFramePr>
            <a:graphicFrameLocks noGrp="1"/>
          </p:cNvGraphicFramePr>
          <p:nvPr>
            <p:ph idx="1"/>
          </p:nvPr>
        </p:nvGraphicFramePr>
        <p:xfrm>
          <a:off x="913795" y="1732449"/>
          <a:ext cx="10353762" cy="405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9180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FE0FE8E8-9C04-16C6-74CF-DDC8D5C71181}"/>
              </a:ext>
            </a:extLst>
          </p:cNvPr>
          <p:cNvSpPr>
            <a:spLocks noGrp="1"/>
          </p:cNvSpPr>
          <p:nvPr>
            <p:ph type="title"/>
          </p:nvPr>
        </p:nvSpPr>
        <p:spPr/>
        <p:txBody>
          <a:bodyPr>
            <a:noAutofit/>
          </a:bodyPr>
          <a:lstStyle/>
          <a:p>
            <a:r>
              <a:rPr lang="bg-BG" sz="3200" b="1" i="0" dirty="0">
                <a:solidFill>
                  <a:schemeClr val="tx1"/>
                </a:solidFill>
                <a:effectLst/>
                <a:latin typeface="Arial" panose="020B0604020202020204" pitchFamily="34" charset="0"/>
              </a:rPr>
              <a:t>Предимства</a:t>
            </a:r>
            <a:br>
              <a:rPr lang="bg-BG" sz="3200" b="1" i="0" dirty="0">
                <a:solidFill>
                  <a:schemeClr val="tx1"/>
                </a:solidFill>
                <a:effectLst/>
                <a:latin typeface="Arial" panose="020B0604020202020204" pitchFamily="34" charset="0"/>
              </a:rPr>
            </a:br>
            <a:endParaRPr lang="en-US" sz="3200" dirty="0">
              <a:solidFill>
                <a:schemeClr val="tx1"/>
              </a:solidFill>
            </a:endParaRPr>
          </a:p>
        </p:txBody>
      </p:sp>
      <p:sp>
        <p:nvSpPr>
          <p:cNvPr id="3" name="Контейнер за съдържание 2">
            <a:extLst>
              <a:ext uri="{FF2B5EF4-FFF2-40B4-BE49-F238E27FC236}">
                <a16:creationId xmlns:a16="http://schemas.microsoft.com/office/drawing/2014/main" xmlns="" id="{7F3D1A3B-8ED0-81C0-972E-0A06458F49A6}"/>
              </a:ext>
            </a:extLst>
          </p:cNvPr>
          <p:cNvSpPr>
            <a:spLocks noGrp="1"/>
          </p:cNvSpPr>
          <p:nvPr>
            <p:ph idx="1"/>
          </p:nvPr>
        </p:nvSpPr>
        <p:spPr/>
        <p:txBody>
          <a:bodyPr/>
          <a:lstStyle/>
          <a:p>
            <a:pPr algn="l" fontAlgn="base">
              <a:buFont typeface="Arial" panose="020B0604020202020204" pitchFamily="34" charset="0"/>
              <a:buChar char="•"/>
            </a:pPr>
            <a:r>
              <a:rPr lang="bg-BG" sz="2400" b="0" i="0" dirty="0">
                <a:solidFill>
                  <a:schemeClr val="tx1"/>
                </a:solidFill>
                <a:effectLst/>
                <a:latin typeface="Arial" panose="020B0604020202020204" pitchFamily="34" charset="0"/>
              </a:rPr>
              <a:t>За фирмите, възможността за добавяне на нови нива на услугата е важна.</a:t>
            </a:r>
          </a:p>
          <a:p>
            <a:pPr algn="l" fontAlgn="base">
              <a:buFont typeface="Arial" panose="020B0604020202020204" pitchFamily="34" charset="0"/>
              <a:buChar char="•"/>
            </a:pPr>
            <a:r>
              <a:rPr lang="bg-BG" sz="2400" dirty="0">
                <a:solidFill>
                  <a:schemeClr val="tx1"/>
                </a:solidFill>
                <a:effectLst/>
                <a:latin typeface="Arial" panose="020B0604020202020204" pitchFamily="34" charset="0"/>
              </a:rPr>
              <a:t>Бизнес </a:t>
            </a:r>
            <a:r>
              <a:rPr lang="en-US" sz="2400" dirty="0">
                <a:solidFill>
                  <a:schemeClr val="tx1"/>
                </a:solidFill>
                <a:effectLst/>
                <a:latin typeface="Arial" panose="020B0604020202020204" pitchFamily="34" charset="0"/>
              </a:rPr>
              <a:t>VPN</a:t>
            </a:r>
            <a:r>
              <a:rPr lang="bg-BG" sz="2400" dirty="0">
                <a:solidFill>
                  <a:schemeClr val="tx1"/>
                </a:solidFill>
                <a:effectLst/>
                <a:latin typeface="Arial" panose="020B0604020202020204" pitchFamily="34" charset="0"/>
              </a:rPr>
              <a:t> услугите</a:t>
            </a:r>
            <a:r>
              <a:rPr lang="bg-BG" sz="2400" b="0" i="0" dirty="0">
                <a:solidFill>
                  <a:schemeClr val="tx1"/>
                </a:solidFill>
                <a:effectLst/>
                <a:latin typeface="Arial" panose="020B0604020202020204" pitchFamily="34" charset="0"/>
              </a:rPr>
              <a:t> имат няколко нива на обслужване, които са </a:t>
            </a:r>
            <a:r>
              <a:rPr lang="bg-BG" sz="2400" b="0" i="0" dirty="0" err="1">
                <a:solidFill>
                  <a:schemeClr val="tx1"/>
                </a:solidFill>
                <a:effectLst/>
                <a:latin typeface="Arial" panose="020B0604020202020204" pitchFamily="34" charset="0"/>
              </a:rPr>
              <a:t>мащабируеми</a:t>
            </a:r>
            <a:r>
              <a:rPr lang="bg-BG" sz="2400" b="0" i="0" dirty="0">
                <a:solidFill>
                  <a:schemeClr val="tx1"/>
                </a:solidFill>
                <a:effectLst/>
                <a:latin typeface="Arial" panose="020B0604020202020204" pitchFamily="34" charset="0"/>
              </a:rPr>
              <a:t>, за да отговорят на нуждите на компаниите, в процеса на тяхното развитие и растеж, като добавяне на нови потребители към акаунт без допълнителни разходи.</a:t>
            </a:r>
          </a:p>
          <a:p>
            <a:pPr algn="l" fontAlgn="base">
              <a:buFont typeface="Arial" panose="020B0604020202020204" pitchFamily="34" charset="0"/>
              <a:buChar char="•"/>
            </a:pPr>
            <a:r>
              <a:rPr lang="bg-BG" sz="2400" b="0" i="0" dirty="0">
                <a:solidFill>
                  <a:schemeClr val="tx1"/>
                </a:solidFill>
                <a:effectLst/>
                <a:latin typeface="Arial" panose="020B0604020202020204" pitchFamily="34" charset="0"/>
              </a:rPr>
              <a:t>Що се отнася до частните потребители, някои VPN услуги вземат предвид индивидуалните нужди на потребителя, така че плащате само за това, което използвате, и от което имате нужда.</a:t>
            </a:r>
          </a:p>
          <a:p>
            <a:endParaRPr lang="en-US" dirty="0"/>
          </a:p>
        </p:txBody>
      </p:sp>
    </p:spTree>
    <p:extLst>
      <p:ext uri="{BB962C8B-B14F-4D97-AF65-F5344CB8AC3E}">
        <p14:creationId xmlns:p14="http://schemas.microsoft.com/office/powerpoint/2010/main" val="3777956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6625F0A2-BAB9-A23F-3065-986A1AB34F55}"/>
              </a:ext>
            </a:extLst>
          </p:cNvPr>
          <p:cNvSpPr>
            <a:spLocks noGrp="1"/>
          </p:cNvSpPr>
          <p:nvPr>
            <p:ph type="title"/>
          </p:nvPr>
        </p:nvSpPr>
        <p:spPr/>
        <p:txBody>
          <a:bodyPr>
            <a:normAutofit fontScale="90000"/>
          </a:bodyPr>
          <a:lstStyle/>
          <a:p>
            <a:r>
              <a:rPr lang="bg-BG" b="1" i="0" dirty="0">
                <a:solidFill>
                  <a:schemeClr val="tx1"/>
                </a:solidFill>
                <a:effectLst/>
                <a:latin typeface="Arial" panose="020B0604020202020204" pitchFamily="34" charset="0"/>
              </a:rPr>
              <a:t>Недостатъци</a:t>
            </a:r>
            <a:br>
              <a:rPr lang="bg-BG" b="1" i="0" dirty="0">
                <a:solidFill>
                  <a:schemeClr val="tx1"/>
                </a:solidFill>
                <a:effectLst/>
                <a:latin typeface="Arial" panose="020B0604020202020204" pitchFamily="34" charset="0"/>
              </a:rPr>
            </a:br>
            <a:endParaRPr lang="en-US" dirty="0">
              <a:solidFill>
                <a:schemeClr val="tx1"/>
              </a:solidFill>
            </a:endParaRPr>
          </a:p>
        </p:txBody>
      </p:sp>
      <p:sp>
        <p:nvSpPr>
          <p:cNvPr id="3" name="Контейнер за съдържание 2">
            <a:extLst>
              <a:ext uri="{FF2B5EF4-FFF2-40B4-BE49-F238E27FC236}">
                <a16:creationId xmlns:a16="http://schemas.microsoft.com/office/drawing/2014/main" xmlns="" id="{1BB944D7-13D5-E613-3D0D-D2DF2F84021B}"/>
              </a:ext>
            </a:extLst>
          </p:cNvPr>
          <p:cNvSpPr>
            <a:spLocks noGrp="1"/>
          </p:cNvSpPr>
          <p:nvPr>
            <p:ph idx="1"/>
          </p:nvPr>
        </p:nvSpPr>
        <p:spPr/>
        <p:txBody>
          <a:bodyPr/>
          <a:lstStyle/>
          <a:p>
            <a:pPr algn="l" fontAlgn="base">
              <a:buFont typeface="Arial" panose="020B0604020202020204" pitchFamily="34" charset="0"/>
              <a:buChar char="•"/>
            </a:pPr>
            <a:r>
              <a:rPr lang="bg-BG" b="0" i="0" dirty="0">
                <a:solidFill>
                  <a:schemeClr val="tx1"/>
                </a:solidFill>
                <a:effectLst/>
                <a:latin typeface="Arial" panose="020B0604020202020204" pitchFamily="34" charset="0"/>
              </a:rPr>
              <a:t>В зависимост от типа VPN мрежа, отначало може да бъде трудно да се настрои протоколът за сигурност и - ако това не е направено правилно - може да доведе до дупки в сигурността.</a:t>
            </a:r>
          </a:p>
          <a:p>
            <a:pPr algn="l" fontAlgn="base">
              <a:buFont typeface="Arial" panose="020B0604020202020204" pitchFamily="34" charset="0"/>
              <a:buChar char="•"/>
            </a:pPr>
            <a:r>
              <a:rPr lang="bg-BG" b="0" i="0" dirty="0">
                <a:solidFill>
                  <a:schemeClr val="tx1"/>
                </a:solidFill>
                <a:effectLst/>
                <a:latin typeface="Arial" panose="020B0604020202020204" pitchFamily="34" charset="0"/>
              </a:rPr>
              <a:t>Ако VPN услугата е настроена неправилно, нараства вероятността за изтичане на DNS и IP адреси, което улеснява хакерите да получат достъп до информацията ви.</a:t>
            </a:r>
          </a:p>
          <a:p>
            <a:pPr algn="l" fontAlgn="base">
              <a:buFont typeface="Arial" panose="020B0604020202020204" pitchFamily="34" charset="0"/>
              <a:buChar char="•"/>
            </a:pPr>
            <a:r>
              <a:rPr lang="bg-BG" b="0" i="0" dirty="0">
                <a:solidFill>
                  <a:schemeClr val="tx1"/>
                </a:solidFill>
                <a:effectLst/>
                <a:latin typeface="Arial" panose="020B0604020202020204" pitchFamily="34" charset="0"/>
              </a:rPr>
              <a:t>Има много протоколи за сигурност, от които можете да избирате, и може би не знаете кой е най-добрият.</a:t>
            </a:r>
          </a:p>
          <a:p>
            <a:endParaRPr lang="en-US" dirty="0"/>
          </a:p>
        </p:txBody>
      </p:sp>
    </p:spTree>
    <p:extLst>
      <p:ext uri="{BB962C8B-B14F-4D97-AF65-F5344CB8AC3E}">
        <p14:creationId xmlns:p14="http://schemas.microsoft.com/office/powerpoint/2010/main" val="3373811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D3AAE880-19D5-A7DA-FCA7-F00DB7087557}"/>
              </a:ext>
            </a:extLst>
          </p:cNvPr>
          <p:cNvSpPr>
            <a:spLocks noGrp="1"/>
          </p:cNvSpPr>
          <p:nvPr>
            <p:ph type="title"/>
          </p:nvPr>
        </p:nvSpPr>
        <p:spPr>
          <a:xfrm>
            <a:off x="913795" y="609600"/>
            <a:ext cx="10353762" cy="970450"/>
          </a:xfrm>
        </p:spPr>
        <p:txBody>
          <a:bodyPr>
            <a:normAutofit/>
          </a:bodyPr>
          <a:lstStyle/>
          <a:p>
            <a:pPr>
              <a:lnSpc>
                <a:spcPct val="90000"/>
              </a:lnSpc>
            </a:pPr>
            <a:r>
              <a:rPr lang="bg-BG" sz="3100" b="1" i="0">
                <a:effectLst/>
                <a:latin typeface="Arial" panose="020B0604020202020204" pitchFamily="34" charset="0"/>
              </a:rPr>
              <a:t>Недостатъци</a:t>
            </a:r>
            <a:br>
              <a:rPr lang="bg-BG" sz="3100" b="1" i="0">
                <a:effectLst/>
                <a:latin typeface="Arial" panose="020B0604020202020204" pitchFamily="34" charset="0"/>
              </a:rPr>
            </a:br>
            <a:endParaRPr lang="en-US" sz="3100"/>
          </a:p>
        </p:txBody>
      </p:sp>
      <p:graphicFrame>
        <p:nvGraphicFramePr>
          <p:cNvPr id="5" name="Контейнер за съдържание 2">
            <a:extLst>
              <a:ext uri="{FF2B5EF4-FFF2-40B4-BE49-F238E27FC236}">
                <a16:creationId xmlns:a16="http://schemas.microsoft.com/office/drawing/2014/main" xmlns="" id="{7C557BF2-93A6-BF95-A3F4-3674559B149E}"/>
              </a:ext>
            </a:extLst>
          </p:cNvPr>
          <p:cNvGraphicFramePr>
            <a:graphicFrameLocks noGrp="1"/>
          </p:cNvGraphicFramePr>
          <p:nvPr>
            <p:ph idx="1"/>
            <p:extLst>
              <p:ext uri="{D42A27DB-BD31-4B8C-83A1-F6EECF244321}">
                <p14:modId xmlns:p14="http://schemas.microsoft.com/office/powerpoint/2010/main" val="222061883"/>
              </p:ext>
            </p:extLst>
          </p:nvPr>
        </p:nvGraphicFramePr>
        <p:xfrm>
          <a:off x="914400" y="1731963"/>
          <a:ext cx="10353675" cy="4059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7005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87AADA30-87B2-B90C-0183-5089C243C6B5}"/>
              </a:ext>
            </a:extLst>
          </p:cNvPr>
          <p:cNvSpPr>
            <a:spLocks noGrp="1"/>
          </p:cNvSpPr>
          <p:nvPr>
            <p:ph type="title"/>
          </p:nvPr>
        </p:nvSpPr>
        <p:spPr/>
        <p:txBody>
          <a:bodyPr>
            <a:normAutofit fontScale="90000"/>
          </a:bodyPr>
          <a:lstStyle/>
          <a:p>
            <a:r>
              <a:rPr lang="bg-BG" b="1" i="0" dirty="0">
                <a:solidFill>
                  <a:schemeClr val="tx1"/>
                </a:solidFill>
                <a:effectLst/>
                <a:latin typeface="Arial" panose="020B0604020202020204" pitchFamily="34" charset="0"/>
              </a:rPr>
              <a:t>Недостатъци</a:t>
            </a:r>
            <a:br>
              <a:rPr lang="bg-BG" b="1" i="0" dirty="0">
                <a:solidFill>
                  <a:schemeClr val="tx1"/>
                </a:solidFill>
                <a:effectLst/>
                <a:latin typeface="Arial" panose="020B0604020202020204" pitchFamily="34" charset="0"/>
              </a:rPr>
            </a:br>
            <a:endParaRPr lang="en-US" dirty="0">
              <a:solidFill>
                <a:schemeClr val="tx1"/>
              </a:solidFill>
            </a:endParaRPr>
          </a:p>
        </p:txBody>
      </p:sp>
      <p:graphicFrame>
        <p:nvGraphicFramePr>
          <p:cNvPr id="5" name="Контейнер за съдържание 2">
            <a:extLst>
              <a:ext uri="{FF2B5EF4-FFF2-40B4-BE49-F238E27FC236}">
                <a16:creationId xmlns:a16="http://schemas.microsoft.com/office/drawing/2014/main" xmlns="" id="{BD28C8A9-661B-476D-891F-02006264C6C5}"/>
              </a:ext>
            </a:extLst>
          </p:cNvPr>
          <p:cNvGraphicFramePr>
            <a:graphicFrameLocks noGrp="1"/>
          </p:cNvGraphicFramePr>
          <p:nvPr>
            <p:ph idx="1"/>
          </p:nvPr>
        </p:nvGraphicFramePr>
        <p:xfrm>
          <a:off x="913795" y="1732449"/>
          <a:ext cx="10353762" cy="4058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5805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72029C9F-35A0-50FD-BCE5-C17B79FCFBA5}"/>
              </a:ext>
            </a:extLst>
          </p:cNvPr>
          <p:cNvSpPr>
            <a:spLocks noGrp="1"/>
          </p:cNvSpPr>
          <p:nvPr>
            <p:ph type="title"/>
          </p:nvPr>
        </p:nvSpPr>
        <p:spPr>
          <a:xfrm>
            <a:off x="633743" y="609599"/>
            <a:ext cx="3413156" cy="5273675"/>
          </a:xfrm>
        </p:spPr>
        <p:txBody>
          <a:bodyPr>
            <a:normAutofit/>
          </a:bodyPr>
          <a:lstStyle/>
          <a:p>
            <a:r>
              <a:rPr lang="bg-BG" sz="3700" b="1" i="0">
                <a:effectLst/>
                <a:latin typeface="Arial" panose="020B0604020202020204" pitchFamily="34" charset="0"/>
              </a:rPr>
              <a:t>Недостатъци</a:t>
            </a:r>
            <a:br>
              <a:rPr lang="bg-BG" sz="3700" b="1" i="0">
                <a:effectLst/>
                <a:latin typeface="Arial" panose="020B0604020202020204" pitchFamily="34" charset="0"/>
              </a:rPr>
            </a:br>
            <a:endParaRPr lang="en-US" sz="3700"/>
          </a:p>
        </p:txBody>
      </p:sp>
      <p:pic>
        <p:nvPicPr>
          <p:cNvPr id="9" name="Picture 8">
            <a:extLst>
              <a:ext uri="{FF2B5EF4-FFF2-40B4-BE49-F238E27FC236}">
                <a16:creationId xmlns:a16="http://schemas.microsoft.com/office/drawing/2014/main" xmlns="" id="{82AABC82-C2D1-4340-A6DF-6E73DF06FCAC}"/>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xmlns=""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639056" y="2"/>
            <a:ext cx="7552944" cy="6857998"/>
          </a:xfrm>
          <a:prstGeom prst="rect">
            <a:avLst/>
          </a:prstGeom>
        </p:spPr>
      </p:pic>
      <p:graphicFrame>
        <p:nvGraphicFramePr>
          <p:cNvPr id="5" name="Контейнер за съдържание 2">
            <a:extLst>
              <a:ext uri="{FF2B5EF4-FFF2-40B4-BE49-F238E27FC236}">
                <a16:creationId xmlns:a16="http://schemas.microsoft.com/office/drawing/2014/main" xmlns="" id="{007F57B9-435A-9AAF-F6E2-F83D9259006F}"/>
              </a:ext>
            </a:extLst>
          </p:cNvPr>
          <p:cNvGraphicFramePr>
            <a:graphicFrameLocks noGrp="1"/>
          </p:cNvGraphicFramePr>
          <p:nvPr>
            <p:ph idx="1"/>
            <p:extLst>
              <p:ext uri="{D42A27DB-BD31-4B8C-83A1-F6EECF244321}">
                <p14:modId xmlns:p14="http://schemas.microsoft.com/office/powerpoint/2010/main" val="2231497010"/>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78435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0937AD56-1E10-9AB8-D5BF-39E06C25A834}"/>
              </a:ext>
            </a:extLst>
          </p:cNvPr>
          <p:cNvSpPr>
            <a:spLocks noGrp="1"/>
          </p:cNvSpPr>
          <p:nvPr>
            <p:ph type="title"/>
          </p:nvPr>
        </p:nvSpPr>
        <p:spPr/>
        <p:txBody>
          <a:bodyPr/>
          <a:lstStyle/>
          <a:p>
            <a:r>
              <a:rPr lang="bg-BG" b="0" i="0" dirty="0">
                <a:solidFill>
                  <a:schemeClr val="tx1"/>
                </a:solidFill>
                <a:effectLst/>
                <a:latin typeface="Linux Libertine"/>
              </a:rPr>
              <a:t>Виртуализация</a:t>
            </a:r>
            <a:endParaRPr lang="en-US" dirty="0"/>
          </a:p>
        </p:txBody>
      </p:sp>
      <p:sp>
        <p:nvSpPr>
          <p:cNvPr id="3" name="Контейнер за съдържание 2">
            <a:extLst>
              <a:ext uri="{FF2B5EF4-FFF2-40B4-BE49-F238E27FC236}">
                <a16:creationId xmlns:a16="http://schemas.microsoft.com/office/drawing/2014/main" xmlns="" id="{7192977A-2DE7-AF4B-B3B3-CB3E78F0AB9C}"/>
              </a:ext>
            </a:extLst>
          </p:cNvPr>
          <p:cNvSpPr>
            <a:spLocks noGrp="1"/>
          </p:cNvSpPr>
          <p:nvPr>
            <p:ph idx="1"/>
          </p:nvPr>
        </p:nvSpPr>
        <p:spPr/>
        <p:txBody>
          <a:bodyPr>
            <a:normAutofit/>
          </a:bodyPr>
          <a:lstStyle/>
          <a:p>
            <a:r>
              <a:rPr lang="bg-BG" sz="2400" dirty="0"/>
              <a:t>В компютърната терминология виртуализация e термин с широка употреба, който най-общо се отнася за ползване на компютърни ресурси за симулиране на реалните хардуер, операционни системи, платформи, машини. Виртуализацията прави възможно стартирането на множество операционни системи и приложен софтуер на една хардуерна машина, при това едновременно позволява ефикасното използване на наличните ресурси.</a:t>
            </a:r>
          </a:p>
        </p:txBody>
      </p:sp>
    </p:spTree>
    <p:extLst>
      <p:ext uri="{BB962C8B-B14F-4D97-AF65-F5344CB8AC3E}">
        <p14:creationId xmlns:p14="http://schemas.microsoft.com/office/powerpoint/2010/main" val="450238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661A65F5-21EB-9487-5471-22C273FFA2BA}"/>
              </a:ext>
            </a:extLst>
          </p:cNvPr>
          <p:cNvSpPr>
            <a:spLocks noGrp="1"/>
          </p:cNvSpPr>
          <p:nvPr>
            <p:ph type="title"/>
          </p:nvPr>
        </p:nvSpPr>
        <p:spPr/>
        <p:txBody>
          <a:bodyPr>
            <a:normAutofit fontScale="90000"/>
          </a:bodyPr>
          <a:lstStyle/>
          <a:p>
            <a:r>
              <a:rPr lang="bg-BG" sz="3600" b="0" i="0" dirty="0">
                <a:solidFill>
                  <a:schemeClr val="tx1"/>
                </a:solidFill>
                <a:effectLst/>
                <a:latin typeface="Linux Libertine"/>
              </a:rPr>
              <a:t>Хардуерна виртуализация</a:t>
            </a:r>
            <a:r>
              <a:rPr lang="bg-BG" b="0" i="0" dirty="0">
                <a:solidFill>
                  <a:srgbClr val="000000"/>
                </a:solidFill>
                <a:effectLst/>
                <a:latin typeface="Linux Libertine"/>
              </a:rPr>
              <a:t/>
            </a:r>
            <a:br>
              <a:rPr lang="bg-BG" b="0" i="0" dirty="0">
                <a:solidFill>
                  <a:srgbClr val="000000"/>
                </a:solidFill>
                <a:effectLst/>
                <a:latin typeface="Linux Libertine"/>
              </a:rPr>
            </a:br>
            <a:endParaRPr lang="en-US" dirty="0"/>
          </a:p>
        </p:txBody>
      </p:sp>
      <p:sp>
        <p:nvSpPr>
          <p:cNvPr id="3" name="Контейнер за съдържание 2">
            <a:extLst>
              <a:ext uri="{FF2B5EF4-FFF2-40B4-BE49-F238E27FC236}">
                <a16:creationId xmlns:a16="http://schemas.microsoft.com/office/drawing/2014/main" xmlns="" id="{3F23677F-70CB-8D21-B5D3-D8FFDFBC2D8C}"/>
              </a:ext>
            </a:extLst>
          </p:cNvPr>
          <p:cNvSpPr>
            <a:spLocks noGrp="1"/>
          </p:cNvSpPr>
          <p:nvPr>
            <p:ph idx="1"/>
          </p:nvPr>
        </p:nvSpPr>
        <p:spPr/>
        <p:txBody>
          <a:bodyPr/>
          <a:lstStyle/>
          <a:p>
            <a:r>
              <a:rPr lang="bg-BG" dirty="0"/>
              <a:t>Хардуерната виртуализация представлява създаването на виртуална машина която има поведението на компютър с отделна операционна система. Софтуерът, стартиран на такава виртуална машина, е отделен от реалните хардуерни ресурси. Например на компютър под Windows може да се реализира виртуална машина, която изглежда като компютър с операционна система </a:t>
            </a:r>
            <a:r>
              <a:rPr lang="bg-BG" dirty="0" err="1"/>
              <a:t>macOS</a:t>
            </a:r>
            <a:r>
              <a:rPr lang="bg-BG" dirty="0"/>
              <a:t>. Следователно на тази виртуална машина може да работи софтуер, предназначен за </a:t>
            </a:r>
            <a:r>
              <a:rPr lang="bg-BG" dirty="0" err="1"/>
              <a:t>macOS</a:t>
            </a:r>
            <a:r>
              <a:rPr lang="bg-BG" dirty="0"/>
              <a:t>.</a:t>
            </a:r>
            <a:endParaRPr lang="en-US" dirty="0"/>
          </a:p>
          <a:p>
            <a:r>
              <a:rPr lang="bg-BG" dirty="0"/>
              <a:t>За да се направи различие между истинската машина и симулираната, се използват термините хост за истинската и </a:t>
            </a:r>
            <a:r>
              <a:rPr lang="bg-BG" dirty="0" err="1"/>
              <a:t>guest</a:t>
            </a:r>
            <a:r>
              <a:rPr lang="bg-BG" dirty="0"/>
              <a:t> (гост) за виртуалната.</a:t>
            </a:r>
          </a:p>
        </p:txBody>
      </p:sp>
    </p:spTree>
    <p:extLst>
      <p:ext uri="{BB962C8B-B14F-4D97-AF65-F5344CB8AC3E}">
        <p14:creationId xmlns:p14="http://schemas.microsoft.com/office/powerpoint/2010/main" val="1204314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EB4A4D4C-AD4F-67B0-1282-B36D5BAB4E21}"/>
              </a:ext>
            </a:extLst>
          </p:cNvPr>
          <p:cNvSpPr>
            <a:spLocks noGrp="1"/>
          </p:cNvSpPr>
          <p:nvPr>
            <p:ph type="title"/>
          </p:nvPr>
        </p:nvSpPr>
        <p:spPr/>
        <p:txBody>
          <a:bodyPr>
            <a:normAutofit fontScale="90000"/>
          </a:bodyPr>
          <a:lstStyle/>
          <a:p>
            <a:r>
              <a:rPr lang="bg-BG" sz="3600" b="0" i="0" dirty="0">
                <a:solidFill>
                  <a:schemeClr val="tx1"/>
                </a:solidFill>
                <a:effectLst/>
                <a:latin typeface="Linux Libertine"/>
              </a:rPr>
              <a:t>Софтуерна виртуализация</a:t>
            </a:r>
            <a:r>
              <a:rPr lang="bg-BG" b="0" i="0" dirty="0">
                <a:solidFill>
                  <a:srgbClr val="000000"/>
                </a:solidFill>
                <a:effectLst/>
                <a:latin typeface="Linux Libertine"/>
              </a:rPr>
              <a:t/>
            </a:r>
            <a:br>
              <a:rPr lang="bg-BG" b="0" i="0" dirty="0">
                <a:solidFill>
                  <a:srgbClr val="000000"/>
                </a:solidFill>
                <a:effectLst/>
                <a:latin typeface="Linux Libertine"/>
              </a:rPr>
            </a:br>
            <a:endParaRPr lang="en-US" dirty="0"/>
          </a:p>
        </p:txBody>
      </p:sp>
      <p:sp>
        <p:nvSpPr>
          <p:cNvPr id="3" name="Контейнер за съдържание 2">
            <a:extLst>
              <a:ext uri="{FF2B5EF4-FFF2-40B4-BE49-F238E27FC236}">
                <a16:creationId xmlns:a16="http://schemas.microsoft.com/office/drawing/2014/main" xmlns="" id="{DF20CDB1-2564-3E43-656A-120035C50DC5}"/>
              </a:ext>
            </a:extLst>
          </p:cNvPr>
          <p:cNvSpPr>
            <a:spLocks noGrp="1"/>
          </p:cNvSpPr>
          <p:nvPr>
            <p:ph idx="1"/>
          </p:nvPr>
        </p:nvSpPr>
        <p:spPr/>
        <p:txBody>
          <a:bodyPr/>
          <a:lstStyle/>
          <a:p>
            <a:r>
              <a:rPr lang="bg-BG" dirty="0"/>
              <a:t>ОС виртуализация– виртуализацията на ниво операционна система (ОС виртуализация) е метод за сървърна виртуализация, при който ядрото на операционната система позволява да се създадат много на брой нейни изолирани инстанции (работещи реализации). Всички инстанции (често наричани контейнери, виртуални системи, виртуални сървъри или клетки) от гледна точка на потребителя изглеждат и действат като един-единствен физически сървър. В </a:t>
            </a:r>
            <a:r>
              <a:rPr lang="bg-BG" dirty="0" err="1"/>
              <a:t>Unix</a:t>
            </a:r>
            <a:r>
              <a:rPr lang="bg-BG" dirty="0"/>
              <a:t> системите тази технология може да бъде видяна като развито приложение на стандартния </a:t>
            </a:r>
            <a:r>
              <a:rPr lang="bg-BG" dirty="0" err="1"/>
              <a:t>chroot</a:t>
            </a:r>
            <a:r>
              <a:rPr lang="bg-BG" dirty="0"/>
              <a:t> механизъм.</a:t>
            </a:r>
          </a:p>
        </p:txBody>
      </p:sp>
    </p:spTree>
    <p:extLst>
      <p:ext uri="{BB962C8B-B14F-4D97-AF65-F5344CB8AC3E}">
        <p14:creationId xmlns:p14="http://schemas.microsoft.com/office/powerpoint/2010/main" val="1397633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F8BFEC52-A638-CDAF-58C1-C882F951AA8C}"/>
              </a:ext>
            </a:extLst>
          </p:cNvPr>
          <p:cNvSpPr>
            <a:spLocks noGrp="1"/>
          </p:cNvSpPr>
          <p:nvPr>
            <p:ph type="title"/>
          </p:nvPr>
        </p:nvSpPr>
        <p:spPr/>
        <p:txBody>
          <a:bodyPr>
            <a:normAutofit fontScale="90000"/>
          </a:bodyPr>
          <a:lstStyle/>
          <a:p>
            <a:r>
              <a:rPr lang="bg-BG" b="0" i="0" dirty="0">
                <a:solidFill>
                  <a:schemeClr val="tx1"/>
                </a:solidFill>
                <a:effectLst/>
                <a:latin typeface="Linux Libertine"/>
              </a:rPr>
              <a:t>Ресурсна виртуализация</a:t>
            </a:r>
            <a:r>
              <a:rPr lang="bg-BG" b="0" i="0" dirty="0">
                <a:solidFill>
                  <a:srgbClr val="000000"/>
                </a:solidFill>
                <a:effectLst/>
                <a:latin typeface="Linux Libertine"/>
              </a:rPr>
              <a:t/>
            </a:r>
            <a:br>
              <a:rPr lang="bg-BG" b="0" i="0" dirty="0">
                <a:solidFill>
                  <a:srgbClr val="000000"/>
                </a:solidFill>
                <a:effectLst/>
                <a:latin typeface="Linux Libertine"/>
              </a:rPr>
            </a:br>
            <a:endParaRPr lang="en-US" dirty="0"/>
          </a:p>
        </p:txBody>
      </p:sp>
      <p:sp>
        <p:nvSpPr>
          <p:cNvPr id="3" name="Контейнер за съдържание 2">
            <a:extLst>
              <a:ext uri="{FF2B5EF4-FFF2-40B4-BE49-F238E27FC236}">
                <a16:creationId xmlns:a16="http://schemas.microsoft.com/office/drawing/2014/main" xmlns="" id="{698F2B1C-AE2F-4E85-2501-97EF687375EF}"/>
              </a:ext>
            </a:extLst>
          </p:cNvPr>
          <p:cNvSpPr>
            <a:spLocks noGrp="1"/>
          </p:cNvSpPr>
          <p:nvPr>
            <p:ph idx="1"/>
          </p:nvPr>
        </p:nvSpPr>
        <p:spPr/>
        <p:txBody>
          <a:bodyPr/>
          <a:lstStyle/>
          <a:p>
            <a:r>
              <a:rPr lang="bg-BG" dirty="0"/>
              <a:t>Виртуална памет – системна памет симулирана от операционната система и </a:t>
            </a:r>
            <a:r>
              <a:rPr lang="bg-BG" dirty="0" err="1"/>
              <a:t>рКаазположена</a:t>
            </a:r>
            <a:r>
              <a:rPr lang="bg-BG" dirty="0"/>
              <a:t> на твърдия диск. Тя позволява да се прилага едно и също, непрекъснато адресиране на физически различни памети (участъци от твърдия диск). Например, при Windows ако няма достатъчно оперативна памет за изпълнение на програма или операция, операционната система използва виртуална памет. Виртуално хранилище – процес на цялостна абстракция на логическото съхраняване на данни от реалното им физическо местоположение RAID – резервиран масив от независими дискове Разделяне на дялове (напр. на твърд диск) – прилага се при голям ресурс, който се разделя на по-малки еднотипни части с цел по-лесно използване на ресурсите Управление на логически дискове – обединение на много дискове заедно и след това разделянето им на логически дискове</a:t>
            </a:r>
          </a:p>
        </p:txBody>
      </p:sp>
    </p:spTree>
    <p:extLst>
      <p:ext uri="{BB962C8B-B14F-4D97-AF65-F5344CB8AC3E}">
        <p14:creationId xmlns:p14="http://schemas.microsoft.com/office/powerpoint/2010/main" val="2927545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3347A9C6-6525-D15C-0B9D-E562DA043972}"/>
              </a:ext>
            </a:extLst>
          </p:cNvPr>
          <p:cNvSpPr>
            <a:spLocks noGrp="1"/>
          </p:cNvSpPr>
          <p:nvPr>
            <p:ph type="title"/>
          </p:nvPr>
        </p:nvSpPr>
        <p:spPr/>
        <p:txBody>
          <a:bodyPr>
            <a:normAutofit fontScale="90000"/>
          </a:bodyPr>
          <a:lstStyle/>
          <a:p>
            <a:r>
              <a:rPr lang="bg-BG" b="0" i="0" dirty="0">
                <a:solidFill>
                  <a:schemeClr val="tx1"/>
                </a:solidFill>
                <a:effectLst/>
                <a:latin typeface="Linux Libertine"/>
              </a:rPr>
              <a:t>Мрежова виртуализация</a:t>
            </a:r>
            <a:r>
              <a:rPr lang="bg-BG" b="0" i="0" dirty="0">
                <a:solidFill>
                  <a:srgbClr val="000000"/>
                </a:solidFill>
                <a:effectLst/>
                <a:latin typeface="Linux Libertine"/>
              </a:rPr>
              <a:t/>
            </a:r>
            <a:br>
              <a:rPr lang="bg-BG" b="0" i="0" dirty="0">
                <a:solidFill>
                  <a:srgbClr val="000000"/>
                </a:solidFill>
                <a:effectLst/>
                <a:latin typeface="Linux Libertine"/>
              </a:rPr>
            </a:br>
            <a:endParaRPr lang="en-US" dirty="0"/>
          </a:p>
        </p:txBody>
      </p:sp>
      <p:sp>
        <p:nvSpPr>
          <p:cNvPr id="3" name="Контейнер за съдържание 2">
            <a:extLst>
              <a:ext uri="{FF2B5EF4-FFF2-40B4-BE49-F238E27FC236}">
                <a16:creationId xmlns:a16="http://schemas.microsoft.com/office/drawing/2014/main" xmlns="" id="{332E8AC4-8175-DF36-E6C9-F26A44F800A7}"/>
              </a:ext>
            </a:extLst>
          </p:cNvPr>
          <p:cNvSpPr>
            <a:spLocks noGrp="1"/>
          </p:cNvSpPr>
          <p:nvPr>
            <p:ph idx="1"/>
          </p:nvPr>
        </p:nvSpPr>
        <p:spPr/>
        <p:txBody>
          <a:bodyPr/>
          <a:lstStyle/>
          <a:p>
            <a:r>
              <a:rPr lang="bg-BG" dirty="0"/>
              <a:t>Десктоп виртуализация – изобразяване и управление на отдалечен десктоп компютър Мрежова виртуализация – създаване на виртуално мрежово адресно пространство вътре в мрежата или в няколко подмрежи Клъстерни и </a:t>
            </a:r>
            <a:r>
              <a:rPr lang="bg-BG" dirty="0" err="1"/>
              <a:t>grid</a:t>
            </a:r>
            <a:r>
              <a:rPr lang="bg-BG" dirty="0"/>
              <a:t> изчисления – обединението на много компютри в една инфраструктура за извършване на сложни изчисления. В състава на клъстера влизат различни класове компютри, програмно осигуряване, мрежово оборудване и устройства за вход/изход. В </a:t>
            </a:r>
            <a:r>
              <a:rPr lang="bg-BG" dirty="0" err="1"/>
              <a:t>grid</a:t>
            </a:r>
            <a:r>
              <a:rPr lang="bg-BG" dirty="0"/>
              <a:t> системата компютрите са отдалечени пространствено.</a:t>
            </a:r>
          </a:p>
        </p:txBody>
      </p:sp>
    </p:spTree>
    <p:extLst>
      <p:ext uri="{BB962C8B-B14F-4D97-AF65-F5344CB8AC3E}">
        <p14:creationId xmlns:p14="http://schemas.microsoft.com/office/powerpoint/2010/main" val="2871275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0562D2BA-9485-2BA3-4CAD-8BA7AE4EF402}"/>
              </a:ext>
            </a:extLst>
          </p:cNvPr>
          <p:cNvSpPr>
            <a:spLocks noGrp="1"/>
          </p:cNvSpPr>
          <p:nvPr>
            <p:ph type="title"/>
          </p:nvPr>
        </p:nvSpPr>
        <p:spPr/>
        <p:txBody>
          <a:bodyPr/>
          <a:lstStyle/>
          <a:p>
            <a:r>
              <a:rPr lang="bg-BG" dirty="0" err="1"/>
              <a:t>Въпсори</a:t>
            </a:r>
            <a:r>
              <a:rPr lang="bg-BG" dirty="0"/>
              <a:t>?</a:t>
            </a:r>
            <a:endParaRPr lang="en-US" dirty="0"/>
          </a:p>
        </p:txBody>
      </p:sp>
      <p:sp>
        <p:nvSpPr>
          <p:cNvPr id="3" name="Контейнер за съдържание 2">
            <a:extLst>
              <a:ext uri="{FF2B5EF4-FFF2-40B4-BE49-F238E27FC236}">
                <a16:creationId xmlns:a16="http://schemas.microsoft.com/office/drawing/2014/main" xmlns="" id="{680DC41C-C43C-E71A-AC22-87394A0E8197}"/>
              </a:ext>
            </a:extLst>
          </p:cNvPr>
          <p:cNvSpPr>
            <a:spLocks noGrp="1"/>
          </p:cNvSpPr>
          <p:nvPr>
            <p:ph idx="1"/>
          </p:nvPr>
        </p:nvSpPr>
        <p:spPr/>
        <p:txBody>
          <a:bodyPr/>
          <a:lstStyle/>
          <a:p>
            <a:pPr marL="494100" indent="-457200">
              <a:buFont typeface="+mj-lt"/>
              <a:buAutoNum type="arabicPeriod"/>
            </a:pPr>
            <a:r>
              <a:rPr lang="bg-BG" dirty="0"/>
              <a:t>Колко вида </a:t>
            </a:r>
            <a:r>
              <a:rPr lang="bg-BG" dirty="0" err="1"/>
              <a:t>вируализация</a:t>
            </a:r>
            <a:r>
              <a:rPr lang="bg-BG" dirty="0"/>
              <a:t> има?</a:t>
            </a:r>
          </a:p>
          <a:p>
            <a:pPr marL="494100" indent="-457200">
              <a:buFont typeface="+mj-lt"/>
              <a:buAutoNum type="arabicPeriod"/>
            </a:pPr>
            <a:r>
              <a:rPr lang="bg-BG" dirty="0"/>
              <a:t> Какво е </a:t>
            </a:r>
            <a:r>
              <a:rPr lang="en-US" dirty="0" err="1"/>
              <a:t>vpn</a:t>
            </a:r>
            <a:r>
              <a:rPr lang="en-US" dirty="0"/>
              <a:t>?</a:t>
            </a:r>
            <a:endParaRPr lang="bg-BG" dirty="0"/>
          </a:p>
          <a:p>
            <a:pPr marL="494100" indent="-457200">
              <a:buFont typeface="+mj-lt"/>
              <a:buAutoNum type="arabicPeriod"/>
            </a:pPr>
            <a:r>
              <a:rPr lang="bg-BG" dirty="0"/>
              <a:t>За какво се използва </a:t>
            </a:r>
            <a:r>
              <a:rPr lang="en-US" dirty="0" err="1"/>
              <a:t>vpn</a:t>
            </a:r>
            <a:r>
              <a:rPr lang="en-US" dirty="0"/>
              <a:t>?</a:t>
            </a:r>
            <a:endParaRPr lang="bg-BG" dirty="0"/>
          </a:p>
          <a:p>
            <a:pPr marL="494100" indent="-457200">
              <a:buFont typeface="+mj-lt"/>
              <a:buAutoNum type="arabicPeriod"/>
            </a:pPr>
            <a:r>
              <a:rPr lang="bg-BG" dirty="0"/>
              <a:t>Какво представлява характеристиката авариен ключ?</a:t>
            </a:r>
          </a:p>
          <a:p>
            <a:pPr marL="494100" indent="-457200">
              <a:buFont typeface="+mj-lt"/>
              <a:buAutoNum type="arabicPeriod"/>
            </a:pPr>
            <a:endParaRPr lang="en-US" dirty="0"/>
          </a:p>
          <a:p>
            <a:pPr marL="494100" indent="-457200">
              <a:buFont typeface="+mj-lt"/>
              <a:buAutoNum type="arabicPeriod"/>
            </a:pPr>
            <a:endParaRPr lang="en-US" dirty="0"/>
          </a:p>
        </p:txBody>
      </p:sp>
    </p:spTree>
    <p:extLst>
      <p:ext uri="{BB962C8B-B14F-4D97-AF65-F5344CB8AC3E}">
        <p14:creationId xmlns:p14="http://schemas.microsoft.com/office/powerpoint/2010/main" val="15937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FE1912FB-F9A5-2F1B-D8C9-CDA851F24C0B}"/>
              </a:ext>
            </a:extLst>
          </p:cNvPr>
          <p:cNvSpPr>
            <a:spLocks noGrp="1"/>
          </p:cNvSpPr>
          <p:nvPr>
            <p:ph type="title"/>
          </p:nvPr>
        </p:nvSpPr>
        <p:spPr/>
        <p:txBody>
          <a:bodyPr/>
          <a:lstStyle/>
          <a:p>
            <a:r>
              <a:rPr lang="bg-BG" dirty="0"/>
              <a:t>Източници на </a:t>
            </a:r>
            <a:r>
              <a:rPr lang="bg-BG" dirty="0" err="1"/>
              <a:t>иформция</a:t>
            </a:r>
            <a:endParaRPr lang="en-US" dirty="0"/>
          </a:p>
        </p:txBody>
      </p:sp>
      <p:sp>
        <p:nvSpPr>
          <p:cNvPr id="3" name="Контейнер за съдържание 2">
            <a:extLst>
              <a:ext uri="{FF2B5EF4-FFF2-40B4-BE49-F238E27FC236}">
                <a16:creationId xmlns:a16="http://schemas.microsoft.com/office/drawing/2014/main" xmlns="" id="{4B32394F-3C9E-FF33-AEFF-F19B099BA829}"/>
              </a:ext>
            </a:extLst>
          </p:cNvPr>
          <p:cNvSpPr>
            <a:spLocks noGrp="1"/>
          </p:cNvSpPr>
          <p:nvPr>
            <p:ph idx="1"/>
          </p:nvPr>
        </p:nvSpPr>
        <p:spPr/>
        <p:txBody>
          <a:bodyPr>
            <a:normAutofit lnSpcReduction="10000"/>
          </a:bodyPr>
          <a:lstStyle/>
          <a:p>
            <a:r>
              <a:rPr lang="en-US" dirty="0">
                <a:hlinkClick r:id="rId2"/>
              </a:rPr>
              <a:t>https://bg.vpnmentor.com/blog/%D0%BF%D1%80%D0%B5%D0%B4%D0%B8%D0%BC%D1%81%D1%82%D0%B2%D0%B0-%D0%B8-%D0%BD%D0%B5%D0%B4%D0%BE%D1%81%D1%82%D0%B0%D1%82%D1%8A%D1%86%D0%B8-%D0%BD%D0%B0-vpn-%D1%82%D0%B5%D1%85%D0%BD%D0%BE%D0%BB%D0%BE%D0%B3/</a:t>
            </a:r>
            <a:endParaRPr lang="bg-BG" dirty="0"/>
          </a:p>
          <a:p>
            <a:r>
              <a:rPr lang="en-US" dirty="0">
                <a:hlinkClick r:id="rId3"/>
              </a:rPr>
              <a:t>https://bg.wikipedia.org/wiki/%D0%92%D0%B8%D1%80%D1%82%D1%83%D0%B0%D0%BB%D0%B8%D0%B7%D0%B0%D1%86%D0%B8%D1%8F</a:t>
            </a:r>
            <a:endParaRPr lang="bg-BG" dirty="0"/>
          </a:p>
          <a:p>
            <a:r>
              <a:rPr lang="en-US" dirty="0">
                <a:hlinkClick r:id="rId4"/>
              </a:rPr>
              <a:t>http://vschool.info/cn/km2/vpn/</a:t>
            </a:r>
            <a:endParaRPr lang="bg-BG" dirty="0"/>
          </a:p>
          <a:p>
            <a:r>
              <a:rPr lang="en-US" dirty="0">
                <a:hlinkClick r:id="rId5"/>
              </a:rPr>
              <a:t>https://bg.wizcase.com/blog/%D0%BF%D1%8A%D0%BB%D0%BD%D0%BE-%D1%80%D1%8A%D0%BA%D0%BE%D0%B2%D0%BE%D0%B4%D1%81%D1%82%D0%B2%D0%BD%D0%B0%D1%87%D0%B8%D0%BD%D0%B0%D0%B5%D1%89%D0%B8-%D0%B7%D0%B0-vpn/</a:t>
            </a:r>
            <a:endParaRPr lang="bg-BG" dirty="0"/>
          </a:p>
        </p:txBody>
      </p:sp>
    </p:spTree>
    <p:extLst>
      <p:ext uri="{BB962C8B-B14F-4D97-AF65-F5344CB8AC3E}">
        <p14:creationId xmlns:p14="http://schemas.microsoft.com/office/powerpoint/2010/main" val="20488767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лоча">
  <a:themeElements>
    <a:clrScheme name="Плоча">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Плоча">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Плоча">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xmlns=""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TM04033929[[fn=Плоча]]</Template>
  <TotalTime>1113</TotalTime>
  <Words>1184</Words>
  <Application>Microsoft Office PowerPoint</Application>
  <PresentationFormat>Custom</PresentationFormat>
  <Paragraphs>82</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Плоча</vt:lpstr>
      <vt:lpstr>VPN характеристики и компоненти. Процеси при изграждане на vpn мрежа. Предимства и недостатъци. Процес на виртуализация</vt:lpstr>
      <vt:lpstr>СЪДЪРЖАНИЕ</vt:lpstr>
      <vt:lpstr>Какво е VPN?</vt:lpstr>
      <vt:lpstr>Характеристиката авариен ключ на VPN</vt:lpstr>
      <vt:lpstr>Как работи характеристиката авариен ключ </vt:lpstr>
      <vt:lpstr> Изграждане на VPN мрежи </vt:lpstr>
      <vt:lpstr>VPN мрежи за отдалечен достъп</vt:lpstr>
      <vt:lpstr>PowerPoint Presentation</vt:lpstr>
      <vt:lpstr>Обосновка на VPN протоколите</vt:lpstr>
      <vt:lpstr>Предимства на vpn </vt:lpstr>
      <vt:lpstr>Предимства </vt:lpstr>
      <vt:lpstr>Предимства </vt:lpstr>
      <vt:lpstr>Предимства </vt:lpstr>
      <vt:lpstr>Недостатъци </vt:lpstr>
      <vt:lpstr>Недостатъци </vt:lpstr>
      <vt:lpstr>Недостатъци </vt:lpstr>
      <vt:lpstr>Недостатъци </vt:lpstr>
      <vt:lpstr>Виртуализация</vt:lpstr>
      <vt:lpstr>Хардуерна виртуализация </vt:lpstr>
      <vt:lpstr>Софтуерна виртуализация </vt:lpstr>
      <vt:lpstr>Ресурсна виртуализация </vt:lpstr>
      <vt:lpstr>Мрежова виртуализация </vt:lpstr>
      <vt:lpstr>Въпсори?</vt:lpstr>
      <vt:lpstr>Източници на иформция</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VPN характеристики и компоненти. Процеси при изграждане на vpn мрежа. Предимства и недостатъци. Процес на виртуализация</dc:title>
  <dc:creator>Станислав С. Мавродиев</dc:creator>
  <cp:lastModifiedBy>PC-0</cp:lastModifiedBy>
  <cp:revision>2</cp:revision>
  <dcterms:created xsi:type="dcterms:W3CDTF">2022-12-18T21:22:44Z</dcterms:created>
  <dcterms:modified xsi:type="dcterms:W3CDTF">2022-12-20T07:57:37Z</dcterms:modified>
</cp:coreProperties>
</file>