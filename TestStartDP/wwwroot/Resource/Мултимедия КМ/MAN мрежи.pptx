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8" r:id="rId1"/>
  </p:sldMasterIdLst>
  <p:notesMasterIdLst>
    <p:notesMasterId r:id="rId28"/>
  </p:notesMasterIdLst>
  <p:sldIdLst>
    <p:sldId id="256" r:id="rId2"/>
    <p:sldId id="257" r:id="rId3"/>
    <p:sldId id="310" r:id="rId4"/>
    <p:sldId id="308" r:id="rId5"/>
    <p:sldId id="307" r:id="rId6"/>
    <p:sldId id="306" r:id="rId7"/>
    <p:sldId id="311" r:id="rId8"/>
    <p:sldId id="305" r:id="rId9"/>
    <p:sldId id="312" r:id="rId10"/>
    <p:sldId id="313" r:id="rId11"/>
    <p:sldId id="314" r:id="rId12"/>
    <p:sldId id="315" r:id="rId13"/>
    <p:sldId id="259" r:id="rId14"/>
    <p:sldId id="316" r:id="rId15"/>
    <p:sldId id="317" r:id="rId16"/>
    <p:sldId id="318" r:id="rId17"/>
    <p:sldId id="261" r:id="rId18"/>
    <p:sldId id="262" r:id="rId19"/>
    <p:sldId id="264" r:id="rId20"/>
    <p:sldId id="260" r:id="rId21"/>
    <p:sldId id="320" r:id="rId22"/>
    <p:sldId id="319" r:id="rId23"/>
    <p:sldId id="287" r:id="rId24"/>
    <p:sldId id="263" r:id="rId25"/>
    <p:sldId id="309" r:id="rId26"/>
    <p:sldId id="266" r:id="rId27"/>
  </p:sldIdLst>
  <p:sldSz cx="9144000" cy="5143500" type="screen16x9"/>
  <p:notesSz cx="6858000" cy="9144000"/>
  <p:embeddedFontLst>
    <p:embeddedFont>
      <p:font typeface="Montserrat" panose="020B0604020202020204" charset="0"/>
      <p:regular r:id="rId29"/>
      <p:bold r:id="rId30"/>
      <p:italic r:id="rId31"/>
      <p:boldItalic r:id="rId32"/>
    </p:embeddedFont>
    <p:embeddedFont>
      <p:font typeface="Noto Sans" panose="020B0604020202020204" charset="0"/>
      <p:regular r:id="rId33"/>
      <p:bold r:id="rId34"/>
      <p:italic r:id="rId35"/>
      <p:boldItalic r:id="rId36"/>
    </p:embeddedFont>
    <p:embeddedFont>
      <p:font typeface="Montserrat ExtraBold" panose="020B0604020202020204" charset="0"/>
      <p:bold r:id="rId37"/>
      <p:boldItalic r:id="rId38"/>
    </p:embeddedFont>
    <p:embeddedFont>
      <p:font typeface="Montserrat Alternates" panose="020B060402020202020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CC80601-8C17-45F2-A23D-C8903BF14105}" v="23" dt="2022-12-14T15:50:19.965"/>
  </p1510:revLst>
</p1510:revInfo>
</file>

<file path=ppt/tableStyles.xml><?xml version="1.0" encoding="utf-8"?>
<a:tblStyleLst xmlns:a="http://schemas.openxmlformats.org/drawingml/2006/main" def="{3CA41C9F-8858-4969-BC92-452A149CAB56}">
  <a:tblStyle styleId="{3CA41C9F-8858-4969-BC92-452A149CAB56}"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35" autoAdjust="0"/>
    <p:restoredTop sz="91850" autoAdjust="0"/>
  </p:normalViewPr>
  <p:slideViewPr>
    <p:cSldViewPr snapToGrid="0">
      <p:cViewPr varScale="1">
        <p:scale>
          <a:sx n="98" d="100"/>
          <a:sy n="98" d="100"/>
        </p:scale>
        <p:origin x="-558" y="-5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1.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6.fntdata"/><Relationship Id="rId42" Type="http://schemas.openxmlformats.org/officeDocument/2006/relationships/font" Target="fonts/font14.fntdata"/><Relationship Id="rId47"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font" Target="fonts/font10.fntdata"/><Relationship Id="rId46"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41" Type="http://schemas.openxmlformats.org/officeDocument/2006/relationships/font" Target="fonts/font1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3893398521"/>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52cab6e550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52cab6e550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a:xfrm>
            <a:off x="381000" y="685800"/>
            <a:ext cx="6096000" cy="3429000"/>
          </a:xfrm>
        </p:spPr>
      </p:sp>
      <p:sp>
        <p:nvSpPr>
          <p:cNvPr id="3" name="Контейнер за бележки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9268935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a:xfrm>
            <a:off x="381000" y="685800"/>
            <a:ext cx="6096000" cy="3429000"/>
          </a:xfrm>
        </p:spPr>
      </p:sp>
      <p:sp>
        <p:nvSpPr>
          <p:cNvPr id="3" name="Контейнер за бележки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44603120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52cab6e550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52cab6e550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9515231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Контейнер за изображение на слайда 1"/>
          <p:cNvSpPr>
            <a:spLocks noGrp="1" noRot="1" noChangeAspect="1"/>
          </p:cNvSpPr>
          <p:nvPr>
            <p:ph type="sldImg"/>
          </p:nvPr>
        </p:nvSpPr>
        <p:spPr>
          <a:xfrm>
            <a:off x="381000" y="685800"/>
            <a:ext cx="6096000" cy="3429000"/>
          </a:xfrm>
        </p:spPr>
      </p:sp>
      <p:sp>
        <p:nvSpPr>
          <p:cNvPr id="3" name="Контейнер за бележки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4313477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
        <p:cNvGrpSpPr/>
        <p:nvPr/>
      </p:nvGrpSpPr>
      <p:grpSpPr>
        <a:xfrm>
          <a:off x="0" y="0"/>
          <a:ext cx="0" cy="0"/>
          <a:chOff x="0" y="0"/>
          <a:chExt cx="0" cy="0"/>
        </a:xfrm>
      </p:grpSpPr>
      <p:sp>
        <p:nvSpPr>
          <p:cNvPr id="210" name="Google Shape;210;g6ed1775e42_0_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1" name="Google Shape;211;g6ed1775e42_0_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9"/>
        <p:cNvGrpSpPr/>
        <p:nvPr/>
      </p:nvGrpSpPr>
      <p:grpSpPr>
        <a:xfrm>
          <a:off x="0" y="0"/>
          <a:ext cx="0" cy="0"/>
          <a:chOff x="0" y="0"/>
          <a:chExt cx="0" cy="0"/>
        </a:xfrm>
      </p:grpSpPr>
      <p:sp>
        <p:nvSpPr>
          <p:cNvPr id="280" name="Google Shape;280;g6f078010ed_0_4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1" name="Google Shape;281;g6f078010ed_0_4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6f0744aa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6f0744aa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1"/>
        <p:cNvGrpSpPr/>
        <p:nvPr/>
      </p:nvGrpSpPr>
      <p:grpSpPr>
        <a:xfrm>
          <a:off x="0" y="0"/>
          <a:ext cx="0" cy="0"/>
          <a:chOff x="0" y="0"/>
          <a:chExt cx="0" cy="0"/>
        </a:xfrm>
      </p:grpSpPr>
      <p:sp>
        <p:nvSpPr>
          <p:cNvPr id="352" name="Google Shape;352;g6f0744aa72_0_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3" name="Google Shape;353;g6f0744aa72_0_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6f078010ed_0_4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6f078010ed_0_4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3"/>
        <p:cNvGrpSpPr/>
        <p:nvPr/>
      </p:nvGrpSpPr>
      <p:grpSpPr>
        <a:xfrm>
          <a:off x="0" y="0"/>
          <a:ext cx="0" cy="0"/>
          <a:chOff x="0" y="0"/>
          <a:chExt cx="0" cy="0"/>
        </a:xfrm>
      </p:grpSpPr>
      <p:sp>
        <p:nvSpPr>
          <p:cNvPr id="224" name="Google Shape;224;g6f078010ed_0_4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5" name="Google Shape;225;g6f078010ed_0_4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82350975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7"/>
        <p:cNvGrpSpPr/>
        <p:nvPr/>
      </p:nvGrpSpPr>
      <p:grpSpPr>
        <a:xfrm>
          <a:off x="0" y="0"/>
          <a:ext cx="0" cy="0"/>
          <a:chOff x="0" y="0"/>
          <a:chExt cx="0" cy="0"/>
        </a:xfrm>
      </p:grpSpPr>
      <p:sp>
        <p:nvSpPr>
          <p:cNvPr id="298" name="Google Shape;298;g6f0744aa72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9" name="Google Shape;299;g6f0744aa72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1501431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7"/>
        <p:cNvGrpSpPr/>
        <p:nvPr/>
      </p:nvGrpSpPr>
      <p:grpSpPr>
        <a:xfrm>
          <a:off x="0" y="0"/>
          <a:ext cx="0" cy="0"/>
          <a:chOff x="0" y="0"/>
          <a:chExt cx="0" cy="0"/>
        </a:xfrm>
      </p:grpSpPr>
      <p:sp>
        <p:nvSpPr>
          <p:cNvPr id="1318" name="Google Shape;1318;g52cab6e550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9" name="Google Shape;1319;g52cab6e550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6f0744aa72_0_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5" name="Google Shape;325;g6f0744aa72_0_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6f0744aa72_0_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7" name="Google Shape;417;g6f0744aa72_0_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txBox="1">
            <a:spLocks noGrp="1"/>
          </p:cNvSpPr>
          <p:nvPr>
            <p:ph type="ctrTitle"/>
          </p:nvPr>
        </p:nvSpPr>
        <p:spPr>
          <a:xfrm>
            <a:off x="311700" y="1779300"/>
            <a:ext cx="8520600" cy="975300"/>
          </a:xfrm>
          <a:prstGeom prst="rect">
            <a:avLst/>
          </a:prstGeom>
        </p:spPr>
        <p:txBody>
          <a:bodyPr spcFirstLastPara="1" wrap="square" lIns="91425" tIns="91425" rIns="91425" bIns="91425" anchor="b" anchorCtr="0">
            <a:noAutofit/>
          </a:bodyPr>
          <a:lstStyle>
            <a:lvl1pPr lvl="0" algn="ctr">
              <a:spcBef>
                <a:spcPts val="0"/>
              </a:spcBef>
              <a:spcAft>
                <a:spcPts val="0"/>
              </a:spcAft>
              <a:buClr>
                <a:schemeClr val="lt1"/>
              </a:buClr>
              <a:buSzPts val="3000"/>
              <a:buFont typeface="Montserrat ExtraBold"/>
              <a:buNone/>
              <a:defRPr sz="3000" b="0">
                <a:solidFill>
                  <a:schemeClr val="lt1"/>
                </a:solidFill>
                <a:latin typeface="Montserrat ExtraBold"/>
                <a:ea typeface="Montserrat ExtraBold"/>
                <a:cs typeface="Montserrat ExtraBold"/>
                <a:sym typeface="Montserrat Extra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0" name="Google Shape;10;p2"/>
          <p:cNvSpPr txBox="1">
            <a:spLocks noGrp="1"/>
          </p:cNvSpPr>
          <p:nvPr>
            <p:ph type="subTitle" idx="1"/>
          </p:nvPr>
        </p:nvSpPr>
        <p:spPr>
          <a:xfrm>
            <a:off x="2743050" y="2888250"/>
            <a:ext cx="36579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800"/>
              <a:buFont typeface="Montserrat"/>
              <a:buNone/>
              <a:defRPr>
                <a:latin typeface="Montserrat"/>
                <a:ea typeface="Montserrat"/>
                <a:cs typeface="Montserrat"/>
                <a:sym typeface="Montserra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1"/>
        <p:cNvGrpSpPr/>
        <p:nvPr/>
      </p:nvGrpSpPr>
      <p:grpSpPr>
        <a:xfrm>
          <a:off x="0" y="0"/>
          <a:ext cx="0" cy="0"/>
          <a:chOff x="0" y="0"/>
          <a:chExt cx="0" cy="0"/>
        </a:xfrm>
      </p:grpSpPr>
      <p:sp>
        <p:nvSpPr>
          <p:cNvPr id="12" name="Google Shape;12;p3"/>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3" name="Google Shape;13;p3"/>
          <p:cNvPicPr preferRelativeResize="0"/>
          <p:nvPr/>
        </p:nvPicPr>
        <p:blipFill>
          <a:blip r:embed="rId2">
            <a:alphaModFix/>
          </a:blip>
          <a:stretch>
            <a:fillRect/>
          </a:stretch>
        </p:blipFill>
        <p:spPr>
          <a:xfrm>
            <a:off x="-76672" y="-827887"/>
            <a:ext cx="6153101" cy="6799271"/>
          </a:xfrm>
          <a:prstGeom prst="rect">
            <a:avLst/>
          </a:prstGeom>
          <a:noFill/>
          <a:ln>
            <a:noFill/>
          </a:ln>
        </p:spPr>
      </p:pic>
      <p:sp>
        <p:nvSpPr>
          <p:cNvPr id="14" name="Google Shape;14;p3"/>
          <p:cNvSpPr txBox="1">
            <a:spLocks noGrp="1"/>
          </p:cNvSpPr>
          <p:nvPr>
            <p:ph type="title"/>
          </p:nvPr>
        </p:nvSpPr>
        <p:spPr>
          <a:xfrm>
            <a:off x="5112425" y="2227050"/>
            <a:ext cx="2876700" cy="8418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sz="3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title" idx="2" hasCustomPrompt="1"/>
          </p:nvPr>
        </p:nvSpPr>
        <p:spPr>
          <a:xfrm>
            <a:off x="5112425" y="1027125"/>
            <a:ext cx="2445000" cy="841800"/>
          </a:xfrm>
          <a:prstGeom prst="rect">
            <a:avLst/>
          </a:prstGeom>
        </p:spPr>
        <p:txBody>
          <a:bodyPr spcFirstLastPara="1" wrap="square" lIns="91425" tIns="91425" rIns="91425" bIns="91425" anchor="b" anchorCtr="0">
            <a:noAutofit/>
          </a:bodyPr>
          <a:lstStyle>
            <a:lvl1pPr lvl="0" rtl="0">
              <a:spcBef>
                <a:spcPts val="0"/>
              </a:spcBef>
              <a:spcAft>
                <a:spcPts val="0"/>
              </a:spcAft>
              <a:buClr>
                <a:schemeClr val="accent2"/>
              </a:buClr>
              <a:buSzPts val="4800"/>
              <a:buNone/>
              <a:defRPr sz="4800">
                <a:solidFill>
                  <a:schemeClr val="accent2"/>
                </a:solidFill>
              </a:defRPr>
            </a:lvl1pPr>
            <a:lvl2pPr lvl="1" rtl="0">
              <a:spcBef>
                <a:spcPts val="0"/>
              </a:spcBef>
              <a:spcAft>
                <a:spcPts val="0"/>
              </a:spcAft>
              <a:buSzPts val="12000"/>
              <a:buNone/>
              <a:defRPr sz="12000"/>
            </a:lvl2pPr>
            <a:lvl3pPr lvl="2" rtl="0">
              <a:spcBef>
                <a:spcPts val="0"/>
              </a:spcBef>
              <a:spcAft>
                <a:spcPts val="0"/>
              </a:spcAft>
              <a:buSzPts val="12000"/>
              <a:buNone/>
              <a:defRPr sz="12000"/>
            </a:lvl3pPr>
            <a:lvl4pPr lvl="3" rtl="0">
              <a:spcBef>
                <a:spcPts val="0"/>
              </a:spcBef>
              <a:spcAft>
                <a:spcPts val="0"/>
              </a:spcAft>
              <a:buSzPts val="12000"/>
              <a:buNone/>
              <a:defRPr sz="12000"/>
            </a:lvl4pPr>
            <a:lvl5pPr lvl="4" rtl="0">
              <a:spcBef>
                <a:spcPts val="0"/>
              </a:spcBef>
              <a:spcAft>
                <a:spcPts val="0"/>
              </a:spcAft>
              <a:buSzPts val="12000"/>
              <a:buNone/>
              <a:defRPr sz="12000"/>
            </a:lvl5pPr>
            <a:lvl6pPr lvl="5" rtl="0">
              <a:spcBef>
                <a:spcPts val="0"/>
              </a:spcBef>
              <a:spcAft>
                <a:spcPts val="0"/>
              </a:spcAft>
              <a:buSzPts val="12000"/>
              <a:buNone/>
              <a:defRPr sz="12000"/>
            </a:lvl6pPr>
            <a:lvl7pPr lvl="6" rtl="0">
              <a:spcBef>
                <a:spcPts val="0"/>
              </a:spcBef>
              <a:spcAft>
                <a:spcPts val="0"/>
              </a:spcAft>
              <a:buSzPts val="12000"/>
              <a:buNone/>
              <a:defRPr sz="12000"/>
            </a:lvl7pPr>
            <a:lvl8pPr lvl="7" rtl="0">
              <a:spcBef>
                <a:spcPts val="0"/>
              </a:spcBef>
              <a:spcAft>
                <a:spcPts val="0"/>
              </a:spcAft>
              <a:buSzPts val="12000"/>
              <a:buNone/>
              <a:defRPr sz="12000"/>
            </a:lvl8pPr>
            <a:lvl9pPr lvl="8" rtl="0">
              <a:spcBef>
                <a:spcPts val="0"/>
              </a:spcBef>
              <a:spcAft>
                <a:spcPts val="0"/>
              </a:spcAft>
              <a:buSzPts val="12000"/>
              <a:buNone/>
              <a:defRPr sz="12000"/>
            </a:lvl9pPr>
          </a:lstStyle>
          <a:p>
            <a:r>
              <a:t>xx%</a:t>
            </a:r>
          </a:p>
        </p:txBody>
      </p:sp>
      <p:sp>
        <p:nvSpPr>
          <p:cNvPr id="16" name="Google Shape;16;p3"/>
          <p:cNvSpPr txBox="1">
            <a:spLocks noGrp="1"/>
          </p:cNvSpPr>
          <p:nvPr>
            <p:ph type="subTitle" idx="1"/>
          </p:nvPr>
        </p:nvSpPr>
        <p:spPr>
          <a:xfrm>
            <a:off x="5112425" y="3194925"/>
            <a:ext cx="3156600" cy="7926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SzPts val="1800"/>
              <a:buNone/>
              <a:defRPr/>
            </a:lvl1pPr>
            <a:lvl2pPr lvl="1" rtl="0">
              <a:lnSpc>
                <a:spcPct val="100000"/>
              </a:lnSpc>
              <a:spcBef>
                <a:spcPts val="0"/>
              </a:spcBef>
              <a:spcAft>
                <a:spcPts val="0"/>
              </a:spcAft>
              <a:buSzPts val="2800"/>
              <a:buNone/>
              <a:defRPr sz="2800"/>
            </a:lvl2pPr>
            <a:lvl3pPr lvl="2" rtl="0">
              <a:lnSpc>
                <a:spcPct val="100000"/>
              </a:lnSpc>
              <a:spcBef>
                <a:spcPts val="0"/>
              </a:spcBef>
              <a:spcAft>
                <a:spcPts val="0"/>
              </a:spcAft>
              <a:buSzPts val="2800"/>
              <a:buNone/>
              <a:defRPr sz="2800"/>
            </a:lvl3pPr>
            <a:lvl4pPr lvl="3" rtl="0">
              <a:lnSpc>
                <a:spcPct val="100000"/>
              </a:lnSpc>
              <a:spcBef>
                <a:spcPts val="0"/>
              </a:spcBef>
              <a:spcAft>
                <a:spcPts val="0"/>
              </a:spcAft>
              <a:buSzPts val="2800"/>
              <a:buNone/>
              <a:defRPr sz="2800"/>
            </a:lvl4pPr>
            <a:lvl5pPr lvl="4" rtl="0">
              <a:lnSpc>
                <a:spcPct val="100000"/>
              </a:lnSpc>
              <a:spcBef>
                <a:spcPts val="0"/>
              </a:spcBef>
              <a:spcAft>
                <a:spcPts val="0"/>
              </a:spcAft>
              <a:buSzPts val="2800"/>
              <a:buNone/>
              <a:defRPr sz="2800"/>
            </a:lvl5pPr>
            <a:lvl6pPr lvl="5" rtl="0">
              <a:lnSpc>
                <a:spcPct val="100000"/>
              </a:lnSpc>
              <a:spcBef>
                <a:spcPts val="0"/>
              </a:spcBef>
              <a:spcAft>
                <a:spcPts val="0"/>
              </a:spcAft>
              <a:buSzPts val="2800"/>
              <a:buNone/>
              <a:defRPr sz="2800"/>
            </a:lvl6pPr>
            <a:lvl7pPr lvl="6" rtl="0">
              <a:lnSpc>
                <a:spcPct val="100000"/>
              </a:lnSpc>
              <a:spcBef>
                <a:spcPts val="0"/>
              </a:spcBef>
              <a:spcAft>
                <a:spcPts val="0"/>
              </a:spcAft>
              <a:buSzPts val="2800"/>
              <a:buNone/>
              <a:defRPr sz="2800"/>
            </a:lvl7pPr>
            <a:lvl8pPr lvl="7" rtl="0">
              <a:lnSpc>
                <a:spcPct val="100000"/>
              </a:lnSpc>
              <a:spcBef>
                <a:spcPts val="0"/>
              </a:spcBef>
              <a:spcAft>
                <a:spcPts val="0"/>
              </a:spcAft>
              <a:buSzPts val="2800"/>
              <a:buNone/>
              <a:defRPr sz="2800"/>
            </a:lvl8pPr>
            <a:lvl9pPr lvl="8" rtl="0">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7"/>
        <p:cNvGrpSpPr/>
        <p:nvPr/>
      </p:nvGrpSpPr>
      <p:grpSpPr>
        <a:xfrm>
          <a:off x="0" y="0"/>
          <a:ext cx="0" cy="0"/>
          <a:chOff x="0" y="0"/>
          <a:chExt cx="0" cy="0"/>
        </a:xfrm>
      </p:grpSpPr>
      <p:pic>
        <p:nvPicPr>
          <p:cNvPr id="18" name="Google Shape;18;p4"/>
          <p:cNvPicPr preferRelativeResize="0"/>
          <p:nvPr/>
        </p:nvPicPr>
        <p:blipFill>
          <a:blip r:embed="rId2">
            <a:alphaModFix amt="56000"/>
          </a:blip>
          <a:stretch>
            <a:fillRect/>
          </a:stretch>
        </p:blipFill>
        <p:spPr>
          <a:xfrm rot="-7199997">
            <a:off x="4531704" y="539794"/>
            <a:ext cx="5918750" cy="6540301"/>
          </a:xfrm>
          <a:prstGeom prst="rect">
            <a:avLst/>
          </a:prstGeom>
          <a:noFill/>
          <a:ln>
            <a:noFill/>
          </a:ln>
        </p:spPr>
      </p:pic>
      <p:sp>
        <p:nvSpPr>
          <p:cNvPr id="19" name="Google Shape;19;p4"/>
          <p:cNvSpPr txBox="1">
            <a:spLocks noGrp="1"/>
          </p:cNvSpPr>
          <p:nvPr>
            <p:ph type="body" idx="1"/>
          </p:nvPr>
        </p:nvSpPr>
        <p:spPr>
          <a:xfrm>
            <a:off x="686700" y="1076275"/>
            <a:ext cx="7684500" cy="3265800"/>
          </a:xfrm>
          <a:prstGeom prst="rect">
            <a:avLst/>
          </a:prstGeom>
        </p:spPr>
        <p:txBody>
          <a:bodyPr spcFirstLastPara="1" wrap="square" lIns="91425" tIns="91425" rIns="91425" bIns="91425" anchor="t" anchorCtr="0">
            <a:noAutofit/>
          </a:bodyPr>
          <a:lstStyle>
            <a:lvl1pPr marL="457200" lvl="0" indent="-298450">
              <a:spcBef>
                <a:spcPts val="0"/>
              </a:spcBef>
              <a:spcAft>
                <a:spcPts val="0"/>
              </a:spcAft>
              <a:buClr>
                <a:schemeClr val="accent2"/>
              </a:buClr>
              <a:buSzPts val="1100"/>
              <a:buAutoNum type="arabicPeriod"/>
              <a:defRPr sz="1250"/>
            </a:lvl1pPr>
            <a:lvl2pPr marL="914400" lvl="1" indent="-298450">
              <a:spcBef>
                <a:spcPts val="1600"/>
              </a:spcBef>
              <a:spcAft>
                <a:spcPts val="0"/>
              </a:spcAft>
              <a:buClr>
                <a:schemeClr val="dk1"/>
              </a:buClr>
              <a:buSzPts val="1100"/>
              <a:buFont typeface="Muli"/>
              <a:buAutoNum type="alphaLcPeriod"/>
              <a:defRPr sz="1250"/>
            </a:lvl2pPr>
            <a:lvl3pPr marL="1371600" lvl="2" indent="-298450">
              <a:spcBef>
                <a:spcPts val="1600"/>
              </a:spcBef>
              <a:spcAft>
                <a:spcPts val="0"/>
              </a:spcAft>
              <a:buClr>
                <a:schemeClr val="dk1"/>
              </a:buClr>
              <a:buSzPts val="1100"/>
              <a:buFont typeface="Muli"/>
              <a:buAutoNum type="romanLcPeriod"/>
              <a:defRPr sz="1250"/>
            </a:lvl3pPr>
            <a:lvl4pPr marL="1828800" lvl="3" indent="-298450">
              <a:spcBef>
                <a:spcPts val="1600"/>
              </a:spcBef>
              <a:spcAft>
                <a:spcPts val="0"/>
              </a:spcAft>
              <a:buClr>
                <a:schemeClr val="dk1"/>
              </a:buClr>
              <a:buSzPts val="1100"/>
              <a:buFont typeface="Muli"/>
              <a:buAutoNum type="arabicPeriod"/>
              <a:defRPr sz="1250"/>
            </a:lvl4pPr>
            <a:lvl5pPr marL="2286000" lvl="4" indent="-298450">
              <a:spcBef>
                <a:spcPts val="1600"/>
              </a:spcBef>
              <a:spcAft>
                <a:spcPts val="0"/>
              </a:spcAft>
              <a:buClr>
                <a:schemeClr val="dk1"/>
              </a:buClr>
              <a:buSzPts val="1100"/>
              <a:buFont typeface="Muli"/>
              <a:buAutoNum type="alphaLcPeriod"/>
              <a:defRPr sz="1250"/>
            </a:lvl5pPr>
            <a:lvl6pPr marL="2743200" lvl="5" indent="-298450">
              <a:spcBef>
                <a:spcPts val="1600"/>
              </a:spcBef>
              <a:spcAft>
                <a:spcPts val="0"/>
              </a:spcAft>
              <a:buClr>
                <a:schemeClr val="dk1"/>
              </a:buClr>
              <a:buSzPts val="1100"/>
              <a:buFont typeface="Muli"/>
              <a:buAutoNum type="romanLcPeriod"/>
              <a:defRPr sz="1250"/>
            </a:lvl6pPr>
            <a:lvl7pPr marL="3200400" lvl="6" indent="-298450">
              <a:spcBef>
                <a:spcPts val="1600"/>
              </a:spcBef>
              <a:spcAft>
                <a:spcPts val="0"/>
              </a:spcAft>
              <a:buClr>
                <a:schemeClr val="dk1"/>
              </a:buClr>
              <a:buSzPts val="1100"/>
              <a:buFont typeface="Muli"/>
              <a:buAutoNum type="arabicPeriod"/>
              <a:defRPr sz="1250"/>
            </a:lvl7pPr>
            <a:lvl8pPr marL="3657600" lvl="7" indent="-298450">
              <a:spcBef>
                <a:spcPts val="1600"/>
              </a:spcBef>
              <a:spcAft>
                <a:spcPts val="0"/>
              </a:spcAft>
              <a:buClr>
                <a:schemeClr val="dk1"/>
              </a:buClr>
              <a:buSzPts val="1100"/>
              <a:buFont typeface="Muli"/>
              <a:buAutoNum type="alphaLcPeriod"/>
              <a:defRPr sz="1250"/>
            </a:lvl8pPr>
            <a:lvl9pPr marL="4114800" lvl="8" indent="-298450">
              <a:spcBef>
                <a:spcPts val="1600"/>
              </a:spcBef>
              <a:spcAft>
                <a:spcPts val="1600"/>
              </a:spcAft>
              <a:buClr>
                <a:schemeClr val="dk1"/>
              </a:buClr>
              <a:buSzPts val="1100"/>
              <a:buFont typeface="Muli"/>
              <a:buAutoNum type="romanLcPeriod"/>
              <a:defRPr sz="1250"/>
            </a:lvl9pPr>
          </a:lstStyle>
          <a:p>
            <a:endParaRPr/>
          </a:p>
        </p:txBody>
      </p:sp>
      <p:sp>
        <p:nvSpPr>
          <p:cNvPr id="20" name="Google Shape;20;p4"/>
          <p:cNvSpPr txBox="1">
            <a:spLocks noGrp="1"/>
          </p:cNvSpPr>
          <p:nvPr>
            <p:ph type="title"/>
          </p:nvPr>
        </p:nvSpPr>
        <p:spPr>
          <a:xfrm>
            <a:off x="1781425" y="378225"/>
            <a:ext cx="6589800" cy="515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100"/>
              <a:buNone/>
              <a:defRPr sz="2100"/>
            </a:lvl1pPr>
            <a:lvl2pPr lvl="1" algn="r" rtl="0">
              <a:spcBef>
                <a:spcPts val="0"/>
              </a:spcBef>
              <a:spcAft>
                <a:spcPts val="0"/>
              </a:spcAft>
              <a:buSzPts val="2100"/>
              <a:buNone/>
              <a:defRPr sz="2100"/>
            </a:lvl2pPr>
            <a:lvl3pPr lvl="2" algn="r" rtl="0">
              <a:spcBef>
                <a:spcPts val="0"/>
              </a:spcBef>
              <a:spcAft>
                <a:spcPts val="0"/>
              </a:spcAft>
              <a:buSzPts val="2100"/>
              <a:buNone/>
              <a:defRPr sz="2100"/>
            </a:lvl3pPr>
            <a:lvl4pPr lvl="3" algn="r" rtl="0">
              <a:spcBef>
                <a:spcPts val="0"/>
              </a:spcBef>
              <a:spcAft>
                <a:spcPts val="0"/>
              </a:spcAft>
              <a:buSzPts val="2100"/>
              <a:buNone/>
              <a:defRPr sz="2100"/>
            </a:lvl4pPr>
            <a:lvl5pPr lvl="4" algn="r" rtl="0">
              <a:spcBef>
                <a:spcPts val="0"/>
              </a:spcBef>
              <a:spcAft>
                <a:spcPts val="0"/>
              </a:spcAft>
              <a:buSzPts val="2100"/>
              <a:buNone/>
              <a:defRPr sz="2100"/>
            </a:lvl5pPr>
            <a:lvl6pPr lvl="5" algn="r" rtl="0">
              <a:spcBef>
                <a:spcPts val="0"/>
              </a:spcBef>
              <a:spcAft>
                <a:spcPts val="0"/>
              </a:spcAft>
              <a:buSzPts val="2100"/>
              <a:buNone/>
              <a:defRPr sz="2100"/>
            </a:lvl6pPr>
            <a:lvl7pPr lvl="6" algn="r" rtl="0">
              <a:spcBef>
                <a:spcPts val="0"/>
              </a:spcBef>
              <a:spcAft>
                <a:spcPts val="0"/>
              </a:spcAft>
              <a:buSzPts val="2100"/>
              <a:buNone/>
              <a:defRPr sz="2100"/>
            </a:lvl7pPr>
            <a:lvl8pPr lvl="7" algn="r" rtl="0">
              <a:spcBef>
                <a:spcPts val="0"/>
              </a:spcBef>
              <a:spcAft>
                <a:spcPts val="0"/>
              </a:spcAft>
              <a:buSzPts val="2100"/>
              <a:buNone/>
              <a:defRPr sz="2100"/>
            </a:lvl8pPr>
            <a:lvl9pPr lvl="8" algn="r" rtl="0">
              <a:spcBef>
                <a:spcPts val="0"/>
              </a:spcBef>
              <a:spcAft>
                <a:spcPts val="0"/>
              </a:spcAft>
              <a:buSzPts val="2100"/>
              <a:buNone/>
              <a:defRPr sz="2100"/>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1"/>
        <p:cNvGrpSpPr/>
        <p:nvPr/>
      </p:nvGrpSpPr>
      <p:grpSpPr>
        <a:xfrm>
          <a:off x="0" y="0"/>
          <a:ext cx="0" cy="0"/>
          <a:chOff x="0" y="0"/>
          <a:chExt cx="0" cy="0"/>
        </a:xfrm>
      </p:grpSpPr>
      <p:pic>
        <p:nvPicPr>
          <p:cNvPr id="22" name="Google Shape;22;p5"/>
          <p:cNvPicPr preferRelativeResize="0"/>
          <p:nvPr/>
        </p:nvPicPr>
        <p:blipFill rotWithShape="1">
          <a:blip r:embed="rId2">
            <a:alphaModFix/>
          </a:blip>
          <a:srcRect r="8214"/>
          <a:stretch/>
        </p:blipFill>
        <p:spPr>
          <a:xfrm>
            <a:off x="658750" y="-1397100"/>
            <a:ext cx="7826501" cy="7437298"/>
          </a:xfrm>
          <a:prstGeom prst="rect">
            <a:avLst/>
          </a:prstGeom>
          <a:noFill/>
          <a:ln>
            <a:noFill/>
          </a:ln>
        </p:spPr>
      </p:pic>
      <p:sp>
        <p:nvSpPr>
          <p:cNvPr id="23" name="Google Shape;23;p5"/>
          <p:cNvSpPr txBox="1">
            <a:spLocks noGrp="1"/>
          </p:cNvSpPr>
          <p:nvPr>
            <p:ph type="body" idx="1"/>
          </p:nvPr>
        </p:nvSpPr>
        <p:spPr>
          <a:xfrm>
            <a:off x="775144" y="1313000"/>
            <a:ext cx="3564900" cy="3255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4" name="Google Shape;24;p5"/>
          <p:cNvSpPr txBox="1">
            <a:spLocks noGrp="1"/>
          </p:cNvSpPr>
          <p:nvPr>
            <p:ph type="body" idx="2"/>
          </p:nvPr>
        </p:nvSpPr>
        <p:spPr>
          <a:xfrm>
            <a:off x="4803956" y="1313000"/>
            <a:ext cx="3564900" cy="32559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25" name="Google Shape;25;p5"/>
          <p:cNvSpPr txBox="1">
            <a:spLocks noGrp="1"/>
          </p:cNvSpPr>
          <p:nvPr>
            <p:ph type="title"/>
          </p:nvPr>
        </p:nvSpPr>
        <p:spPr>
          <a:xfrm>
            <a:off x="3972475" y="378225"/>
            <a:ext cx="4398600" cy="515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100"/>
              <a:buNone/>
              <a:defRPr sz="2100"/>
            </a:lvl1pPr>
            <a:lvl2pPr lvl="1" algn="r" rtl="0">
              <a:spcBef>
                <a:spcPts val="0"/>
              </a:spcBef>
              <a:spcAft>
                <a:spcPts val="0"/>
              </a:spcAft>
              <a:buSzPts val="2100"/>
              <a:buNone/>
              <a:defRPr sz="2100"/>
            </a:lvl2pPr>
            <a:lvl3pPr lvl="2" algn="r" rtl="0">
              <a:spcBef>
                <a:spcPts val="0"/>
              </a:spcBef>
              <a:spcAft>
                <a:spcPts val="0"/>
              </a:spcAft>
              <a:buSzPts val="2100"/>
              <a:buNone/>
              <a:defRPr sz="2100"/>
            </a:lvl3pPr>
            <a:lvl4pPr lvl="3" algn="r" rtl="0">
              <a:spcBef>
                <a:spcPts val="0"/>
              </a:spcBef>
              <a:spcAft>
                <a:spcPts val="0"/>
              </a:spcAft>
              <a:buSzPts val="2100"/>
              <a:buNone/>
              <a:defRPr sz="2100"/>
            </a:lvl4pPr>
            <a:lvl5pPr lvl="4" algn="r" rtl="0">
              <a:spcBef>
                <a:spcPts val="0"/>
              </a:spcBef>
              <a:spcAft>
                <a:spcPts val="0"/>
              </a:spcAft>
              <a:buSzPts val="2100"/>
              <a:buNone/>
              <a:defRPr sz="2100"/>
            </a:lvl5pPr>
            <a:lvl6pPr lvl="5" algn="r" rtl="0">
              <a:spcBef>
                <a:spcPts val="0"/>
              </a:spcBef>
              <a:spcAft>
                <a:spcPts val="0"/>
              </a:spcAft>
              <a:buSzPts val="2100"/>
              <a:buNone/>
              <a:defRPr sz="2100"/>
            </a:lvl6pPr>
            <a:lvl7pPr lvl="6" algn="r" rtl="0">
              <a:spcBef>
                <a:spcPts val="0"/>
              </a:spcBef>
              <a:spcAft>
                <a:spcPts val="0"/>
              </a:spcAft>
              <a:buSzPts val="2100"/>
              <a:buNone/>
              <a:defRPr sz="2100"/>
            </a:lvl7pPr>
            <a:lvl8pPr lvl="7" algn="r" rtl="0">
              <a:spcBef>
                <a:spcPts val="0"/>
              </a:spcBef>
              <a:spcAft>
                <a:spcPts val="0"/>
              </a:spcAft>
              <a:buSzPts val="2100"/>
              <a:buNone/>
              <a:defRPr sz="2100"/>
            </a:lvl8pPr>
            <a:lvl9pPr lvl="8" algn="r" rtl="0">
              <a:spcBef>
                <a:spcPts val="0"/>
              </a:spcBef>
              <a:spcAft>
                <a:spcPts val="0"/>
              </a:spcAft>
              <a:buSzPts val="2100"/>
              <a:buNone/>
              <a:defRPr sz="2100"/>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6"/>
        <p:cNvGrpSpPr/>
        <p:nvPr/>
      </p:nvGrpSpPr>
      <p:grpSpPr>
        <a:xfrm>
          <a:off x="0" y="0"/>
          <a:ext cx="0" cy="0"/>
          <a:chOff x="0" y="0"/>
          <a:chExt cx="0" cy="0"/>
        </a:xfrm>
      </p:grpSpPr>
      <p:pic>
        <p:nvPicPr>
          <p:cNvPr id="27" name="Google Shape;27;p6"/>
          <p:cNvPicPr preferRelativeResize="0"/>
          <p:nvPr/>
        </p:nvPicPr>
        <p:blipFill rotWithShape="1">
          <a:blip r:embed="rId2">
            <a:alphaModFix/>
          </a:blip>
          <a:srcRect r="8214"/>
          <a:stretch/>
        </p:blipFill>
        <p:spPr>
          <a:xfrm>
            <a:off x="658750" y="-1397100"/>
            <a:ext cx="7826501" cy="7437298"/>
          </a:xfrm>
          <a:prstGeom prst="rect">
            <a:avLst/>
          </a:prstGeom>
          <a:noFill/>
          <a:ln>
            <a:noFill/>
          </a:ln>
        </p:spPr>
      </p:pic>
      <p:sp>
        <p:nvSpPr>
          <p:cNvPr id="28" name="Google Shape;28;p6"/>
          <p:cNvSpPr txBox="1">
            <a:spLocks noGrp="1"/>
          </p:cNvSpPr>
          <p:nvPr>
            <p:ph type="title"/>
          </p:nvPr>
        </p:nvSpPr>
        <p:spPr>
          <a:xfrm>
            <a:off x="2400850" y="378225"/>
            <a:ext cx="5970300" cy="515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100"/>
              <a:buNone/>
              <a:defRPr sz="2100"/>
            </a:lvl1pPr>
            <a:lvl2pPr lvl="1" algn="r" rtl="0">
              <a:spcBef>
                <a:spcPts val="0"/>
              </a:spcBef>
              <a:spcAft>
                <a:spcPts val="0"/>
              </a:spcAft>
              <a:buSzPts val="2100"/>
              <a:buNone/>
              <a:defRPr sz="2100"/>
            </a:lvl2pPr>
            <a:lvl3pPr lvl="2" algn="r" rtl="0">
              <a:spcBef>
                <a:spcPts val="0"/>
              </a:spcBef>
              <a:spcAft>
                <a:spcPts val="0"/>
              </a:spcAft>
              <a:buSzPts val="2100"/>
              <a:buNone/>
              <a:defRPr sz="2100"/>
            </a:lvl3pPr>
            <a:lvl4pPr lvl="3" algn="r" rtl="0">
              <a:spcBef>
                <a:spcPts val="0"/>
              </a:spcBef>
              <a:spcAft>
                <a:spcPts val="0"/>
              </a:spcAft>
              <a:buSzPts val="2100"/>
              <a:buNone/>
              <a:defRPr sz="2100"/>
            </a:lvl4pPr>
            <a:lvl5pPr lvl="4" algn="r" rtl="0">
              <a:spcBef>
                <a:spcPts val="0"/>
              </a:spcBef>
              <a:spcAft>
                <a:spcPts val="0"/>
              </a:spcAft>
              <a:buSzPts val="2100"/>
              <a:buNone/>
              <a:defRPr sz="2100"/>
            </a:lvl5pPr>
            <a:lvl6pPr lvl="5" algn="r" rtl="0">
              <a:spcBef>
                <a:spcPts val="0"/>
              </a:spcBef>
              <a:spcAft>
                <a:spcPts val="0"/>
              </a:spcAft>
              <a:buSzPts val="2100"/>
              <a:buNone/>
              <a:defRPr sz="2100"/>
            </a:lvl6pPr>
            <a:lvl7pPr lvl="6" algn="r" rtl="0">
              <a:spcBef>
                <a:spcPts val="0"/>
              </a:spcBef>
              <a:spcAft>
                <a:spcPts val="0"/>
              </a:spcAft>
              <a:buSzPts val="2100"/>
              <a:buNone/>
              <a:defRPr sz="2100"/>
            </a:lvl7pPr>
            <a:lvl8pPr lvl="7" algn="r" rtl="0">
              <a:spcBef>
                <a:spcPts val="0"/>
              </a:spcBef>
              <a:spcAft>
                <a:spcPts val="0"/>
              </a:spcAft>
              <a:buSzPts val="2100"/>
              <a:buNone/>
              <a:defRPr sz="2100"/>
            </a:lvl8pPr>
            <a:lvl9pPr lvl="8" algn="r" rtl="0">
              <a:spcBef>
                <a:spcPts val="0"/>
              </a:spcBef>
              <a:spcAft>
                <a:spcPts val="0"/>
              </a:spcAft>
              <a:buSzPts val="2100"/>
              <a:buNone/>
              <a:defRPr sz="2100"/>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7"/>
          <p:cNvSpPr txBox="1">
            <a:spLocks noGrp="1"/>
          </p:cNvSpPr>
          <p:nvPr>
            <p:ph type="title"/>
          </p:nvPr>
        </p:nvSpPr>
        <p:spPr>
          <a:xfrm>
            <a:off x="1008350" y="1460450"/>
            <a:ext cx="2808000" cy="755700"/>
          </a:xfrm>
          <a:prstGeom prst="rect">
            <a:avLst/>
          </a:prstGeom>
        </p:spPr>
        <p:txBody>
          <a:bodyPr spcFirstLastPara="1" wrap="square" lIns="91425" tIns="91425" rIns="91425" bIns="91425" anchor="ctr" anchorCtr="0">
            <a:no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31" name="Google Shape;31;p7"/>
          <p:cNvSpPr txBox="1">
            <a:spLocks noGrp="1"/>
          </p:cNvSpPr>
          <p:nvPr>
            <p:ph type="body" idx="1"/>
          </p:nvPr>
        </p:nvSpPr>
        <p:spPr>
          <a:xfrm>
            <a:off x="1008350" y="2183050"/>
            <a:ext cx="3015900" cy="1500000"/>
          </a:xfrm>
          <a:prstGeom prst="rect">
            <a:avLst/>
          </a:prstGeom>
        </p:spPr>
        <p:txBody>
          <a:bodyPr spcFirstLastPara="1" wrap="square" lIns="91425" tIns="91425" rIns="91425" bIns="91425" anchor="t" anchorCtr="0">
            <a:noAutofit/>
          </a:bodyPr>
          <a:lstStyle>
            <a:lvl1pPr marL="457200" lvl="0" indent="-304800" rtl="0">
              <a:spcBef>
                <a:spcPts val="0"/>
              </a:spcBef>
              <a:spcAft>
                <a:spcPts val="0"/>
              </a:spcAft>
              <a:buSzPts val="1200"/>
              <a:buChar char="●"/>
              <a:defRPr sz="1400"/>
            </a:lvl1pPr>
            <a:lvl2pPr marL="914400" lvl="1" indent="-304800" rtl="0">
              <a:spcBef>
                <a:spcPts val="1600"/>
              </a:spcBef>
              <a:spcAft>
                <a:spcPts val="0"/>
              </a:spcAft>
              <a:buSzPts val="1200"/>
              <a:buChar char="○"/>
              <a:defRPr sz="1200"/>
            </a:lvl2pPr>
            <a:lvl3pPr marL="1371600" lvl="2" indent="-304800" rtl="0">
              <a:spcBef>
                <a:spcPts val="1600"/>
              </a:spcBef>
              <a:spcAft>
                <a:spcPts val="0"/>
              </a:spcAft>
              <a:buSzPts val="1200"/>
              <a:buChar char="■"/>
              <a:defRPr sz="1200"/>
            </a:lvl3pPr>
            <a:lvl4pPr marL="1828800" lvl="3" indent="-304800" rtl="0">
              <a:spcBef>
                <a:spcPts val="1600"/>
              </a:spcBef>
              <a:spcAft>
                <a:spcPts val="0"/>
              </a:spcAft>
              <a:buSzPts val="1200"/>
              <a:buChar char="●"/>
              <a:defRPr sz="1200"/>
            </a:lvl4pPr>
            <a:lvl5pPr marL="2286000" lvl="4" indent="-304800" rtl="0">
              <a:spcBef>
                <a:spcPts val="1600"/>
              </a:spcBef>
              <a:spcAft>
                <a:spcPts val="0"/>
              </a:spcAft>
              <a:buSzPts val="1200"/>
              <a:buChar char="○"/>
              <a:defRPr sz="1200"/>
            </a:lvl5pPr>
            <a:lvl6pPr marL="2743200" lvl="5" indent="-304800" rtl="0">
              <a:spcBef>
                <a:spcPts val="1600"/>
              </a:spcBef>
              <a:spcAft>
                <a:spcPts val="0"/>
              </a:spcAft>
              <a:buSzPts val="1200"/>
              <a:buChar char="■"/>
              <a:defRPr sz="1200"/>
            </a:lvl6pPr>
            <a:lvl7pPr marL="3200400" lvl="6" indent="-304800" rtl="0">
              <a:spcBef>
                <a:spcPts val="1600"/>
              </a:spcBef>
              <a:spcAft>
                <a:spcPts val="0"/>
              </a:spcAft>
              <a:buSzPts val="1200"/>
              <a:buChar char="●"/>
              <a:defRPr sz="1200"/>
            </a:lvl7pPr>
            <a:lvl8pPr marL="3657600" lvl="7" indent="-304800" rtl="0">
              <a:spcBef>
                <a:spcPts val="1600"/>
              </a:spcBef>
              <a:spcAft>
                <a:spcPts val="0"/>
              </a:spcAft>
              <a:buSzPts val="1200"/>
              <a:buChar char="○"/>
              <a:defRPr sz="1200"/>
            </a:lvl8pPr>
            <a:lvl9pPr marL="4114800" lvl="8" indent="-304800" rtl="0">
              <a:spcBef>
                <a:spcPts val="1600"/>
              </a:spcBef>
              <a:spcAft>
                <a:spcPts val="1600"/>
              </a:spcAft>
              <a:buSzPts val="1200"/>
              <a:buChar char="■"/>
              <a:defRPr sz="1200"/>
            </a:lvl9pPr>
          </a:lstStyle>
          <a:p>
            <a:endParaRPr/>
          </a:p>
        </p:txBody>
      </p:sp>
      <p:pic>
        <p:nvPicPr>
          <p:cNvPr id="32" name="Google Shape;32;p7"/>
          <p:cNvPicPr preferRelativeResize="0"/>
          <p:nvPr/>
        </p:nvPicPr>
        <p:blipFill>
          <a:blip r:embed="rId2">
            <a:alphaModFix/>
          </a:blip>
          <a:stretch>
            <a:fillRect/>
          </a:stretch>
        </p:blipFill>
        <p:spPr>
          <a:xfrm rot="-5400000">
            <a:off x="4647114" y="1532427"/>
            <a:ext cx="6751897" cy="224187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3"/>
        <p:cNvGrpSpPr/>
        <p:nvPr/>
      </p:nvGrpSpPr>
      <p:grpSpPr>
        <a:xfrm>
          <a:off x="0" y="0"/>
          <a:ext cx="0" cy="0"/>
          <a:chOff x="0" y="0"/>
          <a:chExt cx="0" cy="0"/>
        </a:xfrm>
      </p:grpSpPr>
      <p:sp>
        <p:nvSpPr>
          <p:cNvPr id="34" name="Google Shape;34;p8"/>
          <p:cNvSpPr/>
          <p:nvPr/>
        </p:nvSpPr>
        <p:spPr>
          <a:xfrm rot="10800000">
            <a:off x="0" y="0"/>
            <a:ext cx="1668900" cy="5143500"/>
          </a:xfrm>
          <a:prstGeom prst="rect">
            <a:avLst/>
          </a:prstGeom>
          <a:gradFill>
            <a:gsLst>
              <a:gs pos="0">
                <a:schemeClr val="dk1"/>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8"/>
          <p:cNvSpPr/>
          <p:nvPr/>
        </p:nvSpPr>
        <p:spPr>
          <a:xfrm>
            <a:off x="7513150" y="0"/>
            <a:ext cx="1668900" cy="5143500"/>
          </a:xfrm>
          <a:prstGeom prst="rect">
            <a:avLst/>
          </a:prstGeom>
          <a:gradFill>
            <a:gsLst>
              <a:gs pos="0">
                <a:schemeClr val="dk1"/>
              </a:gs>
              <a:gs pos="100000">
                <a:srgbClr val="FFFFFF">
                  <a:alpha val="0"/>
                </a:srgbClr>
              </a:gs>
            </a:gsLst>
            <a:lin ang="10801400" scaled="0"/>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36" name="Google Shape;36;p8"/>
          <p:cNvPicPr preferRelativeResize="0"/>
          <p:nvPr/>
        </p:nvPicPr>
        <p:blipFill rotWithShape="1">
          <a:blip r:embed="rId2">
            <a:alphaModFix/>
          </a:blip>
          <a:srcRect/>
          <a:stretch/>
        </p:blipFill>
        <p:spPr>
          <a:xfrm>
            <a:off x="240625" y="3354737"/>
            <a:ext cx="8662743" cy="2601674"/>
          </a:xfrm>
          <a:prstGeom prst="rect">
            <a:avLst/>
          </a:prstGeom>
          <a:noFill/>
          <a:ln>
            <a:noFill/>
          </a:ln>
        </p:spPr>
      </p:pic>
      <p:pic>
        <p:nvPicPr>
          <p:cNvPr id="37" name="Google Shape;37;p8"/>
          <p:cNvPicPr preferRelativeResize="0"/>
          <p:nvPr/>
        </p:nvPicPr>
        <p:blipFill rotWithShape="1">
          <a:blip r:embed="rId2">
            <a:alphaModFix/>
          </a:blip>
          <a:srcRect/>
          <a:stretch/>
        </p:blipFill>
        <p:spPr>
          <a:xfrm rot="10800000">
            <a:off x="240625" y="-812913"/>
            <a:ext cx="8662743" cy="2601674"/>
          </a:xfrm>
          <a:prstGeom prst="rect">
            <a:avLst/>
          </a:prstGeom>
          <a:noFill/>
          <a:ln>
            <a:noFill/>
          </a:ln>
        </p:spPr>
      </p:pic>
      <p:sp>
        <p:nvSpPr>
          <p:cNvPr id="38" name="Google Shape;38;p8"/>
          <p:cNvSpPr txBox="1">
            <a:spLocks noGrp="1"/>
          </p:cNvSpPr>
          <p:nvPr>
            <p:ph type="title"/>
          </p:nvPr>
        </p:nvSpPr>
        <p:spPr>
          <a:xfrm>
            <a:off x="1301375" y="1417650"/>
            <a:ext cx="6541200" cy="2308200"/>
          </a:xfrm>
          <a:prstGeom prst="rect">
            <a:avLst/>
          </a:prstGeom>
        </p:spPr>
        <p:txBody>
          <a:bodyPr spcFirstLastPara="1" wrap="square" lIns="91425" tIns="91425" rIns="91425" bIns="91425" anchor="ctr" anchorCtr="0">
            <a:noAutofit/>
          </a:bodyPr>
          <a:lstStyle>
            <a:lvl1pPr lvl="0" algn="ctr">
              <a:lnSpc>
                <a:spcPct val="90000"/>
              </a:lnSpc>
              <a:spcBef>
                <a:spcPts val="0"/>
              </a:spcBef>
              <a:spcAft>
                <a:spcPts val="0"/>
              </a:spcAft>
              <a:buSzPts val="8000"/>
              <a:buNone/>
              <a:defRPr sz="8000"/>
            </a:lvl1pPr>
            <a:lvl2pPr lvl="1" algn="ctr">
              <a:spcBef>
                <a:spcPts val="0"/>
              </a:spcBef>
              <a:spcAft>
                <a:spcPts val="0"/>
              </a:spcAft>
              <a:buSzPts val="8000"/>
              <a:buNone/>
              <a:defRPr sz="8000"/>
            </a:lvl2pPr>
            <a:lvl3pPr lvl="2" algn="ctr">
              <a:spcBef>
                <a:spcPts val="0"/>
              </a:spcBef>
              <a:spcAft>
                <a:spcPts val="0"/>
              </a:spcAft>
              <a:buSzPts val="8000"/>
              <a:buNone/>
              <a:defRPr sz="8000"/>
            </a:lvl3pPr>
            <a:lvl4pPr lvl="3" algn="ctr">
              <a:spcBef>
                <a:spcPts val="0"/>
              </a:spcBef>
              <a:spcAft>
                <a:spcPts val="0"/>
              </a:spcAft>
              <a:buSzPts val="8000"/>
              <a:buNone/>
              <a:defRPr sz="8000"/>
            </a:lvl4pPr>
            <a:lvl5pPr lvl="4" algn="ctr">
              <a:spcBef>
                <a:spcPts val="0"/>
              </a:spcBef>
              <a:spcAft>
                <a:spcPts val="0"/>
              </a:spcAft>
              <a:buSzPts val="8000"/>
              <a:buNone/>
              <a:defRPr sz="8000"/>
            </a:lvl5pPr>
            <a:lvl6pPr lvl="5" algn="ctr">
              <a:spcBef>
                <a:spcPts val="0"/>
              </a:spcBef>
              <a:spcAft>
                <a:spcPts val="0"/>
              </a:spcAft>
              <a:buSzPts val="8000"/>
              <a:buNone/>
              <a:defRPr sz="8000"/>
            </a:lvl6pPr>
            <a:lvl7pPr lvl="6" algn="ctr">
              <a:spcBef>
                <a:spcPts val="0"/>
              </a:spcBef>
              <a:spcAft>
                <a:spcPts val="0"/>
              </a:spcAft>
              <a:buSzPts val="8000"/>
              <a:buNone/>
              <a:defRPr sz="8000"/>
            </a:lvl7pPr>
            <a:lvl8pPr lvl="7" algn="ctr">
              <a:spcBef>
                <a:spcPts val="0"/>
              </a:spcBef>
              <a:spcAft>
                <a:spcPts val="0"/>
              </a:spcAft>
              <a:buSzPts val="8000"/>
              <a:buNone/>
              <a:defRPr sz="8000"/>
            </a:lvl8pPr>
            <a:lvl9pPr lvl="8" algn="ctr">
              <a:spcBef>
                <a:spcPts val="0"/>
              </a:spcBef>
              <a:spcAft>
                <a:spcPts val="0"/>
              </a:spcAft>
              <a:buSzPts val="8000"/>
              <a:buNone/>
              <a:defRPr sz="8000"/>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9"/>
        <p:cNvGrpSpPr/>
        <p:nvPr/>
      </p:nvGrpSpPr>
      <p:grpSpPr>
        <a:xfrm>
          <a:off x="0" y="0"/>
          <a:ext cx="0" cy="0"/>
          <a:chOff x="0" y="0"/>
          <a:chExt cx="0" cy="0"/>
        </a:xfrm>
      </p:grpSpPr>
      <p:pic>
        <p:nvPicPr>
          <p:cNvPr id="40" name="Google Shape;40;p9"/>
          <p:cNvPicPr preferRelativeResize="0"/>
          <p:nvPr/>
        </p:nvPicPr>
        <p:blipFill>
          <a:blip r:embed="rId2">
            <a:alphaModFix amt="50000"/>
          </a:blip>
          <a:stretch>
            <a:fillRect/>
          </a:stretch>
        </p:blipFill>
        <p:spPr>
          <a:xfrm>
            <a:off x="-3192424" y="1047350"/>
            <a:ext cx="12336426" cy="4096149"/>
          </a:xfrm>
          <a:prstGeom prst="rect">
            <a:avLst/>
          </a:prstGeom>
          <a:noFill/>
          <a:ln>
            <a:noFill/>
          </a:ln>
        </p:spPr>
      </p:pic>
      <p:sp>
        <p:nvSpPr>
          <p:cNvPr id="41" name="Google Shape;41;p9"/>
          <p:cNvSpPr txBox="1">
            <a:spLocks noGrp="1"/>
          </p:cNvSpPr>
          <p:nvPr>
            <p:ph type="title"/>
          </p:nvPr>
        </p:nvSpPr>
        <p:spPr>
          <a:xfrm>
            <a:off x="4998775" y="1276500"/>
            <a:ext cx="3355200" cy="755700"/>
          </a:xfrm>
          <a:prstGeom prst="rect">
            <a:avLst/>
          </a:prstGeom>
        </p:spPr>
        <p:txBody>
          <a:bodyPr spcFirstLastPara="1" wrap="square" lIns="91425" tIns="91425" rIns="91425" bIns="91425" anchor="b" anchorCtr="0">
            <a:noAutofit/>
          </a:bodyPr>
          <a:lstStyle>
            <a:lvl1pPr lvl="0" rtl="0">
              <a:spcBef>
                <a:spcPts val="0"/>
              </a:spcBef>
              <a:spcAft>
                <a:spcPts val="0"/>
              </a:spcAft>
              <a:buSzPts val="2400"/>
              <a:buNone/>
              <a:defRPr sz="3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a:endParaRPr/>
          </a:p>
        </p:txBody>
      </p:sp>
      <p:sp>
        <p:nvSpPr>
          <p:cNvPr id="42" name="Google Shape;42;p9"/>
          <p:cNvSpPr txBox="1">
            <a:spLocks noGrp="1"/>
          </p:cNvSpPr>
          <p:nvPr>
            <p:ph type="subTitle" idx="1"/>
          </p:nvPr>
        </p:nvSpPr>
        <p:spPr>
          <a:xfrm>
            <a:off x="4998775" y="2110500"/>
            <a:ext cx="3355200" cy="1665600"/>
          </a:xfrm>
          <a:prstGeom prst="rect">
            <a:avLst/>
          </a:prstGeom>
          <a:ln>
            <a:noFill/>
          </a:ln>
        </p:spPr>
        <p:txBody>
          <a:bodyPr spcFirstLastPara="1" wrap="square" lIns="91425" tIns="91425" rIns="91425" bIns="91425" anchor="t" anchorCtr="0">
            <a:noAutofit/>
          </a:bodyPr>
          <a:lstStyle>
            <a:lvl1pPr lvl="0" algn="ctr" rtl="0">
              <a:lnSpc>
                <a:spcPct val="100000"/>
              </a:lnSpc>
              <a:spcBef>
                <a:spcPts val="0"/>
              </a:spcBef>
              <a:spcAft>
                <a:spcPts val="0"/>
              </a:spcAft>
              <a:buSzPts val="1400"/>
              <a:buNone/>
              <a:defRPr sz="1400"/>
            </a:lvl1pPr>
            <a:lvl2pPr lvl="1" algn="ctr" rtl="0">
              <a:lnSpc>
                <a:spcPct val="100000"/>
              </a:lnSpc>
              <a:spcBef>
                <a:spcPts val="0"/>
              </a:spcBef>
              <a:spcAft>
                <a:spcPts val="0"/>
              </a:spcAft>
              <a:buSzPts val="2100"/>
              <a:buNone/>
              <a:defRPr sz="2100"/>
            </a:lvl2pPr>
            <a:lvl3pPr lvl="2" algn="ctr" rtl="0">
              <a:lnSpc>
                <a:spcPct val="100000"/>
              </a:lnSpc>
              <a:spcBef>
                <a:spcPts val="0"/>
              </a:spcBef>
              <a:spcAft>
                <a:spcPts val="0"/>
              </a:spcAft>
              <a:buSzPts val="2100"/>
              <a:buNone/>
              <a:defRPr sz="2100"/>
            </a:lvl3pPr>
            <a:lvl4pPr lvl="3" algn="ctr" rtl="0">
              <a:lnSpc>
                <a:spcPct val="100000"/>
              </a:lnSpc>
              <a:spcBef>
                <a:spcPts val="0"/>
              </a:spcBef>
              <a:spcAft>
                <a:spcPts val="0"/>
              </a:spcAft>
              <a:buSzPts val="2100"/>
              <a:buNone/>
              <a:defRPr sz="2100"/>
            </a:lvl4pPr>
            <a:lvl5pPr lvl="4" algn="ctr" rtl="0">
              <a:lnSpc>
                <a:spcPct val="100000"/>
              </a:lnSpc>
              <a:spcBef>
                <a:spcPts val="0"/>
              </a:spcBef>
              <a:spcAft>
                <a:spcPts val="0"/>
              </a:spcAft>
              <a:buSzPts val="2100"/>
              <a:buNone/>
              <a:defRPr sz="2100"/>
            </a:lvl5pPr>
            <a:lvl6pPr lvl="5" algn="ctr" rtl="0">
              <a:lnSpc>
                <a:spcPct val="100000"/>
              </a:lnSpc>
              <a:spcBef>
                <a:spcPts val="0"/>
              </a:spcBef>
              <a:spcAft>
                <a:spcPts val="0"/>
              </a:spcAft>
              <a:buSzPts val="2100"/>
              <a:buNone/>
              <a:defRPr sz="2100"/>
            </a:lvl6pPr>
            <a:lvl7pPr lvl="6" algn="ctr" rtl="0">
              <a:lnSpc>
                <a:spcPct val="100000"/>
              </a:lnSpc>
              <a:spcBef>
                <a:spcPts val="0"/>
              </a:spcBef>
              <a:spcAft>
                <a:spcPts val="0"/>
              </a:spcAft>
              <a:buSzPts val="2100"/>
              <a:buNone/>
              <a:defRPr sz="2100"/>
            </a:lvl7pPr>
            <a:lvl8pPr lvl="7" algn="ctr" rtl="0">
              <a:lnSpc>
                <a:spcPct val="100000"/>
              </a:lnSpc>
              <a:spcBef>
                <a:spcPts val="0"/>
              </a:spcBef>
              <a:spcAft>
                <a:spcPts val="0"/>
              </a:spcAft>
              <a:buSzPts val="2100"/>
              <a:buNone/>
              <a:defRPr sz="2100"/>
            </a:lvl8pPr>
            <a:lvl9pPr lvl="8" algn="ctr" rtl="0">
              <a:lnSpc>
                <a:spcPct val="100000"/>
              </a:lnSpc>
              <a:spcBef>
                <a:spcPts val="0"/>
              </a:spcBef>
              <a:spcAft>
                <a:spcPts val="0"/>
              </a:spcAft>
              <a:buSzPts val="2100"/>
              <a:buNone/>
              <a:defRPr sz="2100"/>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51"/>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2">
  <p:cSld name="CUSTOM_2">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3229175" y="378225"/>
            <a:ext cx="5142000" cy="515100"/>
          </a:xfrm>
          <a:prstGeom prst="rect">
            <a:avLst/>
          </a:prstGeom>
        </p:spPr>
        <p:txBody>
          <a:bodyPr spcFirstLastPara="1" wrap="square" lIns="91425" tIns="91425" rIns="91425" bIns="91425" anchor="t" anchorCtr="0">
            <a:noAutofit/>
          </a:bodyPr>
          <a:lstStyle>
            <a:lvl1pPr lvl="0" algn="r" rtl="0">
              <a:spcBef>
                <a:spcPts val="0"/>
              </a:spcBef>
              <a:spcAft>
                <a:spcPts val="0"/>
              </a:spcAft>
              <a:buSzPts val="2100"/>
              <a:buNone/>
              <a:defRPr sz="2100"/>
            </a:lvl1pPr>
            <a:lvl2pPr lvl="1" algn="r" rtl="0">
              <a:spcBef>
                <a:spcPts val="0"/>
              </a:spcBef>
              <a:spcAft>
                <a:spcPts val="0"/>
              </a:spcAft>
              <a:buSzPts val="2100"/>
              <a:buNone/>
              <a:defRPr sz="2100"/>
            </a:lvl2pPr>
            <a:lvl3pPr lvl="2" algn="r" rtl="0">
              <a:spcBef>
                <a:spcPts val="0"/>
              </a:spcBef>
              <a:spcAft>
                <a:spcPts val="0"/>
              </a:spcAft>
              <a:buSzPts val="2100"/>
              <a:buNone/>
              <a:defRPr sz="2100"/>
            </a:lvl3pPr>
            <a:lvl4pPr lvl="3" algn="r" rtl="0">
              <a:spcBef>
                <a:spcPts val="0"/>
              </a:spcBef>
              <a:spcAft>
                <a:spcPts val="0"/>
              </a:spcAft>
              <a:buSzPts val="2100"/>
              <a:buNone/>
              <a:defRPr sz="2100"/>
            </a:lvl4pPr>
            <a:lvl5pPr lvl="4" algn="r" rtl="0">
              <a:spcBef>
                <a:spcPts val="0"/>
              </a:spcBef>
              <a:spcAft>
                <a:spcPts val="0"/>
              </a:spcAft>
              <a:buSzPts val="2100"/>
              <a:buNone/>
              <a:defRPr sz="2100"/>
            </a:lvl5pPr>
            <a:lvl6pPr lvl="5" algn="r" rtl="0">
              <a:spcBef>
                <a:spcPts val="0"/>
              </a:spcBef>
              <a:spcAft>
                <a:spcPts val="0"/>
              </a:spcAft>
              <a:buSzPts val="2100"/>
              <a:buNone/>
              <a:defRPr sz="2100"/>
            </a:lvl6pPr>
            <a:lvl7pPr lvl="6" algn="r" rtl="0">
              <a:spcBef>
                <a:spcPts val="0"/>
              </a:spcBef>
              <a:spcAft>
                <a:spcPts val="0"/>
              </a:spcAft>
              <a:buSzPts val="2100"/>
              <a:buNone/>
              <a:defRPr sz="2100"/>
            </a:lvl7pPr>
            <a:lvl8pPr lvl="7" algn="r" rtl="0">
              <a:spcBef>
                <a:spcPts val="0"/>
              </a:spcBef>
              <a:spcAft>
                <a:spcPts val="0"/>
              </a:spcAft>
              <a:buSzPts val="2100"/>
              <a:buNone/>
              <a:defRPr sz="2100"/>
            </a:lvl8pPr>
            <a:lvl9pPr lvl="8" algn="r" rtl="0">
              <a:spcBef>
                <a:spcPts val="0"/>
              </a:spcBef>
              <a:spcAft>
                <a:spcPts val="0"/>
              </a:spcAft>
              <a:buSzPts val="2100"/>
              <a:buNone/>
              <a:defRPr sz="2100"/>
            </a:lvl9pPr>
          </a:lstStyle>
          <a:p>
            <a:endParaRPr/>
          </a:p>
        </p:txBody>
      </p:sp>
      <p:pic>
        <p:nvPicPr>
          <p:cNvPr id="83" name="Google Shape;83;p16"/>
          <p:cNvPicPr preferRelativeResize="0"/>
          <p:nvPr/>
        </p:nvPicPr>
        <p:blipFill>
          <a:blip r:embed="rId2">
            <a:alphaModFix amt="50000"/>
          </a:blip>
          <a:stretch>
            <a:fillRect/>
          </a:stretch>
        </p:blipFill>
        <p:spPr>
          <a:xfrm>
            <a:off x="1" y="2801493"/>
            <a:ext cx="9144003" cy="3036157"/>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ackground">
  <p:cSld name="BLANK_1">
    <p:spTree>
      <p:nvGrpSpPr>
        <p:cNvPr id="1" name="Shape 14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ackground 1">
  <p:cSld name="BLANK_1_1">
    <p:spTree>
      <p:nvGrpSpPr>
        <p:cNvPr id="1" name="Shape 150"/>
        <p:cNvGrpSpPr/>
        <p:nvPr/>
      </p:nvGrpSpPr>
      <p:grpSpPr>
        <a:xfrm>
          <a:off x="0" y="0"/>
          <a:ext cx="0" cy="0"/>
          <a:chOff x="0" y="0"/>
          <a:chExt cx="0" cy="0"/>
        </a:xfrm>
      </p:grpSpPr>
      <p:pic>
        <p:nvPicPr>
          <p:cNvPr id="151" name="Google Shape;151;p29"/>
          <p:cNvPicPr preferRelativeResize="0"/>
          <p:nvPr/>
        </p:nvPicPr>
        <p:blipFill>
          <a:blip r:embed="rId2">
            <a:alphaModFix/>
          </a:blip>
          <a:stretch>
            <a:fillRect/>
          </a:stretch>
        </p:blipFill>
        <p:spPr>
          <a:xfrm flipH="1">
            <a:off x="5434928" y="-827887"/>
            <a:ext cx="6153101" cy="6799271"/>
          </a:xfrm>
          <a:prstGeom prst="rect">
            <a:avLst/>
          </a:prstGeom>
          <a:noFill/>
          <a:ln>
            <a:noFill/>
          </a:ln>
        </p:spPr>
      </p:pic>
      <p:pic>
        <p:nvPicPr>
          <p:cNvPr id="152" name="Google Shape;152;p29"/>
          <p:cNvPicPr preferRelativeResize="0"/>
          <p:nvPr/>
        </p:nvPicPr>
        <p:blipFill>
          <a:blip r:embed="rId2">
            <a:alphaModFix/>
          </a:blip>
          <a:stretch>
            <a:fillRect/>
          </a:stretch>
        </p:blipFill>
        <p:spPr>
          <a:xfrm rot="10800000" flipH="1">
            <a:off x="-2444022" y="-827887"/>
            <a:ext cx="6153101" cy="6799271"/>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Background 2">
  <p:cSld name="BLANK_1_1_1">
    <p:spTree>
      <p:nvGrpSpPr>
        <p:cNvPr id="1" name="Shape 153"/>
        <p:cNvGrpSpPr/>
        <p:nvPr/>
      </p:nvGrpSpPr>
      <p:grpSpPr>
        <a:xfrm>
          <a:off x="0" y="0"/>
          <a:ext cx="0" cy="0"/>
          <a:chOff x="0" y="0"/>
          <a:chExt cx="0" cy="0"/>
        </a:xfrm>
      </p:grpSpPr>
      <p:pic>
        <p:nvPicPr>
          <p:cNvPr id="154" name="Google Shape;154;p30"/>
          <p:cNvPicPr preferRelativeResize="0"/>
          <p:nvPr/>
        </p:nvPicPr>
        <p:blipFill>
          <a:blip r:embed="rId2">
            <a:alphaModFix/>
          </a:blip>
          <a:stretch>
            <a:fillRect/>
          </a:stretch>
        </p:blipFill>
        <p:spPr>
          <a:xfrm>
            <a:off x="-76672" y="-827887"/>
            <a:ext cx="6153101" cy="6799271"/>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gradFill>
          <a:gsLst>
            <a:gs pos="0">
              <a:srgbClr val="00237D"/>
            </a:gs>
            <a:gs pos="100000">
              <a:srgbClr val="011445"/>
            </a:gs>
          </a:gsLst>
          <a:path path="circle">
            <a:fillToRect l="50000" t="50000" r="50000" b="50000"/>
          </a:path>
          <a:tileRect/>
        </a:gra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accent1"/>
              </a:buClr>
              <a:buSzPts val="2800"/>
              <a:buFont typeface="Montserrat ExtraBold"/>
              <a:buNone/>
              <a:defRPr sz="2800">
                <a:solidFill>
                  <a:schemeClr val="accent1"/>
                </a:solidFill>
                <a:latin typeface="Montserrat ExtraBold"/>
                <a:ea typeface="Montserrat ExtraBold"/>
                <a:cs typeface="Montserrat ExtraBold"/>
                <a:sym typeface="Montserrat ExtraBold"/>
              </a:defRPr>
            </a:lvl1pPr>
            <a:lvl2pPr lvl="1">
              <a:spcBef>
                <a:spcPts val="0"/>
              </a:spcBef>
              <a:spcAft>
                <a:spcPts val="0"/>
              </a:spcAft>
              <a:buClr>
                <a:schemeClr val="accent1"/>
              </a:buClr>
              <a:buSzPts val="2800"/>
              <a:buFont typeface="Montserrat Alternates"/>
              <a:buNone/>
              <a:defRPr sz="2800" b="1">
                <a:solidFill>
                  <a:schemeClr val="accent1"/>
                </a:solidFill>
                <a:latin typeface="Montserrat Alternates"/>
                <a:ea typeface="Montserrat Alternates"/>
                <a:cs typeface="Montserrat Alternates"/>
                <a:sym typeface="Montserrat Alternates"/>
              </a:defRPr>
            </a:lvl2pPr>
            <a:lvl3pPr lvl="2">
              <a:spcBef>
                <a:spcPts val="0"/>
              </a:spcBef>
              <a:spcAft>
                <a:spcPts val="0"/>
              </a:spcAft>
              <a:buClr>
                <a:schemeClr val="accent1"/>
              </a:buClr>
              <a:buSzPts val="2800"/>
              <a:buFont typeface="Montserrat Alternates"/>
              <a:buNone/>
              <a:defRPr sz="2800" b="1">
                <a:solidFill>
                  <a:schemeClr val="accent1"/>
                </a:solidFill>
                <a:latin typeface="Montserrat Alternates"/>
                <a:ea typeface="Montserrat Alternates"/>
                <a:cs typeface="Montserrat Alternates"/>
                <a:sym typeface="Montserrat Alternates"/>
              </a:defRPr>
            </a:lvl3pPr>
            <a:lvl4pPr lvl="3">
              <a:spcBef>
                <a:spcPts val="0"/>
              </a:spcBef>
              <a:spcAft>
                <a:spcPts val="0"/>
              </a:spcAft>
              <a:buClr>
                <a:schemeClr val="accent1"/>
              </a:buClr>
              <a:buSzPts val="2800"/>
              <a:buFont typeface="Montserrat Alternates"/>
              <a:buNone/>
              <a:defRPr sz="2800" b="1">
                <a:solidFill>
                  <a:schemeClr val="accent1"/>
                </a:solidFill>
                <a:latin typeface="Montserrat Alternates"/>
                <a:ea typeface="Montserrat Alternates"/>
                <a:cs typeface="Montserrat Alternates"/>
                <a:sym typeface="Montserrat Alternates"/>
              </a:defRPr>
            </a:lvl4pPr>
            <a:lvl5pPr lvl="4">
              <a:spcBef>
                <a:spcPts val="0"/>
              </a:spcBef>
              <a:spcAft>
                <a:spcPts val="0"/>
              </a:spcAft>
              <a:buClr>
                <a:schemeClr val="accent1"/>
              </a:buClr>
              <a:buSzPts val="2800"/>
              <a:buFont typeface="Montserrat Alternates"/>
              <a:buNone/>
              <a:defRPr sz="2800" b="1">
                <a:solidFill>
                  <a:schemeClr val="accent1"/>
                </a:solidFill>
                <a:latin typeface="Montserrat Alternates"/>
                <a:ea typeface="Montserrat Alternates"/>
                <a:cs typeface="Montserrat Alternates"/>
                <a:sym typeface="Montserrat Alternates"/>
              </a:defRPr>
            </a:lvl5pPr>
            <a:lvl6pPr lvl="5">
              <a:spcBef>
                <a:spcPts val="0"/>
              </a:spcBef>
              <a:spcAft>
                <a:spcPts val="0"/>
              </a:spcAft>
              <a:buClr>
                <a:schemeClr val="accent1"/>
              </a:buClr>
              <a:buSzPts val="2800"/>
              <a:buFont typeface="Montserrat Alternates"/>
              <a:buNone/>
              <a:defRPr sz="2800" b="1">
                <a:solidFill>
                  <a:schemeClr val="accent1"/>
                </a:solidFill>
                <a:latin typeface="Montserrat Alternates"/>
                <a:ea typeface="Montserrat Alternates"/>
                <a:cs typeface="Montserrat Alternates"/>
                <a:sym typeface="Montserrat Alternates"/>
              </a:defRPr>
            </a:lvl6pPr>
            <a:lvl7pPr lvl="6">
              <a:spcBef>
                <a:spcPts val="0"/>
              </a:spcBef>
              <a:spcAft>
                <a:spcPts val="0"/>
              </a:spcAft>
              <a:buClr>
                <a:schemeClr val="accent1"/>
              </a:buClr>
              <a:buSzPts val="2800"/>
              <a:buFont typeface="Montserrat Alternates"/>
              <a:buNone/>
              <a:defRPr sz="2800" b="1">
                <a:solidFill>
                  <a:schemeClr val="accent1"/>
                </a:solidFill>
                <a:latin typeface="Montserrat Alternates"/>
                <a:ea typeface="Montserrat Alternates"/>
                <a:cs typeface="Montserrat Alternates"/>
                <a:sym typeface="Montserrat Alternates"/>
              </a:defRPr>
            </a:lvl7pPr>
            <a:lvl8pPr lvl="7">
              <a:spcBef>
                <a:spcPts val="0"/>
              </a:spcBef>
              <a:spcAft>
                <a:spcPts val="0"/>
              </a:spcAft>
              <a:buClr>
                <a:schemeClr val="accent1"/>
              </a:buClr>
              <a:buSzPts val="2800"/>
              <a:buFont typeface="Montserrat Alternates"/>
              <a:buNone/>
              <a:defRPr sz="2800" b="1">
                <a:solidFill>
                  <a:schemeClr val="accent1"/>
                </a:solidFill>
                <a:latin typeface="Montserrat Alternates"/>
                <a:ea typeface="Montserrat Alternates"/>
                <a:cs typeface="Montserrat Alternates"/>
                <a:sym typeface="Montserrat Alternates"/>
              </a:defRPr>
            </a:lvl8pPr>
            <a:lvl9pPr lvl="8">
              <a:spcBef>
                <a:spcPts val="0"/>
              </a:spcBef>
              <a:spcAft>
                <a:spcPts val="0"/>
              </a:spcAft>
              <a:buClr>
                <a:schemeClr val="accent1"/>
              </a:buClr>
              <a:buSzPts val="2800"/>
              <a:buFont typeface="Montserrat Alternates"/>
              <a:buNone/>
              <a:defRPr sz="2800" b="1">
                <a:solidFill>
                  <a:schemeClr val="accent1"/>
                </a:solidFill>
                <a:latin typeface="Montserrat Alternates"/>
                <a:ea typeface="Montserrat Alternates"/>
                <a:cs typeface="Montserrat Alternates"/>
                <a:sym typeface="Montserrat Alternates"/>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00000"/>
              </a:lnSpc>
              <a:spcBef>
                <a:spcPts val="0"/>
              </a:spcBef>
              <a:spcAft>
                <a:spcPts val="0"/>
              </a:spcAft>
              <a:buClr>
                <a:schemeClr val="accent1"/>
              </a:buClr>
              <a:buSzPts val="1800"/>
              <a:buFont typeface="Montserrat"/>
              <a:buChar char="●"/>
              <a:defRPr sz="1800">
                <a:solidFill>
                  <a:schemeClr val="accent1"/>
                </a:solidFill>
                <a:latin typeface="Montserrat"/>
                <a:ea typeface="Montserrat"/>
                <a:cs typeface="Montserrat"/>
                <a:sym typeface="Montserrat"/>
              </a:defRPr>
            </a:lvl1pPr>
            <a:lvl2pPr marL="914400" lvl="1" indent="-3175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2pPr>
            <a:lvl3pPr marL="1371600" lvl="2" indent="-3175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3pPr>
            <a:lvl4pPr marL="1828800" lvl="3" indent="-3175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4pPr>
            <a:lvl5pPr marL="2286000" lvl="4" indent="-3175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5pPr>
            <a:lvl6pPr marL="2743200" lvl="5" indent="-3175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6pPr>
            <a:lvl7pPr marL="3200400" lvl="6" indent="-3175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7pPr>
            <a:lvl8pPr marL="3657600" lvl="7" indent="-317500">
              <a:lnSpc>
                <a:spcPct val="100000"/>
              </a:lnSpc>
              <a:spcBef>
                <a:spcPts val="1600"/>
              </a:spcBef>
              <a:spcAft>
                <a:spcPts val="0"/>
              </a:spcAft>
              <a:buClr>
                <a:schemeClr val="accent1"/>
              </a:buClr>
              <a:buSzPts val="1400"/>
              <a:buFont typeface="Montserrat"/>
              <a:buChar char="○"/>
              <a:defRPr>
                <a:solidFill>
                  <a:schemeClr val="accent1"/>
                </a:solidFill>
                <a:latin typeface="Montserrat"/>
                <a:ea typeface="Montserrat"/>
                <a:cs typeface="Montserrat"/>
                <a:sym typeface="Montserrat"/>
              </a:defRPr>
            </a:lvl8pPr>
            <a:lvl9pPr marL="4114800" lvl="8" indent="-317500">
              <a:lnSpc>
                <a:spcPct val="100000"/>
              </a:lnSpc>
              <a:spcBef>
                <a:spcPts val="1600"/>
              </a:spcBef>
              <a:spcAft>
                <a:spcPts val="1600"/>
              </a:spcAft>
              <a:buClr>
                <a:schemeClr val="accent1"/>
              </a:buClr>
              <a:buSzPts val="1400"/>
              <a:buFont typeface="Montserrat"/>
              <a:buChar char="■"/>
              <a:defRPr>
                <a:solidFill>
                  <a:schemeClr val="accent1"/>
                </a:solidFill>
                <a:latin typeface="Montserrat"/>
                <a:ea typeface="Montserrat"/>
                <a:cs typeface="Montserrat"/>
                <a:sym typeface="Montserrat"/>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8" r:id="rId9"/>
    <p:sldLayoutId id="2147483662" r:id="rId10"/>
    <p:sldLayoutId id="2147483674" r:id="rId11"/>
    <p:sldLayoutId id="2147483675" r:id="rId12"/>
    <p:sldLayoutId id="2147483676"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jpe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hyperlink" Target="https://www.wikiwand.com/bg/VLAN" TargetMode="Externa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5.xml"/></Relationships>
</file>

<file path=ppt/slides/_rels/slide21.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slide" Target="slide5.xml"/><Relationship Id="rId7" Type="http://schemas.openxmlformats.org/officeDocument/2006/relationships/slide" Target="slide24.xml"/><Relationship Id="rId2" Type="http://schemas.openxmlformats.org/officeDocument/2006/relationships/slide" Target="slide3.xml"/><Relationship Id="rId1" Type="http://schemas.openxmlformats.org/officeDocument/2006/relationships/slideLayout" Target="../slideLayouts/slideLayout6.xml"/><Relationship Id="rId6" Type="http://schemas.openxmlformats.org/officeDocument/2006/relationships/slide" Target="slide23.xml"/><Relationship Id="rId5" Type="http://schemas.openxmlformats.org/officeDocument/2006/relationships/slide" Target="slide21.xml"/><Relationship Id="rId4" Type="http://schemas.openxmlformats.org/officeDocument/2006/relationships/slide" Target="slide14.xml"/></Relationships>
</file>

<file path=ppt/slides/_rels/slide26.xml.rels><?xml version="1.0" encoding="UTF-8" standalone="yes"?>
<Relationships xmlns="http://schemas.openxmlformats.org/package/2006/relationships"><Relationship Id="rId3" Type="http://schemas.openxmlformats.org/officeDocument/2006/relationships/hyperlink" Target="https://bg.myservername.com/lan-vs-wan-vs-man-exact-difference-between-types-network#Metropolitan_Area_Network_MAN" TargetMode="External"/><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hyperlink" Target="https://bg.tax-definition.org/58844-man-network" TargetMode="External"/><Relationship Id="rId5" Type="http://schemas.openxmlformats.org/officeDocument/2006/relationships/hyperlink" Target="http://pgds.org/books/km/04.html" TargetMode="External"/><Relationship Id="rId4" Type="http://schemas.openxmlformats.org/officeDocument/2006/relationships/hyperlink" Target="https://bg.wikipedia.org/wiki/MAN"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rgbClr val="00237D"/>
            </a:gs>
            <a:gs pos="100000">
              <a:srgbClr val="011445"/>
            </a:gs>
          </a:gsLst>
          <a:path path="circle">
            <a:fillToRect l="50000" t="50000" r="50000" b="50000"/>
          </a:path>
          <a:tileRect/>
        </a:gradFill>
        <a:effectLst/>
      </p:bgPr>
    </p:bg>
    <p:spTree>
      <p:nvGrpSpPr>
        <p:cNvPr id="1" name="Shape 162"/>
        <p:cNvGrpSpPr/>
        <p:nvPr/>
      </p:nvGrpSpPr>
      <p:grpSpPr>
        <a:xfrm>
          <a:off x="0" y="0"/>
          <a:ext cx="0" cy="0"/>
          <a:chOff x="0" y="0"/>
          <a:chExt cx="0" cy="0"/>
        </a:xfrm>
      </p:grpSpPr>
      <p:pic>
        <p:nvPicPr>
          <p:cNvPr id="163" name="Google Shape;163;p33"/>
          <p:cNvPicPr preferRelativeResize="0"/>
          <p:nvPr/>
        </p:nvPicPr>
        <p:blipFill>
          <a:blip r:embed="rId3">
            <a:alphaModFix/>
          </a:blip>
          <a:stretch>
            <a:fillRect/>
          </a:stretch>
        </p:blipFill>
        <p:spPr>
          <a:xfrm>
            <a:off x="0" y="-327229"/>
            <a:ext cx="4892424" cy="5406203"/>
          </a:xfrm>
          <a:prstGeom prst="rect">
            <a:avLst/>
          </a:prstGeom>
          <a:noFill/>
          <a:ln>
            <a:noFill/>
          </a:ln>
        </p:spPr>
      </p:pic>
      <p:pic>
        <p:nvPicPr>
          <p:cNvPr id="164" name="Google Shape;164;p33"/>
          <p:cNvPicPr preferRelativeResize="0"/>
          <p:nvPr/>
        </p:nvPicPr>
        <p:blipFill>
          <a:blip r:embed="rId3">
            <a:alphaModFix/>
          </a:blip>
          <a:stretch>
            <a:fillRect/>
          </a:stretch>
        </p:blipFill>
        <p:spPr>
          <a:xfrm flipH="1">
            <a:off x="4251576" y="-382093"/>
            <a:ext cx="4892424" cy="5406203"/>
          </a:xfrm>
          <a:prstGeom prst="rect">
            <a:avLst/>
          </a:prstGeom>
          <a:noFill/>
          <a:ln>
            <a:noFill/>
          </a:ln>
        </p:spPr>
      </p:pic>
      <p:sp>
        <p:nvSpPr>
          <p:cNvPr id="165" name="Google Shape;165;p33"/>
          <p:cNvSpPr txBox="1">
            <a:spLocks noGrp="1"/>
          </p:cNvSpPr>
          <p:nvPr>
            <p:ph type="ctrTitle"/>
          </p:nvPr>
        </p:nvSpPr>
        <p:spPr>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US" sz="3200" b="1" dirty="0">
                <a:solidFill>
                  <a:schemeClr val="bg1"/>
                </a:solidFill>
                <a:effectLst>
                  <a:outerShdw blurRad="127000" dist="38100" dir="2700000" sx="110000" sy="110000" algn="tl">
                    <a:srgbClr val="000000">
                      <a:alpha val="44000"/>
                    </a:srgbClr>
                  </a:outerShdw>
                </a:effectLst>
                <a:latin typeface="Times New Roman" panose="02020603050405020304" pitchFamily="18" charset="0"/>
                <a:ea typeface="Montserrat Light"/>
                <a:cs typeface="Times New Roman" panose="02020603050405020304" pitchFamily="18" charset="0"/>
                <a:sym typeface="Montserrat Light"/>
              </a:rPr>
              <a:t>MAN </a:t>
            </a:r>
            <a:r>
              <a:rPr lang="bg-BG" sz="3200" b="1" dirty="0">
                <a:solidFill>
                  <a:schemeClr val="bg1"/>
                </a:solidFill>
                <a:effectLst>
                  <a:outerShdw blurRad="127000" dist="38100" dir="2700000" sx="110000" sy="110000" algn="tl">
                    <a:srgbClr val="000000">
                      <a:alpha val="44000"/>
                    </a:srgbClr>
                  </a:outerShdw>
                </a:effectLst>
                <a:latin typeface="Times New Roman" panose="02020603050405020304" pitchFamily="18" charset="0"/>
                <a:ea typeface="Montserrat Light"/>
                <a:cs typeface="Times New Roman" panose="02020603050405020304" pitchFamily="18" charset="0"/>
                <a:sym typeface="Montserrat Light"/>
              </a:rPr>
              <a:t>мрежи</a:t>
            </a:r>
            <a:endParaRPr sz="3200" b="1" dirty="0">
              <a:solidFill>
                <a:schemeClr val="bg1"/>
              </a:solidFill>
              <a:effectLst>
                <a:outerShdw blurRad="127000" dist="38100" dir="2700000" sx="110000" sy="110000" algn="tl">
                  <a:srgbClr val="000000">
                    <a:alpha val="44000"/>
                  </a:srgbClr>
                </a:outerShdw>
              </a:effectLst>
              <a:latin typeface="Times New Roman" panose="02020603050405020304" pitchFamily="18" charset="0"/>
              <a:ea typeface="Montserrat Light"/>
              <a:cs typeface="Times New Roman" panose="02020603050405020304" pitchFamily="18" charset="0"/>
              <a:sym typeface="Montserrat Light"/>
            </a:endParaRPr>
          </a:p>
        </p:txBody>
      </p:sp>
      <p:pic>
        <p:nvPicPr>
          <p:cNvPr id="1026" name="Picture 2" descr="Компютърна мрежа, галерия, Христо Тужаров">
            <a:extLst>
              <a:ext uri="{FF2B5EF4-FFF2-40B4-BE49-F238E27FC236}">
                <a16:creationId xmlns:a16="http://schemas.microsoft.com/office/drawing/2014/main" xmlns="" id="{1D671BFD-2DE3-247C-8FFE-6810908E0B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4928" y="2980943"/>
            <a:ext cx="4340130" cy="162191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65"/>
                                        </p:tgtEl>
                                        <p:attrNameLst>
                                          <p:attrName>style.visibility</p:attrName>
                                        </p:attrNameLst>
                                      </p:cBhvr>
                                      <p:to>
                                        <p:strVal val="visible"/>
                                      </p:to>
                                    </p:set>
                                    <p:animEffect transition="in" filter="wheel(1)">
                                      <p:cBhvr>
                                        <p:cTn id="7" dur="2000"/>
                                        <p:tgtEl>
                                          <p:spTgt spid="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3" name="Google Shape;173;p34"/>
          <p:cNvSpPr txBox="1">
            <a:spLocks noGrp="1"/>
          </p:cNvSpPr>
          <p:nvPr>
            <p:ph type="body" idx="1"/>
          </p:nvPr>
        </p:nvSpPr>
        <p:spPr>
          <a:xfrm>
            <a:off x="111912" y="495057"/>
            <a:ext cx="9114312" cy="4245596"/>
          </a:xfrm>
        </p:spPr>
        <p:txBody>
          <a:bodyPr spcFirstLastPara="1" wrap="square" lIns="91425" tIns="91425" rIns="91425" bIns="91425" anchor="t" anchorCtr="0">
            <a:normAutofit fontScale="25000" lnSpcReduction="20000"/>
          </a:bodyPr>
          <a:lstStyle/>
          <a:p>
            <a:pPr marL="0" lvl="0" indent="0" rtl="0">
              <a:spcBef>
                <a:spcPts val="0"/>
              </a:spcBef>
              <a:spcAft>
                <a:spcPts val="1600"/>
              </a:spcAft>
              <a:buNone/>
            </a:pPr>
            <a:r>
              <a:rPr lang="bg-BG" sz="9600" dirty="0">
                <a:latin typeface="Times New Roman" panose="02020603050405020304" pitchFamily="18" charset="0"/>
                <a:cs typeface="Times New Roman" panose="02020603050405020304" pitchFamily="18" charset="0"/>
              </a:rPr>
              <a:t>1)Какво е Компютърна мрежа?</a:t>
            </a:r>
          </a:p>
          <a:p>
            <a:pPr marL="0" lvl="0" indent="0" rtl="0">
              <a:spcBef>
                <a:spcPts val="0"/>
              </a:spcBef>
              <a:spcAft>
                <a:spcPts val="1600"/>
              </a:spcAft>
              <a:buNone/>
            </a:pPr>
            <a:r>
              <a:rPr lang="bg-BG" sz="9600" dirty="0">
                <a:latin typeface="Times New Roman" panose="02020603050405020304" pitchFamily="18" charset="0"/>
                <a:cs typeface="Times New Roman" panose="02020603050405020304" pitchFamily="18" charset="0"/>
              </a:rPr>
              <a:t>2)Категоризиране на мрежите според физически обхват</a:t>
            </a:r>
          </a:p>
          <a:p>
            <a:pPr marL="0" lvl="0" indent="0" rtl="0">
              <a:spcBef>
                <a:spcPts val="0"/>
              </a:spcBef>
              <a:spcAft>
                <a:spcPts val="1600"/>
              </a:spcAft>
              <a:buNone/>
            </a:pPr>
            <a:r>
              <a:rPr lang="bg-BG" sz="9600" dirty="0">
                <a:latin typeface="Times New Roman" panose="02020603050405020304" pitchFamily="18" charset="0"/>
                <a:cs typeface="Times New Roman" panose="02020603050405020304" pitchFamily="18" charset="0"/>
              </a:rPr>
              <a:t>3)Технология на </a:t>
            </a:r>
            <a:r>
              <a:rPr lang="en-US" sz="9600" dirty="0">
                <a:latin typeface="Times New Roman" panose="02020603050405020304" pitchFamily="18" charset="0"/>
                <a:cs typeface="Times New Roman" panose="02020603050405020304" pitchFamily="18" charset="0"/>
              </a:rPr>
              <a:t>MAN</a:t>
            </a:r>
            <a:endParaRPr lang="bg-BG" sz="9600" dirty="0">
              <a:latin typeface="Times New Roman" panose="02020603050405020304" pitchFamily="18" charset="0"/>
              <a:cs typeface="Times New Roman" panose="02020603050405020304" pitchFamily="18" charset="0"/>
            </a:endParaRPr>
          </a:p>
          <a:p>
            <a:pPr marL="0" lvl="0" indent="0" rtl="0">
              <a:spcBef>
                <a:spcPts val="0"/>
              </a:spcBef>
              <a:spcAft>
                <a:spcPts val="1600"/>
              </a:spcAft>
              <a:buNone/>
            </a:pPr>
            <a:r>
              <a:rPr lang="bg-BG" sz="9600" dirty="0">
                <a:latin typeface="Times New Roman" panose="02020603050405020304" pitchFamily="18" charset="0"/>
                <a:cs typeface="Times New Roman" panose="02020603050405020304" pitchFamily="18" charset="0"/>
              </a:rPr>
              <a:t>4)Визуализация</a:t>
            </a:r>
          </a:p>
          <a:p>
            <a:pPr marL="0" lvl="0" indent="0" rtl="0">
              <a:spcBef>
                <a:spcPts val="0"/>
              </a:spcBef>
              <a:spcAft>
                <a:spcPts val="1600"/>
              </a:spcAft>
              <a:buNone/>
            </a:pPr>
            <a:r>
              <a:rPr lang="bg-BG" sz="9600" dirty="0">
                <a:latin typeface="Times New Roman" panose="02020603050405020304" pitchFamily="18" charset="0"/>
                <a:cs typeface="Times New Roman" panose="02020603050405020304" pitchFamily="18" charset="0"/>
              </a:rPr>
              <a:t>5)Кабели</a:t>
            </a:r>
          </a:p>
          <a:p>
            <a:pPr marL="0" lvl="0" indent="0" rtl="0">
              <a:spcBef>
                <a:spcPts val="0"/>
              </a:spcBef>
              <a:spcAft>
                <a:spcPts val="1600"/>
              </a:spcAft>
              <a:buNone/>
            </a:pPr>
            <a:r>
              <a:rPr lang="bg-BG" sz="9600" dirty="0">
                <a:latin typeface="Times New Roman" panose="02020603050405020304" pitchFamily="18" charset="0"/>
                <a:cs typeface="Times New Roman" panose="02020603050405020304" pitchFamily="18" charset="0"/>
              </a:rPr>
              <a:t>6)Приложени</a:t>
            </a:r>
            <a:r>
              <a:rPr lang="en-US" sz="9600" dirty="0">
                <a:latin typeface="Times New Roman" panose="02020603050405020304" pitchFamily="18" charset="0"/>
                <a:cs typeface="Times New Roman" panose="02020603050405020304" pitchFamily="18" charset="0"/>
              </a:rPr>
              <a:t>e</a:t>
            </a:r>
            <a:r>
              <a:rPr lang="bg-BG" sz="9600" dirty="0">
                <a:latin typeface="Times New Roman" panose="02020603050405020304" pitchFamily="18" charset="0"/>
                <a:cs typeface="Times New Roman" panose="02020603050405020304" pitchFamily="18" charset="0"/>
              </a:rPr>
              <a:t> на </a:t>
            </a:r>
            <a:r>
              <a:rPr lang="en-US" sz="9600" dirty="0">
                <a:latin typeface="Times New Roman" panose="02020603050405020304" pitchFamily="18" charset="0"/>
                <a:cs typeface="Times New Roman" panose="02020603050405020304" pitchFamily="18" charset="0"/>
              </a:rPr>
              <a:t>MAN</a:t>
            </a:r>
          </a:p>
          <a:p>
            <a:pPr marL="0" lvl="0" indent="0" rtl="0">
              <a:spcBef>
                <a:spcPts val="0"/>
              </a:spcBef>
              <a:spcAft>
                <a:spcPts val="1600"/>
              </a:spcAft>
              <a:buNone/>
            </a:pPr>
            <a:r>
              <a:rPr lang="bg-BG" sz="9600" dirty="0">
                <a:latin typeface="Times New Roman" panose="02020603050405020304" pitchFamily="18" charset="0"/>
                <a:cs typeface="Times New Roman" panose="02020603050405020304" pitchFamily="18" charset="0"/>
              </a:rPr>
              <a:t>7)Предимства и недостатъци</a:t>
            </a:r>
          </a:p>
          <a:p>
            <a:pPr marL="0" lvl="0" indent="0" rtl="0">
              <a:spcBef>
                <a:spcPts val="0"/>
              </a:spcBef>
              <a:spcAft>
                <a:spcPts val="1600"/>
              </a:spcAft>
              <a:buNone/>
            </a:pPr>
            <a:r>
              <a:rPr lang="bg-BG" sz="9600" dirty="0">
                <a:latin typeface="Times New Roman" panose="02020603050405020304" pitchFamily="18" charset="0"/>
                <a:cs typeface="Times New Roman" panose="02020603050405020304" pitchFamily="18" charset="0"/>
              </a:rPr>
              <a:t>8)Въпроси</a:t>
            </a:r>
          </a:p>
          <a:p>
            <a:pPr marL="0" lvl="0" indent="0" rtl="0">
              <a:spcBef>
                <a:spcPts val="0"/>
              </a:spcBef>
              <a:spcAft>
                <a:spcPts val="1600"/>
              </a:spcAft>
              <a:buNone/>
            </a:pPr>
            <a:r>
              <a:rPr lang="bg-BG" sz="9600" dirty="0">
                <a:latin typeface="Times New Roman" panose="02020603050405020304" pitchFamily="18" charset="0"/>
                <a:cs typeface="Times New Roman" panose="02020603050405020304" pitchFamily="18" charset="0"/>
              </a:rPr>
              <a:t>9)Източници</a:t>
            </a:r>
          </a:p>
          <a:p>
            <a:pPr marL="0" lvl="0" indent="0" rtl="0">
              <a:spcBef>
                <a:spcPts val="0"/>
              </a:spcBef>
              <a:spcAft>
                <a:spcPts val="1600"/>
              </a:spcAft>
              <a:buNone/>
            </a:pPr>
            <a:endParaRPr lang="bg-BG" sz="2400" dirty="0"/>
          </a:p>
          <a:p>
            <a:pPr marL="0" lvl="0" indent="0" rtl="0">
              <a:spcBef>
                <a:spcPts val="0"/>
              </a:spcBef>
              <a:spcAft>
                <a:spcPts val="1600"/>
              </a:spcAft>
              <a:buNone/>
            </a:pPr>
            <a:r>
              <a:rPr lang="bg-BG" dirty="0"/>
              <a:t> </a:t>
            </a:r>
          </a:p>
        </p:txBody>
      </p:sp>
      <p:sp>
        <p:nvSpPr>
          <p:cNvPr id="174" name="Google Shape;174;p34"/>
          <p:cNvSpPr txBox="1">
            <a:spLocks noGrp="1"/>
          </p:cNvSpPr>
          <p:nvPr>
            <p:ph type="title"/>
          </p:nvPr>
        </p:nvSpPr>
        <p:spPr>
          <a:xfrm>
            <a:off x="2297977" y="41564"/>
            <a:ext cx="6589800" cy="515100"/>
          </a:xfrm>
          <a:solidFill>
            <a:schemeClr val="tx1"/>
          </a:solidFill>
          <a:ln>
            <a:solidFill>
              <a:schemeClr val="bg1"/>
            </a:solidFill>
          </a:ln>
        </p:spPr>
        <p:txBody>
          <a:bodyPr spcFirstLastPara="1" wrap="square" lIns="91425" tIns="91425" rIns="91425" bIns="91425" anchor="t" anchorCtr="0">
            <a:noAutofit/>
          </a:bodyPr>
          <a:lstStyle/>
          <a:p>
            <a:pPr marL="0" lvl="0" indent="0" rtl="0">
              <a:spcBef>
                <a:spcPts val="0"/>
              </a:spcBef>
              <a:spcAft>
                <a:spcPts val="0"/>
              </a:spcAft>
              <a:buNone/>
            </a:pPr>
            <a:r>
              <a:rPr lang="bg-BG" sz="3200" dirty="0">
                <a:latin typeface="Times New Roman" panose="02020603050405020304" pitchFamily="18" charset="0"/>
                <a:cs typeface="Times New Roman" panose="02020603050405020304" pitchFamily="18" charset="0"/>
              </a:rPr>
              <a:t>Съдържание</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7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7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7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7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4449" y="269055"/>
            <a:ext cx="7088952" cy="845923"/>
          </a:xfrm>
          <a:solidFill>
            <a:schemeClr val="tx1"/>
          </a:solidFill>
          <a:ln>
            <a:solidFill>
              <a:schemeClr val="bg1"/>
            </a:solidFill>
          </a:ln>
        </p:spPr>
        <p:txBody>
          <a:bodyPr/>
          <a:lstStyle/>
          <a:p>
            <a:r>
              <a:rPr lang="bg-BG" sz="3200" b="1" dirty="0">
                <a:solidFill>
                  <a:schemeClr val="bg1"/>
                </a:solidFill>
                <a:latin typeface="Times New Roman" panose="02020603050405020304" pitchFamily="18" charset="0"/>
                <a:cs typeface="Times New Roman" panose="02020603050405020304" pitchFamily="18" charset="0"/>
              </a:rPr>
              <a:t>Какво е к</a:t>
            </a:r>
            <a:r>
              <a:rPr lang="bg-BG" sz="3200" b="1" dirty="0">
                <a:solidFill>
                  <a:schemeClr val="bg1"/>
                </a:solidFill>
                <a:effectLst/>
                <a:latin typeface="Times New Roman" panose="02020603050405020304" pitchFamily="18" charset="0"/>
                <a:cs typeface="Times New Roman" panose="02020603050405020304" pitchFamily="18" charset="0"/>
              </a:rPr>
              <a:t>омпютърна мреж</a:t>
            </a:r>
            <a:r>
              <a:rPr lang="en-US" sz="3200" b="1" dirty="0">
                <a:solidFill>
                  <a:schemeClr val="bg1"/>
                </a:solidFill>
                <a:effectLst/>
                <a:latin typeface="Times New Roman" panose="02020603050405020304" pitchFamily="18" charset="0"/>
                <a:cs typeface="Times New Roman" panose="02020603050405020304" pitchFamily="18" charset="0"/>
              </a:rPr>
              <a:t>a</a:t>
            </a:r>
            <a:r>
              <a:rPr lang="bg-BG" sz="3200" b="1" dirty="0">
                <a:solidFill>
                  <a:schemeClr val="bg1"/>
                </a:solidFill>
                <a:effectLst/>
                <a:latin typeface="Times New Roman" panose="02020603050405020304" pitchFamily="18" charset="0"/>
                <a:cs typeface="Times New Roman" panose="02020603050405020304" pitchFamily="18" charset="0"/>
              </a:rPr>
              <a:t>?</a:t>
            </a:r>
            <a:endParaRPr lang="en-US" sz="3200" dirty="0">
              <a:solidFill>
                <a:schemeClr val="bg1"/>
              </a:solidFill>
              <a:latin typeface="Times New Roman" panose="02020603050405020304" pitchFamily="18" charset="0"/>
              <a:cs typeface="Times New Roman" panose="02020603050405020304" pitchFamily="18" charset="0"/>
            </a:endParaRPr>
          </a:p>
        </p:txBody>
      </p:sp>
      <p:sp>
        <p:nvSpPr>
          <p:cNvPr id="5" name="Текстово поле 4">
            <a:extLst>
              <a:ext uri="{FF2B5EF4-FFF2-40B4-BE49-F238E27FC236}">
                <a16:creationId xmlns:a16="http://schemas.microsoft.com/office/drawing/2014/main" xmlns="" id="{FB8851F0-C044-9A99-9288-0ACA03512DA9}"/>
              </a:ext>
            </a:extLst>
          </p:cNvPr>
          <p:cNvSpPr txBox="1"/>
          <p:nvPr/>
        </p:nvSpPr>
        <p:spPr>
          <a:xfrm>
            <a:off x="394773" y="1279307"/>
            <a:ext cx="6505389" cy="2677656"/>
          </a:xfrm>
          <a:prstGeom prst="rect">
            <a:avLst/>
          </a:prstGeom>
          <a:noFill/>
        </p:spPr>
        <p:txBody>
          <a:bodyPr wrap="square">
            <a:spAutoFit/>
          </a:bodyPr>
          <a:lstStyle/>
          <a:p>
            <a:r>
              <a:rPr lang="ru-RU" sz="2400" b="0" i="0" dirty="0">
                <a:solidFill>
                  <a:schemeClr val="bg1"/>
                </a:solidFill>
                <a:effectLst/>
                <a:latin typeface="+mj-lt"/>
              </a:rPr>
              <a:t>Компютърните мрежи представляват свързани помежду с</a:t>
            </a:r>
            <a:r>
              <a:rPr lang="bg-BG" sz="2400" b="0" i="0" dirty="0">
                <a:solidFill>
                  <a:schemeClr val="bg1"/>
                </a:solidFill>
                <a:effectLst/>
                <a:latin typeface="+mj-lt"/>
              </a:rPr>
              <a:t>и</a:t>
            </a:r>
            <a:r>
              <a:rPr lang="ru-RU" sz="2400" b="0" i="0" dirty="0">
                <a:solidFill>
                  <a:schemeClr val="bg1"/>
                </a:solidFill>
                <a:effectLst/>
                <a:latin typeface="+mj-lt"/>
              </a:rPr>
              <a:t> компютри, периферни устройства и софтуер за съвместното им използване. Мрежата е механизма, позволяващ на разпръснатите компютри и техните потребители да комуникират помежду си и да споделят ресурси. </a:t>
            </a:r>
            <a:endParaRPr lang="en-US" sz="2400" b="0" i="0" dirty="0">
              <a:solidFill>
                <a:schemeClr val="bg1"/>
              </a:solidFill>
              <a:effectLst/>
              <a:latin typeface="+mj-lt"/>
            </a:endParaRPr>
          </a:p>
        </p:txBody>
      </p:sp>
    </p:spTree>
    <p:extLst>
      <p:ext uri="{BB962C8B-B14F-4D97-AF65-F5344CB8AC3E}">
        <p14:creationId xmlns:p14="http://schemas.microsoft.com/office/powerpoint/2010/main" val="418274262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383" y="555812"/>
            <a:ext cx="7765064" cy="4286352"/>
          </a:xfrm>
        </p:spPr>
        <p:txBody>
          <a:bodyPr/>
          <a:lstStyle/>
          <a:p>
            <a:r>
              <a:rPr lang="ru-RU" b="0" i="0" dirty="0">
                <a:solidFill>
                  <a:schemeClr val="bg1"/>
                </a:solidFill>
                <a:effectLst/>
                <a:latin typeface="Times New Roman" panose="02020603050405020304" pitchFamily="18" charset="0"/>
                <a:cs typeface="Times New Roman" panose="02020603050405020304" pitchFamily="18" charset="0"/>
              </a:rPr>
              <a:t>Компютърните мрежи се организират за да се създаде възможност за</a:t>
            </a:r>
            <a:r>
              <a:rPr lang="en-US" dirty="0">
                <a:solidFill>
                  <a:schemeClr val="bg1"/>
                </a:solidFill>
                <a:latin typeface="Times New Roman" panose="02020603050405020304" pitchFamily="18" charset="0"/>
                <a:cs typeface="Times New Roman" panose="02020603050405020304" pitchFamily="18" charset="0"/>
              </a:rPr>
              <a:t>:</a:t>
            </a:r>
            <a:r>
              <a:rPr lang="ru-RU" dirty="0">
                <a:solidFill>
                  <a:schemeClr val="bg1"/>
                </a:solidFill>
                <a:latin typeface="Times New Roman" panose="02020603050405020304" pitchFamily="18" charset="0"/>
                <a:cs typeface="Times New Roman" panose="02020603050405020304" pitchFamily="18" charset="0"/>
              </a:rPr>
              <a:t/>
            </a:r>
            <a:br>
              <a:rPr lang="ru-RU" dirty="0">
                <a:solidFill>
                  <a:schemeClr val="bg1"/>
                </a:solidFill>
                <a:latin typeface="Times New Roman" panose="02020603050405020304" pitchFamily="18" charset="0"/>
                <a:cs typeface="Times New Roman" panose="02020603050405020304" pitchFamily="18" charset="0"/>
              </a:rPr>
            </a:br>
            <a:r>
              <a:rPr lang="ru-RU" b="0" i="0" dirty="0">
                <a:solidFill>
                  <a:schemeClr val="bg1"/>
                </a:solidFill>
                <a:effectLst/>
                <a:latin typeface="Times New Roman" panose="02020603050405020304" pitchFamily="18" charset="0"/>
                <a:cs typeface="Times New Roman" panose="02020603050405020304" pitchFamily="18" charset="0"/>
              </a:rPr>
              <a:t>-   обмен на данни между потребителите на различни компютри</a:t>
            </a:r>
            <a:r>
              <a:rPr lang="ru-RU" dirty="0">
                <a:solidFill>
                  <a:schemeClr val="bg1"/>
                </a:solidFill>
                <a:latin typeface="Times New Roman" panose="02020603050405020304" pitchFamily="18" charset="0"/>
                <a:cs typeface="Times New Roman" panose="02020603050405020304" pitchFamily="18" charset="0"/>
              </a:rPr>
              <a:t/>
            </a:r>
            <a:br>
              <a:rPr lang="ru-RU" dirty="0">
                <a:solidFill>
                  <a:schemeClr val="bg1"/>
                </a:solidFill>
                <a:latin typeface="Times New Roman" panose="02020603050405020304" pitchFamily="18" charset="0"/>
                <a:cs typeface="Times New Roman" panose="02020603050405020304" pitchFamily="18" charset="0"/>
              </a:rPr>
            </a:br>
            <a:r>
              <a:rPr lang="ru-RU" b="0" i="0" dirty="0">
                <a:solidFill>
                  <a:schemeClr val="bg1"/>
                </a:solidFill>
                <a:effectLst/>
                <a:latin typeface="Times New Roman" panose="02020603050405020304" pitchFamily="18" charset="0"/>
                <a:cs typeface="Times New Roman" panose="02020603050405020304" pitchFamily="18" charset="0"/>
              </a:rPr>
              <a:t>-   съвместно ползване на общи ресурси</a:t>
            </a:r>
            <a:r>
              <a:rPr lang="en-US" b="0" i="0" dirty="0">
                <a:solidFill>
                  <a:schemeClr val="bg1"/>
                </a:solidFill>
                <a:effectLst/>
                <a:latin typeface="Times New Roman" panose="02020603050405020304" pitchFamily="18" charset="0"/>
                <a:cs typeface="Times New Roman" panose="02020603050405020304" pitchFamily="18" charset="0"/>
              </a:rPr>
              <a:t> (</a:t>
            </a:r>
            <a:r>
              <a:rPr lang="ru-RU" b="0" i="0" dirty="0">
                <a:solidFill>
                  <a:schemeClr val="bg1"/>
                </a:solidFill>
                <a:effectLst/>
                <a:latin typeface="Times New Roman" panose="02020603050405020304" pitchFamily="18" charset="0"/>
                <a:cs typeface="Times New Roman" panose="02020603050405020304" pitchFamily="18" charset="0"/>
              </a:rPr>
              <a:t>апаратни, софтуерни и информационни</a:t>
            </a:r>
            <a:r>
              <a:rPr lang="en-US" b="0" i="0" dirty="0">
                <a:solidFill>
                  <a:schemeClr val="bg1"/>
                </a:solidFill>
                <a:effectLst/>
                <a:latin typeface="Times New Roman" panose="02020603050405020304" pitchFamily="18" charset="0"/>
                <a:cs typeface="Times New Roman" panose="02020603050405020304" pitchFamily="18" charset="0"/>
              </a:rPr>
              <a:t>)</a:t>
            </a:r>
            <a:r>
              <a:rPr lang="ru-RU" dirty="0">
                <a:solidFill>
                  <a:schemeClr val="bg1"/>
                </a:solidFill>
                <a:latin typeface="Times New Roman" panose="02020603050405020304" pitchFamily="18" charset="0"/>
                <a:cs typeface="Times New Roman" panose="02020603050405020304" pitchFamily="18" charset="0"/>
              </a:rPr>
              <a:t/>
            </a:r>
            <a:br>
              <a:rPr lang="ru-RU" dirty="0">
                <a:solidFill>
                  <a:schemeClr val="bg1"/>
                </a:solidFill>
                <a:latin typeface="Times New Roman" panose="02020603050405020304" pitchFamily="18" charset="0"/>
                <a:cs typeface="Times New Roman" panose="02020603050405020304" pitchFamily="18" charset="0"/>
              </a:rPr>
            </a:br>
            <a:r>
              <a:rPr lang="ru-RU" b="0" i="0" dirty="0">
                <a:solidFill>
                  <a:schemeClr val="bg1"/>
                </a:solidFill>
                <a:effectLst/>
                <a:latin typeface="Times New Roman" panose="02020603050405020304" pitchFamily="18" charset="0"/>
                <a:cs typeface="Times New Roman" panose="02020603050405020304" pitchFamily="18" charset="0"/>
              </a:rPr>
              <a:t>-   разпределена обработка на данни, т. е. обработка чрез различни компютри на данни, части от които се съхраняват в паметта на различни компютри</a:t>
            </a:r>
            <a:r>
              <a:rPr lang="ru-RU" b="0" i="0" dirty="0">
                <a:solidFill>
                  <a:srgbClr val="00B0F0"/>
                </a:solidFill>
                <a:effectLst/>
                <a:latin typeface="Times New Roman" panose="02020603050405020304" pitchFamily="18" charset="0"/>
                <a:cs typeface="Times New Roman" panose="02020603050405020304" pitchFamily="18" charset="0"/>
              </a:rPr>
              <a:t>.</a:t>
            </a:r>
            <a:r>
              <a:rPr lang="bg-BG" sz="2800" dirty="0">
                <a:solidFill>
                  <a:srgbClr val="00B0F0"/>
                </a:solidFill>
                <a:latin typeface="+mj-lt"/>
              </a:rPr>
              <a:t/>
            </a:r>
            <a:br>
              <a:rPr lang="bg-BG" sz="2800" dirty="0">
                <a:solidFill>
                  <a:srgbClr val="00B0F0"/>
                </a:solidFill>
                <a:latin typeface="+mj-lt"/>
              </a:rPr>
            </a:b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84721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0041" y="283169"/>
            <a:ext cx="7348832" cy="1307160"/>
          </a:xfrm>
          <a:solidFill>
            <a:schemeClr val="tx1"/>
          </a:solidFill>
          <a:ln>
            <a:solidFill>
              <a:schemeClr val="bg1"/>
            </a:solidFill>
          </a:ln>
        </p:spPr>
        <p:txBody>
          <a:bodyPr/>
          <a:lstStyle/>
          <a:p>
            <a:r>
              <a:rPr lang="ru-RU" sz="3200" b="1" dirty="0">
                <a:solidFill>
                  <a:schemeClr val="bg1"/>
                </a:solidFill>
                <a:latin typeface="Times New Roman" panose="02020603050405020304" pitchFamily="18" charset="0"/>
                <a:cs typeface="Times New Roman" panose="02020603050405020304" pitchFamily="18" charset="0"/>
              </a:rPr>
              <a:t>Категоризиране на мрежите според физическия обхват</a:t>
            </a:r>
            <a:endParaRPr lang="en-US" sz="3200" dirty="0">
              <a:solidFill>
                <a:schemeClr val="bg1"/>
              </a:solidFill>
              <a:latin typeface="Times New Roman" panose="02020603050405020304" pitchFamily="18" charset="0"/>
              <a:cs typeface="Times New Roman" panose="02020603050405020304" pitchFamily="18" charset="0"/>
            </a:endParaRPr>
          </a:p>
        </p:txBody>
      </p:sp>
      <p:sp>
        <p:nvSpPr>
          <p:cNvPr id="4" name="Текстово поле 3">
            <a:extLst>
              <a:ext uri="{FF2B5EF4-FFF2-40B4-BE49-F238E27FC236}">
                <a16:creationId xmlns:a16="http://schemas.microsoft.com/office/drawing/2014/main" xmlns="" id="{8A22D852-93FE-6909-C33A-F907DBDE6B4C}"/>
              </a:ext>
            </a:extLst>
          </p:cNvPr>
          <p:cNvSpPr txBox="1"/>
          <p:nvPr/>
        </p:nvSpPr>
        <p:spPr>
          <a:xfrm>
            <a:off x="364101" y="1897349"/>
            <a:ext cx="6615953" cy="1938992"/>
          </a:xfrm>
          <a:prstGeom prst="rect">
            <a:avLst/>
          </a:prstGeom>
          <a:noFill/>
        </p:spPr>
        <p:txBody>
          <a:bodyPr wrap="square">
            <a:spAutoFit/>
          </a:bodyPr>
          <a:lstStyle/>
          <a:p>
            <a:r>
              <a:rPr lang="bg-BG" sz="2000" dirty="0">
                <a:solidFill>
                  <a:schemeClr val="bg1"/>
                </a:solidFill>
              </a:rPr>
              <a:t>Физическият обхват включва географската област, която се заема от мрежата. Според</a:t>
            </a:r>
            <a:r>
              <a:rPr lang="en-US" sz="2000" dirty="0">
                <a:solidFill>
                  <a:schemeClr val="bg1"/>
                </a:solidFill>
              </a:rPr>
              <a:t> </a:t>
            </a:r>
            <a:r>
              <a:rPr lang="bg-BG" sz="2000" dirty="0">
                <a:solidFill>
                  <a:schemeClr val="bg1"/>
                </a:solidFill>
              </a:rPr>
              <a:t>физическия обхват съществуват следните категории мрежи:</a:t>
            </a:r>
          </a:p>
          <a:p>
            <a:r>
              <a:rPr lang="en-US" sz="2000" dirty="0">
                <a:solidFill>
                  <a:schemeClr val="bg1"/>
                </a:solidFill>
              </a:rPr>
              <a:t>1.</a:t>
            </a:r>
            <a:r>
              <a:rPr lang="bg-BG" sz="2000" b="1" i="1" dirty="0">
                <a:solidFill>
                  <a:schemeClr val="bg1"/>
                </a:solidFill>
              </a:rPr>
              <a:t>Локална мрежа </a:t>
            </a:r>
            <a:r>
              <a:rPr lang="bg-BG" sz="2000" dirty="0">
                <a:solidFill>
                  <a:schemeClr val="bg1"/>
                </a:solidFill>
              </a:rPr>
              <a:t>(</a:t>
            </a:r>
            <a:r>
              <a:rPr lang="nl-BE" sz="2000" b="1" dirty="0">
                <a:solidFill>
                  <a:schemeClr val="bg1"/>
                </a:solidFill>
              </a:rPr>
              <a:t>LAN</a:t>
            </a:r>
            <a:r>
              <a:rPr lang="nl-BE" sz="2000" dirty="0">
                <a:solidFill>
                  <a:schemeClr val="bg1"/>
                </a:solidFill>
              </a:rPr>
              <a:t>);</a:t>
            </a:r>
          </a:p>
          <a:p>
            <a:r>
              <a:rPr lang="nl-BE" sz="2000" dirty="0">
                <a:solidFill>
                  <a:schemeClr val="bg1"/>
                </a:solidFill>
              </a:rPr>
              <a:t>2.</a:t>
            </a:r>
            <a:r>
              <a:rPr lang="bg-BG" sz="2000" b="1" i="1" dirty="0">
                <a:solidFill>
                  <a:schemeClr val="bg1"/>
                </a:solidFill>
              </a:rPr>
              <a:t>Градска мрежа </a:t>
            </a:r>
            <a:r>
              <a:rPr lang="bg-BG" sz="2000" dirty="0">
                <a:solidFill>
                  <a:schemeClr val="bg1"/>
                </a:solidFill>
              </a:rPr>
              <a:t>(</a:t>
            </a:r>
            <a:r>
              <a:rPr lang="nl-BE" sz="2000" b="1" dirty="0">
                <a:solidFill>
                  <a:schemeClr val="bg1"/>
                </a:solidFill>
              </a:rPr>
              <a:t>MAN</a:t>
            </a:r>
            <a:r>
              <a:rPr lang="nl-BE" sz="2000" dirty="0">
                <a:solidFill>
                  <a:schemeClr val="bg1"/>
                </a:solidFill>
              </a:rPr>
              <a:t>);</a:t>
            </a:r>
          </a:p>
          <a:p>
            <a:r>
              <a:rPr lang="nl-BE" sz="2000" dirty="0">
                <a:solidFill>
                  <a:schemeClr val="bg1"/>
                </a:solidFill>
              </a:rPr>
              <a:t>3.</a:t>
            </a:r>
            <a:r>
              <a:rPr lang="bg-BG" sz="2000" b="1" i="1" dirty="0">
                <a:solidFill>
                  <a:schemeClr val="bg1"/>
                </a:solidFill>
              </a:rPr>
              <a:t>Глобална мрежа </a:t>
            </a:r>
            <a:r>
              <a:rPr lang="bg-BG" sz="2000" dirty="0">
                <a:solidFill>
                  <a:schemeClr val="bg1"/>
                </a:solidFill>
              </a:rPr>
              <a:t>(</a:t>
            </a:r>
            <a:r>
              <a:rPr lang="nl-BE" sz="2000" b="1" dirty="0">
                <a:solidFill>
                  <a:schemeClr val="bg1"/>
                </a:solidFill>
              </a:rPr>
              <a:t>WAN</a:t>
            </a:r>
            <a:r>
              <a:rPr lang="nl-BE" sz="2000" dirty="0">
                <a:solidFill>
                  <a:schemeClr val="bg1"/>
                </a:solidFill>
              </a:rPr>
              <a:t>);</a:t>
            </a:r>
            <a:endParaRPr lang="bg-BG" sz="2000" dirty="0">
              <a:solidFill>
                <a:schemeClr val="bg1"/>
              </a:solidFill>
            </a:endParaRPr>
          </a:p>
        </p:txBody>
      </p:sp>
    </p:spTree>
    <p:extLst>
      <p:ext uri="{BB962C8B-B14F-4D97-AF65-F5344CB8AC3E}">
        <p14:creationId xmlns:p14="http://schemas.microsoft.com/office/powerpoint/2010/main" val="176893985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4" descr="За глобалните, локалните и комуналните IoT оператори - ThingsLog">
            <a:extLst>
              <a:ext uri="{FF2B5EF4-FFF2-40B4-BE49-F238E27FC236}">
                <a16:creationId xmlns:a16="http://schemas.microsoft.com/office/drawing/2014/main" xmlns="" id="{A239673D-BE0F-D1F0-B021-6D4B12B197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249383" y="249382"/>
            <a:ext cx="8084126" cy="4592782"/>
          </a:xfrm>
        </p:spPr>
        <p:txBody>
          <a:bodyPr/>
          <a:lstStyle/>
          <a:p>
            <a:r>
              <a:rPr lang="en-US" b="1" i="0" dirty="0">
                <a:solidFill>
                  <a:srgbClr val="FFFF00"/>
                </a:solidFill>
                <a:effectLst/>
                <a:latin typeface="+mj-lt"/>
              </a:rPr>
              <a:t>1.</a:t>
            </a:r>
            <a:r>
              <a:rPr lang="ru-RU" b="1" i="0" dirty="0">
                <a:solidFill>
                  <a:srgbClr val="FFFF00"/>
                </a:solidFill>
                <a:effectLst/>
                <a:latin typeface="+mj-lt"/>
              </a:rPr>
              <a:t>LAN (Local Area Network) </a:t>
            </a:r>
            <a:r>
              <a:rPr lang="ru-RU" b="0" i="0" dirty="0">
                <a:solidFill>
                  <a:srgbClr val="FFFF00"/>
                </a:solidFill>
                <a:effectLst/>
                <a:latin typeface="+mj-lt"/>
              </a:rPr>
              <a:t>–</a:t>
            </a:r>
            <a:r>
              <a:rPr lang="ru-RU" b="1" i="0" dirty="0">
                <a:solidFill>
                  <a:srgbClr val="FFFF00"/>
                </a:solidFill>
                <a:effectLst/>
                <a:latin typeface="+mj-lt"/>
              </a:rPr>
              <a:t> </a:t>
            </a:r>
            <a:r>
              <a:rPr lang="ru-RU" b="0" i="0" dirty="0">
                <a:solidFill>
                  <a:srgbClr val="FFFF00"/>
                </a:solidFill>
                <a:effectLst/>
                <a:latin typeface="+mj-lt"/>
              </a:rPr>
              <a:t>локална компютърна мрежа, която обслужва една организация и е разположена в една сграда.</a:t>
            </a:r>
            <a:r>
              <a:rPr lang="bg-BG" dirty="0">
                <a:solidFill>
                  <a:srgbClr val="FFFF00"/>
                </a:solidFill>
                <a:latin typeface="+mj-lt"/>
              </a:rPr>
              <a:t/>
            </a:r>
            <a:br>
              <a:rPr lang="bg-BG" dirty="0">
                <a:solidFill>
                  <a:srgbClr val="FFFF00"/>
                </a:solidFill>
                <a:latin typeface="+mj-lt"/>
              </a:rPr>
            </a:br>
            <a:r>
              <a:rPr lang="en-US" b="1" i="0" dirty="0">
                <a:solidFill>
                  <a:srgbClr val="FFFF00"/>
                </a:solidFill>
                <a:effectLst/>
                <a:latin typeface="+mj-lt"/>
              </a:rPr>
              <a:t>2.</a:t>
            </a:r>
            <a:r>
              <a:rPr lang="ru-RU" b="1" i="0" dirty="0">
                <a:solidFill>
                  <a:srgbClr val="FFFF00"/>
                </a:solidFill>
                <a:effectLst/>
                <a:latin typeface="+mj-lt"/>
              </a:rPr>
              <a:t>MAN (Metropolitan Area Network)</a:t>
            </a:r>
            <a:r>
              <a:rPr lang="ru-RU" b="0" i="0" dirty="0">
                <a:solidFill>
                  <a:srgbClr val="FFFF00"/>
                </a:solidFill>
                <a:effectLst/>
                <a:latin typeface="+mj-lt"/>
              </a:rPr>
              <a:t> – </a:t>
            </a:r>
            <a:r>
              <a:rPr lang="ru-RU" b="1" i="0" dirty="0">
                <a:solidFill>
                  <a:srgbClr val="FFFF00"/>
                </a:solidFill>
                <a:effectLst/>
                <a:latin typeface="+mj-lt"/>
              </a:rPr>
              <a:t>о</a:t>
            </a:r>
            <a:r>
              <a:rPr lang="ru-RU" b="0" i="0" dirty="0">
                <a:solidFill>
                  <a:srgbClr val="FFFF00"/>
                </a:solidFill>
                <a:effectLst/>
                <a:latin typeface="+mj-lt"/>
              </a:rPr>
              <a:t>бхваща територия на едно населено място или голяма сграда с много разположени в нея организации.</a:t>
            </a:r>
            <a:r>
              <a:rPr lang="bg-BG" dirty="0">
                <a:solidFill>
                  <a:srgbClr val="FFFF00"/>
                </a:solidFill>
                <a:latin typeface="+mj-lt"/>
              </a:rPr>
              <a:t/>
            </a:r>
            <a:br>
              <a:rPr lang="bg-BG" dirty="0">
                <a:solidFill>
                  <a:srgbClr val="FFFF00"/>
                </a:solidFill>
                <a:latin typeface="+mj-lt"/>
              </a:rPr>
            </a:br>
            <a:endParaRPr lang="en-US" dirty="0">
              <a:solidFill>
                <a:srgbClr val="FFFF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138365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49383" y="249382"/>
            <a:ext cx="8084126" cy="2484110"/>
          </a:xfrm>
        </p:spPr>
        <p:txBody>
          <a:bodyPr/>
          <a:lstStyle/>
          <a:p>
            <a:r>
              <a:rPr lang="en-US" b="1" i="0" dirty="0">
                <a:solidFill>
                  <a:schemeClr val="bg1"/>
                </a:solidFill>
                <a:effectLst/>
                <a:latin typeface="+mj-lt"/>
              </a:rPr>
              <a:t>3.</a:t>
            </a:r>
            <a:r>
              <a:rPr lang="ru-RU" b="1" i="0" dirty="0">
                <a:solidFill>
                  <a:schemeClr val="bg1"/>
                </a:solidFill>
                <a:effectLst/>
                <a:latin typeface="+mj-lt"/>
              </a:rPr>
              <a:t>WAN (Wide Area Network) </a:t>
            </a:r>
            <a:r>
              <a:rPr lang="ru-RU" b="0" i="0" dirty="0">
                <a:solidFill>
                  <a:schemeClr val="bg1"/>
                </a:solidFill>
                <a:effectLst/>
                <a:latin typeface="+mj-lt"/>
              </a:rPr>
              <a:t>– глобална компютърна мрежа, която използва високоскоростни, далечни комуникации или спътници, за да свърже ком­пютри, намиращи се в различни географски точки.</a:t>
            </a:r>
            <a:r>
              <a:rPr lang="bg-BG" sz="3200" dirty="0">
                <a:solidFill>
                  <a:srgbClr val="00B0F0"/>
                </a:solidFill>
                <a:latin typeface="+mj-lt"/>
              </a:rPr>
              <a:t/>
            </a:r>
            <a:br>
              <a:rPr lang="bg-BG" sz="3200" dirty="0">
                <a:solidFill>
                  <a:srgbClr val="00B0F0"/>
                </a:solidFill>
                <a:latin typeface="+mj-lt"/>
              </a:rPr>
            </a:br>
            <a:r>
              <a:rPr lang="bg-BG" sz="3200" dirty="0">
                <a:solidFill>
                  <a:srgbClr val="00B0F0"/>
                </a:solidFill>
                <a:latin typeface="+mj-lt"/>
              </a:rPr>
              <a:t/>
            </a:r>
            <a:br>
              <a:rPr lang="bg-BG" sz="3200" dirty="0">
                <a:solidFill>
                  <a:srgbClr val="00B0F0"/>
                </a:solidFill>
                <a:latin typeface="+mj-lt"/>
              </a:rPr>
            </a:br>
            <a:endParaRPr lang="en-US" sz="3200" dirty="0">
              <a:latin typeface="Times New Roman" panose="02020603050405020304" pitchFamily="18" charset="0"/>
              <a:cs typeface="Times New Roman" panose="02020603050405020304" pitchFamily="18" charset="0"/>
            </a:endParaRPr>
          </a:p>
        </p:txBody>
      </p:sp>
      <p:pic>
        <p:nvPicPr>
          <p:cNvPr id="6146" name="Picture 2" descr="WAN – Уикипедия">
            <a:extLst>
              <a:ext uri="{FF2B5EF4-FFF2-40B4-BE49-F238E27FC236}">
                <a16:creationId xmlns:a16="http://schemas.microsoft.com/office/drawing/2014/main" xmlns="" id="{0245C129-1A61-895E-25FC-468D38C5C39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51818" y="2075354"/>
            <a:ext cx="3511489" cy="2484110"/>
          </a:xfrm>
          <a:prstGeom prst="roundRect">
            <a:avLst>
              <a:gd name="adj" fmla="val 4167"/>
            </a:avLst>
          </a:prstGeom>
          <a:solidFill>
            <a:srgbClr val="FFFFFF"/>
          </a:solidFill>
          <a:ln w="76200" cap="sq">
            <a:solidFill>
              <a:srgbClr val="292929"/>
            </a:solidFill>
            <a:miter lim="800000"/>
          </a:ln>
          <a:effectLst>
            <a:reflection blurRad="12700" stA="28000" endPos="28000" dist="5000" dir="5400000" sy="-100000" algn="bl" rotWithShape="0"/>
          </a:effectLst>
          <a:scene3d>
            <a:camera prst="orthographicFront"/>
            <a:lightRig rig="threePt" dir="t">
              <a:rot lat="0" lon="0" rev="2700000"/>
            </a:lightRig>
          </a:scene3d>
          <a:sp3d>
            <a:bevelT h="38100"/>
            <a:contourClr>
              <a:srgbClr val="C0C0C0"/>
            </a:contourClr>
          </a:sp3d>
        </p:spPr>
      </p:pic>
    </p:spTree>
    <p:extLst>
      <p:ext uri="{BB962C8B-B14F-4D97-AF65-F5344CB8AC3E}">
        <p14:creationId xmlns:p14="http://schemas.microsoft.com/office/powerpoint/2010/main" val="36346632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3" name="Google Shape;173;p34"/>
          <p:cNvSpPr txBox="1">
            <a:spLocks noGrp="1"/>
          </p:cNvSpPr>
          <p:nvPr>
            <p:ph type="body" idx="1"/>
          </p:nvPr>
        </p:nvSpPr>
        <p:spPr>
          <a:xfrm>
            <a:off x="132695" y="1153728"/>
            <a:ext cx="6201049" cy="3320736"/>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ru-RU" sz="2400" dirty="0">
                <a:solidFill>
                  <a:schemeClr val="bg1"/>
                </a:solidFill>
                <a:latin typeface="Times New Roman" panose="02020603050405020304" pitchFamily="18" charset="0"/>
                <a:cs typeface="Times New Roman" panose="02020603050405020304" pitchFamily="18" charset="0"/>
              </a:rPr>
              <a:t>MAN (Metropolitan Area Network) е компютърна мрежа на територията на един град, чрез която всеки две точки в зоната на покритие могат да се свържат една с друга чрез оптичен кабел, без да е нужно кабелът да е прекалено дълъг от едната точка до другата. </a:t>
            </a:r>
            <a:endParaRPr lang="bg-BG" sz="2400" dirty="0">
              <a:solidFill>
                <a:schemeClr val="bg1"/>
              </a:solidFill>
              <a:latin typeface="Times New Roman" panose="02020603050405020304" pitchFamily="18" charset="0"/>
              <a:cs typeface="Times New Roman" panose="02020603050405020304" pitchFamily="18" charset="0"/>
            </a:endParaRPr>
          </a:p>
        </p:txBody>
      </p:sp>
      <p:sp>
        <p:nvSpPr>
          <p:cNvPr id="174" name="Google Shape;174;p34"/>
          <p:cNvSpPr txBox="1">
            <a:spLocks noGrp="1"/>
          </p:cNvSpPr>
          <p:nvPr>
            <p:ph type="title"/>
          </p:nvPr>
        </p:nvSpPr>
        <p:spPr>
          <a:xfrm>
            <a:off x="2378833" y="96083"/>
            <a:ext cx="6589800" cy="515100"/>
          </a:xfrm>
          <a:prstGeom prst="rect">
            <a:avLst/>
          </a:prstGeom>
          <a:solidFill>
            <a:schemeClr val="bg2">
              <a:lumMod val="50000"/>
            </a:schemeClr>
          </a:solidFill>
          <a:ln>
            <a:solidFill>
              <a:schemeClr val="bg1"/>
            </a:solidFill>
          </a:ln>
        </p:spPr>
        <p:txBody>
          <a:bodyPr spcFirstLastPara="1" wrap="square" lIns="91425" tIns="91425" rIns="91425" bIns="91425" anchor="t" anchorCtr="0">
            <a:noAutofit/>
          </a:bodyPr>
          <a:lstStyle/>
          <a:p>
            <a:pPr marL="0" lvl="0" indent="0" algn="r" rtl="0">
              <a:spcBef>
                <a:spcPts val="0"/>
              </a:spcBef>
              <a:spcAft>
                <a:spcPts val="0"/>
              </a:spcAft>
              <a:buNone/>
            </a:pPr>
            <a:r>
              <a:rPr lang="bg-BG" sz="2800" dirty="0">
                <a:latin typeface="Times New Roman" panose="02020603050405020304" pitchFamily="18" charset="0"/>
                <a:cs typeface="Times New Roman" panose="02020603050405020304" pitchFamily="18" charset="0"/>
              </a:rPr>
              <a:t> </a:t>
            </a:r>
            <a:r>
              <a:rPr lang="bg-BG" sz="3200" dirty="0">
                <a:latin typeface="Times New Roman" panose="02020603050405020304" pitchFamily="18" charset="0"/>
                <a:cs typeface="Times New Roman" panose="02020603050405020304" pitchFamily="18" charset="0"/>
              </a:rPr>
              <a:t>Определение</a:t>
            </a:r>
            <a:r>
              <a:rPr lang="en-US" sz="3200" dirty="0">
                <a:latin typeface="Times New Roman" panose="02020603050405020304" pitchFamily="18" charset="0"/>
                <a:cs typeface="Times New Roman" panose="02020603050405020304" pitchFamily="18" charset="0"/>
              </a:rPr>
              <a:t> </a:t>
            </a:r>
            <a:r>
              <a:rPr lang="bg-BG" sz="3200" dirty="0">
                <a:latin typeface="Times New Roman" panose="02020603050405020304" pitchFamily="18" charset="0"/>
                <a:cs typeface="Times New Roman" panose="02020603050405020304" pitchFamily="18" charset="0"/>
              </a:rPr>
              <a:t>на </a:t>
            </a:r>
            <a:r>
              <a:rPr lang="en-US" sz="3200" dirty="0">
                <a:latin typeface="Times New Roman" panose="02020603050405020304" pitchFamily="18" charset="0"/>
                <a:cs typeface="Times New Roman" panose="02020603050405020304" pitchFamily="18" charset="0"/>
              </a:rPr>
              <a:t>MAN</a:t>
            </a:r>
            <a:endParaRPr sz="2800" dirty="0">
              <a:latin typeface="Times New Roman" panose="02020603050405020304" pitchFamily="18" charset="0"/>
              <a:cs typeface="Times New Roman" panose="02020603050405020304" pitchFamily="18" charset="0"/>
            </a:endParaRPr>
          </a:p>
        </p:txBody>
      </p:sp>
      <p:sp>
        <p:nvSpPr>
          <p:cNvPr id="175" name="Google Shape;175;p34"/>
          <p:cNvSpPr txBox="1"/>
          <p:nvPr/>
        </p:nvSpPr>
        <p:spPr>
          <a:xfrm>
            <a:off x="725800" y="4343725"/>
            <a:ext cx="6048300" cy="219000"/>
          </a:xfrm>
          <a:prstGeom prst="rect">
            <a:avLst/>
          </a:prstGeom>
          <a:noFill/>
          <a:ln>
            <a:noFill/>
          </a:ln>
        </p:spPr>
        <p:txBody>
          <a:bodyPr spcFirstLastPara="1" wrap="square" lIns="91425" tIns="91425" rIns="91425" bIns="91425" anchor="t" anchorCtr="0">
            <a:noAutofit/>
          </a:bodyPr>
          <a:lstStyle/>
          <a:p>
            <a:pPr marL="0" lvl="0" indent="0" algn="l" rtl="0">
              <a:lnSpc>
                <a:spcPct val="115000"/>
              </a:lnSpc>
              <a:spcBef>
                <a:spcPts val="0"/>
              </a:spcBef>
              <a:spcAft>
                <a:spcPts val="1600"/>
              </a:spcAft>
              <a:buNone/>
            </a:pPr>
            <a:endParaRPr sz="1200" b="1" dirty="0">
              <a:solidFill>
                <a:schemeClr val="accent2"/>
              </a:solidFill>
              <a:latin typeface="Montserrat"/>
              <a:ea typeface="Montserrat"/>
              <a:cs typeface="Montserrat"/>
              <a:sym typeface="Montserrat"/>
            </a:endParaRPr>
          </a:p>
        </p:txBody>
      </p:sp>
      <p:pic>
        <p:nvPicPr>
          <p:cNvPr id="1032" name="Picture 8" descr="MAN Network-Metropolitan Area Network | 4 Features, Advantages,  Disadvantages | Edifyclue.in">
            <a:extLst>
              <a:ext uri="{FF2B5EF4-FFF2-40B4-BE49-F238E27FC236}">
                <a16:creationId xmlns:a16="http://schemas.microsoft.com/office/drawing/2014/main" xmlns="" id="{69A9B2AF-4E19-0289-D88C-0BC555AA946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235" y="1667303"/>
            <a:ext cx="1808894" cy="1808894"/>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12157441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173">
                                            <p:txEl>
                                              <p:pRg st="0" end="0"/>
                                            </p:txEl>
                                          </p:spTgt>
                                        </p:tgtEl>
                                        <p:attrNameLst>
                                          <p:attrName>style.visibility</p:attrName>
                                        </p:attrNameLst>
                                      </p:cBhvr>
                                      <p:to>
                                        <p:strVal val="visible"/>
                                      </p:to>
                                    </p:set>
                                    <p:animEffect transition="in" filter="circle(in)">
                                      <p:cBhvr>
                                        <p:cTn id="7" dur="2000"/>
                                        <p:tgtEl>
                                          <p:spTgt spid="17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Кламер БГ - Бизнес новини: Виртуален мобилен оператор ще създават петима  доставчици на тв и интернет">
            <a:extLst>
              <a:ext uri="{FF2B5EF4-FFF2-40B4-BE49-F238E27FC236}">
                <a16:creationId xmlns:a16="http://schemas.microsoft.com/office/drawing/2014/main" xmlns="" id="{EAD6BF33-DDC0-1292-5EFA-F148C51FF0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89301" y="1327403"/>
            <a:ext cx="2395415" cy="1596943"/>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
        <p:nvSpPr>
          <p:cNvPr id="2" name="Title 1"/>
          <p:cNvSpPr>
            <a:spLocks noGrp="1"/>
          </p:cNvSpPr>
          <p:nvPr>
            <p:ph type="title"/>
          </p:nvPr>
        </p:nvSpPr>
        <p:spPr>
          <a:xfrm>
            <a:off x="137294" y="141583"/>
            <a:ext cx="8086405" cy="761017"/>
          </a:xfrm>
          <a:solidFill>
            <a:schemeClr val="tx1"/>
          </a:solidFill>
          <a:ln>
            <a:solidFill>
              <a:schemeClr val="bg1"/>
            </a:solidFill>
          </a:ln>
        </p:spPr>
        <p:txBody>
          <a:bodyPr/>
          <a:lstStyle/>
          <a:p>
            <a:pPr algn="ctr"/>
            <a:r>
              <a:rPr lang="bg-BG" sz="3200" b="1" i="0" dirty="0">
                <a:solidFill>
                  <a:srgbClr val="FFFFFF"/>
                </a:solidFill>
                <a:effectLst/>
                <a:latin typeface="Times New Roman" panose="02020603050405020304" pitchFamily="18" charset="0"/>
                <a:cs typeface="Times New Roman" panose="02020603050405020304" pitchFamily="18" charset="0"/>
              </a:rPr>
              <a:t>Технология</a:t>
            </a:r>
            <a:r>
              <a:rPr lang="en-US" sz="3200" b="1" i="0" dirty="0">
                <a:solidFill>
                  <a:srgbClr val="FFFFFF"/>
                </a:solidFill>
                <a:effectLst/>
                <a:latin typeface="Times New Roman" panose="02020603050405020304" pitchFamily="18" charset="0"/>
                <a:cs typeface="Times New Roman" panose="02020603050405020304" pitchFamily="18" charset="0"/>
              </a:rPr>
              <a:t> </a:t>
            </a:r>
            <a:r>
              <a:rPr lang="bg-BG" sz="3200" b="1" i="0" dirty="0">
                <a:solidFill>
                  <a:srgbClr val="FFFFFF"/>
                </a:solidFill>
                <a:effectLst/>
                <a:latin typeface="Times New Roman" panose="02020603050405020304" pitchFamily="18" charset="0"/>
                <a:cs typeface="Times New Roman" panose="02020603050405020304" pitchFamily="18" charset="0"/>
              </a:rPr>
              <a:t>на </a:t>
            </a:r>
            <a:r>
              <a:rPr lang="en-US" sz="3200" b="1" i="0" dirty="0">
                <a:solidFill>
                  <a:srgbClr val="FFFFFF"/>
                </a:solidFill>
                <a:effectLst/>
                <a:latin typeface="Times New Roman" panose="02020603050405020304" pitchFamily="18" charset="0"/>
                <a:cs typeface="Times New Roman" panose="02020603050405020304" pitchFamily="18" charset="0"/>
              </a:rPr>
              <a:t>MAN</a:t>
            </a:r>
            <a:r>
              <a:rPr lang="bg-BG" sz="2400" b="1" i="0" dirty="0">
                <a:solidFill>
                  <a:srgbClr val="FFFFFF"/>
                </a:solidFill>
                <a:effectLst/>
                <a:latin typeface="var(--font-serif)"/>
              </a:rPr>
              <a:t/>
            </a:r>
            <a:br>
              <a:rPr lang="bg-BG" sz="2400" b="1" i="0" dirty="0">
                <a:solidFill>
                  <a:srgbClr val="FFFFFF"/>
                </a:solidFill>
                <a:effectLst/>
                <a:latin typeface="var(--font-serif)"/>
              </a:rPr>
            </a:br>
            <a:endParaRPr lang="en-US" sz="3200" dirty="0">
              <a:latin typeface="Times New Roman" panose="02020603050405020304" pitchFamily="18" charset="0"/>
              <a:cs typeface="Times New Roman" panose="02020603050405020304" pitchFamily="18" charset="0"/>
            </a:endParaRPr>
          </a:p>
        </p:txBody>
      </p:sp>
      <p:sp>
        <p:nvSpPr>
          <p:cNvPr id="4" name="Текстово поле 3">
            <a:extLst>
              <a:ext uri="{FF2B5EF4-FFF2-40B4-BE49-F238E27FC236}">
                <a16:creationId xmlns:a16="http://schemas.microsoft.com/office/drawing/2014/main" xmlns="" id="{0895ABF4-6608-401E-C16C-5BC66CA62A0A}"/>
              </a:ext>
            </a:extLst>
          </p:cNvPr>
          <p:cNvSpPr txBox="1"/>
          <p:nvPr/>
        </p:nvSpPr>
        <p:spPr>
          <a:xfrm>
            <a:off x="342200" y="1112053"/>
            <a:ext cx="6595480" cy="3416320"/>
          </a:xfrm>
          <a:prstGeom prst="rect">
            <a:avLst/>
          </a:prstGeom>
          <a:noFill/>
        </p:spPr>
        <p:txBody>
          <a:bodyPr wrap="square">
            <a:spAutoFit/>
          </a:bodyPr>
          <a:lstStyle/>
          <a:p>
            <a:pPr algn="l" fontAlgn="base"/>
            <a:r>
              <a:rPr lang="ru-RU" sz="2400" b="0" i="0" dirty="0">
                <a:solidFill>
                  <a:srgbClr val="FFFFFF"/>
                </a:solidFill>
                <a:effectLst/>
                <a:latin typeface="Times New Roman" panose="02020603050405020304" pitchFamily="18" charset="0"/>
                <a:cs typeface="Times New Roman" panose="02020603050405020304" pitchFamily="18" charset="0"/>
              </a:rPr>
              <a:t>MAN мрежата се състои от две основни части –</a:t>
            </a:r>
            <a:r>
              <a:rPr lang="ru-RU" sz="2400" b="0" i="0" u="none" strike="noStrike" dirty="0">
                <a:solidFill>
                  <a:srgbClr val="FFFFFF"/>
                </a:solidFill>
                <a:effectLst/>
                <a:latin typeface="Times New Roman" panose="02020603050405020304" pitchFamily="18" charset="0"/>
                <a:cs typeface="Times New Roman" panose="02020603050405020304" pitchFamily="18" charset="0"/>
              </a:rPr>
              <a:t>опорна мрежа</a:t>
            </a:r>
            <a:r>
              <a:rPr lang="ru-RU" sz="2400" b="0" i="0" dirty="0">
                <a:solidFill>
                  <a:srgbClr val="FFFFFF"/>
                </a:solidFill>
                <a:effectLst/>
                <a:latin typeface="Times New Roman" panose="02020603050405020304" pitchFamily="18" charset="0"/>
                <a:cs typeface="Times New Roman" panose="02020603050405020304" pitchFamily="18" charset="0"/>
              </a:rPr>
              <a:t> (backbone) и клиентски интерфейс. Опорната мрежа представлява набор от точки за достъп (POP – point of presence), в които има </a:t>
            </a:r>
            <a:r>
              <a:rPr lang="ru-RU" sz="2400" b="0" i="0" u="none" strike="noStrike" dirty="0">
                <a:solidFill>
                  <a:srgbClr val="FFFFFF"/>
                </a:solidFill>
                <a:effectLst/>
                <a:latin typeface="Times New Roman" panose="02020603050405020304" pitchFamily="18" charset="0"/>
                <a:cs typeface="Times New Roman" panose="02020603050405020304" pitchFamily="18" charset="0"/>
              </a:rPr>
              <a:t>маршрутизатори</a:t>
            </a:r>
            <a:r>
              <a:rPr lang="ru-RU" sz="2400" b="0" i="0" dirty="0">
                <a:solidFill>
                  <a:srgbClr val="FFFFFF"/>
                </a:solidFill>
                <a:effectLst/>
                <a:latin typeface="Times New Roman" panose="02020603050405020304" pitchFamily="18" charset="0"/>
                <a:cs typeface="Times New Roman" panose="02020603050405020304" pitchFamily="18" charset="0"/>
              </a:rPr>
              <a:t>, свързани помежду си с високоскоростни връзки. Клиентският интерфейс представлява оптичен кабел, съединяващ абоната с най-близката точка за достъп. </a:t>
            </a:r>
          </a:p>
        </p:txBody>
      </p:sp>
    </p:spTree>
    <p:extLst>
      <p:ext uri="{BB962C8B-B14F-4D97-AF65-F5344CB8AC3E}">
        <p14:creationId xmlns:p14="http://schemas.microsoft.com/office/powerpoint/2010/main" val="28261573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Текстово поле 4">
            <a:extLst>
              <a:ext uri="{FF2B5EF4-FFF2-40B4-BE49-F238E27FC236}">
                <a16:creationId xmlns:a16="http://schemas.microsoft.com/office/drawing/2014/main" xmlns="" id="{4CD63A4F-3B21-76A2-6202-76AC7114CD2B}"/>
              </a:ext>
            </a:extLst>
          </p:cNvPr>
          <p:cNvSpPr txBox="1"/>
          <p:nvPr/>
        </p:nvSpPr>
        <p:spPr>
          <a:xfrm>
            <a:off x="359860" y="460150"/>
            <a:ext cx="5563091" cy="3416320"/>
          </a:xfrm>
          <a:prstGeom prst="rect">
            <a:avLst/>
          </a:prstGeom>
          <a:noFill/>
        </p:spPr>
        <p:txBody>
          <a:bodyPr wrap="square" rtlCol="0">
            <a:spAutoFit/>
          </a:bodyPr>
          <a:lstStyle/>
          <a:p>
            <a:pPr algn="l" fontAlgn="base"/>
            <a:r>
              <a:rPr lang="ru-RU" sz="2400" b="0" i="0" dirty="0">
                <a:solidFill>
                  <a:srgbClr val="FFFFFF"/>
                </a:solidFill>
                <a:effectLst/>
                <a:latin typeface="Noto Sans" panose="020B0502040504020204" pitchFamily="34" charset="0"/>
              </a:rPr>
              <a:t>За да се осъществи връзка между два или повече абонатни поста, в опорната мрежа се конфигурира виртуална локална мрежа (</a:t>
            </a:r>
            <a:r>
              <a:rPr lang="ru-RU" sz="2400" b="0" i="0" u="none" strike="noStrike" dirty="0">
                <a:solidFill>
                  <a:srgbClr val="FFFFFF"/>
                </a:solidFill>
                <a:effectLst/>
                <a:latin typeface="inherit"/>
                <a:hlinkClick r:id="rId2" tooltip="VLAN"/>
              </a:rPr>
              <a:t>VLAN</a:t>
            </a:r>
            <a:r>
              <a:rPr lang="ru-RU" sz="2400" b="0" i="0" dirty="0">
                <a:solidFill>
                  <a:srgbClr val="FFFFFF"/>
                </a:solidFill>
                <a:effectLst/>
                <a:latin typeface="Noto Sans" panose="020B0502040504020204" pitchFamily="34" charset="0"/>
              </a:rPr>
              <a:t>). Тъй като връзките в опорната мрежа са подсигурени с резервни, MAN-</a:t>
            </a:r>
            <a:r>
              <a:rPr lang="en-US" sz="2400" b="0" i="0" dirty="0">
                <a:solidFill>
                  <a:srgbClr val="FFFFFF"/>
                </a:solidFill>
                <a:effectLst/>
                <a:latin typeface="Noto Sans" panose="020B0502040504020204" pitchFamily="34" charset="0"/>
              </a:rPr>
              <a:t> </a:t>
            </a:r>
            <a:r>
              <a:rPr lang="ru-RU" sz="2400" b="0" i="0" dirty="0">
                <a:solidFill>
                  <a:srgbClr val="FFFFFF"/>
                </a:solidFill>
                <a:effectLst/>
                <a:latin typeface="Noto Sans" panose="020B0502040504020204" pitchFamily="34" charset="0"/>
              </a:rPr>
              <a:t>връзката е дори по-надеждна от връзката с директен кабел, положен между две точки.</a:t>
            </a:r>
          </a:p>
        </p:txBody>
      </p:sp>
      <p:pic>
        <p:nvPicPr>
          <p:cNvPr id="3074" name="Picture 2" descr="Virtual Local Area Networks (VLANs) – Practical Networking .net">
            <a:extLst>
              <a:ext uri="{FF2B5EF4-FFF2-40B4-BE49-F238E27FC236}">
                <a16:creationId xmlns:a16="http://schemas.microsoft.com/office/drawing/2014/main" xmlns="" id="{187ED534-DFF7-C4A1-5AAC-E699B917F2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35916" y="3663224"/>
            <a:ext cx="3543300" cy="1285875"/>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0857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лавие 1">
            <a:extLst>
              <a:ext uri="{FF2B5EF4-FFF2-40B4-BE49-F238E27FC236}">
                <a16:creationId xmlns:a16="http://schemas.microsoft.com/office/drawing/2014/main" xmlns="" id="{E4944B27-57DF-8669-5B60-5ECB67572084}"/>
              </a:ext>
            </a:extLst>
          </p:cNvPr>
          <p:cNvSpPr>
            <a:spLocks noGrp="1"/>
          </p:cNvSpPr>
          <p:nvPr>
            <p:ph type="body" idx="1"/>
          </p:nvPr>
        </p:nvSpPr>
        <p:spPr>
          <a:xfrm>
            <a:off x="607633" y="678426"/>
            <a:ext cx="4383221" cy="2896582"/>
          </a:xfrm>
        </p:spPr>
        <p:txBody>
          <a:bodyPr/>
          <a:lstStyle/>
          <a:p>
            <a:pPr marL="152400" indent="0" algn="l" fontAlgn="base">
              <a:buNone/>
            </a:pPr>
            <a:r>
              <a:rPr lang="ru-RU" sz="2400" b="0" i="0" dirty="0">
                <a:solidFill>
                  <a:srgbClr val="FFFFFF"/>
                </a:solidFill>
                <a:effectLst/>
                <a:latin typeface="Times New Roman" panose="02020603050405020304" pitchFamily="18" charset="0"/>
                <a:cs typeface="Times New Roman" panose="02020603050405020304" pitchFamily="18" charset="0"/>
              </a:rPr>
              <a:t>Потребители на такива мрежи са:</a:t>
            </a:r>
          </a:p>
          <a:p>
            <a:pPr algn="l" fontAlgn="base">
              <a:buFont typeface="Wingdings" panose="05000000000000000000" pitchFamily="2" charset="2"/>
              <a:buChar char="Ø"/>
            </a:pPr>
            <a:r>
              <a:rPr lang="ru-RU" sz="2400" b="0" i="0" dirty="0">
                <a:solidFill>
                  <a:srgbClr val="FFFFFF"/>
                </a:solidFill>
                <a:effectLst/>
                <a:latin typeface="Times New Roman" panose="02020603050405020304" pitchFamily="18" charset="0"/>
                <a:cs typeface="Times New Roman" panose="02020603050405020304" pitchFamily="18" charset="0"/>
              </a:rPr>
              <a:t>Интернет доставчици, доставчици на информация – за връзка с клиентите си или с други доставчици</a:t>
            </a:r>
          </a:p>
          <a:p>
            <a:pPr algn="l" fontAlgn="base">
              <a:buFont typeface="Wingdings" panose="05000000000000000000" pitchFamily="2" charset="2"/>
              <a:buChar char="Ø"/>
            </a:pPr>
            <a:r>
              <a:rPr lang="ru-RU" sz="2400" b="0" i="0" dirty="0">
                <a:solidFill>
                  <a:srgbClr val="FFFFFF"/>
                </a:solidFill>
                <a:effectLst/>
                <a:latin typeface="Times New Roman" panose="02020603050405020304" pitchFamily="18" charset="0"/>
                <a:cs typeface="Times New Roman" panose="02020603050405020304" pitchFamily="18" charset="0"/>
              </a:rPr>
              <a:t>финансови посредници – за връзка с партньорите си</a:t>
            </a:r>
          </a:p>
          <a:p>
            <a:endParaRPr lang="en-US" dirty="0"/>
          </a:p>
        </p:txBody>
      </p:sp>
      <p:pic>
        <p:nvPicPr>
          <p:cNvPr id="4098" name="Picture 2" descr="Kabelna.com - Доставчици|Пакети|Интернет|Телевизия|Домашен телефон">
            <a:extLst>
              <a:ext uri="{FF2B5EF4-FFF2-40B4-BE49-F238E27FC236}">
                <a16:creationId xmlns:a16="http://schemas.microsoft.com/office/drawing/2014/main" xmlns="" id="{0D58EC85-A725-A389-DBB1-158ACB460F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80857" y="1226697"/>
            <a:ext cx="2428444" cy="2428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591125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Types of Computer Network: LAN, MAN and WAN">
            <a:extLst>
              <a:ext uri="{FF2B5EF4-FFF2-40B4-BE49-F238E27FC236}">
                <a16:creationId xmlns:a16="http://schemas.microsoft.com/office/drawing/2014/main" xmlns="" id="{08E02182-BA18-9B37-3C5E-0793EF8550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6363" y="771340"/>
            <a:ext cx="5715000" cy="28575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54287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3" name="Заглавие 2">
            <a:extLst>
              <a:ext uri="{FF2B5EF4-FFF2-40B4-BE49-F238E27FC236}">
                <a16:creationId xmlns:a16="http://schemas.microsoft.com/office/drawing/2014/main" xmlns="" id="{42949A9F-82CC-10EB-15B8-98E68F828092}"/>
              </a:ext>
            </a:extLst>
          </p:cNvPr>
          <p:cNvSpPr>
            <a:spLocks noGrp="1"/>
          </p:cNvSpPr>
          <p:nvPr>
            <p:ph type="title"/>
          </p:nvPr>
        </p:nvSpPr>
        <p:spPr>
          <a:xfrm>
            <a:off x="4992678" y="441348"/>
            <a:ext cx="3639257" cy="755700"/>
          </a:xfrm>
          <a:solidFill>
            <a:schemeClr val="tx1"/>
          </a:solidFill>
          <a:ln>
            <a:solidFill>
              <a:schemeClr val="bg1"/>
            </a:solidFill>
          </a:ln>
        </p:spPr>
        <p:txBody>
          <a:bodyPr/>
          <a:lstStyle/>
          <a:p>
            <a:r>
              <a:rPr lang="bg-BG" sz="3200" dirty="0">
                <a:latin typeface="Times New Roman" panose="02020603050405020304" pitchFamily="18" charset="0"/>
                <a:cs typeface="Times New Roman" panose="02020603050405020304" pitchFamily="18" charset="0"/>
              </a:rPr>
              <a:t> Визуализация</a:t>
            </a:r>
            <a:endParaRPr lang="en-US" sz="3200" dirty="0">
              <a:latin typeface="Times New Roman" panose="02020603050405020304" pitchFamily="18" charset="0"/>
              <a:cs typeface="Times New Roman" panose="02020603050405020304" pitchFamily="18" charset="0"/>
            </a:endParaRPr>
          </a:p>
        </p:txBody>
      </p:sp>
      <p:pic>
        <p:nvPicPr>
          <p:cNvPr id="2052" name="Picture 4" descr="Визуализация на MAN мрежа">
            <a:extLst>
              <a:ext uri="{FF2B5EF4-FFF2-40B4-BE49-F238E27FC236}">
                <a16:creationId xmlns:a16="http://schemas.microsoft.com/office/drawing/2014/main" xmlns="" id="{8866F80B-9114-53A9-DF1C-7ABDF36C27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16235" y="640080"/>
            <a:ext cx="4155765" cy="3995928"/>
          </a:xfrm>
          <a:prstGeom prst="rect">
            <a:avLst/>
          </a:prstGeom>
          <a:noFill/>
          <a:extLst>
            <a:ext uri="{909E8E84-426E-40DD-AFC4-6F175D3DCCD1}">
              <a14:hiddenFill xmlns:a14="http://schemas.microsoft.com/office/drawing/2010/main">
                <a:solidFill>
                  <a:srgbClr val="FFFFFF"/>
                </a:solidFill>
              </a14:hiddenFill>
            </a:ext>
          </a:extLst>
        </p:spPr>
      </p:pic>
      <p:sp>
        <p:nvSpPr>
          <p:cNvPr id="14" name="Текстово поле 13">
            <a:extLst>
              <a:ext uri="{FF2B5EF4-FFF2-40B4-BE49-F238E27FC236}">
                <a16:creationId xmlns:a16="http://schemas.microsoft.com/office/drawing/2014/main" xmlns="" id="{9C047774-6041-45AB-A34C-89567B9E7C24}"/>
              </a:ext>
            </a:extLst>
          </p:cNvPr>
          <p:cNvSpPr txBox="1"/>
          <p:nvPr/>
        </p:nvSpPr>
        <p:spPr>
          <a:xfrm>
            <a:off x="4767071" y="1325064"/>
            <a:ext cx="4285489" cy="2677656"/>
          </a:xfrm>
          <a:prstGeom prst="rect">
            <a:avLst/>
          </a:prstGeom>
          <a:noFill/>
        </p:spPr>
        <p:txBody>
          <a:bodyPr wrap="square" rtlCol="0">
            <a:spAutoFit/>
          </a:bodyPr>
          <a:lstStyle/>
          <a:p>
            <a:r>
              <a:rPr lang="ru-RU" sz="2400" b="0" i="0" dirty="0">
                <a:solidFill>
                  <a:schemeClr val="bg1"/>
                </a:solidFill>
                <a:effectLst/>
                <a:latin typeface="Times New Roman" panose="02020603050405020304" pitchFamily="18" charset="0"/>
                <a:cs typeface="Times New Roman" panose="02020603050405020304" pitchFamily="18" charset="0"/>
              </a:rPr>
              <a:t>Максималното разстояние, дефиниращо една MAN мрежа, е приблизително 80 км. MAN мрежата покрива по-обширна област от LAN, но е географски по-ограничена от WAN.</a:t>
            </a:r>
            <a:endParaRPr lang="en-US" sz="2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down)">
                                      <p:cBhvr>
                                        <p:cTn id="7" dur="500"/>
                                        <p:tgtEl>
                                          <p:spTgt spid="1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лавие 1">
            <a:extLst>
              <a:ext uri="{FF2B5EF4-FFF2-40B4-BE49-F238E27FC236}">
                <a16:creationId xmlns:a16="http://schemas.microsoft.com/office/drawing/2014/main" xmlns="" id="{1A8AAD7F-F39A-00A2-24CB-07D339FB2AC8}"/>
              </a:ext>
            </a:extLst>
          </p:cNvPr>
          <p:cNvSpPr>
            <a:spLocks noGrp="1"/>
          </p:cNvSpPr>
          <p:nvPr>
            <p:ph type="title"/>
          </p:nvPr>
        </p:nvSpPr>
        <p:spPr>
          <a:xfrm>
            <a:off x="690225" y="131923"/>
            <a:ext cx="7640153" cy="774227"/>
          </a:xfrm>
          <a:solidFill>
            <a:schemeClr val="tx1"/>
          </a:solidFill>
          <a:ln>
            <a:solidFill>
              <a:schemeClr val="bg1"/>
            </a:solidFill>
          </a:ln>
        </p:spPr>
        <p:txBody>
          <a:bodyPr/>
          <a:lstStyle/>
          <a:p>
            <a:r>
              <a:rPr lang="ru-RU" sz="3200" dirty="0">
                <a:latin typeface="Times New Roman" panose="02020603050405020304" pitchFamily="18" charset="0"/>
                <a:cs typeface="Times New Roman" panose="02020603050405020304" pitchFamily="18" charset="0"/>
              </a:rPr>
              <a:t>Как се изграждат MAN мрежите?</a:t>
            </a:r>
            <a:endParaRPr lang="en-US" sz="3200" dirty="0">
              <a:latin typeface="Times New Roman" panose="02020603050405020304" pitchFamily="18" charset="0"/>
              <a:cs typeface="Times New Roman" panose="02020603050405020304" pitchFamily="18" charset="0"/>
            </a:endParaRPr>
          </a:p>
        </p:txBody>
      </p:sp>
      <p:sp>
        <p:nvSpPr>
          <p:cNvPr id="3" name="Подзаглавие 2">
            <a:extLst>
              <a:ext uri="{FF2B5EF4-FFF2-40B4-BE49-F238E27FC236}">
                <a16:creationId xmlns:a16="http://schemas.microsoft.com/office/drawing/2014/main" xmlns="" id="{670D64C1-1CB5-2CD2-7F41-7F7C68B99F5B}"/>
              </a:ext>
            </a:extLst>
          </p:cNvPr>
          <p:cNvSpPr>
            <a:spLocks noGrp="1"/>
          </p:cNvSpPr>
          <p:nvPr>
            <p:ph type="subTitle" idx="1"/>
          </p:nvPr>
        </p:nvSpPr>
        <p:spPr>
          <a:xfrm>
            <a:off x="996991" y="1185770"/>
            <a:ext cx="6790157" cy="3051580"/>
          </a:xfrm>
        </p:spPr>
        <p:txBody>
          <a:bodyPr/>
          <a:lstStyle/>
          <a:p>
            <a:r>
              <a:rPr lang="ru-RU" sz="2400" dirty="0">
                <a:latin typeface="Times New Roman" panose="02020603050405020304" pitchFamily="18" charset="0"/>
                <a:cs typeface="Times New Roman" panose="02020603050405020304" pitchFamily="18" charset="0"/>
              </a:rPr>
              <a:t>Подобно на WAN, MAN се състои от свързани помежду си LAN мрежи. Тъй като MAN мрежите са по-малки, те обикновено са по-ефективни от WAN мрежите, тъй като не се налага данните да се пренасят на големи разстояния. Обикновено MAN мрежите обединяват мрежите на няколко организации, вместо да се управляват от една организация.</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01271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о поле 2">
            <a:extLst>
              <a:ext uri="{FF2B5EF4-FFF2-40B4-BE49-F238E27FC236}">
                <a16:creationId xmlns:a16="http://schemas.microsoft.com/office/drawing/2014/main" xmlns="" id="{10F73AEB-CC6D-AC79-FB4B-21ABFAF9DD76}"/>
              </a:ext>
            </a:extLst>
          </p:cNvPr>
          <p:cNvSpPr txBox="1"/>
          <p:nvPr/>
        </p:nvSpPr>
        <p:spPr>
          <a:xfrm>
            <a:off x="690225" y="289069"/>
            <a:ext cx="4790276" cy="4154984"/>
          </a:xfrm>
          <a:prstGeom prst="rect">
            <a:avLst/>
          </a:prstGeom>
          <a:noFill/>
        </p:spPr>
        <p:txBody>
          <a:bodyPr wrap="square">
            <a:spAutoFit/>
          </a:bodyPr>
          <a:lstStyle/>
          <a:p>
            <a:r>
              <a:rPr lang="en-US" sz="2400" dirty="0">
                <a:solidFill>
                  <a:schemeClr val="bg1"/>
                </a:solidFill>
              </a:rPr>
              <a:t>Повечето MAN мрежи използват оптични кабели за създаване на връзки между LAN мрежи. Често MAN работи с "тъмни влакна" - неизползвани преди това оптични кабели, които могат да пренасят трафик. Тези оптични кабели могат да бъдат наети от частни доставчици на интернет услуги (ISP).</a:t>
            </a:r>
          </a:p>
        </p:txBody>
      </p:sp>
      <p:pic>
        <p:nvPicPr>
          <p:cNvPr id="8194" name="Picture 2" descr="Internet Service Provider (ISP) - Network Encyclopedia">
            <a:extLst>
              <a:ext uri="{FF2B5EF4-FFF2-40B4-BE49-F238E27FC236}">
                <a16:creationId xmlns:a16="http://schemas.microsoft.com/office/drawing/2014/main" xmlns="" id="{505DD127-AB92-4EFD-6F2C-7AEB52DA6E1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63669" y="1335596"/>
            <a:ext cx="2914067" cy="2061930"/>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37145420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Текстово поле 2">
            <a:extLst>
              <a:ext uri="{FF2B5EF4-FFF2-40B4-BE49-F238E27FC236}">
                <a16:creationId xmlns:a16="http://schemas.microsoft.com/office/drawing/2014/main" xmlns="" id="{10F73AEB-CC6D-AC79-FB4B-21ABFAF9DD76}"/>
              </a:ext>
            </a:extLst>
          </p:cNvPr>
          <p:cNvSpPr txBox="1"/>
          <p:nvPr/>
        </p:nvSpPr>
        <p:spPr>
          <a:xfrm>
            <a:off x="690225" y="289069"/>
            <a:ext cx="4790276" cy="2677656"/>
          </a:xfrm>
          <a:prstGeom prst="rect">
            <a:avLst/>
          </a:prstGeom>
          <a:noFill/>
        </p:spPr>
        <p:txBody>
          <a:bodyPr wrap="square">
            <a:spAutoFit/>
          </a:bodyPr>
          <a:lstStyle/>
          <a:p>
            <a:endParaRPr lang="ru-RU" sz="2400" dirty="0">
              <a:solidFill>
                <a:schemeClr val="bg1"/>
              </a:solidFill>
            </a:endParaRPr>
          </a:p>
          <a:p>
            <a:r>
              <a:rPr lang="ru-RU" sz="2400" dirty="0">
                <a:solidFill>
                  <a:schemeClr val="bg1"/>
                </a:solidFill>
              </a:rPr>
              <a:t>В някои случаи този модел е обърнат: градската управа изгражда и поддържа столична оптична мрежа, след което отдава под наем "тъмни" влакна на частни компании.</a:t>
            </a:r>
            <a:endParaRPr lang="en-US" sz="2400" dirty="0">
              <a:solidFill>
                <a:schemeClr val="bg1"/>
              </a:solidFill>
            </a:endParaRPr>
          </a:p>
        </p:txBody>
      </p:sp>
      <p:pic>
        <p:nvPicPr>
          <p:cNvPr id="9220" name="Picture 4" descr="А1 разшири покритието на оптичната си мрежа - Столица.bg">
            <a:extLst>
              <a:ext uri="{FF2B5EF4-FFF2-40B4-BE49-F238E27FC236}">
                <a16:creationId xmlns:a16="http://schemas.microsoft.com/office/drawing/2014/main" xmlns="" id="{41D6121F-656B-8523-F273-49546516037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0410" y="2183522"/>
            <a:ext cx="3645869" cy="242558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292977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2"/>
        <p:cNvGrpSpPr/>
        <p:nvPr/>
      </p:nvGrpSpPr>
      <p:grpSpPr>
        <a:xfrm>
          <a:off x="0" y="0"/>
          <a:ext cx="0" cy="0"/>
          <a:chOff x="0" y="0"/>
          <a:chExt cx="0" cy="0"/>
        </a:xfrm>
      </p:grpSpPr>
      <p:sp>
        <p:nvSpPr>
          <p:cNvPr id="8" name="Текстово поле 7">
            <a:extLst>
              <a:ext uri="{FF2B5EF4-FFF2-40B4-BE49-F238E27FC236}">
                <a16:creationId xmlns:a16="http://schemas.microsoft.com/office/drawing/2014/main" xmlns="" id="{515F97E3-01A5-9024-C754-58E0CD446F6E}"/>
              </a:ext>
            </a:extLst>
          </p:cNvPr>
          <p:cNvSpPr txBox="1"/>
          <p:nvPr/>
        </p:nvSpPr>
        <p:spPr>
          <a:xfrm>
            <a:off x="2008094" y="241748"/>
            <a:ext cx="6992470" cy="584775"/>
          </a:xfrm>
          <a:prstGeom prst="rect">
            <a:avLst/>
          </a:prstGeom>
          <a:solidFill>
            <a:schemeClr val="tx1"/>
          </a:solidFill>
          <a:ln>
            <a:solidFill>
              <a:schemeClr val="bg1"/>
            </a:solidFill>
          </a:ln>
        </p:spPr>
        <p:txBody>
          <a:bodyPr wrap="square" rtlCol="0">
            <a:spAutoFit/>
          </a:bodyPr>
          <a:lstStyle/>
          <a:p>
            <a:r>
              <a:rPr lang="en-US" sz="3200" dirty="0">
                <a:solidFill>
                  <a:schemeClr val="accent1"/>
                </a:solidFill>
                <a:latin typeface="Times New Roman" panose="02020603050405020304" pitchFamily="18" charset="0"/>
                <a:cs typeface="Times New Roman" panose="02020603050405020304" pitchFamily="18" charset="0"/>
              </a:rPr>
              <a:t> </a:t>
            </a:r>
            <a:r>
              <a:rPr lang="bg-BG" sz="3200" dirty="0">
                <a:solidFill>
                  <a:schemeClr val="accent1"/>
                </a:solidFill>
                <a:latin typeface="Times New Roman" panose="02020603050405020304" pitchFamily="18" charset="0"/>
                <a:cs typeface="Times New Roman" panose="02020603050405020304" pitchFamily="18" charset="0"/>
              </a:rPr>
              <a:t>Кабели</a:t>
            </a:r>
            <a:endParaRPr lang="en-US" sz="3200" dirty="0">
              <a:solidFill>
                <a:schemeClr val="accent1"/>
              </a:solidFill>
              <a:latin typeface="Times New Roman" panose="02020603050405020304" pitchFamily="18" charset="0"/>
              <a:cs typeface="Times New Roman" panose="02020603050405020304" pitchFamily="18" charset="0"/>
            </a:endParaRPr>
          </a:p>
        </p:txBody>
      </p:sp>
      <p:sp>
        <p:nvSpPr>
          <p:cNvPr id="10" name="Текстово поле 9">
            <a:extLst>
              <a:ext uri="{FF2B5EF4-FFF2-40B4-BE49-F238E27FC236}">
                <a16:creationId xmlns:a16="http://schemas.microsoft.com/office/drawing/2014/main" xmlns="" id="{A7D9A6FA-3399-3FF9-F4DF-505B20F38D5C}"/>
              </a:ext>
            </a:extLst>
          </p:cNvPr>
          <p:cNvSpPr txBox="1"/>
          <p:nvPr/>
        </p:nvSpPr>
        <p:spPr>
          <a:xfrm>
            <a:off x="316753" y="962212"/>
            <a:ext cx="7195671" cy="3046988"/>
          </a:xfrm>
          <a:prstGeom prst="rect">
            <a:avLst/>
          </a:prstGeom>
          <a:noFill/>
        </p:spPr>
        <p:txBody>
          <a:bodyPr wrap="square">
            <a:spAutoFit/>
          </a:bodyPr>
          <a:lstStyle/>
          <a:p>
            <a:pPr algn="l"/>
            <a:r>
              <a:rPr lang="ru-RU" sz="2400" b="0" i="0" dirty="0">
                <a:solidFill>
                  <a:schemeClr val="bg1"/>
                </a:solidFill>
                <a:effectLst/>
                <a:latin typeface="Times New Roman" panose="02020603050405020304" pitchFamily="18" charset="0"/>
                <a:cs typeface="Times New Roman" panose="02020603050405020304" pitchFamily="18" charset="0"/>
              </a:rPr>
              <a:t>Оптоволоконният кабел и усуканите двойки кабели се използват за връзка за комуникация през мрежи MAN.</a:t>
            </a:r>
            <a:endParaRPr lang="en-US" sz="2400" b="0" i="0" dirty="0">
              <a:solidFill>
                <a:schemeClr val="bg1"/>
              </a:solidFill>
              <a:effectLst/>
              <a:latin typeface="Times New Roman" panose="02020603050405020304" pitchFamily="18" charset="0"/>
              <a:cs typeface="Times New Roman" panose="02020603050405020304" pitchFamily="18" charset="0"/>
            </a:endParaRPr>
          </a:p>
          <a:p>
            <a:pPr algn="l"/>
            <a:endParaRPr lang="ru-RU" sz="2400" b="0" i="0" dirty="0">
              <a:solidFill>
                <a:schemeClr val="bg1"/>
              </a:solidFill>
              <a:effectLst/>
              <a:latin typeface="Times New Roman" panose="02020603050405020304" pitchFamily="18" charset="0"/>
              <a:cs typeface="Times New Roman" panose="02020603050405020304" pitchFamily="18" charset="0"/>
            </a:endParaRPr>
          </a:p>
          <a:p>
            <a:pPr algn="l"/>
            <a:r>
              <a:rPr lang="ru-RU" sz="2400" b="0" i="0" dirty="0">
                <a:solidFill>
                  <a:schemeClr val="bg1"/>
                </a:solidFill>
                <a:effectLst/>
                <a:latin typeface="Times New Roman" panose="02020603050405020304" pitchFamily="18" charset="0"/>
                <a:cs typeface="Times New Roman" panose="02020603050405020304" pitchFamily="18" charset="0"/>
              </a:rPr>
              <a:t>MAN също може да се разглежда като група от една или повече LAN мрежи, свързани заедно чрез един кабел. RS-232, X-25, Frame Relay и ATM са общата практика на протокола за комуникация в MAN.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 calcmode="lin" valueType="num">
                                      <p:cBhvr>
                                        <p:cTn id="7" dur="1000" fill="hold"/>
                                        <p:tgtEl>
                                          <p:spTgt spid="10">
                                            <p:txEl>
                                              <p:pRg st="0" end="0"/>
                                            </p:txEl>
                                          </p:spTgt>
                                        </p:tgtEl>
                                        <p:attrNameLst>
                                          <p:attrName>ppt_w</p:attrName>
                                        </p:attrNameLst>
                                      </p:cBhvr>
                                      <p:tavLst>
                                        <p:tav tm="0">
                                          <p:val>
                                            <p:fltVal val="0"/>
                                          </p:val>
                                        </p:tav>
                                        <p:tav tm="100000">
                                          <p:val>
                                            <p:strVal val="#ppt_w"/>
                                          </p:val>
                                        </p:tav>
                                      </p:tavLst>
                                    </p:anim>
                                    <p:anim calcmode="lin" valueType="num">
                                      <p:cBhvr>
                                        <p:cTn id="8" dur="1000" fill="hold"/>
                                        <p:tgtEl>
                                          <p:spTgt spid="10">
                                            <p:txEl>
                                              <p:pRg st="0" end="0"/>
                                            </p:txEl>
                                          </p:spTgt>
                                        </p:tgtEl>
                                        <p:attrNameLst>
                                          <p:attrName>ppt_h</p:attrName>
                                        </p:attrNameLst>
                                      </p:cBhvr>
                                      <p:tavLst>
                                        <p:tav tm="0">
                                          <p:val>
                                            <p:fltVal val="0"/>
                                          </p:val>
                                        </p:tav>
                                        <p:tav tm="100000">
                                          <p:val>
                                            <p:strVal val="#ppt_h"/>
                                          </p:val>
                                        </p:tav>
                                      </p:tavLst>
                                    </p:anim>
                                    <p:anim calcmode="lin" valueType="num">
                                      <p:cBhvr>
                                        <p:cTn id="9" dur="1000" fill="hold"/>
                                        <p:tgtEl>
                                          <p:spTgt spid="10">
                                            <p:txEl>
                                              <p:pRg st="0" end="0"/>
                                            </p:txEl>
                                          </p:spTgt>
                                        </p:tgtEl>
                                        <p:attrNameLst>
                                          <p:attrName>style.rotation</p:attrName>
                                        </p:attrNameLst>
                                      </p:cBhvr>
                                      <p:tavLst>
                                        <p:tav tm="0">
                                          <p:val>
                                            <p:fltVal val="90"/>
                                          </p:val>
                                        </p:tav>
                                        <p:tav tm="100000">
                                          <p:val>
                                            <p:fltVal val="0"/>
                                          </p:val>
                                        </p:tav>
                                      </p:tavLst>
                                    </p:anim>
                                    <p:animEffect transition="in" filter="fade">
                                      <p:cBhvr>
                                        <p:cTn id="10" dur="1000"/>
                                        <p:tgtEl>
                                          <p:spTgt spid="10">
                                            <p:txEl>
                                              <p:pRg st="0" end="0"/>
                                            </p:txEl>
                                          </p:spTgt>
                                        </p:tgtEl>
                                      </p:cBhvr>
                                    </p:animEffect>
                                  </p:childTnLst>
                                </p:cTn>
                              </p:par>
                              <p:par>
                                <p:cTn id="11" presetID="31" presetClass="entr" presetSubtype="0" fill="hold" nodeType="withEffect">
                                  <p:stCondLst>
                                    <p:cond delay="0"/>
                                  </p:stCondLst>
                                  <p:childTnLst>
                                    <p:set>
                                      <p:cBhvr>
                                        <p:cTn id="12" dur="1" fill="hold">
                                          <p:stCondLst>
                                            <p:cond delay="0"/>
                                          </p:stCondLst>
                                        </p:cTn>
                                        <p:tgtEl>
                                          <p:spTgt spid="10">
                                            <p:txEl>
                                              <p:pRg st="2" end="2"/>
                                            </p:txEl>
                                          </p:spTgt>
                                        </p:tgtEl>
                                        <p:attrNameLst>
                                          <p:attrName>style.visibility</p:attrName>
                                        </p:attrNameLst>
                                      </p:cBhvr>
                                      <p:to>
                                        <p:strVal val="visible"/>
                                      </p:to>
                                    </p:set>
                                    <p:anim calcmode="lin" valueType="num">
                                      <p:cBhvr>
                                        <p:cTn id="13" dur="1000" fill="hold"/>
                                        <p:tgtEl>
                                          <p:spTgt spid="10">
                                            <p:txEl>
                                              <p:pRg st="2" end="2"/>
                                            </p:txEl>
                                          </p:spTgt>
                                        </p:tgtEl>
                                        <p:attrNameLst>
                                          <p:attrName>ppt_w</p:attrName>
                                        </p:attrNameLst>
                                      </p:cBhvr>
                                      <p:tavLst>
                                        <p:tav tm="0">
                                          <p:val>
                                            <p:fltVal val="0"/>
                                          </p:val>
                                        </p:tav>
                                        <p:tav tm="100000">
                                          <p:val>
                                            <p:strVal val="#ppt_w"/>
                                          </p:val>
                                        </p:tav>
                                      </p:tavLst>
                                    </p:anim>
                                    <p:anim calcmode="lin" valueType="num">
                                      <p:cBhvr>
                                        <p:cTn id="14" dur="1000" fill="hold"/>
                                        <p:tgtEl>
                                          <p:spTgt spid="10">
                                            <p:txEl>
                                              <p:pRg st="2" end="2"/>
                                            </p:txEl>
                                          </p:spTgt>
                                        </p:tgtEl>
                                        <p:attrNameLst>
                                          <p:attrName>ppt_h</p:attrName>
                                        </p:attrNameLst>
                                      </p:cBhvr>
                                      <p:tavLst>
                                        <p:tav tm="0">
                                          <p:val>
                                            <p:fltVal val="0"/>
                                          </p:val>
                                        </p:tav>
                                        <p:tav tm="100000">
                                          <p:val>
                                            <p:strVal val="#ppt_h"/>
                                          </p:val>
                                        </p:tav>
                                      </p:tavLst>
                                    </p:anim>
                                    <p:anim calcmode="lin" valueType="num">
                                      <p:cBhvr>
                                        <p:cTn id="15" dur="1000" fill="hold"/>
                                        <p:tgtEl>
                                          <p:spTgt spid="10">
                                            <p:txEl>
                                              <p:pRg st="2" end="2"/>
                                            </p:txEl>
                                          </p:spTgt>
                                        </p:tgtEl>
                                        <p:attrNameLst>
                                          <p:attrName>style.rotation</p:attrName>
                                        </p:attrNameLst>
                                      </p:cBhvr>
                                      <p:tavLst>
                                        <p:tav tm="0">
                                          <p:val>
                                            <p:fltVal val="90"/>
                                          </p:val>
                                        </p:tav>
                                        <p:tav tm="100000">
                                          <p:val>
                                            <p:fltVal val="0"/>
                                          </p:val>
                                        </p:tav>
                                      </p:tavLst>
                                    </p:anim>
                                    <p:animEffect transition="in" filter="fade">
                                      <p:cBhvr>
                                        <p:cTn id="16" dur="1000"/>
                                        <p:tgtEl>
                                          <p:spTgt spid="10">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pic>
        <p:nvPicPr>
          <p:cNvPr id="3074" name="Picture 2" descr="Мрежа на MAN">
            <a:extLst>
              <a:ext uri="{FF2B5EF4-FFF2-40B4-BE49-F238E27FC236}">
                <a16:creationId xmlns:a16="http://schemas.microsoft.com/office/drawing/2014/main" xmlns="" id="{3816498B-6F73-2A02-5C62-FAE311EA3CE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7923" y="597647"/>
            <a:ext cx="7108153" cy="3151281"/>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074"/>
                                        </p:tgtEl>
                                        <p:attrNameLst>
                                          <p:attrName>style.visibility</p:attrName>
                                        </p:attrNameLst>
                                      </p:cBhvr>
                                      <p:to>
                                        <p:strVal val="visible"/>
                                      </p:to>
                                    </p:set>
                                    <p:animEffect transition="in" filter="fade">
                                      <p:cBhvr>
                                        <p:cTn id="7" dur="1000"/>
                                        <p:tgtEl>
                                          <p:spTgt spid="3074"/>
                                        </p:tgtEl>
                                      </p:cBhvr>
                                    </p:animEffect>
                                    <p:anim calcmode="lin" valueType="num">
                                      <p:cBhvr>
                                        <p:cTn id="8" dur="1000" fill="hold"/>
                                        <p:tgtEl>
                                          <p:spTgt spid="3074"/>
                                        </p:tgtEl>
                                        <p:attrNameLst>
                                          <p:attrName>ppt_x</p:attrName>
                                        </p:attrNameLst>
                                      </p:cBhvr>
                                      <p:tavLst>
                                        <p:tav tm="0">
                                          <p:val>
                                            <p:strVal val="#ppt_x"/>
                                          </p:val>
                                        </p:tav>
                                        <p:tav tm="100000">
                                          <p:val>
                                            <p:strVal val="#ppt_x"/>
                                          </p:val>
                                        </p:tav>
                                      </p:tavLst>
                                    </p:anim>
                                    <p:anim calcmode="lin" valueType="num">
                                      <p:cBhvr>
                                        <p:cTn id="9" dur="1000" fill="hold"/>
                                        <p:tgtEl>
                                          <p:spTgt spid="307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 name="Заглавие 2">
            <a:extLst>
              <a:ext uri="{FF2B5EF4-FFF2-40B4-BE49-F238E27FC236}">
                <a16:creationId xmlns:a16="http://schemas.microsoft.com/office/drawing/2014/main" xmlns="" id="{F533BC8C-889B-A70D-3177-2F1FA1587D6C}"/>
              </a:ext>
            </a:extLst>
          </p:cNvPr>
          <p:cNvSpPr>
            <a:spLocks noGrp="1"/>
          </p:cNvSpPr>
          <p:nvPr>
            <p:ph type="title"/>
          </p:nvPr>
        </p:nvSpPr>
        <p:spPr>
          <a:xfrm>
            <a:off x="3527999" y="118092"/>
            <a:ext cx="5142000" cy="515100"/>
          </a:xfrm>
          <a:solidFill>
            <a:schemeClr val="tx1"/>
          </a:solidFill>
          <a:ln>
            <a:solidFill>
              <a:schemeClr val="bg1"/>
            </a:solidFill>
          </a:ln>
        </p:spPr>
        <p:txBody>
          <a:bodyPr/>
          <a:lstStyle/>
          <a:p>
            <a:r>
              <a:rPr lang="bg-BG" sz="3200" dirty="0">
                <a:latin typeface="Times New Roman" panose="02020603050405020304" pitchFamily="18" charset="0"/>
                <a:cs typeface="Times New Roman" panose="02020603050405020304" pitchFamily="18" charset="0"/>
              </a:rPr>
              <a:t>Приложение на </a:t>
            </a:r>
            <a:r>
              <a:rPr lang="en-US" sz="3200" dirty="0">
                <a:latin typeface="Times New Roman" panose="02020603050405020304" pitchFamily="18" charset="0"/>
                <a:cs typeface="Times New Roman" panose="02020603050405020304" pitchFamily="18" charset="0"/>
              </a:rPr>
              <a:t>MAN</a:t>
            </a:r>
          </a:p>
        </p:txBody>
      </p:sp>
      <p:sp>
        <p:nvSpPr>
          <p:cNvPr id="6" name="Текстово поле 5">
            <a:extLst>
              <a:ext uri="{FF2B5EF4-FFF2-40B4-BE49-F238E27FC236}">
                <a16:creationId xmlns:a16="http://schemas.microsoft.com/office/drawing/2014/main" xmlns="" id="{6C2CF2AC-FF5B-88DA-31D8-44C4105CF8E8}"/>
              </a:ext>
            </a:extLst>
          </p:cNvPr>
          <p:cNvSpPr txBox="1"/>
          <p:nvPr/>
        </p:nvSpPr>
        <p:spPr>
          <a:xfrm>
            <a:off x="185271" y="633192"/>
            <a:ext cx="7117977" cy="4154984"/>
          </a:xfrm>
          <a:prstGeom prst="rect">
            <a:avLst/>
          </a:prstGeom>
          <a:noFill/>
        </p:spPr>
        <p:txBody>
          <a:bodyPr wrap="square" rtlCol="0">
            <a:spAutoFit/>
          </a:bodyPr>
          <a:lstStyle/>
          <a:p>
            <a:r>
              <a:rPr lang="ru-RU" sz="2400" dirty="0">
                <a:solidFill>
                  <a:srgbClr val="FFFF00"/>
                </a:solidFill>
                <a:effectLst>
                  <a:outerShdw blurRad="38100" dist="38100" dir="2700000" algn="tl">
                    <a:srgbClr val="000000">
                      <a:alpha val="43137"/>
                    </a:srgbClr>
                  </a:outerShdw>
                </a:effectLst>
                <a:highlight>
                  <a:srgbClr val="0000FF"/>
                </a:highlight>
                <a:latin typeface="Times New Roman" panose="02020603050405020304" pitchFamily="18" charset="0"/>
                <a:cs typeface="Times New Roman" panose="02020603050405020304" pitchFamily="18" charset="0"/>
              </a:rPr>
              <a:t>1)</a:t>
            </a:r>
            <a:r>
              <a:rPr lang="ru-RU" sz="2400" dirty="0">
                <a:solidFill>
                  <a:srgbClr val="FFFF00"/>
                </a:solidFill>
                <a:latin typeface="Times New Roman" panose="02020603050405020304" pitchFamily="18" charset="0"/>
                <a:cs typeface="Times New Roman" panose="02020603050405020304" pitchFamily="18" charset="0"/>
              </a:rPr>
              <a:t> </a:t>
            </a:r>
            <a:r>
              <a:rPr lang="ru-RU" sz="2400" dirty="0">
                <a:solidFill>
                  <a:schemeClr val="bg1"/>
                </a:solidFill>
                <a:latin typeface="Times New Roman" panose="02020603050405020304" pitchFamily="18" charset="0"/>
                <a:cs typeface="Times New Roman" panose="02020603050405020304" pitchFamily="18" charset="0"/>
              </a:rPr>
              <a:t>Различни държавни органи използват мрежата на MAN за взаимосвързаност между офисите на техните отдели, разположени на различни места.</a:t>
            </a:r>
          </a:p>
          <a:p>
            <a:endParaRPr lang="ru-RU" sz="2400" dirty="0">
              <a:solidFill>
                <a:schemeClr val="bg1"/>
              </a:solidFill>
              <a:latin typeface="Times New Roman" panose="02020603050405020304" pitchFamily="18" charset="0"/>
              <a:cs typeface="Times New Roman" panose="02020603050405020304" pitchFamily="18" charset="0"/>
            </a:endParaRPr>
          </a:p>
          <a:p>
            <a:r>
              <a:rPr lang="ru-RU" sz="2400" dirty="0">
                <a:solidFill>
                  <a:schemeClr val="bg1"/>
                </a:solidFill>
                <a:latin typeface="Times New Roman" panose="02020603050405020304" pitchFamily="18" charset="0"/>
                <a:cs typeface="Times New Roman" panose="02020603050405020304" pitchFamily="18" charset="0"/>
              </a:rPr>
              <a:t>Например , MAN може да се използва за свързване на различни полицейски участъци, които се намират в рамките на област или град помежду си. Служителите могат лесно да комуникират помежду си и бързо да предават важните данни и спешно съобщение през тази мрежа, без да е необходима интернет връзка. </a:t>
            </a:r>
            <a:endParaRPr lang="en-US" sz="24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heel(1)">
                                      <p:cBhvr>
                                        <p:cTn id="7" dur="2000"/>
                                        <p:tgtEl>
                                          <p:spTgt spid="6">
                                            <p:txEl>
                                              <p:pRg st="0" end="0"/>
                                            </p:txEl>
                                          </p:spTgt>
                                        </p:tgtEl>
                                      </p:cBhvr>
                                    </p:animEffect>
                                  </p:childTnLst>
                                </p:cTn>
                              </p:par>
                              <p:par>
                                <p:cTn id="8" presetID="21" presetClass="entr" presetSubtype="1" fill="hold" nodeType="withEffect">
                                  <p:stCondLst>
                                    <p:cond delay="0"/>
                                  </p:stCondLst>
                                  <p:childTnLst>
                                    <p:set>
                                      <p:cBhvr>
                                        <p:cTn id="9" dur="1" fill="hold">
                                          <p:stCondLst>
                                            <p:cond delay="0"/>
                                          </p:stCondLst>
                                        </p:cTn>
                                        <p:tgtEl>
                                          <p:spTgt spid="6">
                                            <p:txEl>
                                              <p:pRg st="2" end="2"/>
                                            </p:txEl>
                                          </p:spTgt>
                                        </p:tgtEl>
                                        <p:attrNameLst>
                                          <p:attrName>style.visibility</p:attrName>
                                        </p:attrNameLst>
                                      </p:cBhvr>
                                      <p:to>
                                        <p:strVal val="visible"/>
                                      </p:to>
                                    </p:set>
                                    <p:animEffect transition="in" filter="wheel(1)">
                                      <p:cBhvr>
                                        <p:cTn id="10" dur="20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sp>
        <p:nvSpPr>
          <p:cNvPr id="5" name="Текстово поле 4">
            <a:extLst>
              <a:ext uri="{FF2B5EF4-FFF2-40B4-BE49-F238E27FC236}">
                <a16:creationId xmlns:a16="http://schemas.microsoft.com/office/drawing/2014/main" xmlns="" id="{A20EE2D7-15D3-5785-54DB-B82C8DFD0253}"/>
              </a:ext>
            </a:extLst>
          </p:cNvPr>
          <p:cNvSpPr txBox="1"/>
          <p:nvPr/>
        </p:nvSpPr>
        <p:spPr>
          <a:xfrm>
            <a:off x="304799" y="188741"/>
            <a:ext cx="4978401" cy="4154984"/>
          </a:xfrm>
          <a:prstGeom prst="rect">
            <a:avLst/>
          </a:prstGeom>
          <a:noFill/>
        </p:spPr>
        <p:txBody>
          <a:bodyPr wrap="square">
            <a:spAutoFit/>
          </a:bodyPr>
          <a:lstStyle/>
          <a:p>
            <a:r>
              <a:rPr lang="ru-RU" sz="2400" dirty="0">
                <a:solidFill>
                  <a:srgbClr val="FFFF00"/>
                </a:solidFill>
                <a:highlight>
                  <a:srgbClr val="0000FF"/>
                </a:highlight>
                <a:latin typeface="Times New Roman" panose="02020603050405020304" pitchFamily="18" charset="0"/>
                <a:cs typeface="Times New Roman" panose="02020603050405020304" pitchFamily="18" charset="0"/>
              </a:rPr>
              <a:t>2) </a:t>
            </a:r>
            <a:r>
              <a:rPr lang="ru-RU" sz="2400" dirty="0">
                <a:solidFill>
                  <a:schemeClr val="bg1"/>
                </a:solidFill>
                <a:latin typeface="Times New Roman" panose="02020603050405020304" pitchFamily="18" charset="0"/>
                <a:cs typeface="Times New Roman" panose="02020603050405020304" pitchFamily="18" charset="0"/>
              </a:rPr>
              <a:t>Всяка частна фирма може също да използва мрежа на MAN за взаимосвързаност между техните офиси, разположени в два различни града на област. Фирмата може да споделя ресурси като файл с данни, изображения, софтуерни и хардуерни части и др. Помежду си. По този начин осигурява споделяне на ресурси на голямо разстояние от LAN мрежите.</a:t>
            </a:r>
            <a:endParaRPr lang="en-US" sz="2400" dirty="0">
              <a:solidFill>
                <a:schemeClr val="bg1"/>
              </a:solidFill>
              <a:latin typeface="Times New Roman" panose="02020603050405020304" pitchFamily="18" charset="0"/>
              <a:cs typeface="Times New Roman" panose="02020603050405020304" pitchFamily="18" charset="0"/>
            </a:endParaRPr>
          </a:p>
        </p:txBody>
      </p:sp>
      <p:pic>
        <p:nvPicPr>
          <p:cNvPr id="4100" name="Picture 4" descr="Metropolitan Area Network (MAN) - CyberHoot">
            <a:extLst>
              <a:ext uri="{FF2B5EF4-FFF2-40B4-BE49-F238E27FC236}">
                <a16:creationId xmlns:a16="http://schemas.microsoft.com/office/drawing/2014/main" xmlns="" id="{794C7400-919F-0A31-9D0C-6CABEB81FD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50541" y="1354801"/>
            <a:ext cx="3483349" cy="2426064"/>
          </a:xfrm>
          <a:prstGeom prst="roundRect">
            <a:avLst>
              <a:gd name="adj" fmla="val 7306"/>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circle(in)">
                                      <p:cBhvr>
                                        <p:cTn id="7" dur="20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26"/>
        <p:cNvGrpSpPr/>
        <p:nvPr/>
      </p:nvGrpSpPr>
      <p:grpSpPr>
        <a:xfrm>
          <a:off x="0" y="0"/>
          <a:ext cx="0" cy="0"/>
          <a:chOff x="0" y="0"/>
          <a:chExt cx="0" cy="0"/>
        </a:xfrm>
      </p:grpSpPr>
      <p:pic>
        <p:nvPicPr>
          <p:cNvPr id="11270" name="Picture 6" descr="US smaller airport using incentives to attract new LCC services | CAPA">
            <a:extLst>
              <a:ext uri="{FF2B5EF4-FFF2-40B4-BE49-F238E27FC236}">
                <a16:creationId xmlns:a16="http://schemas.microsoft.com/office/drawing/2014/main" xmlns="" id="{E4FAB5BF-0402-5D91-E7EA-E7EFFCAD89C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143500"/>
          </a:xfrm>
          <a:prstGeom prst="rect">
            <a:avLst/>
          </a:prstGeom>
          <a:noFill/>
          <a:extLst>
            <a:ext uri="{909E8E84-426E-40DD-AFC4-6F175D3DCCD1}">
              <a14:hiddenFill xmlns:a14="http://schemas.microsoft.com/office/drawing/2010/main">
                <a:solidFill>
                  <a:srgbClr val="FFFFFF"/>
                </a:solidFill>
              </a14:hiddenFill>
            </a:ext>
          </a:extLst>
        </p:spPr>
      </p:pic>
      <p:sp>
        <p:nvSpPr>
          <p:cNvPr id="4" name="Текстово поле 3">
            <a:extLst>
              <a:ext uri="{FF2B5EF4-FFF2-40B4-BE49-F238E27FC236}">
                <a16:creationId xmlns:a16="http://schemas.microsoft.com/office/drawing/2014/main" xmlns="" id="{0C352CFD-FDB4-014A-F093-6A8AB73D394A}"/>
              </a:ext>
            </a:extLst>
          </p:cNvPr>
          <p:cNvSpPr txBox="1"/>
          <p:nvPr/>
        </p:nvSpPr>
        <p:spPr>
          <a:xfrm>
            <a:off x="112087" y="64893"/>
            <a:ext cx="8837233" cy="4647426"/>
          </a:xfrm>
          <a:prstGeom prst="rect">
            <a:avLst/>
          </a:prstGeom>
          <a:noFill/>
        </p:spPr>
        <p:txBody>
          <a:bodyPr wrap="square">
            <a:spAutoFit/>
          </a:bodyPr>
          <a:lstStyle/>
          <a:p>
            <a:r>
              <a:rPr lang="en-US" sz="3200" dirty="0">
                <a:solidFill>
                  <a:srgbClr val="FFFF00"/>
                </a:solidFill>
                <a:latin typeface="Times New Roman" panose="02020603050405020304" pitchFamily="18" charset="0"/>
                <a:cs typeface="Times New Roman" panose="02020603050405020304" pitchFamily="18" charset="0"/>
              </a:rPr>
              <a:t>Употребите на MAN са:</a:t>
            </a:r>
          </a:p>
          <a:p>
            <a:endParaRPr lang="en-US" sz="2400" dirty="0">
              <a:solidFill>
                <a:srgbClr val="FFFF00"/>
              </a:solidFill>
              <a:latin typeface="Times New Roman" panose="02020603050405020304" pitchFamily="18" charset="0"/>
              <a:cs typeface="Times New Roman" panose="02020603050405020304" pitchFamily="18" charset="0"/>
            </a:endParaRPr>
          </a:p>
          <a:p>
            <a:pPr marL="457200" indent="-457200">
              <a:buClr>
                <a:srgbClr val="00B050"/>
              </a:buClr>
              <a:buFont typeface="+mj-lt"/>
              <a:buAutoNum type="arabicParenR"/>
            </a:pPr>
            <a:r>
              <a:rPr lang="en-US" sz="2400" dirty="0">
                <a:solidFill>
                  <a:srgbClr val="FFFF00"/>
                </a:solidFill>
                <a:latin typeface="Times New Roman" panose="02020603050405020304" pitchFamily="18" charset="0"/>
                <a:cs typeface="Times New Roman" panose="02020603050405020304" pitchFamily="18" charset="0"/>
              </a:rPr>
              <a:t>Използва се в цифровата кабелна телевизия.</a:t>
            </a:r>
          </a:p>
          <a:p>
            <a:pPr marL="457200" indent="-457200">
              <a:buClr>
                <a:srgbClr val="00B050"/>
              </a:buClr>
              <a:buFont typeface="+mj-lt"/>
              <a:buAutoNum type="arabicParenR"/>
            </a:pPr>
            <a:r>
              <a:rPr lang="en-US" sz="2400" dirty="0">
                <a:solidFill>
                  <a:srgbClr val="FFFF00"/>
                </a:solidFill>
                <a:latin typeface="Times New Roman" panose="02020603050405020304" pitchFamily="18" charset="0"/>
                <a:cs typeface="Times New Roman" panose="02020603050405020304" pitchFamily="18" charset="0"/>
              </a:rPr>
              <a:t>Използва се в правителствени агенции.</a:t>
            </a:r>
          </a:p>
          <a:p>
            <a:pPr marL="457200" indent="-457200">
              <a:buClr>
                <a:srgbClr val="00B050"/>
              </a:buClr>
              <a:buFont typeface="+mj-lt"/>
              <a:buAutoNum type="arabicParenR"/>
            </a:pPr>
            <a:r>
              <a:rPr lang="en-US" sz="2400" dirty="0">
                <a:solidFill>
                  <a:srgbClr val="FFFF00"/>
                </a:solidFill>
                <a:latin typeface="Times New Roman" panose="02020603050405020304" pitchFamily="18" charset="0"/>
                <a:cs typeface="Times New Roman" panose="02020603050405020304" pitchFamily="18" charset="0"/>
              </a:rPr>
              <a:t>Университетски кампуси.</a:t>
            </a:r>
          </a:p>
          <a:p>
            <a:pPr marL="457200" indent="-457200">
              <a:buClr>
                <a:srgbClr val="00B050"/>
              </a:buClr>
              <a:buFont typeface="+mj-lt"/>
              <a:buAutoNum type="arabicParenR"/>
            </a:pPr>
            <a:r>
              <a:rPr lang="en-US" sz="2400" dirty="0">
                <a:solidFill>
                  <a:srgbClr val="FFFF00"/>
                </a:solidFill>
                <a:latin typeface="Times New Roman" panose="02020603050405020304" pitchFamily="18" charset="0"/>
                <a:cs typeface="Times New Roman" panose="02020603050405020304" pitchFamily="18" charset="0"/>
              </a:rPr>
              <a:t>Широколентови кабелни мрежи.</a:t>
            </a:r>
          </a:p>
          <a:p>
            <a:pPr marL="457200" indent="-457200">
              <a:buClr>
                <a:srgbClr val="00B050"/>
              </a:buClr>
              <a:buFont typeface="+mj-lt"/>
              <a:buAutoNum type="arabicParenR"/>
            </a:pPr>
            <a:r>
              <a:rPr lang="en-US" sz="2400" dirty="0">
                <a:solidFill>
                  <a:srgbClr val="FFFF00"/>
                </a:solidFill>
                <a:latin typeface="Times New Roman" panose="02020603050405020304" pitchFamily="18" charset="0"/>
                <a:cs typeface="Times New Roman" panose="02020603050405020304" pitchFamily="18" charset="0"/>
              </a:rPr>
              <a:t>Мрежа от пожарни станции.</a:t>
            </a:r>
          </a:p>
          <a:p>
            <a:pPr marL="457200" indent="-457200">
              <a:buClr>
                <a:srgbClr val="00B050"/>
              </a:buClr>
              <a:buFont typeface="+mj-lt"/>
              <a:buAutoNum type="arabicParenR"/>
            </a:pPr>
            <a:r>
              <a:rPr lang="en-US" sz="2400" dirty="0">
                <a:solidFill>
                  <a:srgbClr val="FFFF00"/>
                </a:solidFill>
                <a:latin typeface="Times New Roman" panose="02020603050405020304" pitchFamily="18" charset="0"/>
                <a:cs typeface="Times New Roman" panose="02020603050405020304" pitchFamily="18" charset="0"/>
              </a:rPr>
              <a:t>Използва се в летищата.</a:t>
            </a:r>
          </a:p>
          <a:p>
            <a:pPr marL="457200" indent="-457200">
              <a:buClr>
                <a:srgbClr val="00B050"/>
              </a:buClr>
              <a:buFont typeface="+mj-lt"/>
              <a:buAutoNum type="arabicParenR"/>
            </a:pPr>
            <a:r>
              <a:rPr lang="en-US" sz="2400" dirty="0">
                <a:solidFill>
                  <a:srgbClr val="FFFF00"/>
                </a:solidFill>
                <a:latin typeface="Times New Roman" panose="02020603050405020304" pitchFamily="18" charset="0"/>
                <a:cs typeface="Times New Roman" panose="02020603050405020304" pitchFamily="18" charset="0"/>
              </a:rPr>
              <a:t>Използва се за осигуряване на интернет свързаност за локални мрежи в столичен регион.</a:t>
            </a:r>
          </a:p>
          <a:p>
            <a:pPr marL="457200" indent="-457200">
              <a:buClr>
                <a:srgbClr val="00B050"/>
              </a:buClr>
              <a:buFont typeface="+mj-lt"/>
              <a:buAutoNum type="arabicParenR"/>
            </a:pPr>
            <a:r>
              <a:rPr lang="en-US" sz="2400" dirty="0">
                <a:solidFill>
                  <a:srgbClr val="FFFF00"/>
                </a:solidFill>
                <a:latin typeface="Times New Roman" panose="02020603050405020304" pitchFamily="18" charset="0"/>
                <a:cs typeface="Times New Roman" panose="02020603050405020304" pitchFamily="18" charset="0"/>
              </a:rPr>
              <a:t>Мрежа между общински колежи в рамките на страната.</a:t>
            </a:r>
          </a:p>
          <a:p>
            <a:pPr marL="457200" indent="-457200">
              <a:buClr>
                <a:srgbClr val="00B050"/>
              </a:buClr>
              <a:buFont typeface="+mj-lt"/>
              <a:buAutoNum type="arabicParenR"/>
            </a:pPr>
            <a:r>
              <a:rPr lang="en-US" sz="2400" dirty="0">
                <a:solidFill>
                  <a:srgbClr val="FFFF00"/>
                </a:solidFill>
                <a:latin typeface="Times New Roman" panose="02020603050405020304" pitchFamily="18" charset="0"/>
                <a:cs typeface="Times New Roman" panose="02020603050405020304" pitchFamily="18" charset="0"/>
              </a:rPr>
              <a:t>Използва се в обществените библиотеки. </a:t>
            </a:r>
          </a:p>
        </p:txBody>
      </p:sp>
    </p:spTree>
    <p:extLst>
      <p:ext uri="{BB962C8B-B14F-4D97-AF65-F5344CB8AC3E}">
        <p14:creationId xmlns:p14="http://schemas.microsoft.com/office/powerpoint/2010/main" val="30757233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0"/>
        <p:cNvGrpSpPr/>
        <p:nvPr/>
      </p:nvGrpSpPr>
      <p:grpSpPr>
        <a:xfrm>
          <a:off x="0" y="0"/>
          <a:ext cx="0" cy="0"/>
          <a:chOff x="0" y="0"/>
          <a:chExt cx="0" cy="0"/>
        </a:xfrm>
      </p:grpSpPr>
      <p:sp>
        <p:nvSpPr>
          <p:cNvPr id="4" name="Текстово поле 3">
            <a:extLst>
              <a:ext uri="{FF2B5EF4-FFF2-40B4-BE49-F238E27FC236}">
                <a16:creationId xmlns:a16="http://schemas.microsoft.com/office/drawing/2014/main" xmlns="" id="{9F3C3E6A-A6A9-DBC7-2ED3-63B02A17DDB5}"/>
              </a:ext>
            </a:extLst>
          </p:cNvPr>
          <p:cNvSpPr txBox="1"/>
          <p:nvPr/>
        </p:nvSpPr>
        <p:spPr>
          <a:xfrm>
            <a:off x="442452" y="129786"/>
            <a:ext cx="5170785" cy="584775"/>
          </a:xfrm>
          <a:prstGeom prst="rect">
            <a:avLst/>
          </a:prstGeom>
          <a:solidFill>
            <a:schemeClr val="tx1"/>
          </a:solidFill>
          <a:ln>
            <a:solidFill>
              <a:schemeClr val="bg1"/>
            </a:solidFill>
          </a:ln>
        </p:spPr>
        <p:txBody>
          <a:bodyPr wrap="square">
            <a:spAutoFit/>
          </a:bodyPr>
          <a:lstStyle/>
          <a:p>
            <a:r>
              <a:rPr lang="en-US" sz="3200" dirty="0">
                <a:solidFill>
                  <a:schemeClr val="bg1"/>
                </a:solidFill>
                <a:latin typeface="Times New Roman" panose="02020603050405020304" pitchFamily="18" charset="0"/>
                <a:cs typeface="Times New Roman" panose="02020603050405020304" pitchFamily="18" charset="0"/>
              </a:rPr>
              <a:t>MAN срещу CAN</a:t>
            </a:r>
          </a:p>
        </p:txBody>
      </p:sp>
      <p:sp>
        <p:nvSpPr>
          <p:cNvPr id="6" name="Текстово поле 5">
            <a:extLst>
              <a:ext uri="{FF2B5EF4-FFF2-40B4-BE49-F238E27FC236}">
                <a16:creationId xmlns:a16="http://schemas.microsoft.com/office/drawing/2014/main" xmlns="" id="{C521B0A6-C676-6424-94DA-B4202170F23E}"/>
              </a:ext>
            </a:extLst>
          </p:cNvPr>
          <p:cNvSpPr txBox="1"/>
          <p:nvPr/>
        </p:nvSpPr>
        <p:spPr>
          <a:xfrm>
            <a:off x="483747" y="1032387"/>
            <a:ext cx="4088253" cy="3785652"/>
          </a:xfrm>
          <a:prstGeom prst="rect">
            <a:avLst/>
          </a:prstGeom>
          <a:noFill/>
        </p:spPr>
        <p:txBody>
          <a:bodyPr wrap="square">
            <a:spAutoFit/>
          </a:bodyPr>
          <a:lstStyle/>
          <a:p>
            <a:r>
              <a:rPr lang="en-US" sz="2400" dirty="0">
                <a:solidFill>
                  <a:schemeClr val="bg1"/>
                </a:solidFill>
              </a:rPr>
              <a:t>Мрежата в кампуса (CAN) е голяма мрежа, която свързва няколко сгради в училищен или бизнес кампус. CAN може да се счита и за MAN, тъй като свързва множество LAN, но не е достатъчно голяма, за да се счита за WAN.</a:t>
            </a:r>
          </a:p>
        </p:txBody>
      </p:sp>
      <p:pic>
        <p:nvPicPr>
          <p:cNvPr id="10242" name="Picture 2" descr="Infoshare on Campus Network as a Service - NORDUnet">
            <a:extLst>
              <a:ext uri="{FF2B5EF4-FFF2-40B4-BE49-F238E27FC236}">
                <a16:creationId xmlns:a16="http://schemas.microsoft.com/office/drawing/2014/main" xmlns="" id="{9B5A47EE-A10A-4B67-8125-48E430BC1A1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95308" y="1334957"/>
            <a:ext cx="4594482" cy="3262354"/>
          </a:xfrm>
          <a:prstGeom prst="round2DiagRect">
            <a:avLst>
              <a:gd name="adj1" fmla="val 16667"/>
              <a:gd name="adj2" fmla="val 0"/>
            </a:avLst>
          </a:prstGeom>
          <a:ln w="88900" cap="sq">
            <a:solidFill>
              <a:srgbClr val="FFFFFF"/>
            </a:solidFill>
            <a:miter lim="800000"/>
          </a:ln>
          <a:effectLst>
            <a:outerShdw blurRad="254000" algn="tl" rotWithShape="0">
              <a:srgbClr val="000000">
                <a:alpha val="43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693480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320"/>
        <p:cNvGrpSpPr/>
        <p:nvPr/>
      </p:nvGrpSpPr>
      <p:grpSpPr>
        <a:xfrm>
          <a:off x="0" y="0"/>
          <a:ext cx="0" cy="0"/>
          <a:chOff x="0" y="0"/>
          <a:chExt cx="0" cy="0"/>
        </a:xfrm>
      </p:grpSpPr>
      <p:sp>
        <p:nvSpPr>
          <p:cNvPr id="8" name="Текстово поле 7">
            <a:extLst>
              <a:ext uri="{FF2B5EF4-FFF2-40B4-BE49-F238E27FC236}">
                <a16:creationId xmlns:a16="http://schemas.microsoft.com/office/drawing/2014/main" xmlns="" id="{9DB15D4F-26EF-0C4D-C187-96B230D44F62}"/>
              </a:ext>
            </a:extLst>
          </p:cNvPr>
          <p:cNvSpPr txBox="1"/>
          <p:nvPr/>
        </p:nvSpPr>
        <p:spPr>
          <a:xfrm>
            <a:off x="1483658" y="158985"/>
            <a:ext cx="6442635" cy="584775"/>
          </a:xfrm>
          <a:prstGeom prst="rect">
            <a:avLst/>
          </a:prstGeom>
          <a:solidFill>
            <a:schemeClr val="tx1"/>
          </a:solidFill>
          <a:ln>
            <a:solidFill>
              <a:schemeClr val="bg1"/>
            </a:solidFill>
          </a:ln>
        </p:spPr>
        <p:txBody>
          <a:bodyPr wrap="square" rtlCol="0">
            <a:spAutoFit/>
          </a:bodyPr>
          <a:lstStyle/>
          <a:p>
            <a:r>
              <a:rPr lang="bg-BG" sz="3200" dirty="0">
                <a:solidFill>
                  <a:schemeClr val="bg1"/>
                </a:solidFill>
                <a:latin typeface="Times New Roman" panose="02020603050405020304" pitchFamily="18" charset="0"/>
                <a:cs typeface="Times New Roman" panose="02020603050405020304" pitchFamily="18" charset="0"/>
              </a:rPr>
              <a:t>Предимства и недостатъци</a:t>
            </a:r>
            <a:endParaRPr lang="en-US" sz="3200" dirty="0">
              <a:solidFill>
                <a:schemeClr val="bg1"/>
              </a:solidFill>
              <a:latin typeface="Times New Roman" panose="02020603050405020304" pitchFamily="18" charset="0"/>
              <a:cs typeface="Times New Roman" panose="02020603050405020304" pitchFamily="18" charset="0"/>
            </a:endParaRPr>
          </a:p>
        </p:txBody>
      </p:sp>
      <p:sp>
        <p:nvSpPr>
          <p:cNvPr id="10" name="Текстово поле 9">
            <a:extLst>
              <a:ext uri="{FF2B5EF4-FFF2-40B4-BE49-F238E27FC236}">
                <a16:creationId xmlns:a16="http://schemas.microsoft.com/office/drawing/2014/main" xmlns="" id="{47035BED-3258-8D6E-8440-D35CA7855B7C}"/>
              </a:ext>
            </a:extLst>
          </p:cNvPr>
          <p:cNvSpPr txBox="1"/>
          <p:nvPr/>
        </p:nvSpPr>
        <p:spPr>
          <a:xfrm>
            <a:off x="773714" y="703730"/>
            <a:ext cx="4572000" cy="584775"/>
          </a:xfrm>
          <a:prstGeom prst="rect">
            <a:avLst/>
          </a:prstGeom>
          <a:noFill/>
        </p:spPr>
        <p:txBody>
          <a:bodyPr wrap="square">
            <a:spAutoFit/>
          </a:bodyPr>
          <a:lstStyle/>
          <a:p>
            <a:pPr algn="l"/>
            <a:r>
              <a:rPr lang="bg-BG" sz="3200" b="1" i="0" dirty="0">
                <a:solidFill>
                  <a:srgbClr val="FF6600"/>
                </a:solidFill>
                <a:effectLst/>
                <a:latin typeface="Times New Roman" panose="02020603050405020304" pitchFamily="18" charset="0"/>
                <a:cs typeface="Times New Roman" panose="02020603050405020304" pitchFamily="18" charset="0"/>
              </a:rPr>
              <a:t>Предимства на </a:t>
            </a:r>
            <a:r>
              <a:rPr lang="en-US" sz="3200" b="1" i="0" dirty="0">
                <a:solidFill>
                  <a:srgbClr val="FF6600"/>
                </a:solidFill>
                <a:effectLst/>
                <a:latin typeface="Times New Roman" panose="02020603050405020304" pitchFamily="18" charset="0"/>
                <a:cs typeface="Times New Roman" panose="02020603050405020304" pitchFamily="18" charset="0"/>
              </a:rPr>
              <a:t>MAN</a:t>
            </a:r>
            <a:endParaRPr lang="en-US" sz="3200" b="1" i="0" dirty="0">
              <a:solidFill>
                <a:srgbClr val="222222"/>
              </a:solidFill>
              <a:effectLst/>
              <a:latin typeface="Times New Roman" panose="02020603050405020304" pitchFamily="18" charset="0"/>
              <a:cs typeface="Times New Roman" panose="02020603050405020304" pitchFamily="18" charset="0"/>
            </a:endParaRPr>
          </a:p>
        </p:txBody>
      </p:sp>
      <p:sp>
        <p:nvSpPr>
          <p:cNvPr id="12" name="Текстово поле 11">
            <a:extLst>
              <a:ext uri="{FF2B5EF4-FFF2-40B4-BE49-F238E27FC236}">
                <a16:creationId xmlns:a16="http://schemas.microsoft.com/office/drawing/2014/main" xmlns="" id="{A1916BF7-677C-C9D5-3D84-4F7670929A2A}"/>
              </a:ext>
            </a:extLst>
          </p:cNvPr>
          <p:cNvSpPr txBox="1"/>
          <p:nvPr/>
        </p:nvSpPr>
        <p:spPr>
          <a:xfrm>
            <a:off x="265953" y="1270001"/>
            <a:ext cx="8878047" cy="3046988"/>
          </a:xfrm>
          <a:prstGeom prst="rect">
            <a:avLst/>
          </a:prstGeom>
          <a:noFill/>
        </p:spPr>
        <p:txBody>
          <a:bodyPr wrap="square">
            <a:spAutoFit/>
          </a:bodyPr>
          <a:lstStyle/>
          <a:p>
            <a:pPr algn="l"/>
            <a:r>
              <a:rPr lang="en-US" sz="2400" b="0" i="0" dirty="0">
                <a:solidFill>
                  <a:schemeClr val="bg1"/>
                </a:solidFill>
                <a:effectLst/>
                <a:latin typeface="Times New Roman" panose="02020603050405020304" pitchFamily="18" charset="0"/>
                <a:cs typeface="Times New Roman" panose="02020603050405020304" pitchFamily="18" charset="0"/>
              </a:rPr>
              <a:t>-</a:t>
            </a:r>
            <a:r>
              <a:rPr lang="ru-RU" sz="2400" b="0" i="0" dirty="0">
                <a:solidFill>
                  <a:schemeClr val="bg1"/>
                </a:solidFill>
                <a:effectLst/>
                <a:latin typeface="Times New Roman" panose="02020603050405020304" pitchFamily="18" charset="0"/>
                <a:cs typeface="Times New Roman" panose="02020603050405020304" pitchFamily="18" charset="0"/>
              </a:rPr>
              <a:t>Той е много ефективен и бърз за комуникация през оптичен кабел за взаимно свързване на мрежи в градовете.</a:t>
            </a:r>
          </a:p>
          <a:p>
            <a:pPr algn="l"/>
            <a:r>
              <a:rPr lang="en-US" sz="2400" b="0" i="0" dirty="0">
                <a:solidFill>
                  <a:schemeClr val="bg1"/>
                </a:solidFill>
                <a:effectLst/>
                <a:latin typeface="Times New Roman" panose="02020603050405020304" pitchFamily="18" charset="0"/>
                <a:cs typeface="Times New Roman" panose="02020603050405020304" pitchFamily="18" charset="0"/>
              </a:rPr>
              <a:t>-</a:t>
            </a:r>
            <a:r>
              <a:rPr lang="ru-RU" sz="2400" b="0" i="0" dirty="0">
                <a:solidFill>
                  <a:schemeClr val="bg1"/>
                </a:solidFill>
                <a:effectLst/>
                <a:latin typeface="Times New Roman" panose="02020603050405020304" pitchFamily="18" charset="0"/>
                <a:cs typeface="Times New Roman" panose="02020603050405020304" pitchFamily="18" charset="0"/>
              </a:rPr>
              <a:t>Той обслужва много села и градове и по този начин осигурява чудесна взаимосвързаност на ниска цена.</a:t>
            </a:r>
          </a:p>
          <a:p>
            <a:pPr algn="l"/>
            <a:r>
              <a:rPr lang="en-US" sz="2400" b="0" i="0" dirty="0">
                <a:solidFill>
                  <a:schemeClr val="bg1"/>
                </a:solidFill>
                <a:effectLst/>
                <a:latin typeface="Times New Roman" panose="02020603050405020304" pitchFamily="18" charset="0"/>
                <a:cs typeface="Times New Roman" panose="02020603050405020304" pitchFamily="18" charset="0"/>
              </a:rPr>
              <a:t>-</a:t>
            </a:r>
            <a:r>
              <a:rPr lang="ru-RU" sz="2400" b="0" i="0" dirty="0">
                <a:solidFill>
                  <a:schemeClr val="bg1"/>
                </a:solidFill>
                <a:effectLst/>
                <a:latin typeface="Times New Roman" panose="02020603050405020304" pitchFamily="18" charset="0"/>
                <a:cs typeface="Times New Roman" panose="02020603050405020304" pitchFamily="18" charset="0"/>
              </a:rPr>
              <a:t>Той работи на топология на пръстена или шината със защитна връзка, като по този начин данните могат да се предават или получават едновременно през възли и ако една връзка се провали, другата ще поддържа мрежата активна.</a:t>
            </a:r>
          </a:p>
        </p:txBody>
      </p:sp>
      <p:pic>
        <p:nvPicPr>
          <p:cNvPr id="12290" name="Picture 2">
            <a:extLst>
              <a:ext uri="{FF2B5EF4-FFF2-40B4-BE49-F238E27FC236}">
                <a16:creationId xmlns:a16="http://schemas.microsoft.com/office/drawing/2014/main" xmlns="" id="{9811DB60-3459-E1CE-DBB7-BFFB8A6524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23815" y="737961"/>
            <a:ext cx="593595" cy="59359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down)">
                                      <p:cBhvr>
                                        <p:cTn id="7" dur="580">
                                          <p:stCondLst>
                                            <p:cond delay="0"/>
                                          </p:stCondLst>
                                        </p:cTn>
                                        <p:tgtEl>
                                          <p:spTgt spid="10">
                                            <p:txEl>
                                              <p:pRg st="0" end="0"/>
                                            </p:txEl>
                                          </p:spTgt>
                                        </p:tgtEl>
                                      </p:cBhvr>
                                    </p:animEffect>
                                    <p:anim calcmode="lin" valueType="num">
                                      <p:cBhvr>
                                        <p:cTn id="8" dur="1822" tmFilter="0,0; 0.14,0.36; 0.43,0.73; 0.71,0.91; 1.0,1.0">
                                          <p:stCondLst>
                                            <p:cond delay="0"/>
                                          </p:stCondLst>
                                        </p:cTn>
                                        <p:tgtEl>
                                          <p:spTgt spid="10">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10">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10">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10">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10">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10">
                                            <p:txEl>
                                              <p:pRg st="0" end="0"/>
                                            </p:txEl>
                                          </p:spTgt>
                                        </p:tgtEl>
                                      </p:cBhvr>
                                      <p:to x="100000" y="60000"/>
                                    </p:animScale>
                                    <p:animScale>
                                      <p:cBhvr>
                                        <p:cTn id="14" dur="166" decel="50000">
                                          <p:stCondLst>
                                            <p:cond delay="676"/>
                                          </p:stCondLst>
                                        </p:cTn>
                                        <p:tgtEl>
                                          <p:spTgt spid="10">
                                            <p:txEl>
                                              <p:pRg st="0" end="0"/>
                                            </p:txEl>
                                          </p:spTgt>
                                        </p:tgtEl>
                                      </p:cBhvr>
                                      <p:to x="100000" y="100000"/>
                                    </p:animScale>
                                    <p:animScale>
                                      <p:cBhvr>
                                        <p:cTn id="15" dur="26">
                                          <p:stCondLst>
                                            <p:cond delay="1312"/>
                                          </p:stCondLst>
                                        </p:cTn>
                                        <p:tgtEl>
                                          <p:spTgt spid="10">
                                            <p:txEl>
                                              <p:pRg st="0" end="0"/>
                                            </p:txEl>
                                          </p:spTgt>
                                        </p:tgtEl>
                                      </p:cBhvr>
                                      <p:to x="100000" y="80000"/>
                                    </p:animScale>
                                    <p:animScale>
                                      <p:cBhvr>
                                        <p:cTn id="16" dur="166" decel="50000">
                                          <p:stCondLst>
                                            <p:cond delay="1338"/>
                                          </p:stCondLst>
                                        </p:cTn>
                                        <p:tgtEl>
                                          <p:spTgt spid="10">
                                            <p:txEl>
                                              <p:pRg st="0" end="0"/>
                                            </p:txEl>
                                          </p:spTgt>
                                        </p:tgtEl>
                                      </p:cBhvr>
                                      <p:to x="100000" y="100000"/>
                                    </p:animScale>
                                    <p:animScale>
                                      <p:cBhvr>
                                        <p:cTn id="17" dur="26">
                                          <p:stCondLst>
                                            <p:cond delay="1642"/>
                                          </p:stCondLst>
                                        </p:cTn>
                                        <p:tgtEl>
                                          <p:spTgt spid="10">
                                            <p:txEl>
                                              <p:pRg st="0" end="0"/>
                                            </p:txEl>
                                          </p:spTgt>
                                        </p:tgtEl>
                                      </p:cBhvr>
                                      <p:to x="100000" y="90000"/>
                                    </p:animScale>
                                    <p:animScale>
                                      <p:cBhvr>
                                        <p:cTn id="18" dur="166" decel="50000">
                                          <p:stCondLst>
                                            <p:cond delay="1668"/>
                                          </p:stCondLst>
                                        </p:cTn>
                                        <p:tgtEl>
                                          <p:spTgt spid="10">
                                            <p:txEl>
                                              <p:pRg st="0" end="0"/>
                                            </p:txEl>
                                          </p:spTgt>
                                        </p:tgtEl>
                                      </p:cBhvr>
                                      <p:to x="100000" y="100000"/>
                                    </p:animScale>
                                    <p:animScale>
                                      <p:cBhvr>
                                        <p:cTn id="19" dur="26">
                                          <p:stCondLst>
                                            <p:cond delay="1808"/>
                                          </p:stCondLst>
                                        </p:cTn>
                                        <p:tgtEl>
                                          <p:spTgt spid="10">
                                            <p:txEl>
                                              <p:pRg st="0" end="0"/>
                                            </p:txEl>
                                          </p:spTgt>
                                        </p:tgtEl>
                                      </p:cBhvr>
                                      <p:to x="100000" y="95000"/>
                                    </p:animScale>
                                    <p:animScale>
                                      <p:cBhvr>
                                        <p:cTn id="20" dur="166" decel="50000">
                                          <p:stCondLst>
                                            <p:cond delay="1834"/>
                                          </p:stCondLst>
                                        </p:cTn>
                                        <p:tgtEl>
                                          <p:spTgt spid="10">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6" presetClass="entr" presetSubtype="16" fill="hold" nodeType="clickEffect">
                                  <p:stCondLst>
                                    <p:cond delay="0"/>
                                  </p:stCondLst>
                                  <p:childTnLst>
                                    <p:set>
                                      <p:cBhvr>
                                        <p:cTn id="24" dur="1" fill="hold">
                                          <p:stCondLst>
                                            <p:cond delay="0"/>
                                          </p:stCondLst>
                                        </p:cTn>
                                        <p:tgtEl>
                                          <p:spTgt spid="12">
                                            <p:txEl>
                                              <p:pRg st="0" end="0"/>
                                            </p:txEl>
                                          </p:spTgt>
                                        </p:tgtEl>
                                        <p:attrNameLst>
                                          <p:attrName>style.visibility</p:attrName>
                                        </p:attrNameLst>
                                      </p:cBhvr>
                                      <p:to>
                                        <p:strVal val="visible"/>
                                      </p:to>
                                    </p:set>
                                    <p:animEffect transition="in" filter="circle(in)">
                                      <p:cBhvr>
                                        <p:cTn id="25" dur="2000"/>
                                        <p:tgtEl>
                                          <p:spTgt spid="12">
                                            <p:txEl>
                                              <p:pRg st="0" end="0"/>
                                            </p:txEl>
                                          </p:spTgt>
                                        </p:tgtEl>
                                      </p:cBhvr>
                                    </p:animEffect>
                                  </p:childTnLst>
                                </p:cTn>
                              </p:par>
                              <p:par>
                                <p:cTn id="26" presetID="6" presetClass="entr" presetSubtype="16" fill="hold" nodeType="withEffect">
                                  <p:stCondLst>
                                    <p:cond delay="0"/>
                                  </p:stCondLst>
                                  <p:childTnLst>
                                    <p:set>
                                      <p:cBhvr>
                                        <p:cTn id="27" dur="1" fill="hold">
                                          <p:stCondLst>
                                            <p:cond delay="0"/>
                                          </p:stCondLst>
                                        </p:cTn>
                                        <p:tgtEl>
                                          <p:spTgt spid="12">
                                            <p:txEl>
                                              <p:pRg st="1" end="1"/>
                                            </p:txEl>
                                          </p:spTgt>
                                        </p:tgtEl>
                                        <p:attrNameLst>
                                          <p:attrName>style.visibility</p:attrName>
                                        </p:attrNameLst>
                                      </p:cBhvr>
                                      <p:to>
                                        <p:strVal val="visible"/>
                                      </p:to>
                                    </p:set>
                                    <p:animEffect transition="in" filter="circle(in)">
                                      <p:cBhvr>
                                        <p:cTn id="28" dur="2000"/>
                                        <p:tgtEl>
                                          <p:spTgt spid="12">
                                            <p:txEl>
                                              <p:pRg st="1" end="1"/>
                                            </p:txEl>
                                          </p:spTgt>
                                        </p:tgtEl>
                                      </p:cBhvr>
                                    </p:animEffect>
                                  </p:childTnLst>
                                </p:cTn>
                              </p:par>
                              <p:par>
                                <p:cTn id="29" presetID="6" presetClass="entr" presetSubtype="16" fill="hold" nodeType="withEffect">
                                  <p:stCondLst>
                                    <p:cond delay="0"/>
                                  </p:stCondLst>
                                  <p:childTnLst>
                                    <p:set>
                                      <p:cBhvr>
                                        <p:cTn id="30" dur="1" fill="hold">
                                          <p:stCondLst>
                                            <p:cond delay="0"/>
                                          </p:stCondLst>
                                        </p:cTn>
                                        <p:tgtEl>
                                          <p:spTgt spid="12">
                                            <p:txEl>
                                              <p:pRg st="2" end="2"/>
                                            </p:txEl>
                                          </p:spTgt>
                                        </p:tgtEl>
                                        <p:attrNameLst>
                                          <p:attrName>style.visibility</p:attrName>
                                        </p:attrNameLst>
                                      </p:cBhvr>
                                      <p:to>
                                        <p:strVal val="visible"/>
                                      </p:to>
                                    </p:set>
                                    <p:animEffect transition="in" filter="circle(in)">
                                      <p:cBhvr>
                                        <p:cTn id="31" dur="2000"/>
                                        <p:tgtEl>
                                          <p:spTgt spid="1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7" name="Текстово поле 6">
            <a:extLst>
              <a:ext uri="{FF2B5EF4-FFF2-40B4-BE49-F238E27FC236}">
                <a16:creationId xmlns:a16="http://schemas.microsoft.com/office/drawing/2014/main" xmlns="" id="{0ABE33EC-C73E-7172-DB7B-A6BB5FAEE24F}"/>
              </a:ext>
            </a:extLst>
          </p:cNvPr>
          <p:cNvSpPr txBox="1"/>
          <p:nvPr/>
        </p:nvSpPr>
        <p:spPr>
          <a:xfrm>
            <a:off x="353568" y="102144"/>
            <a:ext cx="4572000" cy="584775"/>
          </a:xfrm>
          <a:prstGeom prst="rect">
            <a:avLst/>
          </a:prstGeom>
          <a:noFill/>
        </p:spPr>
        <p:txBody>
          <a:bodyPr wrap="square">
            <a:spAutoFit/>
          </a:bodyPr>
          <a:lstStyle/>
          <a:p>
            <a:pPr algn="l"/>
            <a:r>
              <a:rPr lang="bg-BG" sz="3200" b="1" i="0" dirty="0">
                <a:solidFill>
                  <a:srgbClr val="FF6600"/>
                </a:solidFill>
                <a:effectLst/>
                <a:latin typeface="Times New Roman" panose="02020603050405020304" pitchFamily="18" charset="0"/>
                <a:cs typeface="Times New Roman" panose="02020603050405020304" pitchFamily="18" charset="0"/>
              </a:rPr>
              <a:t>Недостатъци на </a:t>
            </a:r>
            <a:r>
              <a:rPr lang="en-US" sz="3200" b="1" i="0" dirty="0">
                <a:solidFill>
                  <a:srgbClr val="FF6600"/>
                </a:solidFill>
                <a:effectLst/>
                <a:latin typeface="Times New Roman" panose="02020603050405020304" pitchFamily="18" charset="0"/>
                <a:cs typeface="Times New Roman" panose="02020603050405020304" pitchFamily="18" charset="0"/>
              </a:rPr>
              <a:t>MAN</a:t>
            </a:r>
            <a:endParaRPr lang="en-US" sz="3200" b="1" i="0" dirty="0">
              <a:solidFill>
                <a:srgbClr val="222222"/>
              </a:solidFill>
              <a:effectLst/>
              <a:latin typeface="Times New Roman" panose="02020603050405020304" pitchFamily="18" charset="0"/>
              <a:cs typeface="Times New Roman" panose="02020603050405020304" pitchFamily="18" charset="0"/>
            </a:endParaRPr>
          </a:p>
        </p:txBody>
      </p:sp>
      <p:sp>
        <p:nvSpPr>
          <p:cNvPr id="9" name="Текстово поле 8">
            <a:extLst>
              <a:ext uri="{FF2B5EF4-FFF2-40B4-BE49-F238E27FC236}">
                <a16:creationId xmlns:a16="http://schemas.microsoft.com/office/drawing/2014/main" xmlns="" id="{73C34C1B-D0E3-D978-5F9E-605D6D175477}"/>
              </a:ext>
            </a:extLst>
          </p:cNvPr>
          <p:cNvSpPr txBox="1"/>
          <p:nvPr/>
        </p:nvSpPr>
        <p:spPr>
          <a:xfrm>
            <a:off x="353568" y="625364"/>
            <a:ext cx="8436864" cy="3416320"/>
          </a:xfrm>
          <a:prstGeom prst="rect">
            <a:avLst/>
          </a:prstGeom>
          <a:noFill/>
        </p:spPr>
        <p:txBody>
          <a:bodyPr wrap="square">
            <a:spAutoFit/>
          </a:bodyPr>
          <a:lstStyle/>
          <a:p>
            <a:pPr algn="l"/>
            <a:r>
              <a:rPr lang="en-US" sz="2400" b="0" i="0" dirty="0">
                <a:solidFill>
                  <a:schemeClr val="bg1"/>
                </a:solidFill>
                <a:effectLst/>
                <a:latin typeface="Times New Roman" panose="02020603050405020304" pitchFamily="18" charset="0"/>
                <a:cs typeface="Times New Roman" panose="02020603050405020304" pitchFamily="18" charset="0"/>
              </a:rPr>
              <a:t>-</a:t>
            </a:r>
            <a:r>
              <a:rPr lang="ru-RU" sz="2400" b="0" i="0" dirty="0">
                <a:solidFill>
                  <a:schemeClr val="bg1"/>
                </a:solidFill>
                <a:effectLst/>
                <a:latin typeface="Times New Roman" panose="02020603050405020304" pitchFamily="18" charset="0"/>
                <a:cs typeface="Times New Roman" panose="02020603050405020304" pitchFamily="18" charset="0"/>
              </a:rPr>
              <a:t>В зависимост от разстоянието между два възела, дължината на кабела, необходима за взаимно свързване, се различава всеки път. По този начин по-голяма ще бъде дължината на кабела, толкова повече ще бъде цената на мрежата.</a:t>
            </a:r>
          </a:p>
          <a:p>
            <a:pPr algn="l"/>
            <a:r>
              <a:rPr lang="en-US" sz="2400" b="0" i="0" dirty="0">
                <a:solidFill>
                  <a:schemeClr val="bg1"/>
                </a:solidFill>
                <a:effectLst/>
                <a:latin typeface="Times New Roman" panose="02020603050405020304" pitchFamily="18" charset="0"/>
                <a:cs typeface="Times New Roman" panose="02020603050405020304" pitchFamily="18" charset="0"/>
              </a:rPr>
              <a:t>-</a:t>
            </a:r>
            <a:r>
              <a:rPr lang="ru-RU" sz="2400" b="0" i="0" dirty="0">
                <a:solidFill>
                  <a:schemeClr val="bg1"/>
                </a:solidFill>
                <a:effectLst/>
                <a:latin typeface="Times New Roman" panose="02020603050405020304" pitchFamily="18" charset="0"/>
                <a:cs typeface="Times New Roman" panose="02020603050405020304" pitchFamily="18" charset="0"/>
              </a:rPr>
              <a:t>Сигурността е голяма грижа за тази мрежа, тъй като за такова голямо разстояние всеки може да хакне мрежата. Не можем да поставим сигурността на всяко ниво на мрежата, поради което нежеланите хора стават по-лесни за достъп до нея за своя собствена полза.</a:t>
            </a:r>
          </a:p>
        </p:txBody>
      </p:sp>
      <p:pic>
        <p:nvPicPr>
          <p:cNvPr id="13314" name="Picture 2">
            <a:extLst>
              <a:ext uri="{FF2B5EF4-FFF2-40B4-BE49-F238E27FC236}">
                <a16:creationId xmlns:a16="http://schemas.microsoft.com/office/drawing/2014/main" xmlns="" id="{DA8FE5AC-FFA1-70F2-300F-D85918D7027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93059" y="88419"/>
            <a:ext cx="598500" cy="598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down)">
                                      <p:cBhvr>
                                        <p:cTn id="7" dur="580">
                                          <p:stCondLst>
                                            <p:cond delay="0"/>
                                          </p:stCondLst>
                                        </p:cTn>
                                        <p:tgtEl>
                                          <p:spTgt spid="7">
                                            <p:txEl>
                                              <p:pRg st="0" end="0"/>
                                            </p:txEl>
                                          </p:spTgt>
                                        </p:tgtEl>
                                      </p:cBhvr>
                                    </p:animEffect>
                                    <p:anim calcmode="lin" valueType="num">
                                      <p:cBhvr>
                                        <p:cTn id="8" dur="1822" tmFilter="0,0; 0.14,0.36; 0.43,0.73; 0.71,0.91; 1.0,1.0">
                                          <p:stCondLst>
                                            <p:cond delay="0"/>
                                          </p:stCondLst>
                                        </p:cTn>
                                        <p:tgtEl>
                                          <p:spTgt spid="7">
                                            <p:txEl>
                                              <p:pRg st="0" end="0"/>
                                            </p:txEl>
                                          </p:spTgt>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7">
                                            <p:txEl>
                                              <p:pRg st="0" end="0"/>
                                            </p:txEl>
                                          </p:spTgt>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7">
                                            <p:txEl>
                                              <p:pRg st="0" end="0"/>
                                            </p:txEl>
                                          </p:spTgt>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7">
                                            <p:txEl>
                                              <p:pRg st="0" end="0"/>
                                            </p:txEl>
                                          </p:spTgt>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7">
                                            <p:txEl>
                                              <p:pRg st="0" end="0"/>
                                            </p:txEl>
                                          </p:spTgt>
                                        </p:tgtEl>
                                        <p:attrNameLst>
                                          <p:attrName>ppt_y</p:attrName>
                                        </p:attrNameLst>
                                      </p:cBhvr>
                                      <p:tavLst>
                                        <p:tav tm="0" fmla="#ppt_y-sin(pi*$)/81">
                                          <p:val>
                                            <p:fltVal val="0"/>
                                          </p:val>
                                        </p:tav>
                                        <p:tav tm="100000">
                                          <p:val>
                                            <p:fltVal val="1"/>
                                          </p:val>
                                        </p:tav>
                                      </p:tavLst>
                                    </p:anim>
                                    <p:animScale>
                                      <p:cBhvr>
                                        <p:cTn id="13" dur="26">
                                          <p:stCondLst>
                                            <p:cond delay="650"/>
                                          </p:stCondLst>
                                        </p:cTn>
                                        <p:tgtEl>
                                          <p:spTgt spid="7">
                                            <p:txEl>
                                              <p:pRg st="0" end="0"/>
                                            </p:txEl>
                                          </p:spTgt>
                                        </p:tgtEl>
                                      </p:cBhvr>
                                      <p:to x="100000" y="60000"/>
                                    </p:animScale>
                                    <p:animScale>
                                      <p:cBhvr>
                                        <p:cTn id="14" dur="166" decel="50000">
                                          <p:stCondLst>
                                            <p:cond delay="676"/>
                                          </p:stCondLst>
                                        </p:cTn>
                                        <p:tgtEl>
                                          <p:spTgt spid="7">
                                            <p:txEl>
                                              <p:pRg st="0" end="0"/>
                                            </p:txEl>
                                          </p:spTgt>
                                        </p:tgtEl>
                                      </p:cBhvr>
                                      <p:to x="100000" y="100000"/>
                                    </p:animScale>
                                    <p:animScale>
                                      <p:cBhvr>
                                        <p:cTn id="15" dur="26">
                                          <p:stCondLst>
                                            <p:cond delay="1312"/>
                                          </p:stCondLst>
                                        </p:cTn>
                                        <p:tgtEl>
                                          <p:spTgt spid="7">
                                            <p:txEl>
                                              <p:pRg st="0" end="0"/>
                                            </p:txEl>
                                          </p:spTgt>
                                        </p:tgtEl>
                                      </p:cBhvr>
                                      <p:to x="100000" y="80000"/>
                                    </p:animScale>
                                    <p:animScale>
                                      <p:cBhvr>
                                        <p:cTn id="16" dur="166" decel="50000">
                                          <p:stCondLst>
                                            <p:cond delay="1338"/>
                                          </p:stCondLst>
                                        </p:cTn>
                                        <p:tgtEl>
                                          <p:spTgt spid="7">
                                            <p:txEl>
                                              <p:pRg st="0" end="0"/>
                                            </p:txEl>
                                          </p:spTgt>
                                        </p:tgtEl>
                                      </p:cBhvr>
                                      <p:to x="100000" y="100000"/>
                                    </p:animScale>
                                    <p:animScale>
                                      <p:cBhvr>
                                        <p:cTn id="17" dur="26">
                                          <p:stCondLst>
                                            <p:cond delay="1642"/>
                                          </p:stCondLst>
                                        </p:cTn>
                                        <p:tgtEl>
                                          <p:spTgt spid="7">
                                            <p:txEl>
                                              <p:pRg st="0" end="0"/>
                                            </p:txEl>
                                          </p:spTgt>
                                        </p:tgtEl>
                                      </p:cBhvr>
                                      <p:to x="100000" y="90000"/>
                                    </p:animScale>
                                    <p:animScale>
                                      <p:cBhvr>
                                        <p:cTn id="18" dur="166" decel="50000">
                                          <p:stCondLst>
                                            <p:cond delay="1668"/>
                                          </p:stCondLst>
                                        </p:cTn>
                                        <p:tgtEl>
                                          <p:spTgt spid="7">
                                            <p:txEl>
                                              <p:pRg st="0" end="0"/>
                                            </p:txEl>
                                          </p:spTgt>
                                        </p:tgtEl>
                                      </p:cBhvr>
                                      <p:to x="100000" y="100000"/>
                                    </p:animScale>
                                    <p:animScale>
                                      <p:cBhvr>
                                        <p:cTn id="19" dur="26">
                                          <p:stCondLst>
                                            <p:cond delay="1808"/>
                                          </p:stCondLst>
                                        </p:cTn>
                                        <p:tgtEl>
                                          <p:spTgt spid="7">
                                            <p:txEl>
                                              <p:pRg st="0" end="0"/>
                                            </p:txEl>
                                          </p:spTgt>
                                        </p:tgtEl>
                                      </p:cBhvr>
                                      <p:to x="100000" y="95000"/>
                                    </p:animScale>
                                    <p:animScale>
                                      <p:cBhvr>
                                        <p:cTn id="20" dur="166" decel="50000">
                                          <p:stCondLst>
                                            <p:cond delay="1834"/>
                                          </p:stCondLst>
                                        </p:cTn>
                                        <p:tgtEl>
                                          <p:spTgt spid="7">
                                            <p:txEl>
                                              <p:pRg st="0" end="0"/>
                                            </p:txEl>
                                          </p:spTgt>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9">
                                            <p:txEl>
                                              <p:pRg st="0" end="0"/>
                                            </p:txEl>
                                          </p:spTgt>
                                        </p:tgtEl>
                                        <p:attrNameLst>
                                          <p:attrName>style.visibility</p:attrName>
                                        </p:attrNameLst>
                                      </p:cBhvr>
                                      <p:to>
                                        <p:strVal val="visible"/>
                                      </p:to>
                                    </p:set>
                                    <p:anim calcmode="lin" valueType="num">
                                      <p:cBhvr additive="base">
                                        <p:cTn id="25" dur="500" fill="hold"/>
                                        <p:tgtEl>
                                          <p:spTgt spid="9">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9">
                                            <p:txEl>
                                              <p:pRg st="0" end="0"/>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9">
                                            <p:txEl>
                                              <p:pRg st="1" end="1"/>
                                            </p:txEl>
                                          </p:spTgt>
                                        </p:tgtEl>
                                        <p:attrNameLst>
                                          <p:attrName>style.visibility</p:attrName>
                                        </p:attrNameLst>
                                      </p:cBhvr>
                                      <p:to>
                                        <p:strVal val="visible"/>
                                      </p:to>
                                    </p:set>
                                    <p:anim calcmode="lin" valueType="num">
                                      <p:cBhvr additive="base">
                                        <p:cTn id="29" dur="500" fill="hold"/>
                                        <p:tgtEl>
                                          <p:spTgt spid="9">
                                            <p:txEl>
                                              <p:pRg st="1" end="1"/>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9">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814" y="192153"/>
            <a:ext cx="8107878" cy="4640283"/>
          </a:xfrm>
        </p:spPr>
        <p:txBody>
          <a:bodyPr/>
          <a:lstStyle/>
          <a:p>
            <a:r>
              <a:rPr lang="bg-BG" dirty="0" smtClean="0">
                <a:latin typeface="Times New Roman" panose="02020603050405020304" pitchFamily="18" charset="0"/>
                <a:cs typeface="Times New Roman" panose="02020603050405020304" pitchFamily="18" charset="0"/>
              </a:rPr>
              <a:t>Тест:</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bg-BG" dirty="0">
                <a:latin typeface="Times New Roman" panose="02020603050405020304" pitchFamily="18" charset="0"/>
                <a:cs typeface="Times New Roman" panose="02020603050405020304" pitchFamily="18" charset="0"/>
              </a:rPr>
              <a:t>1.</a:t>
            </a:r>
            <a:r>
              <a:rPr lang="bg-BG" b="1" dirty="0">
                <a:solidFill>
                  <a:schemeClr val="bg1"/>
                </a:solidFill>
                <a:effectLst/>
                <a:latin typeface="Times New Roman" panose="02020603050405020304" pitchFamily="18" charset="0"/>
                <a:cs typeface="Times New Roman" panose="02020603050405020304" pitchFamily="18" charset="0"/>
              </a:rPr>
              <a:t>Какво е компютърна мреж</a:t>
            </a:r>
            <a:r>
              <a:rPr lang="en-US" b="1" dirty="0">
                <a:solidFill>
                  <a:schemeClr val="bg1"/>
                </a:solidFill>
                <a:effectLst/>
                <a:latin typeface="Times New Roman" panose="02020603050405020304" pitchFamily="18" charset="0"/>
                <a:cs typeface="Times New Roman" panose="02020603050405020304" pitchFamily="18" charset="0"/>
              </a:rPr>
              <a:t>a</a:t>
            </a:r>
            <a:r>
              <a:rPr lang="bg-BG" b="1" dirty="0">
                <a:solidFill>
                  <a:schemeClr val="bg1"/>
                </a:solidFill>
                <a:effectLst/>
                <a:latin typeface="Times New Roman" panose="02020603050405020304" pitchFamily="18" charset="0"/>
                <a:cs typeface="Times New Roman" panose="02020603050405020304" pitchFamily="18" charset="0"/>
              </a:rPr>
              <a:t>?</a:t>
            </a:r>
            <a:br>
              <a:rPr lang="bg-BG" b="1" dirty="0">
                <a:solidFill>
                  <a:schemeClr val="bg1"/>
                </a:solidFill>
                <a:effectLst/>
                <a:latin typeface="Times New Roman" panose="02020603050405020304" pitchFamily="18" charset="0"/>
                <a:cs typeface="Times New Roman" panose="02020603050405020304" pitchFamily="18" charset="0"/>
              </a:rPr>
            </a:br>
            <a:r>
              <a:rPr lang="en-US" b="1" dirty="0">
                <a:solidFill>
                  <a:schemeClr val="bg1"/>
                </a:solidFill>
                <a:effectLst/>
                <a:latin typeface="Times New Roman" panose="02020603050405020304" pitchFamily="18" charset="0"/>
                <a:cs typeface="Times New Roman" panose="02020603050405020304" pitchFamily="18" charset="0"/>
              </a:rPr>
              <a:t>-</a:t>
            </a:r>
            <a:r>
              <a:rPr lang="bg-BG" b="1" dirty="0">
                <a:solidFill>
                  <a:srgbClr val="00B0F0"/>
                </a:solidFill>
                <a:effectLst/>
                <a:latin typeface="Times New Roman" panose="02020603050405020304" pitchFamily="18" charset="0"/>
                <a:cs typeface="Times New Roman" panose="02020603050405020304" pitchFamily="18" charset="0"/>
                <a:hlinkClick r:id="rId2" action="ppaction://hlinksldjump">
                  <a:extLst>
                    <a:ext uri="{A12FA001-AC4F-418D-AE19-62706E023703}">
                      <ahyp:hlinkClr xmlns:ahyp="http://schemas.microsoft.com/office/drawing/2018/hyperlinkcolor" xmlns="" val="tx"/>
                    </a:ext>
                  </a:extLst>
                </a:hlinkClick>
              </a:rPr>
              <a:t>отговор</a:t>
            </a:r>
            <a:r>
              <a:rPr lang="bg-BG" b="1" dirty="0">
                <a:solidFill>
                  <a:srgbClr val="00B0F0"/>
                </a:solidFill>
                <a:effectLst/>
                <a:latin typeface="Times New Roman" panose="02020603050405020304" pitchFamily="18" charset="0"/>
                <a:cs typeface="Times New Roman" panose="02020603050405020304" pitchFamily="18" charset="0"/>
              </a:rPr>
              <a:t/>
            </a:r>
            <a:br>
              <a:rPr lang="bg-BG" b="1" dirty="0">
                <a:solidFill>
                  <a:srgbClr val="00B0F0"/>
                </a:solidFill>
                <a:effectLst/>
                <a:latin typeface="Times New Roman" panose="02020603050405020304" pitchFamily="18" charset="0"/>
                <a:cs typeface="Times New Roman" panose="02020603050405020304" pitchFamily="18" charset="0"/>
              </a:rPr>
            </a:br>
            <a:r>
              <a:rPr lang="en-US" b="1" dirty="0">
                <a:solidFill>
                  <a:schemeClr val="bg1"/>
                </a:solidFill>
                <a:latin typeface="Times New Roman" panose="02020603050405020304" pitchFamily="18" charset="0"/>
                <a:cs typeface="Times New Roman" panose="02020603050405020304" pitchFamily="18" charset="0"/>
              </a:rPr>
              <a:t>2. </a:t>
            </a:r>
            <a:r>
              <a:rPr lang="bg-BG" b="1" dirty="0">
                <a:solidFill>
                  <a:schemeClr val="bg1"/>
                </a:solidFill>
                <a:latin typeface="Times New Roman" panose="02020603050405020304" pitchFamily="18" charset="0"/>
                <a:cs typeface="Times New Roman" panose="02020603050405020304" pitchFamily="18" charset="0"/>
              </a:rPr>
              <a:t>Според Физическият обхват колко вида мрежи познавате?</a:t>
            </a:r>
            <a:r>
              <a:rPr lang="en-US" b="1" dirty="0">
                <a:solidFill>
                  <a:schemeClr val="bg1"/>
                </a:solidFill>
                <a:latin typeface="Times New Roman" panose="02020603050405020304" pitchFamily="18" charset="0"/>
                <a:cs typeface="Times New Roman" panose="02020603050405020304" pitchFamily="18" charset="0"/>
              </a:rPr>
              <a:t/>
            </a:r>
            <a:br>
              <a:rPr lang="en-US" b="1" dirty="0">
                <a:solidFill>
                  <a:schemeClr val="bg1"/>
                </a:solidFill>
                <a:latin typeface="Times New Roman" panose="02020603050405020304" pitchFamily="18" charset="0"/>
                <a:cs typeface="Times New Roman" panose="02020603050405020304" pitchFamily="18" charset="0"/>
              </a:rPr>
            </a:br>
            <a:r>
              <a:rPr lang="bg-BG" b="1" dirty="0">
                <a:solidFill>
                  <a:schemeClr val="bg1"/>
                </a:solidFill>
                <a:latin typeface="Times New Roman" panose="02020603050405020304" pitchFamily="18" charset="0"/>
                <a:cs typeface="Times New Roman" panose="02020603050405020304" pitchFamily="18" charset="0"/>
              </a:rPr>
              <a:t>-</a:t>
            </a:r>
            <a:r>
              <a:rPr lang="bg-BG" b="1" dirty="0">
                <a:solidFill>
                  <a:srgbClr val="00B0F0"/>
                </a:solidFill>
                <a:latin typeface="Times New Roman" panose="02020603050405020304" pitchFamily="18" charset="0"/>
                <a:cs typeface="Times New Roman" panose="02020603050405020304" pitchFamily="18" charset="0"/>
                <a:hlinkClick r:id="rId3" action="ppaction://hlinksldjump">
                  <a:extLst>
                    <a:ext uri="{A12FA001-AC4F-418D-AE19-62706E023703}">
                      <ahyp:hlinkClr xmlns:ahyp="http://schemas.microsoft.com/office/drawing/2018/hyperlinkcolor" xmlns="" val="tx"/>
                    </a:ext>
                  </a:extLst>
                </a:hlinkClick>
              </a:rPr>
              <a:t>отговор</a:t>
            </a:r>
            <a:r>
              <a:rPr lang="nl-BE" b="1" dirty="0">
                <a:solidFill>
                  <a:schemeClr val="bg1"/>
                </a:solidFill>
                <a:latin typeface="Times New Roman" panose="02020603050405020304" pitchFamily="18" charset="0"/>
                <a:cs typeface="Times New Roman" panose="02020603050405020304" pitchFamily="18" charset="0"/>
              </a:rPr>
              <a:t/>
            </a:r>
            <a:br>
              <a:rPr lang="nl-BE" b="1" dirty="0">
                <a:solidFill>
                  <a:schemeClr val="bg1"/>
                </a:solidFill>
                <a:latin typeface="Times New Roman" panose="02020603050405020304" pitchFamily="18" charset="0"/>
                <a:cs typeface="Times New Roman" panose="02020603050405020304" pitchFamily="18" charset="0"/>
              </a:rPr>
            </a:br>
            <a:r>
              <a:rPr lang="en-US" b="1" dirty="0">
                <a:solidFill>
                  <a:schemeClr val="bg1"/>
                </a:solidFill>
                <a:latin typeface="Times New Roman" panose="02020603050405020304" pitchFamily="18" charset="0"/>
                <a:cs typeface="Times New Roman" panose="02020603050405020304" pitchFamily="18" charset="0"/>
              </a:rPr>
              <a:t>3.</a:t>
            </a:r>
            <a:r>
              <a:rPr lang="bg-BG" b="1" dirty="0">
                <a:solidFill>
                  <a:schemeClr val="bg1"/>
                </a:solidFill>
                <a:latin typeface="Times New Roman" panose="02020603050405020304" pitchFamily="18" charset="0"/>
                <a:cs typeface="Times New Roman" panose="02020603050405020304" pitchFamily="18" charset="0"/>
              </a:rPr>
              <a:t>Как се изграждат </a:t>
            </a:r>
            <a:r>
              <a:rPr lang="en-US" b="1" dirty="0">
                <a:solidFill>
                  <a:schemeClr val="bg1"/>
                </a:solidFill>
                <a:latin typeface="Times New Roman" panose="02020603050405020304" pitchFamily="18" charset="0"/>
                <a:cs typeface="Times New Roman" panose="02020603050405020304" pitchFamily="18" charset="0"/>
              </a:rPr>
              <a:t>MAN </a:t>
            </a:r>
            <a:r>
              <a:rPr lang="bg-BG" b="1" dirty="0">
                <a:solidFill>
                  <a:schemeClr val="bg1"/>
                </a:solidFill>
                <a:latin typeface="Times New Roman" panose="02020603050405020304" pitchFamily="18" charset="0"/>
                <a:cs typeface="Times New Roman" panose="02020603050405020304" pitchFamily="18" charset="0"/>
              </a:rPr>
              <a:t>мрежи?</a:t>
            </a:r>
            <a:r>
              <a:rPr lang="en-US" b="1" dirty="0">
                <a:solidFill>
                  <a:schemeClr val="bg1"/>
                </a:solidFill>
                <a:latin typeface="Times New Roman" panose="02020603050405020304" pitchFamily="18" charset="0"/>
                <a:cs typeface="Times New Roman" panose="02020603050405020304" pitchFamily="18" charset="0"/>
              </a:rPr>
              <a:t/>
            </a:r>
            <a:br>
              <a:rPr lang="en-US" b="1" dirty="0">
                <a:solidFill>
                  <a:schemeClr val="bg1"/>
                </a:solidFill>
                <a:latin typeface="Times New Roman" panose="02020603050405020304" pitchFamily="18" charset="0"/>
                <a:cs typeface="Times New Roman" panose="02020603050405020304" pitchFamily="18" charset="0"/>
              </a:rPr>
            </a:br>
            <a:r>
              <a:rPr lang="bg-BG" b="1" dirty="0">
                <a:solidFill>
                  <a:schemeClr val="bg1"/>
                </a:solidFill>
                <a:latin typeface="Times New Roman" panose="02020603050405020304" pitchFamily="18" charset="0"/>
                <a:cs typeface="Times New Roman" panose="02020603050405020304" pitchFamily="18" charset="0"/>
              </a:rPr>
              <a:t>-</a:t>
            </a:r>
            <a:r>
              <a:rPr lang="bg-BG" b="1" dirty="0">
                <a:solidFill>
                  <a:srgbClr val="00B0F0"/>
                </a:solidFill>
                <a:latin typeface="Times New Roman" panose="02020603050405020304" pitchFamily="18" charset="0"/>
                <a:cs typeface="Times New Roman" panose="02020603050405020304" pitchFamily="18" charset="0"/>
                <a:hlinkClick r:id="rId4" action="ppaction://hlinksldjump">
                  <a:extLst>
                    <a:ext uri="{A12FA001-AC4F-418D-AE19-62706E023703}">
                      <ahyp:hlinkClr xmlns:ahyp="http://schemas.microsoft.com/office/drawing/2018/hyperlinkcolor" xmlns="" val="tx"/>
                    </a:ext>
                  </a:extLst>
                </a:hlinkClick>
              </a:rPr>
              <a:t>отговор</a:t>
            </a:r>
            <a:r>
              <a:rPr lang="bg-BG" b="1" dirty="0">
                <a:solidFill>
                  <a:schemeClr val="bg1"/>
                </a:solidFill>
                <a:latin typeface="Times New Roman" panose="02020603050405020304" pitchFamily="18" charset="0"/>
                <a:cs typeface="Times New Roman" panose="02020603050405020304" pitchFamily="18" charset="0"/>
              </a:rPr>
              <a:t/>
            </a:r>
            <a:br>
              <a:rPr lang="bg-BG" b="1" dirty="0">
                <a:solidFill>
                  <a:schemeClr val="bg1"/>
                </a:solidFill>
                <a:latin typeface="Times New Roman" panose="02020603050405020304" pitchFamily="18" charset="0"/>
                <a:cs typeface="Times New Roman" panose="02020603050405020304" pitchFamily="18" charset="0"/>
              </a:rPr>
            </a:br>
            <a:r>
              <a:rPr lang="en-US" b="1" i="0" dirty="0">
                <a:solidFill>
                  <a:schemeClr val="bg1"/>
                </a:solidFill>
                <a:effectLst/>
                <a:latin typeface="Times New Roman" panose="02020603050405020304" pitchFamily="18" charset="0"/>
                <a:cs typeface="Times New Roman" panose="02020603050405020304" pitchFamily="18" charset="0"/>
              </a:rPr>
              <a:t>4.</a:t>
            </a:r>
            <a:r>
              <a:rPr lang="bg-BG" b="1" i="0" dirty="0">
                <a:solidFill>
                  <a:schemeClr val="bg1"/>
                </a:solidFill>
                <a:effectLst/>
                <a:latin typeface="Times New Roman" panose="02020603050405020304" pitchFamily="18" charset="0"/>
                <a:cs typeface="Times New Roman" panose="02020603050405020304" pitchFamily="18" charset="0"/>
              </a:rPr>
              <a:t>Какви са употребите на</a:t>
            </a:r>
            <a:r>
              <a:rPr lang="en-US" b="1" i="0" dirty="0">
                <a:solidFill>
                  <a:schemeClr val="bg1"/>
                </a:solidFill>
                <a:effectLst/>
                <a:latin typeface="Times New Roman" panose="02020603050405020304" pitchFamily="18" charset="0"/>
                <a:cs typeface="Times New Roman" panose="02020603050405020304" pitchFamily="18" charset="0"/>
              </a:rPr>
              <a:t> MAN</a:t>
            </a:r>
            <a:r>
              <a:rPr lang="bg-BG" b="1" i="0" dirty="0">
                <a:solidFill>
                  <a:schemeClr val="bg1"/>
                </a:solidFill>
                <a:effectLst/>
                <a:latin typeface="Times New Roman" panose="02020603050405020304" pitchFamily="18" charset="0"/>
                <a:cs typeface="Times New Roman" panose="02020603050405020304" pitchFamily="18" charset="0"/>
              </a:rPr>
              <a:t>?</a:t>
            </a:r>
            <a:r>
              <a:rPr lang="en-US" b="1" i="0" dirty="0">
                <a:solidFill>
                  <a:schemeClr val="bg1"/>
                </a:solidFill>
                <a:effectLst/>
                <a:latin typeface="Times New Roman" panose="02020603050405020304" pitchFamily="18" charset="0"/>
                <a:cs typeface="Times New Roman" panose="02020603050405020304" pitchFamily="18" charset="0"/>
              </a:rPr>
              <a:t/>
            </a:r>
            <a:br>
              <a:rPr lang="en-US" b="1" i="0" dirty="0">
                <a:solidFill>
                  <a:schemeClr val="bg1"/>
                </a:solidFill>
                <a:effectLst/>
                <a:latin typeface="Times New Roman" panose="02020603050405020304" pitchFamily="18" charset="0"/>
                <a:cs typeface="Times New Roman" panose="02020603050405020304" pitchFamily="18" charset="0"/>
              </a:rPr>
            </a:br>
            <a:r>
              <a:rPr lang="bg-BG" b="1" dirty="0">
                <a:solidFill>
                  <a:schemeClr val="bg1"/>
                </a:solidFill>
                <a:latin typeface="Times New Roman" panose="02020603050405020304" pitchFamily="18" charset="0"/>
                <a:cs typeface="Times New Roman" panose="02020603050405020304" pitchFamily="18" charset="0"/>
              </a:rPr>
              <a:t>-</a:t>
            </a:r>
            <a:r>
              <a:rPr lang="bg-BG" b="1" dirty="0">
                <a:solidFill>
                  <a:srgbClr val="00B0F0"/>
                </a:solidFill>
                <a:latin typeface="Times New Roman" panose="02020603050405020304" pitchFamily="18" charset="0"/>
                <a:cs typeface="Times New Roman" panose="02020603050405020304" pitchFamily="18" charset="0"/>
                <a:hlinkClick r:id="rId5" action="ppaction://hlinksldjump">
                  <a:extLst>
                    <a:ext uri="{A12FA001-AC4F-418D-AE19-62706E023703}">
                      <ahyp:hlinkClr xmlns:ahyp="http://schemas.microsoft.com/office/drawing/2018/hyperlinkcolor" xmlns="" val="tx"/>
                    </a:ext>
                  </a:extLst>
                </a:hlinkClick>
              </a:rPr>
              <a:t>отговор</a:t>
            </a:r>
            <a:r>
              <a:rPr lang="bg-BG" b="1" i="0" dirty="0">
                <a:solidFill>
                  <a:schemeClr val="bg1"/>
                </a:solidFill>
                <a:effectLst/>
                <a:latin typeface="Times New Roman" panose="02020603050405020304" pitchFamily="18" charset="0"/>
                <a:cs typeface="Times New Roman" panose="02020603050405020304" pitchFamily="18" charset="0"/>
              </a:rPr>
              <a:t/>
            </a:r>
            <a:br>
              <a:rPr lang="bg-BG" b="1" i="0" dirty="0">
                <a:solidFill>
                  <a:schemeClr val="bg1"/>
                </a:solidFill>
                <a:effectLst/>
                <a:latin typeface="Times New Roman" panose="02020603050405020304" pitchFamily="18" charset="0"/>
                <a:cs typeface="Times New Roman" panose="02020603050405020304" pitchFamily="18" charset="0"/>
              </a:rPr>
            </a:br>
            <a:r>
              <a:rPr lang="en-US" b="1" i="0" dirty="0">
                <a:solidFill>
                  <a:schemeClr val="bg1"/>
                </a:solidFill>
                <a:effectLst/>
                <a:latin typeface="Times New Roman" panose="02020603050405020304" pitchFamily="18" charset="0"/>
                <a:cs typeface="Times New Roman" panose="02020603050405020304" pitchFamily="18" charset="0"/>
              </a:rPr>
              <a:t>5.</a:t>
            </a:r>
            <a:r>
              <a:rPr lang="bg-BG" b="1" i="0" dirty="0">
                <a:solidFill>
                  <a:schemeClr val="bg1"/>
                </a:solidFill>
                <a:effectLst/>
                <a:latin typeface="Times New Roman" panose="02020603050405020304" pitchFamily="18" charset="0"/>
                <a:cs typeface="Times New Roman" panose="02020603050405020304" pitchFamily="18" charset="0"/>
              </a:rPr>
              <a:t>Какви са предимствата и недостатъците на М</a:t>
            </a:r>
            <a:r>
              <a:rPr lang="en-US" b="1" dirty="0">
                <a:solidFill>
                  <a:schemeClr val="bg1"/>
                </a:solidFill>
                <a:latin typeface="Times New Roman" panose="02020603050405020304" pitchFamily="18" charset="0"/>
                <a:cs typeface="Times New Roman" panose="02020603050405020304" pitchFamily="18" charset="0"/>
              </a:rPr>
              <a:t>AN ?</a:t>
            </a:r>
            <a:br>
              <a:rPr lang="en-US" b="1" dirty="0">
                <a:solidFill>
                  <a:schemeClr val="bg1"/>
                </a:solidFill>
                <a:latin typeface="Times New Roman" panose="02020603050405020304" pitchFamily="18" charset="0"/>
                <a:cs typeface="Times New Roman" panose="02020603050405020304" pitchFamily="18" charset="0"/>
              </a:rPr>
            </a:br>
            <a:r>
              <a:rPr lang="bg-BG" b="1" dirty="0">
                <a:solidFill>
                  <a:schemeClr val="bg1"/>
                </a:solidFill>
                <a:latin typeface="Times New Roman" panose="02020603050405020304" pitchFamily="18" charset="0"/>
                <a:cs typeface="Times New Roman" panose="02020603050405020304" pitchFamily="18" charset="0"/>
              </a:rPr>
              <a:t>-</a:t>
            </a:r>
            <a:r>
              <a:rPr lang="bg-BG" b="1" dirty="0">
                <a:solidFill>
                  <a:srgbClr val="00B050"/>
                </a:solidFill>
                <a:latin typeface="Times New Roman" panose="02020603050405020304" pitchFamily="18" charset="0"/>
                <a:cs typeface="Times New Roman" panose="02020603050405020304" pitchFamily="18" charset="0"/>
                <a:hlinkClick r:id="rId6" action="ppaction://hlinksldjump">
                  <a:extLst>
                    <a:ext uri="{A12FA001-AC4F-418D-AE19-62706E023703}">
                      <ahyp:hlinkClr xmlns:ahyp="http://schemas.microsoft.com/office/drawing/2018/hyperlinkcolor" xmlns="" val="tx"/>
                    </a:ext>
                  </a:extLst>
                </a:hlinkClick>
              </a:rPr>
              <a:t>отговор 1</a:t>
            </a:r>
            <a:r>
              <a:rPr lang="bg-BG" b="1" dirty="0">
                <a:solidFill>
                  <a:schemeClr val="bg1"/>
                </a:solidFill>
                <a:latin typeface="Times New Roman" panose="02020603050405020304" pitchFamily="18" charset="0"/>
                <a:cs typeface="Times New Roman" panose="02020603050405020304" pitchFamily="18" charset="0"/>
              </a:rPr>
              <a:t>, </a:t>
            </a:r>
            <a:r>
              <a:rPr lang="bg-BG" b="1" dirty="0">
                <a:solidFill>
                  <a:srgbClr val="FF0000"/>
                </a:solidFill>
                <a:latin typeface="Times New Roman" panose="02020603050405020304" pitchFamily="18" charset="0"/>
                <a:cs typeface="Times New Roman" panose="02020603050405020304" pitchFamily="18" charset="0"/>
                <a:hlinkClick r:id="rId7" action="ppaction://hlinksldjump">
                  <a:extLst>
                    <a:ext uri="{A12FA001-AC4F-418D-AE19-62706E023703}">
                      <ahyp:hlinkClr xmlns:ahyp="http://schemas.microsoft.com/office/drawing/2018/hyperlinkcolor" xmlns="" val="tx"/>
                    </a:ext>
                  </a:extLst>
                </a:hlinkClick>
              </a:rPr>
              <a:t>отговор 2</a:t>
            </a:r>
            <a:r>
              <a:rPr lang="bg-BG" b="1" dirty="0">
                <a:solidFill>
                  <a:schemeClr val="bg1"/>
                </a:solidFill>
                <a:effectLst/>
                <a:latin typeface="+mj-lt"/>
              </a:rPr>
              <a:t/>
            </a:r>
            <a:br>
              <a:rPr lang="bg-BG" b="1" dirty="0">
                <a:solidFill>
                  <a:schemeClr val="bg1"/>
                </a:solidFill>
                <a:effectLst/>
                <a:latin typeface="+mj-lt"/>
              </a:rPr>
            </a:br>
            <a:endParaRPr lang="en-US"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4592956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3" name="Заглавие 2">
            <a:extLst>
              <a:ext uri="{FF2B5EF4-FFF2-40B4-BE49-F238E27FC236}">
                <a16:creationId xmlns:a16="http://schemas.microsoft.com/office/drawing/2014/main" xmlns="" id="{05323F06-DAE7-3ED8-F0FC-EF5C46DF3F44}"/>
              </a:ext>
            </a:extLst>
          </p:cNvPr>
          <p:cNvSpPr>
            <a:spLocks noGrp="1"/>
          </p:cNvSpPr>
          <p:nvPr>
            <p:ph type="title"/>
          </p:nvPr>
        </p:nvSpPr>
        <p:spPr>
          <a:xfrm>
            <a:off x="2466164" y="128842"/>
            <a:ext cx="5970300" cy="515100"/>
          </a:xfrm>
          <a:solidFill>
            <a:schemeClr val="tx1"/>
          </a:solidFill>
          <a:ln>
            <a:solidFill>
              <a:schemeClr val="bg1"/>
            </a:solidFill>
          </a:ln>
        </p:spPr>
        <p:txBody>
          <a:bodyPr/>
          <a:lstStyle/>
          <a:p>
            <a:r>
              <a:rPr lang="bg-BG" sz="3200" dirty="0">
                <a:latin typeface="Times New Roman" panose="02020603050405020304" pitchFamily="18" charset="0"/>
                <a:cs typeface="Times New Roman" panose="02020603050405020304" pitchFamily="18" charset="0"/>
              </a:rPr>
              <a:t>Източници</a:t>
            </a:r>
            <a:endParaRPr lang="en-US" sz="3200" dirty="0">
              <a:latin typeface="Times New Roman" panose="02020603050405020304" pitchFamily="18" charset="0"/>
              <a:cs typeface="Times New Roman" panose="02020603050405020304" pitchFamily="18" charset="0"/>
            </a:endParaRPr>
          </a:p>
        </p:txBody>
      </p:sp>
      <p:sp>
        <p:nvSpPr>
          <p:cNvPr id="5" name="Текстово поле 4">
            <a:extLst>
              <a:ext uri="{FF2B5EF4-FFF2-40B4-BE49-F238E27FC236}">
                <a16:creationId xmlns:a16="http://schemas.microsoft.com/office/drawing/2014/main" xmlns="" id="{DD927B8A-CAF2-F66A-9617-751F768FF60A}"/>
              </a:ext>
            </a:extLst>
          </p:cNvPr>
          <p:cNvSpPr txBox="1"/>
          <p:nvPr/>
        </p:nvSpPr>
        <p:spPr>
          <a:xfrm>
            <a:off x="211349" y="566619"/>
            <a:ext cx="5692589" cy="5663089"/>
          </a:xfrm>
          <a:prstGeom prst="rect">
            <a:avLst/>
          </a:prstGeom>
          <a:noFill/>
        </p:spPr>
        <p:txBody>
          <a:bodyPr wrap="square">
            <a:spAutoFit/>
          </a:bodyPr>
          <a:lstStyle/>
          <a:p>
            <a:r>
              <a:rPr lang="bg-BG" sz="2400" dirty="0">
                <a:solidFill>
                  <a:schemeClr val="bg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xmlns="" val="tx"/>
                    </a:ext>
                  </a:extLst>
                </a:hlinkClick>
              </a:rPr>
              <a:t>1.</a:t>
            </a:r>
            <a:r>
              <a:rPr lang="en-US" sz="2400" dirty="0">
                <a:solidFill>
                  <a:schemeClr val="bg1"/>
                </a:solidFill>
                <a:latin typeface="Times New Roman" panose="02020603050405020304" pitchFamily="18" charset="0"/>
                <a:cs typeface="Times New Roman" panose="02020603050405020304" pitchFamily="18" charset="0"/>
                <a:hlinkClick r:id="rId3">
                  <a:extLst>
                    <a:ext uri="{A12FA001-AC4F-418D-AE19-62706E023703}">
                      <ahyp:hlinkClr xmlns:ahyp="http://schemas.microsoft.com/office/drawing/2018/hyperlinkcolor" xmlns="" val="tx"/>
                    </a:ext>
                  </a:extLst>
                </a:hlinkClick>
              </a:rPr>
              <a:t>https://bg.myservername.com/lan-vs-wan-vs-man-exact-difference-between-types-network#Metropolitan_Area_Network_MAN</a:t>
            </a:r>
            <a:endParaRPr lang="bg-BG" sz="2400" dirty="0">
              <a:solidFill>
                <a:schemeClr val="bg1"/>
              </a:solidFill>
              <a:latin typeface="Times New Roman" panose="02020603050405020304" pitchFamily="18" charset="0"/>
              <a:cs typeface="Times New Roman" panose="02020603050405020304" pitchFamily="18" charset="0"/>
            </a:endParaRPr>
          </a:p>
          <a:p>
            <a:r>
              <a:rPr lang="bg-BG" sz="2400" dirty="0">
                <a:solidFill>
                  <a:schemeClr val="bg1"/>
                </a:solidFill>
                <a:latin typeface="Times New Roman" panose="02020603050405020304" pitchFamily="18" charset="0"/>
                <a:cs typeface="Times New Roman" panose="02020603050405020304" pitchFamily="18" charset="0"/>
              </a:rPr>
              <a:t>2. </a:t>
            </a:r>
            <a:r>
              <a:rPr lang="en-US" sz="2400" dirty="0">
                <a:solidFill>
                  <a:schemeClr val="bg1"/>
                </a:solidFill>
                <a:latin typeface="Times New Roman" panose="02020603050405020304" pitchFamily="18" charset="0"/>
                <a:cs typeface="Times New Roman" panose="02020603050405020304" pitchFamily="18" charset="0"/>
                <a:hlinkClick r:id="rId4">
                  <a:extLst>
                    <a:ext uri="{A12FA001-AC4F-418D-AE19-62706E023703}">
                      <ahyp:hlinkClr xmlns:ahyp="http://schemas.microsoft.com/office/drawing/2018/hyperlinkcolor" xmlns="" val="tx"/>
                    </a:ext>
                  </a:extLst>
                </a:hlinkClick>
              </a:rPr>
              <a:t>https://bg.wikipedia.org/wiki/MAN</a:t>
            </a:r>
            <a:endParaRPr lang="bg-BG" sz="2400" dirty="0">
              <a:solidFill>
                <a:schemeClr val="bg1"/>
              </a:solidFill>
              <a:latin typeface="Times New Roman" panose="02020603050405020304" pitchFamily="18" charset="0"/>
              <a:cs typeface="Times New Roman" panose="02020603050405020304" pitchFamily="18" charset="0"/>
            </a:endParaRPr>
          </a:p>
          <a:p>
            <a:r>
              <a:rPr lang="bg-BG" sz="2400" dirty="0">
                <a:solidFill>
                  <a:schemeClr val="bg1"/>
                </a:solidFill>
                <a:latin typeface="Times New Roman" panose="02020603050405020304" pitchFamily="18" charset="0"/>
                <a:cs typeface="Times New Roman" panose="02020603050405020304" pitchFamily="18" charset="0"/>
              </a:rPr>
              <a:t>3.</a:t>
            </a:r>
            <a:r>
              <a:rPr lang="en-US" sz="2400" dirty="0">
                <a:solidFill>
                  <a:schemeClr val="bg1"/>
                </a:solidFill>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hlinkClick r:id="rId5"/>
              </a:rPr>
              <a:t>http://pgds.org/books/km/04.html</a:t>
            </a:r>
            <a:endParaRPr lang="bg-BG" sz="2400" dirty="0">
              <a:solidFill>
                <a:schemeClr val="bg1"/>
              </a:solidFill>
              <a:latin typeface="Times New Roman" panose="02020603050405020304" pitchFamily="18" charset="0"/>
              <a:cs typeface="Times New Roman" panose="02020603050405020304" pitchFamily="18" charset="0"/>
            </a:endParaRPr>
          </a:p>
          <a:p>
            <a:r>
              <a:rPr lang="bg-BG" sz="2400" dirty="0">
                <a:solidFill>
                  <a:schemeClr val="bg1"/>
                </a:solidFill>
                <a:latin typeface="Times New Roman" panose="02020603050405020304" pitchFamily="18" charset="0"/>
                <a:cs typeface="Times New Roman" panose="02020603050405020304" pitchFamily="18" charset="0"/>
              </a:rPr>
              <a:t>4.</a:t>
            </a:r>
            <a:r>
              <a:rPr lang="en-US" sz="2400" dirty="0">
                <a:solidFill>
                  <a:schemeClr val="bg1"/>
                </a:solidFill>
                <a:latin typeface="Times New Roman" panose="02020603050405020304" pitchFamily="18" charset="0"/>
                <a:cs typeface="Times New Roman" panose="02020603050405020304" pitchFamily="18" charset="0"/>
              </a:rPr>
              <a:t> </a:t>
            </a:r>
            <a:r>
              <a:rPr lang="en-US" sz="2400" dirty="0">
                <a:solidFill>
                  <a:schemeClr val="bg1"/>
                </a:solidFill>
                <a:latin typeface="Times New Roman" panose="02020603050405020304" pitchFamily="18" charset="0"/>
                <a:cs typeface="Times New Roman" panose="02020603050405020304" pitchFamily="18" charset="0"/>
                <a:hlinkClick r:id="rId6">
                  <a:extLst>
                    <a:ext uri="{A12FA001-AC4F-418D-AE19-62706E023703}">
                      <ahyp:hlinkClr xmlns:ahyp="http://schemas.microsoft.com/office/drawing/2018/hyperlinkcolor" xmlns="" val="tx"/>
                    </a:ext>
                  </a:extLst>
                </a:hlinkClick>
              </a:rPr>
              <a:t>https://bg.tax-definition.org/58844-man-network</a:t>
            </a:r>
            <a:endParaRPr lang="bg-BG" sz="2400" dirty="0">
              <a:solidFill>
                <a:schemeClr val="bg1"/>
              </a:solidFill>
              <a:latin typeface="Times New Roman" panose="02020603050405020304" pitchFamily="18" charset="0"/>
              <a:cs typeface="Times New Roman" panose="02020603050405020304" pitchFamily="18" charset="0"/>
            </a:endParaRPr>
          </a:p>
          <a:p>
            <a:r>
              <a:rPr lang="bg-BG" sz="2400" dirty="0">
                <a:solidFill>
                  <a:schemeClr val="bg1"/>
                </a:solidFill>
                <a:latin typeface="Times New Roman" panose="02020603050405020304" pitchFamily="18" charset="0"/>
                <a:cs typeface="Times New Roman" panose="02020603050405020304" pitchFamily="18" charset="0"/>
              </a:rPr>
              <a:t>5.</a:t>
            </a:r>
            <a:r>
              <a:rPr lang="en-US" sz="2400" dirty="0">
                <a:solidFill>
                  <a:schemeClr val="bg1"/>
                </a:solidFill>
                <a:latin typeface="Times New Roman" panose="02020603050405020304" pitchFamily="18" charset="0"/>
                <a:cs typeface="Times New Roman" panose="02020603050405020304" pitchFamily="18" charset="0"/>
              </a:rPr>
              <a:t> https://www.wikiwand.com/bg/MAN</a:t>
            </a:r>
            <a:endParaRPr lang="bg-BG" sz="2400" dirty="0">
              <a:solidFill>
                <a:schemeClr val="bg1"/>
              </a:solidFill>
              <a:latin typeface="Times New Roman" panose="02020603050405020304" pitchFamily="18" charset="0"/>
              <a:cs typeface="Times New Roman" panose="02020603050405020304" pitchFamily="18" charset="0"/>
            </a:endParaRPr>
          </a:p>
          <a:p>
            <a:endParaRPr lang="bg-BG" sz="2400" dirty="0">
              <a:solidFill>
                <a:schemeClr val="bg1"/>
              </a:solidFill>
            </a:endParaRPr>
          </a:p>
          <a:p>
            <a:endParaRPr lang="bg-BG" sz="2400" dirty="0">
              <a:solidFill>
                <a:schemeClr val="bg1"/>
              </a:solidFill>
            </a:endParaRPr>
          </a:p>
          <a:p>
            <a:endParaRPr lang="bg-BG" dirty="0">
              <a:solidFill>
                <a:schemeClr val="bg1"/>
              </a:solidFill>
            </a:endParaRPr>
          </a:p>
          <a:p>
            <a:endParaRPr lang="bg-BG" dirty="0">
              <a:solidFill>
                <a:schemeClr val="bg1"/>
              </a:solidFill>
            </a:endParaRPr>
          </a:p>
          <a:p>
            <a:endParaRPr lang="bg-BG" dirty="0">
              <a:solidFill>
                <a:schemeClr val="bg1"/>
              </a:solidFill>
            </a:endParaRPr>
          </a:p>
          <a:p>
            <a:endParaRPr lang="bg-BG" dirty="0">
              <a:solidFill>
                <a:schemeClr val="bg1"/>
              </a:solidFill>
            </a:endParaRPr>
          </a:p>
          <a:p>
            <a:endParaRPr lang="bg-BG" dirty="0">
              <a:solidFill>
                <a:schemeClr val="bg1"/>
              </a:solidFill>
            </a:endParaRPr>
          </a:p>
          <a:p>
            <a:endParaRPr lang="bg-BG" dirty="0">
              <a:solidFill>
                <a:schemeClr val="bg1"/>
              </a:solidFill>
            </a:endParaRPr>
          </a:p>
          <a:p>
            <a:endParaRPr lang="en-US" dirty="0"/>
          </a:p>
        </p:txBody>
      </p:sp>
      <p:sp>
        <p:nvSpPr>
          <p:cNvPr id="10" name="Текстово поле 9">
            <a:extLst>
              <a:ext uri="{FF2B5EF4-FFF2-40B4-BE49-F238E27FC236}">
                <a16:creationId xmlns:a16="http://schemas.microsoft.com/office/drawing/2014/main" xmlns="" id="{2FD99E1E-6932-74ED-A72A-A631493261CE}"/>
              </a:ext>
            </a:extLst>
          </p:cNvPr>
          <p:cNvSpPr txBox="1"/>
          <p:nvPr/>
        </p:nvSpPr>
        <p:spPr>
          <a:xfrm>
            <a:off x="6472192" y="4437190"/>
            <a:ext cx="2671808" cy="584775"/>
          </a:xfrm>
          <a:prstGeom prst="rect">
            <a:avLst/>
          </a:prstGeom>
          <a:noFill/>
        </p:spPr>
        <p:txBody>
          <a:bodyPr wrap="square" rtlCol="0">
            <a:spAutoFit/>
          </a:bodyPr>
          <a:lstStyle/>
          <a:p>
            <a:r>
              <a:rPr lang="bg-BG" sz="1600" dirty="0">
                <a:solidFill>
                  <a:schemeClr val="bg1"/>
                </a:solidFill>
                <a:latin typeface="Times New Roman" panose="02020603050405020304" pitchFamily="18" charset="0"/>
                <a:cs typeface="Times New Roman" panose="02020603050405020304" pitchFamily="18" charset="0"/>
              </a:rPr>
              <a:t>Изготвено от: </a:t>
            </a:r>
            <a:r>
              <a:rPr lang="en-US" sz="1600" dirty="0">
                <a:solidFill>
                  <a:schemeClr val="bg1"/>
                </a:solidFill>
                <a:latin typeface="Times New Roman" panose="02020603050405020304" pitchFamily="18" charset="0"/>
                <a:cs typeface="Times New Roman" panose="02020603050405020304" pitchFamily="18" charset="0"/>
              </a:rPr>
              <a:t>/</a:t>
            </a:r>
            <a:r>
              <a:rPr lang="bg-BG" sz="1600" dirty="0">
                <a:solidFill>
                  <a:schemeClr val="bg1"/>
                </a:solidFill>
                <a:latin typeface="Times New Roman" panose="02020603050405020304" pitchFamily="18" charset="0"/>
                <a:cs typeface="Times New Roman" panose="02020603050405020304" pitchFamily="18" charset="0"/>
              </a:rPr>
              <a:t>Стилян Димов</a:t>
            </a:r>
            <a:r>
              <a:rPr lang="en-US" sz="1600" dirty="0">
                <a:solidFill>
                  <a:schemeClr val="bg1"/>
                </a:solidFill>
                <a:latin typeface="Times New Roman" panose="02020603050405020304" pitchFamily="18" charset="0"/>
                <a:cs typeface="Times New Roman" panose="02020603050405020304" pitchFamily="18" charset="0"/>
              </a:rPr>
              <a:t>/</a:t>
            </a:r>
            <a:r>
              <a:rPr lang="bg-BG" sz="1600" dirty="0">
                <a:solidFill>
                  <a:schemeClr val="bg1"/>
                </a:solidFill>
                <a:latin typeface="Times New Roman" panose="02020603050405020304" pitchFamily="18" charset="0"/>
                <a:cs typeface="Times New Roman" panose="02020603050405020304" pitchFamily="18" charset="0"/>
              </a:rPr>
              <a:t> 12д №20</a:t>
            </a:r>
            <a:endParaRPr lang="en-US" sz="1600" dirty="0">
              <a:solidFill>
                <a:schemeClr val="bg1"/>
              </a:solidFill>
              <a:latin typeface="Times New Roman" panose="02020603050405020304" pitchFamily="18" charset="0"/>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 calcmode="lin" valueType="num">
                                      <p:cBhvr additive="base">
                                        <p:cTn id="7" dur="500" fill="hold"/>
                                        <p:tgtEl>
                                          <p:spTgt spid="5">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anim calcmode="lin" valueType="num">
                                      <p:cBhvr additive="base">
                                        <p:cTn id="11" dur="500" fill="hold"/>
                                        <p:tgtEl>
                                          <p:spTgt spid="5">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
                                            <p:txEl>
                                              <p:pRg st="1" end="1"/>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anim calcmode="lin" valueType="num">
                                      <p:cBhvr additive="base">
                                        <p:cTn id="15" dur="500" fill="hold"/>
                                        <p:tgtEl>
                                          <p:spTgt spid="5">
                                            <p:txEl>
                                              <p:pRg st="2" end="2"/>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5">
                                            <p:txEl>
                                              <p:pRg st="2" end="2"/>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5">
                                            <p:txEl>
                                              <p:pRg st="3" end="3"/>
                                            </p:txEl>
                                          </p:spTgt>
                                        </p:tgtEl>
                                        <p:attrNameLst>
                                          <p:attrName>style.visibility</p:attrName>
                                        </p:attrNameLst>
                                      </p:cBhvr>
                                      <p:to>
                                        <p:strVal val="visible"/>
                                      </p:to>
                                    </p:set>
                                    <p:anim calcmode="lin" valueType="num">
                                      <p:cBhvr additive="base">
                                        <p:cTn id="19" dur="500" fill="hold"/>
                                        <p:tgtEl>
                                          <p:spTgt spid="5">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5">
                                            <p:txEl>
                                              <p:pRg st="3" end="3"/>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5">
                                            <p:txEl>
                                              <p:pRg st="4" end="4"/>
                                            </p:txEl>
                                          </p:spTgt>
                                        </p:tgtEl>
                                        <p:attrNameLst>
                                          <p:attrName>style.visibility</p:attrName>
                                        </p:attrNameLst>
                                      </p:cBhvr>
                                      <p:to>
                                        <p:strVal val="visible"/>
                                      </p:to>
                                    </p:set>
                                    <p:anim calcmode="lin" valueType="num">
                                      <p:cBhvr additive="base">
                                        <p:cTn id="23" dur="500" fill="hold"/>
                                        <p:tgtEl>
                                          <p:spTgt spid="5">
                                            <p:txEl>
                                              <p:pRg st="4" end="4"/>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5">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Tech Company Branding Guidelines by Slidesgo">
  <a:themeElements>
    <a:clrScheme name="Simple Light">
      <a:dk1>
        <a:srgbClr val="011446"/>
      </a:dk1>
      <a:lt1>
        <a:srgbClr val="FFFFFF"/>
      </a:lt1>
      <a:dk2>
        <a:srgbClr val="02227F"/>
      </a:dk2>
      <a:lt2>
        <a:srgbClr val="B7B7B7"/>
      </a:lt2>
      <a:accent1>
        <a:srgbClr val="FFFFFF"/>
      </a:accent1>
      <a:accent2>
        <a:srgbClr val="06BAD6"/>
      </a:accent2>
      <a:accent3>
        <a:srgbClr val="A1F1FE"/>
      </a:accent3>
      <a:accent4>
        <a:srgbClr val="079AB1"/>
      </a:accent4>
      <a:accent5>
        <a:srgbClr val="0081B0"/>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143</TotalTime>
  <Words>969</Words>
  <Application>Microsoft Office PowerPoint</Application>
  <PresentationFormat>On-screen Show (16:9)</PresentationFormat>
  <Paragraphs>83</Paragraphs>
  <Slides>26</Slides>
  <Notes>16</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26</vt:i4>
      </vt:variant>
    </vt:vector>
  </HeadingPairs>
  <TitlesOfParts>
    <vt:vector size="38" baseType="lpstr">
      <vt:lpstr>Arial</vt:lpstr>
      <vt:lpstr>var(--font-serif)</vt:lpstr>
      <vt:lpstr>Wingdings</vt:lpstr>
      <vt:lpstr>Muli</vt:lpstr>
      <vt:lpstr>Times New Roman</vt:lpstr>
      <vt:lpstr>Montserrat Light</vt:lpstr>
      <vt:lpstr>Montserrat</vt:lpstr>
      <vt:lpstr>Noto Sans</vt:lpstr>
      <vt:lpstr>inherit</vt:lpstr>
      <vt:lpstr>Montserrat ExtraBold</vt:lpstr>
      <vt:lpstr>Montserrat Alternates</vt:lpstr>
      <vt:lpstr>Tech Company Branding Guidelines by Slidesgo</vt:lpstr>
      <vt:lpstr>MAN мрежи</vt:lpstr>
      <vt:lpstr>Съдържание</vt:lpstr>
      <vt:lpstr>Какво е компютърна мрежa?</vt:lpstr>
      <vt:lpstr>Компютърните мрежи се организират за да се създаде възможност за: -   обмен на данни между потребителите на различни компютри -   съвместно ползване на общи ресурси (апаратни, софтуерни и информационни) -   разпределена обработка на данни, т. е. обработка чрез различни компютри на данни, части от които се съхраняват в паметта на различни компютри. </vt:lpstr>
      <vt:lpstr>Категоризиране на мрежите според физическия обхват</vt:lpstr>
      <vt:lpstr>1.LAN (Local Area Network) – локална компютърна мрежа, която обслужва една организация и е разположена в една сграда. 2.MAN (Metropolitan Area Network) – обхваща територия на едно населено място или голяма сграда с много разположени в нея организации. </vt:lpstr>
      <vt:lpstr>3.WAN (Wide Area Network) – глобална компютърна мрежа, която използва високоскоростни, далечни комуникации или спътници, за да свърже ком­пютри, намиращи се в различни географски точки.  </vt:lpstr>
      <vt:lpstr> Определение на MAN</vt:lpstr>
      <vt:lpstr>Технология на MAN </vt:lpstr>
      <vt:lpstr>PowerPoint Presentation</vt:lpstr>
      <vt:lpstr>PowerPoint Presentation</vt:lpstr>
      <vt:lpstr>PowerPoint Presentation</vt:lpstr>
      <vt:lpstr> Визуализация</vt:lpstr>
      <vt:lpstr>Как се изграждат MAN мрежите?</vt:lpstr>
      <vt:lpstr>PowerPoint Presentation</vt:lpstr>
      <vt:lpstr>PowerPoint Presentation</vt:lpstr>
      <vt:lpstr>PowerPoint Presentation</vt:lpstr>
      <vt:lpstr>PowerPoint Presentation</vt:lpstr>
      <vt:lpstr>Приложение на MAN</vt:lpstr>
      <vt:lpstr>PowerPoint Presentation</vt:lpstr>
      <vt:lpstr>PowerPoint Presentation</vt:lpstr>
      <vt:lpstr>PowerPoint Presentation</vt:lpstr>
      <vt:lpstr>PowerPoint Presentation</vt:lpstr>
      <vt:lpstr>PowerPoint Presentation</vt:lpstr>
      <vt:lpstr>Тест: 1.Какво е компютърна мрежa? -отговор 2. Според Физическият обхват колко вида мрежи познавате? -отговор 3.Как се изграждат MAN мрежи? -отговор 4.Какви са употребите на MAN? -отговор 5.Какви са предимствата и недостатъците на МAN ? -отговор 1, отговор 2 </vt:lpstr>
      <vt:lpstr>Източници</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 мрежи</dc:title>
  <dc:creator>Stilqn Dimov</dc:creator>
  <cp:lastModifiedBy>PC-0</cp:lastModifiedBy>
  <cp:revision>7</cp:revision>
  <dcterms:modified xsi:type="dcterms:W3CDTF">2022-12-20T07:51:12Z</dcterms:modified>
</cp:coreProperties>
</file>