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5" r:id="rId4"/>
    <p:sldId id="286" r:id="rId5"/>
    <p:sldId id="258" r:id="rId6"/>
    <p:sldId id="259" r:id="rId7"/>
    <p:sldId id="260" r:id="rId8"/>
    <p:sldId id="262" r:id="rId9"/>
    <p:sldId id="263" r:id="rId10"/>
    <p:sldId id="261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3" r:id="rId27"/>
    <p:sldId id="280" r:id="rId28"/>
    <p:sldId id="281" r:id="rId29"/>
    <p:sldId id="282" r:id="rId30"/>
    <p:sldId id="284" r:id="rId31"/>
    <p:sldId id="27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-264" y="2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1EADBB-C3E9-4BED-B2F6-454B4CC76A27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AA2D636A-6387-4ED4-8EB3-F1D838AD8DC0}">
      <dgm:prSet custT="1"/>
      <dgm:spPr/>
      <dgm:t>
        <a:bodyPr/>
        <a:lstStyle/>
        <a:p>
          <a:r>
            <a:rPr lang="ru-RU" sz="2400" dirty="0" err="1"/>
            <a:t>Специалните</a:t>
          </a:r>
          <a:r>
            <a:rPr lang="ru-RU" sz="2400" dirty="0"/>
            <a:t> ресурси </a:t>
          </a:r>
          <a:r>
            <a:rPr lang="ru-RU" sz="2400" dirty="0" err="1"/>
            <a:t>означават</a:t>
          </a:r>
          <a:r>
            <a:rPr lang="ru-RU" sz="2400" dirty="0"/>
            <a:t> </a:t>
          </a:r>
          <a:r>
            <a:rPr lang="ru-RU" sz="2400" dirty="0" err="1"/>
            <a:t>по-добра</a:t>
          </a:r>
          <a:r>
            <a:rPr lang="ru-RU" sz="2400" dirty="0"/>
            <a:t> </a:t>
          </a:r>
          <a:r>
            <a:rPr lang="ru-RU" sz="2400" dirty="0" err="1"/>
            <a:t>цялостна</a:t>
          </a:r>
          <a:r>
            <a:rPr lang="ru-RU" sz="2400" dirty="0"/>
            <a:t> </a:t>
          </a:r>
          <a:r>
            <a:rPr lang="ru-RU" sz="2400" dirty="0" err="1"/>
            <a:t>производителност</a:t>
          </a:r>
          <a:r>
            <a:rPr lang="ru-RU" sz="2400" dirty="0"/>
            <a:t>.	</a:t>
          </a:r>
          <a:endParaRPr lang="en-US" sz="2400" dirty="0"/>
        </a:p>
      </dgm:t>
    </dgm:pt>
    <dgm:pt modelId="{E19E2538-B4D2-4034-8C22-CCBBE84CA443}" type="parTrans" cxnId="{FBD2F01F-A889-455B-A10C-EA5B1AAD58CE}">
      <dgm:prSet/>
      <dgm:spPr/>
      <dgm:t>
        <a:bodyPr/>
        <a:lstStyle/>
        <a:p>
          <a:endParaRPr lang="en-US"/>
        </a:p>
      </dgm:t>
    </dgm:pt>
    <dgm:pt modelId="{2595C219-2935-4F42-AA7F-8591748A6A4C}" type="sibTrans" cxnId="{FBD2F01F-A889-455B-A10C-EA5B1AAD58CE}">
      <dgm:prSet/>
      <dgm:spPr/>
      <dgm:t>
        <a:bodyPr/>
        <a:lstStyle/>
        <a:p>
          <a:endParaRPr lang="en-US"/>
        </a:p>
      </dgm:t>
    </dgm:pt>
    <dgm:pt modelId="{D88C048E-5632-4E68-9D40-8511F2014A98}">
      <dgm:prSet custT="1"/>
      <dgm:spPr/>
      <dgm:t>
        <a:bodyPr/>
        <a:lstStyle/>
        <a:p>
          <a:r>
            <a:rPr lang="ru-RU" sz="2400" dirty="0" err="1"/>
            <a:t>Предимства</a:t>
          </a:r>
          <a:r>
            <a:rPr lang="ru-RU" sz="2400" dirty="0"/>
            <a:t> на </a:t>
          </a:r>
          <a:r>
            <a:rPr lang="ru-RU" sz="2400" dirty="0" err="1"/>
            <a:t>сигурността</a:t>
          </a:r>
          <a:r>
            <a:rPr lang="ru-RU" sz="2400" dirty="0"/>
            <a:t>. Всеки физически </a:t>
          </a:r>
          <a:r>
            <a:rPr lang="ru-RU" sz="2400" dirty="0" err="1"/>
            <a:t>сървър</a:t>
          </a:r>
          <a:r>
            <a:rPr lang="ru-RU" sz="2400" dirty="0"/>
            <a:t> се </a:t>
          </a:r>
          <a:r>
            <a:rPr lang="ru-RU" sz="2400" dirty="0" err="1"/>
            <a:t>конфигурира</a:t>
          </a:r>
          <a:r>
            <a:rPr lang="ru-RU" sz="2400" dirty="0"/>
            <a:t> </a:t>
          </a:r>
          <a:r>
            <a:rPr lang="ru-RU" sz="2400" dirty="0" err="1"/>
            <a:t>отделно</a:t>
          </a:r>
          <a:r>
            <a:rPr lang="ru-RU" sz="2400" dirty="0"/>
            <a:t>.</a:t>
          </a:r>
          <a:endParaRPr lang="en-US" sz="2400" dirty="0"/>
        </a:p>
      </dgm:t>
    </dgm:pt>
    <dgm:pt modelId="{EF6DA8ED-80CD-4411-9DFF-5B2A69E2E1D6}" type="parTrans" cxnId="{778B64C9-BEE5-46F5-8202-CEEE7E9C9C19}">
      <dgm:prSet/>
      <dgm:spPr/>
      <dgm:t>
        <a:bodyPr/>
        <a:lstStyle/>
        <a:p>
          <a:endParaRPr lang="en-US"/>
        </a:p>
      </dgm:t>
    </dgm:pt>
    <dgm:pt modelId="{4409FAB0-9CD3-42EE-842C-B307B033530B}" type="sibTrans" cxnId="{778B64C9-BEE5-46F5-8202-CEEE7E9C9C19}">
      <dgm:prSet/>
      <dgm:spPr/>
      <dgm:t>
        <a:bodyPr/>
        <a:lstStyle/>
        <a:p>
          <a:endParaRPr lang="en-US"/>
        </a:p>
      </dgm:t>
    </dgm:pt>
    <dgm:pt modelId="{797D3BF2-D0A9-4FF2-B4E8-869E1078936A}">
      <dgm:prSet custT="1"/>
      <dgm:spPr/>
      <dgm:t>
        <a:bodyPr/>
        <a:lstStyle/>
        <a:p>
          <a:r>
            <a:rPr lang="ru-RU" sz="2400" dirty="0" err="1"/>
            <a:t>Проблемите</a:t>
          </a:r>
          <a:r>
            <a:rPr lang="ru-RU" sz="2400" dirty="0"/>
            <a:t> </a:t>
          </a:r>
          <a:r>
            <a:rPr lang="ru-RU" sz="2400" dirty="0" err="1"/>
            <a:t>засягат</a:t>
          </a:r>
          <a:r>
            <a:rPr lang="ru-RU" sz="2400" dirty="0"/>
            <a:t> само </a:t>
          </a:r>
          <a:r>
            <a:rPr lang="ru-RU" sz="2400" dirty="0" err="1"/>
            <a:t>една</a:t>
          </a:r>
          <a:r>
            <a:rPr lang="ru-RU" sz="2400" dirty="0"/>
            <a:t> </a:t>
          </a:r>
          <a:r>
            <a:rPr lang="ru-RU" sz="2400" dirty="0" err="1"/>
            <a:t>физическа</a:t>
          </a:r>
          <a:r>
            <a:rPr lang="ru-RU" sz="2400" dirty="0"/>
            <a:t> единица, което </a:t>
          </a:r>
          <a:r>
            <a:rPr lang="ru-RU" sz="2400" dirty="0" err="1"/>
            <a:t>може</a:t>
          </a:r>
          <a:r>
            <a:rPr lang="ru-RU" sz="2400" dirty="0"/>
            <a:t> да опрости </a:t>
          </a:r>
          <a:r>
            <a:rPr lang="ru-RU" sz="2400" dirty="0" err="1"/>
            <a:t>отстраняването</a:t>
          </a:r>
          <a:r>
            <a:rPr lang="ru-RU" sz="2400" dirty="0"/>
            <a:t> на </a:t>
          </a:r>
          <a:r>
            <a:rPr lang="ru-RU" sz="2400" dirty="0" err="1"/>
            <a:t>неизправности</a:t>
          </a:r>
          <a:r>
            <a:rPr lang="ru-RU" sz="2400" dirty="0"/>
            <a:t>.</a:t>
          </a:r>
          <a:endParaRPr lang="en-US" sz="2400" dirty="0"/>
        </a:p>
      </dgm:t>
    </dgm:pt>
    <dgm:pt modelId="{209FF273-7A24-4F40-B9CC-C649752289BB}" type="parTrans" cxnId="{D8E7E814-B0E5-4B8B-BE20-16AC9F7ECB43}">
      <dgm:prSet/>
      <dgm:spPr/>
      <dgm:t>
        <a:bodyPr/>
        <a:lstStyle/>
        <a:p>
          <a:endParaRPr lang="en-US"/>
        </a:p>
      </dgm:t>
    </dgm:pt>
    <dgm:pt modelId="{99D04049-38CA-4A3C-86B4-597AAC2458FC}" type="sibTrans" cxnId="{D8E7E814-B0E5-4B8B-BE20-16AC9F7ECB43}">
      <dgm:prSet/>
      <dgm:spPr/>
      <dgm:t>
        <a:bodyPr/>
        <a:lstStyle/>
        <a:p>
          <a:endParaRPr lang="en-US"/>
        </a:p>
      </dgm:t>
    </dgm:pt>
    <dgm:pt modelId="{406D0A34-C5B5-45DC-9D98-AF1774E6F5AA}" type="pres">
      <dgm:prSet presAssocID="{D01EADBB-C3E9-4BED-B2F6-454B4CC76A27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581E4208-CA7D-46D6-8B9A-C7353F5DFC8A}" type="pres">
      <dgm:prSet presAssocID="{AA2D636A-6387-4ED4-8EB3-F1D838AD8DC0}" presName="thickLine" presStyleLbl="alignNode1" presStyleIdx="0" presStyleCnt="3"/>
      <dgm:spPr/>
    </dgm:pt>
    <dgm:pt modelId="{39324159-BF86-4891-9444-D08DBBF049C2}" type="pres">
      <dgm:prSet presAssocID="{AA2D636A-6387-4ED4-8EB3-F1D838AD8DC0}" presName="horz1" presStyleCnt="0"/>
      <dgm:spPr/>
    </dgm:pt>
    <dgm:pt modelId="{965BBD71-E56B-400C-A71C-8EAF1B045305}" type="pres">
      <dgm:prSet presAssocID="{AA2D636A-6387-4ED4-8EB3-F1D838AD8DC0}" presName="tx1" presStyleLbl="revTx" presStyleIdx="0" presStyleCnt="3"/>
      <dgm:spPr/>
      <dgm:t>
        <a:bodyPr/>
        <a:lstStyle/>
        <a:p>
          <a:endParaRPr lang="en-US"/>
        </a:p>
      </dgm:t>
    </dgm:pt>
    <dgm:pt modelId="{7AE151E3-795C-4CA8-B9CE-8B61A4C2647A}" type="pres">
      <dgm:prSet presAssocID="{AA2D636A-6387-4ED4-8EB3-F1D838AD8DC0}" presName="vert1" presStyleCnt="0"/>
      <dgm:spPr/>
    </dgm:pt>
    <dgm:pt modelId="{5114DFA4-175F-4ED4-A436-161D54B4B39D}" type="pres">
      <dgm:prSet presAssocID="{D88C048E-5632-4E68-9D40-8511F2014A98}" presName="thickLine" presStyleLbl="alignNode1" presStyleIdx="1" presStyleCnt="3"/>
      <dgm:spPr/>
    </dgm:pt>
    <dgm:pt modelId="{6C192408-BB01-4B1D-AA18-D1D66FDCA370}" type="pres">
      <dgm:prSet presAssocID="{D88C048E-5632-4E68-9D40-8511F2014A98}" presName="horz1" presStyleCnt="0"/>
      <dgm:spPr/>
    </dgm:pt>
    <dgm:pt modelId="{191AB3F8-A00E-41DC-A040-923BB3DEF6E5}" type="pres">
      <dgm:prSet presAssocID="{D88C048E-5632-4E68-9D40-8511F2014A98}" presName="tx1" presStyleLbl="revTx" presStyleIdx="1" presStyleCnt="3"/>
      <dgm:spPr/>
      <dgm:t>
        <a:bodyPr/>
        <a:lstStyle/>
        <a:p>
          <a:endParaRPr lang="en-US"/>
        </a:p>
      </dgm:t>
    </dgm:pt>
    <dgm:pt modelId="{AFECC05B-4F17-4DD1-BD7E-7DB302CE48EB}" type="pres">
      <dgm:prSet presAssocID="{D88C048E-5632-4E68-9D40-8511F2014A98}" presName="vert1" presStyleCnt="0"/>
      <dgm:spPr/>
    </dgm:pt>
    <dgm:pt modelId="{5635A28E-0EE7-422C-AF86-0B8DBA6C2F1A}" type="pres">
      <dgm:prSet presAssocID="{797D3BF2-D0A9-4FF2-B4E8-869E1078936A}" presName="thickLine" presStyleLbl="alignNode1" presStyleIdx="2" presStyleCnt="3"/>
      <dgm:spPr/>
    </dgm:pt>
    <dgm:pt modelId="{5A0FC2C4-7B39-4BC9-9CC4-E663C49F93EA}" type="pres">
      <dgm:prSet presAssocID="{797D3BF2-D0A9-4FF2-B4E8-869E1078936A}" presName="horz1" presStyleCnt="0"/>
      <dgm:spPr/>
    </dgm:pt>
    <dgm:pt modelId="{50173929-269B-4DA2-921C-F69215A74E97}" type="pres">
      <dgm:prSet presAssocID="{797D3BF2-D0A9-4FF2-B4E8-869E1078936A}" presName="tx1" presStyleLbl="revTx" presStyleIdx="2" presStyleCnt="3"/>
      <dgm:spPr/>
      <dgm:t>
        <a:bodyPr/>
        <a:lstStyle/>
        <a:p>
          <a:endParaRPr lang="en-US"/>
        </a:p>
      </dgm:t>
    </dgm:pt>
    <dgm:pt modelId="{CCAB16CF-16A3-4F8A-A272-A165F9AE5664}" type="pres">
      <dgm:prSet presAssocID="{797D3BF2-D0A9-4FF2-B4E8-869E1078936A}" presName="vert1" presStyleCnt="0"/>
      <dgm:spPr/>
    </dgm:pt>
  </dgm:ptLst>
  <dgm:cxnLst>
    <dgm:cxn modelId="{819CF09D-F408-46AA-8704-6A7E78F4832B}" type="presOf" srcId="{D01EADBB-C3E9-4BED-B2F6-454B4CC76A27}" destId="{406D0A34-C5B5-45DC-9D98-AF1774E6F5AA}" srcOrd="0" destOrd="0" presId="urn:microsoft.com/office/officeart/2008/layout/LinedList"/>
    <dgm:cxn modelId="{B5BB1398-6CC6-4CB5-83AE-6BD6CE605EFD}" type="presOf" srcId="{D88C048E-5632-4E68-9D40-8511F2014A98}" destId="{191AB3F8-A00E-41DC-A040-923BB3DEF6E5}" srcOrd="0" destOrd="0" presId="urn:microsoft.com/office/officeart/2008/layout/LinedList"/>
    <dgm:cxn modelId="{FBD2F01F-A889-455B-A10C-EA5B1AAD58CE}" srcId="{D01EADBB-C3E9-4BED-B2F6-454B4CC76A27}" destId="{AA2D636A-6387-4ED4-8EB3-F1D838AD8DC0}" srcOrd="0" destOrd="0" parTransId="{E19E2538-B4D2-4034-8C22-CCBBE84CA443}" sibTransId="{2595C219-2935-4F42-AA7F-8591748A6A4C}"/>
    <dgm:cxn modelId="{451F8575-40D1-4CD0-8CE8-2B10ACE3E8BA}" type="presOf" srcId="{AA2D636A-6387-4ED4-8EB3-F1D838AD8DC0}" destId="{965BBD71-E56B-400C-A71C-8EAF1B045305}" srcOrd="0" destOrd="0" presId="urn:microsoft.com/office/officeart/2008/layout/LinedList"/>
    <dgm:cxn modelId="{5F22EF0E-76B5-4F17-8686-FF51FDC296CF}" type="presOf" srcId="{797D3BF2-D0A9-4FF2-B4E8-869E1078936A}" destId="{50173929-269B-4DA2-921C-F69215A74E97}" srcOrd="0" destOrd="0" presId="urn:microsoft.com/office/officeart/2008/layout/LinedList"/>
    <dgm:cxn modelId="{778B64C9-BEE5-46F5-8202-CEEE7E9C9C19}" srcId="{D01EADBB-C3E9-4BED-B2F6-454B4CC76A27}" destId="{D88C048E-5632-4E68-9D40-8511F2014A98}" srcOrd="1" destOrd="0" parTransId="{EF6DA8ED-80CD-4411-9DFF-5B2A69E2E1D6}" sibTransId="{4409FAB0-9CD3-42EE-842C-B307B033530B}"/>
    <dgm:cxn modelId="{D8E7E814-B0E5-4B8B-BE20-16AC9F7ECB43}" srcId="{D01EADBB-C3E9-4BED-B2F6-454B4CC76A27}" destId="{797D3BF2-D0A9-4FF2-B4E8-869E1078936A}" srcOrd="2" destOrd="0" parTransId="{209FF273-7A24-4F40-B9CC-C649752289BB}" sibTransId="{99D04049-38CA-4A3C-86B4-597AAC2458FC}"/>
    <dgm:cxn modelId="{6D202B59-4F3F-4E87-AC5B-7AD09400D6BD}" type="presParOf" srcId="{406D0A34-C5B5-45DC-9D98-AF1774E6F5AA}" destId="{581E4208-CA7D-46D6-8B9A-C7353F5DFC8A}" srcOrd="0" destOrd="0" presId="urn:microsoft.com/office/officeart/2008/layout/LinedList"/>
    <dgm:cxn modelId="{16D65FC8-BA05-4EB4-860C-D6A86FF8E1C3}" type="presParOf" srcId="{406D0A34-C5B5-45DC-9D98-AF1774E6F5AA}" destId="{39324159-BF86-4891-9444-D08DBBF049C2}" srcOrd="1" destOrd="0" presId="urn:microsoft.com/office/officeart/2008/layout/LinedList"/>
    <dgm:cxn modelId="{F145EDEE-47F2-4D81-BC57-6FB04936058B}" type="presParOf" srcId="{39324159-BF86-4891-9444-D08DBBF049C2}" destId="{965BBD71-E56B-400C-A71C-8EAF1B045305}" srcOrd="0" destOrd="0" presId="urn:microsoft.com/office/officeart/2008/layout/LinedList"/>
    <dgm:cxn modelId="{687A6206-C041-4EC2-AA9E-0D97C9EB2979}" type="presParOf" srcId="{39324159-BF86-4891-9444-D08DBBF049C2}" destId="{7AE151E3-795C-4CA8-B9CE-8B61A4C2647A}" srcOrd="1" destOrd="0" presId="urn:microsoft.com/office/officeart/2008/layout/LinedList"/>
    <dgm:cxn modelId="{2EA2E4DA-C5E5-421A-91FA-E1A7209CDFF2}" type="presParOf" srcId="{406D0A34-C5B5-45DC-9D98-AF1774E6F5AA}" destId="{5114DFA4-175F-4ED4-A436-161D54B4B39D}" srcOrd="2" destOrd="0" presId="urn:microsoft.com/office/officeart/2008/layout/LinedList"/>
    <dgm:cxn modelId="{0A5D616D-1620-4274-BBEE-6945C85CCB7D}" type="presParOf" srcId="{406D0A34-C5B5-45DC-9D98-AF1774E6F5AA}" destId="{6C192408-BB01-4B1D-AA18-D1D66FDCA370}" srcOrd="3" destOrd="0" presId="urn:microsoft.com/office/officeart/2008/layout/LinedList"/>
    <dgm:cxn modelId="{781D3582-9899-41F3-B5CE-C1B1FDE0037C}" type="presParOf" srcId="{6C192408-BB01-4B1D-AA18-D1D66FDCA370}" destId="{191AB3F8-A00E-41DC-A040-923BB3DEF6E5}" srcOrd="0" destOrd="0" presId="urn:microsoft.com/office/officeart/2008/layout/LinedList"/>
    <dgm:cxn modelId="{62C1FBCE-4F1B-4C49-9279-C1C42C3B027E}" type="presParOf" srcId="{6C192408-BB01-4B1D-AA18-D1D66FDCA370}" destId="{AFECC05B-4F17-4DD1-BD7E-7DB302CE48EB}" srcOrd="1" destOrd="0" presId="urn:microsoft.com/office/officeart/2008/layout/LinedList"/>
    <dgm:cxn modelId="{F3AE8D18-9523-4EA8-B726-5E14E4C85681}" type="presParOf" srcId="{406D0A34-C5B5-45DC-9D98-AF1774E6F5AA}" destId="{5635A28E-0EE7-422C-AF86-0B8DBA6C2F1A}" srcOrd="4" destOrd="0" presId="urn:microsoft.com/office/officeart/2008/layout/LinedList"/>
    <dgm:cxn modelId="{C21AC98D-76AF-4F41-BDA2-5672AC66A810}" type="presParOf" srcId="{406D0A34-C5B5-45DC-9D98-AF1774E6F5AA}" destId="{5A0FC2C4-7B39-4BC9-9CC4-E663C49F93EA}" srcOrd="5" destOrd="0" presId="urn:microsoft.com/office/officeart/2008/layout/LinedList"/>
    <dgm:cxn modelId="{8E848964-1D91-45BF-9D5E-9C370CD080F7}" type="presParOf" srcId="{5A0FC2C4-7B39-4BC9-9CC4-E663C49F93EA}" destId="{50173929-269B-4DA2-921C-F69215A74E97}" srcOrd="0" destOrd="0" presId="urn:microsoft.com/office/officeart/2008/layout/LinedList"/>
    <dgm:cxn modelId="{67375D8F-F697-4FC7-BC26-F60F2A02E575}" type="presParOf" srcId="{5A0FC2C4-7B39-4BC9-9CC4-E663C49F93EA}" destId="{CCAB16CF-16A3-4F8A-A272-A165F9AE566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86C05D-6CEC-4C3B-933F-4978E209A260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422599F-0B10-4C14-B219-55A5E4B43AAB}">
      <dgm:prSet custT="1"/>
      <dgm:spPr/>
      <dgm:t>
        <a:bodyPr/>
        <a:lstStyle/>
        <a:p>
          <a:r>
            <a:rPr lang="ru-RU" sz="2400" dirty="0" err="1"/>
            <a:t>По-високи</a:t>
          </a:r>
          <a:r>
            <a:rPr lang="ru-RU" sz="2400" dirty="0"/>
            <a:t> общи </a:t>
          </a:r>
          <a:r>
            <a:rPr lang="ru-RU" sz="2400" dirty="0" err="1"/>
            <a:t>разходи</a:t>
          </a:r>
          <a:r>
            <a:rPr lang="ru-RU" sz="2400" dirty="0"/>
            <a:t>. </a:t>
          </a:r>
          <a:r>
            <a:rPr lang="ru-RU" sz="2400" dirty="0" err="1"/>
            <a:t>Първоначалната</a:t>
          </a:r>
          <a:r>
            <a:rPr lang="ru-RU" sz="2400" dirty="0"/>
            <a:t> покупка </a:t>
          </a:r>
          <a:r>
            <a:rPr lang="ru-RU" sz="2400" dirty="0" err="1"/>
            <a:t>може</a:t>
          </a:r>
          <a:r>
            <a:rPr lang="ru-RU" sz="2400" dirty="0"/>
            <a:t> да </a:t>
          </a:r>
          <a:r>
            <a:rPr lang="ru-RU" sz="2400" dirty="0" err="1"/>
            <a:t>спести</a:t>
          </a:r>
          <a:r>
            <a:rPr lang="ru-RU" sz="2400" dirty="0"/>
            <a:t> пари за </a:t>
          </a:r>
          <a:r>
            <a:rPr lang="ru-RU" sz="2400" dirty="0" err="1"/>
            <a:t>софтуер</a:t>
          </a:r>
          <a:r>
            <a:rPr lang="ru-RU" sz="2400" dirty="0"/>
            <a:t>, но </a:t>
          </a:r>
          <a:r>
            <a:rPr lang="ru-RU" sz="2400" dirty="0" err="1"/>
            <a:t>надстройките</a:t>
          </a:r>
          <a:r>
            <a:rPr lang="ru-RU" sz="2400" dirty="0"/>
            <a:t> и </a:t>
          </a:r>
          <a:r>
            <a:rPr lang="ru-RU" sz="2400" dirty="0" err="1"/>
            <a:t>разширяването</a:t>
          </a:r>
          <a:r>
            <a:rPr lang="ru-RU" sz="2400" dirty="0"/>
            <a:t> е </a:t>
          </a:r>
          <a:r>
            <a:rPr lang="ru-RU" sz="2400" dirty="0" err="1"/>
            <a:t>по-скъпо</a:t>
          </a:r>
          <a:r>
            <a:rPr lang="ru-RU" sz="2400" dirty="0"/>
            <a:t>.</a:t>
          </a:r>
          <a:endParaRPr lang="en-US" sz="2400" dirty="0"/>
        </a:p>
      </dgm:t>
    </dgm:pt>
    <dgm:pt modelId="{FC38AAC4-790D-4E68-A111-C5C19FB1238B}" type="parTrans" cxnId="{65063D43-B78D-4050-9EF0-0ADF142CF1F6}">
      <dgm:prSet/>
      <dgm:spPr/>
      <dgm:t>
        <a:bodyPr/>
        <a:lstStyle/>
        <a:p>
          <a:endParaRPr lang="en-US"/>
        </a:p>
      </dgm:t>
    </dgm:pt>
    <dgm:pt modelId="{7651E1FE-35EC-45EF-A755-41BC47E90545}" type="sibTrans" cxnId="{65063D43-B78D-4050-9EF0-0ADF142CF1F6}">
      <dgm:prSet/>
      <dgm:spPr/>
      <dgm:t>
        <a:bodyPr/>
        <a:lstStyle/>
        <a:p>
          <a:endParaRPr lang="en-US"/>
        </a:p>
      </dgm:t>
    </dgm:pt>
    <dgm:pt modelId="{5B951F02-6F48-4A1F-89E3-EF7D196DADD7}">
      <dgm:prSet custT="1"/>
      <dgm:spPr/>
      <dgm:t>
        <a:bodyPr/>
        <a:lstStyle/>
        <a:p>
          <a:r>
            <a:rPr lang="ru-RU" sz="2400" dirty="0"/>
            <a:t>Трябва да </a:t>
          </a:r>
          <a:r>
            <a:rPr lang="ru-RU" sz="2400" dirty="0" err="1"/>
            <a:t>бъде</a:t>
          </a:r>
          <a:r>
            <a:rPr lang="ru-RU" sz="2400" dirty="0"/>
            <a:t> физически </a:t>
          </a:r>
          <a:r>
            <a:rPr lang="ru-RU" sz="2400" dirty="0" err="1"/>
            <a:t>инсталиран</a:t>
          </a:r>
          <a:r>
            <a:rPr lang="ru-RU" sz="2400" dirty="0"/>
            <a:t> и </a:t>
          </a:r>
          <a:r>
            <a:rPr lang="ru-RU" sz="2400" dirty="0" err="1"/>
            <a:t>конфигуриран</a:t>
          </a:r>
          <a:r>
            <a:rPr lang="ru-RU" sz="2400" dirty="0"/>
            <a:t>. </a:t>
          </a:r>
          <a:r>
            <a:rPr lang="ru-RU" sz="2400" dirty="0" err="1"/>
            <a:t>Мигрирането</a:t>
          </a:r>
          <a:r>
            <a:rPr lang="ru-RU" sz="2400" dirty="0"/>
            <a:t> </a:t>
          </a:r>
          <a:r>
            <a:rPr lang="ru-RU" sz="2400" dirty="0" err="1"/>
            <a:t>може</a:t>
          </a:r>
          <a:r>
            <a:rPr lang="ru-RU" sz="2400" dirty="0"/>
            <a:t> да е </a:t>
          </a:r>
          <a:r>
            <a:rPr lang="ru-RU" sz="2400" dirty="0" err="1"/>
            <a:t>предизвикателство</a:t>
          </a:r>
          <a:r>
            <a:rPr lang="ru-RU" sz="2400" dirty="0"/>
            <a:t>.</a:t>
          </a:r>
          <a:endParaRPr lang="en-US" sz="2400" dirty="0"/>
        </a:p>
      </dgm:t>
    </dgm:pt>
    <dgm:pt modelId="{15E524C6-C27D-48D8-8706-8825654F517F}" type="parTrans" cxnId="{E0F4288F-97DE-428A-806E-8A0629F747E5}">
      <dgm:prSet/>
      <dgm:spPr/>
      <dgm:t>
        <a:bodyPr/>
        <a:lstStyle/>
        <a:p>
          <a:endParaRPr lang="en-US"/>
        </a:p>
      </dgm:t>
    </dgm:pt>
    <dgm:pt modelId="{E92F3463-158C-4BD4-856C-03225491871C}" type="sibTrans" cxnId="{E0F4288F-97DE-428A-806E-8A0629F747E5}">
      <dgm:prSet/>
      <dgm:spPr/>
      <dgm:t>
        <a:bodyPr/>
        <a:lstStyle/>
        <a:p>
          <a:endParaRPr lang="en-US"/>
        </a:p>
      </dgm:t>
    </dgm:pt>
    <dgm:pt modelId="{25ACFF14-BB95-4499-8D16-4C383CD677C4}">
      <dgm:prSet custT="1"/>
      <dgm:spPr/>
      <dgm:t>
        <a:bodyPr/>
        <a:lstStyle/>
        <a:p>
          <a:r>
            <a:rPr lang="ru-RU" sz="2400" dirty="0" err="1"/>
            <a:t>По-трудно</a:t>
          </a:r>
          <a:r>
            <a:rPr lang="ru-RU" sz="2400" dirty="0"/>
            <a:t> се </a:t>
          </a:r>
          <a:r>
            <a:rPr lang="ru-RU" sz="2400" dirty="0" err="1"/>
            <a:t>разширява</a:t>
          </a:r>
          <a:r>
            <a:rPr lang="ru-RU" sz="2400" dirty="0"/>
            <a:t>; </a:t>
          </a:r>
          <a:r>
            <a:rPr lang="ru-RU" sz="2400" dirty="0" err="1"/>
            <a:t>изисква</a:t>
          </a:r>
          <a:r>
            <a:rPr lang="ru-RU" sz="2400" dirty="0"/>
            <a:t> </a:t>
          </a:r>
          <a:r>
            <a:rPr lang="ru-RU" sz="2400" dirty="0" err="1"/>
            <a:t>допълнителен</a:t>
          </a:r>
          <a:r>
            <a:rPr lang="ru-RU" sz="2400" dirty="0"/>
            <a:t> </a:t>
          </a:r>
          <a:r>
            <a:rPr lang="ru-RU" sz="2400" dirty="0" err="1"/>
            <a:t>хардуер</a:t>
          </a:r>
          <a:r>
            <a:rPr lang="ru-RU" sz="2400" dirty="0"/>
            <a:t>.</a:t>
          </a:r>
          <a:endParaRPr lang="en-US" sz="2400" dirty="0"/>
        </a:p>
      </dgm:t>
    </dgm:pt>
    <dgm:pt modelId="{2970D662-D410-4456-89E2-D9DBF2668D1B}" type="parTrans" cxnId="{72E8F5FE-E6C7-454B-A858-DC4636EECBBA}">
      <dgm:prSet/>
      <dgm:spPr/>
      <dgm:t>
        <a:bodyPr/>
        <a:lstStyle/>
        <a:p>
          <a:endParaRPr lang="en-US"/>
        </a:p>
      </dgm:t>
    </dgm:pt>
    <dgm:pt modelId="{8B15C8D3-79C2-4AB8-BA48-86592C6B9936}" type="sibTrans" cxnId="{72E8F5FE-E6C7-454B-A858-DC4636EECBBA}">
      <dgm:prSet/>
      <dgm:spPr/>
      <dgm:t>
        <a:bodyPr/>
        <a:lstStyle/>
        <a:p>
          <a:endParaRPr lang="en-US"/>
        </a:p>
      </dgm:t>
    </dgm:pt>
    <dgm:pt modelId="{DAEE6F39-8F6F-4EB3-A971-07553558B0FA}">
      <dgm:prSet custT="1"/>
      <dgm:spPr/>
      <dgm:t>
        <a:bodyPr/>
        <a:lstStyle/>
        <a:p>
          <a:r>
            <a:rPr lang="bg-BG" sz="2400" dirty="0"/>
            <a:t>Повишен риск поради съществуването на физически сървър.</a:t>
          </a:r>
          <a:endParaRPr lang="en-US" sz="2400" dirty="0"/>
        </a:p>
      </dgm:t>
    </dgm:pt>
    <dgm:pt modelId="{BCDBA7C7-8203-4FDF-B9D9-07B806BE5CE6}" type="parTrans" cxnId="{F9463A57-81B7-4D15-A83F-EBAFC3A12A4A}">
      <dgm:prSet/>
      <dgm:spPr/>
      <dgm:t>
        <a:bodyPr/>
        <a:lstStyle/>
        <a:p>
          <a:endParaRPr lang="en-US"/>
        </a:p>
      </dgm:t>
    </dgm:pt>
    <dgm:pt modelId="{F99F97B6-B920-4DC2-AB30-0F272E2C4714}" type="sibTrans" cxnId="{F9463A57-81B7-4D15-A83F-EBAFC3A12A4A}">
      <dgm:prSet/>
      <dgm:spPr/>
      <dgm:t>
        <a:bodyPr/>
        <a:lstStyle/>
        <a:p>
          <a:endParaRPr lang="en-US"/>
        </a:p>
      </dgm:t>
    </dgm:pt>
    <dgm:pt modelId="{B9EE5F37-9CB4-40D1-8E3F-F4FC2813B0FC}" type="pres">
      <dgm:prSet presAssocID="{7786C05D-6CEC-4C3B-933F-4978E209A260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65A315F0-4AA1-4157-B27C-9C0BA845335D}" type="pres">
      <dgm:prSet presAssocID="{7422599F-0B10-4C14-B219-55A5E4B43AAB}" presName="thickLine" presStyleLbl="alignNode1" presStyleIdx="0" presStyleCnt="4"/>
      <dgm:spPr/>
    </dgm:pt>
    <dgm:pt modelId="{255D7257-43E8-47F4-BDF2-F9BDCFEED5F4}" type="pres">
      <dgm:prSet presAssocID="{7422599F-0B10-4C14-B219-55A5E4B43AAB}" presName="horz1" presStyleCnt="0"/>
      <dgm:spPr/>
    </dgm:pt>
    <dgm:pt modelId="{5C3659A7-D572-4AA7-8071-4FF500596ACA}" type="pres">
      <dgm:prSet presAssocID="{7422599F-0B10-4C14-B219-55A5E4B43AAB}" presName="tx1" presStyleLbl="revTx" presStyleIdx="0" presStyleCnt="4"/>
      <dgm:spPr/>
      <dgm:t>
        <a:bodyPr/>
        <a:lstStyle/>
        <a:p>
          <a:endParaRPr lang="en-US"/>
        </a:p>
      </dgm:t>
    </dgm:pt>
    <dgm:pt modelId="{4779F3DB-2101-4371-934E-B6DF84E93C90}" type="pres">
      <dgm:prSet presAssocID="{7422599F-0B10-4C14-B219-55A5E4B43AAB}" presName="vert1" presStyleCnt="0"/>
      <dgm:spPr/>
    </dgm:pt>
    <dgm:pt modelId="{38C7F3C2-38BF-43CD-8645-96C347303F36}" type="pres">
      <dgm:prSet presAssocID="{5B951F02-6F48-4A1F-89E3-EF7D196DADD7}" presName="thickLine" presStyleLbl="alignNode1" presStyleIdx="1" presStyleCnt="4"/>
      <dgm:spPr/>
    </dgm:pt>
    <dgm:pt modelId="{B508A361-1EDD-4DC4-B7B9-0FCCE9AF5F9F}" type="pres">
      <dgm:prSet presAssocID="{5B951F02-6F48-4A1F-89E3-EF7D196DADD7}" presName="horz1" presStyleCnt="0"/>
      <dgm:spPr/>
    </dgm:pt>
    <dgm:pt modelId="{A9CA707D-B3D4-4A95-9B5E-4C26ABAE26F2}" type="pres">
      <dgm:prSet presAssocID="{5B951F02-6F48-4A1F-89E3-EF7D196DADD7}" presName="tx1" presStyleLbl="revTx" presStyleIdx="1" presStyleCnt="4"/>
      <dgm:spPr/>
      <dgm:t>
        <a:bodyPr/>
        <a:lstStyle/>
        <a:p>
          <a:endParaRPr lang="en-US"/>
        </a:p>
      </dgm:t>
    </dgm:pt>
    <dgm:pt modelId="{73B99D20-F811-4BF3-BDBC-FB2C63D2E012}" type="pres">
      <dgm:prSet presAssocID="{5B951F02-6F48-4A1F-89E3-EF7D196DADD7}" presName="vert1" presStyleCnt="0"/>
      <dgm:spPr/>
    </dgm:pt>
    <dgm:pt modelId="{D5478DE4-00A8-4B96-9FC9-93C8BB2DE2EA}" type="pres">
      <dgm:prSet presAssocID="{25ACFF14-BB95-4499-8D16-4C383CD677C4}" presName="thickLine" presStyleLbl="alignNode1" presStyleIdx="2" presStyleCnt="4"/>
      <dgm:spPr/>
    </dgm:pt>
    <dgm:pt modelId="{F7154A03-6949-49E8-9AAA-9C042FF79523}" type="pres">
      <dgm:prSet presAssocID="{25ACFF14-BB95-4499-8D16-4C383CD677C4}" presName="horz1" presStyleCnt="0"/>
      <dgm:spPr/>
    </dgm:pt>
    <dgm:pt modelId="{D974A93B-94D5-401B-ADC0-D53D203E4605}" type="pres">
      <dgm:prSet presAssocID="{25ACFF14-BB95-4499-8D16-4C383CD677C4}" presName="tx1" presStyleLbl="revTx" presStyleIdx="2" presStyleCnt="4"/>
      <dgm:spPr/>
      <dgm:t>
        <a:bodyPr/>
        <a:lstStyle/>
        <a:p>
          <a:endParaRPr lang="en-US"/>
        </a:p>
      </dgm:t>
    </dgm:pt>
    <dgm:pt modelId="{25893FC2-F8DE-4B51-B8B9-CDDC74DC1148}" type="pres">
      <dgm:prSet presAssocID="{25ACFF14-BB95-4499-8D16-4C383CD677C4}" presName="vert1" presStyleCnt="0"/>
      <dgm:spPr/>
    </dgm:pt>
    <dgm:pt modelId="{C2A99AEE-E88F-4D84-B35E-6F08E27A2E48}" type="pres">
      <dgm:prSet presAssocID="{DAEE6F39-8F6F-4EB3-A971-07553558B0FA}" presName="thickLine" presStyleLbl="alignNode1" presStyleIdx="3" presStyleCnt="4"/>
      <dgm:spPr/>
    </dgm:pt>
    <dgm:pt modelId="{960C7D75-325D-4165-9570-F3CA0A33C0B6}" type="pres">
      <dgm:prSet presAssocID="{DAEE6F39-8F6F-4EB3-A971-07553558B0FA}" presName="horz1" presStyleCnt="0"/>
      <dgm:spPr/>
    </dgm:pt>
    <dgm:pt modelId="{1436FB53-26DE-4154-9EC6-CD8C65EAFFF3}" type="pres">
      <dgm:prSet presAssocID="{DAEE6F39-8F6F-4EB3-A971-07553558B0FA}" presName="tx1" presStyleLbl="revTx" presStyleIdx="3" presStyleCnt="4"/>
      <dgm:spPr/>
      <dgm:t>
        <a:bodyPr/>
        <a:lstStyle/>
        <a:p>
          <a:endParaRPr lang="en-US"/>
        </a:p>
      </dgm:t>
    </dgm:pt>
    <dgm:pt modelId="{60A8D4BF-9C3D-4092-B15D-8605E9714FF2}" type="pres">
      <dgm:prSet presAssocID="{DAEE6F39-8F6F-4EB3-A971-07553558B0FA}" presName="vert1" presStyleCnt="0"/>
      <dgm:spPr/>
    </dgm:pt>
  </dgm:ptLst>
  <dgm:cxnLst>
    <dgm:cxn modelId="{358AD404-FF29-412B-9977-474A1860AD9E}" type="presOf" srcId="{7422599F-0B10-4C14-B219-55A5E4B43AAB}" destId="{5C3659A7-D572-4AA7-8071-4FF500596ACA}" srcOrd="0" destOrd="0" presId="urn:microsoft.com/office/officeart/2008/layout/LinedList"/>
    <dgm:cxn modelId="{D26064B4-4EE4-4E63-96C8-C18402A9B6C0}" type="presOf" srcId="{DAEE6F39-8F6F-4EB3-A971-07553558B0FA}" destId="{1436FB53-26DE-4154-9EC6-CD8C65EAFFF3}" srcOrd="0" destOrd="0" presId="urn:microsoft.com/office/officeart/2008/layout/LinedList"/>
    <dgm:cxn modelId="{65063D43-B78D-4050-9EF0-0ADF142CF1F6}" srcId="{7786C05D-6CEC-4C3B-933F-4978E209A260}" destId="{7422599F-0B10-4C14-B219-55A5E4B43AAB}" srcOrd="0" destOrd="0" parTransId="{FC38AAC4-790D-4E68-A111-C5C19FB1238B}" sibTransId="{7651E1FE-35EC-45EF-A755-41BC47E90545}"/>
    <dgm:cxn modelId="{E0F4288F-97DE-428A-806E-8A0629F747E5}" srcId="{7786C05D-6CEC-4C3B-933F-4978E209A260}" destId="{5B951F02-6F48-4A1F-89E3-EF7D196DADD7}" srcOrd="1" destOrd="0" parTransId="{15E524C6-C27D-48D8-8706-8825654F517F}" sibTransId="{E92F3463-158C-4BD4-856C-03225491871C}"/>
    <dgm:cxn modelId="{74951D99-E022-4834-B0F8-54CEBBB8BA11}" type="presOf" srcId="{7786C05D-6CEC-4C3B-933F-4978E209A260}" destId="{B9EE5F37-9CB4-40D1-8E3F-F4FC2813B0FC}" srcOrd="0" destOrd="0" presId="urn:microsoft.com/office/officeart/2008/layout/LinedList"/>
    <dgm:cxn modelId="{F9463A57-81B7-4D15-A83F-EBAFC3A12A4A}" srcId="{7786C05D-6CEC-4C3B-933F-4978E209A260}" destId="{DAEE6F39-8F6F-4EB3-A971-07553558B0FA}" srcOrd="3" destOrd="0" parTransId="{BCDBA7C7-8203-4FDF-B9D9-07B806BE5CE6}" sibTransId="{F99F97B6-B920-4DC2-AB30-0F272E2C4714}"/>
    <dgm:cxn modelId="{9A26FCEC-8939-409D-9BB3-0CA910D7900F}" type="presOf" srcId="{5B951F02-6F48-4A1F-89E3-EF7D196DADD7}" destId="{A9CA707D-B3D4-4A95-9B5E-4C26ABAE26F2}" srcOrd="0" destOrd="0" presId="urn:microsoft.com/office/officeart/2008/layout/LinedList"/>
    <dgm:cxn modelId="{72E8F5FE-E6C7-454B-A858-DC4636EECBBA}" srcId="{7786C05D-6CEC-4C3B-933F-4978E209A260}" destId="{25ACFF14-BB95-4499-8D16-4C383CD677C4}" srcOrd="2" destOrd="0" parTransId="{2970D662-D410-4456-89E2-D9DBF2668D1B}" sibTransId="{8B15C8D3-79C2-4AB8-BA48-86592C6B9936}"/>
    <dgm:cxn modelId="{F272EDBA-1288-42EE-9F25-ECFC808186C7}" type="presOf" srcId="{25ACFF14-BB95-4499-8D16-4C383CD677C4}" destId="{D974A93B-94D5-401B-ADC0-D53D203E4605}" srcOrd="0" destOrd="0" presId="urn:microsoft.com/office/officeart/2008/layout/LinedList"/>
    <dgm:cxn modelId="{96AFF5B6-5E85-43FF-B4C8-927283705FAB}" type="presParOf" srcId="{B9EE5F37-9CB4-40D1-8E3F-F4FC2813B0FC}" destId="{65A315F0-4AA1-4157-B27C-9C0BA845335D}" srcOrd="0" destOrd="0" presId="urn:microsoft.com/office/officeart/2008/layout/LinedList"/>
    <dgm:cxn modelId="{4A868A25-5FE3-481A-92FE-596A1EF9318E}" type="presParOf" srcId="{B9EE5F37-9CB4-40D1-8E3F-F4FC2813B0FC}" destId="{255D7257-43E8-47F4-BDF2-F9BDCFEED5F4}" srcOrd="1" destOrd="0" presId="urn:microsoft.com/office/officeart/2008/layout/LinedList"/>
    <dgm:cxn modelId="{55F254A2-5021-47B7-9A2A-FDA51FF17952}" type="presParOf" srcId="{255D7257-43E8-47F4-BDF2-F9BDCFEED5F4}" destId="{5C3659A7-D572-4AA7-8071-4FF500596ACA}" srcOrd="0" destOrd="0" presId="urn:microsoft.com/office/officeart/2008/layout/LinedList"/>
    <dgm:cxn modelId="{770B7632-1D7F-444B-9E73-7F6EF0625B09}" type="presParOf" srcId="{255D7257-43E8-47F4-BDF2-F9BDCFEED5F4}" destId="{4779F3DB-2101-4371-934E-B6DF84E93C90}" srcOrd="1" destOrd="0" presId="urn:microsoft.com/office/officeart/2008/layout/LinedList"/>
    <dgm:cxn modelId="{D627C174-20C7-42E9-9E02-D08AC38AB46B}" type="presParOf" srcId="{B9EE5F37-9CB4-40D1-8E3F-F4FC2813B0FC}" destId="{38C7F3C2-38BF-43CD-8645-96C347303F36}" srcOrd="2" destOrd="0" presId="urn:microsoft.com/office/officeart/2008/layout/LinedList"/>
    <dgm:cxn modelId="{E6908D9C-42BE-4B51-A66E-5548CC345EF1}" type="presParOf" srcId="{B9EE5F37-9CB4-40D1-8E3F-F4FC2813B0FC}" destId="{B508A361-1EDD-4DC4-B7B9-0FCCE9AF5F9F}" srcOrd="3" destOrd="0" presId="urn:microsoft.com/office/officeart/2008/layout/LinedList"/>
    <dgm:cxn modelId="{475DD664-6EAE-44E2-86BD-C80BB5F49688}" type="presParOf" srcId="{B508A361-1EDD-4DC4-B7B9-0FCCE9AF5F9F}" destId="{A9CA707D-B3D4-4A95-9B5E-4C26ABAE26F2}" srcOrd="0" destOrd="0" presId="urn:microsoft.com/office/officeart/2008/layout/LinedList"/>
    <dgm:cxn modelId="{432E0CF1-5022-4A6F-8786-712C7DA34A74}" type="presParOf" srcId="{B508A361-1EDD-4DC4-B7B9-0FCCE9AF5F9F}" destId="{73B99D20-F811-4BF3-BDBC-FB2C63D2E012}" srcOrd="1" destOrd="0" presId="urn:microsoft.com/office/officeart/2008/layout/LinedList"/>
    <dgm:cxn modelId="{67EE621F-A5E5-4428-8A8B-7702A25F474F}" type="presParOf" srcId="{B9EE5F37-9CB4-40D1-8E3F-F4FC2813B0FC}" destId="{D5478DE4-00A8-4B96-9FC9-93C8BB2DE2EA}" srcOrd="4" destOrd="0" presId="urn:microsoft.com/office/officeart/2008/layout/LinedList"/>
    <dgm:cxn modelId="{6B80A7FF-98AC-4A6A-A79C-E743567193CE}" type="presParOf" srcId="{B9EE5F37-9CB4-40D1-8E3F-F4FC2813B0FC}" destId="{F7154A03-6949-49E8-9AAA-9C042FF79523}" srcOrd="5" destOrd="0" presId="urn:microsoft.com/office/officeart/2008/layout/LinedList"/>
    <dgm:cxn modelId="{1F7D8C31-15C0-44A9-A29A-D63506D312F0}" type="presParOf" srcId="{F7154A03-6949-49E8-9AAA-9C042FF79523}" destId="{D974A93B-94D5-401B-ADC0-D53D203E4605}" srcOrd="0" destOrd="0" presId="urn:microsoft.com/office/officeart/2008/layout/LinedList"/>
    <dgm:cxn modelId="{1A8C2892-F4A0-4A72-A7CE-C5CA81E13E96}" type="presParOf" srcId="{F7154A03-6949-49E8-9AAA-9C042FF79523}" destId="{25893FC2-F8DE-4B51-B8B9-CDDC74DC1148}" srcOrd="1" destOrd="0" presId="urn:microsoft.com/office/officeart/2008/layout/LinedList"/>
    <dgm:cxn modelId="{940F02EF-27AD-4E0E-8CED-2185C04036F7}" type="presParOf" srcId="{B9EE5F37-9CB4-40D1-8E3F-F4FC2813B0FC}" destId="{C2A99AEE-E88F-4D84-B35E-6F08E27A2E48}" srcOrd="6" destOrd="0" presId="urn:microsoft.com/office/officeart/2008/layout/LinedList"/>
    <dgm:cxn modelId="{437DE2E0-53AA-4164-A8B8-23409E83D4A0}" type="presParOf" srcId="{B9EE5F37-9CB4-40D1-8E3F-F4FC2813B0FC}" destId="{960C7D75-325D-4165-9570-F3CA0A33C0B6}" srcOrd="7" destOrd="0" presId="urn:microsoft.com/office/officeart/2008/layout/LinedList"/>
    <dgm:cxn modelId="{30FC9498-0AB0-4BF4-A292-36CAF5BE7CF3}" type="presParOf" srcId="{960C7D75-325D-4165-9570-F3CA0A33C0B6}" destId="{1436FB53-26DE-4154-9EC6-CD8C65EAFFF3}" srcOrd="0" destOrd="0" presId="urn:microsoft.com/office/officeart/2008/layout/LinedList"/>
    <dgm:cxn modelId="{6EF91599-AAA7-47BE-845B-97DC7117E3A7}" type="presParOf" srcId="{960C7D75-325D-4165-9570-F3CA0A33C0B6}" destId="{60A8D4BF-9C3D-4092-B15D-8605E9714FF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822775-509B-46BD-925D-11B27E30B17D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DE5553F0-1324-435B-999F-E785109A0E76}">
      <dgm:prSet custT="1"/>
      <dgm:spPr/>
      <dgm:t>
        <a:bodyPr/>
        <a:lstStyle/>
        <a:p>
          <a:r>
            <a:rPr lang="ru-RU" sz="2400" dirty="0" err="1"/>
            <a:t>По-ниски</a:t>
          </a:r>
          <a:r>
            <a:rPr lang="ru-RU" sz="2400" dirty="0"/>
            <a:t> </a:t>
          </a:r>
          <a:r>
            <a:rPr lang="ru-RU" sz="2400" dirty="0" err="1"/>
            <a:t>разходи</a:t>
          </a:r>
          <a:r>
            <a:rPr lang="ru-RU" sz="2400" dirty="0"/>
            <a:t> в </a:t>
          </a:r>
          <a:r>
            <a:rPr lang="ru-RU" sz="2400" dirty="0" err="1"/>
            <a:t>дългосрочен</a:t>
          </a:r>
          <a:r>
            <a:rPr lang="ru-RU" sz="2400" dirty="0"/>
            <a:t> план. </a:t>
          </a:r>
          <a:r>
            <a:rPr lang="ru-RU" sz="2400" dirty="0" err="1"/>
            <a:t>Първоначалното</a:t>
          </a:r>
          <a:r>
            <a:rPr lang="ru-RU" sz="2400" dirty="0"/>
            <a:t> </a:t>
          </a:r>
          <a:r>
            <a:rPr lang="ru-RU" sz="2400" dirty="0" err="1"/>
            <a:t>закупуване</a:t>
          </a:r>
          <a:r>
            <a:rPr lang="ru-RU" sz="2400" dirty="0"/>
            <a:t> на </a:t>
          </a:r>
          <a:r>
            <a:rPr lang="ru-RU" sz="2400" dirty="0" err="1"/>
            <a:t>хардуер</a:t>
          </a:r>
          <a:r>
            <a:rPr lang="ru-RU" sz="2400" dirty="0"/>
            <a:t> и </a:t>
          </a:r>
          <a:r>
            <a:rPr lang="ru-RU" sz="2400" dirty="0" err="1"/>
            <a:t>софтуер</a:t>
          </a:r>
          <a:r>
            <a:rPr lang="ru-RU" sz="2400" dirty="0"/>
            <a:t> </a:t>
          </a:r>
          <a:r>
            <a:rPr lang="ru-RU" sz="2400" dirty="0" err="1"/>
            <a:t>може</a:t>
          </a:r>
          <a:r>
            <a:rPr lang="ru-RU" sz="2400" dirty="0"/>
            <a:t> да </a:t>
          </a:r>
          <a:r>
            <a:rPr lang="ru-RU" sz="2400" dirty="0" err="1"/>
            <a:t>бъде</a:t>
          </a:r>
          <a:r>
            <a:rPr lang="ru-RU" sz="2400" dirty="0"/>
            <a:t> </a:t>
          </a:r>
          <a:r>
            <a:rPr lang="ru-RU" sz="2400" dirty="0" err="1"/>
            <a:t>по-скъпо</a:t>
          </a:r>
          <a:r>
            <a:rPr lang="ru-RU" sz="2400" dirty="0"/>
            <a:t>, но </a:t>
          </a:r>
          <a:r>
            <a:rPr lang="ru-RU" sz="2400" dirty="0" err="1"/>
            <a:t>надграждането</a:t>
          </a:r>
          <a:r>
            <a:rPr lang="ru-RU" sz="2400" dirty="0"/>
            <a:t> и </a:t>
          </a:r>
          <a:r>
            <a:rPr lang="ru-RU" sz="2400" dirty="0" err="1"/>
            <a:t>разширяването</a:t>
          </a:r>
          <a:r>
            <a:rPr lang="ru-RU" sz="2400" dirty="0"/>
            <a:t> са много </a:t>
          </a:r>
          <a:r>
            <a:rPr lang="ru-RU" sz="2400" dirty="0" err="1"/>
            <a:t>по-ефикасни</a:t>
          </a:r>
          <a:r>
            <a:rPr lang="ru-RU" sz="2400" dirty="0"/>
            <a:t> от </a:t>
          </a:r>
          <a:r>
            <a:rPr lang="ru-RU" sz="2400" dirty="0" err="1"/>
            <a:t>гледна</a:t>
          </a:r>
          <a:r>
            <a:rPr lang="ru-RU" sz="2400" dirty="0"/>
            <a:t> точка на </a:t>
          </a:r>
          <a:r>
            <a:rPr lang="ru-RU" sz="2400" dirty="0" err="1"/>
            <a:t>разходите</a:t>
          </a:r>
          <a:r>
            <a:rPr lang="ru-RU" sz="2400" dirty="0"/>
            <a:t>.</a:t>
          </a:r>
          <a:endParaRPr lang="en-US" sz="2400" dirty="0"/>
        </a:p>
      </dgm:t>
    </dgm:pt>
    <dgm:pt modelId="{C45A9D4A-96D0-4201-8CC0-AC1E118AD18C}" type="parTrans" cxnId="{89D39AF9-A3CB-442A-9A6C-CCE433E1240D}">
      <dgm:prSet/>
      <dgm:spPr/>
      <dgm:t>
        <a:bodyPr/>
        <a:lstStyle/>
        <a:p>
          <a:endParaRPr lang="en-US"/>
        </a:p>
      </dgm:t>
    </dgm:pt>
    <dgm:pt modelId="{4549B710-6A8D-41F0-8532-9D358FCA9454}" type="sibTrans" cxnId="{89D39AF9-A3CB-442A-9A6C-CCE433E1240D}">
      <dgm:prSet/>
      <dgm:spPr/>
      <dgm:t>
        <a:bodyPr/>
        <a:lstStyle/>
        <a:p>
          <a:endParaRPr lang="en-US"/>
        </a:p>
      </dgm:t>
    </dgm:pt>
    <dgm:pt modelId="{7AD56D2A-1376-4EDD-A986-99A24E2D7CBA}">
      <dgm:prSet custT="1"/>
      <dgm:spPr/>
      <dgm:t>
        <a:bodyPr/>
        <a:lstStyle/>
        <a:p>
          <a:r>
            <a:rPr lang="ru-RU" sz="2400" dirty="0" err="1"/>
            <a:t>Ефективно</a:t>
          </a:r>
          <a:r>
            <a:rPr lang="ru-RU" sz="2400" dirty="0"/>
            <a:t> използване на </a:t>
          </a:r>
          <a:r>
            <a:rPr lang="ru-RU" sz="2400" dirty="0" err="1"/>
            <a:t>пространството</a:t>
          </a:r>
          <a:r>
            <a:rPr lang="ru-RU" sz="2400" dirty="0"/>
            <a:t>, </a:t>
          </a:r>
          <a:r>
            <a:rPr lang="ru-RU" sz="2400" dirty="0" err="1"/>
            <a:t>тъй</a:t>
          </a:r>
          <a:r>
            <a:rPr lang="ru-RU" sz="2400" dirty="0"/>
            <a:t> като </a:t>
          </a:r>
          <a:r>
            <a:rPr lang="ru-RU" sz="2400" dirty="0" err="1"/>
            <a:t>няколко</a:t>
          </a:r>
          <a:r>
            <a:rPr lang="ru-RU" sz="2400" dirty="0"/>
            <a:t> </a:t>
          </a:r>
          <a:r>
            <a:rPr lang="ru-RU" sz="2400" dirty="0" err="1"/>
            <a:t>виртуални</a:t>
          </a:r>
          <a:r>
            <a:rPr lang="ru-RU" sz="2400" dirty="0"/>
            <a:t> </a:t>
          </a:r>
          <a:r>
            <a:rPr lang="ru-RU" sz="2400" dirty="0" err="1"/>
            <a:t>сървъра</a:t>
          </a:r>
          <a:r>
            <a:rPr lang="ru-RU" sz="2400" dirty="0"/>
            <a:t> </a:t>
          </a:r>
          <a:r>
            <a:rPr lang="ru-RU" sz="2400" dirty="0" err="1"/>
            <a:t>могат</a:t>
          </a:r>
          <a:r>
            <a:rPr lang="ru-RU" sz="2400" dirty="0"/>
            <a:t> да </a:t>
          </a:r>
          <a:r>
            <a:rPr lang="ru-RU" sz="2400" dirty="0" err="1"/>
            <a:t>работят</a:t>
          </a:r>
          <a:r>
            <a:rPr lang="ru-RU" sz="2400" dirty="0"/>
            <a:t> на един физически </a:t>
          </a:r>
          <a:r>
            <a:rPr lang="ru-RU" sz="2400" dirty="0" err="1"/>
            <a:t>сървър</a:t>
          </a:r>
          <a:r>
            <a:rPr lang="ru-RU" sz="2400" dirty="0"/>
            <a:t>.</a:t>
          </a:r>
          <a:endParaRPr lang="en-US" sz="2400" dirty="0"/>
        </a:p>
      </dgm:t>
    </dgm:pt>
    <dgm:pt modelId="{6E94C0C2-E079-4996-8819-CDCD12270BC9}" type="parTrans" cxnId="{2C22A451-6E9D-49E8-8752-ECC26FEBF5FB}">
      <dgm:prSet/>
      <dgm:spPr/>
      <dgm:t>
        <a:bodyPr/>
        <a:lstStyle/>
        <a:p>
          <a:endParaRPr lang="en-US"/>
        </a:p>
      </dgm:t>
    </dgm:pt>
    <dgm:pt modelId="{C11A3A1E-2E01-46F9-B1A0-A4DE97AEBA7B}" type="sibTrans" cxnId="{2C22A451-6E9D-49E8-8752-ECC26FEBF5FB}">
      <dgm:prSet/>
      <dgm:spPr/>
      <dgm:t>
        <a:bodyPr/>
        <a:lstStyle/>
        <a:p>
          <a:endParaRPr lang="en-US"/>
        </a:p>
      </dgm:t>
    </dgm:pt>
    <dgm:pt modelId="{8AF166BA-8F44-4448-BE0D-753892F083AF}">
      <dgm:prSet custT="1"/>
      <dgm:spPr/>
      <dgm:t>
        <a:bodyPr/>
        <a:lstStyle/>
        <a:p>
          <a:r>
            <a:rPr lang="ru-RU" sz="2400" dirty="0" err="1"/>
            <a:t>Улесняване</a:t>
          </a:r>
          <a:r>
            <a:rPr lang="ru-RU" sz="2400" dirty="0"/>
            <a:t> на </a:t>
          </a:r>
          <a:r>
            <a:rPr lang="ru-RU" sz="2400" dirty="0" err="1"/>
            <a:t>отказоустойчивостта</a:t>
          </a:r>
          <a:r>
            <a:rPr lang="ru-RU" sz="2400" dirty="0"/>
            <a:t> при </a:t>
          </a:r>
          <a:r>
            <a:rPr lang="ru-RU" sz="2400" dirty="0" err="1"/>
            <a:t>географски</a:t>
          </a:r>
          <a:r>
            <a:rPr lang="ru-RU" sz="2400" dirty="0"/>
            <a:t> </a:t>
          </a:r>
          <a:r>
            <a:rPr lang="ru-RU" sz="2400" dirty="0" err="1"/>
            <a:t>разстояния</a:t>
          </a:r>
          <a:r>
            <a:rPr lang="ru-RU" sz="2400" dirty="0"/>
            <a:t>, </a:t>
          </a:r>
          <a:r>
            <a:rPr lang="ru-RU" sz="2400" dirty="0" err="1"/>
            <a:t>тъй</a:t>
          </a:r>
          <a:r>
            <a:rPr lang="ru-RU" sz="2400" dirty="0"/>
            <a:t> като </a:t>
          </a:r>
          <a:r>
            <a:rPr lang="ru-RU" sz="2400" dirty="0" err="1"/>
            <a:t>виртуалните</a:t>
          </a:r>
          <a:r>
            <a:rPr lang="ru-RU" sz="2400" dirty="0"/>
            <a:t> </a:t>
          </a:r>
          <a:r>
            <a:rPr lang="ru-RU" sz="2400" dirty="0" err="1"/>
            <a:t>сървъри</a:t>
          </a:r>
          <a:r>
            <a:rPr lang="ru-RU" sz="2400" dirty="0"/>
            <a:t> </a:t>
          </a:r>
          <a:r>
            <a:rPr lang="ru-RU" sz="2400" dirty="0" err="1"/>
            <a:t>могат</a:t>
          </a:r>
          <a:r>
            <a:rPr lang="ru-RU" sz="2400" dirty="0"/>
            <a:t> </a:t>
          </a:r>
          <a:r>
            <a:rPr lang="ru-RU" sz="2400" dirty="0" err="1"/>
            <a:t>лесно</a:t>
          </a:r>
          <a:r>
            <a:rPr lang="ru-RU" sz="2400" dirty="0"/>
            <a:t> да </a:t>
          </a:r>
          <a:r>
            <a:rPr lang="ru-RU" sz="2400" dirty="0" err="1"/>
            <a:t>бъдат</a:t>
          </a:r>
          <a:r>
            <a:rPr lang="ru-RU" sz="2400" dirty="0"/>
            <a:t> </a:t>
          </a:r>
          <a:r>
            <a:rPr lang="ru-RU" sz="2400" dirty="0" err="1"/>
            <a:t>репликирани</a:t>
          </a:r>
          <a:r>
            <a:rPr lang="ru-RU" sz="2400" dirty="0"/>
            <a:t> в облака.</a:t>
          </a:r>
          <a:endParaRPr lang="en-US" sz="2400" dirty="0"/>
        </a:p>
      </dgm:t>
    </dgm:pt>
    <dgm:pt modelId="{36F7FEDA-218E-4CC7-9752-177F66ECD1FB}" type="parTrans" cxnId="{EE8C07FA-4A42-434F-8846-0A8796828382}">
      <dgm:prSet/>
      <dgm:spPr/>
      <dgm:t>
        <a:bodyPr/>
        <a:lstStyle/>
        <a:p>
          <a:endParaRPr lang="en-US"/>
        </a:p>
      </dgm:t>
    </dgm:pt>
    <dgm:pt modelId="{6D1AE8F5-BE29-4BA9-81A3-433E1F64559F}" type="sibTrans" cxnId="{EE8C07FA-4A42-434F-8846-0A8796828382}">
      <dgm:prSet/>
      <dgm:spPr/>
      <dgm:t>
        <a:bodyPr/>
        <a:lstStyle/>
        <a:p>
          <a:endParaRPr lang="en-US"/>
        </a:p>
      </dgm:t>
    </dgm:pt>
    <dgm:pt modelId="{1C2FE814-D643-476A-B49C-0C79F78E2C71}" type="pres">
      <dgm:prSet presAssocID="{60822775-509B-46BD-925D-11B27E30B17D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53D5EC13-5735-479F-AAF7-A72743DE1117}" type="pres">
      <dgm:prSet presAssocID="{DE5553F0-1324-435B-999F-E785109A0E76}" presName="thickLine" presStyleLbl="alignNode1" presStyleIdx="0" presStyleCnt="3"/>
      <dgm:spPr/>
    </dgm:pt>
    <dgm:pt modelId="{C4320982-6A20-4708-9B2C-8F88F42D3F9F}" type="pres">
      <dgm:prSet presAssocID="{DE5553F0-1324-435B-999F-E785109A0E76}" presName="horz1" presStyleCnt="0"/>
      <dgm:spPr/>
    </dgm:pt>
    <dgm:pt modelId="{F0FD2F4B-1D59-4C1D-B79D-542066A626B9}" type="pres">
      <dgm:prSet presAssocID="{DE5553F0-1324-435B-999F-E785109A0E76}" presName="tx1" presStyleLbl="revTx" presStyleIdx="0" presStyleCnt="3"/>
      <dgm:spPr/>
      <dgm:t>
        <a:bodyPr/>
        <a:lstStyle/>
        <a:p>
          <a:endParaRPr lang="en-US"/>
        </a:p>
      </dgm:t>
    </dgm:pt>
    <dgm:pt modelId="{D036C705-605F-4CDD-9ADF-3110B56E884E}" type="pres">
      <dgm:prSet presAssocID="{DE5553F0-1324-435B-999F-E785109A0E76}" presName="vert1" presStyleCnt="0"/>
      <dgm:spPr/>
    </dgm:pt>
    <dgm:pt modelId="{4276DCDE-5357-4DEC-ACA7-5321E4DC326E}" type="pres">
      <dgm:prSet presAssocID="{7AD56D2A-1376-4EDD-A986-99A24E2D7CBA}" presName="thickLine" presStyleLbl="alignNode1" presStyleIdx="1" presStyleCnt="3"/>
      <dgm:spPr/>
    </dgm:pt>
    <dgm:pt modelId="{4BCB3DA9-0572-4F90-B6C0-C17F11F82F57}" type="pres">
      <dgm:prSet presAssocID="{7AD56D2A-1376-4EDD-A986-99A24E2D7CBA}" presName="horz1" presStyleCnt="0"/>
      <dgm:spPr/>
    </dgm:pt>
    <dgm:pt modelId="{A0367067-8CDF-4AC2-B73A-9B4AD1CB47EF}" type="pres">
      <dgm:prSet presAssocID="{7AD56D2A-1376-4EDD-A986-99A24E2D7CBA}" presName="tx1" presStyleLbl="revTx" presStyleIdx="1" presStyleCnt="3"/>
      <dgm:spPr/>
      <dgm:t>
        <a:bodyPr/>
        <a:lstStyle/>
        <a:p>
          <a:endParaRPr lang="en-US"/>
        </a:p>
      </dgm:t>
    </dgm:pt>
    <dgm:pt modelId="{FE749F70-DCED-4136-952C-42F0F83C7106}" type="pres">
      <dgm:prSet presAssocID="{7AD56D2A-1376-4EDD-A986-99A24E2D7CBA}" presName="vert1" presStyleCnt="0"/>
      <dgm:spPr/>
    </dgm:pt>
    <dgm:pt modelId="{212B47C9-BFA8-4D78-9F8E-EB783E1D1A2A}" type="pres">
      <dgm:prSet presAssocID="{8AF166BA-8F44-4448-BE0D-753892F083AF}" presName="thickLine" presStyleLbl="alignNode1" presStyleIdx="2" presStyleCnt="3"/>
      <dgm:spPr/>
    </dgm:pt>
    <dgm:pt modelId="{D00A3903-4A4E-4B0D-82A6-D33726B454DB}" type="pres">
      <dgm:prSet presAssocID="{8AF166BA-8F44-4448-BE0D-753892F083AF}" presName="horz1" presStyleCnt="0"/>
      <dgm:spPr/>
    </dgm:pt>
    <dgm:pt modelId="{DE84A576-2F63-4F70-AA1F-9FC4176D2191}" type="pres">
      <dgm:prSet presAssocID="{8AF166BA-8F44-4448-BE0D-753892F083AF}" presName="tx1" presStyleLbl="revTx" presStyleIdx="2" presStyleCnt="3"/>
      <dgm:spPr/>
      <dgm:t>
        <a:bodyPr/>
        <a:lstStyle/>
        <a:p>
          <a:endParaRPr lang="en-US"/>
        </a:p>
      </dgm:t>
    </dgm:pt>
    <dgm:pt modelId="{0F709DA7-40CC-4615-A2AD-BB985BCC8986}" type="pres">
      <dgm:prSet presAssocID="{8AF166BA-8F44-4448-BE0D-753892F083AF}" presName="vert1" presStyleCnt="0"/>
      <dgm:spPr/>
    </dgm:pt>
  </dgm:ptLst>
  <dgm:cxnLst>
    <dgm:cxn modelId="{2C22A451-6E9D-49E8-8752-ECC26FEBF5FB}" srcId="{60822775-509B-46BD-925D-11B27E30B17D}" destId="{7AD56D2A-1376-4EDD-A986-99A24E2D7CBA}" srcOrd="1" destOrd="0" parTransId="{6E94C0C2-E079-4996-8819-CDCD12270BC9}" sibTransId="{C11A3A1E-2E01-46F9-B1A0-A4DE97AEBA7B}"/>
    <dgm:cxn modelId="{0BDE393D-35CB-4141-AC43-CED109D03BF2}" type="presOf" srcId="{7AD56D2A-1376-4EDD-A986-99A24E2D7CBA}" destId="{A0367067-8CDF-4AC2-B73A-9B4AD1CB47EF}" srcOrd="0" destOrd="0" presId="urn:microsoft.com/office/officeart/2008/layout/LinedList"/>
    <dgm:cxn modelId="{B2AA3916-B4A9-4BB2-A590-C227B4224626}" type="presOf" srcId="{DE5553F0-1324-435B-999F-E785109A0E76}" destId="{F0FD2F4B-1D59-4C1D-B79D-542066A626B9}" srcOrd="0" destOrd="0" presId="urn:microsoft.com/office/officeart/2008/layout/LinedList"/>
    <dgm:cxn modelId="{EE8C07FA-4A42-434F-8846-0A8796828382}" srcId="{60822775-509B-46BD-925D-11B27E30B17D}" destId="{8AF166BA-8F44-4448-BE0D-753892F083AF}" srcOrd="2" destOrd="0" parTransId="{36F7FEDA-218E-4CC7-9752-177F66ECD1FB}" sibTransId="{6D1AE8F5-BE29-4BA9-81A3-433E1F64559F}"/>
    <dgm:cxn modelId="{2DE363F9-8547-4C91-88AF-7737338B0804}" type="presOf" srcId="{60822775-509B-46BD-925D-11B27E30B17D}" destId="{1C2FE814-D643-476A-B49C-0C79F78E2C71}" srcOrd="0" destOrd="0" presId="urn:microsoft.com/office/officeart/2008/layout/LinedList"/>
    <dgm:cxn modelId="{89D39AF9-A3CB-442A-9A6C-CCE433E1240D}" srcId="{60822775-509B-46BD-925D-11B27E30B17D}" destId="{DE5553F0-1324-435B-999F-E785109A0E76}" srcOrd="0" destOrd="0" parTransId="{C45A9D4A-96D0-4201-8CC0-AC1E118AD18C}" sibTransId="{4549B710-6A8D-41F0-8532-9D358FCA9454}"/>
    <dgm:cxn modelId="{FACCB469-D0F2-4A90-9131-13308D63E13E}" type="presOf" srcId="{8AF166BA-8F44-4448-BE0D-753892F083AF}" destId="{DE84A576-2F63-4F70-AA1F-9FC4176D2191}" srcOrd="0" destOrd="0" presId="urn:microsoft.com/office/officeart/2008/layout/LinedList"/>
    <dgm:cxn modelId="{50E4A66A-AFFD-4471-814F-33491DA1AEB2}" type="presParOf" srcId="{1C2FE814-D643-476A-B49C-0C79F78E2C71}" destId="{53D5EC13-5735-479F-AAF7-A72743DE1117}" srcOrd="0" destOrd="0" presId="urn:microsoft.com/office/officeart/2008/layout/LinedList"/>
    <dgm:cxn modelId="{3E0F78D2-27EA-4D7C-944A-A468819ACCFD}" type="presParOf" srcId="{1C2FE814-D643-476A-B49C-0C79F78E2C71}" destId="{C4320982-6A20-4708-9B2C-8F88F42D3F9F}" srcOrd="1" destOrd="0" presId="urn:microsoft.com/office/officeart/2008/layout/LinedList"/>
    <dgm:cxn modelId="{8B82725E-B032-44DA-B82D-00AFE1FB6C90}" type="presParOf" srcId="{C4320982-6A20-4708-9B2C-8F88F42D3F9F}" destId="{F0FD2F4B-1D59-4C1D-B79D-542066A626B9}" srcOrd="0" destOrd="0" presId="urn:microsoft.com/office/officeart/2008/layout/LinedList"/>
    <dgm:cxn modelId="{48909876-F3C1-4340-9B4D-B51755C49CE5}" type="presParOf" srcId="{C4320982-6A20-4708-9B2C-8F88F42D3F9F}" destId="{D036C705-605F-4CDD-9ADF-3110B56E884E}" srcOrd="1" destOrd="0" presId="urn:microsoft.com/office/officeart/2008/layout/LinedList"/>
    <dgm:cxn modelId="{29FBCD75-871D-4919-8D27-4ADF04E3D5E4}" type="presParOf" srcId="{1C2FE814-D643-476A-B49C-0C79F78E2C71}" destId="{4276DCDE-5357-4DEC-ACA7-5321E4DC326E}" srcOrd="2" destOrd="0" presId="urn:microsoft.com/office/officeart/2008/layout/LinedList"/>
    <dgm:cxn modelId="{612BEC22-33DF-4CA6-ABC6-4D9A1095DC28}" type="presParOf" srcId="{1C2FE814-D643-476A-B49C-0C79F78E2C71}" destId="{4BCB3DA9-0572-4F90-B6C0-C17F11F82F57}" srcOrd="3" destOrd="0" presId="urn:microsoft.com/office/officeart/2008/layout/LinedList"/>
    <dgm:cxn modelId="{CC06123F-AC0A-42DA-B753-F04EDFD20E40}" type="presParOf" srcId="{4BCB3DA9-0572-4F90-B6C0-C17F11F82F57}" destId="{A0367067-8CDF-4AC2-B73A-9B4AD1CB47EF}" srcOrd="0" destOrd="0" presId="urn:microsoft.com/office/officeart/2008/layout/LinedList"/>
    <dgm:cxn modelId="{619A56EE-D3C3-4933-8125-6EEE3BEDEF36}" type="presParOf" srcId="{4BCB3DA9-0572-4F90-B6C0-C17F11F82F57}" destId="{FE749F70-DCED-4136-952C-42F0F83C7106}" srcOrd="1" destOrd="0" presId="urn:microsoft.com/office/officeart/2008/layout/LinedList"/>
    <dgm:cxn modelId="{8986113F-A36A-4498-BE3D-A7D3E3BD3B10}" type="presParOf" srcId="{1C2FE814-D643-476A-B49C-0C79F78E2C71}" destId="{212B47C9-BFA8-4D78-9F8E-EB783E1D1A2A}" srcOrd="4" destOrd="0" presId="urn:microsoft.com/office/officeart/2008/layout/LinedList"/>
    <dgm:cxn modelId="{DF9AC841-8EB8-4878-BAE9-32721BBD15E8}" type="presParOf" srcId="{1C2FE814-D643-476A-B49C-0C79F78E2C71}" destId="{D00A3903-4A4E-4B0D-82A6-D33726B454DB}" srcOrd="5" destOrd="0" presId="urn:microsoft.com/office/officeart/2008/layout/LinedList"/>
    <dgm:cxn modelId="{CC060097-1300-4DF7-9A05-2343F571DC1D}" type="presParOf" srcId="{D00A3903-4A4E-4B0D-82A6-D33726B454DB}" destId="{DE84A576-2F63-4F70-AA1F-9FC4176D2191}" srcOrd="0" destOrd="0" presId="urn:microsoft.com/office/officeart/2008/layout/LinedList"/>
    <dgm:cxn modelId="{5E77F21C-C894-4C1C-A6C2-0836F543B704}" type="presParOf" srcId="{D00A3903-4A4E-4B0D-82A6-D33726B454DB}" destId="{0F709DA7-40CC-4615-A2AD-BB985BCC898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84B70E-D6A6-4A2B-BC22-B4B03AA97503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3D34FBD6-DBDF-4C46-84AD-E398278ECF91}">
      <dgm:prSet custT="1"/>
      <dgm:spPr/>
      <dgm:t>
        <a:bodyPr/>
        <a:lstStyle/>
        <a:p>
          <a:r>
            <a:rPr lang="ru-RU" sz="2400" dirty="0"/>
            <a:t>Най-</a:t>
          </a:r>
          <a:r>
            <a:rPr lang="ru-RU" sz="2400" dirty="0" err="1"/>
            <a:t>големият</a:t>
          </a:r>
          <a:r>
            <a:rPr lang="ru-RU" sz="2400" dirty="0"/>
            <a:t> </a:t>
          </a:r>
          <a:r>
            <a:rPr lang="ru-RU" sz="2400" dirty="0" err="1"/>
            <a:t>недостатък</a:t>
          </a:r>
          <a:r>
            <a:rPr lang="ru-RU" sz="2400" dirty="0"/>
            <a:t> на </a:t>
          </a:r>
          <a:r>
            <a:rPr lang="ru-RU" sz="2400" dirty="0" err="1"/>
            <a:t>виртуалните</a:t>
          </a:r>
          <a:r>
            <a:rPr lang="ru-RU" sz="2400" dirty="0"/>
            <a:t> </a:t>
          </a:r>
          <a:r>
            <a:rPr lang="ru-RU" sz="2400" dirty="0" err="1"/>
            <a:t>сървъри</a:t>
          </a:r>
          <a:r>
            <a:rPr lang="ru-RU" sz="2400" dirty="0"/>
            <a:t> е, че </a:t>
          </a:r>
          <a:r>
            <a:rPr lang="ru-RU" sz="2400" dirty="0" err="1"/>
            <a:t>ако</a:t>
          </a:r>
          <a:r>
            <a:rPr lang="ru-RU" sz="2400" dirty="0"/>
            <a:t> </a:t>
          </a:r>
          <a:r>
            <a:rPr lang="ru-RU" sz="2400" dirty="0" err="1"/>
            <a:t>физическия</a:t>
          </a:r>
          <a:r>
            <a:rPr lang="ru-RU" sz="2400" dirty="0"/>
            <a:t> </a:t>
          </a:r>
          <a:r>
            <a:rPr lang="ru-RU" sz="2400" dirty="0" err="1"/>
            <a:t>сървър</a:t>
          </a:r>
          <a:r>
            <a:rPr lang="ru-RU" sz="2400" dirty="0"/>
            <a:t> </a:t>
          </a:r>
          <a:r>
            <a:rPr lang="ru-RU" sz="2400" dirty="0" err="1"/>
            <a:t>спре</a:t>
          </a:r>
          <a:r>
            <a:rPr lang="ru-RU" sz="2400" dirty="0"/>
            <a:t> да работи, всички </a:t>
          </a:r>
          <a:r>
            <a:rPr lang="ru-RU" sz="2400" dirty="0" err="1"/>
            <a:t>виртуални</a:t>
          </a:r>
          <a:r>
            <a:rPr lang="ru-RU" sz="2400" dirty="0"/>
            <a:t> </a:t>
          </a:r>
          <a:r>
            <a:rPr lang="ru-RU" sz="2400" dirty="0" err="1"/>
            <a:t>сървъри</a:t>
          </a:r>
          <a:r>
            <a:rPr lang="ru-RU" sz="2400" dirty="0"/>
            <a:t>, </a:t>
          </a:r>
          <a:r>
            <a:rPr lang="ru-RU" sz="2400" dirty="0" err="1"/>
            <a:t>хоствани</a:t>
          </a:r>
          <a:r>
            <a:rPr lang="ru-RU" sz="2400" dirty="0"/>
            <a:t> на него, </a:t>
          </a:r>
          <a:r>
            <a:rPr lang="ru-RU" sz="2400" dirty="0" err="1"/>
            <a:t>също</a:t>
          </a:r>
          <a:r>
            <a:rPr lang="ru-RU" sz="2400" dirty="0"/>
            <a:t> ще </a:t>
          </a:r>
          <a:r>
            <a:rPr lang="ru-RU" sz="2400" dirty="0" err="1"/>
            <a:t>спрат</a:t>
          </a:r>
          <a:r>
            <a:rPr lang="ru-RU" sz="2400" dirty="0"/>
            <a:t> да </a:t>
          </a:r>
          <a:r>
            <a:rPr lang="ru-RU" sz="2400" dirty="0" err="1"/>
            <a:t>работят</a:t>
          </a:r>
          <a:r>
            <a:rPr lang="ru-RU" sz="2400" dirty="0"/>
            <a:t>.</a:t>
          </a:r>
          <a:endParaRPr lang="en-US" sz="2400" dirty="0"/>
        </a:p>
      </dgm:t>
    </dgm:pt>
    <dgm:pt modelId="{CB856A97-FEFF-4541-BC23-4C59E89ED554}" type="parTrans" cxnId="{000F83C7-CE46-4B6F-AD22-D969953CB1EF}">
      <dgm:prSet/>
      <dgm:spPr/>
      <dgm:t>
        <a:bodyPr/>
        <a:lstStyle/>
        <a:p>
          <a:endParaRPr lang="en-US"/>
        </a:p>
      </dgm:t>
    </dgm:pt>
    <dgm:pt modelId="{AC2ED053-889F-4CD5-9DBF-B6E4F8C13C61}" type="sibTrans" cxnId="{000F83C7-CE46-4B6F-AD22-D969953CB1EF}">
      <dgm:prSet/>
      <dgm:spPr/>
      <dgm:t>
        <a:bodyPr/>
        <a:lstStyle/>
        <a:p>
          <a:endParaRPr lang="en-US"/>
        </a:p>
      </dgm:t>
    </dgm:pt>
    <dgm:pt modelId="{4C7AB31C-87A5-4A55-AB35-5DCF807BC31B}">
      <dgm:prSet custT="1"/>
      <dgm:spPr/>
      <dgm:t>
        <a:bodyPr/>
        <a:lstStyle/>
        <a:p>
          <a:r>
            <a:rPr lang="ru-RU" sz="2400" dirty="0" err="1"/>
            <a:t>Споделените</a:t>
          </a:r>
          <a:r>
            <a:rPr lang="ru-RU" sz="2400" dirty="0"/>
            <a:t> ресурси </a:t>
          </a:r>
          <a:r>
            <a:rPr lang="ru-RU" sz="2400" dirty="0" err="1"/>
            <a:t>намаляват</a:t>
          </a:r>
          <a:r>
            <a:rPr lang="ru-RU" sz="2400" dirty="0"/>
            <a:t> </a:t>
          </a:r>
          <a:r>
            <a:rPr lang="ru-RU" sz="2400" dirty="0" err="1"/>
            <a:t>ефективността</a:t>
          </a:r>
          <a:r>
            <a:rPr lang="ru-RU" sz="2400" dirty="0"/>
            <a:t>. </a:t>
          </a:r>
          <a:r>
            <a:rPr lang="ru-RU" sz="2400" dirty="0" err="1"/>
            <a:t>Стабилността</a:t>
          </a:r>
          <a:r>
            <a:rPr lang="ru-RU" sz="2400" dirty="0"/>
            <a:t> </a:t>
          </a:r>
          <a:r>
            <a:rPr lang="ru-RU" sz="2400" dirty="0" err="1"/>
            <a:t>може</a:t>
          </a:r>
          <a:r>
            <a:rPr lang="ru-RU" sz="2400" dirty="0"/>
            <a:t> да </a:t>
          </a:r>
          <a:r>
            <a:rPr lang="ru-RU" sz="2400" dirty="0" err="1"/>
            <a:t>бъде</a:t>
          </a:r>
          <a:r>
            <a:rPr lang="ru-RU" sz="2400" dirty="0"/>
            <a:t> проблем.</a:t>
          </a:r>
          <a:endParaRPr lang="en-US" sz="2400" dirty="0"/>
        </a:p>
      </dgm:t>
    </dgm:pt>
    <dgm:pt modelId="{DA0D0B8F-B8E9-4B33-ADFE-027B48D6250B}" type="parTrans" cxnId="{96589986-3C4D-4F1D-8048-1CF1143EDFF8}">
      <dgm:prSet/>
      <dgm:spPr/>
      <dgm:t>
        <a:bodyPr/>
        <a:lstStyle/>
        <a:p>
          <a:endParaRPr lang="en-US"/>
        </a:p>
      </dgm:t>
    </dgm:pt>
    <dgm:pt modelId="{A4636644-B7F3-493F-B516-8234722F83D8}" type="sibTrans" cxnId="{96589986-3C4D-4F1D-8048-1CF1143EDFF8}">
      <dgm:prSet/>
      <dgm:spPr/>
      <dgm:t>
        <a:bodyPr/>
        <a:lstStyle/>
        <a:p>
          <a:endParaRPr lang="en-US"/>
        </a:p>
      </dgm:t>
    </dgm:pt>
    <dgm:pt modelId="{FC68A661-EE55-4FA0-989A-DFDDA93B5EDF}">
      <dgm:prSet custT="1"/>
      <dgm:spPr/>
      <dgm:t>
        <a:bodyPr/>
        <a:lstStyle/>
        <a:p>
          <a:r>
            <a:rPr lang="ru-RU" sz="2400" dirty="0" err="1"/>
            <a:t>Виртуалните</a:t>
          </a:r>
          <a:r>
            <a:rPr lang="ru-RU" sz="2400" dirty="0"/>
            <a:t> среди трябва да се </a:t>
          </a:r>
          <a:r>
            <a:rPr lang="ru-RU" sz="2400" dirty="0" err="1"/>
            <a:t>инстанцират</a:t>
          </a:r>
          <a:r>
            <a:rPr lang="ru-RU" sz="2400" dirty="0"/>
            <a:t> (да се </a:t>
          </a:r>
          <a:r>
            <a:rPr lang="ru-RU" sz="2400" dirty="0" err="1"/>
            <a:t>създават</a:t>
          </a:r>
          <a:r>
            <a:rPr lang="ru-RU" sz="2400" dirty="0"/>
            <a:t> инстанции на </a:t>
          </a:r>
          <a:r>
            <a:rPr lang="ru-RU" sz="2400" dirty="0" err="1"/>
            <a:t>виртуални</a:t>
          </a:r>
          <a:r>
            <a:rPr lang="ru-RU" sz="2400" dirty="0"/>
            <a:t> </a:t>
          </a:r>
          <a:r>
            <a:rPr lang="ru-RU" sz="2400" dirty="0" err="1"/>
            <a:t>машини</a:t>
          </a:r>
          <a:r>
            <a:rPr lang="ru-RU" sz="2400" dirty="0"/>
            <a:t>), да се </a:t>
          </a:r>
          <a:r>
            <a:rPr lang="ru-RU" sz="2400" dirty="0" err="1"/>
            <a:t>наблюдават</a:t>
          </a:r>
          <a:r>
            <a:rPr lang="ru-RU" sz="2400" dirty="0"/>
            <a:t>, </a:t>
          </a:r>
          <a:r>
            <a:rPr lang="ru-RU" sz="2400" dirty="0" err="1"/>
            <a:t>конфигурират</a:t>
          </a:r>
          <a:r>
            <a:rPr lang="ru-RU" sz="2400" dirty="0"/>
            <a:t> и </a:t>
          </a:r>
          <a:r>
            <a:rPr lang="ru-RU" sz="2400" dirty="0" err="1"/>
            <a:t>запазват</a:t>
          </a:r>
          <a:r>
            <a:rPr lang="ru-RU" sz="2400" dirty="0"/>
            <a:t>.</a:t>
          </a:r>
          <a:endParaRPr lang="en-US" sz="2400" dirty="0"/>
        </a:p>
      </dgm:t>
    </dgm:pt>
    <dgm:pt modelId="{BD7DE9FC-A7F6-4A81-BEAF-C05C5303CD5D}" type="parTrans" cxnId="{AED8AD4B-BE86-4CBF-BCA4-7E5BCE3F8686}">
      <dgm:prSet/>
      <dgm:spPr/>
      <dgm:t>
        <a:bodyPr/>
        <a:lstStyle/>
        <a:p>
          <a:endParaRPr lang="en-US"/>
        </a:p>
      </dgm:t>
    </dgm:pt>
    <dgm:pt modelId="{7665E4DA-E59B-4570-8ECC-22FDD93959E3}" type="sibTrans" cxnId="{AED8AD4B-BE86-4CBF-BCA4-7E5BCE3F8686}">
      <dgm:prSet/>
      <dgm:spPr/>
      <dgm:t>
        <a:bodyPr/>
        <a:lstStyle/>
        <a:p>
          <a:endParaRPr lang="en-US"/>
        </a:p>
      </dgm:t>
    </dgm:pt>
    <dgm:pt modelId="{C167425B-D017-4489-A4B0-BD8EE86AB93C}" type="pres">
      <dgm:prSet presAssocID="{5D84B70E-D6A6-4A2B-BC22-B4B03AA97503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957A1010-9F86-42A3-882C-67D888F79351}" type="pres">
      <dgm:prSet presAssocID="{3D34FBD6-DBDF-4C46-84AD-E398278ECF91}" presName="thickLine" presStyleLbl="alignNode1" presStyleIdx="0" presStyleCnt="3"/>
      <dgm:spPr/>
    </dgm:pt>
    <dgm:pt modelId="{B2BC5AF3-99F6-4A72-B75C-DA7FBB163961}" type="pres">
      <dgm:prSet presAssocID="{3D34FBD6-DBDF-4C46-84AD-E398278ECF91}" presName="horz1" presStyleCnt="0"/>
      <dgm:spPr/>
    </dgm:pt>
    <dgm:pt modelId="{08ACBDA5-4D89-4125-8970-066A5A6E698F}" type="pres">
      <dgm:prSet presAssocID="{3D34FBD6-DBDF-4C46-84AD-E398278ECF91}" presName="tx1" presStyleLbl="revTx" presStyleIdx="0" presStyleCnt="3"/>
      <dgm:spPr/>
      <dgm:t>
        <a:bodyPr/>
        <a:lstStyle/>
        <a:p>
          <a:endParaRPr lang="en-US"/>
        </a:p>
      </dgm:t>
    </dgm:pt>
    <dgm:pt modelId="{E8B26E8C-7BF9-4DD0-A16B-7183332AD05C}" type="pres">
      <dgm:prSet presAssocID="{3D34FBD6-DBDF-4C46-84AD-E398278ECF91}" presName="vert1" presStyleCnt="0"/>
      <dgm:spPr/>
    </dgm:pt>
    <dgm:pt modelId="{449025D9-8A98-4157-BD35-48B7CC84E2CE}" type="pres">
      <dgm:prSet presAssocID="{4C7AB31C-87A5-4A55-AB35-5DCF807BC31B}" presName="thickLine" presStyleLbl="alignNode1" presStyleIdx="1" presStyleCnt="3"/>
      <dgm:spPr/>
    </dgm:pt>
    <dgm:pt modelId="{4D90A86F-F618-4049-BD67-C5B5C9E45877}" type="pres">
      <dgm:prSet presAssocID="{4C7AB31C-87A5-4A55-AB35-5DCF807BC31B}" presName="horz1" presStyleCnt="0"/>
      <dgm:spPr/>
    </dgm:pt>
    <dgm:pt modelId="{83379177-0B29-473A-80A4-1D75AADD652D}" type="pres">
      <dgm:prSet presAssocID="{4C7AB31C-87A5-4A55-AB35-5DCF807BC31B}" presName="tx1" presStyleLbl="revTx" presStyleIdx="1" presStyleCnt="3"/>
      <dgm:spPr/>
      <dgm:t>
        <a:bodyPr/>
        <a:lstStyle/>
        <a:p>
          <a:endParaRPr lang="en-US"/>
        </a:p>
      </dgm:t>
    </dgm:pt>
    <dgm:pt modelId="{EAC53044-5373-41D1-87D2-2371B638E9B2}" type="pres">
      <dgm:prSet presAssocID="{4C7AB31C-87A5-4A55-AB35-5DCF807BC31B}" presName="vert1" presStyleCnt="0"/>
      <dgm:spPr/>
    </dgm:pt>
    <dgm:pt modelId="{5DE5960F-C3A0-4557-BF69-A60DCCB45144}" type="pres">
      <dgm:prSet presAssocID="{FC68A661-EE55-4FA0-989A-DFDDA93B5EDF}" presName="thickLine" presStyleLbl="alignNode1" presStyleIdx="2" presStyleCnt="3"/>
      <dgm:spPr/>
    </dgm:pt>
    <dgm:pt modelId="{37103DF2-C719-4FDB-B378-90F954548DA1}" type="pres">
      <dgm:prSet presAssocID="{FC68A661-EE55-4FA0-989A-DFDDA93B5EDF}" presName="horz1" presStyleCnt="0"/>
      <dgm:spPr/>
    </dgm:pt>
    <dgm:pt modelId="{13974463-DEFA-48D1-A8FF-E9D38A889F3C}" type="pres">
      <dgm:prSet presAssocID="{FC68A661-EE55-4FA0-989A-DFDDA93B5EDF}" presName="tx1" presStyleLbl="revTx" presStyleIdx="2" presStyleCnt="3"/>
      <dgm:spPr/>
      <dgm:t>
        <a:bodyPr/>
        <a:lstStyle/>
        <a:p>
          <a:endParaRPr lang="en-US"/>
        </a:p>
      </dgm:t>
    </dgm:pt>
    <dgm:pt modelId="{E644A56C-8BC3-4FEF-8385-5451799DE44E}" type="pres">
      <dgm:prSet presAssocID="{FC68A661-EE55-4FA0-989A-DFDDA93B5EDF}" presName="vert1" presStyleCnt="0"/>
      <dgm:spPr/>
    </dgm:pt>
  </dgm:ptLst>
  <dgm:cxnLst>
    <dgm:cxn modelId="{361420A4-1CF5-44A1-B007-E5A6A118E431}" type="presOf" srcId="{4C7AB31C-87A5-4A55-AB35-5DCF807BC31B}" destId="{83379177-0B29-473A-80A4-1D75AADD652D}" srcOrd="0" destOrd="0" presId="urn:microsoft.com/office/officeart/2008/layout/LinedList"/>
    <dgm:cxn modelId="{96589986-3C4D-4F1D-8048-1CF1143EDFF8}" srcId="{5D84B70E-D6A6-4A2B-BC22-B4B03AA97503}" destId="{4C7AB31C-87A5-4A55-AB35-5DCF807BC31B}" srcOrd="1" destOrd="0" parTransId="{DA0D0B8F-B8E9-4B33-ADFE-027B48D6250B}" sibTransId="{A4636644-B7F3-493F-B516-8234722F83D8}"/>
    <dgm:cxn modelId="{1570AB23-02BD-4986-8B90-25B313C3B2B1}" type="presOf" srcId="{3D34FBD6-DBDF-4C46-84AD-E398278ECF91}" destId="{08ACBDA5-4D89-4125-8970-066A5A6E698F}" srcOrd="0" destOrd="0" presId="urn:microsoft.com/office/officeart/2008/layout/LinedList"/>
    <dgm:cxn modelId="{AED8AD4B-BE86-4CBF-BCA4-7E5BCE3F8686}" srcId="{5D84B70E-D6A6-4A2B-BC22-B4B03AA97503}" destId="{FC68A661-EE55-4FA0-989A-DFDDA93B5EDF}" srcOrd="2" destOrd="0" parTransId="{BD7DE9FC-A7F6-4A81-BEAF-C05C5303CD5D}" sibTransId="{7665E4DA-E59B-4570-8ECC-22FDD93959E3}"/>
    <dgm:cxn modelId="{D2717E34-6CDC-4842-98D0-CE01E44BC4F1}" type="presOf" srcId="{FC68A661-EE55-4FA0-989A-DFDDA93B5EDF}" destId="{13974463-DEFA-48D1-A8FF-E9D38A889F3C}" srcOrd="0" destOrd="0" presId="urn:microsoft.com/office/officeart/2008/layout/LinedList"/>
    <dgm:cxn modelId="{651F41FB-945D-4CA2-8307-187CC4420BBC}" type="presOf" srcId="{5D84B70E-D6A6-4A2B-BC22-B4B03AA97503}" destId="{C167425B-D017-4489-A4B0-BD8EE86AB93C}" srcOrd="0" destOrd="0" presId="urn:microsoft.com/office/officeart/2008/layout/LinedList"/>
    <dgm:cxn modelId="{000F83C7-CE46-4B6F-AD22-D969953CB1EF}" srcId="{5D84B70E-D6A6-4A2B-BC22-B4B03AA97503}" destId="{3D34FBD6-DBDF-4C46-84AD-E398278ECF91}" srcOrd="0" destOrd="0" parTransId="{CB856A97-FEFF-4541-BC23-4C59E89ED554}" sibTransId="{AC2ED053-889F-4CD5-9DBF-B6E4F8C13C61}"/>
    <dgm:cxn modelId="{C8EAA523-4289-4DB1-8FD7-03E32BCFED3D}" type="presParOf" srcId="{C167425B-D017-4489-A4B0-BD8EE86AB93C}" destId="{957A1010-9F86-42A3-882C-67D888F79351}" srcOrd="0" destOrd="0" presId="urn:microsoft.com/office/officeart/2008/layout/LinedList"/>
    <dgm:cxn modelId="{F04930A5-AB8D-4C8A-97BB-960F29C91CF5}" type="presParOf" srcId="{C167425B-D017-4489-A4B0-BD8EE86AB93C}" destId="{B2BC5AF3-99F6-4A72-B75C-DA7FBB163961}" srcOrd="1" destOrd="0" presId="urn:microsoft.com/office/officeart/2008/layout/LinedList"/>
    <dgm:cxn modelId="{4A162480-4C92-4181-9708-3B3EC8A9E965}" type="presParOf" srcId="{B2BC5AF3-99F6-4A72-B75C-DA7FBB163961}" destId="{08ACBDA5-4D89-4125-8970-066A5A6E698F}" srcOrd="0" destOrd="0" presId="urn:microsoft.com/office/officeart/2008/layout/LinedList"/>
    <dgm:cxn modelId="{C1D312FD-43E0-49D0-A088-BFB68B7428FF}" type="presParOf" srcId="{B2BC5AF3-99F6-4A72-B75C-DA7FBB163961}" destId="{E8B26E8C-7BF9-4DD0-A16B-7183332AD05C}" srcOrd="1" destOrd="0" presId="urn:microsoft.com/office/officeart/2008/layout/LinedList"/>
    <dgm:cxn modelId="{84B5B995-98C4-4CCD-927F-B42C06C068DC}" type="presParOf" srcId="{C167425B-D017-4489-A4B0-BD8EE86AB93C}" destId="{449025D9-8A98-4157-BD35-48B7CC84E2CE}" srcOrd="2" destOrd="0" presId="urn:microsoft.com/office/officeart/2008/layout/LinedList"/>
    <dgm:cxn modelId="{4CF80557-712E-47D3-ADD6-F7BB6EB84E4D}" type="presParOf" srcId="{C167425B-D017-4489-A4B0-BD8EE86AB93C}" destId="{4D90A86F-F618-4049-BD67-C5B5C9E45877}" srcOrd="3" destOrd="0" presId="urn:microsoft.com/office/officeart/2008/layout/LinedList"/>
    <dgm:cxn modelId="{55B32C22-D57F-4E6B-AE39-5BA3B9DA112B}" type="presParOf" srcId="{4D90A86F-F618-4049-BD67-C5B5C9E45877}" destId="{83379177-0B29-473A-80A4-1D75AADD652D}" srcOrd="0" destOrd="0" presId="urn:microsoft.com/office/officeart/2008/layout/LinedList"/>
    <dgm:cxn modelId="{1CC87F9A-AC1E-4EF5-9D83-F0302E3E4138}" type="presParOf" srcId="{4D90A86F-F618-4049-BD67-C5B5C9E45877}" destId="{EAC53044-5373-41D1-87D2-2371B638E9B2}" srcOrd="1" destOrd="0" presId="urn:microsoft.com/office/officeart/2008/layout/LinedList"/>
    <dgm:cxn modelId="{AB9DA99D-8277-499C-BD7B-37A1A7545948}" type="presParOf" srcId="{C167425B-D017-4489-A4B0-BD8EE86AB93C}" destId="{5DE5960F-C3A0-4557-BF69-A60DCCB45144}" srcOrd="4" destOrd="0" presId="urn:microsoft.com/office/officeart/2008/layout/LinedList"/>
    <dgm:cxn modelId="{02339462-80EB-45F2-AB92-A2A27144FC39}" type="presParOf" srcId="{C167425B-D017-4489-A4B0-BD8EE86AB93C}" destId="{37103DF2-C719-4FDB-B378-90F954548DA1}" srcOrd="5" destOrd="0" presId="urn:microsoft.com/office/officeart/2008/layout/LinedList"/>
    <dgm:cxn modelId="{9F508642-74D5-4D55-A338-45D998251BC8}" type="presParOf" srcId="{37103DF2-C719-4FDB-B378-90F954548DA1}" destId="{13974463-DEFA-48D1-A8FF-E9D38A889F3C}" srcOrd="0" destOrd="0" presId="urn:microsoft.com/office/officeart/2008/layout/LinedList"/>
    <dgm:cxn modelId="{567C3722-E7A5-4A04-B7D9-D32C198A884B}" type="presParOf" srcId="{37103DF2-C719-4FDB-B378-90F954548DA1}" destId="{E644A56C-8BC3-4FEF-8385-5451799DE44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1E4208-CA7D-46D6-8B9A-C7353F5DFC8A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BBD71-E56B-400C-A71C-8EAF1B045305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err="1"/>
            <a:t>Специалните</a:t>
          </a:r>
          <a:r>
            <a:rPr lang="ru-RU" sz="2400" kern="1200" dirty="0"/>
            <a:t> ресурси </a:t>
          </a:r>
          <a:r>
            <a:rPr lang="ru-RU" sz="2400" kern="1200" dirty="0" err="1"/>
            <a:t>означават</a:t>
          </a:r>
          <a:r>
            <a:rPr lang="ru-RU" sz="2400" kern="1200" dirty="0"/>
            <a:t> </a:t>
          </a:r>
          <a:r>
            <a:rPr lang="ru-RU" sz="2400" kern="1200" dirty="0" err="1"/>
            <a:t>по-добра</a:t>
          </a:r>
          <a:r>
            <a:rPr lang="ru-RU" sz="2400" kern="1200" dirty="0"/>
            <a:t> </a:t>
          </a:r>
          <a:r>
            <a:rPr lang="ru-RU" sz="2400" kern="1200" dirty="0" err="1"/>
            <a:t>цялостна</a:t>
          </a:r>
          <a:r>
            <a:rPr lang="ru-RU" sz="2400" kern="1200" dirty="0"/>
            <a:t> </a:t>
          </a:r>
          <a:r>
            <a:rPr lang="ru-RU" sz="2400" kern="1200" dirty="0" err="1"/>
            <a:t>производителност</a:t>
          </a:r>
          <a:r>
            <a:rPr lang="ru-RU" sz="2400" kern="1200" dirty="0"/>
            <a:t>.	</a:t>
          </a:r>
          <a:endParaRPr lang="en-US" sz="2400" kern="1200" dirty="0"/>
        </a:p>
      </dsp:txBody>
      <dsp:txXfrm>
        <a:off x="0" y="2703"/>
        <a:ext cx="6900512" cy="1843578"/>
      </dsp:txXfrm>
    </dsp:sp>
    <dsp:sp modelId="{5114DFA4-175F-4ED4-A436-161D54B4B39D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1AB3F8-A00E-41DC-A040-923BB3DEF6E5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err="1"/>
            <a:t>Предимства</a:t>
          </a:r>
          <a:r>
            <a:rPr lang="ru-RU" sz="2400" kern="1200" dirty="0"/>
            <a:t> на </a:t>
          </a:r>
          <a:r>
            <a:rPr lang="ru-RU" sz="2400" kern="1200" dirty="0" err="1"/>
            <a:t>сигурността</a:t>
          </a:r>
          <a:r>
            <a:rPr lang="ru-RU" sz="2400" kern="1200" dirty="0"/>
            <a:t>. Всеки физически </a:t>
          </a:r>
          <a:r>
            <a:rPr lang="ru-RU" sz="2400" kern="1200" dirty="0" err="1"/>
            <a:t>сървър</a:t>
          </a:r>
          <a:r>
            <a:rPr lang="ru-RU" sz="2400" kern="1200" dirty="0"/>
            <a:t> се </a:t>
          </a:r>
          <a:r>
            <a:rPr lang="ru-RU" sz="2400" kern="1200" dirty="0" err="1"/>
            <a:t>конфигурира</a:t>
          </a:r>
          <a:r>
            <a:rPr lang="ru-RU" sz="2400" kern="1200" dirty="0"/>
            <a:t> </a:t>
          </a:r>
          <a:r>
            <a:rPr lang="ru-RU" sz="2400" kern="1200" dirty="0" err="1"/>
            <a:t>отделно</a:t>
          </a:r>
          <a:r>
            <a:rPr lang="ru-RU" sz="2400" kern="1200" dirty="0"/>
            <a:t>.</a:t>
          </a:r>
          <a:endParaRPr lang="en-US" sz="2400" kern="1200" dirty="0"/>
        </a:p>
      </dsp:txBody>
      <dsp:txXfrm>
        <a:off x="0" y="1846281"/>
        <a:ext cx="6900512" cy="1843578"/>
      </dsp:txXfrm>
    </dsp:sp>
    <dsp:sp modelId="{5635A28E-0EE7-422C-AF86-0B8DBA6C2F1A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73929-269B-4DA2-921C-F69215A74E97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err="1"/>
            <a:t>Проблемите</a:t>
          </a:r>
          <a:r>
            <a:rPr lang="ru-RU" sz="2400" kern="1200" dirty="0"/>
            <a:t> </a:t>
          </a:r>
          <a:r>
            <a:rPr lang="ru-RU" sz="2400" kern="1200" dirty="0" err="1"/>
            <a:t>засягат</a:t>
          </a:r>
          <a:r>
            <a:rPr lang="ru-RU" sz="2400" kern="1200" dirty="0"/>
            <a:t> само </a:t>
          </a:r>
          <a:r>
            <a:rPr lang="ru-RU" sz="2400" kern="1200" dirty="0" err="1"/>
            <a:t>една</a:t>
          </a:r>
          <a:r>
            <a:rPr lang="ru-RU" sz="2400" kern="1200" dirty="0"/>
            <a:t> </a:t>
          </a:r>
          <a:r>
            <a:rPr lang="ru-RU" sz="2400" kern="1200" dirty="0" err="1"/>
            <a:t>физическа</a:t>
          </a:r>
          <a:r>
            <a:rPr lang="ru-RU" sz="2400" kern="1200" dirty="0"/>
            <a:t> единица, което </a:t>
          </a:r>
          <a:r>
            <a:rPr lang="ru-RU" sz="2400" kern="1200" dirty="0" err="1"/>
            <a:t>може</a:t>
          </a:r>
          <a:r>
            <a:rPr lang="ru-RU" sz="2400" kern="1200" dirty="0"/>
            <a:t> да опрости </a:t>
          </a:r>
          <a:r>
            <a:rPr lang="ru-RU" sz="2400" kern="1200" dirty="0" err="1"/>
            <a:t>отстраняването</a:t>
          </a:r>
          <a:r>
            <a:rPr lang="ru-RU" sz="2400" kern="1200" dirty="0"/>
            <a:t> на </a:t>
          </a:r>
          <a:r>
            <a:rPr lang="ru-RU" sz="2400" kern="1200" dirty="0" err="1"/>
            <a:t>неизправности</a:t>
          </a:r>
          <a:r>
            <a:rPr lang="ru-RU" sz="2400" kern="1200" dirty="0"/>
            <a:t>.</a:t>
          </a:r>
          <a:endParaRPr lang="en-US" sz="2400" kern="1200" dirty="0"/>
        </a:p>
      </dsp:txBody>
      <dsp:txXfrm>
        <a:off x="0" y="3689859"/>
        <a:ext cx="6900512" cy="18435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A315F0-4AA1-4157-B27C-9C0BA845335D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659A7-D572-4AA7-8071-4FF500596ACA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err="1"/>
            <a:t>По-високи</a:t>
          </a:r>
          <a:r>
            <a:rPr lang="ru-RU" sz="2400" kern="1200" dirty="0"/>
            <a:t> общи </a:t>
          </a:r>
          <a:r>
            <a:rPr lang="ru-RU" sz="2400" kern="1200" dirty="0" err="1"/>
            <a:t>разходи</a:t>
          </a:r>
          <a:r>
            <a:rPr lang="ru-RU" sz="2400" kern="1200" dirty="0"/>
            <a:t>. </a:t>
          </a:r>
          <a:r>
            <a:rPr lang="ru-RU" sz="2400" kern="1200" dirty="0" err="1"/>
            <a:t>Първоначалната</a:t>
          </a:r>
          <a:r>
            <a:rPr lang="ru-RU" sz="2400" kern="1200" dirty="0"/>
            <a:t> покупка </a:t>
          </a:r>
          <a:r>
            <a:rPr lang="ru-RU" sz="2400" kern="1200" dirty="0" err="1"/>
            <a:t>може</a:t>
          </a:r>
          <a:r>
            <a:rPr lang="ru-RU" sz="2400" kern="1200" dirty="0"/>
            <a:t> да </a:t>
          </a:r>
          <a:r>
            <a:rPr lang="ru-RU" sz="2400" kern="1200" dirty="0" err="1"/>
            <a:t>спести</a:t>
          </a:r>
          <a:r>
            <a:rPr lang="ru-RU" sz="2400" kern="1200" dirty="0"/>
            <a:t> пари за </a:t>
          </a:r>
          <a:r>
            <a:rPr lang="ru-RU" sz="2400" kern="1200" dirty="0" err="1"/>
            <a:t>софтуер</a:t>
          </a:r>
          <a:r>
            <a:rPr lang="ru-RU" sz="2400" kern="1200" dirty="0"/>
            <a:t>, но </a:t>
          </a:r>
          <a:r>
            <a:rPr lang="ru-RU" sz="2400" kern="1200" dirty="0" err="1"/>
            <a:t>надстройките</a:t>
          </a:r>
          <a:r>
            <a:rPr lang="ru-RU" sz="2400" kern="1200" dirty="0"/>
            <a:t> и </a:t>
          </a:r>
          <a:r>
            <a:rPr lang="ru-RU" sz="2400" kern="1200" dirty="0" err="1"/>
            <a:t>разширяването</a:t>
          </a:r>
          <a:r>
            <a:rPr lang="ru-RU" sz="2400" kern="1200" dirty="0"/>
            <a:t> е </a:t>
          </a:r>
          <a:r>
            <a:rPr lang="ru-RU" sz="2400" kern="1200" dirty="0" err="1"/>
            <a:t>по-скъпо</a:t>
          </a:r>
          <a:r>
            <a:rPr lang="ru-RU" sz="2400" kern="1200" dirty="0"/>
            <a:t>.</a:t>
          </a:r>
          <a:endParaRPr lang="en-US" sz="2400" kern="1200" dirty="0"/>
        </a:p>
      </dsp:txBody>
      <dsp:txXfrm>
        <a:off x="0" y="0"/>
        <a:ext cx="6900512" cy="1384035"/>
      </dsp:txXfrm>
    </dsp:sp>
    <dsp:sp modelId="{38C7F3C2-38BF-43CD-8645-96C347303F36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CA707D-B3D4-4A95-9B5E-4C26ABAE26F2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/>
            <a:t>Трябва да </a:t>
          </a:r>
          <a:r>
            <a:rPr lang="ru-RU" sz="2400" kern="1200" dirty="0" err="1"/>
            <a:t>бъде</a:t>
          </a:r>
          <a:r>
            <a:rPr lang="ru-RU" sz="2400" kern="1200" dirty="0"/>
            <a:t> физически </a:t>
          </a:r>
          <a:r>
            <a:rPr lang="ru-RU" sz="2400" kern="1200" dirty="0" err="1"/>
            <a:t>инсталиран</a:t>
          </a:r>
          <a:r>
            <a:rPr lang="ru-RU" sz="2400" kern="1200" dirty="0"/>
            <a:t> и </a:t>
          </a:r>
          <a:r>
            <a:rPr lang="ru-RU" sz="2400" kern="1200" dirty="0" err="1"/>
            <a:t>конфигуриран</a:t>
          </a:r>
          <a:r>
            <a:rPr lang="ru-RU" sz="2400" kern="1200" dirty="0"/>
            <a:t>. </a:t>
          </a:r>
          <a:r>
            <a:rPr lang="ru-RU" sz="2400" kern="1200" dirty="0" err="1"/>
            <a:t>Мигрирането</a:t>
          </a:r>
          <a:r>
            <a:rPr lang="ru-RU" sz="2400" kern="1200" dirty="0"/>
            <a:t> </a:t>
          </a:r>
          <a:r>
            <a:rPr lang="ru-RU" sz="2400" kern="1200" dirty="0" err="1"/>
            <a:t>може</a:t>
          </a:r>
          <a:r>
            <a:rPr lang="ru-RU" sz="2400" kern="1200" dirty="0"/>
            <a:t> да е </a:t>
          </a:r>
          <a:r>
            <a:rPr lang="ru-RU" sz="2400" kern="1200" dirty="0" err="1"/>
            <a:t>предизвикателство</a:t>
          </a:r>
          <a:r>
            <a:rPr lang="ru-RU" sz="2400" kern="1200" dirty="0"/>
            <a:t>.</a:t>
          </a:r>
          <a:endParaRPr lang="en-US" sz="2400" kern="1200" dirty="0"/>
        </a:p>
      </dsp:txBody>
      <dsp:txXfrm>
        <a:off x="0" y="1384035"/>
        <a:ext cx="6900512" cy="1384035"/>
      </dsp:txXfrm>
    </dsp:sp>
    <dsp:sp modelId="{D5478DE4-00A8-4B96-9FC9-93C8BB2DE2EA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74A93B-94D5-401B-ADC0-D53D203E4605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err="1"/>
            <a:t>По-трудно</a:t>
          </a:r>
          <a:r>
            <a:rPr lang="ru-RU" sz="2400" kern="1200" dirty="0"/>
            <a:t> се </a:t>
          </a:r>
          <a:r>
            <a:rPr lang="ru-RU" sz="2400" kern="1200" dirty="0" err="1"/>
            <a:t>разширява</a:t>
          </a:r>
          <a:r>
            <a:rPr lang="ru-RU" sz="2400" kern="1200" dirty="0"/>
            <a:t>; </a:t>
          </a:r>
          <a:r>
            <a:rPr lang="ru-RU" sz="2400" kern="1200" dirty="0" err="1"/>
            <a:t>изисква</a:t>
          </a:r>
          <a:r>
            <a:rPr lang="ru-RU" sz="2400" kern="1200" dirty="0"/>
            <a:t> </a:t>
          </a:r>
          <a:r>
            <a:rPr lang="ru-RU" sz="2400" kern="1200" dirty="0" err="1"/>
            <a:t>допълнителен</a:t>
          </a:r>
          <a:r>
            <a:rPr lang="ru-RU" sz="2400" kern="1200" dirty="0"/>
            <a:t> </a:t>
          </a:r>
          <a:r>
            <a:rPr lang="ru-RU" sz="2400" kern="1200" dirty="0" err="1"/>
            <a:t>хардуер</a:t>
          </a:r>
          <a:r>
            <a:rPr lang="ru-RU" sz="2400" kern="1200" dirty="0"/>
            <a:t>.</a:t>
          </a:r>
          <a:endParaRPr lang="en-US" sz="2400" kern="1200" dirty="0"/>
        </a:p>
      </dsp:txBody>
      <dsp:txXfrm>
        <a:off x="0" y="2768070"/>
        <a:ext cx="6900512" cy="1384035"/>
      </dsp:txXfrm>
    </dsp:sp>
    <dsp:sp modelId="{C2A99AEE-E88F-4D84-B35E-6F08E27A2E48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36FB53-26DE-4154-9EC6-CD8C65EAFFF3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2400" kern="1200" dirty="0"/>
            <a:t>Повишен риск поради съществуването на физически сървър.</a:t>
          </a:r>
          <a:endParaRPr lang="en-US" sz="2400" kern="1200" dirty="0"/>
        </a:p>
      </dsp:txBody>
      <dsp:txXfrm>
        <a:off x="0" y="4152105"/>
        <a:ext cx="6900512" cy="13840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D5EC13-5735-479F-AAF7-A72743DE1117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FD2F4B-1D59-4C1D-B79D-542066A626B9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err="1"/>
            <a:t>По-ниски</a:t>
          </a:r>
          <a:r>
            <a:rPr lang="ru-RU" sz="2400" kern="1200" dirty="0"/>
            <a:t> </a:t>
          </a:r>
          <a:r>
            <a:rPr lang="ru-RU" sz="2400" kern="1200" dirty="0" err="1"/>
            <a:t>разходи</a:t>
          </a:r>
          <a:r>
            <a:rPr lang="ru-RU" sz="2400" kern="1200" dirty="0"/>
            <a:t> в </a:t>
          </a:r>
          <a:r>
            <a:rPr lang="ru-RU" sz="2400" kern="1200" dirty="0" err="1"/>
            <a:t>дългосрочен</a:t>
          </a:r>
          <a:r>
            <a:rPr lang="ru-RU" sz="2400" kern="1200" dirty="0"/>
            <a:t> план. </a:t>
          </a:r>
          <a:r>
            <a:rPr lang="ru-RU" sz="2400" kern="1200" dirty="0" err="1"/>
            <a:t>Първоначалното</a:t>
          </a:r>
          <a:r>
            <a:rPr lang="ru-RU" sz="2400" kern="1200" dirty="0"/>
            <a:t> </a:t>
          </a:r>
          <a:r>
            <a:rPr lang="ru-RU" sz="2400" kern="1200" dirty="0" err="1"/>
            <a:t>закупуване</a:t>
          </a:r>
          <a:r>
            <a:rPr lang="ru-RU" sz="2400" kern="1200" dirty="0"/>
            <a:t> на </a:t>
          </a:r>
          <a:r>
            <a:rPr lang="ru-RU" sz="2400" kern="1200" dirty="0" err="1"/>
            <a:t>хардуер</a:t>
          </a:r>
          <a:r>
            <a:rPr lang="ru-RU" sz="2400" kern="1200" dirty="0"/>
            <a:t> и </a:t>
          </a:r>
          <a:r>
            <a:rPr lang="ru-RU" sz="2400" kern="1200" dirty="0" err="1"/>
            <a:t>софтуер</a:t>
          </a:r>
          <a:r>
            <a:rPr lang="ru-RU" sz="2400" kern="1200" dirty="0"/>
            <a:t> </a:t>
          </a:r>
          <a:r>
            <a:rPr lang="ru-RU" sz="2400" kern="1200" dirty="0" err="1"/>
            <a:t>може</a:t>
          </a:r>
          <a:r>
            <a:rPr lang="ru-RU" sz="2400" kern="1200" dirty="0"/>
            <a:t> да </a:t>
          </a:r>
          <a:r>
            <a:rPr lang="ru-RU" sz="2400" kern="1200" dirty="0" err="1"/>
            <a:t>бъде</a:t>
          </a:r>
          <a:r>
            <a:rPr lang="ru-RU" sz="2400" kern="1200" dirty="0"/>
            <a:t> </a:t>
          </a:r>
          <a:r>
            <a:rPr lang="ru-RU" sz="2400" kern="1200" dirty="0" err="1"/>
            <a:t>по-скъпо</a:t>
          </a:r>
          <a:r>
            <a:rPr lang="ru-RU" sz="2400" kern="1200" dirty="0"/>
            <a:t>, но </a:t>
          </a:r>
          <a:r>
            <a:rPr lang="ru-RU" sz="2400" kern="1200" dirty="0" err="1"/>
            <a:t>надграждането</a:t>
          </a:r>
          <a:r>
            <a:rPr lang="ru-RU" sz="2400" kern="1200" dirty="0"/>
            <a:t> и </a:t>
          </a:r>
          <a:r>
            <a:rPr lang="ru-RU" sz="2400" kern="1200" dirty="0" err="1"/>
            <a:t>разширяването</a:t>
          </a:r>
          <a:r>
            <a:rPr lang="ru-RU" sz="2400" kern="1200" dirty="0"/>
            <a:t> са много </a:t>
          </a:r>
          <a:r>
            <a:rPr lang="ru-RU" sz="2400" kern="1200" dirty="0" err="1"/>
            <a:t>по-ефикасни</a:t>
          </a:r>
          <a:r>
            <a:rPr lang="ru-RU" sz="2400" kern="1200" dirty="0"/>
            <a:t> от </a:t>
          </a:r>
          <a:r>
            <a:rPr lang="ru-RU" sz="2400" kern="1200" dirty="0" err="1"/>
            <a:t>гледна</a:t>
          </a:r>
          <a:r>
            <a:rPr lang="ru-RU" sz="2400" kern="1200" dirty="0"/>
            <a:t> точка на </a:t>
          </a:r>
          <a:r>
            <a:rPr lang="ru-RU" sz="2400" kern="1200" dirty="0" err="1"/>
            <a:t>разходите</a:t>
          </a:r>
          <a:r>
            <a:rPr lang="ru-RU" sz="2400" kern="1200" dirty="0"/>
            <a:t>.</a:t>
          </a:r>
          <a:endParaRPr lang="en-US" sz="2400" kern="1200" dirty="0"/>
        </a:p>
      </dsp:txBody>
      <dsp:txXfrm>
        <a:off x="0" y="2703"/>
        <a:ext cx="6900512" cy="1843578"/>
      </dsp:txXfrm>
    </dsp:sp>
    <dsp:sp modelId="{4276DCDE-5357-4DEC-ACA7-5321E4DC326E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367067-8CDF-4AC2-B73A-9B4AD1CB47EF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err="1"/>
            <a:t>Ефективно</a:t>
          </a:r>
          <a:r>
            <a:rPr lang="ru-RU" sz="2400" kern="1200" dirty="0"/>
            <a:t> използване на </a:t>
          </a:r>
          <a:r>
            <a:rPr lang="ru-RU" sz="2400" kern="1200" dirty="0" err="1"/>
            <a:t>пространството</a:t>
          </a:r>
          <a:r>
            <a:rPr lang="ru-RU" sz="2400" kern="1200" dirty="0"/>
            <a:t>, </a:t>
          </a:r>
          <a:r>
            <a:rPr lang="ru-RU" sz="2400" kern="1200" dirty="0" err="1"/>
            <a:t>тъй</a:t>
          </a:r>
          <a:r>
            <a:rPr lang="ru-RU" sz="2400" kern="1200" dirty="0"/>
            <a:t> като </a:t>
          </a:r>
          <a:r>
            <a:rPr lang="ru-RU" sz="2400" kern="1200" dirty="0" err="1"/>
            <a:t>няколко</a:t>
          </a:r>
          <a:r>
            <a:rPr lang="ru-RU" sz="2400" kern="1200" dirty="0"/>
            <a:t> </a:t>
          </a:r>
          <a:r>
            <a:rPr lang="ru-RU" sz="2400" kern="1200" dirty="0" err="1"/>
            <a:t>виртуални</a:t>
          </a:r>
          <a:r>
            <a:rPr lang="ru-RU" sz="2400" kern="1200" dirty="0"/>
            <a:t> </a:t>
          </a:r>
          <a:r>
            <a:rPr lang="ru-RU" sz="2400" kern="1200" dirty="0" err="1"/>
            <a:t>сървъра</a:t>
          </a:r>
          <a:r>
            <a:rPr lang="ru-RU" sz="2400" kern="1200" dirty="0"/>
            <a:t> </a:t>
          </a:r>
          <a:r>
            <a:rPr lang="ru-RU" sz="2400" kern="1200" dirty="0" err="1"/>
            <a:t>могат</a:t>
          </a:r>
          <a:r>
            <a:rPr lang="ru-RU" sz="2400" kern="1200" dirty="0"/>
            <a:t> да </a:t>
          </a:r>
          <a:r>
            <a:rPr lang="ru-RU" sz="2400" kern="1200" dirty="0" err="1"/>
            <a:t>работят</a:t>
          </a:r>
          <a:r>
            <a:rPr lang="ru-RU" sz="2400" kern="1200" dirty="0"/>
            <a:t> на един физически </a:t>
          </a:r>
          <a:r>
            <a:rPr lang="ru-RU" sz="2400" kern="1200" dirty="0" err="1"/>
            <a:t>сървър</a:t>
          </a:r>
          <a:r>
            <a:rPr lang="ru-RU" sz="2400" kern="1200" dirty="0"/>
            <a:t>.</a:t>
          </a:r>
          <a:endParaRPr lang="en-US" sz="2400" kern="1200" dirty="0"/>
        </a:p>
      </dsp:txBody>
      <dsp:txXfrm>
        <a:off x="0" y="1846281"/>
        <a:ext cx="6900512" cy="1843578"/>
      </dsp:txXfrm>
    </dsp:sp>
    <dsp:sp modelId="{212B47C9-BFA8-4D78-9F8E-EB783E1D1A2A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4A576-2F63-4F70-AA1F-9FC4176D2191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err="1"/>
            <a:t>Улесняване</a:t>
          </a:r>
          <a:r>
            <a:rPr lang="ru-RU" sz="2400" kern="1200" dirty="0"/>
            <a:t> на </a:t>
          </a:r>
          <a:r>
            <a:rPr lang="ru-RU" sz="2400" kern="1200" dirty="0" err="1"/>
            <a:t>отказоустойчивостта</a:t>
          </a:r>
          <a:r>
            <a:rPr lang="ru-RU" sz="2400" kern="1200" dirty="0"/>
            <a:t> при </a:t>
          </a:r>
          <a:r>
            <a:rPr lang="ru-RU" sz="2400" kern="1200" dirty="0" err="1"/>
            <a:t>географски</a:t>
          </a:r>
          <a:r>
            <a:rPr lang="ru-RU" sz="2400" kern="1200" dirty="0"/>
            <a:t> </a:t>
          </a:r>
          <a:r>
            <a:rPr lang="ru-RU" sz="2400" kern="1200" dirty="0" err="1"/>
            <a:t>разстояния</a:t>
          </a:r>
          <a:r>
            <a:rPr lang="ru-RU" sz="2400" kern="1200" dirty="0"/>
            <a:t>, </a:t>
          </a:r>
          <a:r>
            <a:rPr lang="ru-RU" sz="2400" kern="1200" dirty="0" err="1"/>
            <a:t>тъй</a:t>
          </a:r>
          <a:r>
            <a:rPr lang="ru-RU" sz="2400" kern="1200" dirty="0"/>
            <a:t> като </a:t>
          </a:r>
          <a:r>
            <a:rPr lang="ru-RU" sz="2400" kern="1200" dirty="0" err="1"/>
            <a:t>виртуалните</a:t>
          </a:r>
          <a:r>
            <a:rPr lang="ru-RU" sz="2400" kern="1200" dirty="0"/>
            <a:t> </a:t>
          </a:r>
          <a:r>
            <a:rPr lang="ru-RU" sz="2400" kern="1200" dirty="0" err="1"/>
            <a:t>сървъри</a:t>
          </a:r>
          <a:r>
            <a:rPr lang="ru-RU" sz="2400" kern="1200" dirty="0"/>
            <a:t> </a:t>
          </a:r>
          <a:r>
            <a:rPr lang="ru-RU" sz="2400" kern="1200" dirty="0" err="1"/>
            <a:t>могат</a:t>
          </a:r>
          <a:r>
            <a:rPr lang="ru-RU" sz="2400" kern="1200" dirty="0"/>
            <a:t> </a:t>
          </a:r>
          <a:r>
            <a:rPr lang="ru-RU" sz="2400" kern="1200" dirty="0" err="1"/>
            <a:t>лесно</a:t>
          </a:r>
          <a:r>
            <a:rPr lang="ru-RU" sz="2400" kern="1200" dirty="0"/>
            <a:t> да </a:t>
          </a:r>
          <a:r>
            <a:rPr lang="ru-RU" sz="2400" kern="1200" dirty="0" err="1"/>
            <a:t>бъдат</a:t>
          </a:r>
          <a:r>
            <a:rPr lang="ru-RU" sz="2400" kern="1200" dirty="0"/>
            <a:t> </a:t>
          </a:r>
          <a:r>
            <a:rPr lang="ru-RU" sz="2400" kern="1200" dirty="0" err="1"/>
            <a:t>репликирани</a:t>
          </a:r>
          <a:r>
            <a:rPr lang="ru-RU" sz="2400" kern="1200" dirty="0"/>
            <a:t> в облака.</a:t>
          </a:r>
          <a:endParaRPr lang="en-US" sz="2400" kern="1200" dirty="0"/>
        </a:p>
      </dsp:txBody>
      <dsp:txXfrm>
        <a:off x="0" y="3689859"/>
        <a:ext cx="6900512" cy="18435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A1010-9F86-42A3-882C-67D888F79351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CBDA5-4D89-4125-8970-066A5A6E698F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/>
            <a:t>Най-</a:t>
          </a:r>
          <a:r>
            <a:rPr lang="ru-RU" sz="2400" kern="1200" dirty="0" err="1"/>
            <a:t>големият</a:t>
          </a:r>
          <a:r>
            <a:rPr lang="ru-RU" sz="2400" kern="1200" dirty="0"/>
            <a:t> </a:t>
          </a:r>
          <a:r>
            <a:rPr lang="ru-RU" sz="2400" kern="1200" dirty="0" err="1"/>
            <a:t>недостатък</a:t>
          </a:r>
          <a:r>
            <a:rPr lang="ru-RU" sz="2400" kern="1200" dirty="0"/>
            <a:t> на </a:t>
          </a:r>
          <a:r>
            <a:rPr lang="ru-RU" sz="2400" kern="1200" dirty="0" err="1"/>
            <a:t>виртуалните</a:t>
          </a:r>
          <a:r>
            <a:rPr lang="ru-RU" sz="2400" kern="1200" dirty="0"/>
            <a:t> </a:t>
          </a:r>
          <a:r>
            <a:rPr lang="ru-RU" sz="2400" kern="1200" dirty="0" err="1"/>
            <a:t>сървъри</a:t>
          </a:r>
          <a:r>
            <a:rPr lang="ru-RU" sz="2400" kern="1200" dirty="0"/>
            <a:t> е, че </a:t>
          </a:r>
          <a:r>
            <a:rPr lang="ru-RU" sz="2400" kern="1200" dirty="0" err="1"/>
            <a:t>ако</a:t>
          </a:r>
          <a:r>
            <a:rPr lang="ru-RU" sz="2400" kern="1200" dirty="0"/>
            <a:t> </a:t>
          </a:r>
          <a:r>
            <a:rPr lang="ru-RU" sz="2400" kern="1200" dirty="0" err="1"/>
            <a:t>физическия</a:t>
          </a:r>
          <a:r>
            <a:rPr lang="ru-RU" sz="2400" kern="1200" dirty="0"/>
            <a:t> </a:t>
          </a:r>
          <a:r>
            <a:rPr lang="ru-RU" sz="2400" kern="1200" dirty="0" err="1"/>
            <a:t>сървър</a:t>
          </a:r>
          <a:r>
            <a:rPr lang="ru-RU" sz="2400" kern="1200" dirty="0"/>
            <a:t> </a:t>
          </a:r>
          <a:r>
            <a:rPr lang="ru-RU" sz="2400" kern="1200" dirty="0" err="1"/>
            <a:t>спре</a:t>
          </a:r>
          <a:r>
            <a:rPr lang="ru-RU" sz="2400" kern="1200" dirty="0"/>
            <a:t> да работи, всички </a:t>
          </a:r>
          <a:r>
            <a:rPr lang="ru-RU" sz="2400" kern="1200" dirty="0" err="1"/>
            <a:t>виртуални</a:t>
          </a:r>
          <a:r>
            <a:rPr lang="ru-RU" sz="2400" kern="1200" dirty="0"/>
            <a:t> </a:t>
          </a:r>
          <a:r>
            <a:rPr lang="ru-RU" sz="2400" kern="1200" dirty="0" err="1"/>
            <a:t>сървъри</a:t>
          </a:r>
          <a:r>
            <a:rPr lang="ru-RU" sz="2400" kern="1200" dirty="0"/>
            <a:t>, </a:t>
          </a:r>
          <a:r>
            <a:rPr lang="ru-RU" sz="2400" kern="1200" dirty="0" err="1"/>
            <a:t>хоствани</a:t>
          </a:r>
          <a:r>
            <a:rPr lang="ru-RU" sz="2400" kern="1200" dirty="0"/>
            <a:t> на него, </a:t>
          </a:r>
          <a:r>
            <a:rPr lang="ru-RU" sz="2400" kern="1200" dirty="0" err="1"/>
            <a:t>също</a:t>
          </a:r>
          <a:r>
            <a:rPr lang="ru-RU" sz="2400" kern="1200" dirty="0"/>
            <a:t> ще </a:t>
          </a:r>
          <a:r>
            <a:rPr lang="ru-RU" sz="2400" kern="1200" dirty="0" err="1"/>
            <a:t>спрат</a:t>
          </a:r>
          <a:r>
            <a:rPr lang="ru-RU" sz="2400" kern="1200" dirty="0"/>
            <a:t> да </a:t>
          </a:r>
          <a:r>
            <a:rPr lang="ru-RU" sz="2400" kern="1200" dirty="0" err="1"/>
            <a:t>работят</a:t>
          </a:r>
          <a:r>
            <a:rPr lang="ru-RU" sz="2400" kern="1200" dirty="0"/>
            <a:t>.</a:t>
          </a:r>
          <a:endParaRPr lang="en-US" sz="2400" kern="1200" dirty="0"/>
        </a:p>
      </dsp:txBody>
      <dsp:txXfrm>
        <a:off x="0" y="2703"/>
        <a:ext cx="6900512" cy="1843578"/>
      </dsp:txXfrm>
    </dsp:sp>
    <dsp:sp modelId="{449025D9-8A98-4157-BD35-48B7CC84E2CE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379177-0B29-473A-80A4-1D75AADD652D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err="1"/>
            <a:t>Споделените</a:t>
          </a:r>
          <a:r>
            <a:rPr lang="ru-RU" sz="2400" kern="1200" dirty="0"/>
            <a:t> ресурси </a:t>
          </a:r>
          <a:r>
            <a:rPr lang="ru-RU" sz="2400" kern="1200" dirty="0" err="1"/>
            <a:t>намаляват</a:t>
          </a:r>
          <a:r>
            <a:rPr lang="ru-RU" sz="2400" kern="1200" dirty="0"/>
            <a:t> </a:t>
          </a:r>
          <a:r>
            <a:rPr lang="ru-RU" sz="2400" kern="1200" dirty="0" err="1"/>
            <a:t>ефективността</a:t>
          </a:r>
          <a:r>
            <a:rPr lang="ru-RU" sz="2400" kern="1200" dirty="0"/>
            <a:t>. </a:t>
          </a:r>
          <a:r>
            <a:rPr lang="ru-RU" sz="2400" kern="1200" dirty="0" err="1"/>
            <a:t>Стабилността</a:t>
          </a:r>
          <a:r>
            <a:rPr lang="ru-RU" sz="2400" kern="1200" dirty="0"/>
            <a:t> </a:t>
          </a:r>
          <a:r>
            <a:rPr lang="ru-RU" sz="2400" kern="1200" dirty="0" err="1"/>
            <a:t>може</a:t>
          </a:r>
          <a:r>
            <a:rPr lang="ru-RU" sz="2400" kern="1200" dirty="0"/>
            <a:t> да </a:t>
          </a:r>
          <a:r>
            <a:rPr lang="ru-RU" sz="2400" kern="1200" dirty="0" err="1"/>
            <a:t>бъде</a:t>
          </a:r>
          <a:r>
            <a:rPr lang="ru-RU" sz="2400" kern="1200" dirty="0"/>
            <a:t> проблем.</a:t>
          </a:r>
          <a:endParaRPr lang="en-US" sz="2400" kern="1200" dirty="0"/>
        </a:p>
      </dsp:txBody>
      <dsp:txXfrm>
        <a:off x="0" y="1846281"/>
        <a:ext cx="6900512" cy="1843578"/>
      </dsp:txXfrm>
    </dsp:sp>
    <dsp:sp modelId="{5DE5960F-C3A0-4557-BF69-A60DCCB45144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74463-DEFA-48D1-A8FF-E9D38A889F3C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err="1"/>
            <a:t>Виртуалните</a:t>
          </a:r>
          <a:r>
            <a:rPr lang="ru-RU" sz="2400" kern="1200" dirty="0"/>
            <a:t> среди трябва да се </a:t>
          </a:r>
          <a:r>
            <a:rPr lang="ru-RU" sz="2400" kern="1200" dirty="0" err="1"/>
            <a:t>инстанцират</a:t>
          </a:r>
          <a:r>
            <a:rPr lang="ru-RU" sz="2400" kern="1200" dirty="0"/>
            <a:t> (да се </a:t>
          </a:r>
          <a:r>
            <a:rPr lang="ru-RU" sz="2400" kern="1200" dirty="0" err="1"/>
            <a:t>създават</a:t>
          </a:r>
          <a:r>
            <a:rPr lang="ru-RU" sz="2400" kern="1200" dirty="0"/>
            <a:t> инстанции на </a:t>
          </a:r>
          <a:r>
            <a:rPr lang="ru-RU" sz="2400" kern="1200" dirty="0" err="1"/>
            <a:t>виртуални</a:t>
          </a:r>
          <a:r>
            <a:rPr lang="ru-RU" sz="2400" kern="1200" dirty="0"/>
            <a:t> </a:t>
          </a:r>
          <a:r>
            <a:rPr lang="ru-RU" sz="2400" kern="1200" dirty="0" err="1"/>
            <a:t>машини</a:t>
          </a:r>
          <a:r>
            <a:rPr lang="ru-RU" sz="2400" kern="1200" dirty="0"/>
            <a:t>), да се </a:t>
          </a:r>
          <a:r>
            <a:rPr lang="ru-RU" sz="2400" kern="1200" dirty="0" err="1"/>
            <a:t>наблюдават</a:t>
          </a:r>
          <a:r>
            <a:rPr lang="ru-RU" sz="2400" kern="1200" dirty="0"/>
            <a:t>, </a:t>
          </a:r>
          <a:r>
            <a:rPr lang="ru-RU" sz="2400" kern="1200" dirty="0" err="1"/>
            <a:t>конфигурират</a:t>
          </a:r>
          <a:r>
            <a:rPr lang="ru-RU" sz="2400" kern="1200" dirty="0"/>
            <a:t> и </a:t>
          </a:r>
          <a:r>
            <a:rPr lang="ru-RU" sz="2400" kern="1200" dirty="0" err="1"/>
            <a:t>запазват</a:t>
          </a:r>
          <a:r>
            <a:rPr lang="ru-RU" sz="2400" kern="1200" dirty="0"/>
            <a:t>.</a:t>
          </a:r>
          <a:endParaRPr lang="en-US" sz="2400" kern="1200" dirty="0"/>
        </a:p>
      </dsp:txBody>
      <dsp:txXfrm>
        <a:off x="0" y="3689859"/>
        <a:ext cx="6900512" cy="184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CDC2743-F3D7-AE42-C4B3-533181823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9E51F509-D9F8-6242-7D3B-65747DC27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864CF39-2158-37BF-8E74-B97A965D7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CA98-6670-415F-9337-1CBCAE6893B6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E361AC7-01EA-0E20-3CFF-C6C332280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3606CA8-B652-6076-5DDC-A4B84A61A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5C8E-07A7-4B60-B009-FA8012A9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0A86FA1-BD21-2515-9BCD-54DBB2837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2EB8F88-ECF3-8C92-ADE3-613E69A30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2984F10-A75D-DE93-2B5A-58440B709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CA98-6670-415F-9337-1CBCAE6893B6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58B98A6-B5A8-D0F6-5E69-F1A0015D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DBF72A8-CEF7-DBF4-198F-8266640FD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5C8E-07A7-4B60-B009-FA8012A9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405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E47D3D-4361-30A5-4643-5230E290C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2919EBC-3B2F-F7BA-F249-77F452A47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C9090B4-C9FA-2A4A-3A3D-E9506618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CA98-6670-415F-9337-1CBCAE6893B6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DB9EE91-8AAC-0CF7-CA4B-16F627A82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55CE8E6-62B4-2713-5183-0816CA04D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5C8E-07A7-4B60-B009-FA8012A9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201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E02F4A-2801-4C3D-B90C-FF4BC6B0F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2B41A6F-EE22-8DCB-268A-56B9EBE8D9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A0E1A40-663C-4A36-1C44-95BDF9D54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D13E432-30EC-79A8-0719-92AF9FAFA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CA98-6670-415F-9337-1CBCAE6893B6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3CB027B-88CA-7262-B014-F62BE54AD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5EE769F-1A83-830A-0831-B8F0A6516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5C8E-07A7-4B60-B009-FA8012A9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34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777618-A6E9-25AD-CF34-CF16F0434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287EF21-0DC4-6FC0-0E11-A74976423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F24C10C-4E17-0757-FE9E-9CEDB0DA3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B56D1BF-44A8-B7F6-6DFA-F6242C2BF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96DFA586-D521-218C-18B9-2F829724F7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F7C4147A-1159-9CD2-D0AC-A10677208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CA98-6670-415F-9337-1CBCAE6893B6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8B19BE09-F5C6-62FF-BC95-52DDD20C6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D3D8826E-38C8-B1F9-39A9-6FB49C036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5C8E-07A7-4B60-B009-FA8012A9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22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BE94FA4-A5BE-A258-B966-1577B6B88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ED26571-CA38-DB09-727A-1002A821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CA98-6670-415F-9337-1CBCAE6893B6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7CADB193-61D2-371C-8E18-C30B1B3A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820DE97-AA29-D21F-986A-D18D51FEC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5C8E-07A7-4B60-B009-FA8012A9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12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2BF59448-16E4-60B1-62B2-1DCB7D73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CA98-6670-415F-9337-1CBCAE6893B6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ED7CA01-37C9-73E9-6047-AEC054A86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B4CE953-5773-9EB0-410D-EE0B599A9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5C8E-07A7-4B60-B009-FA8012A9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25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7AB75E-11A4-8F56-F84E-301F8A57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3B1A39E-ECB9-27E4-103E-B3EF21495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3B390B9-CBDA-25D9-44A3-AC23DABD7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44DCE02-3568-E08B-7C07-2D7902F29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CA98-6670-415F-9337-1CBCAE6893B6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F88DCA4-DD63-9C72-9394-EB2478D3A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2996B1E-AE4A-DB06-F556-5A9D2FE8E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5C8E-07A7-4B60-B009-FA8012A9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08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D2FA79-0FA5-EF8B-9CA0-91A396769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F59D5301-1A2D-818A-CF9C-322E769C47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DA192E3-D2DC-A8DC-E8B0-75C484FA6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00D7EF3-3FCD-CDF6-A470-FB2A44F23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CA98-6670-415F-9337-1CBCAE6893B6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71D9DD8-FE14-C006-53AD-5DBD7A3CE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88E6B8E-F572-20DC-B089-FD55D9339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5C8E-07A7-4B60-B009-FA8012A9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131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EA3B3E-3DDF-DB83-C499-CE7A56D6A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8431809-965A-3320-CC24-A3B6C3791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09D0C34-B449-A5D3-9114-0083A2B78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CA98-6670-415F-9337-1CBCAE6893B6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E12CE20-C91E-8955-AFF3-1E806880B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4F047EF-E251-962E-29AF-C091B7260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5C8E-07A7-4B60-B009-FA8012A9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62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F0F8D87A-8FFB-43B9-1D81-455F6F4F9F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3053A17-E24F-1162-0701-06C87BC31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CE00793-D915-0EE7-D31D-04AF9A7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CA98-6670-415F-9337-1CBCAE6893B6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3C81088-EF68-FE73-176F-5B22BCA16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4836BBA-1249-540E-314D-F912ADD74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5C8E-07A7-4B60-B009-FA8012A9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2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83B3C7E6-5C8D-85EA-AC45-18B177088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FB702A5-C164-9B15-23BB-75FDBAFA4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9E5EC41-9C8A-176A-73B6-006A98903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0FCA98-6670-415F-9337-1CBCAE6893B6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D2FAC98-D99D-E77A-02D7-FB9E61C142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73D8B92-FC03-D7F2-5557-C2802ABCD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45C8E-07A7-4B60-B009-FA8012A9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eed.com/career-advice/career-development/types-of-servers" TargetMode="External"/><Relationship Id="rId2" Type="http://schemas.openxmlformats.org/officeDocument/2006/relationships/hyperlink" Target="https://www.techtarget.com/whatis/definition/serve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ypertecdirect.com/knowledge-base/server-components-explained/" TargetMode="External"/><Relationship Id="rId4" Type="http://schemas.openxmlformats.org/officeDocument/2006/relationships/hyperlink" Target="https://www.nibusinessinfo.co.uk/content/server-securit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omputer, indoor, building, warehouse&#10;&#10;Description automatically generated">
            <a:extLst>
              <a:ext uri="{FF2B5EF4-FFF2-40B4-BE49-F238E27FC236}">
                <a16:creationId xmlns="" xmlns:a16="http://schemas.microsoft.com/office/drawing/2014/main" id="{FE67FD39-91E0-F3A4-5391-C5B7324C0E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86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666BFD-B31D-FAD5-CE5F-F6ECEE00FE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8520"/>
            <a:ext cx="9144000" cy="2380959"/>
          </a:xfrm>
        </p:spPr>
        <p:txBody>
          <a:bodyPr>
            <a:normAutofit/>
          </a:bodyPr>
          <a:lstStyle/>
          <a:p>
            <a:r>
              <a:rPr lang="bg-BG" sz="3400" b="1" dirty="0">
                <a:solidFill>
                  <a:schemeClr val="bg1"/>
                </a:solidFill>
                <a:latin typeface="+mn-lt"/>
              </a:rPr>
              <a:t>Сървъри и конфигурации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- c</a:t>
            </a:r>
            <a:r>
              <a:rPr lang="ru-RU" sz="3400" b="1" dirty="0" err="1">
                <a:solidFill>
                  <a:schemeClr val="bg1"/>
                </a:solidFill>
                <a:latin typeface="+mn-lt"/>
              </a:rPr>
              <a:t>ъображения</a:t>
            </a:r>
            <a:r>
              <a:rPr lang="ru-RU" sz="3400" b="1" dirty="0">
                <a:solidFill>
                  <a:schemeClr val="bg1"/>
                </a:solidFill>
                <a:latin typeface="+mn-lt"/>
              </a:rPr>
              <a:t> при </a:t>
            </a:r>
            <a:r>
              <a:rPr lang="ru-RU" sz="3400" b="1" dirty="0" err="1">
                <a:solidFill>
                  <a:schemeClr val="bg1"/>
                </a:solidFill>
                <a:latin typeface="+mn-lt"/>
              </a:rPr>
              <a:t>подбир</a:t>
            </a:r>
            <a:r>
              <a:rPr lang="ru-RU" sz="3400" b="1" dirty="0">
                <a:solidFill>
                  <a:schemeClr val="bg1"/>
                </a:solidFill>
                <a:latin typeface="+mn-lt"/>
              </a:rPr>
              <a:t> на </a:t>
            </a:r>
            <a:r>
              <a:rPr lang="ru-RU" sz="3400" b="1" dirty="0" err="1">
                <a:solidFill>
                  <a:schemeClr val="bg1"/>
                </a:solidFill>
                <a:latin typeface="+mn-lt"/>
              </a:rPr>
              <a:t>компоненти</a:t>
            </a:r>
            <a:r>
              <a:rPr lang="ru-RU" sz="3400" b="1" dirty="0">
                <a:solidFill>
                  <a:schemeClr val="bg1"/>
                </a:solidFill>
                <a:latin typeface="+mn-lt"/>
              </a:rPr>
              <a:t>.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400" b="1" dirty="0">
                <a:solidFill>
                  <a:schemeClr val="bg1"/>
                </a:solidFill>
                <a:latin typeface="+mn-lt"/>
              </a:rPr>
              <a:t>Защита на </a:t>
            </a:r>
            <a:r>
              <a:rPr lang="ru-RU" sz="3400" b="1" dirty="0" err="1">
                <a:solidFill>
                  <a:schemeClr val="bg1"/>
                </a:solidFill>
                <a:latin typeface="+mn-lt"/>
              </a:rPr>
              <a:t>сървъра</a:t>
            </a:r>
            <a:r>
              <a:rPr lang="ru-RU" sz="3400" b="1" dirty="0">
                <a:solidFill>
                  <a:schemeClr val="bg1"/>
                </a:solidFill>
                <a:latin typeface="+mn-lt"/>
              </a:rPr>
              <a:t> и архива.</a:t>
            </a:r>
            <a:r>
              <a:rPr lang="en-US" sz="34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3400" b="1" dirty="0">
                <a:solidFill>
                  <a:schemeClr val="bg1"/>
                </a:solidFill>
                <a:latin typeface="+mn-lt"/>
              </a:rPr>
              <a:t/>
            </a:r>
            <a:br>
              <a:rPr lang="ru-RU" sz="3400" b="1" dirty="0">
                <a:solidFill>
                  <a:schemeClr val="bg1"/>
                </a:solidFill>
                <a:latin typeface="+mn-lt"/>
              </a:rPr>
            </a:br>
            <a:endParaRPr lang="en-US" sz="34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30910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E658F689-9CC8-0DE0-66EE-B6A1351C9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+mn-lt"/>
              </a:rPr>
              <a:t>Съдържание</a:t>
            </a:r>
            <a:endParaRPr lang="en-US" sz="3200" b="1" dirty="0">
              <a:latin typeface="+mn-lt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3C0F512-93B1-C496-049C-81FB28920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836077"/>
            <a:ext cx="10515600" cy="425196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bg-BG" sz="2400" dirty="0"/>
              <a:t>Какво е сървър?.........................................................................................................5</a:t>
            </a:r>
          </a:p>
          <a:p>
            <a:pPr marL="0" indent="0" algn="just">
              <a:buNone/>
            </a:pPr>
            <a:r>
              <a:rPr lang="bg-BG" sz="2400" dirty="0"/>
              <a:t>Как работи сървър?...................................................................................................6</a:t>
            </a:r>
          </a:p>
          <a:p>
            <a:pPr marL="0" indent="0" algn="just">
              <a:buNone/>
            </a:pPr>
            <a:r>
              <a:rPr lang="bg-BG" sz="2400" dirty="0"/>
              <a:t>Физически сървър ....................................................................................................7</a:t>
            </a:r>
          </a:p>
          <a:p>
            <a:pPr algn="just"/>
            <a:r>
              <a:rPr lang="bg-BG" sz="2400" dirty="0"/>
              <a:t>Предимства ............................................................................................................8</a:t>
            </a:r>
          </a:p>
          <a:p>
            <a:pPr algn="just"/>
            <a:r>
              <a:rPr lang="bg-BG" sz="2400" dirty="0"/>
              <a:t>Недостатъци ...........................................................................................................9</a:t>
            </a:r>
          </a:p>
          <a:p>
            <a:pPr marL="0" indent="0" algn="just">
              <a:buNone/>
            </a:pPr>
            <a:r>
              <a:rPr lang="bg-BG" sz="2400" dirty="0"/>
              <a:t>Виртуален сървър ...................................................................................................10</a:t>
            </a:r>
          </a:p>
          <a:p>
            <a:pPr algn="just"/>
            <a:r>
              <a:rPr lang="bg-BG" sz="2400" dirty="0"/>
              <a:t>Предимства ..........................................................................................................11</a:t>
            </a:r>
          </a:p>
          <a:p>
            <a:pPr algn="just"/>
            <a:r>
              <a:rPr lang="bg-BG" sz="2400" dirty="0"/>
              <a:t>Недостатъци .........................................................................................................12</a:t>
            </a:r>
          </a:p>
          <a:p>
            <a:pPr marL="0" indent="0" algn="just">
              <a:buNone/>
            </a:pPr>
            <a:r>
              <a:rPr lang="ru-RU" sz="2400" dirty="0"/>
              <a:t>Физически </a:t>
            </a:r>
            <a:r>
              <a:rPr lang="ru-RU" sz="2400" dirty="0" err="1"/>
              <a:t>сървър</a:t>
            </a:r>
            <a:r>
              <a:rPr lang="ru-RU" sz="2400" dirty="0"/>
              <a:t> или виртуален </a:t>
            </a:r>
            <a:r>
              <a:rPr lang="ru-RU" sz="2400" dirty="0" err="1"/>
              <a:t>сървър</a:t>
            </a:r>
            <a:r>
              <a:rPr lang="ru-RU" sz="2400" dirty="0"/>
              <a:t>?...........................................................13</a:t>
            </a:r>
          </a:p>
          <a:p>
            <a:pPr marL="0" indent="0" algn="just">
              <a:buNone/>
            </a:pPr>
            <a:r>
              <a:rPr lang="ru-RU" sz="2400" dirty="0" err="1"/>
              <a:t>Сървърен</a:t>
            </a:r>
            <a:r>
              <a:rPr lang="ru-RU" sz="2400" dirty="0"/>
              <a:t> </a:t>
            </a:r>
            <a:r>
              <a:rPr lang="ru-RU" sz="2400" dirty="0" err="1"/>
              <a:t>софтуер</a:t>
            </a:r>
            <a:r>
              <a:rPr lang="ru-RU" sz="2400" dirty="0"/>
              <a:t> ……………………………………………………………………………………………..14</a:t>
            </a:r>
          </a:p>
          <a:p>
            <a:pPr marL="0" indent="0" algn="just">
              <a:buNone/>
            </a:pPr>
            <a:r>
              <a:rPr lang="ru-RU" sz="2400" dirty="0"/>
              <a:t>	</a:t>
            </a:r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endParaRPr lang="bg-BG" sz="2400" dirty="0"/>
          </a:p>
          <a:p>
            <a:pPr marL="0" indent="0" algn="just">
              <a:buNone/>
            </a:pPr>
            <a:endParaRPr lang="bg-BG" sz="2400" dirty="0"/>
          </a:p>
          <a:p>
            <a:pPr marL="0" indent="0" algn="just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9664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5782C8D-CDEE-3D4E-81D3-AFA11C204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826290"/>
            <a:ext cx="10515600" cy="42519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g-BG" sz="2400" dirty="0"/>
              <a:t>Видове сървъри ......................................................................................................15</a:t>
            </a:r>
          </a:p>
          <a:p>
            <a:r>
              <a:rPr lang="bg-BG" sz="2400" dirty="0"/>
              <a:t>Уеб сървър ............................................................................................................16</a:t>
            </a:r>
          </a:p>
          <a:p>
            <a:r>
              <a:rPr lang="bg-BG" sz="2400" dirty="0"/>
              <a:t>Сървър за приложения ........................................................................................17</a:t>
            </a:r>
          </a:p>
          <a:p>
            <a:r>
              <a:rPr lang="bg-BG" sz="2400" dirty="0"/>
              <a:t>Прокси сървър ......................................................................................................18</a:t>
            </a:r>
          </a:p>
          <a:p>
            <a:r>
              <a:rPr lang="bg-BG" sz="2400" dirty="0"/>
              <a:t>Пощенски сървър .................................................................................................19</a:t>
            </a:r>
          </a:p>
          <a:p>
            <a:r>
              <a:rPr lang="bg-BG" sz="2400" dirty="0"/>
              <a:t>Виртуален сървър ................................................................................................20</a:t>
            </a:r>
          </a:p>
          <a:p>
            <a:r>
              <a:rPr lang="en-US" sz="2400" dirty="0"/>
              <a:t>File Transfer Protocol (FTP) </a:t>
            </a:r>
            <a:r>
              <a:rPr lang="bg-BG" sz="2400" dirty="0"/>
              <a:t>сървър .......................................................................21</a:t>
            </a:r>
          </a:p>
          <a:p>
            <a:r>
              <a:rPr lang="bg-BG" sz="2400" dirty="0"/>
              <a:t>Файлов сървър .....................................................................................................22</a:t>
            </a:r>
          </a:p>
          <a:p>
            <a:r>
              <a:rPr lang="bg-BG" sz="2400" dirty="0"/>
              <a:t>Сървър за база данни ..........................................................................................23</a:t>
            </a:r>
          </a:p>
          <a:p>
            <a:r>
              <a:rPr lang="en-US" sz="2400" dirty="0"/>
              <a:t>Domain Name System (DNS) </a:t>
            </a:r>
            <a:r>
              <a:rPr lang="bg-BG" sz="2400" dirty="0"/>
              <a:t>сървър ....................................................................24</a:t>
            </a:r>
          </a:p>
          <a:p>
            <a:pPr marL="0" indent="0">
              <a:buNone/>
            </a:pPr>
            <a:endParaRPr lang="bg-BG" sz="2400" dirty="0"/>
          </a:p>
          <a:p>
            <a:pPr marL="0" indent="0">
              <a:buNone/>
            </a:pPr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56788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CB36A04-B25F-34E4-8F25-36B059E0C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bg-BG" sz="2400" dirty="0"/>
              <a:t>Сървър за принтиране .........................................................................................25</a:t>
            </a:r>
          </a:p>
          <a:p>
            <a:pPr marL="0" indent="0">
              <a:buNone/>
            </a:pPr>
            <a:r>
              <a:rPr lang="bg-BG" sz="2400" dirty="0"/>
              <a:t>Подбир на компоненти ..........................................................................................26</a:t>
            </a:r>
          </a:p>
          <a:p>
            <a:pPr marL="0" indent="0">
              <a:buNone/>
            </a:pPr>
            <a:r>
              <a:rPr lang="bg-BG" sz="2400" dirty="0"/>
              <a:t>Защита на сървър ....................................................................................................27</a:t>
            </a:r>
          </a:p>
          <a:p>
            <a:pPr marL="0" indent="0">
              <a:buNone/>
            </a:pPr>
            <a:r>
              <a:rPr lang="bg-BG" sz="2400" dirty="0"/>
              <a:t>Практики за добра защита .....................................................................................28</a:t>
            </a:r>
          </a:p>
          <a:p>
            <a:pPr marL="0" indent="0">
              <a:buNone/>
            </a:pPr>
            <a:r>
              <a:rPr lang="bg-BG" sz="2400" dirty="0"/>
              <a:t>Подсилване на  сървър ...........................................................................................29</a:t>
            </a:r>
          </a:p>
          <a:p>
            <a:pPr marL="0" indent="0">
              <a:buNone/>
            </a:pPr>
            <a:r>
              <a:rPr lang="bg-BG" sz="2400" dirty="0"/>
              <a:t>Въпроси ....................................................................................................................30</a:t>
            </a:r>
          </a:p>
          <a:p>
            <a:pPr marL="0" indent="0">
              <a:buNone/>
            </a:pPr>
            <a:r>
              <a:rPr lang="bg-BG" sz="2400" dirty="0"/>
              <a:t>Източници ................................................................................................................31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10265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="" xmlns:a16="http://schemas.microsoft.com/office/drawing/2014/main" id="{04812C46-200A-4DEB-A05E-3ED6C68C23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text, computer&#10;&#10;Description automatically generated">
            <a:extLst>
              <a:ext uri="{FF2B5EF4-FFF2-40B4-BE49-F238E27FC236}">
                <a16:creationId xmlns="" xmlns:a16="http://schemas.microsoft.com/office/drawing/2014/main" id="{42166CA5-4ABD-C818-C204-8504CB2943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6" r="9022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2" name="Rectangle 18">
            <a:extLst>
              <a:ext uri="{FF2B5EF4-FFF2-40B4-BE49-F238E27FC236}">
                <a16:creationId xmlns="" xmlns:a16="http://schemas.microsoft.com/office/drawing/2014/main" id="{D1EA859B-E555-4109-94F3-6700E046E0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B80C1CC7-6547-8331-C8FE-8731A8E02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617280"/>
            <a:ext cx="3822189" cy="1899912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+mn-lt"/>
              </a:rPr>
              <a:t>Какво е сървър?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94FACD7-E659-3E98-CBCB-20DD701FD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1237"/>
            <a:ext cx="4210050" cy="37427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err="1"/>
              <a:t>Сървърът</a:t>
            </a:r>
            <a:r>
              <a:rPr lang="ru-RU" sz="2400" dirty="0"/>
              <a:t> е </a:t>
            </a:r>
            <a:r>
              <a:rPr lang="ru-RU" sz="2400" dirty="0" err="1"/>
              <a:t>компютърна</a:t>
            </a:r>
            <a:r>
              <a:rPr lang="ru-RU" sz="2400" dirty="0"/>
              <a:t> </a:t>
            </a:r>
            <a:r>
              <a:rPr lang="ru-RU" sz="2400" dirty="0" err="1"/>
              <a:t>програма</a:t>
            </a:r>
            <a:r>
              <a:rPr lang="ru-RU" sz="2400" dirty="0"/>
              <a:t> или устройство, което </a:t>
            </a:r>
            <a:r>
              <a:rPr lang="ru-RU" sz="2400" dirty="0" err="1"/>
              <a:t>предоставя</a:t>
            </a:r>
            <a:r>
              <a:rPr lang="ru-RU" sz="2400" dirty="0"/>
              <a:t> услуга на друга </a:t>
            </a:r>
            <a:r>
              <a:rPr lang="ru-RU" sz="2400" dirty="0" err="1"/>
              <a:t>компютърна</a:t>
            </a:r>
            <a:r>
              <a:rPr lang="ru-RU" sz="2400" dirty="0"/>
              <a:t> </a:t>
            </a:r>
            <a:r>
              <a:rPr lang="ru-RU" sz="2400" dirty="0" err="1"/>
              <a:t>програма</a:t>
            </a:r>
            <a:r>
              <a:rPr lang="ru-RU" sz="2400" dirty="0"/>
              <a:t> и </a:t>
            </a:r>
            <a:r>
              <a:rPr lang="ru-RU" sz="2400" dirty="0" err="1"/>
              <a:t>нейния</a:t>
            </a:r>
            <a:r>
              <a:rPr lang="ru-RU" sz="2400" dirty="0"/>
              <a:t> </a:t>
            </a:r>
            <a:r>
              <a:rPr lang="ru-RU" sz="2400" dirty="0" err="1"/>
              <a:t>потребител</a:t>
            </a:r>
            <a:r>
              <a:rPr lang="en-US" sz="2400" dirty="0"/>
              <a:t> (</a:t>
            </a:r>
            <a:r>
              <a:rPr lang="ru-RU" sz="2400" dirty="0"/>
              <a:t>клиент</a:t>
            </a:r>
            <a:r>
              <a:rPr lang="en-US" sz="2400" dirty="0"/>
              <a:t>)</a:t>
            </a:r>
            <a:r>
              <a:rPr lang="ru-RU" sz="2400" dirty="0"/>
              <a:t>. В </a:t>
            </a:r>
            <a:r>
              <a:rPr lang="ru-RU" sz="2400" dirty="0" err="1"/>
              <a:t>центъра</a:t>
            </a:r>
            <a:r>
              <a:rPr lang="ru-RU" sz="2400" dirty="0"/>
              <a:t> за </a:t>
            </a:r>
            <a:r>
              <a:rPr lang="ru-RU" sz="2400" dirty="0" err="1"/>
              <a:t>данни</a:t>
            </a:r>
            <a:r>
              <a:rPr lang="ru-RU" sz="2400" dirty="0"/>
              <a:t> </a:t>
            </a:r>
            <a:r>
              <a:rPr lang="ru-RU" sz="2400" dirty="0" err="1"/>
              <a:t>физическият</a:t>
            </a:r>
            <a:r>
              <a:rPr lang="ru-RU" sz="2400" dirty="0"/>
              <a:t> </a:t>
            </a:r>
            <a:r>
              <a:rPr lang="ru-RU" sz="2400" dirty="0" err="1"/>
              <a:t>компютър</a:t>
            </a:r>
            <a:r>
              <a:rPr lang="ru-RU" sz="2400" dirty="0"/>
              <a:t>, на </a:t>
            </a:r>
            <a:r>
              <a:rPr lang="ru-RU" sz="2400" dirty="0" err="1"/>
              <a:t>който</a:t>
            </a:r>
            <a:r>
              <a:rPr lang="ru-RU" sz="2400" dirty="0"/>
              <a:t> работи </a:t>
            </a:r>
            <a:r>
              <a:rPr lang="ru-RU" sz="2400" dirty="0" err="1"/>
              <a:t>сървърна</a:t>
            </a:r>
            <a:r>
              <a:rPr lang="ru-RU" sz="2400" dirty="0"/>
              <a:t> </a:t>
            </a:r>
            <a:r>
              <a:rPr lang="ru-RU" sz="2400" dirty="0" err="1"/>
              <a:t>програма</a:t>
            </a:r>
            <a:r>
              <a:rPr lang="ru-RU" sz="2400" dirty="0"/>
              <a:t>, </a:t>
            </a:r>
            <a:r>
              <a:rPr lang="ru-RU" sz="2400" dirty="0" err="1"/>
              <a:t>също</a:t>
            </a:r>
            <a:r>
              <a:rPr lang="ru-RU" sz="2400" dirty="0"/>
              <a:t> </a:t>
            </a:r>
            <a:r>
              <a:rPr lang="ru-RU" sz="2400" dirty="0" err="1"/>
              <a:t>често</a:t>
            </a:r>
            <a:r>
              <a:rPr lang="ru-RU" sz="2400" dirty="0"/>
              <a:t> се </a:t>
            </a:r>
            <a:r>
              <a:rPr lang="ru-RU" sz="2400" dirty="0" err="1"/>
              <a:t>нарича</a:t>
            </a:r>
            <a:r>
              <a:rPr lang="ru-RU" sz="2400" dirty="0"/>
              <a:t> </a:t>
            </a:r>
            <a:r>
              <a:rPr lang="ru-RU" sz="2400" dirty="0" err="1"/>
              <a:t>сървър</a:t>
            </a:r>
            <a:r>
              <a:rPr lang="ru-RU" sz="2400" dirty="0"/>
              <a:t>. </a:t>
            </a:r>
            <a:r>
              <a:rPr lang="ru-RU" sz="2400" dirty="0" err="1"/>
              <a:t>Тази</a:t>
            </a:r>
            <a:r>
              <a:rPr lang="ru-RU" sz="2400" dirty="0"/>
              <a:t> машина </a:t>
            </a:r>
            <a:r>
              <a:rPr lang="ru-RU" sz="2400" dirty="0" err="1"/>
              <a:t>може</a:t>
            </a:r>
            <a:r>
              <a:rPr lang="ru-RU" sz="2400" dirty="0"/>
              <a:t> да е </a:t>
            </a:r>
            <a:r>
              <a:rPr lang="ru-RU" sz="2400" dirty="0" err="1"/>
              <a:t>специализиран</a:t>
            </a:r>
            <a:r>
              <a:rPr lang="ru-RU" sz="2400" dirty="0"/>
              <a:t> </a:t>
            </a:r>
            <a:r>
              <a:rPr lang="ru-RU" sz="2400" dirty="0" err="1"/>
              <a:t>сървър</a:t>
            </a:r>
            <a:r>
              <a:rPr lang="ru-RU" sz="2400" dirty="0"/>
              <a:t> или да се използва за </a:t>
            </a:r>
            <a:r>
              <a:rPr lang="ru-RU" sz="2400" dirty="0" err="1"/>
              <a:t>други</a:t>
            </a:r>
            <a:r>
              <a:rPr lang="ru-RU" sz="2400" dirty="0"/>
              <a:t> цели.</a:t>
            </a:r>
            <a:r>
              <a:rPr lang="en-US" sz="2400" dirty="0"/>
              <a:t>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99119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B566528-1B12-4246-9431-5C2D7D0811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7576D1-C5C7-6BC1-E0D7-1824A4590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+mn-lt"/>
              </a:rPr>
              <a:t>Как работи сървър?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9F462C-FAD7-AA92-DF9C-BE327AA5D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261" y="1457471"/>
            <a:ext cx="6995581" cy="4393982"/>
          </a:xfrm>
        </p:spPr>
        <p:txBody>
          <a:bodyPr>
            <a:noAutofit/>
          </a:bodyPr>
          <a:lstStyle/>
          <a:p>
            <a:r>
              <a:rPr lang="ru-RU" sz="2400" dirty="0" err="1"/>
              <a:t>Терминът</a:t>
            </a:r>
            <a:r>
              <a:rPr lang="ru-RU" sz="2400" dirty="0"/>
              <a:t> "</a:t>
            </a:r>
            <a:r>
              <a:rPr lang="ru-RU" sz="2400" dirty="0" err="1"/>
              <a:t>сървър</a:t>
            </a:r>
            <a:r>
              <a:rPr lang="ru-RU" sz="2400" dirty="0"/>
              <a:t>" </a:t>
            </a:r>
            <a:r>
              <a:rPr lang="ru-RU" sz="2400" dirty="0" err="1"/>
              <a:t>може</a:t>
            </a:r>
            <a:r>
              <a:rPr lang="ru-RU" sz="2400" dirty="0"/>
              <a:t> да се </a:t>
            </a:r>
            <a:r>
              <a:rPr lang="ru-RU" sz="2400" dirty="0" err="1"/>
              <a:t>отнася</a:t>
            </a:r>
            <a:r>
              <a:rPr lang="ru-RU" sz="2400" dirty="0"/>
              <a:t> за </a:t>
            </a:r>
            <a:r>
              <a:rPr lang="ru-RU" sz="2400" dirty="0" err="1"/>
              <a:t>физическа</a:t>
            </a:r>
            <a:r>
              <a:rPr lang="ru-RU" sz="2400" dirty="0"/>
              <a:t> машина, </a:t>
            </a:r>
            <a:r>
              <a:rPr lang="ru-RU" sz="2400" dirty="0" err="1"/>
              <a:t>виртуална</a:t>
            </a:r>
            <a:r>
              <a:rPr lang="ru-RU" sz="2400" dirty="0"/>
              <a:t> машина или за </a:t>
            </a:r>
            <a:r>
              <a:rPr lang="ru-RU" sz="2400" dirty="0" err="1"/>
              <a:t>софтуер</a:t>
            </a:r>
            <a:r>
              <a:rPr lang="ru-RU" sz="2400" dirty="0"/>
              <a:t>, </a:t>
            </a:r>
            <a:r>
              <a:rPr lang="ru-RU" sz="2400" dirty="0" err="1"/>
              <a:t>който</a:t>
            </a:r>
            <a:r>
              <a:rPr lang="ru-RU" sz="2400" dirty="0"/>
              <a:t> </a:t>
            </a:r>
            <a:r>
              <a:rPr lang="ru-RU" sz="2400" dirty="0" err="1"/>
              <a:t>изпълнява</a:t>
            </a:r>
            <a:r>
              <a:rPr lang="ru-RU" sz="2400" dirty="0"/>
              <a:t> </a:t>
            </a:r>
            <a:r>
              <a:rPr lang="ru-RU" sz="2400" dirty="0" err="1"/>
              <a:t>сървърни</a:t>
            </a:r>
            <a:r>
              <a:rPr lang="ru-RU" sz="2400" dirty="0"/>
              <a:t> услуги. </a:t>
            </a:r>
            <a:r>
              <a:rPr lang="ru-RU" sz="2400" dirty="0" err="1"/>
              <a:t>Начинът</a:t>
            </a:r>
            <a:r>
              <a:rPr lang="ru-RU" sz="2400" dirty="0"/>
              <a:t>, по </a:t>
            </a:r>
            <a:r>
              <a:rPr lang="ru-RU" sz="2400" dirty="0" err="1"/>
              <a:t>който</a:t>
            </a:r>
            <a:r>
              <a:rPr lang="ru-RU" sz="2400" dirty="0"/>
              <a:t> работи един </a:t>
            </a:r>
            <a:r>
              <a:rPr lang="ru-RU" sz="2400" dirty="0" err="1"/>
              <a:t>сървър</a:t>
            </a:r>
            <a:r>
              <a:rPr lang="ru-RU" sz="2400" dirty="0"/>
              <a:t>, </a:t>
            </a:r>
            <a:r>
              <a:rPr lang="ru-RU" sz="2400" dirty="0" err="1"/>
              <a:t>варира</a:t>
            </a:r>
            <a:r>
              <a:rPr lang="ru-RU" sz="2400" dirty="0"/>
              <a:t> </a:t>
            </a:r>
            <a:r>
              <a:rPr lang="ru-RU" sz="2400" dirty="0" err="1"/>
              <a:t>значително</a:t>
            </a:r>
            <a:r>
              <a:rPr lang="ru-RU" sz="2400" dirty="0"/>
              <a:t> в </a:t>
            </a:r>
            <a:r>
              <a:rPr lang="ru-RU" sz="2400" dirty="0" err="1"/>
              <a:t>зависимост</a:t>
            </a:r>
            <a:r>
              <a:rPr lang="ru-RU" sz="2400" dirty="0"/>
              <a:t> от начина, по </a:t>
            </a:r>
            <a:r>
              <a:rPr lang="ru-RU" sz="2400" dirty="0" err="1"/>
              <a:t>който</a:t>
            </a:r>
            <a:r>
              <a:rPr lang="ru-RU" sz="2400" dirty="0"/>
              <a:t> се използва </a:t>
            </a:r>
            <a:r>
              <a:rPr lang="ru-RU" sz="2400" dirty="0" err="1"/>
              <a:t>думата</a:t>
            </a:r>
            <a:r>
              <a:rPr lang="ru-RU" sz="2400" dirty="0"/>
              <a:t> </a:t>
            </a:r>
            <a:r>
              <a:rPr lang="ru-RU" sz="2400" dirty="0" err="1"/>
              <a:t>сървър</a:t>
            </a:r>
            <a:r>
              <a:rPr lang="en-US" sz="2400" dirty="0"/>
              <a:t>.</a:t>
            </a:r>
          </a:p>
          <a:p>
            <a:r>
              <a:rPr lang="ru-RU" sz="2400" dirty="0"/>
              <a:t>В </a:t>
            </a:r>
            <a:r>
              <a:rPr lang="ru-RU" sz="2400" dirty="0" err="1"/>
              <a:t>модела</a:t>
            </a:r>
            <a:r>
              <a:rPr lang="ru-RU" sz="2400" dirty="0"/>
              <a:t> на </a:t>
            </a:r>
            <a:r>
              <a:rPr lang="ru-RU" sz="2400" dirty="0" err="1"/>
              <a:t>програмиране</a:t>
            </a:r>
            <a:r>
              <a:rPr lang="ru-RU" sz="2400" dirty="0"/>
              <a:t> клиент/</a:t>
            </a:r>
            <a:r>
              <a:rPr lang="ru-RU" sz="2400" dirty="0" err="1"/>
              <a:t>сървър</a:t>
            </a:r>
            <a:r>
              <a:rPr lang="en-US" sz="2400" dirty="0"/>
              <a:t>,</a:t>
            </a:r>
            <a:r>
              <a:rPr lang="ru-RU" sz="2400" dirty="0"/>
              <a:t> </a:t>
            </a:r>
            <a:r>
              <a:rPr lang="ru-RU" sz="2400" dirty="0" err="1"/>
              <a:t>сървърната</a:t>
            </a:r>
            <a:r>
              <a:rPr lang="ru-RU" sz="2400" dirty="0"/>
              <a:t> </a:t>
            </a:r>
            <a:r>
              <a:rPr lang="ru-RU" sz="2400" dirty="0" err="1"/>
              <a:t>програма</a:t>
            </a:r>
            <a:r>
              <a:rPr lang="ru-RU" sz="2400" dirty="0"/>
              <a:t> </a:t>
            </a:r>
            <a:r>
              <a:rPr lang="ru-RU" sz="2400" dirty="0" err="1"/>
              <a:t>очаква</a:t>
            </a:r>
            <a:r>
              <a:rPr lang="ru-RU" sz="2400" dirty="0"/>
              <a:t> и </a:t>
            </a:r>
            <a:r>
              <a:rPr lang="ru-RU" sz="2400" dirty="0" err="1"/>
              <a:t>изпълнява</a:t>
            </a:r>
            <a:r>
              <a:rPr lang="ru-RU" sz="2400" dirty="0"/>
              <a:t> заявки от </a:t>
            </a:r>
            <a:r>
              <a:rPr lang="ru-RU" sz="2400" dirty="0" err="1"/>
              <a:t>клиентски</a:t>
            </a:r>
            <a:r>
              <a:rPr lang="ru-RU" sz="2400" dirty="0"/>
              <a:t> </a:t>
            </a:r>
            <a:r>
              <a:rPr lang="ru-RU" sz="2400" dirty="0" err="1"/>
              <a:t>програми</a:t>
            </a:r>
            <a:r>
              <a:rPr lang="ru-RU" sz="2400" dirty="0"/>
              <a:t>, които </a:t>
            </a:r>
            <a:r>
              <a:rPr lang="ru-RU" sz="2400" dirty="0" err="1"/>
              <a:t>могат</a:t>
            </a:r>
            <a:r>
              <a:rPr lang="ru-RU" sz="2400" dirty="0"/>
              <a:t> да </a:t>
            </a:r>
            <a:r>
              <a:rPr lang="ru-RU" sz="2400" dirty="0" err="1"/>
              <a:t>бъдат</a:t>
            </a:r>
            <a:r>
              <a:rPr lang="ru-RU" sz="2400" dirty="0"/>
              <a:t> </a:t>
            </a:r>
            <a:r>
              <a:rPr lang="ru-RU" sz="2400" dirty="0" err="1"/>
              <a:t>изпълнени</a:t>
            </a:r>
            <a:r>
              <a:rPr lang="ru-RU" sz="2400" dirty="0"/>
              <a:t> на </a:t>
            </a:r>
            <a:r>
              <a:rPr lang="ru-RU" sz="2400" dirty="0" err="1"/>
              <a:t>същия</a:t>
            </a:r>
            <a:r>
              <a:rPr lang="ru-RU" sz="2400" dirty="0"/>
              <a:t> или на </a:t>
            </a:r>
            <a:r>
              <a:rPr lang="ru-RU" sz="2400" dirty="0" err="1"/>
              <a:t>други</a:t>
            </a:r>
            <a:r>
              <a:rPr lang="ru-RU" sz="2400" dirty="0"/>
              <a:t> </a:t>
            </a:r>
            <a:r>
              <a:rPr lang="ru-RU" sz="2400" dirty="0" err="1"/>
              <a:t>компютри</a:t>
            </a:r>
            <a:r>
              <a:rPr lang="ru-RU" sz="2400" dirty="0"/>
              <a:t>. Дадено приложение в </a:t>
            </a:r>
            <a:r>
              <a:rPr lang="ru-RU" sz="2400" dirty="0" err="1"/>
              <a:t>компютър</a:t>
            </a:r>
            <a:r>
              <a:rPr lang="ru-RU" sz="2400" dirty="0"/>
              <a:t> </a:t>
            </a:r>
            <a:r>
              <a:rPr lang="ru-RU" sz="2400" dirty="0" err="1"/>
              <a:t>може</a:t>
            </a:r>
            <a:r>
              <a:rPr lang="ru-RU" sz="2400" dirty="0"/>
              <a:t> да </a:t>
            </a:r>
            <a:r>
              <a:rPr lang="ru-RU" sz="2400" dirty="0" err="1"/>
              <a:t>функционира</a:t>
            </a:r>
            <a:r>
              <a:rPr lang="ru-RU" sz="2400" dirty="0"/>
              <a:t> като клиент </a:t>
            </a:r>
            <a:r>
              <a:rPr lang="ru-RU" sz="2400" dirty="0" err="1"/>
              <a:t>със</a:t>
            </a:r>
            <a:r>
              <a:rPr lang="ru-RU" sz="2400" dirty="0"/>
              <a:t> заявки за услуги от </a:t>
            </a:r>
            <a:r>
              <a:rPr lang="ru-RU" sz="2400" dirty="0" err="1"/>
              <a:t>други</a:t>
            </a:r>
            <a:r>
              <a:rPr lang="ru-RU" sz="2400" dirty="0"/>
              <a:t> </a:t>
            </a:r>
            <a:r>
              <a:rPr lang="ru-RU" sz="2400" dirty="0" err="1"/>
              <a:t>програми</a:t>
            </a:r>
            <a:r>
              <a:rPr lang="ru-RU" sz="2400" dirty="0"/>
              <a:t> и като </a:t>
            </a:r>
            <a:r>
              <a:rPr lang="ru-RU" sz="2400" dirty="0" err="1"/>
              <a:t>сървър</a:t>
            </a:r>
            <a:r>
              <a:rPr lang="ru-RU" sz="2400" dirty="0"/>
              <a:t> на заявки от </a:t>
            </a:r>
            <a:r>
              <a:rPr lang="ru-RU" sz="2400" dirty="0" err="1"/>
              <a:t>други</a:t>
            </a:r>
            <a:r>
              <a:rPr lang="ru-RU" sz="2400" dirty="0"/>
              <a:t> </a:t>
            </a:r>
            <a:r>
              <a:rPr lang="ru-RU" sz="2400" dirty="0" err="1"/>
              <a:t>програми</a:t>
            </a:r>
            <a:r>
              <a:rPr lang="ru-RU" sz="2400" dirty="0"/>
              <a:t>.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en-US" sz="2400" dirty="0"/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828A5161-06F1-46CF-8AD7-844680A59E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3" name="Isosceles Triangle 12">
              <a:extLst>
                <a:ext uri="{FF2B5EF4-FFF2-40B4-BE49-F238E27FC236}">
                  <a16:creationId xmlns="" xmlns:a16="http://schemas.microsoft.com/office/drawing/2014/main" id="{D3F51FEB-38FB-4F6C-9F7B-2F2AFAB6546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1E547BA6-BAE0-43BB-A7CA-60F69CE252F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="" xmlns:a16="http://schemas.microsoft.com/office/drawing/2014/main" id="{4C7190F4-1A51-947D-8F50-348D15F9C1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95" y="2265388"/>
            <a:ext cx="4724550" cy="283472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5995D10D-E9C9-47DB-AE7E-801FEF38F5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7" name="Rectangle 16">
              <a:extLst>
                <a:ext uri="{FF2B5EF4-FFF2-40B4-BE49-F238E27FC236}">
                  <a16:creationId xmlns="" xmlns:a16="http://schemas.microsoft.com/office/drawing/2014/main" id="{CC1A72C6-3DE4-4EC3-9AD5-9E0D40D8CE8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="" xmlns:a16="http://schemas.microsoft.com/office/drawing/2014/main" id="{0B0DA1F1-C391-4EDF-9FE0-23E86E13776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1942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EA7B88-6F8D-8E3B-6104-EE0F6E76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546" y="752968"/>
            <a:ext cx="5120114" cy="1692794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+mn-lt"/>
              </a:rPr>
              <a:t>Физически сървър</a:t>
            </a:r>
            <a:endParaRPr lang="en-US" sz="3200" b="1" dirty="0">
              <a:latin typeface="+mn-lt"/>
            </a:endParaRPr>
          </a:p>
        </p:txBody>
      </p:sp>
      <p:cxnSp>
        <p:nvCxnSpPr>
          <p:cNvPr id="14" name="Straight Arrow Connector 9">
            <a:extLst>
              <a:ext uri="{FF2B5EF4-FFF2-40B4-BE49-F238E27FC236}">
                <a16:creationId xmlns="" xmlns:a16="http://schemas.microsoft.com/office/drawing/2014/main" id="{E4A809D5-3600-46D4-A466-67F2349A54F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48F3DC9-AE08-436A-5AFE-2AA153226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546" y="2575042"/>
            <a:ext cx="6126479" cy="34622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err="1"/>
              <a:t>Физическият</a:t>
            </a:r>
            <a:r>
              <a:rPr lang="ru-RU" sz="2400" dirty="0"/>
              <a:t> </a:t>
            </a:r>
            <a:r>
              <a:rPr lang="ru-RU" sz="2400" dirty="0" err="1"/>
              <a:t>сървър</a:t>
            </a:r>
            <a:r>
              <a:rPr lang="ru-RU" sz="2400" dirty="0"/>
              <a:t> се </a:t>
            </a:r>
            <a:r>
              <a:rPr lang="ru-RU" sz="2400" dirty="0" err="1"/>
              <a:t>отнася</a:t>
            </a:r>
            <a:r>
              <a:rPr lang="ru-RU" sz="2400" dirty="0"/>
              <a:t> до част от </a:t>
            </a:r>
            <a:r>
              <a:rPr lang="ru-RU" sz="2400" dirty="0" err="1"/>
              <a:t>хардуера</a:t>
            </a:r>
            <a:r>
              <a:rPr lang="ru-RU" sz="2400" dirty="0"/>
              <a:t>. Това е </a:t>
            </a:r>
            <a:r>
              <a:rPr lang="ru-RU" sz="2400" dirty="0" err="1"/>
              <a:t>разпознаваема</a:t>
            </a:r>
            <a:r>
              <a:rPr lang="ru-RU" sz="2400" dirty="0"/>
              <a:t> машина с </a:t>
            </a:r>
            <a:r>
              <a:rPr lang="ru-RU" sz="2400" dirty="0" err="1"/>
              <a:t>дънна</a:t>
            </a:r>
            <a:r>
              <a:rPr lang="ru-RU" sz="2400" dirty="0"/>
              <a:t> платка, </a:t>
            </a:r>
            <a:r>
              <a:rPr lang="ru-RU" sz="2400" dirty="0" err="1"/>
              <a:t>процесор</a:t>
            </a:r>
            <a:r>
              <a:rPr lang="ru-RU" sz="2400" dirty="0"/>
              <a:t>, </a:t>
            </a:r>
            <a:r>
              <a:rPr lang="ru-RU" sz="2400" dirty="0" err="1"/>
              <a:t>памет</a:t>
            </a:r>
            <a:r>
              <a:rPr lang="ru-RU" sz="2400" dirty="0"/>
              <a:t> и </a:t>
            </a:r>
            <a:r>
              <a:rPr lang="ru-RU" sz="2400" dirty="0" err="1"/>
              <a:t>други</a:t>
            </a:r>
            <a:r>
              <a:rPr lang="ru-RU" sz="2400" dirty="0"/>
              <a:t> </a:t>
            </a:r>
            <a:r>
              <a:rPr lang="ru-RU" sz="2400" dirty="0" err="1"/>
              <a:t>подобни</a:t>
            </a:r>
            <a:r>
              <a:rPr lang="ru-RU" sz="2400" dirty="0"/>
              <a:t>. Често </a:t>
            </a:r>
            <a:r>
              <a:rPr lang="ru-RU" sz="2400" dirty="0" err="1"/>
              <a:t>наричани</a:t>
            </a:r>
            <a:r>
              <a:rPr lang="ru-RU" sz="2400" dirty="0"/>
              <a:t> "голи </a:t>
            </a:r>
            <a:r>
              <a:rPr lang="ru-RU" sz="2400" dirty="0" err="1"/>
              <a:t>метални</a:t>
            </a:r>
            <a:r>
              <a:rPr lang="ru-RU" sz="2400" dirty="0"/>
              <a:t> </a:t>
            </a:r>
            <a:r>
              <a:rPr lang="ru-RU" sz="2400" dirty="0" err="1"/>
              <a:t>сървъри</a:t>
            </a:r>
            <a:r>
              <a:rPr lang="ru-RU" sz="2400" dirty="0"/>
              <a:t>", </a:t>
            </a:r>
            <a:r>
              <a:rPr lang="ru-RU" sz="2400" dirty="0" err="1"/>
              <a:t>физическите</a:t>
            </a:r>
            <a:r>
              <a:rPr lang="ru-RU" sz="2400" dirty="0"/>
              <a:t> </a:t>
            </a:r>
            <a:r>
              <a:rPr lang="ru-RU" sz="2400" dirty="0" err="1"/>
              <a:t>сървъри</a:t>
            </a:r>
            <a:r>
              <a:rPr lang="ru-RU" sz="2400" dirty="0"/>
              <a:t> </a:t>
            </a:r>
            <a:r>
              <a:rPr lang="ru-RU" sz="2400" dirty="0" err="1"/>
              <a:t>нямат</a:t>
            </a:r>
            <a:r>
              <a:rPr lang="ru-RU" sz="2400" dirty="0"/>
              <a:t> </a:t>
            </a:r>
            <a:r>
              <a:rPr lang="ru-RU" sz="2400" dirty="0" err="1"/>
              <a:t>разминаване</a:t>
            </a:r>
            <a:r>
              <a:rPr lang="ru-RU" sz="2400" dirty="0"/>
              <a:t> между </a:t>
            </a:r>
            <a:r>
              <a:rPr lang="ru-RU" sz="2400" dirty="0" err="1"/>
              <a:t>физическия</a:t>
            </a:r>
            <a:r>
              <a:rPr lang="ru-RU" sz="2400" dirty="0"/>
              <a:t> </a:t>
            </a:r>
            <a:r>
              <a:rPr lang="ru-RU" sz="2400" dirty="0" err="1"/>
              <a:t>хардуер</a:t>
            </a:r>
            <a:r>
              <a:rPr lang="ru-RU" sz="2400" dirty="0"/>
              <a:t> и </a:t>
            </a:r>
            <a:r>
              <a:rPr lang="ru-RU" sz="2400" dirty="0" err="1"/>
              <a:t>операционната</a:t>
            </a:r>
            <a:r>
              <a:rPr lang="ru-RU" sz="2400" dirty="0"/>
              <a:t> система. </a:t>
            </a:r>
            <a:r>
              <a:rPr lang="ru-RU" sz="2400" dirty="0" err="1"/>
              <a:t>Физическият</a:t>
            </a:r>
            <a:r>
              <a:rPr lang="ru-RU" sz="2400" dirty="0"/>
              <a:t> </a:t>
            </a:r>
            <a:r>
              <a:rPr lang="ru-RU" sz="2400" dirty="0" err="1"/>
              <a:t>сървър</a:t>
            </a:r>
            <a:r>
              <a:rPr lang="ru-RU" sz="2400" dirty="0"/>
              <a:t> </a:t>
            </a:r>
            <a:r>
              <a:rPr lang="ru-RU" sz="2400" dirty="0" err="1"/>
              <a:t>може</a:t>
            </a:r>
            <a:r>
              <a:rPr lang="ru-RU" sz="2400" dirty="0"/>
              <a:t> да работи с Linux, Windows или с </a:t>
            </a:r>
            <a:r>
              <a:rPr lang="ru-RU" sz="2400" dirty="0" err="1"/>
              <a:t>някоя</a:t>
            </a:r>
            <a:r>
              <a:rPr lang="ru-RU" sz="2400" dirty="0"/>
              <a:t> </a:t>
            </a:r>
            <a:r>
              <a:rPr lang="ru-RU" sz="2400" dirty="0" err="1"/>
              <a:t>екзотична</a:t>
            </a:r>
            <a:r>
              <a:rPr lang="ru-RU" sz="2400" dirty="0"/>
              <a:t> </a:t>
            </a:r>
            <a:r>
              <a:rPr lang="ru-RU" sz="2400" dirty="0" err="1"/>
              <a:t>операционна</a:t>
            </a:r>
            <a:r>
              <a:rPr lang="ru-RU" sz="2400" dirty="0"/>
              <a:t> система, но в един и </a:t>
            </a:r>
            <a:r>
              <a:rPr lang="ru-RU" sz="2400" dirty="0" err="1"/>
              <a:t>същи</a:t>
            </a:r>
            <a:r>
              <a:rPr lang="ru-RU" sz="2400" dirty="0"/>
              <a:t> случай ще работи само с </a:t>
            </a:r>
            <a:r>
              <a:rPr lang="ru-RU" sz="2400" dirty="0" err="1"/>
              <a:t>една</a:t>
            </a:r>
            <a:r>
              <a:rPr lang="ru-RU" sz="2400" dirty="0"/>
              <a:t> </a:t>
            </a:r>
            <a:r>
              <a:rPr lang="ru-RU" sz="2400" dirty="0" err="1"/>
              <a:t>операционна</a:t>
            </a:r>
            <a:r>
              <a:rPr lang="ru-RU" sz="2400" dirty="0"/>
              <a:t> система.</a:t>
            </a:r>
          </a:p>
          <a:p>
            <a:endParaRPr lang="ru-RU" sz="2400" dirty="0"/>
          </a:p>
          <a:p>
            <a:endParaRPr lang="en-US" sz="2400" dirty="0"/>
          </a:p>
        </p:txBody>
      </p:sp>
      <p:pic>
        <p:nvPicPr>
          <p:cNvPr id="5" name="Picture 4" descr="A picture containing text, person, indoor, computer&#10;&#10;Description automatically generated">
            <a:extLst>
              <a:ext uri="{FF2B5EF4-FFF2-40B4-BE49-F238E27FC236}">
                <a16:creationId xmlns="" xmlns:a16="http://schemas.microsoft.com/office/drawing/2014/main" id="{F66CF86F-CF2B-EA64-F3EA-4CDC97944B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02" r="16450" b="-1"/>
          <a:stretch/>
        </p:blipFill>
        <p:spPr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17631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2E442304-DDBD-4F7B-8017-36BCC863FB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D4A86D-777B-4172-09FE-2DA338F6D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bg-BG" sz="3200" b="1" dirty="0">
                <a:latin typeface="+mn-lt"/>
              </a:rPr>
              <a:t>Предимства</a:t>
            </a:r>
            <a:endParaRPr lang="en-US" sz="3200" b="1" dirty="0">
              <a:latin typeface="+mn-lt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="" xmlns:a16="http://schemas.microsoft.com/office/drawing/2014/main" id="{5E107275-3853-46FD-A241-DE4355A4267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1F30B693-B062-4CA3-4245-E4882EB3DB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511940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888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2E442304-DDBD-4F7B-8017-36BCC863FB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3F3EE43-A940-5F82-1531-8448214FF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bg-BG" sz="3200" b="1" dirty="0">
                <a:latin typeface="+mn-lt"/>
              </a:rPr>
              <a:t>Недостатъци</a:t>
            </a:r>
            <a:endParaRPr lang="en-US" sz="3200" b="1" dirty="0">
              <a:latin typeface="+mn-lt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="" xmlns:a16="http://schemas.microsoft.com/office/drawing/2014/main" id="{5E107275-3853-46FD-A241-DE4355A4267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701AF2B7-67F7-827A-ED47-F461DBDCB2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463383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974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44">
            <a:extLst>
              <a:ext uri="{FF2B5EF4-FFF2-40B4-BE49-F238E27FC236}">
                <a16:creationId xmlns="" xmlns:a16="http://schemas.microsoft.com/office/drawing/2014/main" id="{2B566528-1B12-4246-9431-5C2D7D0811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CF90606-73D4-9ECA-45D9-24B266DF9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4970877" cy="1135737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+mn-lt"/>
              </a:rPr>
              <a:t>Виртуален сървър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10D99EB-94D8-0DB0-F630-0B3B3338A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705" y="1577515"/>
            <a:ext cx="8652932" cy="4393982"/>
          </a:xfrm>
        </p:spPr>
        <p:txBody>
          <a:bodyPr>
            <a:noAutofit/>
          </a:bodyPr>
          <a:lstStyle/>
          <a:p>
            <a:r>
              <a:rPr lang="ru-RU" sz="2400" dirty="0" err="1"/>
              <a:t>Виртуалният</a:t>
            </a:r>
            <a:r>
              <a:rPr lang="ru-RU" sz="2400" dirty="0"/>
              <a:t> </a:t>
            </a:r>
            <a:r>
              <a:rPr lang="ru-RU" sz="2400" dirty="0" err="1"/>
              <a:t>сървър</a:t>
            </a:r>
            <a:r>
              <a:rPr lang="ru-RU" sz="2400" dirty="0"/>
              <a:t> е </a:t>
            </a:r>
            <a:r>
              <a:rPr lang="ru-RU" sz="2400" dirty="0" err="1"/>
              <a:t>виртуално</a:t>
            </a:r>
            <a:r>
              <a:rPr lang="ru-RU" sz="2400" dirty="0"/>
              <a:t> </a:t>
            </a:r>
            <a:r>
              <a:rPr lang="ru-RU" sz="2400" dirty="0" err="1"/>
              <a:t>представяне</a:t>
            </a:r>
            <a:r>
              <a:rPr lang="ru-RU" sz="2400" dirty="0"/>
              <a:t> на физически </a:t>
            </a:r>
            <a:r>
              <a:rPr lang="ru-RU" sz="2400" dirty="0" err="1"/>
              <a:t>сървър</a:t>
            </a:r>
            <a:r>
              <a:rPr lang="ru-RU" sz="2400" dirty="0"/>
              <a:t>. Подобно на </a:t>
            </a:r>
            <a:r>
              <a:rPr lang="ru-RU" sz="2400" dirty="0" err="1"/>
              <a:t>физическия</a:t>
            </a:r>
            <a:r>
              <a:rPr lang="ru-RU" sz="2400" dirty="0"/>
              <a:t> </a:t>
            </a:r>
            <a:r>
              <a:rPr lang="ru-RU" sz="2400" dirty="0" err="1"/>
              <a:t>сървър</a:t>
            </a:r>
            <a:r>
              <a:rPr lang="ru-RU" sz="2400" dirty="0"/>
              <a:t>, </a:t>
            </a:r>
            <a:r>
              <a:rPr lang="ru-RU" sz="2400" dirty="0" err="1"/>
              <a:t>виртуалният</a:t>
            </a:r>
            <a:r>
              <a:rPr lang="ru-RU" sz="2400" dirty="0"/>
              <a:t> </a:t>
            </a:r>
            <a:r>
              <a:rPr lang="ru-RU" sz="2400" dirty="0" err="1"/>
              <a:t>сървър</a:t>
            </a:r>
            <a:r>
              <a:rPr lang="ru-RU" sz="2400" dirty="0"/>
              <a:t> </a:t>
            </a:r>
            <a:r>
              <a:rPr lang="ru-RU" sz="2400" dirty="0" err="1"/>
              <a:t>включва</a:t>
            </a:r>
            <a:r>
              <a:rPr lang="ru-RU" sz="2400" dirty="0"/>
              <a:t> </a:t>
            </a:r>
            <a:r>
              <a:rPr lang="ru-RU" sz="2400" dirty="0" err="1"/>
              <a:t>собствена</a:t>
            </a:r>
            <a:r>
              <a:rPr lang="ru-RU" sz="2400" dirty="0"/>
              <a:t> </a:t>
            </a:r>
            <a:r>
              <a:rPr lang="ru-RU" sz="2400" dirty="0" err="1"/>
              <a:t>операционна</a:t>
            </a:r>
            <a:r>
              <a:rPr lang="ru-RU" sz="2400" dirty="0"/>
              <a:t> система и приложения. Те са </a:t>
            </a:r>
            <a:r>
              <a:rPr lang="ru-RU" sz="2400" dirty="0" err="1"/>
              <a:t>отделени</a:t>
            </a:r>
            <a:r>
              <a:rPr lang="ru-RU" sz="2400" dirty="0"/>
              <a:t> от всички </a:t>
            </a:r>
            <a:r>
              <a:rPr lang="ru-RU" sz="2400" dirty="0" err="1"/>
              <a:t>други</a:t>
            </a:r>
            <a:r>
              <a:rPr lang="ru-RU" sz="2400" dirty="0"/>
              <a:t> </a:t>
            </a:r>
            <a:r>
              <a:rPr lang="ru-RU" sz="2400" dirty="0" err="1"/>
              <a:t>виртуални</a:t>
            </a:r>
            <a:r>
              <a:rPr lang="ru-RU" sz="2400" dirty="0"/>
              <a:t> </a:t>
            </a:r>
            <a:r>
              <a:rPr lang="ru-RU" sz="2400" dirty="0" err="1"/>
              <a:t>сървъри</a:t>
            </a:r>
            <a:r>
              <a:rPr lang="ru-RU" sz="2400" dirty="0"/>
              <a:t>, които </a:t>
            </a:r>
            <a:r>
              <a:rPr lang="ru-RU" sz="2400" dirty="0" err="1"/>
              <a:t>могат</a:t>
            </a:r>
            <a:r>
              <a:rPr lang="ru-RU" sz="2400" dirty="0"/>
              <a:t> да </a:t>
            </a:r>
            <a:r>
              <a:rPr lang="ru-RU" sz="2400" dirty="0" err="1"/>
              <a:t>работят</a:t>
            </a:r>
            <a:r>
              <a:rPr lang="ru-RU" sz="2400" dirty="0"/>
              <a:t> на </a:t>
            </a:r>
            <a:r>
              <a:rPr lang="ru-RU" sz="2400" dirty="0" err="1"/>
              <a:t>физическия</a:t>
            </a:r>
            <a:r>
              <a:rPr lang="ru-RU" sz="2400" dirty="0"/>
              <a:t> </a:t>
            </a:r>
            <a:r>
              <a:rPr lang="ru-RU" sz="2400" dirty="0" err="1"/>
              <a:t>сървър</a:t>
            </a:r>
            <a:r>
              <a:rPr lang="ru-RU" sz="2400" dirty="0"/>
              <a:t>.</a:t>
            </a:r>
          </a:p>
          <a:p>
            <a:r>
              <a:rPr lang="ru-RU" sz="2400" dirty="0" err="1"/>
              <a:t>Процесът</a:t>
            </a:r>
            <a:r>
              <a:rPr lang="ru-RU" sz="2400" dirty="0"/>
              <a:t> на </a:t>
            </a:r>
            <a:r>
              <a:rPr lang="ru-RU" sz="2400" dirty="0" err="1"/>
              <a:t>създаване</a:t>
            </a:r>
            <a:r>
              <a:rPr lang="ru-RU" sz="2400" dirty="0"/>
              <a:t> на </a:t>
            </a:r>
            <a:r>
              <a:rPr lang="ru-RU" sz="2400" dirty="0" err="1"/>
              <a:t>виртуални</a:t>
            </a:r>
            <a:r>
              <a:rPr lang="ru-RU" sz="2400" dirty="0"/>
              <a:t> </a:t>
            </a:r>
            <a:r>
              <a:rPr lang="ru-RU" sz="2400" dirty="0" err="1"/>
              <a:t>машини</a:t>
            </a:r>
            <a:r>
              <a:rPr lang="ru-RU" sz="2400" dirty="0"/>
              <a:t> </a:t>
            </a:r>
            <a:r>
              <a:rPr lang="ru-RU" sz="2400" dirty="0" err="1"/>
              <a:t>включва</a:t>
            </a:r>
            <a:r>
              <a:rPr lang="ru-RU" sz="2400" dirty="0"/>
              <a:t> </a:t>
            </a:r>
            <a:r>
              <a:rPr lang="ru-RU" sz="2400" dirty="0" err="1"/>
              <a:t>инсталиране</a:t>
            </a:r>
            <a:r>
              <a:rPr lang="ru-RU" sz="2400" dirty="0"/>
              <a:t> на лек </a:t>
            </a:r>
            <a:r>
              <a:rPr lang="ru-RU" sz="2400" dirty="0" err="1"/>
              <a:t>софтуерен</a:t>
            </a:r>
            <a:r>
              <a:rPr lang="ru-RU" sz="2400" dirty="0"/>
              <a:t> компонент, наречен </a:t>
            </a:r>
            <a:r>
              <a:rPr lang="ru-RU" sz="2400" dirty="0" err="1"/>
              <a:t>хипервайзор</a:t>
            </a:r>
            <a:r>
              <a:rPr lang="ru-RU" sz="2400" dirty="0"/>
              <a:t>, на физически </a:t>
            </a:r>
            <a:r>
              <a:rPr lang="ru-RU" sz="2400" dirty="0" err="1"/>
              <a:t>сървър</a:t>
            </a:r>
            <a:r>
              <a:rPr lang="ru-RU" sz="2400" dirty="0"/>
              <a:t>. </a:t>
            </a:r>
            <a:r>
              <a:rPr lang="ru-RU" sz="2400" dirty="0" err="1"/>
              <a:t>Задачата</a:t>
            </a:r>
            <a:r>
              <a:rPr lang="ru-RU" sz="2400" dirty="0"/>
              <a:t> на </a:t>
            </a:r>
            <a:r>
              <a:rPr lang="ru-RU" sz="2400" dirty="0" err="1"/>
              <a:t>хипервайзора</a:t>
            </a:r>
            <a:r>
              <a:rPr lang="ru-RU" sz="2400" dirty="0"/>
              <a:t> е да </a:t>
            </a:r>
            <a:r>
              <a:rPr lang="ru-RU" sz="2400" dirty="0" err="1"/>
              <a:t>позволи</a:t>
            </a:r>
            <a:r>
              <a:rPr lang="ru-RU" sz="2400" dirty="0"/>
              <a:t> на </a:t>
            </a:r>
            <a:r>
              <a:rPr lang="ru-RU" sz="2400" dirty="0" err="1"/>
              <a:t>физическия</a:t>
            </a:r>
            <a:r>
              <a:rPr lang="ru-RU" sz="2400" dirty="0"/>
              <a:t> </a:t>
            </a:r>
            <a:r>
              <a:rPr lang="ru-RU" sz="2400" dirty="0" err="1"/>
              <a:t>сървър</a:t>
            </a:r>
            <a:r>
              <a:rPr lang="ru-RU" sz="2400" dirty="0"/>
              <a:t> да </a:t>
            </a:r>
            <a:r>
              <a:rPr lang="ru-RU" sz="2400" dirty="0" err="1"/>
              <a:t>функционира</a:t>
            </a:r>
            <a:r>
              <a:rPr lang="ru-RU" sz="2400" dirty="0"/>
              <a:t> като хост за виртуализация. </a:t>
            </a:r>
            <a:r>
              <a:rPr lang="ru-RU" sz="2400" dirty="0" err="1"/>
              <a:t>Хостът</a:t>
            </a:r>
            <a:r>
              <a:rPr lang="ru-RU" sz="2400" dirty="0"/>
              <a:t> за виртуализация </a:t>
            </a:r>
            <a:r>
              <a:rPr lang="ru-RU" sz="2400" dirty="0" err="1"/>
              <a:t>предоставя</a:t>
            </a:r>
            <a:r>
              <a:rPr lang="ru-RU" sz="2400" dirty="0"/>
              <a:t> </a:t>
            </a:r>
            <a:r>
              <a:rPr lang="ru-RU" sz="2400" dirty="0" err="1"/>
              <a:t>хардуерните</a:t>
            </a:r>
            <a:r>
              <a:rPr lang="ru-RU" sz="2400" dirty="0"/>
              <a:t> ресурси на </a:t>
            </a:r>
            <a:r>
              <a:rPr lang="ru-RU" sz="2400" dirty="0" err="1"/>
              <a:t>физическия</a:t>
            </a:r>
            <a:r>
              <a:rPr lang="ru-RU" sz="2400" dirty="0"/>
              <a:t> </a:t>
            </a:r>
            <a:r>
              <a:rPr lang="ru-RU" sz="2400" dirty="0" err="1"/>
              <a:t>сървър</a:t>
            </a:r>
            <a:r>
              <a:rPr lang="ru-RU" sz="2400" dirty="0"/>
              <a:t> - като </a:t>
            </a:r>
            <a:r>
              <a:rPr lang="ru-RU" sz="2400" dirty="0" err="1"/>
              <a:t>процесорно</a:t>
            </a:r>
            <a:r>
              <a:rPr lang="ru-RU" sz="2400" dirty="0"/>
              <a:t> време, </a:t>
            </a:r>
            <a:r>
              <a:rPr lang="ru-RU" sz="2400" dirty="0" err="1"/>
              <a:t>памет</a:t>
            </a:r>
            <a:r>
              <a:rPr lang="ru-RU" sz="2400" dirty="0"/>
              <a:t>, място за </a:t>
            </a:r>
            <a:r>
              <a:rPr lang="ru-RU" sz="2400" dirty="0" err="1"/>
              <a:t>съхранение</a:t>
            </a:r>
            <a:r>
              <a:rPr lang="ru-RU" sz="2400" dirty="0"/>
              <a:t> и </a:t>
            </a:r>
            <a:r>
              <a:rPr lang="ru-RU" sz="2400" dirty="0" err="1"/>
              <a:t>мрежова</a:t>
            </a:r>
            <a:r>
              <a:rPr lang="ru-RU" sz="2400" dirty="0"/>
              <a:t> </a:t>
            </a:r>
            <a:r>
              <a:rPr lang="ru-RU" sz="2400" dirty="0" err="1"/>
              <a:t>честотна</a:t>
            </a:r>
            <a:r>
              <a:rPr lang="ru-RU" sz="2400" dirty="0"/>
              <a:t> лента - на </a:t>
            </a:r>
            <a:r>
              <a:rPr lang="ru-RU" sz="2400" dirty="0" err="1"/>
              <a:t>разположение</a:t>
            </a:r>
            <a:r>
              <a:rPr lang="ru-RU" sz="2400" dirty="0"/>
              <a:t> на </a:t>
            </a:r>
            <a:r>
              <a:rPr lang="ru-RU" sz="2400" dirty="0" err="1"/>
              <a:t>една</a:t>
            </a:r>
            <a:r>
              <a:rPr lang="ru-RU" sz="2400" dirty="0"/>
              <a:t> или </a:t>
            </a:r>
            <a:r>
              <a:rPr lang="ru-RU" sz="2400" dirty="0" err="1"/>
              <a:t>повече</a:t>
            </a:r>
            <a:r>
              <a:rPr lang="ru-RU" sz="2400" dirty="0"/>
              <a:t> </a:t>
            </a:r>
            <a:r>
              <a:rPr lang="ru-RU" sz="2400" dirty="0" err="1"/>
              <a:t>виртуални</a:t>
            </a:r>
            <a:r>
              <a:rPr lang="ru-RU" sz="2400" dirty="0"/>
              <a:t> </a:t>
            </a:r>
            <a:r>
              <a:rPr lang="ru-RU" sz="2400" dirty="0" err="1"/>
              <a:t>машини</a:t>
            </a:r>
            <a:r>
              <a:rPr lang="ru-RU" sz="2400" dirty="0"/>
              <a:t>.</a:t>
            </a:r>
          </a:p>
          <a:p>
            <a:endParaRPr lang="ru-RU" sz="2400" dirty="0"/>
          </a:p>
          <a:p>
            <a:endParaRPr lang="ru-RU" sz="2400" dirty="0"/>
          </a:p>
          <a:p>
            <a:endParaRPr lang="en-US" sz="2400" dirty="0"/>
          </a:p>
        </p:txBody>
      </p:sp>
      <p:sp>
        <p:nvSpPr>
          <p:cNvPr id="56" name="Isosceles Triangle 46">
            <a:extLst>
              <a:ext uri="{FF2B5EF4-FFF2-40B4-BE49-F238E27FC236}">
                <a16:creationId xmlns="" xmlns:a16="http://schemas.microsoft.com/office/drawing/2014/main" id="{D3F51FEB-38FB-4F6C-9F7B-2F2AFAB654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48">
            <a:extLst>
              <a:ext uri="{FF2B5EF4-FFF2-40B4-BE49-F238E27FC236}">
                <a16:creationId xmlns="" xmlns:a16="http://schemas.microsoft.com/office/drawing/2014/main" id="{1E547BA6-BAE0-43BB-A7CA-60F69CE252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="" xmlns:a16="http://schemas.microsoft.com/office/drawing/2014/main" id="{A16E07F0-2F22-9586-BFFE-3A42F10DC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442" y="2776068"/>
            <a:ext cx="2872739" cy="1801446"/>
          </a:xfrm>
          <a:prstGeom prst="rect">
            <a:avLst/>
          </a:prstGeom>
        </p:spPr>
      </p:pic>
      <p:grpSp>
        <p:nvGrpSpPr>
          <p:cNvPr id="58" name="Group 50">
            <a:extLst>
              <a:ext uri="{FF2B5EF4-FFF2-40B4-BE49-F238E27FC236}">
                <a16:creationId xmlns="" xmlns:a16="http://schemas.microsoft.com/office/drawing/2014/main" id="{15CBE6EC-46EF-45D9-8E16-DCDC5917CA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11094720" y="0"/>
            <a:ext cx="1097280" cy="1097280"/>
            <a:chOff x="11094720" y="0"/>
            <a:chExt cx="1097280" cy="1097280"/>
          </a:xfrm>
        </p:grpSpPr>
        <p:sp>
          <p:nvSpPr>
            <p:cNvPr id="59" name="Isosceles Triangle 51">
              <a:extLst>
                <a:ext uri="{FF2B5EF4-FFF2-40B4-BE49-F238E27FC236}">
                  <a16:creationId xmlns="" xmlns:a16="http://schemas.microsoft.com/office/drawing/2014/main" id="{DEEDCD65-9740-4F34-BDF1-9C068E0532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16200000">
              <a:off x="11094720" y="0"/>
              <a:ext cx="1097280" cy="1097280"/>
            </a:xfrm>
            <a:prstGeom prst="triangle">
              <a:avLst>
                <a:gd name="adj" fmla="val 10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2">
              <a:extLst>
                <a:ext uri="{FF2B5EF4-FFF2-40B4-BE49-F238E27FC236}">
                  <a16:creationId xmlns="" xmlns:a16="http://schemas.microsoft.com/office/drawing/2014/main" id="{4B3DA7FD-5CC0-46D1-9DFB-5BAF6BE249C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2700000">
              <a:off x="11189552" y="127618"/>
              <a:ext cx="457894" cy="457894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665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2E442304-DDBD-4F7B-8017-36BCC863FB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DD462BD4-AADF-646E-0793-1CF71C5D0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bg-BG" sz="3200" b="1" dirty="0">
                <a:latin typeface="+mn-lt"/>
              </a:rPr>
              <a:t>Предимства</a:t>
            </a:r>
            <a:endParaRPr lang="en-US" sz="3200" b="1" dirty="0">
              <a:latin typeface="+mn-lt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="" xmlns:a16="http://schemas.microsoft.com/office/drawing/2014/main" id="{5E107275-3853-46FD-A241-DE4355A4267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210997C8-1C7C-B211-0AE9-29324D701D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668255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375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2E442304-DDBD-4F7B-8017-36BCC863FB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6E5499-0ED9-81D6-8C76-CE3C32079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bg-BG" sz="3200" b="1" dirty="0">
                <a:latin typeface="+mn-lt"/>
              </a:rPr>
              <a:t>Недостатъци</a:t>
            </a:r>
            <a:endParaRPr lang="en-US" sz="3200" b="1" dirty="0">
              <a:latin typeface="+mn-lt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="" xmlns:a16="http://schemas.microsoft.com/office/drawing/2014/main" id="{5E107275-3853-46FD-A241-DE4355A4267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B825B082-ECF1-3FA7-4536-65E6D4630C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999825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6396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03D362B-77BA-B002-2F69-8C8F68E20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+mn-lt"/>
              </a:rPr>
              <a:t>Физически </a:t>
            </a:r>
            <a:r>
              <a:rPr lang="ru-RU" sz="3200" b="1" dirty="0" err="1">
                <a:latin typeface="+mn-lt"/>
              </a:rPr>
              <a:t>сървър</a:t>
            </a:r>
            <a:r>
              <a:rPr lang="ru-RU" sz="3200" b="1" dirty="0">
                <a:latin typeface="+mn-lt"/>
              </a:rPr>
              <a:t> или виртуален </a:t>
            </a:r>
            <a:r>
              <a:rPr lang="ru-RU" sz="3200" b="1" dirty="0" err="1">
                <a:latin typeface="+mn-lt"/>
              </a:rPr>
              <a:t>сървър</a:t>
            </a:r>
            <a:r>
              <a:rPr lang="ru-RU" sz="3200" b="1" dirty="0">
                <a:latin typeface="+mn-lt"/>
              </a:rPr>
              <a:t> - кога се използва </a:t>
            </a:r>
            <a:r>
              <a:rPr lang="ru-RU" sz="3200" b="1" dirty="0" err="1">
                <a:latin typeface="+mn-lt"/>
              </a:rPr>
              <a:t>единия</a:t>
            </a:r>
            <a:r>
              <a:rPr lang="ru-RU" sz="3200" b="1" dirty="0">
                <a:latin typeface="+mn-lt"/>
              </a:rPr>
              <a:t> вместо </a:t>
            </a:r>
            <a:r>
              <a:rPr lang="ru-RU" sz="3200" b="1" dirty="0" err="1">
                <a:latin typeface="+mn-lt"/>
              </a:rPr>
              <a:t>другия</a:t>
            </a:r>
            <a:r>
              <a:rPr lang="ru-RU" sz="3200" b="1" dirty="0">
                <a:latin typeface="+mn-lt"/>
              </a:rPr>
              <a:t>?</a:t>
            </a:r>
            <a:endParaRPr lang="en-US" sz="3200" b="1" dirty="0">
              <a:latin typeface="+mn-lt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20D89C4-0BF1-57C3-E6D9-669CEEB19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ru-RU" sz="2400" dirty="0" err="1"/>
              <a:t>Както</a:t>
            </a:r>
            <a:r>
              <a:rPr lang="ru-RU" sz="2400" dirty="0"/>
              <a:t> при много </a:t>
            </a:r>
            <a:r>
              <a:rPr lang="ru-RU" sz="2400" dirty="0" err="1"/>
              <a:t>други</a:t>
            </a:r>
            <a:r>
              <a:rPr lang="ru-RU" sz="2400" dirty="0"/>
              <a:t> </a:t>
            </a:r>
            <a:r>
              <a:rPr lang="ru-RU" sz="2400" dirty="0" err="1"/>
              <a:t>неща</a:t>
            </a:r>
            <a:r>
              <a:rPr lang="ru-RU" sz="2400" dirty="0"/>
              <a:t>, в </a:t>
            </a:r>
            <a:r>
              <a:rPr lang="ru-RU" sz="2400" dirty="0" err="1"/>
              <a:t>технологиите</a:t>
            </a:r>
            <a:r>
              <a:rPr lang="ru-RU" sz="2400" dirty="0"/>
              <a:t>, </a:t>
            </a:r>
            <a:r>
              <a:rPr lang="ru-RU" sz="2400" dirty="0" err="1"/>
              <a:t>въпросът</a:t>
            </a:r>
            <a:r>
              <a:rPr lang="ru-RU" sz="2400" dirty="0"/>
              <a:t> е да се </a:t>
            </a:r>
            <a:r>
              <a:rPr lang="ru-RU" sz="2400" dirty="0" err="1"/>
              <a:t>избере</a:t>
            </a:r>
            <a:r>
              <a:rPr lang="ru-RU" sz="2400" dirty="0"/>
              <a:t> най-</a:t>
            </a:r>
            <a:r>
              <a:rPr lang="ru-RU" sz="2400" dirty="0" err="1"/>
              <a:t>добрата</a:t>
            </a:r>
            <a:r>
              <a:rPr lang="ru-RU" sz="2400" dirty="0"/>
              <a:t> опция за </a:t>
            </a:r>
            <a:r>
              <a:rPr lang="ru-RU" sz="2400" dirty="0" err="1"/>
              <a:t>конкретния</a:t>
            </a:r>
            <a:r>
              <a:rPr lang="ru-RU" sz="2400" dirty="0"/>
              <a:t> случай на </a:t>
            </a:r>
            <a:r>
              <a:rPr lang="ru-RU" sz="2400" dirty="0" err="1"/>
              <a:t>употреба</a:t>
            </a:r>
            <a:r>
              <a:rPr lang="ru-RU" sz="2400" dirty="0"/>
              <a:t>.</a:t>
            </a:r>
          </a:p>
          <a:p>
            <a:r>
              <a:rPr lang="ru-RU" sz="2400" dirty="0" err="1"/>
              <a:t>Вземете</a:t>
            </a:r>
            <a:r>
              <a:rPr lang="ru-RU" sz="2400" dirty="0"/>
              <a:t> например </a:t>
            </a:r>
            <a:r>
              <a:rPr lang="ru-RU" sz="2400" dirty="0" err="1"/>
              <a:t>разходите</a:t>
            </a:r>
            <a:r>
              <a:rPr lang="ru-RU" sz="2400" dirty="0"/>
              <a:t>. </a:t>
            </a:r>
            <a:r>
              <a:rPr lang="ru-RU" sz="2400" dirty="0" err="1"/>
              <a:t>Ако</a:t>
            </a:r>
            <a:r>
              <a:rPr lang="ru-RU" sz="2400" dirty="0"/>
              <a:t> </a:t>
            </a:r>
            <a:r>
              <a:rPr lang="ru-RU" sz="2400" dirty="0" err="1"/>
              <a:t>започвате</a:t>
            </a:r>
            <a:r>
              <a:rPr lang="ru-RU" sz="2400" dirty="0"/>
              <a:t> от </a:t>
            </a:r>
            <a:r>
              <a:rPr lang="ru-RU" sz="2400" dirty="0" err="1"/>
              <a:t>нищото</a:t>
            </a:r>
            <a:r>
              <a:rPr lang="ru-RU" sz="2400" dirty="0"/>
              <a:t>, </a:t>
            </a:r>
            <a:r>
              <a:rPr lang="ru-RU" sz="2400" dirty="0" err="1"/>
              <a:t>закупуването</a:t>
            </a:r>
            <a:r>
              <a:rPr lang="ru-RU" sz="2400" dirty="0"/>
              <a:t> на физически </a:t>
            </a:r>
            <a:r>
              <a:rPr lang="ru-RU" sz="2400" dirty="0" err="1"/>
              <a:t>сървър</a:t>
            </a:r>
            <a:r>
              <a:rPr lang="ru-RU" sz="2400" dirty="0"/>
              <a:t> и </a:t>
            </a:r>
            <a:r>
              <a:rPr lang="ru-RU" sz="2400" dirty="0" err="1"/>
              <a:t>софтуер</a:t>
            </a:r>
            <a:r>
              <a:rPr lang="ru-RU" sz="2400" dirty="0"/>
              <a:t> за </a:t>
            </a:r>
            <a:r>
              <a:rPr lang="ru-RU" sz="2400" dirty="0" err="1"/>
              <a:t>създаване</a:t>
            </a:r>
            <a:r>
              <a:rPr lang="ru-RU" sz="2400" dirty="0"/>
              <a:t> на </a:t>
            </a:r>
            <a:r>
              <a:rPr lang="ru-RU" sz="2400" dirty="0" err="1"/>
              <a:t>виртуални</a:t>
            </a:r>
            <a:r>
              <a:rPr lang="ru-RU" sz="2400" dirty="0"/>
              <a:t> </a:t>
            </a:r>
            <a:r>
              <a:rPr lang="ru-RU" sz="2400" dirty="0" err="1"/>
              <a:t>сървъри</a:t>
            </a:r>
            <a:r>
              <a:rPr lang="ru-RU" sz="2400" dirty="0"/>
              <a:t> върху него </a:t>
            </a:r>
            <a:r>
              <a:rPr lang="ru-RU" sz="2400" dirty="0" err="1"/>
              <a:t>може</a:t>
            </a:r>
            <a:r>
              <a:rPr lang="ru-RU" sz="2400" dirty="0"/>
              <a:t> да </a:t>
            </a:r>
            <a:r>
              <a:rPr lang="ru-RU" sz="2400" dirty="0" err="1"/>
              <a:t>изглежда</a:t>
            </a:r>
            <a:r>
              <a:rPr lang="ru-RU" sz="2400" dirty="0"/>
              <a:t> като </a:t>
            </a:r>
            <a:r>
              <a:rPr lang="ru-RU" sz="2400" dirty="0" err="1"/>
              <a:t>по-трудната</a:t>
            </a:r>
            <a:r>
              <a:rPr lang="ru-RU" sz="2400" dirty="0"/>
              <a:t> и </a:t>
            </a:r>
            <a:r>
              <a:rPr lang="ru-RU" sz="2400" dirty="0" err="1"/>
              <a:t>скъпа</a:t>
            </a:r>
            <a:r>
              <a:rPr lang="ru-RU" sz="2400" dirty="0"/>
              <a:t> опция в началото. </a:t>
            </a:r>
            <a:r>
              <a:rPr lang="ru-RU" sz="2400" dirty="0" err="1"/>
              <a:t>Балансът</a:t>
            </a:r>
            <a:r>
              <a:rPr lang="ru-RU" sz="2400" dirty="0"/>
              <a:t> се </a:t>
            </a:r>
            <a:r>
              <a:rPr lang="ru-RU" sz="2400" dirty="0" err="1"/>
              <a:t>накланя</a:t>
            </a:r>
            <a:r>
              <a:rPr lang="ru-RU" sz="2400" dirty="0"/>
              <a:t> </a:t>
            </a:r>
            <a:r>
              <a:rPr lang="ru-RU" sz="2400" dirty="0" err="1"/>
              <a:t>веднага</a:t>
            </a:r>
            <a:r>
              <a:rPr lang="ru-RU" sz="2400" dirty="0"/>
              <a:t> </a:t>
            </a:r>
            <a:r>
              <a:rPr lang="ru-RU" sz="2400" dirty="0" err="1"/>
              <a:t>щом</a:t>
            </a:r>
            <a:r>
              <a:rPr lang="ru-RU" sz="2400" dirty="0"/>
              <a:t> се наложи да се обновят </a:t>
            </a:r>
            <a:r>
              <a:rPr lang="ru-RU" sz="2400" dirty="0" err="1"/>
              <a:t>сървърите</a:t>
            </a:r>
            <a:r>
              <a:rPr lang="ru-RU" sz="2400" dirty="0"/>
              <a:t> или </a:t>
            </a:r>
            <a:r>
              <a:rPr lang="ru-RU" sz="2400" dirty="0" err="1"/>
              <a:t>ако</a:t>
            </a:r>
            <a:r>
              <a:rPr lang="ru-RU" sz="2400" dirty="0"/>
              <a:t> се </a:t>
            </a:r>
            <a:r>
              <a:rPr lang="ru-RU" sz="2400" dirty="0" err="1"/>
              <a:t>виртуализира</a:t>
            </a:r>
            <a:r>
              <a:rPr lang="ru-RU" sz="2400" dirty="0"/>
              <a:t> </a:t>
            </a:r>
            <a:r>
              <a:rPr lang="ru-RU" sz="2400" dirty="0" err="1"/>
              <a:t>съществуваща</a:t>
            </a:r>
            <a:r>
              <a:rPr lang="ru-RU" sz="2400" dirty="0"/>
              <a:t> среда. </a:t>
            </a:r>
            <a:r>
              <a:rPr lang="ru-RU" sz="2400" dirty="0" err="1"/>
              <a:t>Обновяването</a:t>
            </a:r>
            <a:r>
              <a:rPr lang="ru-RU" sz="2400" dirty="0"/>
              <a:t> на </a:t>
            </a:r>
            <a:r>
              <a:rPr lang="ru-RU" sz="2400" dirty="0" err="1"/>
              <a:t>виртуалните</a:t>
            </a:r>
            <a:r>
              <a:rPr lang="ru-RU" sz="2400" dirty="0"/>
              <a:t> </a:t>
            </a:r>
            <a:r>
              <a:rPr lang="ru-RU" sz="2400" dirty="0" err="1"/>
              <a:t>сървъри</a:t>
            </a:r>
            <a:r>
              <a:rPr lang="ru-RU" sz="2400" dirty="0"/>
              <a:t> е </a:t>
            </a:r>
            <a:r>
              <a:rPr lang="ru-RU" sz="2400" dirty="0" err="1"/>
              <a:t>по-евтино</a:t>
            </a:r>
            <a:r>
              <a:rPr lang="ru-RU" sz="2400" dirty="0"/>
              <a:t>, </a:t>
            </a:r>
            <a:r>
              <a:rPr lang="ru-RU" sz="2400" dirty="0" err="1"/>
              <a:t>тъй</a:t>
            </a:r>
            <a:r>
              <a:rPr lang="ru-RU" sz="2400" dirty="0"/>
              <a:t> като не е </a:t>
            </a:r>
            <a:r>
              <a:rPr lang="ru-RU" sz="2400" dirty="0" err="1"/>
              <a:t>задължително</a:t>
            </a:r>
            <a:r>
              <a:rPr lang="ru-RU" sz="2400" dirty="0"/>
              <a:t> да се </a:t>
            </a:r>
            <a:r>
              <a:rPr lang="ru-RU" sz="2400" dirty="0" err="1"/>
              <a:t>купува</a:t>
            </a:r>
            <a:r>
              <a:rPr lang="ru-RU" sz="2400" dirty="0"/>
              <a:t> нов </a:t>
            </a:r>
            <a:r>
              <a:rPr lang="ru-RU" sz="2400" dirty="0" err="1"/>
              <a:t>хардуер</a:t>
            </a:r>
            <a:r>
              <a:rPr lang="ru-RU" sz="2400" dirty="0"/>
              <a:t>, на </a:t>
            </a:r>
            <a:r>
              <a:rPr lang="ru-RU" sz="2400" dirty="0" err="1"/>
              <a:t>който</a:t>
            </a:r>
            <a:r>
              <a:rPr lang="ru-RU" sz="2400" dirty="0"/>
              <a:t> да се </a:t>
            </a:r>
            <a:r>
              <a:rPr lang="ru-RU" sz="2400" dirty="0" err="1"/>
              <a:t>използват</a:t>
            </a:r>
            <a:r>
              <a:rPr lang="ru-RU" sz="2400" dirty="0"/>
              <a:t>. </a:t>
            </a:r>
            <a:r>
              <a:rPr lang="ru-RU" sz="2400" dirty="0" err="1"/>
              <a:t>Миграцията</a:t>
            </a:r>
            <a:r>
              <a:rPr lang="ru-RU" sz="2400" dirty="0"/>
              <a:t> за </a:t>
            </a:r>
            <a:r>
              <a:rPr lang="ru-RU" sz="2400" dirty="0" err="1"/>
              <a:t>надграждане</a:t>
            </a:r>
            <a:r>
              <a:rPr lang="ru-RU" sz="2400" dirty="0"/>
              <a:t> обикновено се </a:t>
            </a:r>
            <a:r>
              <a:rPr lang="ru-RU" sz="2400" dirty="0" err="1"/>
              <a:t>извършва</a:t>
            </a:r>
            <a:r>
              <a:rPr lang="ru-RU" sz="2400" dirty="0"/>
              <a:t> </a:t>
            </a:r>
            <a:r>
              <a:rPr lang="ru-RU" sz="2400" dirty="0" err="1"/>
              <a:t>по-лесно</a:t>
            </a:r>
            <a:r>
              <a:rPr lang="ru-RU" sz="2400" dirty="0"/>
              <a:t>.</a:t>
            </a:r>
          </a:p>
          <a:p>
            <a:endParaRPr lang="ru-RU" sz="2400" dirty="0"/>
          </a:p>
          <a:p>
            <a:endParaRPr lang="ru-RU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1411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="" xmlns:a16="http://schemas.microsoft.com/office/drawing/2014/main" id="{352BEC0E-22F8-46D0-9632-375DB541B06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C139BC4-2F48-2BB3-013F-61B413265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bg-BG" sz="3200" b="1" dirty="0">
                <a:latin typeface="+mn-lt"/>
              </a:rPr>
              <a:t>Сървърен софтуер</a:t>
            </a:r>
            <a:endParaRPr lang="en-US" sz="3200" b="1" dirty="0">
              <a:latin typeface="+mn-lt"/>
            </a:endParaRPr>
          </a:p>
        </p:txBody>
      </p:sp>
      <p:sp>
        <p:nvSpPr>
          <p:cNvPr id="33" name="sketch line">
            <a:extLst>
              <a:ext uri="{FF2B5EF4-FFF2-40B4-BE49-F238E27FC236}">
                <a16:creationId xmlns="" xmlns:a16="http://schemas.microsoft.com/office/drawing/2014/main" id="{3FCFB1DE-0B7E-48CC-BA90-B2AB0889F9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EF0218-BA5B-63EF-4675-824BD7A7F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7856220" cy="3483864"/>
          </a:xfrm>
        </p:spPr>
        <p:txBody>
          <a:bodyPr>
            <a:noAutofit/>
          </a:bodyPr>
          <a:lstStyle/>
          <a:p>
            <a:r>
              <a:rPr lang="ru-RU" sz="2400" dirty="0" err="1"/>
              <a:t>Сървърът</a:t>
            </a:r>
            <a:r>
              <a:rPr lang="ru-RU" sz="2400" dirty="0"/>
              <a:t> се </a:t>
            </a:r>
            <a:r>
              <a:rPr lang="ru-RU" sz="2400" dirty="0" err="1"/>
              <a:t>нуждае</a:t>
            </a:r>
            <a:r>
              <a:rPr lang="ru-RU" sz="2400" dirty="0"/>
              <a:t> най-малко от два </a:t>
            </a:r>
            <a:r>
              <a:rPr lang="ru-RU" sz="2400" dirty="0" err="1"/>
              <a:t>софтуерни</a:t>
            </a:r>
            <a:r>
              <a:rPr lang="ru-RU" sz="2400" dirty="0"/>
              <a:t> компонента: </a:t>
            </a:r>
            <a:r>
              <a:rPr lang="ru-RU" sz="2400" dirty="0" err="1"/>
              <a:t>операционна</a:t>
            </a:r>
            <a:r>
              <a:rPr lang="ru-RU" sz="2400" dirty="0"/>
              <a:t> система и приложение. </a:t>
            </a:r>
            <a:r>
              <a:rPr lang="ru-RU" sz="2400" dirty="0" err="1"/>
              <a:t>Операционната</a:t>
            </a:r>
            <a:r>
              <a:rPr lang="ru-RU" sz="2400" dirty="0"/>
              <a:t> система действа като платформа за </a:t>
            </a:r>
            <a:r>
              <a:rPr lang="ru-RU" sz="2400" dirty="0" err="1"/>
              <a:t>изпълнение</a:t>
            </a:r>
            <a:r>
              <a:rPr lang="ru-RU" sz="2400" dirty="0"/>
              <a:t> на </a:t>
            </a:r>
            <a:r>
              <a:rPr lang="ru-RU" sz="2400" dirty="0" err="1"/>
              <a:t>сървърното</a:t>
            </a:r>
            <a:r>
              <a:rPr lang="ru-RU" sz="2400" dirty="0"/>
              <a:t> приложение. </a:t>
            </a:r>
            <a:r>
              <a:rPr lang="ru-RU" sz="2400" dirty="0" err="1"/>
              <a:t>Тя</a:t>
            </a:r>
            <a:r>
              <a:rPr lang="ru-RU" sz="2400" dirty="0"/>
              <a:t> </a:t>
            </a:r>
            <a:r>
              <a:rPr lang="ru-RU" sz="2400" dirty="0" err="1"/>
              <a:t>осигурява</a:t>
            </a:r>
            <a:r>
              <a:rPr lang="ru-RU" sz="2400" dirty="0"/>
              <a:t> </a:t>
            </a:r>
            <a:r>
              <a:rPr lang="ru-RU" sz="2400" dirty="0" err="1"/>
              <a:t>достъп</a:t>
            </a:r>
            <a:r>
              <a:rPr lang="ru-RU" sz="2400" dirty="0"/>
              <a:t> до основните </a:t>
            </a:r>
            <a:r>
              <a:rPr lang="ru-RU" sz="2400" dirty="0" err="1"/>
              <a:t>хардуерни</a:t>
            </a:r>
            <a:r>
              <a:rPr lang="ru-RU" sz="2400" dirty="0"/>
              <a:t> ресурси и </a:t>
            </a:r>
            <a:r>
              <a:rPr lang="ru-RU" sz="2400" dirty="0" err="1"/>
              <a:t>предоставя</a:t>
            </a:r>
            <a:r>
              <a:rPr lang="ru-RU" sz="2400" dirty="0"/>
              <a:t> </a:t>
            </a:r>
            <a:r>
              <a:rPr lang="ru-RU" sz="2400" dirty="0" err="1"/>
              <a:t>услугите</a:t>
            </a:r>
            <a:r>
              <a:rPr lang="ru-RU" sz="2400" dirty="0"/>
              <a:t> за </a:t>
            </a:r>
            <a:r>
              <a:rPr lang="ru-RU" sz="2400" dirty="0" err="1"/>
              <a:t>зависимост</a:t>
            </a:r>
            <a:r>
              <a:rPr lang="ru-RU" sz="2400" dirty="0"/>
              <a:t>, от които </a:t>
            </a:r>
            <a:r>
              <a:rPr lang="ru-RU" sz="2400" dirty="0" err="1"/>
              <a:t>зависи</a:t>
            </a:r>
            <a:r>
              <a:rPr lang="ru-RU" sz="2400" dirty="0"/>
              <a:t> </a:t>
            </a:r>
            <a:r>
              <a:rPr lang="ru-RU" sz="2400" dirty="0" err="1"/>
              <a:t>приложението</a:t>
            </a:r>
            <a:r>
              <a:rPr lang="ru-RU" sz="2400" dirty="0"/>
              <a:t>.</a:t>
            </a:r>
          </a:p>
          <a:p>
            <a:r>
              <a:rPr lang="ru-RU" sz="2400" dirty="0" err="1"/>
              <a:t>Операционната</a:t>
            </a:r>
            <a:r>
              <a:rPr lang="ru-RU" sz="2400" dirty="0"/>
              <a:t> система </a:t>
            </a:r>
            <a:r>
              <a:rPr lang="ru-RU" sz="2400" dirty="0" err="1"/>
              <a:t>също</a:t>
            </a:r>
            <a:r>
              <a:rPr lang="ru-RU" sz="2400" dirty="0"/>
              <a:t> така </a:t>
            </a:r>
            <a:r>
              <a:rPr lang="ru-RU" sz="2400" dirty="0" err="1"/>
              <a:t>осигурява</a:t>
            </a:r>
            <a:r>
              <a:rPr lang="ru-RU" sz="2400" dirty="0"/>
              <a:t> </a:t>
            </a:r>
            <a:r>
              <a:rPr lang="ru-RU" sz="2400" dirty="0" err="1"/>
              <a:t>средствата</a:t>
            </a:r>
            <a:r>
              <a:rPr lang="ru-RU" sz="2400" dirty="0"/>
              <a:t> за </a:t>
            </a:r>
            <a:r>
              <a:rPr lang="ru-RU" sz="2400" dirty="0" err="1"/>
              <a:t>комуникация</a:t>
            </a:r>
            <a:r>
              <a:rPr lang="ru-RU" sz="2400" dirty="0"/>
              <a:t> на </a:t>
            </a:r>
            <a:r>
              <a:rPr lang="ru-RU" sz="2400" dirty="0" err="1"/>
              <a:t>клиентите</a:t>
            </a:r>
            <a:r>
              <a:rPr lang="ru-RU" sz="2400" dirty="0"/>
              <a:t> </a:t>
            </a:r>
            <a:r>
              <a:rPr lang="ru-RU" sz="2400" dirty="0" err="1"/>
              <a:t>със</a:t>
            </a:r>
            <a:r>
              <a:rPr lang="ru-RU" sz="2400" dirty="0"/>
              <a:t> </a:t>
            </a:r>
            <a:r>
              <a:rPr lang="ru-RU" sz="2400" dirty="0" err="1"/>
              <a:t>сървърното</a:t>
            </a:r>
            <a:r>
              <a:rPr lang="ru-RU" sz="2400" dirty="0"/>
              <a:t> приложение. Например IP </a:t>
            </a:r>
            <a:r>
              <a:rPr lang="ru-RU" sz="2400" dirty="0" err="1"/>
              <a:t>адресът</a:t>
            </a:r>
            <a:r>
              <a:rPr lang="ru-RU" sz="2400" dirty="0"/>
              <a:t> на </a:t>
            </a:r>
            <a:r>
              <a:rPr lang="ru-RU" sz="2400" dirty="0" err="1"/>
              <a:t>сървъра</a:t>
            </a:r>
            <a:r>
              <a:rPr lang="ru-RU" sz="2400" dirty="0"/>
              <a:t> и </a:t>
            </a:r>
            <a:r>
              <a:rPr lang="ru-RU" sz="2400" dirty="0" err="1"/>
              <a:t>напълно</a:t>
            </a:r>
            <a:r>
              <a:rPr lang="ru-RU" sz="2400" dirty="0"/>
              <a:t> </a:t>
            </a:r>
            <a:r>
              <a:rPr lang="ru-RU" sz="2400" dirty="0" err="1"/>
              <a:t>квалифицираното</a:t>
            </a:r>
            <a:r>
              <a:rPr lang="ru-RU" sz="2400" dirty="0"/>
              <a:t> </a:t>
            </a:r>
            <a:r>
              <a:rPr lang="ru-RU" sz="2400" dirty="0" err="1"/>
              <a:t>име</a:t>
            </a:r>
            <a:r>
              <a:rPr lang="ru-RU" sz="2400" dirty="0"/>
              <a:t> на </a:t>
            </a:r>
            <a:r>
              <a:rPr lang="ru-RU" sz="2400" dirty="0" err="1"/>
              <a:t>домейна</a:t>
            </a:r>
            <a:r>
              <a:rPr lang="ru-RU" sz="2400" dirty="0"/>
              <a:t> се </a:t>
            </a:r>
            <a:r>
              <a:rPr lang="ru-RU" sz="2400" dirty="0" err="1"/>
              <a:t>задават</a:t>
            </a:r>
            <a:r>
              <a:rPr lang="ru-RU" sz="2400" dirty="0"/>
              <a:t> на </a:t>
            </a:r>
            <a:r>
              <a:rPr lang="ru-RU" sz="2400" dirty="0" err="1"/>
              <a:t>ниво</a:t>
            </a:r>
            <a:r>
              <a:rPr lang="ru-RU" sz="2400" dirty="0"/>
              <a:t> </a:t>
            </a:r>
            <a:r>
              <a:rPr lang="ru-RU" sz="2400" dirty="0" err="1"/>
              <a:t>операционна</a:t>
            </a:r>
            <a:r>
              <a:rPr lang="ru-RU" sz="2400" dirty="0"/>
              <a:t> система.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en-US" sz="2400" dirty="0"/>
          </a:p>
        </p:txBody>
      </p:sp>
      <p:pic>
        <p:nvPicPr>
          <p:cNvPr id="5" name="Picture 4" descr="Graphical user interface&#10;&#10;Description automatically generated with medium confidence">
            <a:extLst>
              <a:ext uri="{FF2B5EF4-FFF2-40B4-BE49-F238E27FC236}">
                <a16:creationId xmlns="" xmlns:a16="http://schemas.microsoft.com/office/drawing/2014/main" id="{F3E9327E-1C6E-DFF5-B414-B9E3A3B0B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244" y="3554730"/>
            <a:ext cx="3666068" cy="1979676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 with medium confidence">
            <a:extLst>
              <a:ext uri="{FF2B5EF4-FFF2-40B4-BE49-F238E27FC236}">
                <a16:creationId xmlns="" xmlns:a16="http://schemas.microsoft.com/office/drawing/2014/main" id="{63D870D2-E3A5-7DA6-270B-05AE622EFB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327" y="1390269"/>
            <a:ext cx="3995928" cy="199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="" xmlns:a16="http://schemas.microsoft.com/office/drawing/2014/main" id="{04812C46-200A-4DEB-A05E-3ED6C68C23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mputer&#10;&#10;Description automatically generated with low confidence">
            <a:extLst>
              <a:ext uri="{FF2B5EF4-FFF2-40B4-BE49-F238E27FC236}">
                <a16:creationId xmlns="" xmlns:a16="http://schemas.microsoft.com/office/drawing/2014/main" id="{34AF875A-1A46-F967-D43C-9F5D7DCD8C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0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="" xmlns:a16="http://schemas.microsoft.com/office/drawing/2014/main" id="{D1EA859B-E555-4109-94F3-6700E046E0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36E5D5-0ABC-DAAA-A7DA-2B769150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+mn-lt"/>
              </a:rPr>
              <a:t>Видове сървъри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CCEBBF7-06C1-56CF-6DC0-65DAE4AB1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8426"/>
            <a:ext cx="5086350" cy="374276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bg-BG" sz="2400" dirty="0"/>
              <a:t>Уеб сървър</a:t>
            </a: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bg-BG" sz="2400" dirty="0"/>
              <a:t>Сървър за приложения</a:t>
            </a: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bg-BG" sz="2400" dirty="0"/>
              <a:t>Прокси сървър</a:t>
            </a: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ru-RU" sz="2400" dirty="0" err="1"/>
              <a:t>Пощенският</a:t>
            </a:r>
            <a:r>
              <a:rPr lang="ru-RU" sz="2400" dirty="0"/>
              <a:t> </a:t>
            </a:r>
            <a:r>
              <a:rPr lang="ru-RU" sz="2400" dirty="0" err="1"/>
              <a:t>сървър</a:t>
            </a: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bg-BG" sz="2400" dirty="0"/>
              <a:t>Виртуален сървър</a:t>
            </a:r>
            <a:r>
              <a:rPr lang="en-US" sz="2400" dirty="0"/>
              <a:t> (</a:t>
            </a:r>
            <a:r>
              <a:rPr lang="bg-BG" sz="2400" dirty="0"/>
              <a:t>машина</a:t>
            </a:r>
            <a:r>
              <a:rPr lang="en-US" sz="2400" dirty="0"/>
              <a:t>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BR" sz="2400" dirty="0"/>
              <a:t>File transfer protocol (FTP) </a:t>
            </a:r>
            <a:r>
              <a:rPr lang="bg-BG" sz="2400" dirty="0"/>
              <a:t>сървър</a:t>
            </a:r>
            <a:endParaRPr lang="pt-BR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bg-BG" sz="2400" dirty="0"/>
              <a:t>Файлов сървър</a:t>
            </a:r>
            <a:endParaRPr lang="pt-BR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bg-BG" sz="2400" dirty="0"/>
              <a:t>Сървър за база данни</a:t>
            </a:r>
            <a:endParaRPr lang="pt-BR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Domain Name System (DNS) </a:t>
            </a:r>
            <a:r>
              <a:rPr lang="bg-BG" sz="2400" dirty="0"/>
              <a:t>сървър</a:t>
            </a: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bg-BG" sz="2400" dirty="0"/>
              <a:t>Сървър за принтиране</a:t>
            </a:r>
            <a:endParaRPr lang="pt-BR" sz="2400" dirty="0"/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097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="" xmlns:a16="http://schemas.microsoft.com/office/drawing/2014/main" id="{6EFFF4A2-EB01-4738-9824-8D9A72A51B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71096EF-1F9D-91B9-F900-F5A8B4267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914" y="5220843"/>
            <a:ext cx="3685032" cy="1591056"/>
          </a:xfrm>
        </p:spPr>
        <p:txBody>
          <a:bodyPr anchor="t">
            <a:normAutofit/>
          </a:bodyPr>
          <a:lstStyle/>
          <a:p>
            <a:r>
              <a:rPr lang="bg-BG" sz="3200" b="1" dirty="0">
                <a:latin typeface="+mn-lt"/>
              </a:rPr>
              <a:t>Уеб сървър</a:t>
            </a:r>
            <a:endParaRPr lang="en-US" sz="3200" b="1" dirty="0">
              <a:latin typeface="+mn-lt"/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="" xmlns:a16="http://schemas.microsoft.com/office/drawing/2014/main" id="{70F3F920-B0AC-BF50-E9D5-9563CE28D7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804"/>
          <a:stretch/>
        </p:blipFill>
        <p:spPr>
          <a:xfrm>
            <a:off x="20" y="10"/>
            <a:ext cx="12188804" cy="422670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ED50C94-1314-C238-8FD1-024466AD7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5731" y="4453319"/>
            <a:ext cx="8074529" cy="16184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Уеб </a:t>
            </a:r>
            <a:r>
              <a:rPr lang="ru-RU" sz="2400" dirty="0" err="1"/>
              <a:t>сървърът</a:t>
            </a:r>
            <a:r>
              <a:rPr lang="ru-RU" sz="2400" dirty="0"/>
              <a:t> се използва за </a:t>
            </a:r>
            <a:r>
              <a:rPr lang="ru-RU" sz="2400" dirty="0" err="1"/>
              <a:t>достъп</a:t>
            </a:r>
            <a:r>
              <a:rPr lang="ru-RU" sz="2400" dirty="0"/>
              <a:t> до </a:t>
            </a:r>
            <a:r>
              <a:rPr lang="ru-RU" sz="2400" dirty="0" err="1"/>
              <a:t>световната</a:t>
            </a:r>
            <a:r>
              <a:rPr lang="ru-RU" sz="2400" dirty="0"/>
              <a:t> мрежа чрез </a:t>
            </a:r>
            <a:r>
              <a:rPr lang="en-US" sz="2400" dirty="0"/>
              <a:t>public domain </a:t>
            </a:r>
            <a:r>
              <a:rPr lang="bg-BG" sz="2400" dirty="0"/>
              <a:t>софтуер</a:t>
            </a:r>
            <a:r>
              <a:rPr lang="ru-RU" sz="2400" dirty="0"/>
              <a:t>. Тези </a:t>
            </a:r>
            <a:r>
              <a:rPr lang="ru-RU" sz="2400" dirty="0" err="1"/>
              <a:t>сървъри</a:t>
            </a:r>
            <a:r>
              <a:rPr lang="ru-RU" sz="2400" dirty="0"/>
              <a:t> свързват </a:t>
            </a:r>
            <a:r>
              <a:rPr lang="ru-RU" sz="2400" dirty="0" err="1"/>
              <a:t>съхранената</a:t>
            </a:r>
            <a:r>
              <a:rPr lang="ru-RU" sz="2400" dirty="0"/>
              <a:t> информация от интернет сайт с </a:t>
            </a:r>
            <a:r>
              <a:rPr lang="ru-RU" sz="2400" dirty="0" err="1"/>
              <a:t>вашия</a:t>
            </a:r>
            <a:r>
              <a:rPr lang="ru-RU" sz="2400" dirty="0"/>
              <a:t> </a:t>
            </a:r>
            <a:r>
              <a:rPr lang="ru-RU" sz="2400" dirty="0" err="1"/>
              <a:t>компютър</a:t>
            </a:r>
            <a:r>
              <a:rPr lang="ru-RU" sz="2400" dirty="0"/>
              <a:t>. </a:t>
            </a:r>
            <a:r>
              <a:rPr lang="en-US" sz="2400" dirty="0" err="1"/>
              <a:t>Te</a:t>
            </a:r>
            <a:r>
              <a:rPr lang="ru-RU" sz="2400" dirty="0"/>
              <a:t> </a:t>
            </a:r>
            <a:r>
              <a:rPr lang="ru-RU" sz="2400" dirty="0" err="1"/>
              <a:t>съхраняват</a:t>
            </a:r>
            <a:r>
              <a:rPr lang="ru-RU" sz="2400" dirty="0"/>
              <a:t> информация, която се </a:t>
            </a:r>
            <a:r>
              <a:rPr lang="ru-RU" sz="2400" dirty="0" err="1"/>
              <a:t>извлича</a:t>
            </a:r>
            <a:r>
              <a:rPr lang="ru-RU" sz="2400" dirty="0"/>
              <a:t> чрез "HTTP" код и се </a:t>
            </a:r>
            <a:r>
              <a:rPr lang="ru-RU" sz="2400" dirty="0" err="1"/>
              <a:t>изпраща</a:t>
            </a:r>
            <a:r>
              <a:rPr lang="ru-RU" sz="2400" dirty="0"/>
              <a:t> до </a:t>
            </a:r>
            <a:r>
              <a:rPr lang="ru-RU" sz="2400" dirty="0" err="1"/>
              <a:t>вашия</a:t>
            </a:r>
            <a:r>
              <a:rPr lang="ru-RU" sz="2400" dirty="0"/>
              <a:t> уеб </a:t>
            </a:r>
            <a:r>
              <a:rPr lang="ru-RU" sz="2400" dirty="0" err="1"/>
              <a:t>браузър</a:t>
            </a:r>
            <a:r>
              <a:rPr lang="ru-RU" sz="2400" dirty="0"/>
              <a:t>. Това е един от най-широко </a:t>
            </a:r>
            <a:r>
              <a:rPr lang="ru-RU" sz="2400" dirty="0" err="1"/>
              <a:t>използваните</a:t>
            </a:r>
            <a:r>
              <a:rPr lang="ru-RU" sz="2400" dirty="0"/>
              <a:t> </a:t>
            </a:r>
            <a:r>
              <a:rPr lang="ru-RU" sz="2400" dirty="0" err="1"/>
              <a:t>видове</a:t>
            </a:r>
            <a:r>
              <a:rPr lang="ru-RU" sz="2400" dirty="0"/>
              <a:t> </a:t>
            </a:r>
            <a:r>
              <a:rPr lang="ru-RU" sz="2400" dirty="0" err="1"/>
              <a:t>сървъри</a:t>
            </a:r>
            <a:r>
              <a:rPr lang="ru-RU" sz="2400" dirty="0"/>
              <a:t>.</a:t>
            </a:r>
          </a:p>
          <a:p>
            <a:endParaRPr lang="ru-RU" sz="2400" dirty="0"/>
          </a:p>
          <a:p>
            <a:endParaRPr lang="en-US" sz="2400" dirty="0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D4469D90-62FA-49B2-981E-5305361D5A5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10502370" y="4592474"/>
            <a:ext cx="1128382" cy="847206"/>
            <a:chOff x="8183879" y="1000124"/>
            <a:chExt cx="1562267" cy="1172973"/>
          </a:xfrm>
        </p:grpSpPr>
        <p:sp>
          <p:nvSpPr>
            <p:cNvPr id="20" name="Freeform 5">
              <a:extLst>
                <a:ext uri="{FF2B5EF4-FFF2-40B4-BE49-F238E27FC236}">
                  <a16:creationId xmlns="" xmlns:a16="http://schemas.microsoft.com/office/drawing/2014/main" id="{281E6897-9689-4C48-ADC3-9F41AAE3A90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5">
              <a:extLst>
                <a:ext uri="{FF2B5EF4-FFF2-40B4-BE49-F238E27FC236}">
                  <a16:creationId xmlns="" xmlns:a16="http://schemas.microsoft.com/office/drawing/2014/main" id="{404E145C-C4EA-4DED-B029-22B811FCEBA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5191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3">
            <a:extLst>
              <a:ext uri="{FF2B5EF4-FFF2-40B4-BE49-F238E27FC236}">
                <a16:creationId xmlns="" xmlns:a16="http://schemas.microsoft.com/office/drawing/2014/main" id="{2B566528-1B12-4246-9431-5C2D7D0811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E6582B1E-FDAE-F985-5EDA-CCA193AB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060" y="447405"/>
            <a:ext cx="4970877" cy="1135737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+mn-lt"/>
              </a:rPr>
              <a:t>Сървър за приложения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45120F3-9165-E45D-2CA2-BBCA8768F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060" y="1779205"/>
            <a:ext cx="4970877" cy="4393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Тези </a:t>
            </a:r>
            <a:r>
              <a:rPr lang="ru-RU" sz="2400" dirty="0" err="1"/>
              <a:t>сървъри</a:t>
            </a:r>
            <a:r>
              <a:rPr lang="ru-RU" sz="2400" dirty="0"/>
              <a:t> свързват </a:t>
            </a:r>
            <a:r>
              <a:rPr lang="ru-RU" sz="2400" dirty="0" err="1"/>
              <a:t>клиентите</a:t>
            </a:r>
            <a:r>
              <a:rPr lang="ru-RU" sz="2400" dirty="0"/>
              <a:t> </a:t>
            </a:r>
            <a:r>
              <a:rPr lang="ru-RU" sz="2400" dirty="0" err="1"/>
              <a:t>със</a:t>
            </a:r>
            <a:r>
              <a:rPr lang="ru-RU" sz="2400" dirty="0"/>
              <a:t> </a:t>
            </a:r>
            <a:r>
              <a:rPr lang="ru-RU" sz="2400" dirty="0" err="1"/>
              <a:t>софтуерни</a:t>
            </a:r>
            <a:r>
              <a:rPr lang="ru-RU" sz="2400" dirty="0"/>
              <a:t> приложения чрез </a:t>
            </a:r>
            <a:r>
              <a:rPr lang="ru-RU" sz="2400" dirty="0" err="1"/>
              <a:t>виртуални</a:t>
            </a:r>
            <a:r>
              <a:rPr lang="ru-RU" sz="2400" dirty="0"/>
              <a:t> </a:t>
            </a:r>
            <a:r>
              <a:rPr lang="ru-RU" sz="2400" dirty="0" err="1"/>
              <a:t>сървърни</a:t>
            </a:r>
            <a:r>
              <a:rPr lang="ru-RU" sz="2400" dirty="0"/>
              <a:t> </a:t>
            </a:r>
            <a:r>
              <a:rPr lang="ru-RU" sz="2400" dirty="0" err="1"/>
              <a:t>връзки</a:t>
            </a:r>
            <a:r>
              <a:rPr lang="ru-RU" sz="2400" dirty="0"/>
              <a:t>. Това </a:t>
            </a:r>
            <a:r>
              <a:rPr lang="ru-RU" sz="2400" dirty="0" err="1"/>
              <a:t>позволява</a:t>
            </a:r>
            <a:r>
              <a:rPr lang="ru-RU" sz="2400" dirty="0"/>
              <a:t> на </a:t>
            </a:r>
            <a:r>
              <a:rPr lang="ru-RU" sz="2400" dirty="0" err="1"/>
              <a:t>потребителите</a:t>
            </a:r>
            <a:r>
              <a:rPr lang="ru-RU" sz="2400" dirty="0"/>
              <a:t> да </a:t>
            </a:r>
            <a:r>
              <a:rPr lang="ru-RU" sz="2400" dirty="0" err="1"/>
              <a:t>заобиколят</a:t>
            </a:r>
            <a:r>
              <a:rPr lang="ru-RU" sz="2400" dirty="0"/>
              <a:t> </a:t>
            </a:r>
            <a:r>
              <a:rPr lang="ru-RU" sz="2400" dirty="0" err="1"/>
              <a:t>изтеглянето</a:t>
            </a:r>
            <a:r>
              <a:rPr lang="ru-RU" sz="2400" dirty="0"/>
              <a:t> на </a:t>
            </a:r>
            <a:r>
              <a:rPr lang="ru-RU" sz="2400" dirty="0" err="1"/>
              <a:t>данни</a:t>
            </a:r>
            <a:r>
              <a:rPr lang="ru-RU" sz="2400" dirty="0"/>
              <a:t> на </a:t>
            </a:r>
            <a:r>
              <a:rPr lang="ru-RU" sz="2400" dirty="0" err="1"/>
              <a:t>собствения</a:t>
            </a:r>
            <a:r>
              <a:rPr lang="ru-RU" sz="2400" dirty="0"/>
              <a:t> си </a:t>
            </a:r>
            <a:r>
              <a:rPr lang="ru-RU" sz="2400" dirty="0" err="1"/>
              <a:t>хардуер</a:t>
            </a:r>
            <a:r>
              <a:rPr lang="ru-RU" sz="2400" dirty="0"/>
              <a:t>, за да получат </a:t>
            </a:r>
            <a:r>
              <a:rPr lang="ru-RU" sz="2400" dirty="0" err="1"/>
              <a:t>достъп</a:t>
            </a:r>
            <a:r>
              <a:rPr lang="ru-RU" sz="2400" dirty="0"/>
              <a:t> до </a:t>
            </a:r>
            <a:r>
              <a:rPr lang="ru-RU" sz="2400" dirty="0" err="1"/>
              <a:t>приложенията</a:t>
            </a:r>
            <a:r>
              <a:rPr lang="ru-RU" sz="2400" dirty="0"/>
              <a:t>. </a:t>
            </a:r>
            <a:r>
              <a:rPr lang="ru-RU" sz="2400" dirty="0" err="1"/>
              <a:t>Сървърите</a:t>
            </a:r>
            <a:r>
              <a:rPr lang="ru-RU" sz="2400" dirty="0"/>
              <a:t> за приложения </a:t>
            </a:r>
            <a:r>
              <a:rPr lang="ru-RU" sz="2400" dirty="0" err="1"/>
              <a:t>могат</a:t>
            </a:r>
            <a:r>
              <a:rPr lang="ru-RU" sz="2400" dirty="0"/>
              <a:t> </a:t>
            </a:r>
            <a:r>
              <a:rPr lang="ru-RU" sz="2400" dirty="0" err="1"/>
              <a:t>ефективно</a:t>
            </a:r>
            <a:r>
              <a:rPr lang="ru-RU" sz="2400" dirty="0"/>
              <a:t> да </a:t>
            </a:r>
            <a:r>
              <a:rPr lang="ru-RU" sz="2400" dirty="0" err="1"/>
              <a:t>хостват</a:t>
            </a:r>
            <a:r>
              <a:rPr lang="ru-RU" sz="2400" dirty="0"/>
              <a:t> големи количества </a:t>
            </a:r>
            <a:r>
              <a:rPr lang="ru-RU" sz="2400" dirty="0" err="1"/>
              <a:t>данни</a:t>
            </a:r>
            <a:r>
              <a:rPr lang="ru-RU" sz="2400" dirty="0"/>
              <a:t> за приложения за много потребители </a:t>
            </a:r>
            <a:r>
              <a:rPr lang="ru-RU" sz="2400" dirty="0" err="1"/>
              <a:t>едновременно</a:t>
            </a:r>
            <a:r>
              <a:rPr lang="ru-RU" sz="2400" dirty="0"/>
              <a:t>, което </a:t>
            </a:r>
            <a:r>
              <a:rPr lang="ru-RU" sz="2400" dirty="0" err="1"/>
              <a:t>ги</a:t>
            </a:r>
            <a:r>
              <a:rPr lang="ru-RU" sz="2400" dirty="0"/>
              <a:t> прави </a:t>
            </a:r>
            <a:r>
              <a:rPr lang="ru-RU" sz="2400" dirty="0" err="1"/>
              <a:t>идеални</a:t>
            </a:r>
            <a:r>
              <a:rPr lang="ru-RU" sz="2400" dirty="0"/>
              <a:t> за бизнеса.</a:t>
            </a:r>
          </a:p>
          <a:p>
            <a:endParaRPr lang="ru-RU" sz="2400" dirty="0"/>
          </a:p>
          <a:p>
            <a:endParaRPr lang="en-US" sz="2400" dirty="0"/>
          </a:p>
        </p:txBody>
      </p:sp>
      <p:sp>
        <p:nvSpPr>
          <p:cNvPr id="25" name="Isosceles Triangle 15">
            <a:extLst>
              <a:ext uri="{FF2B5EF4-FFF2-40B4-BE49-F238E27FC236}">
                <a16:creationId xmlns="" xmlns:a16="http://schemas.microsoft.com/office/drawing/2014/main" id="{D3F51FEB-38FB-4F6C-9F7B-2F2AFAB654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7">
            <a:extLst>
              <a:ext uri="{FF2B5EF4-FFF2-40B4-BE49-F238E27FC236}">
                <a16:creationId xmlns="" xmlns:a16="http://schemas.microsoft.com/office/drawing/2014/main" id="{1E547BA6-BAE0-43BB-A7CA-60F69CE252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="" xmlns:a16="http://schemas.microsoft.com/office/drawing/2014/main" id="{E3A1C8AF-DBA9-2F66-5BEF-B87133C56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813" y="1497346"/>
            <a:ext cx="5290720" cy="3729957"/>
          </a:xfrm>
          <a:prstGeom prst="rect">
            <a:avLst/>
          </a:prstGeom>
        </p:spPr>
      </p:pic>
      <p:grpSp>
        <p:nvGrpSpPr>
          <p:cNvPr id="27" name="Group 19">
            <a:extLst>
              <a:ext uri="{FF2B5EF4-FFF2-40B4-BE49-F238E27FC236}">
                <a16:creationId xmlns="" xmlns:a16="http://schemas.microsoft.com/office/drawing/2014/main" id="{15CBE6EC-46EF-45D9-8E16-DCDC5917CA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11094720" y="0"/>
            <a:ext cx="1097280" cy="1097280"/>
            <a:chOff x="11094720" y="0"/>
            <a:chExt cx="1097280" cy="1097280"/>
          </a:xfrm>
        </p:grpSpPr>
        <p:sp>
          <p:nvSpPr>
            <p:cNvPr id="28" name="Isosceles Triangle 20">
              <a:extLst>
                <a:ext uri="{FF2B5EF4-FFF2-40B4-BE49-F238E27FC236}">
                  <a16:creationId xmlns="" xmlns:a16="http://schemas.microsoft.com/office/drawing/2014/main" id="{DEEDCD65-9740-4F34-BDF1-9C068E0532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16200000">
              <a:off x="11094720" y="0"/>
              <a:ext cx="1097280" cy="1097280"/>
            </a:xfrm>
            <a:prstGeom prst="triangle">
              <a:avLst>
                <a:gd name="adj" fmla="val 10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="" xmlns:a16="http://schemas.microsoft.com/office/drawing/2014/main" id="{4B3DA7FD-5CC0-46D1-9DFB-5BAF6BE249C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2700000">
              <a:off x="11189552" y="127618"/>
              <a:ext cx="457894" cy="457894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822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B566528-1B12-4246-9431-5C2D7D0811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04ECA4A-37C2-4DA8-4C25-FF9F52305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060" y="356565"/>
            <a:ext cx="4970877" cy="1135737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+mn-lt"/>
              </a:rPr>
              <a:t>Прокси сървър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3222A40-6E9E-AC53-0091-4AC3212D2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123" y="1613382"/>
            <a:ext cx="5824504" cy="43939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Прокси </a:t>
            </a:r>
            <a:r>
              <a:rPr lang="ru-RU" sz="2400" dirty="0" err="1"/>
              <a:t>сървърите</a:t>
            </a:r>
            <a:r>
              <a:rPr lang="ru-RU" sz="2400" dirty="0"/>
              <a:t> </a:t>
            </a:r>
            <a:r>
              <a:rPr lang="ru-RU" sz="2400" dirty="0" err="1"/>
              <a:t>действат</a:t>
            </a:r>
            <a:r>
              <a:rPr lang="ru-RU" sz="2400" dirty="0"/>
              <a:t> като мост между хост </a:t>
            </a:r>
            <a:r>
              <a:rPr lang="ru-RU" sz="2400" dirty="0" err="1"/>
              <a:t>сървър</a:t>
            </a:r>
            <a:r>
              <a:rPr lang="ru-RU" sz="2400" dirty="0"/>
              <a:t> и </a:t>
            </a:r>
            <a:r>
              <a:rPr lang="ru-RU" sz="2400" dirty="0" err="1"/>
              <a:t>клиентски</a:t>
            </a:r>
            <a:r>
              <a:rPr lang="ru-RU" sz="2400" dirty="0"/>
              <a:t> </a:t>
            </a:r>
            <a:r>
              <a:rPr lang="ru-RU" sz="2400" dirty="0" err="1"/>
              <a:t>сървър</a:t>
            </a:r>
            <a:r>
              <a:rPr lang="ru-RU" sz="2400" dirty="0"/>
              <a:t>. Прокси </a:t>
            </a:r>
            <a:r>
              <a:rPr lang="ru-RU" sz="2400" dirty="0" err="1"/>
              <a:t>сървърът</a:t>
            </a:r>
            <a:r>
              <a:rPr lang="ru-RU" sz="2400" dirty="0"/>
              <a:t> </a:t>
            </a:r>
            <a:r>
              <a:rPr lang="ru-RU" sz="2400" dirty="0" err="1"/>
              <a:t>изпраща</a:t>
            </a:r>
            <a:r>
              <a:rPr lang="ru-RU" sz="2400" dirty="0"/>
              <a:t> </a:t>
            </a:r>
            <a:r>
              <a:rPr lang="ru-RU" sz="2400" dirty="0" err="1"/>
              <a:t>данни</a:t>
            </a:r>
            <a:r>
              <a:rPr lang="ru-RU" sz="2400" dirty="0"/>
              <a:t> от </a:t>
            </a:r>
            <a:r>
              <a:rPr lang="ru-RU" sz="2400" dirty="0" err="1"/>
              <a:t>уебсайт</a:t>
            </a:r>
            <a:r>
              <a:rPr lang="ru-RU" sz="2400" dirty="0"/>
              <a:t> до IP адреса на </a:t>
            </a:r>
            <a:r>
              <a:rPr lang="ru-RU" sz="2400" dirty="0" err="1"/>
              <a:t>вашия</a:t>
            </a:r>
            <a:r>
              <a:rPr lang="ru-RU" sz="2400" dirty="0"/>
              <a:t> </a:t>
            </a:r>
            <a:r>
              <a:rPr lang="ru-RU" sz="2400" dirty="0" err="1"/>
              <a:t>компютър</a:t>
            </a:r>
            <a:r>
              <a:rPr lang="ru-RU" sz="2400" dirty="0"/>
              <a:t>, след като те </a:t>
            </a:r>
            <a:r>
              <a:rPr lang="ru-RU" sz="2400" dirty="0" err="1"/>
              <a:t>преминат</a:t>
            </a:r>
            <a:r>
              <a:rPr lang="ru-RU" sz="2400" dirty="0"/>
              <a:t> </a:t>
            </a:r>
            <a:r>
              <a:rPr lang="ru-RU" sz="2400" dirty="0" err="1"/>
              <a:t>през</a:t>
            </a:r>
            <a:r>
              <a:rPr lang="ru-RU" sz="2400" dirty="0"/>
              <a:t> прокси </a:t>
            </a:r>
            <a:r>
              <a:rPr lang="ru-RU" sz="2400" dirty="0" err="1"/>
              <a:t>сървъра</a:t>
            </a:r>
            <a:r>
              <a:rPr lang="ru-RU" sz="2400" dirty="0"/>
              <a:t>. </a:t>
            </a:r>
            <a:r>
              <a:rPr lang="ru-RU" sz="2400" dirty="0" err="1"/>
              <a:t>Тази</a:t>
            </a:r>
            <a:r>
              <a:rPr lang="ru-RU" sz="2400" dirty="0"/>
              <a:t> практика </a:t>
            </a:r>
            <a:r>
              <a:rPr lang="ru-RU" sz="2400" dirty="0" err="1"/>
              <a:t>добавя</a:t>
            </a:r>
            <a:r>
              <a:rPr lang="ru-RU" sz="2400" dirty="0"/>
              <a:t> </a:t>
            </a:r>
            <a:r>
              <a:rPr lang="ru-RU" sz="2400" dirty="0" err="1"/>
              <a:t>ниво</a:t>
            </a:r>
            <a:r>
              <a:rPr lang="ru-RU" sz="2400" dirty="0"/>
              <a:t> на </a:t>
            </a:r>
            <a:r>
              <a:rPr lang="ru-RU" sz="2400" dirty="0" err="1"/>
              <a:t>сигурност</a:t>
            </a:r>
            <a:r>
              <a:rPr lang="ru-RU" sz="2400" dirty="0"/>
              <a:t>, </a:t>
            </a:r>
            <a:r>
              <a:rPr lang="ru-RU" sz="2400" dirty="0" err="1"/>
              <a:t>тъй</a:t>
            </a:r>
            <a:r>
              <a:rPr lang="ru-RU" sz="2400" dirty="0"/>
              <a:t> като </a:t>
            </a:r>
            <a:r>
              <a:rPr lang="ru-RU" sz="2400" dirty="0" err="1"/>
              <a:t>информацията</a:t>
            </a:r>
            <a:r>
              <a:rPr lang="ru-RU" sz="2400" dirty="0"/>
              <a:t> се </a:t>
            </a:r>
            <a:r>
              <a:rPr lang="ru-RU" sz="2400" dirty="0" err="1"/>
              <a:t>изисква</a:t>
            </a:r>
            <a:r>
              <a:rPr lang="ru-RU" sz="2400" dirty="0"/>
              <a:t>, след което се </a:t>
            </a:r>
            <a:r>
              <a:rPr lang="ru-RU" sz="2400" dirty="0" err="1"/>
              <a:t>прехвърля</a:t>
            </a:r>
            <a:r>
              <a:rPr lang="ru-RU" sz="2400" dirty="0"/>
              <a:t> от </a:t>
            </a:r>
            <a:r>
              <a:rPr lang="ru-RU" sz="2400" dirty="0" err="1"/>
              <a:t>източника</a:t>
            </a:r>
            <a:r>
              <a:rPr lang="ru-RU" sz="2400" dirty="0"/>
              <a:t> към прокси </a:t>
            </a:r>
            <a:r>
              <a:rPr lang="ru-RU" sz="2400" dirty="0" err="1"/>
              <a:t>сървъра</a:t>
            </a:r>
            <a:r>
              <a:rPr lang="ru-RU" sz="2400" dirty="0"/>
              <a:t> и </a:t>
            </a:r>
            <a:r>
              <a:rPr lang="ru-RU" sz="2400" dirty="0" err="1"/>
              <a:t>никога</a:t>
            </a:r>
            <a:r>
              <a:rPr lang="ru-RU" sz="2400" dirty="0"/>
              <a:t> не се </a:t>
            </a:r>
            <a:r>
              <a:rPr lang="ru-RU" sz="2400" dirty="0" err="1"/>
              <a:t>прехвърля</a:t>
            </a:r>
            <a:r>
              <a:rPr lang="ru-RU" sz="2400" dirty="0"/>
              <a:t> </a:t>
            </a:r>
            <a:r>
              <a:rPr lang="ru-RU" sz="2400" dirty="0" err="1"/>
              <a:t>директно</a:t>
            </a:r>
            <a:r>
              <a:rPr lang="ru-RU" sz="2400" dirty="0"/>
              <a:t> от клиента към друг </a:t>
            </a:r>
            <a:r>
              <a:rPr lang="ru-RU" sz="2400" dirty="0" err="1"/>
              <a:t>потребител</a:t>
            </a:r>
            <a:r>
              <a:rPr lang="ru-RU" sz="2400" dirty="0"/>
              <a:t>. Прокси </a:t>
            </a:r>
            <a:r>
              <a:rPr lang="ru-RU" sz="2400" dirty="0" err="1"/>
              <a:t>сървърът</a:t>
            </a:r>
            <a:r>
              <a:rPr lang="ru-RU" sz="2400" dirty="0"/>
              <a:t> </a:t>
            </a:r>
            <a:r>
              <a:rPr lang="ru-RU" sz="2400" dirty="0" err="1"/>
              <a:t>може</a:t>
            </a:r>
            <a:r>
              <a:rPr lang="ru-RU" sz="2400" dirty="0"/>
              <a:t> да </a:t>
            </a:r>
            <a:r>
              <a:rPr lang="ru-RU" sz="2400" dirty="0" err="1"/>
              <a:t>филтрира</a:t>
            </a:r>
            <a:r>
              <a:rPr lang="ru-RU" sz="2400" dirty="0"/>
              <a:t> различни </a:t>
            </a:r>
            <a:r>
              <a:rPr lang="ru-RU" sz="2400" dirty="0" err="1"/>
              <a:t>вредни</a:t>
            </a:r>
            <a:r>
              <a:rPr lang="ru-RU" sz="2400" dirty="0"/>
              <a:t> интернет </a:t>
            </a:r>
            <a:r>
              <a:rPr lang="ru-RU" sz="2400" dirty="0" err="1"/>
              <a:t>субекти</a:t>
            </a:r>
            <a:r>
              <a:rPr lang="ru-RU" sz="2400" dirty="0"/>
              <a:t>.</a:t>
            </a:r>
          </a:p>
          <a:p>
            <a:endParaRPr lang="ru-RU" sz="2400" dirty="0"/>
          </a:p>
          <a:p>
            <a:endParaRPr lang="en-US" sz="2400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="" xmlns:a16="http://schemas.microsoft.com/office/drawing/2014/main" id="{D3F51FEB-38FB-4F6C-9F7B-2F2AFAB654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1E547BA6-BAE0-43BB-A7CA-60F69CE252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="" xmlns:a16="http://schemas.microsoft.com/office/drawing/2014/main" id="{B9E71810-0A88-A65A-3EE7-CCC58CEC1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813" y="1253191"/>
            <a:ext cx="5290720" cy="435161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15CBE6EC-46EF-45D9-8E16-DCDC5917CA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11094720" y="0"/>
            <a:ext cx="1097280" cy="1097280"/>
            <a:chOff x="11094720" y="0"/>
            <a:chExt cx="1097280" cy="1097280"/>
          </a:xfrm>
        </p:grpSpPr>
        <p:sp>
          <p:nvSpPr>
            <p:cNvPr id="17" name="Isosceles Triangle 16">
              <a:extLst>
                <a:ext uri="{FF2B5EF4-FFF2-40B4-BE49-F238E27FC236}">
                  <a16:creationId xmlns="" xmlns:a16="http://schemas.microsoft.com/office/drawing/2014/main" id="{DEEDCD65-9740-4F34-BDF1-9C068E0532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16200000">
              <a:off x="11094720" y="0"/>
              <a:ext cx="1097280" cy="1097280"/>
            </a:xfrm>
            <a:prstGeom prst="triangle">
              <a:avLst>
                <a:gd name="adj" fmla="val 10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4B3DA7FD-5CC0-46D1-9DFB-5BAF6BE249C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2700000">
              <a:off x="11189552" y="127618"/>
              <a:ext cx="457894" cy="457894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954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="" xmlns:a16="http://schemas.microsoft.com/office/drawing/2014/main" id="{D009D6D5-DAC2-4A8B-A17A-E206B9012D0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1ADC34-82F4-F2ED-132A-56414575E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ru-RU" sz="3200" b="1" dirty="0" err="1">
                <a:latin typeface="+mn-lt"/>
              </a:rPr>
              <a:t>Пощенски</a:t>
            </a:r>
            <a:r>
              <a:rPr lang="ru-RU" sz="3200" b="1" dirty="0">
                <a:latin typeface="+mn-lt"/>
              </a:rPr>
              <a:t> </a:t>
            </a:r>
            <a:r>
              <a:rPr lang="ru-RU" sz="3200" b="1" dirty="0" err="1">
                <a:latin typeface="+mn-lt"/>
              </a:rPr>
              <a:t>сървър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B20964E-9CDA-D326-1B66-76FF8C2BC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5391015" cy="38436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err="1"/>
              <a:t>Пощенският</a:t>
            </a:r>
            <a:r>
              <a:rPr lang="ru-RU" sz="2400" dirty="0"/>
              <a:t> </a:t>
            </a:r>
            <a:r>
              <a:rPr lang="ru-RU" sz="2400" dirty="0" err="1"/>
              <a:t>сървър</a:t>
            </a:r>
            <a:r>
              <a:rPr lang="ru-RU" sz="2400" dirty="0"/>
              <a:t> </a:t>
            </a:r>
            <a:r>
              <a:rPr lang="ru-RU" sz="2400" dirty="0" err="1"/>
              <a:t>съхранява</a:t>
            </a:r>
            <a:r>
              <a:rPr lang="ru-RU" sz="2400" dirty="0"/>
              <a:t> и </a:t>
            </a:r>
            <a:r>
              <a:rPr lang="ru-RU" sz="2400" dirty="0" err="1"/>
              <a:t>доставя</a:t>
            </a:r>
            <a:r>
              <a:rPr lang="ru-RU" sz="2400" dirty="0"/>
              <a:t> </a:t>
            </a:r>
            <a:r>
              <a:rPr lang="ru-RU" sz="2400" dirty="0" err="1"/>
              <a:t>писма</a:t>
            </a:r>
            <a:r>
              <a:rPr lang="ru-RU" sz="2400" dirty="0"/>
              <a:t> (</a:t>
            </a:r>
            <a:r>
              <a:rPr lang="ru-RU" sz="2400" dirty="0" err="1"/>
              <a:t>имейли</a:t>
            </a:r>
            <a:r>
              <a:rPr lang="ru-RU" sz="2400" dirty="0"/>
              <a:t>) за </a:t>
            </a:r>
            <a:r>
              <a:rPr lang="ru-RU" sz="2400" dirty="0" err="1"/>
              <a:t>клиенти</a:t>
            </a:r>
            <a:r>
              <a:rPr lang="ru-RU" sz="2400" dirty="0"/>
              <a:t> чрез </a:t>
            </a:r>
            <a:r>
              <a:rPr lang="ru-RU" sz="2400" dirty="0" err="1"/>
              <a:t>платформи</a:t>
            </a:r>
            <a:r>
              <a:rPr lang="ru-RU" sz="2400" dirty="0"/>
              <a:t> за </a:t>
            </a:r>
            <a:r>
              <a:rPr lang="ru-RU" sz="2400" dirty="0" err="1"/>
              <a:t>имейл</a:t>
            </a:r>
            <a:r>
              <a:rPr lang="ru-RU" sz="2400" dirty="0"/>
              <a:t> услуги. </a:t>
            </a:r>
            <a:r>
              <a:rPr lang="ru-RU" sz="2400" dirty="0" err="1"/>
              <a:t>Тъй</a:t>
            </a:r>
            <a:r>
              <a:rPr lang="ru-RU" sz="2400" dirty="0"/>
              <a:t> като </a:t>
            </a:r>
            <a:r>
              <a:rPr lang="ru-RU" sz="2400" dirty="0" err="1"/>
              <a:t>пощенските</a:t>
            </a:r>
            <a:r>
              <a:rPr lang="ru-RU" sz="2400" dirty="0"/>
              <a:t> </a:t>
            </a:r>
            <a:r>
              <a:rPr lang="ru-RU" sz="2400" dirty="0" err="1"/>
              <a:t>сървъри</a:t>
            </a:r>
            <a:r>
              <a:rPr lang="ru-RU" sz="2400" dirty="0"/>
              <a:t> са </a:t>
            </a:r>
            <a:r>
              <a:rPr lang="ru-RU" sz="2400" dirty="0" err="1"/>
              <a:t>настроени</a:t>
            </a:r>
            <a:r>
              <a:rPr lang="ru-RU" sz="2400" dirty="0"/>
              <a:t> да се свързват </a:t>
            </a:r>
            <a:r>
              <a:rPr lang="ru-RU" sz="2400" dirty="0" err="1"/>
              <a:t>непрекъснато</a:t>
            </a:r>
            <a:r>
              <a:rPr lang="ru-RU" sz="2400" dirty="0"/>
              <a:t> с </a:t>
            </a:r>
            <a:r>
              <a:rPr lang="ru-RU" sz="2400" dirty="0" err="1"/>
              <a:t>мрежата</a:t>
            </a:r>
            <a:r>
              <a:rPr lang="ru-RU" sz="2400" dirty="0"/>
              <a:t>, </a:t>
            </a:r>
            <a:r>
              <a:rPr lang="ru-RU" sz="2400" dirty="0" err="1"/>
              <a:t>отделните</a:t>
            </a:r>
            <a:r>
              <a:rPr lang="ru-RU" sz="2400" dirty="0"/>
              <a:t> потребители </a:t>
            </a:r>
            <a:r>
              <a:rPr lang="ru-RU" sz="2400" dirty="0" err="1"/>
              <a:t>могат</a:t>
            </a:r>
            <a:r>
              <a:rPr lang="ru-RU" sz="2400" dirty="0"/>
              <a:t> да имат </a:t>
            </a:r>
            <a:r>
              <a:rPr lang="ru-RU" sz="2400" dirty="0" err="1"/>
              <a:t>достъп</a:t>
            </a:r>
            <a:r>
              <a:rPr lang="ru-RU" sz="2400" dirty="0"/>
              <a:t> до </a:t>
            </a:r>
            <a:r>
              <a:rPr lang="ru-RU" sz="2400" dirty="0" err="1"/>
              <a:t>електронната</a:t>
            </a:r>
            <a:r>
              <a:rPr lang="ru-RU" sz="2400" dirty="0"/>
              <a:t> си </a:t>
            </a:r>
            <a:r>
              <a:rPr lang="ru-RU" sz="2400" dirty="0" err="1"/>
              <a:t>поща</a:t>
            </a:r>
            <a:r>
              <a:rPr lang="ru-RU" sz="2400" dirty="0"/>
              <a:t>, без да </a:t>
            </a:r>
            <a:r>
              <a:rPr lang="ru-RU" sz="2400" dirty="0" err="1"/>
              <a:t>използват</a:t>
            </a:r>
            <a:r>
              <a:rPr lang="ru-RU" sz="2400" dirty="0"/>
              <a:t> </a:t>
            </a:r>
            <a:r>
              <a:rPr lang="ru-RU" sz="2400" dirty="0" err="1"/>
              <a:t>каквито</a:t>
            </a:r>
            <a:r>
              <a:rPr lang="ru-RU" sz="2400" dirty="0"/>
              <a:t> и да било </a:t>
            </a:r>
            <a:r>
              <a:rPr lang="ru-RU" sz="2400" dirty="0" err="1"/>
              <a:t>системи</a:t>
            </a:r>
            <a:r>
              <a:rPr lang="ru-RU" sz="2400" dirty="0"/>
              <a:t> чрез </a:t>
            </a:r>
            <a:r>
              <a:rPr lang="ru-RU" sz="2400" dirty="0" err="1"/>
              <a:t>собствените</a:t>
            </a:r>
            <a:r>
              <a:rPr lang="ru-RU" sz="2400" dirty="0"/>
              <a:t> си устройства.</a:t>
            </a:r>
          </a:p>
          <a:p>
            <a:endParaRPr lang="ru-RU" sz="2400" dirty="0"/>
          </a:p>
          <a:p>
            <a:endParaRPr lang="en-US" sz="2400" dirty="0"/>
          </a:p>
        </p:txBody>
      </p:sp>
      <p:pic>
        <p:nvPicPr>
          <p:cNvPr id="5" name="Picture 4" descr="Engineering drawing&#10;&#10;Description automatically generated with medium confidence">
            <a:extLst>
              <a:ext uri="{FF2B5EF4-FFF2-40B4-BE49-F238E27FC236}">
                <a16:creationId xmlns="" xmlns:a16="http://schemas.microsoft.com/office/drawing/2014/main" id="{A43DF784-B12F-5BFE-6C8F-9C5CB4AF8AC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71" r="33181" b="-1"/>
          <a:stretch/>
        </p:blipFill>
        <p:spPr>
          <a:xfrm>
            <a:off x="6248265" y="-3809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13911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="" xmlns:a16="http://schemas.microsoft.com/office/drawing/2014/main" id="{D009D6D5-DAC2-4A8B-A17A-E206B9012D0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41BBD8A-0040-04BF-2F11-CAE708FA9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271518"/>
            <a:ext cx="5251316" cy="1807305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+mn-lt"/>
              </a:rPr>
              <a:t>Виртуален сървър (машина)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E3E0160-D86D-979B-1F7A-DA20AE9DB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2161847"/>
            <a:ext cx="6315075" cy="38436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err="1"/>
              <a:t>Както</a:t>
            </a:r>
            <a:r>
              <a:rPr lang="ru-RU" sz="2400" dirty="0"/>
              <a:t> </a:t>
            </a:r>
            <a:r>
              <a:rPr lang="ru-RU" sz="2400" dirty="0" err="1"/>
              <a:t>подсказва</a:t>
            </a:r>
            <a:r>
              <a:rPr lang="ru-RU" sz="2400" dirty="0"/>
              <a:t> </a:t>
            </a:r>
            <a:r>
              <a:rPr lang="ru-RU" sz="2400" dirty="0" err="1"/>
              <a:t>името</a:t>
            </a:r>
            <a:r>
              <a:rPr lang="ru-RU" sz="2400" dirty="0"/>
              <a:t> им, </a:t>
            </a:r>
            <a:r>
              <a:rPr lang="ru-RU" sz="2400" dirty="0" err="1"/>
              <a:t>виртуалните</a:t>
            </a:r>
            <a:r>
              <a:rPr lang="ru-RU" sz="2400" dirty="0"/>
              <a:t> </a:t>
            </a:r>
            <a:r>
              <a:rPr lang="ru-RU" sz="2400" dirty="0" err="1"/>
              <a:t>машини</a:t>
            </a:r>
            <a:r>
              <a:rPr lang="ru-RU" sz="2400" dirty="0"/>
              <a:t> </a:t>
            </a:r>
            <a:r>
              <a:rPr lang="ru-RU" sz="2400" dirty="0" err="1"/>
              <a:t>съхраняват</a:t>
            </a:r>
            <a:r>
              <a:rPr lang="ru-RU" sz="2400" dirty="0"/>
              <a:t> и свързват </a:t>
            </a:r>
            <a:r>
              <a:rPr lang="ru-RU" sz="2400" dirty="0" err="1"/>
              <a:t>данни</a:t>
            </a:r>
            <a:r>
              <a:rPr lang="ru-RU" sz="2400" dirty="0"/>
              <a:t> </a:t>
            </a:r>
            <a:r>
              <a:rPr lang="ru-RU" sz="2400" dirty="0" err="1"/>
              <a:t>стриктно</a:t>
            </a:r>
            <a:r>
              <a:rPr lang="ru-RU" sz="2400" dirty="0"/>
              <a:t> чрез </a:t>
            </a:r>
            <a:r>
              <a:rPr lang="ru-RU" sz="2400" dirty="0" err="1"/>
              <a:t>виртуално</a:t>
            </a:r>
            <a:r>
              <a:rPr lang="ru-RU" sz="2400" dirty="0"/>
              <a:t> пространство. За да </a:t>
            </a:r>
            <a:r>
              <a:rPr lang="ru-RU" sz="2400" dirty="0" err="1"/>
              <a:t>създадат</a:t>
            </a:r>
            <a:r>
              <a:rPr lang="ru-RU" sz="2400" dirty="0"/>
              <a:t> </a:t>
            </a:r>
            <a:r>
              <a:rPr lang="ru-RU" sz="2400" dirty="0" err="1"/>
              <a:t>виртуална</a:t>
            </a:r>
            <a:r>
              <a:rPr lang="ru-RU" sz="2400" dirty="0"/>
              <a:t> машина, ИТ </a:t>
            </a:r>
            <a:r>
              <a:rPr lang="ru-RU" sz="2400" dirty="0" err="1"/>
              <a:t>екипите</a:t>
            </a:r>
            <a:r>
              <a:rPr lang="ru-RU" sz="2400" dirty="0"/>
              <a:t> </a:t>
            </a:r>
            <a:r>
              <a:rPr lang="ru-RU" sz="2400" dirty="0" err="1"/>
              <a:t>използват</a:t>
            </a:r>
            <a:r>
              <a:rPr lang="ru-RU" sz="2400" dirty="0"/>
              <a:t> </a:t>
            </a:r>
            <a:r>
              <a:rPr lang="ru-RU" sz="2400" dirty="0" err="1"/>
              <a:t>хипервайзор</a:t>
            </a:r>
            <a:r>
              <a:rPr lang="ru-RU" sz="2400" dirty="0"/>
              <a:t>, известен </a:t>
            </a:r>
            <a:r>
              <a:rPr lang="ru-RU" sz="2400" dirty="0" err="1"/>
              <a:t>също</a:t>
            </a:r>
            <a:r>
              <a:rPr lang="ru-RU" sz="2400" dirty="0"/>
              <a:t> като виртуален </a:t>
            </a:r>
            <a:r>
              <a:rPr lang="ru-RU" sz="2400" dirty="0" err="1"/>
              <a:t>машинен</a:t>
            </a:r>
            <a:r>
              <a:rPr lang="ru-RU" sz="2400" dirty="0"/>
              <a:t> монитор (VMM), </a:t>
            </a:r>
            <a:r>
              <a:rPr lang="ru-RU" sz="2400" dirty="0" err="1"/>
              <a:t>който</a:t>
            </a:r>
            <a:r>
              <a:rPr lang="ru-RU" sz="2400" dirty="0"/>
              <a:t> е </a:t>
            </a:r>
            <a:r>
              <a:rPr lang="ru-RU" sz="2400" dirty="0" err="1"/>
              <a:t>софтуер</a:t>
            </a:r>
            <a:r>
              <a:rPr lang="ru-RU" sz="2400" dirty="0"/>
              <a:t>, </a:t>
            </a:r>
            <a:r>
              <a:rPr lang="ru-RU" sz="2400" dirty="0" err="1"/>
              <a:t>който</a:t>
            </a:r>
            <a:r>
              <a:rPr lang="ru-RU" sz="2400" dirty="0"/>
              <a:t> </a:t>
            </a:r>
            <a:r>
              <a:rPr lang="ru-RU" sz="2400" dirty="0" err="1"/>
              <a:t>може</a:t>
            </a:r>
            <a:r>
              <a:rPr lang="ru-RU" sz="2400" dirty="0"/>
              <a:t> да </a:t>
            </a:r>
            <a:r>
              <a:rPr lang="ru-RU" sz="2400" dirty="0" err="1"/>
              <a:t>управлява</a:t>
            </a:r>
            <a:r>
              <a:rPr lang="ru-RU" sz="2400" dirty="0"/>
              <a:t> </a:t>
            </a:r>
            <a:r>
              <a:rPr lang="ru-RU" sz="2400" dirty="0" err="1"/>
              <a:t>хиляди</a:t>
            </a:r>
            <a:r>
              <a:rPr lang="ru-RU" sz="2400" dirty="0"/>
              <a:t> </a:t>
            </a:r>
            <a:r>
              <a:rPr lang="ru-RU" sz="2400" dirty="0" err="1"/>
              <a:t>виртуални</a:t>
            </a:r>
            <a:r>
              <a:rPr lang="ru-RU" sz="2400" dirty="0"/>
              <a:t> </a:t>
            </a:r>
            <a:r>
              <a:rPr lang="ru-RU" sz="2400" dirty="0" err="1"/>
              <a:t>машини</a:t>
            </a:r>
            <a:r>
              <a:rPr lang="ru-RU" sz="2400" dirty="0"/>
              <a:t> само чрез един физически </a:t>
            </a:r>
            <a:r>
              <a:rPr lang="ru-RU" sz="2400" dirty="0" err="1"/>
              <a:t>хардуер</a:t>
            </a:r>
            <a:r>
              <a:rPr lang="ru-RU" sz="2400" dirty="0"/>
              <a:t>. </a:t>
            </a:r>
            <a:r>
              <a:rPr lang="ru-RU" sz="2400" dirty="0" err="1"/>
              <a:t>Този</a:t>
            </a:r>
            <a:r>
              <a:rPr lang="ru-RU" sz="2400" dirty="0"/>
              <a:t> метод на виртуализация на </a:t>
            </a:r>
            <a:r>
              <a:rPr lang="ru-RU" sz="2400" dirty="0" err="1"/>
              <a:t>сървъри</a:t>
            </a:r>
            <a:r>
              <a:rPr lang="ru-RU" sz="2400" dirty="0"/>
              <a:t> се използва широко за </a:t>
            </a:r>
            <a:r>
              <a:rPr lang="ru-RU" sz="2400" dirty="0" err="1"/>
              <a:t>пренос</a:t>
            </a:r>
            <a:r>
              <a:rPr lang="ru-RU" sz="2400" dirty="0"/>
              <a:t> и </a:t>
            </a:r>
            <a:r>
              <a:rPr lang="ru-RU" sz="2400" dirty="0" err="1"/>
              <a:t>съхранение</a:t>
            </a:r>
            <a:r>
              <a:rPr lang="ru-RU" sz="2400" dirty="0"/>
              <a:t> на </a:t>
            </a:r>
            <a:r>
              <a:rPr lang="ru-RU" sz="2400" dirty="0" err="1"/>
              <a:t>данни</a:t>
            </a:r>
            <a:r>
              <a:rPr lang="ru-RU" sz="2400" dirty="0"/>
              <a:t>, </a:t>
            </a:r>
            <a:r>
              <a:rPr lang="ru-RU" sz="2400" dirty="0" err="1"/>
              <a:t>тъй</a:t>
            </a:r>
            <a:r>
              <a:rPr lang="ru-RU" sz="2400" dirty="0"/>
              <a:t> като те са най-</a:t>
            </a:r>
            <a:r>
              <a:rPr lang="ru-RU" sz="2400" dirty="0" err="1"/>
              <a:t>рентабилният</a:t>
            </a:r>
            <a:r>
              <a:rPr lang="ru-RU" sz="2400" dirty="0"/>
              <a:t> вид </a:t>
            </a:r>
            <a:r>
              <a:rPr lang="ru-RU" sz="2400" dirty="0" err="1"/>
              <a:t>сървър</a:t>
            </a:r>
            <a:r>
              <a:rPr lang="ru-RU" sz="2400" dirty="0"/>
              <a:t> за работа.</a:t>
            </a:r>
          </a:p>
          <a:p>
            <a:endParaRPr lang="ru-RU" sz="2400" dirty="0"/>
          </a:p>
          <a:p>
            <a:endParaRPr lang="en-US" sz="2400" dirty="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="" xmlns:a16="http://schemas.microsoft.com/office/drawing/2014/main" id="{CE43B9FE-62C2-2BC5-0617-50DF47C9C6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8" r="25690" b="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87258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="" xmlns:a16="http://schemas.microsoft.com/office/drawing/2014/main" id="{8D1AA55E-40D5-461B-A5A8-4AE8AAB71B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F59F77-F4DC-A90E-399E-50DE51CAB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643"/>
            <a:ext cx="5243394" cy="2225532"/>
          </a:xfrm>
        </p:spPr>
        <p:txBody>
          <a:bodyPr anchor="t">
            <a:normAutofit/>
          </a:bodyPr>
          <a:lstStyle/>
          <a:p>
            <a:r>
              <a:rPr lang="en-US" sz="3200" b="1" dirty="0">
                <a:latin typeface="+mn-lt"/>
              </a:rPr>
              <a:t>File Transfer Protocol (FTP) </a:t>
            </a:r>
            <a:r>
              <a:rPr lang="bg-BG" sz="3200" b="1" dirty="0">
                <a:latin typeface="+mn-lt"/>
              </a:rPr>
              <a:t>сървър</a:t>
            </a:r>
            <a:endParaRPr lang="en-US" sz="3200" b="1" dirty="0">
              <a:latin typeface="+mn-lt"/>
            </a:endParaRPr>
          </a:p>
        </p:txBody>
      </p:sp>
      <p:cxnSp>
        <p:nvCxnSpPr>
          <p:cNvPr id="21" name="Straight Connector 11">
            <a:extLst>
              <a:ext uri="{FF2B5EF4-FFF2-40B4-BE49-F238E27FC236}">
                <a16:creationId xmlns="" xmlns:a16="http://schemas.microsoft.com/office/drawing/2014/main" id="{C49DA8F6-BCC1-4447-B54C-57856834B94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623622" y="381934"/>
            <a:ext cx="0" cy="647606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13">
            <a:extLst>
              <a:ext uri="{FF2B5EF4-FFF2-40B4-BE49-F238E27FC236}">
                <a16:creationId xmlns="" xmlns:a16="http://schemas.microsoft.com/office/drawing/2014/main" id="{34F88D19-C269-4F98-BE6B-CFB6207D36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6110408" y="740316"/>
            <a:ext cx="465458" cy="872153"/>
            <a:chOff x="6110408" y="740316"/>
            <a:chExt cx="465458" cy="872153"/>
          </a:xfrm>
        </p:grpSpPr>
        <p:sp>
          <p:nvSpPr>
            <p:cNvPr id="15" name="Graphic 11">
              <a:extLst>
                <a:ext uri="{FF2B5EF4-FFF2-40B4-BE49-F238E27FC236}">
                  <a16:creationId xmlns="" xmlns:a16="http://schemas.microsoft.com/office/drawing/2014/main" id="{6CB927A4-E432-4310-9CD5-E89FF506317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6125948" y="74031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0">
              <a:extLst>
                <a:ext uri="{FF2B5EF4-FFF2-40B4-BE49-F238E27FC236}">
                  <a16:creationId xmlns="" xmlns:a16="http://schemas.microsoft.com/office/drawing/2014/main" id="{E3020543-B24B-4EC4-8FFC-8DD88EEA91A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6484728" y="969611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Graphic 12">
              <a:extLst>
                <a:ext uri="{FF2B5EF4-FFF2-40B4-BE49-F238E27FC236}">
                  <a16:creationId xmlns="" xmlns:a16="http://schemas.microsoft.com/office/drawing/2014/main" id="{1453BF6C-B012-48B7-B4E8-6D7AC7C27D0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6110408" y="14847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Diagram&#10;&#10;Description automatically generated">
            <a:extLst>
              <a:ext uri="{FF2B5EF4-FFF2-40B4-BE49-F238E27FC236}">
                <a16:creationId xmlns="" xmlns:a16="http://schemas.microsoft.com/office/drawing/2014/main" id="{9E7D8411-E43D-8646-D475-7EBDA4B13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86318"/>
            <a:ext cx="5243391" cy="222844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FEE603B-2BDB-EE4A-AB57-8ADCC95F8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2682" y="1222255"/>
            <a:ext cx="4124758" cy="512075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FTP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сървърите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се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използват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за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преместване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на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файлове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от един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компютър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на друг.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Качените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файлове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се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преместват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от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вашия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компютър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към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сървъра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, а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изтеглените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файлове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се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извличат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от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сървъра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на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вашето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устройство.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Протоколът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за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прехвърляне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на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файлове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се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отнася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и за метода на използване на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сървър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за свързване на един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компютър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с друг с цел безопасно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споделяне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 на </a:t>
            </a:r>
            <a:r>
              <a:rPr lang="ru-RU" sz="2400" dirty="0" err="1">
                <a:solidFill>
                  <a:schemeClr val="tx1">
                    <a:alpha val="80000"/>
                  </a:schemeClr>
                </a:solidFill>
              </a:rPr>
              <a:t>данни</a:t>
            </a:r>
            <a:r>
              <a:rPr lang="ru-RU" sz="24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42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D009D6D5-DAC2-4A8B-A17A-E206B9012D0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EACE7A-E505-8D41-E71E-EDF5E569B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+mn-lt"/>
              </a:rPr>
              <a:t>Файлов сървър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EAA0041-2D02-A7F1-5473-E2A02624C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153" y="1755188"/>
            <a:ext cx="4619621" cy="38436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err="1"/>
              <a:t>Файловият</a:t>
            </a:r>
            <a:r>
              <a:rPr lang="ru-RU" sz="2400" dirty="0"/>
              <a:t> </a:t>
            </a:r>
            <a:r>
              <a:rPr lang="ru-RU" sz="2400" dirty="0" err="1"/>
              <a:t>сървър</a:t>
            </a:r>
            <a:r>
              <a:rPr lang="ru-RU" sz="2400" dirty="0"/>
              <a:t> </a:t>
            </a:r>
            <a:r>
              <a:rPr lang="ru-RU" sz="2400" dirty="0" err="1"/>
              <a:t>съхранява</a:t>
            </a:r>
            <a:r>
              <a:rPr lang="ru-RU" sz="2400" dirty="0"/>
              <a:t> </a:t>
            </a:r>
            <a:r>
              <a:rPr lang="ru-RU" sz="2400" dirty="0" err="1"/>
              <a:t>файлове</a:t>
            </a:r>
            <a:r>
              <a:rPr lang="ru-RU" sz="2400" dirty="0"/>
              <a:t> с </a:t>
            </a:r>
            <a:r>
              <a:rPr lang="ru-RU" sz="2400" dirty="0" err="1"/>
              <a:t>данни</a:t>
            </a:r>
            <a:r>
              <a:rPr lang="ru-RU" sz="2400" dirty="0"/>
              <a:t> за множество потребители. Те </a:t>
            </a:r>
            <a:r>
              <a:rPr lang="ru-RU" sz="2400" dirty="0" err="1"/>
              <a:t>позволяват</a:t>
            </a:r>
            <a:r>
              <a:rPr lang="ru-RU" sz="2400" dirty="0"/>
              <a:t> </a:t>
            </a:r>
            <a:r>
              <a:rPr lang="ru-RU" sz="2400" dirty="0" err="1"/>
              <a:t>по-бързо</a:t>
            </a:r>
            <a:r>
              <a:rPr lang="ru-RU" sz="2400" dirty="0"/>
              <a:t> </a:t>
            </a:r>
            <a:r>
              <a:rPr lang="ru-RU" sz="2400" dirty="0" err="1"/>
              <a:t>извличане</a:t>
            </a:r>
            <a:r>
              <a:rPr lang="ru-RU" sz="2400" dirty="0"/>
              <a:t> на </a:t>
            </a:r>
            <a:r>
              <a:rPr lang="ru-RU" sz="2400" dirty="0" err="1"/>
              <a:t>данни</a:t>
            </a:r>
            <a:r>
              <a:rPr lang="ru-RU" sz="2400" dirty="0"/>
              <a:t> и </a:t>
            </a:r>
            <a:r>
              <a:rPr lang="ru-RU" sz="2400" dirty="0" err="1"/>
              <a:t>запазване</a:t>
            </a:r>
            <a:r>
              <a:rPr lang="ru-RU" sz="2400" dirty="0"/>
              <a:t> или записване на </a:t>
            </a:r>
            <a:r>
              <a:rPr lang="ru-RU" sz="2400" dirty="0" err="1"/>
              <a:t>файлове</a:t>
            </a:r>
            <a:r>
              <a:rPr lang="ru-RU" sz="2400" dirty="0"/>
              <a:t> на </a:t>
            </a:r>
            <a:r>
              <a:rPr lang="ru-RU" sz="2400" dirty="0" err="1"/>
              <a:t>компютър</a:t>
            </a:r>
            <a:r>
              <a:rPr lang="ru-RU" sz="2400" dirty="0"/>
              <a:t>. Това е </a:t>
            </a:r>
            <a:r>
              <a:rPr lang="ru-RU" sz="2400" dirty="0" err="1"/>
              <a:t>основен</a:t>
            </a:r>
            <a:r>
              <a:rPr lang="ru-RU" sz="2400" dirty="0"/>
              <a:t> тип </a:t>
            </a:r>
            <a:r>
              <a:rPr lang="ru-RU" sz="2400" dirty="0" err="1"/>
              <a:t>сървър</a:t>
            </a:r>
            <a:r>
              <a:rPr lang="ru-RU" sz="2400" dirty="0"/>
              <a:t>, </a:t>
            </a:r>
            <a:r>
              <a:rPr lang="ru-RU" sz="2400" dirty="0" err="1"/>
              <a:t>който</a:t>
            </a:r>
            <a:r>
              <a:rPr lang="ru-RU" sz="2400" dirty="0"/>
              <a:t> се използва </a:t>
            </a:r>
            <a:r>
              <a:rPr lang="ru-RU" sz="2400" dirty="0" err="1"/>
              <a:t>често</a:t>
            </a:r>
            <a:r>
              <a:rPr lang="ru-RU" sz="2400" dirty="0"/>
              <a:t> от организации, </a:t>
            </a:r>
            <a:r>
              <a:rPr lang="ru-RU" sz="2400" dirty="0" err="1"/>
              <a:t>където</a:t>
            </a:r>
            <a:r>
              <a:rPr lang="ru-RU" sz="2400" dirty="0"/>
              <a:t> много потребители имат нужда от </a:t>
            </a:r>
            <a:r>
              <a:rPr lang="ru-RU" sz="2400" dirty="0" err="1"/>
              <a:t>достъп</a:t>
            </a:r>
            <a:r>
              <a:rPr lang="ru-RU" sz="2400" dirty="0"/>
              <a:t> до </a:t>
            </a:r>
            <a:r>
              <a:rPr lang="ru-RU" sz="2400" dirty="0" err="1"/>
              <a:t>файлове</a:t>
            </a:r>
            <a:r>
              <a:rPr lang="ru-RU" sz="2400" dirty="0"/>
              <a:t>, които се </a:t>
            </a:r>
            <a:r>
              <a:rPr lang="ru-RU" sz="2400" dirty="0" err="1"/>
              <a:t>съхраняват</a:t>
            </a:r>
            <a:r>
              <a:rPr lang="ru-RU" sz="2400" dirty="0"/>
              <a:t> </a:t>
            </a:r>
            <a:r>
              <a:rPr lang="ru-RU" sz="2400" dirty="0" err="1"/>
              <a:t>по-удобно</a:t>
            </a:r>
            <a:r>
              <a:rPr lang="ru-RU" sz="2400" dirty="0"/>
              <a:t> и безопасно на </a:t>
            </a:r>
            <a:r>
              <a:rPr lang="ru-RU" sz="2400" dirty="0" err="1"/>
              <a:t>сървър</a:t>
            </a:r>
            <a:r>
              <a:rPr lang="ru-RU" sz="2400" dirty="0"/>
              <a:t>, </a:t>
            </a:r>
            <a:r>
              <a:rPr lang="ru-RU" sz="2400" dirty="0" err="1"/>
              <a:t>отколкото</a:t>
            </a:r>
            <a:r>
              <a:rPr lang="ru-RU" sz="2400" dirty="0"/>
              <a:t> на </a:t>
            </a:r>
            <a:r>
              <a:rPr lang="ru-RU" sz="2400" dirty="0" err="1"/>
              <a:t>персонален</a:t>
            </a:r>
            <a:r>
              <a:rPr lang="ru-RU" sz="2400" dirty="0"/>
              <a:t> </a:t>
            </a:r>
            <a:r>
              <a:rPr lang="ru-RU" sz="2400" dirty="0" err="1"/>
              <a:t>компютър</a:t>
            </a:r>
            <a:r>
              <a:rPr lang="ru-RU" sz="2400" dirty="0"/>
              <a:t>.</a:t>
            </a:r>
          </a:p>
          <a:p>
            <a:endParaRPr lang="ru-RU" sz="2400" dirty="0"/>
          </a:p>
          <a:p>
            <a:endParaRPr lang="en-US" sz="2400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="" xmlns:a16="http://schemas.microsoft.com/office/drawing/2014/main" id="{CF485A9A-90AB-882B-F48E-8005097891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23" r="20439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0695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D009D6D5-DAC2-4A8B-A17A-E206B9012D0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BF24C232-CAD4-844E-4F3F-19DC62DBF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160" y="681037"/>
            <a:ext cx="5251316" cy="1807305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+mn-lt"/>
              </a:rPr>
              <a:t>Сървър за база данни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99536B1-917D-8D6B-6748-7F0186891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err="1"/>
              <a:t>Сървърите</a:t>
            </a:r>
            <a:r>
              <a:rPr lang="ru-RU" sz="2400" dirty="0"/>
              <a:t> за </a:t>
            </a:r>
            <a:r>
              <a:rPr lang="ru-RU" sz="2400" dirty="0" err="1"/>
              <a:t>бази</a:t>
            </a:r>
            <a:r>
              <a:rPr lang="ru-RU" sz="2400" dirty="0"/>
              <a:t> </a:t>
            </a:r>
            <a:r>
              <a:rPr lang="ru-RU" sz="2400" dirty="0" err="1"/>
              <a:t>данни</a:t>
            </a:r>
            <a:r>
              <a:rPr lang="ru-RU" sz="2400" dirty="0"/>
              <a:t> </a:t>
            </a:r>
            <a:r>
              <a:rPr lang="ru-RU" sz="2400" dirty="0" err="1"/>
              <a:t>функционират</a:t>
            </a:r>
            <a:r>
              <a:rPr lang="ru-RU" sz="2400" dirty="0"/>
              <a:t> като големи пространства за </a:t>
            </a:r>
            <a:r>
              <a:rPr lang="ru-RU" sz="2400" dirty="0" err="1"/>
              <a:t>съхранение</a:t>
            </a:r>
            <a:r>
              <a:rPr lang="ru-RU" sz="2400" dirty="0"/>
              <a:t>, които </a:t>
            </a:r>
            <a:r>
              <a:rPr lang="ru-RU" sz="2400" dirty="0" err="1"/>
              <a:t>организациите</a:t>
            </a:r>
            <a:r>
              <a:rPr lang="ru-RU" sz="2400" dirty="0"/>
              <a:t> </a:t>
            </a:r>
            <a:r>
              <a:rPr lang="ru-RU" sz="2400" dirty="0" err="1"/>
              <a:t>използват</a:t>
            </a:r>
            <a:r>
              <a:rPr lang="ru-RU" sz="2400" dirty="0"/>
              <a:t> и до които имат </a:t>
            </a:r>
            <a:r>
              <a:rPr lang="ru-RU" sz="2400" dirty="0" err="1"/>
              <a:t>достъп</a:t>
            </a:r>
            <a:r>
              <a:rPr lang="ru-RU" sz="2400" dirty="0"/>
              <a:t>, за да </a:t>
            </a:r>
            <a:r>
              <a:rPr lang="ru-RU" sz="2400" dirty="0" err="1"/>
              <a:t>стартират</a:t>
            </a:r>
            <a:r>
              <a:rPr lang="ru-RU" sz="2400" dirty="0"/>
              <a:t> множество </a:t>
            </a:r>
            <a:r>
              <a:rPr lang="ru-RU" sz="2400" dirty="0" err="1"/>
              <a:t>програми</a:t>
            </a:r>
            <a:r>
              <a:rPr lang="ru-RU" sz="2400" dirty="0"/>
              <a:t>, които </a:t>
            </a:r>
            <a:r>
              <a:rPr lang="ru-RU" sz="2400" dirty="0" err="1"/>
              <a:t>отговарят</a:t>
            </a:r>
            <a:r>
              <a:rPr lang="ru-RU" sz="2400" dirty="0"/>
              <a:t> на </a:t>
            </a:r>
            <a:r>
              <a:rPr lang="ru-RU" sz="2400" dirty="0" err="1"/>
              <a:t>техните</a:t>
            </a:r>
            <a:r>
              <a:rPr lang="ru-RU" sz="2400" dirty="0"/>
              <a:t> </a:t>
            </a:r>
            <a:r>
              <a:rPr lang="ru-RU" sz="2400" dirty="0" err="1"/>
              <a:t>нужди</a:t>
            </a:r>
            <a:r>
              <a:rPr lang="ru-RU" sz="2400" dirty="0"/>
              <a:t>. </a:t>
            </a:r>
            <a:r>
              <a:rPr lang="ru-RU" sz="2400" dirty="0" err="1"/>
              <a:t>Сървърът</a:t>
            </a:r>
            <a:r>
              <a:rPr lang="ru-RU" sz="2400" dirty="0"/>
              <a:t> за </a:t>
            </a:r>
            <a:r>
              <a:rPr lang="ru-RU" sz="2400" dirty="0" err="1"/>
              <a:t>бази</a:t>
            </a:r>
            <a:r>
              <a:rPr lang="ru-RU" sz="2400" dirty="0"/>
              <a:t> </a:t>
            </a:r>
            <a:r>
              <a:rPr lang="ru-RU" sz="2400" dirty="0" err="1"/>
              <a:t>данни</a:t>
            </a:r>
            <a:r>
              <a:rPr lang="ru-RU" sz="2400" dirty="0"/>
              <a:t> </a:t>
            </a:r>
            <a:r>
              <a:rPr lang="ru-RU" sz="2400" dirty="0" err="1"/>
              <a:t>може</a:t>
            </a:r>
            <a:r>
              <a:rPr lang="ru-RU" sz="2400" dirty="0"/>
              <a:t> да работи независимо от всяка архитектура на </a:t>
            </a:r>
            <a:r>
              <a:rPr lang="ru-RU" sz="2400" dirty="0" err="1"/>
              <a:t>базата</a:t>
            </a:r>
            <a:r>
              <a:rPr lang="ru-RU" sz="2400" dirty="0"/>
              <a:t> </a:t>
            </a:r>
            <a:r>
              <a:rPr lang="ru-RU" sz="2400" dirty="0" err="1"/>
              <a:t>данни</a:t>
            </a:r>
            <a:r>
              <a:rPr lang="ru-RU" sz="2400" dirty="0"/>
              <a:t>.</a:t>
            </a:r>
          </a:p>
          <a:p>
            <a:endParaRPr lang="ru-RU" sz="2400" dirty="0"/>
          </a:p>
          <a:p>
            <a:endParaRPr lang="en-US" sz="2400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="" xmlns:a16="http://schemas.microsoft.com/office/drawing/2014/main" id="{240CB6D8-E2C3-7321-E823-4D56DEB869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6" r="7138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99898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F13C74B1-5B17-4795-BED0-7140497B44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BF3662C4-E945-2C0F-F73D-BE15D8F57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latin typeface="+mn-lt"/>
              </a:rPr>
              <a:t>Domain Name System (DNS) </a:t>
            </a:r>
            <a:r>
              <a:rPr lang="bg-BG" sz="3200" b="1" dirty="0">
                <a:latin typeface="+mn-lt"/>
              </a:rPr>
              <a:t>сървър</a:t>
            </a:r>
            <a:r>
              <a:rPr lang="en-US" sz="3200" b="1" dirty="0">
                <a:latin typeface="+mn-lt"/>
              </a:rPr>
              <a:t> 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="" xmlns:a16="http://schemas.microsoft.com/office/drawing/2014/main" id="{D4974D33-8DC5-464E-8C6D-BE58F0669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EF08EC1-717E-F316-49BF-6D702216E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Тези </a:t>
            </a:r>
            <a:r>
              <a:rPr lang="ru-RU" sz="2400" dirty="0" err="1"/>
              <a:t>сървъри</a:t>
            </a:r>
            <a:r>
              <a:rPr lang="ru-RU" sz="2400" dirty="0"/>
              <a:t> </a:t>
            </a:r>
            <a:r>
              <a:rPr lang="ru-RU" sz="2400" dirty="0" err="1"/>
              <a:t>преобразуват</a:t>
            </a:r>
            <a:r>
              <a:rPr lang="ru-RU" sz="2400" dirty="0"/>
              <a:t> </a:t>
            </a:r>
            <a:r>
              <a:rPr lang="ru-RU" sz="2400" dirty="0" err="1"/>
              <a:t>четими</a:t>
            </a:r>
            <a:r>
              <a:rPr lang="ru-RU" sz="2400" dirty="0"/>
              <a:t> имена на </a:t>
            </a:r>
            <a:r>
              <a:rPr lang="ru-RU" sz="2400" dirty="0" err="1"/>
              <a:t>компютърни</a:t>
            </a:r>
            <a:r>
              <a:rPr lang="ru-RU" sz="2400" dirty="0"/>
              <a:t> </a:t>
            </a:r>
            <a:r>
              <a:rPr lang="ru-RU" sz="2400" dirty="0" err="1"/>
              <a:t>домейни</a:t>
            </a:r>
            <a:r>
              <a:rPr lang="ru-RU" sz="2400" dirty="0"/>
              <a:t> в IP </a:t>
            </a:r>
            <a:r>
              <a:rPr lang="ru-RU" sz="2400" dirty="0" err="1"/>
              <a:t>адреси</a:t>
            </a:r>
            <a:r>
              <a:rPr lang="ru-RU" sz="2400" dirty="0"/>
              <a:t> на </a:t>
            </a:r>
            <a:r>
              <a:rPr lang="ru-RU" sz="2400" dirty="0" err="1"/>
              <a:t>компютърен</a:t>
            </a:r>
            <a:r>
              <a:rPr lang="ru-RU" sz="2400" dirty="0"/>
              <a:t> </a:t>
            </a:r>
            <a:r>
              <a:rPr lang="ru-RU" sz="2400" dirty="0" err="1"/>
              <a:t>език</a:t>
            </a:r>
            <a:r>
              <a:rPr lang="ru-RU" sz="2400" dirty="0"/>
              <a:t>. DNS </a:t>
            </a:r>
            <a:r>
              <a:rPr lang="ru-RU" sz="2400" dirty="0" err="1"/>
              <a:t>сървърът</a:t>
            </a:r>
            <a:r>
              <a:rPr lang="ru-RU" sz="2400" dirty="0"/>
              <a:t> приема </a:t>
            </a:r>
            <a:r>
              <a:rPr lang="ru-RU" sz="2400" dirty="0" err="1"/>
              <a:t>данните</a:t>
            </a:r>
            <a:r>
              <a:rPr lang="ru-RU" sz="2400" dirty="0"/>
              <a:t> за </a:t>
            </a:r>
            <a:r>
              <a:rPr lang="ru-RU" sz="2400" dirty="0" err="1"/>
              <a:t>търсене</a:t>
            </a:r>
            <a:r>
              <a:rPr lang="ru-RU" sz="2400" dirty="0"/>
              <a:t> от потребителя и </a:t>
            </a:r>
            <a:r>
              <a:rPr lang="ru-RU" sz="2400" dirty="0" err="1"/>
              <a:t>намира</a:t>
            </a:r>
            <a:r>
              <a:rPr lang="ru-RU" sz="2400" dirty="0"/>
              <a:t> искания адрес, за да го </a:t>
            </a:r>
            <a:r>
              <a:rPr lang="ru-RU" sz="2400" dirty="0" err="1"/>
              <a:t>предостави</a:t>
            </a:r>
            <a:r>
              <a:rPr lang="ru-RU" sz="2400" dirty="0"/>
              <a:t> на </a:t>
            </a:r>
            <a:r>
              <a:rPr lang="ru-RU" sz="2400" dirty="0" err="1"/>
              <a:t>клиентското</a:t>
            </a:r>
            <a:r>
              <a:rPr lang="ru-RU" sz="2400" dirty="0"/>
              <a:t> устройство.</a:t>
            </a:r>
          </a:p>
          <a:p>
            <a:endParaRPr lang="ru-RU" sz="2400" dirty="0"/>
          </a:p>
          <a:p>
            <a:endParaRPr lang="en-US" sz="2400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="" xmlns:a16="http://schemas.microsoft.com/office/drawing/2014/main" id="{036EA215-3DD3-FEE4-1B67-A15EBD7D91F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11" r="11567" b="-1"/>
          <a:stretch/>
        </p:blipFill>
        <p:spPr>
          <a:xfrm>
            <a:off x="5330752" y="-3809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93934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>
            <a:extLst>
              <a:ext uri="{FF2B5EF4-FFF2-40B4-BE49-F238E27FC236}">
                <a16:creationId xmlns="" xmlns:a16="http://schemas.microsoft.com/office/drawing/2014/main" id="{2B566528-1B12-4246-9431-5C2D7D0811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CD6A78-4015-2A17-ACC5-FADBA9726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705" y="492882"/>
            <a:ext cx="10905066" cy="1135737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+mn-lt"/>
              </a:rPr>
              <a:t>Сървър за принтиране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8DD1C59-D240-388D-3E6F-E69D65199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219" y="1779204"/>
            <a:ext cx="4008384" cy="43939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err="1"/>
              <a:t>Сървърът</a:t>
            </a:r>
            <a:r>
              <a:rPr lang="ru-RU" sz="2400" dirty="0"/>
              <a:t> за </a:t>
            </a:r>
            <a:r>
              <a:rPr lang="ru-RU" sz="2400" dirty="0" err="1"/>
              <a:t>принтиране</a:t>
            </a:r>
            <a:r>
              <a:rPr lang="ru-RU" sz="2400" dirty="0"/>
              <a:t> се </a:t>
            </a:r>
            <a:r>
              <a:rPr lang="ru-RU" sz="2400" dirty="0" err="1"/>
              <a:t>свързва</a:t>
            </a:r>
            <a:r>
              <a:rPr lang="ru-RU" sz="2400" dirty="0"/>
              <a:t> </a:t>
            </a:r>
            <a:r>
              <a:rPr lang="ru-RU" sz="2400" dirty="0" err="1"/>
              <a:t>отдалечено</a:t>
            </a:r>
            <a:r>
              <a:rPr lang="ru-RU" sz="2400" dirty="0"/>
              <a:t> с </a:t>
            </a:r>
            <a:r>
              <a:rPr lang="ru-RU" sz="2400" dirty="0" err="1"/>
              <a:t>местните</a:t>
            </a:r>
            <a:r>
              <a:rPr lang="ru-RU" sz="2400" dirty="0"/>
              <a:t> </a:t>
            </a:r>
            <a:r>
              <a:rPr lang="ru-RU" sz="2400" dirty="0" err="1"/>
              <a:t>компютри</a:t>
            </a:r>
            <a:r>
              <a:rPr lang="ru-RU" sz="2400" dirty="0"/>
              <a:t>, за да </a:t>
            </a:r>
            <a:r>
              <a:rPr lang="ru-RU" sz="2400" dirty="0" err="1"/>
              <a:t>печата</a:t>
            </a:r>
            <a:r>
              <a:rPr lang="ru-RU" sz="2400" dirty="0"/>
              <a:t> чрез </a:t>
            </a:r>
            <a:r>
              <a:rPr lang="ru-RU" sz="2400" dirty="0" err="1"/>
              <a:t>мрежата</a:t>
            </a:r>
            <a:r>
              <a:rPr lang="ru-RU" sz="2400" dirty="0"/>
              <a:t>. Тези </a:t>
            </a:r>
            <a:r>
              <a:rPr lang="ru-RU" sz="2400" dirty="0" err="1"/>
              <a:t>сървъри</a:t>
            </a:r>
            <a:r>
              <a:rPr lang="ru-RU" sz="2400" dirty="0"/>
              <a:t> </a:t>
            </a:r>
            <a:r>
              <a:rPr lang="ru-RU" sz="2400" dirty="0" err="1"/>
              <a:t>дават</a:t>
            </a:r>
            <a:r>
              <a:rPr lang="ru-RU" sz="2400" dirty="0"/>
              <a:t> </a:t>
            </a:r>
            <a:r>
              <a:rPr lang="ru-RU" sz="2400" dirty="0" err="1"/>
              <a:t>възможност</a:t>
            </a:r>
            <a:r>
              <a:rPr lang="ru-RU" sz="2400" dirty="0"/>
              <a:t> на </a:t>
            </a:r>
            <a:r>
              <a:rPr lang="ru-RU" sz="2400" dirty="0" err="1"/>
              <a:t>фирмите</a:t>
            </a:r>
            <a:r>
              <a:rPr lang="ru-RU" sz="2400" dirty="0"/>
              <a:t> да </a:t>
            </a:r>
            <a:r>
              <a:rPr lang="ru-RU" sz="2400" dirty="0" err="1"/>
              <a:t>използват</a:t>
            </a:r>
            <a:r>
              <a:rPr lang="ru-RU" sz="2400" dirty="0"/>
              <a:t> един принтер за </a:t>
            </a:r>
            <a:r>
              <a:rPr lang="ru-RU" sz="2400" dirty="0" err="1"/>
              <a:t>обслужване</a:t>
            </a:r>
            <a:r>
              <a:rPr lang="ru-RU" sz="2400" dirty="0"/>
              <a:t> на </a:t>
            </a:r>
            <a:r>
              <a:rPr lang="ru-RU" sz="2400" dirty="0" err="1"/>
              <a:t>цял</a:t>
            </a:r>
            <a:r>
              <a:rPr lang="ru-RU" sz="2400" dirty="0"/>
              <a:t> отдел. Някои </a:t>
            </a:r>
            <a:r>
              <a:rPr lang="ru-RU" sz="2400" dirty="0" err="1"/>
              <a:t>принтери</a:t>
            </a:r>
            <a:r>
              <a:rPr lang="ru-RU" sz="2400" dirty="0"/>
              <a:t> </a:t>
            </a:r>
            <a:r>
              <a:rPr lang="ru-RU" sz="2400" dirty="0" err="1"/>
              <a:t>дори</a:t>
            </a:r>
            <a:r>
              <a:rPr lang="ru-RU" sz="2400" dirty="0"/>
              <a:t> се доставят </a:t>
            </a:r>
            <a:r>
              <a:rPr lang="ru-RU" sz="2400" dirty="0" err="1"/>
              <a:t>със</a:t>
            </a:r>
            <a:r>
              <a:rPr lang="ru-RU" sz="2400" dirty="0"/>
              <a:t> </a:t>
            </a:r>
            <a:r>
              <a:rPr lang="ru-RU" sz="2400" dirty="0" err="1"/>
              <a:t>собствен</a:t>
            </a:r>
            <a:r>
              <a:rPr lang="ru-RU" sz="2400" dirty="0"/>
              <a:t> </a:t>
            </a:r>
            <a:r>
              <a:rPr lang="ru-RU" sz="2400" dirty="0" err="1"/>
              <a:t>вграден</a:t>
            </a:r>
            <a:r>
              <a:rPr lang="ru-RU" sz="2400" dirty="0"/>
              <a:t> </a:t>
            </a:r>
            <a:r>
              <a:rPr lang="ru-RU" sz="2400" dirty="0" err="1"/>
              <a:t>сървър</a:t>
            </a:r>
            <a:r>
              <a:rPr lang="ru-RU" sz="2400" dirty="0"/>
              <a:t>, готов да се </a:t>
            </a:r>
            <a:r>
              <a:rPr lang="ru-RU" sz="2400" dirty="0" err="1"/>
              <a:t>присъедини</a:t>
            </a:r>
            <a:r>
              <a:rPr lang="ru-RU" sz="2400" dirty="0"/>
              <a:t> към </a:t>
            </a:r>
            <a:r>
              <a:rPr lang="ru-RU" sz="2400" dirty="0" err="1"/>
              <a:t>мрежата</a:t>
            </a:r>
            <a:r>
              <a:rPr lang="ru-RU" sz="2400" dirty="0"/>
              <a:t>, след като </a:t>
            </a:r>
            <a:r>
              <a:rPr lang="ru-RU" sz="2400" dirty="0" err="1"/>
              <a:t>бъде</a:t>
            </a:r>
            <a:r>
              <a:rPr lang="ru-RU" sz="2400" dirty="0"/>
              <a:t> </a:t>
            </a:r>
            <a:r>
              <a:rPr lang="ru-RU" sz="2400" dirty="0" err="1"/>
              <a:t>инсталиран</a:t>
            </a:r>
            <a:r>
              <a:rPr lang="ru-RU" sz="2400" dirty="0"/>
              <a:t> в офиса.</a:t>
            </a:r>
          </a:p>
          <a:p>
            <a:endParaRPr lang="ru-RU" sz="2400" dirty="0"/>
          </a:p>
          <a:p>
            <a:endParaRPr lang="en-US" sz="2400" dirty="0"/>
          </a:p>
        </p:txBody>
      </p:sp>
      <p:grpSp>
        <p:nvGrpSpPr>
          <p:cNvPr id="19" name="Group 11">
            <a:extLst>
              <a:ext uri="{FF2B5EF4-FFF2-40B4-BE49-F238E27FC236}">
                <a16:creationId xmlns="" xmlns:a16="http://schemas.microsoft.com/office/drawing/2014/main" id="{828A5161-06F1-46CF-8AD7-844680A59E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3" name="Isosceles Triangle 12">
              <a:extLst>
                <a:ext uri="{FF2B5EF4-FFF2-40B4-BE49-F238E27FC236}">
                  <a16:creationId xmlns="" xmlns:a16="http://schemas.microsoft.com/office/drawing/2014/main" id="{D3F51FEB-38FB-4F6C-9F7B-2F2AFAB6546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1E547BA6-BAE0-43BB-A7CA-60F69CE252F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Diagram&#10;&#10;Description automatically generated">
            <a:extLst>
              <a:ext uri="{FF2B5EF4-FFF2-40B4-BE49-F238E27FC236}">
                <a16:creationId xmlns="" xmlns:a16="http://schemas.microsoft.com/office/drawing/2014/main" id="{A9EC494A-D67D-80AE-4A9F-9CB3E2392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320" y="2236477"/>
            <a:ext cx="6253212" cy="345489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5995D10D-E9C9-47DB-AE7E-801FEF38F5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7" name="Rectangle 16">
              <a:extLst>
                <a:ext uri="{FF2B5EF4-FFF2-40B4-BE49-F238E27FC236}">
                  <a16:creationId xmlns="" xmlns:a16="http://schemas.microsoft.com/office/drawing/2014/main" id="{CC1A72C6-3DE4-4EC3-9AD5-9E0D40D8CE8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="" xmlns:a16="http://schemas.microsoft.com/office/drawing/2014/main" id="{0B0DA1F1-C391-4EDF-9FE0-23E86E13776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6169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7CF9851-7CD1-8586-E00E-D995060FD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bg-BG" sz="3200" b="1" dirty="0" smtClean="0">
                <a:latin typeface="+mn-lt"/>
              </a:rPr>
              <a:t>Подбор </a:t>
            </a:r>
            <a:r>
              <a:rPr lang="bg-BG" sz="3200" b="1" dirty="0">
                <a:latin typeface="+mn-lt"/>
              </a:rPr>
              <a:t>на компоненти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47755FB-6D6D-6761-C02A-CD719E68E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g-BG" sz="2400" dirty="0"/>
              <a:t>Най – важните компоненти са: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sz="2400" dirty="0"/>
              <a:t>Дънна платка - </a:t>
            </a:r>
            <a:r>
              <a:rPr lang="ru-RU" sz="2400" dirty="0" err="1"/>
              <a:t>Дънната</a:t>
            </a:r>
            <a:r>
              <a:rPr lang="ru-RU" sz="2400" dirty="0"/>
              <a:t> платка е платка, която </a:t>
            </a:r>
            <a:r>
              <a:rPr lang="ru-RU" sz="2400" dirty="0" err="1"/>
              <a:t>свързва</a:t>
            </a:r>
            <a:r>
              <a:rPr lang="ru-RU" sz="2400" dirty="0"/>
              <a:t> всички </a:t>
            </a:r>
            <a:r>
              <a:rPr lang="ru-RU" sz="2400" dirty="0" err="1"/>
              <a:t>компоненти</a:t>
            </a:r>
            <a:r>
              <a:rPr lang="ru-RU" sz="2400" dirty="0"/>
              <a:t> на </a:t>
            </a:r>
            <a:r>
              <a:rPr lang="ru-RU" sz="2400" dirty="0" err="1"/>
              <a:t>сървъра</a:t>
            </a:r>
            <a:r>
              <a:rPr lang="ru-RU" sz="2400" dirty="0"/>
              <a:t>. </a:t>
            </a:r>
            <a:r>
              <a:rPr lang="ru-RU" sz="2400" dirty="0" err="1"/>
              <a:t>Дънната</a:t>
            </a:r>
            <a:r>
              <a:rPr lang="ru-RU" sz="2400" dirty="0"/>
              <a:t> платка е </a:t>
            </a:r>
            <a:r>
              <a:rPr lang="ru-RU" sz="2400" dirty="0" err="1"/>
              <a:t>сърцето</a:t>
            </a:r>
            <a:r>
              <a:rPr lang="ru-RU" sz="2400" dirty="0"/>
              <a:t> на </a:t>
            </a:r>
            <a:r>
              <a:rPr lang="ru-RU" sz="2400" dirty="0" err="1"/>
              <a:t>сървъра</a:t>
            </a:r>
            <a:r>
              <a:rPr lang="ru-RU" sz="2400" dirty="0"/>
              <a:t>.</a:t>
            </a:r>
            <a:endParaRPr lang="bg-BG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bg-BG" sz="2400" dirty="0"/>
              <a:t>Процесор – </a:t>
            </a:r>
            <a:r>
              <a:rPr lang="ru-RU" sz="2400" dirty="0" err="1"/>
              <a:t>Когато</a:t>
            </a:r>
            <a:r>
              <a:rPr lang="ru-RU" sz="2400" dirty="0"/>
              <a:t> става </a:t>
            </a:r>
            <a:r>
              <a:rPr lang="ru-RU" sz="2400" dirty="0" err="1"/>
              <a:t>въпрос</a:t>
            </a:r>
            <a:r>
              <a:rPr lang="ru-RU" sz="2400" dirty="0"/>
              <a:t> за </a:t>
            </a:r>
            <a:r>
              <a:rPr lang="bg-BG" sz="2400" dirty="0"/>
              <a:t>бързодействието</a:t>
            </a:r>
            <a:r>
              <a:rPr lang="ru-RU" sz="2400" dirty="0"/>
              <a:t>, </a:t>
            </a:r>
            <a:r>
              <a:rPr lang="ru-RU" sz="2400" dirty="0" err="1"/>
              <a:t>процесорът</a:t>
            </a:r>
            <a:r>
              <a:rPr lang="ru-RU" sz="2400" dirty="0"/>
              <a:t> </a:t>
            </a:r>
            <a:r>
              <a:rPr lang="ru-RU" sz="2400" dirty="0" err="1"/>
              <a:t>често</a:t>
            </a:r>
            <a:r>
              <a:rPr lang="ru-RU" sz="2400" dirty="0"/>
              <a:t> е </a:t>
            </a:r>
            <a:r>
              <a:rPr lang="ru-RU" sz="2400" dirty="0" err="1"/>
              <a:t>първият</a:t>
            </a:r>
            <a:r>
              <a:rPr lang="ru-RU" sz="2400" dirty="0"/>
              <a:t> компонент, за </a:t>
            </a:r>
            <a:r>
              <a:rPr lang="ru-RU" sz="2400" dirty="0" err="1"/>
              <a:t>който</a:t>
            </a:r>
            <a:r>
              <a:rPr lang="ru-RU" sz="2400" dirty="0"/>
              <a:t> се </a:t>
            </a:r>
            <a:r>
              <a:rPr lang="ru-RU" sz="2400" dirty="0" err="1"/>
              <a:t>сещаме</a:t>
            </a:r>
            <a:r>
              <a:rPr lang="ru-RU" sz="2400" dirty="0"/>
              <a:t>.</a:t>
            </a:r>
            <a:endParaRPr lang="bg-BG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RAM - </a:t>
            </a:r>
            <a:r>
              <a:rPr lang="ru-RU" sz="2400" dirty="0"/>
              <a:t>Той е от </a:t>
            </a:r>
            <a:r>
              <a:rPr lang="ru-RU" sz="2400" dirty="0" err="1"/>
              <a:t>решаващо</a:t>
            </a:r>
            <a:r>
              <a:rPr lang="ru-RU" sz="2400" dirty="0"/>
              <a:t> значение за </a:t>
            </a:r>
            <a:r>
              <a:rPr lang="ru-RU" sz="2400" dirty="0" err="1"/>
              <a:t>бързодействието</a:t>
            </a:r>
            <a:r>
              <a:rPr lang="ru-RU" sz="2400" dirty="0"/>
              <a:t> на </a:t>
            </a:r>
            <a:r>
              <a:rPr lang="ru-RU" sz="2400" dirty="0" err="1"/>
              <a:t>сървърa</a:t>
            </a:r>
            <a:r>
              <a:rPr lang="ru-RU" sz="2400" dirty="0"/>
              <a:t> и </a:t>
            </a:r>
            <a:r>
              <a:rPr lang="ru-RU" sz="2400" dirty="0" err="1"/>
              <a:t>количеството</a:t>
            </a:r>
            <a:r>
              <a:rPr lang="ru-RU" sz="2400" dirty="0"/>
              <a:t>, трябва да се </a:t>
            </a:r>
            <a:r>
              <a:rPr lang="ru-RU" sz="2400" dirty="0" err="1"/>
              <a:t>увеличава</a:t>
            </a:r>
            <a:r>
              <a:rPr lang="ru-RU" sz="2400" dirty="0"/>
              <a:t> </a:t>
            </a:r>
            <a:r>
              <a:rPr lang="ru-RU" sz="2400" dirty="0" err="1"/>
              <a:t>според</a:t>
            </a:r>
            <a:r>
              <a:rPr lang="ru-RU" sz="2400" dirty="0"/>
              <a:t> </a:t>
            </a:r>
            <a:r>
              <a:rPr lang="ru-RU" sz="2400" dirty="0" err="1"/>
              <a:t>конкретните</a:t>
            </a:r>
            <a:r>
              <a:rPr lang="ru-RU" sz="2400" dirty="0"/>
              <a:t> </a:t>
            </a:r>
            <a:r>
              <a:rPr lang="ru-RU" sz="2400" dirty="0" err="1"/>
              <a:t>нужди</a:t>
            </a:r>
            <a:r>
              <a:rPr lang="ru-RU" sz="2400" dirty="0"/>
              <a:t>.</a:t>
            </a:r>
            <a:endParaRPr lang="en-US" sz="2400" dirty="0"/>
          </a:p>
        </p:txBody>
      </p:sp>
      <p:pic>
        <p:nvPicPr>
          <p:cNvPr id="5" name="Picture 4" descr="A picture containing text, indoor, computer, vending machine&#10;&#10;Description automatically generated">
            <a:extLst>
              <a:ext uri="{FF2B5EF4-FFF2-40B4-BE49-F238E27FC236}">
                <a16:creationId xmlns="" xmlns:a16="http://schemas.microsoft.com/office/drawing/2014/main" id="{01C623B2-9BDA-70F3-68BE-49C1D712DB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10" r="43300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4" name="Straight Connector 9">
            <a:extLst>
              <a:ext uri="{FF2B5EF4-FFF2-40B4-BE49-F238E27FC236}">
                <a16:creationId xmlns="" xmlns:a16="http://schemas.microsoft.com/office/drawing/2014/main" id="{A7F400EE-A8A5-48AF-B4D6-291B52C6F0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2980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573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04812C46-200A-4DEB-A05E-3ED6C68C23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text, electronics, circuit&#10;&#10;Description automatically generated">
            <a:extLst>
              <a:ext uri="{FF2B5EF4-FFF2-40B4-BE49-F238E27FC236}">
                <a16:creationId xmlns="" xmlns:a16="http://schemas.microsoft.com/office/drawing/2014/main" id="{56734356-03E1-FFA2-C72A-B42F423BEF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9" r="9230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D1EA859B-E555-4109-94F3-6700E046E0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B12852E-ECE1-2404-EDAE-1F86F3194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+mn-lt"/>
              </a:rPr>
              <a:t>Защита на сървър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CDCE242-6FB5-B3AC-9BDA-CE06C1933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4688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err="1"/>
              <a:t>Сигурността</a:t>
            </a:r>
            <a:r>
              <a:rPr lang="ru-RU" sz="2400" dirty="0"/>
              <a:t> на </a:t>
            </a:r>
            <a:r>
              <a:rPr lang="ru-RU" sz="2400" dirty="0" err="1"/>
              <a:t>сървърите</a:t>
            </a:r>
            <a:r>
              <a:rPr lang="ru-RU" sz="2400" dirty="0"/>
              <a:t> се </a:t>
            </a:r>
            <a:r>
              <a:rPr lang="ru-RU" sz="2400" dirty="0" err="1"/>
              <a:t>фокусира</a:t>
            </a:r>
            <a:r>
              <a:rPr lang="ru-RU" sz="2400" dirty="0"/>
              <a:t> върху </a:t>
            </a:r>
            <a:r>
              <a:rPr lang="ru-RU" sz="2400" dirty="0" err="1"/>
              <a:t>защитата</a:t>
            </a:r>
            <a:r>
              <a:rPr lang="ru-RU" sz="2400" dirty="0"/>
              <a:t> на </a:t>
            </a:r>
            <a:r>
              <a:rPr lang="ru-RU" sz="2400" dirty="0" err="1"/>
              <a:t>данните</a:t>
            </a:r>
            <a:r>
              <a:rPr lang="ru-RU" sz="2400" dirty="0"/>
              <a:t> и </a:t>
            </a:r>
            <a:r>
              <a:rPr lang="ru-RU" sz="2400" dirty="0" err="1"/>
              <a:t>ресурсите</a:t>
            </a:r>
            <a:r>
              <a:rPr lang="ru-RU" sz="2400" dirty="0"/>
              <a:t>, </a:t>
            </a:r>
            <a:r>
              <a:rPr lang="ru-RU" sz="2400" dirty="0" err="1"/>
              <a:t>съхранявани</a:t>
            </a:r>
            <a:r>
              <a:rPr lang="ru-RU" sz="2400" dirty="0"/>
              <a:t> на </a:t>
            </a:r>
            <a:r>
              <a:rPr lang="ru-RU" sz="2400" dirty="0" err="1"/>
              <a:t>сървърите</a:t>
            </a:r>
            <a:r>
              <a:rPr lang="ru-RU" sz="2400" dirty="0"/>
              <a:t>. </a:t>
            </a:r>
            <a:r>
              <a:rPr lang="ru-RU" sz="2400" dirty="0" err="1"/>
              <a:t>Тя</a:t>
            </a:r>
            <a:r>
              <a:rPr lang="ru-RU" sz="2400" dirty="0"/>
              <a:t> се </a:t>
            </a:r>
            <a:r>
              <a:rPr lang="ru-RU" sz="2400" dirty="0" err="1"/>
              <a:t>състои</a:t>
            </a:r>
            <a:r>
              <a:rPr lang="ru-RU" sz="2400" dirty="0"/>
              <a:t> от инструменти и техники, които </a:t>
            </a:r>
            <a:r>
              <a:rPr lang="ru-RU" sz="2400" dirty="0" err="1"/>
              <a:t>помагат</a:t>
            </a:r>
            <a:r>
              <a:rPr lang="ru-RU" sz="2400" dirty="0"/>
              <a:t> за </a:t>
            </a:r>
            <a:r>
              <a:rPr lang="ru-RU" sz="2400" dirty="0" err="1"/>
              <a:t>предотвратяване</a:t>
            </a:r>
            <a:r>
              <a:rPr lang="ru-RU" sz="2400" dirty="0"/>
              <a:t> на </a:t>
            </a:r>
            <a:r>
              <a:rPr lang="ru-RU" sz="2400" dirty="0" err="1"/>
              <a:t>прониквания</a:t>
            </a:r>
            <a:r>
              <a:rPr lang="ru-RU" sz="2400" dirty="0"/>
              <a:t>, </a:t>
            </a:r>
            <a:r>
              <a:rPr lang="ru-RU" sz="2400" dirty="0" err="1"/>
              <a:t>хакерски</a:t>
            </a:r>
            <a:r>
              <a:rPr lang="ru-RU" sz="2400" dirty="0"/>
              <a:t> атаки и </a:t>
            </a:r>
            <a:r>
              <a:rPr lang="ru-RU" sz="2400" dirty="0" err="1"/>
              <a:t>други</a:t>
            </a:r>
            <a:r>
              <a:rPr lang="ru-RU" sz="2400" dirty="0"/>
              <a:t> </a:t>
            </a:r>
            <a:r>
              <a:rPr lang="ru-RU" sz="2400" dirty="0" err="1"/>
              <a:t>злонамерени</a:t>
            </a:r>
            <a:r>
              <a:rPr lang="ru-RU" sz="2400" dirty="0"/>
              <a:t> действия.</a:t>
            </a:r>
          </a:p>
          <a:p>
            <a:endParaRPr lang="ru-RU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20443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="" xmlns:a16="http://schemas.microsoft.com/office/drawing/2014/main" id="{91F32EBA-ED97-466E-8CFA-8382584155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D90EB4B1-1593-AA8B-C9CD-98C453B16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341191"/>
            <a:ext cx="5130795" cy="1461778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+mn-lt"/>
              </a:rPr>
              <a:t>Практики за добра защита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E751F8E-E2AC-3F8C-F10A-627F72C3F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013" y="1802969"/>
            <a:ext cx="4779356" cy="35362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err="1"/>
              <a:t>Добрите</a:t>
            </a:r>
            <a:r>
              <a:rPr lang="ru-RU" sz="2400" dirty="0"/>
              <a:t> практики за управление </a:t>
            </a:r>
            <a:r>
              <a:rPr lang="ru-RU" sz="2400" dirty="0" err="1"/>
              <a:t>могат</a:t>
            </a:r>
            <a:r>
              <a:rPr lang="ru-RU" sz="2400" dirty="0"/>
              <a:t> да </a:t>
            </a:r>
            <a:r>
              <a:rPr lang="ru-RU" sz="2400" dirty="0" err="1"/>
              <a:t>помогнат</a:t>
            </a:r>
            <a:r>
              <a:rPr lang="ru-RU" sz="2400" dirty="0"/>
              <a:t> за </a:t>
            </a:r>
            <a:r>
              <a:rPr lang="ru-RU" sz="2400" dirty="0" err="1"/>
              <a:t>подобряване</a:t>
            </a:r>
            <a:r>
              <a:rPr lang="ru-RU" sz="2400" dirty="0"/>
              <a:t> на </a:t>
            </a:r>
            <a:r>
              <a:rPr lang="ru-RU" sz="2400" dirty="0" err="1"/>
              <a:t>сигурността</a:t>
            </a:r>
            <a:r>
              <a:rPr lang="ru-RU" sz="2400" dirty="0"/>
              <a:t> на </a:t>
            </a:r>
            <a:r>
              <a:rPr lang="ru-RU" sz="2400" dirty="0" err="1"/>
              <a:t>сървърите</a:t>
            </a:r>
            <a:r>
              <a:rPr lang="ru-RU" sz="2400" dirty="0"/>
              <a:t> и </a:t>
            </a:r>
            <a:r>
              <a:rPr lang="ru-RU" sz="2400" dirty="0" err="1"/>
              <a:t>мрежите</a:t>
            </a:r>
            <a:r>
              <a:rPr lang="ru-RU" sz="2400" dirty="0"/>
              <a:t>. Те трябва да:</a:t>
            </a:r>
          </a:p>
          <a:p>
            <a:r>
              <a:rPr lang="bg-BG" sz="2400" dirty="0"/>
              <a:t>са </a:t>
            </a:r>
            <a:r>
              <a:rPr lang="bg-BG" sz="2400" dirty="0" smtClean="0"/>
              <a:t>заключени;</a:t>
            </a:r>
            <a:endParaRPr lang="bg-BG" sz="2400" dirty="0"/>
          </a:p>
          <a:p>
            <a:r>
              <a:rPr lang="ru-RU" sz="2400" dirty="0"/>
              <a:t>се наблюдават и да се ограничава достъпа до </a:t>
            </a:r>
            <a:r>
              <a:rPr lang="ru-RU" sz="2400" dirty="0" smtClean="0"/>
              <a:t>тях;</a:t>
            </a:r>
            <a:endParaRPr lang="ru-RU" sz="2400" dirty="0"/>
          </a:p>
          <a:p>
            <a:r>
              <a:rPr lang="ru-RU" sz="2400" dirty="0"/>
              <a:t>се </a:t>
            </a:r>
            <a:r>
              <a:rPr lang="ru-RU" sz="2400" dirty="0" err="1"/>
              <a:t>наблюдават</a:t>
            </a:r>
            <a:r>
              <a:rPr lang="ru-RU" sz="2400" dirty="0"/>
              <a:t> </a:t>
            </a:r>
            <a:r>
              <a:rPr lang="ru-RU" sz="2400" dirty="0" err="1"/>
              <a:t>докладите</a:t>
            </a:r>
            <a:r>
              <a:rPr lang="ru-RU" sz="2400" dirty="0"/>
              <a:t> на </a:t>
            </a:r>
            <a:r>
              <a:rPr lang="ru-RU" sz="2400" dirty="0" err="1"/>
              <a:t>сървъра</a:t>
            </a:r>
            <a:r>
              <a:rPr lang="ru-RU" sz="2400" dirty="0"/>
              <a:t>, като например </a:t>
            </a:r>
            <a:r>
              <a:rPr lang="ru-RU" sz="2400" dirty="0" err="1"/>
              <a:t>регистри</a:t>
            </a:r>
            <a:r>
              <a:rPr lang="ru-RU" sz="2400" dirty="0"/>
              <a:t> за </a:t>
            </a:r>
            <a:r>
              <a:rPr lang="ru-RU" sz="2400" dirty="0" err="1"/>
              <a:t>сигурността</a:t>
            </a:r>
            <a:r>
              <a:rPr lang="ru-RU" sz="2400" dirty="0"/>
              <a:t>.</a:t>
            </a:r>
          </a:p>
          <a:p>
            <a:endParaRPr lang="ru-RU" sz="2400" dirty="0"/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9EB8EE3-C7F3-6C28-1889-0630B71BD5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69" r="8643" b="1"/>
          <a:stretch/>
        </p:blipFill>
        <p:spPr>
          <a:xfrm>
            <a:off x="5510369" y="851517"/>
            <a:ext cx="6184807" cy="5154967"/>
          </a:xfrm>
          <a:custGeom>
            <a:avLst/>
            <a:gdLst/>
            <a:ahLst/>
            <a:cxnLst/>
            <a:rect l="l" t="t" r="r" b="b"/>
            <a:pathLst>
              <a:path w="5846002" h="4872577">
                <a:moveTo>
                  <a:pt x="343285" y="2953992"/>
                </a:moveTo>
                <a:cubicBezTo>
                  <a:pt x="343285" y="2953992"/>
                  <a:pt x="343285" y="2953992"/>
                  <a:pt x="849063" y="2953992"/>
                </a:cubicBezTo>
                <a:cubicBezTo>
                  <a:pt x="880743" y="2953992"/>
                  <a:pt x="911330" y="2971406"/>
                  <a:pt x="926624" y="2999703"/>
                </a:cubicBezTo>
                <a:cubicBezTo>
                  <a:pt x="926624" y="2999703"/>
                  <a:pt x="926624" y="2999703"/>
                  <a:pt x="1180059" y="3436136"/>
                </a:cubicBezTo>
                <a:cubicBezTo>
                  <a:pt x="1196445" y="3463345"/>
                  <a:pt x="1196445" y="3498172"/>
                  <a:pt x="1180059" y="3525382"/>
                </a:cubicBezTo>
                <a:cubicBezTo>
                  <a:pt x="1180059" y="3525382"/>
                  <a:pt x="1180059" y="3525382"/>
                  <a:pt x="926624" y="3961814"/>
                </a:cubicBezTo>
                <a:cubicBezTo>
                  <a:pt x="911330" y="3990111"/>
                  <a:pt x="880743" y="4007525"/>
                  <a:pt x="849063" y="4007525"/>
                </a:cubicBezTo>
                <a:cubicBezTo>
                  <a:pt x="849063" y="4007525"/>
                  <a:pt x="849063" y="4007525"/>
                  <a:pt x="343285" y="4007525"/>
                </a:cubicBezTo>
                <a:cubicBezTo>
                  <a:pt x="310513" y="4007525"/>
                  <a:pt x="281019" y="3990111"/>
                  <a:pt x="264633" y="3961814"/>
                </a:cubicBezTo>
                <a:cubicBezTo>
                  <a:pt x="264633" y="3961814"/>
                  <a:pt x="264633" y="3961814"/>
                  <a:pt x="12290" y="3525382"/>
                </a:cubicBezTo>
                <a:cubicBezTo>
                  <a:pt x="-4096" y="3498172"/>
                  <a:pt x="-4096" y="3463345"/>
                  <a:pt x="12290" y="3436136"/>
                </a:cubicBezTo>
                <a:cubicBezTo>
                  <a:pt x="12290" y="3436136"/>
                  <a:pt x="12290" y="3436136"/>
                  <a:pt x="264633" y="2999703"/>
                </a:cubicBezTo>
                <a:cubicBezTo>
                  <a:pt x="281019" y="2971406"/>
                  <a:pt x="310513" y="2953992"/>
                  <a:pt x="343285" y="2953992"/>
                </a:cubicBezTo>
                <a:close/>
                <a:moveTo>
                  <a:pt x="2353334" y="538808"/>
                </a:moveTo>
                <a:cubicBezTo>
                  <a:pt x="2353334" y="538808"/>
                  <a:pt x="2353334" y="538808"/>
                  <a:pt x="2613403" y="538808"/>
                </a:cubicBezTo>
                <a:lnTo>
                  <a:pt x="2643742" y="538808"/>
                </a:lnTo>
                <a:lnTo>
                  <a:pt x="2672692" y="588661"/>
                </a:lnTo>
                <a:cubicBezTo>
                  <a:pt x="2713002" y="658078"/>
                  <a:pt x="2759909" y="738855"/>
                  <a:pt x="2814491" y="832849"/>
                </a:cubicBezTo>
                <a:cubicBezTo>
                  <a:pt x="2839586" y="874521"/>
                  <a:pt x="2839586" y="927860"/>
                  <a:pt x="2814491" y="969531"/>
                </a:cubicBezTo>
                <a:cubicBezTo>
                  <a:pt x="2814491" y="969531"/>
                  <a:pt x="2814491" y="969531"/>
                  <a:pt x="2426350" y="1637936"/>
                </a:cubicBezTo>
                <a:cubicBezTo>
                  <a:pt x="2402927" y="1681274"/>
                  <a:pt x="2356083" y="1707943"/>
                  <a:pt x="2307565" y="1707943"/>
                </a:cubicBezTo>
                <a:cubicBezTo>
                  <a:pt x="2307565" y="1707943"/>
                  <a:pt x="2307565" y="1707943"/>
                  <a:pt x="1532956" y="1707943"/>
                </a:cubicBezTo>
                <a:cubicBezTo>
                  <a:pt x="1520409" y="1707943"/>
                  <a:pt x="1508175" y="1706276"/>
                  <a:pt x="1496490" y="1703099"/>
                </a:cubicBezTo>
                <a:lnTo>
                  <a:pt x="1471408" y="1692583"/>
                </a:lnTo>
                <a:lnTo>
                  <a:pt x="1486736" y="1666073"/>
                </a:lnTo>
                <a:cubicBezTo>
                  <a:pt x="1625328" y="1426376"/>
                  <a:pt x="1802725" y="1119564"/>
                  <a:pt x="2029793" y="726844"/>
                </a:cubicBezTo>
                <a:cubicBezTo>
                  <a:pt x="2097197" y="610441"/>
                  <a:pt x="2218525" y="538808"/>
                  <a:pt x="2353334" y="538808"/>
                </a:cubicBezTo>
                <a:close/>
                <a:moveTo>
                  <a:pt x="1487085" y="0"/>
                </a:moveTo>
                <a:cubicBezTo>
                  <a:pt x="1487085" y="0"/>
                  <a:pt x="1487085" y="0"/>
                  <a:pt x="2360840" y="0"/>
                </a:cubicBezTo>
                <a:cubicBezTo>
                  <a:pt x="2415568" y="0"/>
                  <a:pt x="2468407" y="30084"/>
                  <a:pt x="2494828" y="78969"/>
                </a:cubicBezTo>
                <a:cubicBezTo>
                  <a:pt x="2494828" y="78969"/>
                  <a:pt x="2494828" y="78969"/>
                  <a:pt x="2729665" y="483373"/>
                </a:cubicBezTo>
                <a:lnTo>
                  <a:pt x="2756194" y="529058"/>
                </a:lnTo>
                <a:lnTo>
                  <a:pt x="2735320" y="529058"/>
                </a:lnTo>
                <a:lnTo>
                  <a:pt x="2636659" y="529058"/>
                </a:lnTo>
                <a:lnTo>
                  <a:pt x="2593799" y="455250"/>
                </a:lnTo>
                <a:cubicBezTo>
                  <a:pt x="2430052" y="173267"/>
                  <a:pt x="2430052" y="173267"/>
                  <a:pt x="2430052" y="173267"/>
                </a:cubicBezTo>
                <a:cubicBezTo>
                  <a:pt x="2406629" y="129929"/>
                  <a:pt x="2359785" y="103259"/>
                  <a:pt x="2311267" y="103259"/>
                </a:cubicBezTo>
                <a:cubicBezTo>
                  <a:pt x="1536658" y="103259"/>
                  <a:pt x="1536658" y="103259"/>
                  <a:pt x="1536658" y="103259"/>
                </a:cubicBezTo>
                <a:cubicBezTo>
                  <a:pt x="1486468" y="103259"/>
                  <a:pt x="1441296" y="129929"/>
                  <a:pt x="1416201" y="173267"/>
                </a:cubicBezTo>
                <a:cubicBezTo>
                  <a:pt x="1029733" y="841671"/>
                  <a:pt x="1029733" y="841671"/>
                  <a:pt x="1029733" y="841671"/>
                </a:cubicBezTo>
                <a:cubicBezTo>
                  <a:pt x="1004637" y="883343"/>
                  <a:pt x="1004637" y="936682"/>
                  <a:pt x="1029733" y="978353"/>
                </a:cubicBezTo>
                <a:cubicBezTo>
                  <a:pt x="1416201" y="1646758"/>
                  <a:pt x="1416201" y="1646758"/>
                  <a:pt x="1416201" y="1646758"/>
                </a:cubicBezTo>
                <a:cubicBezTo>
                  <a:pt x="1428749" y="1668427"/>
                  <a:pt x="1446315" y="1685929"/>
                  <a:pt x="1467019" y="1698013"/>
                </a:cubicBezTo>
                <a:lnTo>
                  <a:pt x="1472899" y="1700478"/>
                </a:lnTo>
                <a:lnTo>
                  <a:pt x="1441377" y="1754996"/>
                </a:lnTo>
                <a:lnTo>
                  <a:pt x="1417933" y="1795543"/>
                </a:lnTo>
                <a:lnTo>
                  <a:pt x="1442249" y="1805738"/>
                </a:lnTo>
                <a:cubicBezTo>
                  <a:pt x="1455430" y="1809322"/>
                  <a:pt x="1469230" y="1811202"/>
                  <a:pt x="1483383" y="1811202"/>
                </a:cubicBezTo>
                <a:cubicBezTo>
                  <a:pt x="2357138" y="1811202"/>
                  <a:pt x="2357138" y="1811202"/>
                  <a:pt x="2357138" y="1811202"/>
                </a:cubicBezTo>
                <a:cubicBezTo>
                  <a:pt x="2411866" y="1811202"/>
                  <a:pt x="2464705" y="1781120"/>
                  <a:pt x="2491126" y="1732235"/>
                </a:cubicBezTo>
                <a:cubicBezTo>
                  <a:pt x="2928947" y="978278"/>
                  <a:pt x="2928947" y="978278"/>
                  <a:pt x="2928947" y="978278"/>
                </a:cubicBezTo>
                <a:cubicBezTo>
                  <a:pt x="2957254" y="931274"/>
                  <a:pt x="2957254" y="871108"/>
                  <a:pt x="2928947" y="824102"/>
                </a:cubicBezTo>
                <a:cubicBezTo>
                  <a:pt x="2874220" y="729858"/>
                  <a:pt x="2826333" y="647394"/>
                  <a:pt x="2784432" y="575238"/>
                </a:cubicBezTo>
                <a:lnTo>
                  <a:pt x="2763277" y="538808"/>
                </a:lnTo>
                <a:lnTo>
                  <a:pt x="2861280" y="538808"/>
                </a:lnTo>
                <a:cubicBezTo>
                  <a:pt x="3166048" y="538808"/>
                  <a:pt x="3653676" y="538808"/>
                  <a:pt x="4433881" y="538808"/>
                </a:cubicBezTo>
                <a:cubicBezTo>
                  <a:pt x="4564197" y="538808"/>
                  <a:pt x="4690018" y="610441"/>
                  <a:pt x="4752929" y="726844"/>
                </a:cubicBezTo>
                <a:cubicBezTo>
                  <a:pt x="4752929" y="726844"/>
                  <a:pt x="4752929" y="726844"/>
                  <a:pt x="5795449" y="2522134"/>
                </a:cubicBezTo>
                <a:cubicBezTo>
                  <a:pt x="5862854" y="2634060"/>
                  <a:pt x="5862854" y="2777325"/>
                  <a:pt x="5795449" y="2889251"/>
                </a:cubicBezTo>
                <a:cubicBezTo>
                  <a:pt x="5795449" y="2889251"/>
                  <a:pt x="5795449" y="2889251"/>
                  <a:pt x="4752929" y="4684542"/>
                </a:cubicBezTo>
                <a:cubicBezTo>
                  <a:pt x="4690018" y="4800945"/>
                  <a:pt x="4564197" y="4872577"/>
                  <a:pt x="4433881" y="4872577"/>
                </a:cubicBezTo>
                <a:cubicBezTo>
                  <a:pt x="4433881" y="4872577"/>
                  <a:pt x="4433881" y="4872577"/>
                  <a:pt x="2353334" y="4872577"/>
                </a:cubicBezTo>
                <a:cubicBezTo>
                  <a:pt x="2218525" y="4872577"/>
                  <a:pt x="2097197" y="4800945"/>
                  <a:pt x="2029793" y="4684542"/>
                </a:cubicBezTo>
                <a:cubicBezTo>
                  <a:pt x="2029793" y="4684542"/>
                  <a:pt x="2029793" y="4684542"/>
                  <a:pt x="991766" y="2889251"/>
                </a:cubicBezTo>
                <a:cubicBezTo>
                  <a:pt x="924361" y="2777325"/>
                  <a:pt x="924361" y="2634060"/>
                  <a:pt x="991766" y="2522134"/>
                </a:cubicBezTo>
                <a:cubicBezTo>
                  <a:pt x="991766" y="2522134"/>
                  <a:pt x="991766" y="2522134"/>
                  <a:pt x="1377193" y="1855530"/>
                </a:cubicBezTo>
                <a:lnTo>
                  <a:pt x="1409676" y="1799352"/>
                </a:lnTo>
                <a:lnTo>
                  <a:pt x="1408533" y="1798873"/>
                </a:lnTo>
                <a:cubicBezTo>
                  <a:pt x="1385179" y="1785241"/>
                  <a:pt x="1365364" y="1765500"/>
                  <a:pt x="1351210" y="1741057"/>
                </a:cubicBezTo>
                <a:cubicBezTo>
                  <a:pt x="1351210" y="1741057"/>
                  <a:pt x="1351210" y="1741057"/>
                  <a:pt x="915276" y="987100"/>
                </a:cubicBezTo>
                <a:cubicBezTo>
                  <a:pt x="886968" y="940096"/>
                  <a:pt x="886968" y="879930"/>
                  <a:pt x="915276" y="832924"/>
                </a:cubicBezTo>
                <a:cubicBezTo>
                  <a:pt x="915276" y="832924"/>
                  <a:pt x="915276" y="832924"/>
                  <a:pt x="1351210" y="78969"/>
                </a:cubicBezTo>
                <a:cubicBezTo>
                  <a:pt x="1379517" y="30084"/>
                  <a:pt x="1430471" y="0"/>
                  <a:pt x="1487085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2333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="" xmlns:a16="http://schemas.microsoft.com/office/drawing/2014/main" id="{04812C46-200A-4DEB-A05E-3ED6C68C23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icture containing electronics, circuit&#10;&#10;Description automatically generated">
            <a:extLst>
              <a:ext uri="{FF2B5EF4-FFF2-40B4-BE49-F238E27FC236}">
                <a16:creationId xmlns="" xmlns:a16="http://schemas.microsoft.com/office/drawing/2014/main" id="{EC2F7625-779B-FDFC-30A8-42156A4AAC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" r="5016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D1EA859B-E555-4109-94F3-6700E046E0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4979543-6E93-3092-AC0D-61E3FBFA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737" y="267145"/>
            <a:ext cx="3822189" cy="1899912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+mn-lt"/>
              </a:rPr>
              <a:t>Подсилване на  сървър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317906-7CC7-9DD8-4709-91C207AE7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734" y="1788157"/>
            <a:ext cx="4956179" cy="37427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Някои общи </a:t>
            </a:r>
            <a:r>
              <a:rPr lang="ru-RU" sz="2400" dirty="0" err="1"/>
              <a:t>методи</a:t>
            </a:r>
            <a:r>
              <a:rPr lang="ru-RU" sz="2400" dirty="0"/>
              <a:t> за </a:t>
            </a:r>
            <a:r>
              <a:rPr lang="ru-RU" sz="2400" dirty="0" err="1"/>
              <a:t>подсилване</a:t>
            </a:r>
            <a:r>
              <a:rPr lang="ru-RU" sz="2400" dirty="0"/>
              <a:t> на </a:t>
            </a:r>
            <a:r>
              <a:rPr lang="ru-RU" sz="2400" dirty="0" err="1"/>
              <a:t>сървъра</a:t>
            </a:r>
            <a:r>
              <a:rPr lang="ru-RU" sz="2400" dirty="0"/>
              <a:t> включват:</a:t>
            </a:r>
          </a:p>
          <a:p>
            <a:r>
              <a:rPr lang="ru-RU" sz="2400" dirty="0"/>
              <a:t>използване на </a:t>
            </a:r>
            <a:r>
              <a:rPr lang="ru-RU" sz="2400" dirty="0" err="1"/>
              <a:t>криптиране</a:t>
            </a:r>
            <a:r>
              <a:rPr lang="ru-RU" sz="2400" dirty="0"/>
              <a:t> на </a:t>
            </a:r>
            <a:r>
              <a:rPr lang="ru-RU" sz="2400" dirty="0" err="1"/>
              <a:t>данни</a:t>
            </a:r>
            <a:r>
              <a:rPr lang="ru-RU" sz="2400" dirty="0"/>
              <a:t> за </a:t>
            </a:r>
            <a:r>
              <a:rPr lang="ru-RU" sz="2400" dirty="0" err="1"/>
              <a:t>комуникация</a:t>
            </a:r>
            <a:endParaRPr lang="ru-RU" sz="2400" dirty="0"/>
          </a:p>
          <a:p>
            <a:r>
              <a:rPr lang="ru-RU" sz="2400" dirty="0" err="1"/>
              <a:t>налагане</a:t>
            </a:r>
            <a:r>
              <a:rPr lang="ru-RU" sz="2400" dirty="0"/>
              <a:t> на </a:t>
            </a:r>
            <a:r>
              <a:rPr lang="ru-RU" sz="2400" dirty="0" err="1"/>
              <a:t>силна</a:t>
            </a:r>
            <a:r>
              <a:rPr lang="ru-RU" sz="2400" dirty="0"/>
              <a:t> </a:t>
            </a:r>
            <a:r>
              <a:rPr lang="ru-RU" sz="2400" dirty="0" err="1"/>
              <a:t>сложност</a:t>
            </a:r>
            <a:r>
              <a:rPr lang="ru-RU" sz="2400" dirty="0"/>
              <a:t> на </a:t>
            </a:r>
            <a:r>
              <a:rPr lang="ru-RU" sz="2400" dirty="0" err="1"/>
              <a:t>паролите</a:t>
            </a:r>
            <a:r>
              <a:rPr lang="ru-RU" sz="2400" dirty="0"/>
              <a:t> за защита на всички </a:t>
            </a:r>
            <a:r>
              <a:rPr lang="ru-RU" sz="2400" dirty="0" err="1"/>
              <a:t>потребителски</a:t>
            </a:r>
            <a:r>
              <a:rPr lang="ru-RU" sz="2400" dirty="0"/>
              <a:t> </a:t>
            </a:r>
            <a:r>
              <a:rPr lang="ru-RU" sz="2400" dirty="0" err="1"/>
              <a:t>акаунти</a:t>
            </a:r>
            <a:r>
              <a:rPr lang="ru-RU" sz="2400" dirty="0"/>
              <a:t>.</a:t>
            </a:r>
          </a:p>
          <a:p>
            <a:r>
              <a:rPr lang="ru-RU" sz="2400" dirty="0"/>
              <a:t>използване на </a:t>
            </a:r>
            <a:r>
              <a:rPr lang="ru-RU" sz="2400" dirty="0" err="1"/>
              <a:t>системи</a:t>
            </a:r>
            <a:r>
              <a:rPr lang="ru-RU" sz="2400" dirty="0"/>
              <a:t> за </a:t>
            </a:r>
            <a:r>
              <a:rPr lang="ru-RU" sz="2400" dirty="0" err="1"/>
              <a:t>откриване</a:t>
            </a:r>
            <a:r>
              <a:rPr lang="ru-RU" sz="2400" dirty="0"/>
              <a:t> на </a:t>
            </a:r>
            <a:r>
              <a:rPr lang="ru-RU" sz="2400" dirty="0" err="1"/>
              <a:t>проникване</a:t>
            </a:r>
            <a:endParaRPr lang="ru-RU" sz="2400" dirty="0"/>
          </a:p>
          <a:p>
            <a:r>
              <a:rPr lang="ru-RU" sz="2400" dirty="0" err="1"/>
              <a:t>редовно</a:t>
            </a:r>
            <a:r>
              <a:rPr lang="ru-RU" sz="2400" dirty="0"/>
              <a:t> </a:t>
            </a:r>
            <a:r>
              <a:rPr lang="ru-RU" sz="2400" dirty="0" err="1"/>
              <a:t>актуализиране</a:t>
            </a:r>
            <a:r>
              <a:rPr lang="ru-RU" sz="2400" dirty="0"/>
              <a:t> на </a:t>
            </a:r>
            <a:r>
              <a:rPr lang="ru-RU" sz="2400" dirty="0" err="1"/>
              <a:t>операционните</a:t>
            </a:r>
            <a:r>
              <a:rPr lang="ru-RU" sz="2400" dirty="0"/>
              <a:t> </a:t>
            </a:r>
            <a:r>
              <a:rPr lang="ru-RU" sz="2400" dirty="0" err="1"/>
              <a:t>системи</a:t>
            </a:r>
            <a:r>
              <a:rPr lang="ru-RU" sz="2400" dirty="0"/>
              <a:t> и </a:t>
            </a:r>
            <a:r>
              <a:rPr lang="ru-RU" sz="2400" dirty="0" err="1"/>
              <a:t>прилагане</a:t>
            </a:r>
            <a:r>
              <a:rPr lang="ru-RU" sz="2400" dirty="0"/>
              <a:t> на </a:t>
            </a:r>
            <a:r>
              <a:rPr lang="ru-RU" sz="2400" dirty="0" err="1"/>
              <a:t>пачове</a:t>
            </a:r>
            <a:r>
              <a:rPr lang="ru-RU" sz="2400" dirty="0"/>
              <a:t> за </a:t>
            </a:r>
            <a:r>
              <a:rPr lang="ru-RU" sz="2400" dirty="0" err="1"/>
              <a:t>сигурност</a:t>
            </a:r>
            <a:r>
              <a:rPr lang="ru-RU" sz="2400" dirty="0"/>
              <a:t>.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60172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D04E24D3-3620-59DD-7739-6E9F4987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200" b="1" smtClean="0">
                <a:latin typeface="+mn-lt"/>
              </a:rPr>
              <a:t>Тест</a:t>
            </a:r>
            <a:endParaRPr lang="en-US" sz="3200" b="1" dirty="0">
              <a:latin typeface="+mn-lt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5867B5-B04C-87F0-A116-217563D44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778412" cy="42519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bg-BG" sz="2400" dirty="0"/>
              <a:t>Какво е сървър?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sz="2400" dirty="0"/>
              <a:t>Каква е разликата между физически и виртуален сървър?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sz="2400" dirty="0"/>
              <a:t>Какви са недостатъците на виртуалните сървъри?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sz="2400" dirty="0"/>
              <a:t>Необходим ли е сървърният софтуер?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sz="2400" dirty="0"/>
              <a:t>За какво служат </a:t>
            </a:r>
            <a:r>
              <a:rPr lang="en-US" sz="2400" dirty="0"/>
              <a:t>DNS </a:t>
            </a:r>
            <a:r>
              <a:rPr lang="bg-BG" sz="2400" dirty="0"/>
              <a:t>сървърите?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sz="2400" dirty="0"/>
              <a:t>Чрез какъв сървър може да се ползва една програма без нуждата да се тегли?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sz="2400" dirty="0"/>
              <a:t>Кои са най-важните компоненти при една сървърна конфигурация?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bg-BG" sz="2400" dirty="0"/>
              <a:t>По какъв начин може да се подсили защитата на един сървър?</a:t>
            </a:r>
          </a:p>
          <a:p>
            <a:pPr>
              <a:buFont typeface="Wingdings" panose="05000000000000000000" pitchFamily="2" charset="2"/>
              <a:buChar char="Ø"/>
            </a:pPr>
            <a:endParaRPr lang="bg-BG" sz="2400" dirty="0"/>
          </a:p>
          <a:p>
            <a:pPr>
              <a:buFont typeface="Wingdings" panose="05000000000000000000" pitchFamily="2" charset="2"/>
              <a:buChar char="Ø"/>
            </a:pPr>
            <a:endParaRPr lang="bg-BG" sz="2400" dirty="0"/>
          </a:p>
          <a:p>
            <a:pPr>
              <a:buFont typeface="Wingdings" panose="05000000000000000000" pitchFamily="2" charset="2"/>
              <a:buChar char="Ø"/>
            </a:pPr>
            <a:endParaRPr lang="bg-BG" sz="2400" dirty="0"/>
          </a:p>
          <a:p>
            <a:pPr>
              <a:buFont typeface="Wingdings" panose="05000000000000000000" pitchFamily="2" charset="2"/>
              <a:buChar char="Ø"/>
            </a:pPr>
            <a:endParaRPr lang="bg-BG" sz="2400" dirty="0"/>
          </a:p>
          <a:p>
            <a:pPr>
              <a:buFont typeface="Wingdings" panose="05000000000000000000" pitchFamily="2" charset="2"/>
              <a:buChar char="Ø"/>
            </a:pPr>
            <a:endParaRPr lang="bg-BG" sz="2400" dirty="0"/>
          </a:p>
          <a:p>
            <a:pPr>
              <a:buFont typeface="Wingdings" panose="05000000000000000000" pitchFamily="2" charset="2"/>
              <a:buChar char="Ø"/>
            </a:pPr>
            <a:endParaRPr lang="bg-BG" sz="2400" dirty="0"/>
          </a:p>
          <a:p>
            <a:pPr>
              <a:buFont typeface="Wingdings" panose="05000000000000000000" pitchFamily="2" charset="2"/>
              <a:buChar char="Ø"/>
            </a:pP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31379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2A3288-C5F5-636A-3D2B-EBB57E55F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+mn-lt"/>
              </a:rPr>
              <a:t>Източници</a:t>
            </a:r>
            <a:endParaRPr lang="en-US" sz="3200" b="1" dirty="0">
              <a:latin typeface="+mn-lt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805DCA7-4679-D473-DB33-64ECE6A4D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400" dirty="0">
                <a:hlinkClick r:id="rId2"/>
              </a:rPr>
              <a:t>https://www.techtarget.com/whatis/definition/server</a:t>
            </a:r>
            <a:endParaRPr lang="bg-BG" sz="2400" dirty="0"/>
          </a:p>
          <a:p>
            <a:r>
              <a:rPr lang="en-US" sz="2400" dirty="0">
                <a:hlinkClick r:id="rId3"/>
              </a:rPr>
              <a:t>https://www.indeed.com/career-advice/career-development/types-of-servers</a:t>
            </a:r>
            <a:endParaRPr lang="bg-BG" sz="2400" dirty="0"/>
          </a:p>
          <a:p>
            <a:r>
              <a:rPr lang="en-US" sz="2400" dirty="0">
                <a:hlinkClick r:id="rId4"/>
              </a:rPr>
              <a:t>https://www.nibusinessinfo.co.uk/content/server-security</a:t>
            </a:r>
            <a:endParaRPr lang="en-US" sz="2400" dirty="0"/>
          </a:p>
          <a:p>
            <a:r>
              <a:rPr lang="en-US" sz="2400" dirty="0">
                <a:hlinkClick r:id="rId5"/>
              </a:rPr>
              <a:t>https://hypertecdirect.com/knowledge-base/server-components-explained/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3F9B4CB-F073-F419-DA6B-993789AD22D4}"/>
              </a:ext>
            </a:extLst>
          </p:cNvPr>
          <p:cNvSpPr txBox="1"/>
          <p:nvPr/>
        </p:nvSpPr>
        <p:spPr>
          <a:xfrm>
            <a:off x="9850951" y="6354375"/>
            <a:ext cx="2341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200" b="1" dirty="0"/>
              <a:t>Изготвил: Хунг Чан </a:t>
            </a:r>
            <a:r>
              <a:rPr lang="en-US" sz="1200" b="1" dirty="0"/>
              <a:t>XII</a:t>
            </a:r>
            <a:r>
              <a:rPr lang="bg-BG" sz="1200" b="1" dirty="0"/>
              <a:t>д №23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84300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1868</Words>
  <Application>Microsoft Office PowerPoint</Application>
  <PresentationFormat>Custom</PresentationFormat>
  <Paragraphs>150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Сървъри и конфигурации - cъображения при подбир на компоненти. Защита на сървъра и архива.  </vt:lpstr>
      <vt:lpstr>Съдържание</vt:lpstr>
      <vt:lpstr>PowerPoint Presentation</vt:lpstr>
      <vt:lpstr>PowerPoint Presentation</vt:lpstr>
      <vt:lpstr>Какво е сървър?</vt:lpstr>
      <vt:lpstr>Как работи сървър?</vt:lpstr>
      <vt:lpstr>Физически сървър</vt:lpstr>
      <vt:lpstr>Предимства</vt:lpstr>
      <vt:lpstr>Недостатъци</vt:lpstr>
      <vt:lpstr>Виртуален сървър</vt:lpstr>
      <vt:lpstr>Предимства</vt:lpstr>
      <vt:lpstr>Недостатъци</vt:lpstr>
      <vt:lpstr>Физически сървър или виртуален сървър - кога се използва единия вместо другия?</vt:lpstr>
      <vt:lpstr>Сървърен софтуер</vt:lpstr>
      <vt:lpstr>Видове сървъри</vt:lpstr>
      <vt:lpstr>Уеб сървър</vt:lpstr>
      <vt:lpstr>Сървър за приложения</vt:lpstr>
      <vt:lpstr>Прокси сървър</vt:lpstr>
      <vt:lpstr>Пощенски сървър</vt:lpstr>
      <vt:lpstr>Виртуален сървър (машина)</vt:lpstr>
      <vt:lpstr>File Transfer Protocol (FTP) сървър</vt:lpstr>
      <vt:lpstr>Файлов сървър</vt:lpstr>
      <vt:lpstr>Сървър за база данни</vt:lpstr>
      <vt:lpstr>Domain Name System (DNS) сървър </vt:lpstr>
      <vt:lpstr>Сървър за принтиране</vt:lpstr>
      <vt:lpstr>Подбор на компоненти</vt:lpstr>
      <vt:lpstr>Защита на сървър</vt:lpstr>
      <vt:lpstr>Практики за добра защита</vt:lpstr>
      <vt:lpstr>Подсилване на  сървър</vt:lpstr>
      <vt:lpstr>Тест</vt:lpstr>
      <vt:lpstr>Източници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Сървъри и конфигурации. Съображения при подбир на компоненти.</dc:title>
  <dc:creator>Хунг Т. Чан</dc:creator>
  <cp:lastModifiedBy>PC-0</cp:lastModifiedBy>
  <cp:revision>4</cp:revision>
  <dcterms:created xsi:type="dcterms:W3CDTF">2022-12-19T06:19:48Z</dcterms:created>
  <dcterms:modified xsi:type="dcterms:W3CDTF">2022-12-20T08:25:15Z</dcterms:modified>
</cp:coreProperties>
</file>