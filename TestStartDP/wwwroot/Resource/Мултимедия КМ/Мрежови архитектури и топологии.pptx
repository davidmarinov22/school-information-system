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8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476" y="-4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14">
            <a:extLst>
              <a:ext uri="{FF2B5EF4-FFF2-40B4-BE49-F238E27FC236}">
                <a16:creationId xmlns:a16="http://schemas.microsoft.com/office/drawing/2014/main" xmlns="" id="{B7D4B16D-600A-41A1-8B1B-3727C56C0C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16">
            <a:extLst>
              <a:ext uri="{FF2B5EF4-FFF2-40B4-BE49-F238E27FC236}">
                <a16:creationId xmlns:a16="http://schemas.microsoft.com/office/drawing/2014/main" xmlns="" id="{DE7C35E0-BD19-4AFC-81BF-7A7507E9C9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xmlns="" id="{1E08D20A-3975-4596-85C6-D467995862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6" name="Freeform 6">
              <a:extLst>
                <a:ext uri="{FF2B5EF4-FFF2-40B4-BE49-F238E27FC236}">
                  <a16:creationId xmlns:a16="http://schemas.microsoft.com/office/drawing/2014/main" xmlns="" id="{630A9349-BFE4-4720-A229-98DCD3B69F3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xmlns="" id="{28487744-BBC9-4D40-85B3-0D45003C33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xmlns="" id="{FAD6EF4D-97BD-46B4-9B5B-CD70971DD5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xmlns="" id="{210DCC42-11D2-4162-B47A-869B3F6694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xmlns="" id="{DE4880D6-6ECE-4F1B-B474-FE3940D043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xmlns="" id="{A1A39307-F675-49D2-9E45-28DA2AB5C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xmlns="" id="{AC5E23C5-C5D6-4BC3-9531-C0B2D7D29F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xmlns="" id="{4D3FC0A7-9672-4B19-8D54-71C3B39F7A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xmlns="" id="{9911D04C-3FFB-4D1E-8F59-5C02692E3E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xmlns="" id="{A0178C8F-EF32-4F3D-B022-60A7DE1367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xmlns="" id="{EEB2DD25-DE0D-48CE-8218-E4EF12273A2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xmlns="" id="{13C92E55-66CB-48F7-BF28-5D8ED146BB2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xmlns="" id="{CB0B6C7B-4820-48AB-92AF-896559F009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xmlns="" id="{2018EECD-4518-458F-989E-6FCAE5AE040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xmlns="" id="{1FB0915F-3C52-468A-87E7-F3EE381DA3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xmlns="" id="{7B184771-5A8E-4ED5-9179-24B19F26C3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xmlns="" id="{BC5162D1-D64C-4FBA-BE86-11B27A7432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3">
              <a:extLst>
                <a:ext uri="{FF2B5EF4-FFF2-40B4-BE49-F238E27FC236}">
                  <a16:creationId xmlns:a16="http://schemas.microsoft.com/office/drawing/2014/main" xmlns="" id="{9EFF345C-6A58-4123-B2D1-2ED9E369124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4">
              <a:extLst>
                <a:ext uri="{FF2B5EF4-FFF2-40B4-BE49-F238E27FC236}">
                  <a16:creationId xmlns:a16="http://schemas.microsoft.com/office/drawing/2014/main" xmlns="" id="{03CE89F7-AE1C-4370-920E-EE04C4124F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5">
              <a:extLst>
                <a:ext uri="{FF2B5EF4-FFF2-40B4-BE49-F238E27FC236}">
                  <a16:creationId xmlns:a16="http://schemas.microsoft.com/office/drawing/2014/main" xmlns="" id="{D6E298F6-F99D-49EF-B614-24D2179C23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6">
              <a:extLst>
                <a:ext uri="{FF2B5EF4-FFF2-40B4-BE49-F238E27FC236}">
                  <a16:creationId xmlns:a16="http://schemas.microsoft.com/office/drawing/2014/main" xmlns="" id="{2424FD35-451D-468C-9EB2-8DA350C1247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7">
              <a:extLst>
                <a:ext uri="{FF2B5EF4-FFF2-40B4-BE49-F238E27FC236}">
                  <a16:creationId xmlns:a16="http://schemas.microsoft.com/office/drawing/2014/main" xmlns="" id="{45BC0C6F-B91F-42CC-9046-522FE8223C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8">
              <a:extLst>
                <a:ext uri="{FF2B5EF4-FFF2-40B4-BE49-F238E27FC236}">
                  <a16:creationId xmlns:a16="http://schemas.microsoft.com/office/drawing/2014/main" xmlns="" id="{F88AFBEE-A8B5-4B18-B834-5269F6C13C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9">
              <a:extLst>
                <a:ext uri="{FF2B5EF4-FFF2-40B4-BE49-F238E27FC236}">
                  <a16:creationId xmlns:a16="http://schemas.microsoft.com/office/drawing/2014/main" xmlns="" id="{64B0F493-EC69-4C85-87D4-2876282311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0">
              <a:extLst>
                <a:ext uri="{FF2B5EF4-FFF2-40B4-BE49-F238E27FC236}">
                  <a16:creationId xmlns:a16="http://schemas.microsoft.com/office/drawing/2014/main" xmlns="" id="{09920E7F-979C-40F6-8FB1-791325A4A4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1">
              <a:extLst>
                <a:ext uri="{FF2B5EF4-FFF2-40B4-BE49-F238E27FC236}">
                  <a16:creationId xmlns:a16="http://schemas.microsoft.com/office/drawing/2014/main" xmlns="" id="{1387BCC3-D7BF-443E-B18C-87B696E644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xmlns="" id="{F1C0670D-9FA2-48D7-AFDB-4438ECC3EE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Rectangle 33">
              <a:extLst>
                <a:ext uri="{FF2B5EF4-FFF2-40B4-BE49-F238E27FC236}">
                  <a16:creationId xmlns:a16="http://schemas.microsoft.com/office/drawing/2014/main" xmlns="" id="{34088C0C-CAD1-4E66-A162-1D7020365B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7" name="Freeform 34">
              <a:extLst>
                <a:ext uri="{FF2B5EF4-FFF2-40B4-BE49-F238E27FC236}">
                  <a16:creationId xmlns:a16="http://schemas.microsoft.com/office/drawing/2014/main" xmlns="" id="{B8C224A6-72B4-4763-B708-65A321D0D6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5">
              <a:extLst>
                <a:ext uri="{FF2B5EF4-FFF2-40B4-BE49-F238E27FC236}">
                  <a16:creationId xmlns:a16="http://schemas.microsoft.com/office/drawing/2014/main" xmlns="" id="{2EE3A964-523C-470B-8B10-09053452C5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6">
              <a:extLst>
                <a:ext uri="{FF2B5EF4-FFF2-40B4-BE49-F238E27FC236}">
                  <a16:creationId xmlns:a16="http://schemas.microsoft.com/office/drawing/2014/main" xmlns="" id="{1B87487E-C0EA-4E2A-8FC0-3D4C4F0177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37">
              <a:extLst>
                <a:ext uri="{FF2B5EF4-FFF2-40B4-BE49-F238E27FC236}">
                  <a16:creationId xmlns:a16="http://schemas.microsoft.com/office/drawing/2014/main" xmlns="" id="{D8B57E7E-D885-4A0B-BBA0-E3BC3A68CD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38">
              <a:extLst>
                <a:ext uri="{FF2B5EF4-FFF2-40B4-BE49-F238E27FC236}">
                  <a16:creationId xmlns:a16="http://schemas.microsoft.com/office/drawing/2014/main" xmlns="" id="{6FB84573-B84B-4571-A6E5-91CD308E7D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39">
              <a:extLst>
                <a:ext uri="{FF2B5EF4-FFF2-40B4-BE49-F238E27FC236}">
                  <a16:creationId xmlns:a16="http://schemas.microsoft.com/office/drawing/2014/main" xmlns="" id="{7EE5EE00-E139-4AB9-ACFC-5E39CFA951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0">
              <a:extLst>
                <a:ext uri="{FF2B5EF4-FFF2-40B4-BE49-F238E27FC236}">
                  <a16:creationId xmlns:a16="http://schemas.microsoft.com/office/drawing/2014/main" xmlns="" id="{5A38A6AA-6753-4EFE-94BB-96DF739758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1">
              <a:extLst>
                <a:ext uri="{FF2B5EF4-FFF2-40B4-BE49-F238E27FC236}">
                  <a16:creationId xmlns:a16="http://schemas.microsoft.com/office/drawing/2014/main" xmlns="" id="{506AB599-570B-4547-97F4-F2C6723014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2">
              <a:extLst>
                <a:ext uri="{FF2B5EF4-FFF2-40B4-BE49-F238E27FC236}">
                  <a16:creationId xmlns:a16="http://schemas.microsoft.com/office/drawing/2014/main" xmlns="" id="{9AFDEA1E-DBAB-4507-8D36-786F19A85BA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3">
              <a:extLst>
                <a:ext uri="{FF2B5EF4-FFF2-40B4-BE49-F238E27FC236}">
                  <a16:creationId xmlns:a16="http://schemas.microsoft.com/office/drawing/2014/main" xmlns="" id="{C824D6F7-0BDF-4C8C-869D-BDDEB076418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xmlns="" id="{6953C491-AE0F-4D2B-9474-18D5E8B5DC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Rectangle 45">
              <a:extLst>
                <a:ext uri="{FF2B5EF4-FFF2-40B4-BE49-F238E27FC236}">
                  <a16:creationId xmlns:a16="http://schemas.microsoft.com/office/drawing/2014/main" xmlns="" id="{5B956350-9BDD-4090-B2B6-12C13D1CE2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xmlns="" id="{ECE31E80-E354-44C3-81E0-4E3E41DDF6F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xmlns="" id="{9DFA35DB-5360-405A-A7EB-064E51FBC0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xmlns="" id="{2DA499BD-4313-4AD1-BE87-4BEF50FECB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xmlns="" id="{680E4C6D-12D1-417A-A709-EC416D98FA0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0">
              <a:extLst>
                <a:ext uri="{FF2B5EF4-FFF2-40B4-BE49-F238E27FC236}">
                  <a16:creationId xmlns:a16="http://schemas.microsoft.com/office/drawing/2014/main" xmlns="" id="{C93537B4-09B6-4CC6-92DE-3D3BDAC7AB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1">
              <a:extLst>
                <a:ext uri="{FF2B5EF4-FFF2-40B4-BE49-F238E27FC236}">
                  <a16:creationId xmlns:a16="http://schemas.microsoft.com/office/drawing/2014/main" xmlns="" id="{5D100FC5-9EA8-4DA7-AFA4-BC60831FD87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2">
              <a:extLst>
                <a:ext uri="{FF2B5EF4-FFF2-40B4-BE49-F238E27FC236}">
                  <a16:creationId xmlns:a16="http://schemas.microsoft.com/office/drawing/2014/main" xmlns="" id="{3F10D757-6A3B-4314-9755-419B3738E47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3">
              <a:extLst>
                <a:ext uri="{FF2B5EF4-FFF2-40B4-BE49-F238E27FC236}">
                  <a16:creationId xmlns:a16="http://schemas.microsoft.com/office/drawing/2014/main" xmlns="" id="{28A4D881-D08B-4AAF-866D-7C31601126D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54">
              <a:extLst>
                <a:ext uri="{FF2B5EF4-FFF2-40B4-BE49-F238E27FC236}">
                  <a16:creationId xmlns:a16="http://schemas.microsoft.com/office/drawing/2014/main" xmlns="" id="{A666F3F8-571E-483F-9B9F-31EDB91A9C6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55">
              <a:extLst>
                <a:ext uri="{FF2B5EF4-FFF2-40B4-BE49-F238E27FC236}">
                  <a16:creationId xmlns:a16="http://schemas.microsoft.com/office/drawing/2014/main" xmlns="" id="{18305C0F-0A00-450D-92A1-313C724398C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56">
              <a:extLst>
                <a:ext uri="{FF2B5EF4-FFF2-40B4-BE49-F238E27FC236}">
                  <a16:creationId xmlns:a16="http://schemas.microsoft.com/office/drawing/2014/main" xmlns="" id="{9A5635D8-CCB7-4D16-BB87-B1BC1AC97DC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57">
              <a:extLst>
                <a:ext uri="{FF2B5EF4-FFF2-40B4-BE49-F238E27FC236}">
                  <a16:creationId xmlns:a16="http://schemas.microsoft.com/office/drawing/2014/main" xmlns="" id="{7C10A784-B5EE-4486-96E7-3CC72B93AE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58">
              <a:extLst>
                <a:ext uri="{FF2B5EF4-FFF2-40B4-BE49-F238E27FC236}">
                  <a16:creationId xmlns:a16="http://schemas.microsoft.com/office/drawing/2014/main" xmlns="" id="{AE5FA7CA-916C-4A34-A727-E0289D891A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xmlns="" id="{51039561-92F9-40EE-900B-6AA0F58042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50AE9A-A640-188B-CA77-EF475E597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275" y="1122363"/>
            <a:ext cx="5513767" cy="4287836"/>
          </a:xfrm>
        </p:spPr>
        <p:txBody>
          <a:bodyPr anchor="ctr">
            <a:normAutofit/>
          </a:bodyPr>
          <a:lstStyle/>
          <a:p>
            <a:pPr algn="r"/>
            <a:r>
              <a:rPr lang="bg-BG" sz="5600" dirty="0"/>
              <a:t>Мрежи, Мрежови архитектури и мрежови топологии</a:t>
            </a:r>
            <a:endParaRPr lang="en-US" sz="5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0CD990A-7CDD-E756-2AE9-E137B8FA7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1631" y="1122363"/>
            <a:ext cx="2816368" cy="4287834"/>
          </a:xfrm>
        </p:spPr>
        <p:txBody>
          <a:bodyPr anchor="ctr">
            <a:normAutofit/>
          </a:bodyPr>
          <a:lstStyle/>
          <a:p>
            <a:r>
              <a:rPr lang="bg-BG" sz="2400"/>
              <a:t>Никола Адмасу</a:t>
            </a:r>
            <a:r>
              <a:rPr lang="en-US" sz="2400"/>
              <a:t> 12г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D902DA06-324A-48CE-8C20-94535480A6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06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61B632-B0FC-B3D3-2E25-DE6C8CE26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Физични Мрежови топологии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54E8D6-0A1B-D73D-B1EA-D122B3A3D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/>
              <a:t>Мрежовите топологии се разпределят на няколко вида според физическия си начин на свързване:</a:t>
            </a:r>
            <a:endParaRPr lang="en-US" dirty="0"/>
          </a:p>
          <a:p>
            <a:r>
              <a:rPr lang="bg-BG" dirty="0"/>
              <a:t>Тип шина</a:t>
            </a:r>
          </a:p>
          <a:p>
            <a:r>
              <a:rPr lang="bg-BG" dirty="0"/>
              <a:t>Тип звезда</a:t>
            </a:r>
          </a:p>
          <a:p>
            <a:r>
              <a:rPr lang="bg-BG" dirty="0"/>
              <a:t>Кръговидна</a:t>
            </a:r>
          </a:p>
          <a:p>
            <a:r>
              <a:rPr lang="bg-BG" dirty="0"/>
              <a:t>Тип пръстен</a:t>
            </a:r>
          </a:p>
        </p:txBody>
      </p:sp>
    </p:spTree>
    <p:extLst>
      <p:ext uri="{BB962C8B-B14F-4D97-AF65-F5344CB8AC3E}">
        <p14:creationId xmlns:p14="http://schemas.microsoft.com/office/powerpoint/2010/main" val="94437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46B922C-5BA7-4973-B12F-71A509E4B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96D34D8D-9EE9-4659-8C22-7551A95F96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3CA93C16-1147-4EB3-B4E7-3C43102494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xmlns="" id="{C4779968-92AF-4B85-8C27-EBBFE1D6990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xmlns="" id="{2C43E18D-7024-4F17-A664-E23BFBC12B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xmlns="" id="{CA2ACEBA-081B-4B0B-AFB1-C596B834FD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xmlns="" id="{2AFBB163-514B-493A-983F-8BE96848F9B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xmlns="" id="{7720326C-7DB1-4745-9015-3FA6990855B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xmlns="" id="{01D5FBDC-A284-440B-8D5F-84287B0A25D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xmlns="" id="{517CE611-1CB0-442B-8998-98487209B0E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xmlns="" id="{EF0F0E46-9222-4FCF-A79E-9B4953C6F0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xmlns="" id="{371A87C3-0804-4AB9-8EAD-FBFF597ED82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xmlns="" id="{89F39433-8BC3-48D6-B705-F951DBDAAB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xmlns="" id="{AE671C9D-E91C-4143-A422-273B2F53F69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xmlns="" id="{83A72EA3-8833-41C6-9333-6A04C1C08D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xmlns="" id="{2C0D7AAB-DC9C-4B37-A50E-A7185DE92E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xmlns="" id="{6E7D9D6B-3455-4363-934B-FA2D682931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xmlns="" id="{FFFFCA54-2217-4DAE-B791-4A6CA7DE0BD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xmlns="" id="{BAE43BA5-C104-4FBB-B1C6-C210D3CC532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xmlns="" id="{3BDB2330-DF01-460D-83FB-00C37965CD5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xmlns="" id="{51261093-9B7F-4406-B2F8-0F5BE7676A2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xmlns="" id="{9971E195-2AB6-4CB6-9BD7-A8407B5C809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xmlns="" id="{A3D843E7-8A86-4676-9C98-DECE0DFF674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xmlns="" id="{FAF42817-AB3E-40FA-997F-EAC1411F465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xmlns="" id="{50ED3298-A6DC-4825-93B1-68DB8CB629A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xmlns="" id="{2B951778-3B6B-4BB9-9D89-2ED650C820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xmlns="" id="{8F3ED9A8-A83F-463A-8C2E-E83977D9A9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xmlns="" id="{9A0C113E-781D-4083-86C0-EC936092D27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xmlns="" id="{B63D60EF-1E99-4D4C-BF11-AAF8ABEB86E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xmlns="" id="{50403E41-7079-49EA-8D0B-4F678552D9B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E3B2C458-4D37-49A0-A94E-D516E05C3C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xmlns="" id="{C1B10016-E0C4-4526-A466-9911541D26E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xmlns="" id="{D574C3F0-FC2B-43A3-94B2-75D305FBF7D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xmlns="" id="{D92A5F66-F404-433B-BDBE-5E0DFF40D65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xmlns="" id="{0A0BDF81-64CC-431D-81B1-A21938C0543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xmlns="" id="{42871530-50EC-42C2-879A-AE8154DADC0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xmlns="" id="{53AF2F2A-B148-4906-B90D-6E222397845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xmlns="" id="{9A79EAA4-6F5D-4A2C-B688-CD29C2217C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xmlns="" id="{B9CE5833-22CF-4408-9338-4B7749FEA3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xmlns="" id="{316A985A-7ADD-4BEE-A7B6-E5B49E1839E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xmlns="" id="{352CFA3F-5CFE-412E-9196-C966F34579D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2" name="Picture 2">
            <a:extLst>
              <a:ext uri="{FF2B5EF4-FFF2-40B4-BE49-F238E27FC236}">
                <a16:creationId xmlns:a16="http://schemas.microsoft.com/office/drawing/2014/main" xmlns="" id="{2FB01CCF-839B-4126-9BF9-132C64D8A1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BEB91AB4-4F49-12B0-2686-1C3361461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bg-BG">
                <a:solidFill>
                  <a:srgbClr val="FFFFFF"/>
                </a:solidFill>
              </a:rPr>
              <a:t>Топология тип: „Шина“</a:t>
            </a:r>
          </a:p>
        </p:txBody>
      </p:sp>
      <p:sp useBgFill="1">
        <p:nvSpPr>
          <p:cNvPr id="54" name="Round Diagonal Corner Rectangle 6">
            <a:extLst>
              <a:ext uri="{FF2B5EF4-FFF2-40B4-BE49-F238E27FC236}">
                <a16:creationId xmlns:a16="http://schemas.microsoft.com/office/drawing/2014/main" xmlns="" id="{F2B1468C-8227-4785-8776-7BDBDDF08F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 descr="Картина, която съдържа текст, компютър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48490AC3-A7AE-E532-648A-39C6FEDAA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17" y="2611743"/>
            <a:ext cx="3178638" cy="1629052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6B299AE8-CB27-54F6-9E75-CA1B0D91B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2000" dirty="0">
                <a:solidFill>
                  <a:srgbClr val="FFFFFF"/>
                </a:solidFill>
              </a:rPr>
              <a:t>При </a:t>
            </a:r>
            <a:r>
              <a:rPr lang="ru-RU" sz="2000" dirty="0" err="1">
                <a:solidFill>
                  <a:srgbClr val="FFFFFF"/>
                </a:solidFill>
              </a:rPr>
              <a:t>мрежата</a:t>
            </a:r>
            <a:r>
              <a:rPr lang="ru-RU" sz="2000" dirty="0">
                <a:solidFill>
                  <a:srgbClr val="FFFFFF"/>
                </a:solidFill>
              </a:rPr>
              <a:t> тип “шина” </a:t>
            </a:r>
            <a:r>
              <a:rPr lang="ru-RU" sz="2000" dirty="0" err="1">
                <a:solidFill>
                  <a:srgbClr val="FFFFFF"/>
                </a:solidFill>
              </a:rPr>
              <a:t>всички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компютри</a:t>
            </a:r>
            <a:r>
              <a:rPr lang="ru-RU" sz="2000" dirty="0">
                <a:solidFill>
                  <a:srgbClr val="FFFFFF"/>
                </a:solidFill>
              </a:rPr>
              <a:t> се </a:t>
            </a:r>
            <a:r>
              <a:rPr lang="ru-RU" sz="2000" dirty="0" err="1">
                <a:solidFill>
                  <a:srgbClr val="FFFFFF"/>
                </a:solidFill>
              </a:rPr>
              <a:t>свързват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последователно</a:t>
            </a:r>
            <a:r>
              <a:rPr lang="ru-RU" sz="2000" dirty="0">
                <a:solidFill>
                  <a:srgbClr val="FFFFFF"/>
                </a:solidFill>
              </a:rPr>
              <a:t> по </a:t>
            </a:r>
            <a:r>
              <a:rPr lang="ru-RU" sz="2000" dirty="0" err="1">
                <a:solidFill>
                  <a:srgbClr val="FFFFFF"/>
                </a:solidFill>
              </a:rPr>
              <a:t>протежението</a:t>
            </a:r>
            <a:r>
              <a:rPr lang="ru-RU" sz="2000" dirty="0">
                <a:solidFill>
                  <a:srgbClr val="FFFFFF"/>
                </a:solidFill>
              </a:rPr>
              <a:t> на </a:t>
            </a:r>
            <a:r>
              <a:rPr lang="ru-RU" sz="2000" dirty="0" err="1">
                <a:solidFill>
                  <a:srgbClr val="FFFFFF"/>
                </a:solidFill>
              </a:rPr>
              <a:t>кабел</a:t>
            </a:r>
            <a:r>
              <a:rPr lang="ru-RU" sz="2000" dirty="0">
                <a:solidFill>
                  <a:srgbClr val="FFFFFF"/>
                </a:solidFill>
              </a:rPr>
              <a:t>, наречен </a:t>
            </a:r>
            <a:r>
              <a:rPr lang="ru-RU" sz="2000" dirty="0" err="1">
                <a:solidFill>
                  <a:srgbClr val="FFFFFF"/>
                </a:solidFill>
              </a:rPr>
              <a:t>гръбнак</a:t>
            </a:r>
            <a:r>
              <a:rPr lang="ru-RU" sz="2000" dirty="0">
                <a:solidFill>
                  <a:srgbClr val="FFFFFF"/>
                </a:solidFill>
              </a:rPr>
              <a:t>. </a:t>
            </a:r>
            <a:r>
              <a:rPr lang="ru-RU" sz="2000" dirty="0" err="1">
                <a:solidFill>
                  <a:srgbClr val="FFFFFF"/>
                </a:solidFill>
              </a:rPr>
              <a:t>Тъй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като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мрежата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има</a:t>
            </a:r>
            <a:r>
              <a:rPr lang="ru-RU" sz="2000" dirty="0">
                <a:solidFill>
                  <a:srgbClr val="FFFFFF"/>
                </a:solidFill>
              </a:rPr>
              <a:t> начало и край, </a:t>
            </a:r>
            <a:r>
              <a:rPr lang="ru-RU" sz="2000" dirty="0" err="1">
                <a:solidFill>
                  <a:srgbClr val="FFFFFF"/>
                </a:solidFill>
              </a:rPr>
              <a:t>трябва</a:t>
            </a:r>
            <a:r>
              <a:rPr lang="ru-RU" sz="2000" dirty="0">
                <a:solidFill>
                  <a:srgbClr val="FFFFFF"/>
                </a:solidFill>
              </a:rPr>
              <a:t> да се </a:t>
            </a:r>
            <a:r>
              <a:rPr lang="ru-RU" sz="2000" dirty="0" err="1">
                <a:solidFill>
                  <a:srgbClr val="FFFFFF"/>
                </a:solidFill>
              </a:rPr>
              <a:t>добави</a:t>
            </a:r>
            <a:r>
              <a:rPr lang="ru-RU" sz="2000" dirty="0">
                <a:solidFill>
                  <a:srgbClr val="FFFFFF"/>
                </a:solidFill>
              </a:rPr>
              <a:t> терминатор в </a:t>
            </a:r>
            <a:r>
              <a:rPr lang="ru-RU" sz="2000" dirty="0" err="1">
                <a:solidFill>
                  <a:srgbClr val="FFFFFF"/>
                </a:solidFill>
              </a:rPr>
              <a:t>двата</a:t>
            </a:r>
            <a:r>
              <a:rPr lang="ru-RU" sz="2000" dirty="0">
                <a:solidFill>
                  <a:srgbClr val="FFFFFF"/>
                </a:solidFill>
              </a:rPr>
              <a:t> края на </a:t>
            </a:r>
            <a:r>
              <a:rPr lang="ru-RU" sz="2000" dirty="0" err="1">
                <a:solidFill>
                  <a:srgbClr val="FFFFFF"/>
                </a:solidFill>
              </a:rPr>
              <a:t>мрежата</a:t>
            </a:r>
            <a:r>
              <a:rPr lang="ru-RU" sz="2000" dirty="0">
                <a:solidFill>
                  <a:srgbClr val="FFFFFF"/>
                </a:solidFill>
              </a:rPr>
              <a:t>. </a:t>
            </a:r>
            <a:r>
              <a:rPr lang="ru-RU" sz="2000" dirty="0" err="1">
                <a:solidFill>
                  <a:srgbClr val="FFFFFF"/>
                </a:solidFill>
              </a:rPr>
              <a:t>Терминаторът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предпазва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линията</a:t>
            </a:r>
            <a:r>
              <a:rPr lang="ru-RU" sz="2000" dirty="0">
                <a:solidFill>
                  <a:srgbClr val="FFFFFF"/>
                </a:solidFill>
              </a:rPr>
              <a:t> от т.н. „</a:t>
            </a:r>
            <a:r>
              <a:rPr lang="ru-RU" sz="2000" dirty="0" err="1">
                <a:solidFill>
                  <a:srgbClr val="FFFFFF"/>
                </a:solidFill>
              </a:rPr>
              <a:t>отскачане</a:t>
            </a:r>
            <a:r>
              <a:rPr lang="ru-RU" sz="2000" dirty="0">
                <a:solidFill>
                  <a:srgbClr val="FFFFFF"/>
                </a:solidFill>
              </a:rPr>
              <a:t> на сигнала”. </a:t>
            </a:r>
            <a:r>
              <a:rPr lang="ru-RU" sz="2000" dirty="0" err="1">
                <a:solidFill>
                  <a:srgbClr val="FFFFFF"/>
                </a:solidFill>
              </a:rPr>
              <a:t>Ако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липсва</a:t>
            </a:r>
            <a:r>
              <a:rPr lang="ru-RU" sz="2000" dirty="0">
                <a:solidFill>
                  <a:srgbClr val="FFFFFF"/>
                </a:solidFill>
              </a:rPr>
              <a:t> терминатор </a:t>
            </a:r>
            <a:r>
              <a:rPr lang="ru-RU" sz="2000" dirty="0" err="1">
                <a:solidFill>
                  <a:srgbClr val="FFFFFF"/>
                </a:solidFill>
              </a:rPr>
              <a:t>сигналът</a:t>
            </a:r>
            <a:r>
              <a:rPr lang="ru-RU" sz="2000" dirty="0">
                <a:solidFill>
                  <a:srgbClr val="FFFFFF"/>
                </a:solidFill>
              </a:rPr>
              <a:t>, </a:t>
            </a:r>
            <a:r>
              <a:rPr lang="ru-RU" sz="2000" dirty="0" err="1">
                <a:solidFill>
                  <a:srgbClr val="FFFFFF"/>
                </a:solidFill>
              </a:rPr>
              <a:t>достигайки</a:t>
            </a:r>
            <a:r>
              <a:rPr lang="ru-RU" sz="2000" dirty="0">
                <a:solidFill>
                  <a:srgbClr val="FFFFFF"/>
                </a:solidFill>
              </a:rPr>
              <a:t> до края на </a:t>
            </a:r>
            <a:r>
              <a:rPr lang="ru-RU" sz="2000" dirty="0" err="1">
                <a:solidFill>
                  <a:srgbClr val="FFFFFF"/>
                </a:solidFill>
              </a:rPr>
              <a:t>линията</a:t>
            </a:r>
            <a:r>
              <a:rPr lang="ru-RU" sz="2000" dirty="0">
                <a:solidFill>
                  <a:srgbClr val="FFFFFF"/>
                </a:solidFill>
              </a:rPr>
              <a:t>, </a:t>
            </a:r>
            <a:r>
              <a:rPr lang="ru-RU" sz="2000" dirty="0" err="1">
                <a:solidFill>
                  <a:srgbClr val="FFFFFF"/>
                </a:solidFill>
              </a:rPr>
              <a:t>отскача</a:t>
            </a:r>
            <a:r>
              <a:rPr lang="ru-RU" sz="2000" dirty="0">
                <a:solidFill>
                  <a:srgbClr val="FFFFFF"/>
                </a:solidFill>
              </a:rPr>
              <a:t> и се </a:t>
            </a:r>
            <a:r>
              <a:rPr lang="ru-RU" sz="2000" dirty="0" err="1">
                <a:solidFill>
                  <a:srgbClr val="FFFFFF"/>
                </a:solidFill>
              </a:rPr>
              <a:t>връща</a:t>
            </a:r>
            <a:r>
              <a:rPr lang="ru-RU" sz="2000" dirty="0">
                <a:solidFill>
                  <a:srgbClr val="FFFFFF"/>
                </a:solidFill>
              </a:rPr>
              <a:t> обратно, </a:t>
            </a:r>
            <a:r>
              <a:rPr lang="ru-RU" sz="2000" dirty="0" err="1">
                <a:solidFill>
                  <a:srgbClr val="FFFFFF"/>
                </a:solidFill>
              </a:rPr>
              <a:t>което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пречи</a:t>
            </a:r>
            <a:r>
              <a:rPr lang="ru-RU" sz="2000" dirty="0">
                <a:solidFill>
                  <a:srgbClr val="FFFFFF"/>
                </a:solidFill>
              </a:rPr>
              <a:t> на </a:t>
            </a:r>
            <a:r>
              <a:rPr lang="ru-RU" sz="2000" dirty="0" err="1">
                <a:solidFill>
                  <a:srgbClr val="FFFFFF"/>
                </a:solidFill>
              </a:rPr>
              <a:t>останалите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изпратени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сигнали</a:t>
            </a:r>
            <a:r>
              <a:rPr lang="ru-RU" sz="2000" dirty="0">
                <a:solidFill>
                  <a:srgbClr val="FFFFFF"/>
                </a:solidFill>
              </a:rPr>
              <a:t>. </a:t>
            </a:r>
            <a:r>
              <a:rPr lang="ru-RU" sz="2000" dirty="0" err="1">
                <a:solidFill>
                  <a:srgbClr val="FFFFFF"/>
                </a:solidFill>
              </a:rPr>
              <a:t>Единият</a:t>
            </a:r>
            <a:r>
              <a:rPr lang="ru-RU" sz="2000" dirty="0">
                <a:solidFill>
                  <a:srgbClr val="FFFFFF"/>
                </a:solidFill>
              </a:rPr>
              <a:t> от </a:t>
            </a:r>
            <a:r>
              <a:rPr lang="ru-RU" sz="2000" dirty="0" err="1">
                <a:solidFill>
                  <a:srgbClr val="FFFFFF"/>
                </a:solidFill>
              </a:rPr>
              <a:t>краищата</a:t>
            </a:r>
            <a:r>
              <a:rPr lang="ru-RU" sz="2000" dirty="0">
                <a:solidFill>
                  <a:srgbClr val="FFFFFF"/>
                </a:solidFill>
              </a:rPr>
              <a:t> на </a:t>
            </a:r>
            <a:r>
              <a:rPr lang="ru-RU" sz="2000" dirty="0" err="1">
                <a:solidFill>
                  <a:srgbClr val="FFFFFF"/>
                </a:solidFill>
              </a:rPr>
              <a:t>шината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трябва</a:t>
            </a:r>
            <a:r>
              <a:rPr lang="ru-RU" sz="2000" dirty="0">
                <a:solidFill>
                  <a:srgbClr val="FFFFFF"/>
                </a:solidFill>
              </a:rPr>
              <a:t> да </a:t>
            </a:r>
            <a:r>
              <a:rPr lang="ru-RU" sz="2000" dirty="0" err="1">
                <a:solidFill>
                  <a:srgbClr val="FFFFFF"/>
                </a:solidFill>
              </a:rPr>
              <a:t>бъде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заземен</a:t>
            </a:r>
            <a:r>
              <a:rPr lang="ru-RU" sz="2000" dirty="0">
                <a:solidFill>
                  <a:srgbClr val="FFFFFF"/>
                </a:solidFill>
              </a:rPr>
              <a:t> (но не и </a:t>
            </a:r>
            <a:r>
              <a:rPr lang="ru-RU" sz="2000" dirty="0" err="1">
                <a:solidFill>
                  <a:srgbClr val="FFFFFF"/>
                </a:solidFill>
              </a:rPr>
              <a:t>двата</a:t>
            </a:r>
            <a:r>
              <a:rPr lang="ru-RU" sz="2000" dirty="0">
                <a:solidFill>
                  <a:srgbClr val="FFFFFF"/>
                </a:solidFill>
              </a:rPr>
              <a:t>!)</a:t>
            </a:r>
            <a:endParaRPr lang="bg-BG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018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E978A47D-4F17-40FE-AB70-7AF78A9575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5BE3A7E-6A3F-401E-A025-BBB8FDB8DD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41EE9036-817C-476C-BD59-B5184F9A3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F098087A-B4E4-4300-A841-44988BD88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F5BD5F4B-A39C-4DF9-84E4-A4D33F30E6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D7FA9858-BFA0-4D5B-AF72-B1B65EB069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A508A5F3-AFE0-4750-A9C2-B51A514FFC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92B4AAEB-ABF4-42A7-BE52-0B442190D1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3767C370-4A42-4376-8CAE-606C4BC8F4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6205F53-9C95-4954-B97C-1625BB8A35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DC80B58E-3469-43E9-96FC-D747B69830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E17A4ED2-DDD7-4B4D-A39C-9B0121C886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A2C14A85-E7A9-4E1D-809F-20F5CFA788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3D51E32-9399-4B7F-8D91-BF9A068B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9969F9D2-502D-4C1D-ABA5-02B1BF2A00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4AE555C6-5623-478A-BF35-63E9929A3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A3D3AED4-A69E-4301-9BB4-436DC5F0C9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C3B8082C-2D81-48D7-8B45-85B7C8929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9AD35461-BA86-408B-8A29-244EB2F2F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F238E495-B6C6-4857-899B-CDD5848312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E20A751E-054C-4EC2-8DA3-0EC923A658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B6E8E701-3D21-4E5C-AB6E-9A74046970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431BDA41-D09D-4984-B888-756F5F81B4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0DC943D2-20E4-4C00-82D2-D405A7C00B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4BC34A74-80A2-4DE1-8ADC-BBD1709035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6C3CA25-431F-4E26-952D-4AA9C4C725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776D1836-82AE-40EF-9829-C6B8D2CF02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9A8E397E-ADF9-45C1-98F4-3F5A86378B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DE07CFD9-357F-40BC-A792-CE874BFE5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E4B777F9-21E5-6282-E9B0-BCEE894B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ru-RU" sz="3400"/>
              <a:t>Предимства </a:t>
            </a:r>
            <a:endParaRPr lang="bg-BG" sz="340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085ECEC0-FF5D-4348-92C7-1EA7C61E7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FC10A624-2CCB-DD82-02E3-120A40A10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800"/>
              <a:t>• Лесна за инсталиране; </a:t>
            </a:r>
          </a:p>
          <a:p>
            <a:pPr marL="0" indent="0">
              <a:buNone/>
            </a:pPr>
            <a:r>
              <a:rPr lang="ru-RU" sz="1800"/>
              <a:t>• Използва се по-малко кабел; </a:t>
            </a:r>
          </a:p>
          <a:p>
            <a:pPr marL="0" indent="0">
              <a:buNone/>
            </a:pPr>
            <a:r>
              <a:rPr lang="ru-RU" sz="1800"/>
              <a:t>• Няма централна точка; </a:t>
            </a:r>
          </a:p>
          <a:p>
            <a:pPr marL="0" indent="0">
              <a:buNone/>
            </a:pPr>
            <a:r>
              <a:rPr lang="ru-RU" sz="1800"/>
              <a:t>• Подходяща за малки мрежи, които свързват само няколко компютъра.</a:t>
            </a:r>
            <a:endParaRPr lang="bg-BG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4E035BE-9FF4-43D3-BC25-CF582D7FF8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xmlns="" id="{F98BCEB2-EC20-4E84-A994-0AC37292C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xmlns="" id="{7A2E1821-AEDF-417E-9F17-83379E9C0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xmlns="" id="{CB3734E2-8292-4B47-B6AB-0E5A058DE9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xmlns="" id="{A0B09C51-29AB-45C0-B707-CCFB9DF28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xmlns="" id="{510C0CED-AE1B-45AE-B5E1-57521E589D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xmlns="" id="{591F2327-4B45-41AA-B41C-7404B6A1E4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xmlns="" id="{5A63224C-41A0-42C0-96F6-0B2BE99A13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xmlns="" id="{A7C00B9F-C253-4776-9935-EC02254A4F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5062D4AA-13F3-4064-8440-FFE8562D8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xmlns="" id="{3E143B27-CB82-440B-879B-D25C1891C1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209954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E978A47D-4F17-40FE-AB70-7AF78A9575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5BE3A7E-6A3F-401E-A025-BBB8FDB8DD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41EE9036-817C-476C-BD59-B5184F9A3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F098087A-B4E4-4300-A841-44988BD88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F5BD5F4B-A39C-4DF9-84E4-A4D33F30E6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D7FA9858-BFA0-4D5B-AF72-B1B65EB069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A508A5F3-AFE0-4750-A9C2-B51A514FFC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92B4AAEB-ABF4-42A7-BE52-0B442190D1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3767C370-4A42-4376-8CAE-606C4BC8F4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6205F53-9C95-4954-B97C-1625BB8A35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DC80B58E-3469-43E9-96FC-D747B69830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E17A4ED2-DDD7-4B4D-A39C-9B0121C886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A2C14A85-E7A9-4E1D-809F-20F5CFA788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3D51E32-9399-4B7F-8D91-BF9A068B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9969F9D2-502D-4C1D-ABA5-02B1BF2A00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4AE555C6-5623-478A-BF35-63E9929A3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A3D3AED4-A69E-4301-9BB4-436DC5F0C9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C3B8082C-2D81-48D7-8B45-85B7C8929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9AD35461-BA86-408B-8A29-244EB2F2F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F238E495-B6C6-4857-899B-CDD5848312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E20A751E-054C-4EC2-8DA3-0EC923A658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B6E8E701-3D21-4E5C-AB6E-9A74046970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431BDA41-D09D-4984-B888-756F5F81B4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0DC943D2-20E4-4C00-82D2-D405A7C00B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4BC34A74-80A2-4DE1-8ADC-BBD1709035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6C3CA25-431F-4E26-952D-4AA9C4C725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776D1836-82AE-40EF-9829-C6B8D2CF02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9A8E397E-ADF9-45C1-98F4-3F5A86378B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DE07CFD9-357F-40BC-A792-CE874BFE5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01343306-C2D5-D6A0-F18D-3BC2133C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ru-RU" sz="3100"/>
              <a:t>Недостатъци</a:t>
            </a:r>
            <a:endParaRPr lang="bg-BG" sz="310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085ECEC0-FF5D-4348-92C7-1EA7C61E7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F0E5A551-FE6C-E14E-64EF-02E13E528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ru-RU" sz="1800"/>
              <a:t>Остаряла топология; </a:t>
            </a:r>
          </a:p>
          <a:p>
            <a:r>
              <a:rPr lang="ru-RU" sz="1800"/>
              <a:t> Един контур свързва всички компютри; </a:t>
            </a:r>
          </a:p>
          <a:p>
            <a:r>
              <a:rPr lang="ru-RU" sz="1800"/>
              <a:t> Само един компютър може да предава информация по мрежата в даден момент от време. Информацията се разпръсква по кабела като само една мрежова карта я приема; </a:t>
            </a:r>
          </a:p>
          <a:p>
            <a:r>
              <a:rPr lang="ru-RU" sz="1800"/>
              <a:t>Не е лесно да се добавят компютри в мрежата. Трябва да се прекъсне мрежовата връзка, за да се добави компютър; </a:t>
            </a:r>
          </a:p>
          <a:p>
            <a:r>
              <a:rPr lang="ru-RU" sz="1800"/>
              <a:t> Ако един компютър причинява проблеми, всички компютри в мрежата са засегнати от неизправността му</a:t>
            </a:r>
            <a:endParaRPr lang="bg-BG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4E035BE-9FF4-43D3-BC25-CF582D7FF8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xmlns="" id="{F98BCEB2-EC20-4E84-A994-0AC37292C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xmlns="" id="{7A2E1821-AEDF-417E-9F17-83379E9C0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xmlns="" id="{CB3734E2-8292-4B47-B6AB-0E5A058DE9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xmlns="" id="{A0B09C51-29AB-45C0-B707-CCFB9DF28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xmlns="" id="{510C0CED-AE1B-45AE-B5E1-57521E589D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xmlns="" id="{591F2327-4B45-41AA-B41C-7404B6A1E4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xmlns="" id="{5A63224C-41A0-42C0-96F6-0B2BE99A13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xmlns="" id="{A7C00B9F-C253-4776-9935-EC02254A4F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5062D4AA-13F3-4064-8440-FFE8562D8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xmlns="" id="{3E143B27-CB82-440B-879B-D25C1891C1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10019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9">
            <a:extLst>
              <a:ext uri="{FF2B5EF4-FFF2-40B4-BE49-F238E27FC236}">
                <a16:creationId xmlns:a16="http://schemas.microsoft.com/office/drawing/2014/main" xmlns="" id="{046B922C-5BA7-4973-B12F-71A509E4B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11">
            <a:extLst>
              <a:ext uri="{FF2B5EF4-FFF2-40B4-BE49-F238E27FC236}">
                <a16:creationId xmlns:a16="http://schemas.microsoft.com/office/drawing/2014/main" xmlns="" id="{96D34D8D-9EE9-4659-8C22-7551A95F96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3CA93C16-1147-4EB3-B4E7-3C43102494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xmlns="" id="{C4779968-92AF-4B85-8C27-EBBFE1D6990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xmlns="" id="{2C43E18D-7024-4F17-A664-E23BFBC12B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xmlns="" id="{CA2ACEBA-081B-4B0B-AFB1-C596B834FD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xmlns="" id="{2AFBB163-514B-493A-983F-8BE96848F9B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xmlns="" id="{7720326C-7DB1-4745-9015-3FA6990855B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xmlns="" id="{01D5FBDC-A284-440B-8D5F-84287B0A25D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xmlns="" id="{517CE611-1CB0-442B-8998-98487209B0E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xmlns="" id="{EF0F0E46-9222-4FCF-A79E-9B4953C6F0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xmlns="" id="{371A87C3-0804-4AB9-8EAD-FBFF597ED82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xmlns="" id="{89F39433-8BC3-48D6-B705-F951DBDAAB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xmlns="" id="{AE671C9D-E91C-4143-A422-273B2F53F69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xmlns="" id="{83A72EA3-8833-41C6-9333-6A04C1C08D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xmlns="" id="{2C0D7AAB-DC9C-4B37-A50E-A7185DE92E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xmlns="" id="{6E7D9D6B-3455-4363-934B-FA2D682931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xmlns="" id="{FFFFCA54-2217-4DAE-B791-4A6CA7DE0BD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xmlns="" id="{BAE43BA5-C104-4FBB-B1C6-C210D3CC532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xmlns="" id="{3BDB2330-DF01-460D-83FB-00C37965CD5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xmlns="" id="{51261093-9B7F-4406-B2F8-0F5BE7676A2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xmlns="" id="{9971E195-2AB6-4CB6-9BD7-A8407B5C809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xmlns="" id="{A3D843E7-8A86-4676-9C98-DECE0DFF674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xmlns="" id="{FAF42817-AB3E-40FA-997F-EAC1411F465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xmlns="" id="{50ED3298-A6DC-4825-93B1-68DB8CB629A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xmlns="" id="{2B951778-3B6B-4BB9-9D89-2ED650C820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xmlns="" id="{8F3ED9A8-A83F-463A-8C2E-E83977D9A9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xmlns="" id="{9A0C113E-781D-4083-86C0-EC936092D27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xmlns="" id="{B63D60EF-1E99-4D4C-BF11-AAF8ABEB86E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xmlns="" id="{50403E41-7079-49EA-8D0B-4F678552D9B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E3B2C458-4D37-49A0-A94E-D516E05C3C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xmlns="" id="{C1B10016-E0C4-4526-A466-9911541D26E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xmlns="" id="{D574C3F0-FC2B-43A3-94B2-75D305FBF7D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xmlns="" id="{D92A5F66-F404-433B-BDBE-5E0DFF40D65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xmlns="" id="{0A0BDF81-64CC-431D-81B1-A21938C0543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xmlns="" id="{42871530-50EC-42C2-879A-AE8154DADC0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xmlns="" id="{53AF2F2A-B148-4906-B90D-6E222397845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xmlns="" id="{9A79EAA4-6F5D-4A2C-B688-CD29C2217C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xmlns="" id="{B9CE5833-22CF-4408-9338-4B7749FEA3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xmlns="" id="{316A985A-7ADD-4BEE-A7B6-E5B49E1839E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xmlns="" id="{352CFA3F-5CFE-412E-9196-C966F34579D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9" name="Picture 2">
            <a:extLst>
              <a:ext uri="{FF2B5EF4-FFF2-40B4-BE49-F238E27FC236}">
                <a16:creationId xmlns:a16="http://schemas.microsoft.com/office/drawing/2014/main" xmlns="" id="{2FB01CCF-839B-4126-9BF9-132C64D8A1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26C084E9-31BE-7691-1767-D0F0B487B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bg-BG">
                <a:solidFill>
                  <a:srgbClr val="FFFFFF"/>
                </a:solidFill>
              </a:rPr>
              <a:t>Топология тип: “звезда”</a:t>
            </a:r>
          </a:p>
        </p:txBody>
      </p:sp>
      <p:sp useBgFill="1">
        <p:nvSpPr>
          <p:cNvPr id="60" name="Round Diagonal Corner Rectangle 6">
            <a:extLst>
              <a:ext uri="{FF2B5EF4-FFF2-40B4-BE49-F238E27FC236}">
                <a16:creationId xmlns:a16="http://schemas.microsoft.com/office/drawing/2014/main" xmlns="" id="{F2B1468C-8227-4785-8776-7BDBDDF08F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xmlns="" id="{4E98AD47-F004-F836-F20B-DF22013E6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17" y="2321693"/>
            <a:ext cx="3178638" cy="2209153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0E823157-EA9C-411F-D662-BFA9B7584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79296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2000" dirty="0">
                <a:solidFill>
                  <a:srgbClr val="FFFFFF"/>
                </a:solidFill>
              </a:rPr>
              <a:t>Най-</a:t>
            </a:r>
            <a:r>
              <a:rPr lang="ru-RU" sz="2000" dirty="0" err="1">
                <a:solidFill>
                  <a:srgbClr val="FFFFFF"/>
                </a:solidFill>
              </a:rPr>
              <a:t>разпространеният</a:t>
            </a:r>
            <a:r>
              <a:rPr lang="ru-RU" sz="2000" dirty="0">
                <a:solidFill>
                  <a:srgbClr val="FFFFFF"/>
                </a:solidFill>
              </a:rPr>
              <a:t> тип </a:t>
            </a:r>
            <a:r>
              <a:rPr lang="ru-RU" sz="2000" dirty="0" err="1">
                <a:solidFill>
                  <a:srgbClr val="FFFFFF"/>
                </a:solidFill>
              </a:rPr>
              <a:t>мрежова</a:t>
            </a:r>
            <a:r>
              <a:rPr lang="ru-RU" sz="2000" dirty="0">
                <a:solidFill>
                  <a:srgbClr val="FFFFFF"/>
                </a:solidFill>
              </a:rPr>
              <a:t> структура </a:t>
            </a:r>
            <a:r>
              <a:rPr lang="ru-RU" sz="2000" dirty="0" err="1">
                <a:solidFill>
                  <a:srgbClr val="FFFFFF"/>
                </a:solidFill>
              </a:rPr>
              <a:t>днес</a:t>
            </a:r>
            <a:r>
              <a:rPr lang="ru-RU" sz="2000" dirty="0">
                <a:solidFill>
                  <a:srgbClr val="FFFFFF"/>
                </a:solidFill>
              </a:rPr>
              <a:t> е </a:t>
            </a:r>
            <a:r>
              <a:rPr lang="ru-RU" sz="2000" dirty="0" err="1">
                <a:solidFill>
                  <a:srgbClr val="FFFFFF"/>
                </a:solidFill>
              </a:rPr>
              <a:t>мрежата</a:t>
            </a:r>
            <a:r>
              <a:rPr lang="ru-RU" sz="2000" dirty="0">
                <a:solidFill>
                  <a:srgbClr val="FFFFFF"/>
                </a:solidFill>
              </a:rPr>
              <a:t> тип “звезда”. При топология звезда, </a:t>
            </a:r>
            <a:r>
              <a:rPr lang="ru-RU" sz="2000" dirty="0" err="1">
                <a:solidFill>
                  <a:srgbClr val="FFFFFF"/>
                </a:solidFill>
              </a:rPr>
              <a:t>всеки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компютър</a:t>
            </a:r>
            <a:r>
              <a:rPr lang="ru-RU" sz="2000" dirty="0">
                <a:solidFill>
                  <a:srgbClr val="FFFFFF"/>
                </a:solidFill>
              </a:rPr>
              <a:t> се </a:t>
            </a:r>
            <a:r>
              <a:rPr lang="ru-RU" sz="2000" dirty="0" err="1">
                <a:solidFill>
                  <a:srgbClr val="FFFFFF"/>
                </a:solidFill>
              </a:rPr>
              <a:t>свързва</a:t>
            </a:r>
            <a:r>
              <a:rPr lang="ru-RU" sz="2000" dirty="0">
                <a:solidFill>
                  <a:srgbClr val="FFFFFF"/>
                </a:solidFill>
              </a:rPr>
              <a:t> чрез отделен </a:t>
            </a:r>
            <a:r>
              <a:rPr lang="ru-RU" sz="2000" dirty="0" err="1">
                <a:solidFill>
                  <a:srgbClr val="FFFFFF"/>
                </a:solidFill>
              </a:rPr>
              <a:t>кабел</a:t>
            </a:r>
            <a:r>
              <a:rPr lang="ru-RU" sz="2000" dirty="0">
                <a:solidFill>
                  <a:srgbClr val="FFFFFF"/>
                </a:solidFill>
              </a:rPr>
              <a:t> с </a:t>
            </a:r>
            <a:r>
              <a:rPr lang="ru-RU" sz="2000" dirty="0" err="1">
                <a:solidFill>
                  <a:srgbClr val="FFFFFF"/>
                </a:solidFill>
              </a:rPr>
              <a:t>централно</a:t>
            </a:r>
            <a:r>
              <a:rPr lang="ru-RU" sz="2000" dirty="0">
                <a:solidFill>
                  <a:srgbClr val="FFFFFF"/>
                </a:solidFill>
              </a:rPr>
              <a:t> устройство – </a:t>
            </a:r>
            <a:r>
              <a:rPr lang="ru-RU" sz="2000" dirty="0" err="1">
                <a:solidFill>
                  <a:srgbClr val="FFFFFF"/>
                </a:solidFill>
              </a:rPr>
              <a:t>хъб</a:t>
            </a:r>
            <a:r>
              <a:rPr lang="ru-RU" sz="2000" dirty="0">
                <a:solidFill>
                  <a:srgbClr val="FFFFFF"/>
                </a:solidFill>
              </a:rPr>
              <a:t> или </a:t>
            </a:r>
            <a:r>
              <a:rPr lang="ru-RU" sz="2000" dirty="0" err="1">
                <a:solidFill>
                  <a:srgbClr val="FFFFFF"/>
                </a:solidFill>
              </a:rPr>
              <a:t>суич</a:t>
            </a:r>
            <a:r>
              <a:rPr lang="ru-RU" sz="2000" dirty="0">
                <a:solidFill>
                  <a:srgbClr val="FFFFFF"/>
                </a:solidFill>
              </a:rPr>
              <a:t>. </a:t>
            </a:r>
            <a:r>
              <a:rPr lang="ru-RU" sz="2000" dirty="0" err="1">
                <a:solidFill>
                  <a:srgbClr val="FFFFFF"/>
                </a:solidFill>
              </a:rPr>
              <a:t>Кабелът</a:t>
            </a:r>
            <a:r>
              <a:rPr lang="ru-RU" sz="2000" dirty="0">
                <a:solidFill>
                  <a:srgbClr val="FFFFFF"/>
                </a:solidFill>
              </a:rPr>
              <a:t>, </a:t>
            </a:r>
            <a:r>
              <a:rPr lang="ru-RU" sz="2000" dirty="0" err="1">
                <a:solidFill>
                  <a:srgbClr val="FFFFFF"/>
                </a:solidFill>
              </a:rPr>
              <a:t>снабден</a:t>
            </a:r>
            <a:r>
              <a:rPr lang="ru-RU" sz="2000" dirty="0">
                <a:solidFill>
                  <a:srgbClr val="FFFFFF"/>
                </a:solidFill>
              </a:rPr>
              <a:t> от </a:t>
            </a:r>
            <a:r>
              <a:rPr lang="ru-RU" sz="2000" dirty="0" err="1">
                <a:solidFill>
                  <a:srgbClr val="FFFFFF"/>
                </a:solidFill>
              </a:rPr>
              <a:t>двата</a:t>
            </a:r>
            <a:r>
              <a:rPr lang="ru-RU" sz="2000" dirty="0">
                <a:solidFill>
                  <a:srgbClr val="FFFFFF"/>
                </a:solidFill>
              </a:rPr>
              <a:t> края с </a:t>
            </a:r>
            <a:r>
              <a:rPr lang="ru-RU" sz="2000" dirty="0" err="1">
                <a:solidFill>
                  <a:srgbClr val="FFFFFF"/>
                </a:solidFill>
              </a:rPr>
              <a:t>конектори</a:t>
            </a:r>
            <a:r>
              <a:rPr lang="ru-RU" sz="2000" dirty="0">
                <a:solidFill>
                  <a:srgbClr val="FFFFFF"/>
                </a:solidFill>
              </a:rPr>
              <a:t> се </a:t>
            </a:r>
            <a:r>
              <a:rPr lang="ru-RU" sz="2000" dirty="0" err="1">
                <a:solidFill>
                  <a:srgbClr val="FFFFFF"/>
                </a:solidFill>
              </a:rPr>
              <a:t>включва</a:t>
            </a:r>
            <a:r>
              <a:rPr lang="ru-RU" sz="2000" dirty="0">
                <a:solidFill>
                  <a:srgbClr val="FFFFFF"/>
                </a:solidFill>
              </a:rPr>
              <a:t> от </a:t>
            </a:r>
            <a:r>
              <a:rPr lang="ru-RU" sz="2000" dirty="0" err="1">
                <a:solidFill>
                  <a:srgbClr val="FFFFFF"/>
                </a:solidFill>
              </a:rPr>
              <a:t>едната</a:t>
            </a:r>
            <a:r>
              <a:rPr lang="ru-RU" sz="2000" dirty="0">
                <a:solidFill>
                  <a:srgbClr val="FFFFFF"/>
                </a:solidFill>
              </a:rPr>
              <a:t> страна </a:t>
            </a:r>
            <a:r>
              <a:rPr lang="ru-RU" sz="2000" dirty="0" err="1">
                <a:solidFill>
                  <a:srgbClr val="FFFFFF"/>
                </a:solidFill>
              </a:rPr>
              <a:t>към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конектора</a:t>
            </a:r>
            <a:r>
              <a:rPr lang="ru-RU" sz="2000" dirty="0">
                <a:solidFill>
                  <a:srgbClr val="FFFFFF"/>
                </a:solidFill>
              </a:rPr>
              <a:t> на </a:t>
            </a:r>
            <a:r>
              <a:rPr lang="ru-RU" sz="2000" dirty="0" err="1">
                <a:solidFill>
                  <a:srgbClr val="FFFFFF"/>
                </a:solidFill>
              </a:rPr>
              <a:t>мрежовата</a:t>
            </a:r>
            <a:r>
              <a:rPr lang="ru-RU" sz="2000" dirty="0">
                <a:solidFill>
                  <a:srgbClr val="FFFFFF"/>
                </a:solidFill>
              </a:rPr>
              <a:t> карта и от </a:t>
            </a:r>
            <a:r>
              <a:rPr lang="ru-RU" sz="2000" dirty="0" err="1">
                <a:solidFill>
                  <a:srgbClr val="FFFFFF"/>
                </a:solidFill>
              </a:rPr>
              <a:t>другата</a:t>
            </a:r>
            <a:r>
              <a:rPr lang="ru-RU" sz="2000" dirty="0">
                <a:solidFill>
                  <a:srgbClr val="FFFFFF"/>
                </a:solidFill>
              </a:rPr>
              <a:t> страна </a:t>
            </a:r>
            <a:r>
              <a:rPr lang="ru-RU" sz="2000" dirty="0" err="1">
                <a:solidFill>
                  <a:srgbClr val="FFFFFF"/>
                </a:solidFill>
              </a:rPr>
              <a:t>към</a:t>
            </a:r>
            <a:r>
              <a:rPr lang="ru-RU" sz="2000" dirty="0">
                <a:solidFill>
                  <a:srgbClr val="FFFFFF"/>
                </a:solidFill>
              </a:rPr>
              <a:t> свободен порт на </a:t>
            </a:r>
            <a:r>
              <a:rPr lang="ru-RU" sz="2000" dirty="0" err="1">
                <a:solidFill>
                  <a:srgbClr val="FFFFFF"/>
                </a:solidFill>
              </a:rPr>
              <a:t>хъба</a:t>
            </a:r>
            <a:r>
              <a:rPr lang="ru-RU" sz="2000" dirty="0">
                <a:solidFill>
                  <a:srgbClr val="FFFFFF"/>
                </a:solidFill>
              </a:rPr>
              <a:t>. Всяка </a:t>
            </a:r>
            <a:r>
              <a:rPr lang="ru-RU" sz="2000" dirty="0" err="1">
                <a:solidFill>
                  <a:srgbClr val="FFFFFF"/>
                </a:solidFill>
              </a:rPr>
              <a:t>централна</a:t>
            </a:r>
            <a:r>
              <a:rPr lang="ru-RU" sz="2000" dirty="0">
                <a:solidFill>
                  <a:srgbClr val="FFFFFF"/>
                </a:solidFill>
              </a:rPr>
              <a:t> точка </a:t>
            </a:r>
            <a:r>
              <a:rPr lang="ru-RU" sz="2000" dirty="0" err="1">
                <a:solidFill>
                  <a:srgbClr val="FFFFFF"/>
                </a:solidFill>
              </a:rPr>
              <a:t>може</a:t>
            </a:r>
            <a:r>
              <a:rPr lang="ru-RU" sz="2000" dirty="0">
                <a:solidFill>
                  <a:srgbClr val="FFFFFF"/>
                </a:solidFill>
              </a:rPr>
              <a:t> да </a:t>
            </a:r>
            <a:r>
              <a:rPr lang="ru-RU" sz="2000" dirty="0" err="1">
                <a:solidFill>
                  <a:srgbClr val="FFFFFF"/>
                </a:solidFill>
              </a:rPr>
              <a:t>свърже</a:t>
            </a:r>
            <a:r>
              <a:rPr lang="ru-RU" sz="2000" dirty="0">
                <a:solidFill>
                  <a:srgbClr val="FFFFFF"/>
                </a:solidFill>
              </a:rPr>
              <a:t> 16 или 32 устройства. При </a:t>
            </a:r>
            <a:r>
              <a:rPr lang="ru-RU" sz="2000" dirty="0" err="1">
                <a:solidFill>
                  <a:srgbClr val="FFFFFF"/>
                </a:solidFill>
              </a:rPr>
              <a:t>по-голям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брой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компютри</a:t>
            </a:r>
            <a:r>
              <a:rPr lang="ru-RU" sz="2000" dirty="0">
                <a:solidFill>
                  <a:srgbClr val="FFFFFF"/>
                </a:solidFill>
              </a:rPr>
              <a:t> е </a:t>
            </a:r>
            <a:r>
              <a:rPr lang="ru-RU" sz="2000" dirty="0" err="1">
                <a:solidFill>
                  <a:srgbClr val="FFFFFF"/>
                </a:solidFill>
              </a:rPr>
              <a:t>възможно</a:t>
            </a:r>
            <a:r>
              <a:rPr lang="ru-RU" sz="2000" dirty="0">
                <a:solidFill>
                  <a:srgbClr val="FFFFFF"/>
                </a:solidFill>
              </a:rPr>
              <a:t> да се </a:t>
            </a:r>
            <a:r>
              <a:rPr lang="ru-RU" sz="2000" dirty="0" err="1">
                <a:solidFill>
                  <a:srgbClr val="FFFFFF"/>
                </a:solidFill>
              </a:rPr>
              <a:t>реализира</a:t>
            </a:r>
            <a:r>
              <a:rPr lang="ru-RU" sz="2000" dirty="0">
                <a:solidFill>
                  <a:srgbClr val="FFFFFF"/>
                </a:solidFill>
              </a:rPr>
              <a:t> т.н. </a:t>
            </a:r>
            <a:r>
              <a:rPr lang="ru-RU" sz="2000" dirty="0" err="1">
                <a:solidFill>
                  <a:srgbClr val="FFFFFF"/>
                </a:solidFill>
              </a:rPr>
              <a:t>каскадно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свързване</a:t>
            </a:r>
            <a:r>
              <a:rPr lang="ru-RU" sz="2000" dirty="0">
                <a:solidFill>
                  <a:srgbClr val="FFFFFF"/>
                </a:solidFill>
              </a:rPr>
              <a:t> – </a:t>
            </a:r>
            <a:r>
              <a:rPr lang="ru-RU" sz="2000" dirty="0" err="1">
                <a:solidFill>
                  <a:srgbClr val="FFFFFF"/>
                </a:solidFill>
              </a:rPr>
              <a:t>няколко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хъба</a:t>
            </a:r>
            <a:r>
              <a:rPr lang="ru-RU" sz="2000" dirty="0">
                <a:solidFill>
                  <a:srgbClr val="FFFFFF"/>
                </a:solidFill>
              </a:rPr>
              <a:t> се </a:t>
            </a:r>
            <a:r>
              <a:rPr lang="ru-RU" sz="2000" dirty="0" err="1">
                <a:solidFill>
                  <a:srgbClr val="FFFFFF"/>
                </a:solidFill>
              </a:rPr>
              <a:t>свързват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помежду</a:t>
            </a:r>
            <a:r>
              <a:rPr lang="ru-RU" sz="2000" dirty="0">
                <a:solidFill>
                  <a:srgbClr val="FFFFFF"/>
                </a:solidFill>
              </a:rPr>
              <a:t> си. В случая не се </a:t>
            </a:r>
            <a:r>
              <a:rPr lang="ru-RU" sz="2000" dirty="0" err="1">
                <a:solidFill>
                  <a:srgbClr val="FFFFFF"/>
                </a:solidFill>
              </a:rPr>
              <a:t>налага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използването</a:t>
            </a:r>
            <a:r>
              <a:rPr lang="ru-RU" sz="2000" dirty="0">
                <a:solidFill>
                  <a:srgbClr val="FFFFFF"/>
                </a:solidFill>
              </a:rPr>
              <a:t> на </a:t>
            </a:r>
            <a:r>
              <a:rPr lang="ru-RU" sz="2000" dirty="0" err="1">
                <a:solidFill>
                  <a:srgbClr val="FFFFFF"/>
                </a:solidFill>
              </a:rPr>
              <a:t>терминатори</a:t>
            </a:r>
            <a:r>
              <a:rPr lang="ru-RU" sz="2000" dirty="0">
                <a:solidFill>
                  <a:srgbClr val="FFFFFF"/>
                </a:solidFill>
              </a:rPr>
              <a:t>.</a:t>
            </a:r>
            <a:endParaRPr lang="bg-BG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098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E978A47D-4F17-40FE-AB70-7AF78A9575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5BE3A7E-6A3F-401E-A025-BBB8FDB8DD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41EE9036-817C-476C-BD59-B5184F9A3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F098087A-B4E4-4300-A841-44988BD88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F5BD5F4B-A39C-4DF9-84E4-A4D33F30E6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D7FA9858-BFA0-4D5B-AF72-B1B65EB069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A508A5F3-AFE0-4750-A9C2-B51A514FFC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92B4AAEB-ABF4-42A7-BE52-0B442190D1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3767C370-4A42-4376-8CAE-606C4BC8F4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6205F53-9C95-4954-B97C-1625BB8A35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DC80B58E-3469-43E9-96FC-D747B69830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E17A4ED2-DDD7-4B4D-A39C-9B0121C886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A2C14A85-E7A9-4E1D-809F-20F5CFA788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3D51E32-9399-4B7F-8D91-BF9A068B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9969F9D2-502D-4C1D-ABA5-02B1BF2A00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4AE555C6-5623-478A-BF35-63E9929A3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A3D3AED4-A69E-4301-9BB4-436DC5F0C9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C3B8082C-2D81-48D7-8B45-85B7C8929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9AD35461-BA86-408B-8A29-244EB2F2F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F238E495-B6C6-4857-899B-CDD5848312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E20A751E-054C-4EC2-8DA3-0EC923A658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B6E8E701-3D21-4E5C-AB6E-9A74046970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431BDA41-D09D-4984-B888-756F5F81B4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0DC943D2-20E4-4C00-82D2-D405A7C00B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4BC34A74-80A2-4DE1-8ADC-BBD1709035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6C3CA25-431F-4E26-952D-4AA9C4C725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776D1836-82AE-40EF-9829-C6B8D2CF02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9A8E397E-ADF9-45C1-98F4-3F5A86378B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DE07CFD9-357F-40BC-A792-CE874BFE5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0FFB7257-FB8E-62C7-917C-4DC2A9645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1082673"/>
            <a:ext cx="3483779" cy="4708528"/>
          </a:xfrm>
        </p:spPr>
        <p:txBody>
          <a:bodyPr>
            <a:normAutofit/>
          </a:bodyPr>
          <a:lstStyle/>
          <a:p>
            <a:pPr algn="r"/>
            <a:r>
              <a:rPr lang="bg-BG" sz="3400" dirty="0"/>
              <a:t>Предимства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085ECEC0-FF5D-4348-92C7-1EA7C61E7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1C9A5078-DFF7-C9A7-03B8-42B5BEF69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ru-RU" sz="1800"/>
              <a:t>Ако има проблем с един компютър в мрежата, останалите компютри продължават да работят, въпреки че няма да имат достъп до ресурсите на проблемния компютър; </a:t>
            </a:r>
          </a:p>
          <a:p>
            <a:r>
              <a:rPr lang="ru-RU" sz="1800"/>
              <a:t>Могат да се добавят компютри към централната точка без да се спира работата на цялата мрежа. </a:t>
            </a:r>
            <a:endParaRPr lang="bg-BG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4E035BE-9FF4-43D3-BC25-CF582D7FF8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xmlns="" id="{F98BCEB2-EC20-4E84-A994-0AC37292C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xmlns="" id="{7A2E1821-AEDF-417E-9F17-83379E9C0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xmlns="" id="{CB3734E2-8292-4B47-B6AB-0E5A058DE9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xmlns="" id="{A0B09C51-29AB-45C0-B707-CCFB9DF28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xmlns="" id="{510C0CED-AE1B-45AE-B5E1-57521E589D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xmlns="" id="{591F2327-4B45-41AA-B41C-7404B6A1E4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xmlns="" id="{5A63224C-41A0-42C0-96F6-0B2BE99A13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xmlns="" id="{A7C00B9F-C253-4776-9935-EC02254A4F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5062D4AA-13F3-4064-8440-FFE8562D8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xmlns="" id="{3E143B27-CB82-440B-879B-D25C1891C1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252310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E978A47D-4F17-40FE-AB70-7AF78A9575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5BE3A7E-6A3F-401E-A025-BBB8FDB8DD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41EE9036-817C-476C-BD59-B5184F9A3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F098087A-B4E4-4300-A841-44988BD88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F5BD5F4B-A39C-4DF9-84E4-A4D33F30E6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D7FA9858-BFA0-4D5B-AF72-B1B65EB069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A508A5F3-AFE0-4750-A9C2-B51A514FFC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92B4AAEB-ABF4-42A7-BE52-0B442190D1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3767C370-4A42-4376-8CAE-606C4BC8F4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6205F53-9C95-4954-B97C-1625BB8A35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DC80B58E-3469-43E9-96FC-D747B69830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E17A4ED2-DDD7-4B4D-A39C-9B0121C886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A2C14A85-E7A9-4E1D-809F-20F5CFA788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3D51E32-9399-4B7F-8D91-BF9A068B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9969F9D2-502D-4C1D-ABA5-02B1BF2A00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4AE555C6-5623-478A-BF35-63E9929A3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A3D3AED4-A69E-4301-9BB4-436DC5F0C9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C3B8082C-2D81-48D7-8B45-85B7C8929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9AD35461-BA86-408B-8A29-244EB2F2F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F238E495-B6C6-4857-899B-CDD5848312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E20A751E-054C-4EC2-8DA3-0EC923A658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B6E8E701-3D21-4E5C-AB6E-9A74046970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431BDA41-D09D-4984-B888-756F5F81B4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0DC943D2-20E4-4C00-82D2-D405A7C00B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4BC34A74-80A2-4DE1-8ADC-BBD1709035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6C3CA25-431F-4E26-952D-4AA9C4C725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776D1836-82AE-40EF-9829-C6B8D2CF02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9A8E397E-ADF9-45C1-98F4-3F5A86378B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DE07CFD9-357F-40BC-A792-CE874BFE5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480EEE09-16E3-413D-4DD3-66C9C1BA4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082673"/>
            <a:ext cx="3326617" cy="4708528"/>
          </a:xfrm>
        </p:spPr>
        <p:txBody>
          <a:bodyPr>
            <a:normAutofit/>
          </a:bodyPr>
          <a:lstStyle/>
          <a:p>
            <a:pPr algn="r"/>
            <a:r>
              <a:rPr lang="bg-BG" sz="3100" dirty="0"/>
              <a:t>Недостатъци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085ECEC0-FF5D-4348-92C7-1EA7C61E7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283B32D1-4DE8-9699-BB18-226612071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ru-RU" sz="1800"/>
              <a:t>По-скъпа за реализация – всеки компютър трябва да се свърже с централната точка с отделен кабел и обикновено е необходим повече кабел, в сравнение с шинната и кръговата топологии; </a:t>
            </a:r>
          </a:p>
          <a:p>
            <a:r>
              <a:rPr lang="ru-RU" sz="1800"/>
              <a:t> Необходимо е да се закупи допълнително устройство за свързване – концентратор (хъб) или комутатор (суич); </a:t>
            </a:r>
          </a:p>
          <a:p>
            <a:r>
              <a:rPr lang="ru-RU" sz="1800"/>
              <a:t>Компютрите не могат да бъдат на повече от 90 метра (кабел) от централната точка</a:t>
            </a:r>
            <a:endParaRPr lang="bg-BG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4E035BE-9FF4-43D3-BC25-CF582D7FF8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xmlns="" id="{F98BCEB2-EC20-4E84-A994-0AC37292C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xmlns="" id="{7A2E1821-AEDF-417E-9F17-83379E9C0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xmlns="" id="{CB3734E2-8292-4B47-B6AB-0E5A058DE9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xmlns="" id="{A0B09C51-29AB-45C0-B707-CCFB9DF28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xmlns="" id="{510C0CED-AE1B-45AE-B5E1-57521E589D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xmlns="" id="{591F2327-4B45-41AA-B41C-7404B6A1E4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xmlns="" id="{5A63224C-41A0-42C0-96F6-0B2BE99A13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xmlns="" id="{A7C00B9F-C253-4776-9935-EC02254A4F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5062D4AA-13F3-4064-8440-FFE8562D8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xmlns="" id="{3E143B27-CB82-440B-879B-D25C1891C1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656702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46B922C-5BA7-4973-B12F-71A509E4B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6D34D8D-9EE9-4659-8C22-7551A95F96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3CA93C16-1147-4EB3-B4E7-3C43102494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xmlns="" id="{C4779968-92AF-4B85-8C27-EBBFE1D6990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xmlns="" id="{2C43E18D-7024-4F17-A664-E23BFBC12B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xmlns="" id="{CA2ACEBA-081B-4B0B-AFB1-C596B834FD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xmlns="" id="{2AFBB163-514B-493A-983F-8BE96848F9B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xmlns="" id="{7720326C-7DB1-4745-9015-3FA6990855B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xmlns="" id="{01D5FBDC-A284-440B-8D5F-84287B0A25D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xmlns="" id="{517CE611-1CB0-442B-8998-98487209B0E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xmlns="" id="{EF0F0E46-9222-4FCF-A79E-9B4953C6F0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xmlns="" id="{371A87C3-0804-4AB9-8EAD-FBFF597ED82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xmlns="" id="{89F39433-8BC3-48D6-B705-F951DBDAAB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xmlns="" id="{AE671C9D-E91C-4143-A422-273B2F53F69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xmlns="" id="{83A72EA3-8833-41C6-9333-6A04C1C08D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xmlns="" id="{2C0D7AAB-DC9C-4B37-A50E-A7185DE92E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xmlns="" id="{6E7D9D6B-3455-4363-934B-FA2D682931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xmlns="" id="{FFFFCA54-2217-4DAE-B791-4A6CA7DE0BD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xmlns="" id="{BAE43BA5-C104-4FBB-B1C6-C210D3CC532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xmlns="" id="{3BDB2330-DF01-460D-83FB-00C37965CD5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xmlns="" id="{51261093-9B7F-4406-B2F8-0F5BE7676A2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xmlns="" id="{9971E195-2AB6-4CB6-9BD7-A8407B5C809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xmlns="" id="{A3D843E7-8A86-4676-9C98-DECE0DFF674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xmlns="" id="{FAF42817-AB3E-40FA-997F-EAC1411F465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xmlns="" id="{50ED3298-A6DC-4825-93B1-68DB8CB629A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xmlns="" id="{2B951778-3B6B-4BB9-9D89-2ED650C820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xmlns="" id="{8F3ED9A8-A83F-463A-8C2E-E83977D9A9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xmlns="" id="{9A0C113E-781D-4083-86C0-EC936092D27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xmlns="" id="{B63D60EF-1E99-4D4C-BF11-AAF8ABEB86E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xmlns="" id="{50403E41-7079-49EA-8D0B-4F678552D9B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E3B2C458-4D37-49A0-A94E-D516E05C3C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xmlns="" id="{C1B10016-E0C4-4526-A466-9911541D26E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xmlns="" id="{D574C3F0-FC2B-43A3-94B2-75D305FBF7D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xmlns="" id="{D92A5F66-F404-433B-BDBE-5E0DFF40D65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xmlns="" id="{0A0BDF81-64CC-431D-81B1-A21938C0543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xmlns="" id="{42871530-50EC-42C2-879A-AE8154DADC0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xmlns="" id="{53AF2F2A-B148-4906-B90D-6E222397845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xmlns="" id="{9A79EAA4-6F5D-4A2C-B688-CD29C2217C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xmlns="" id="{B9CE5833-22CF-4408-9338-4B7749FEA3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xmlns="" id="{316A985A-7ADD-4BEE-A7B6-E5B49E1839E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xmlns="" id="{352CFA3F-5CFE-412E-9196-C966F34579D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3" name="Picture 2">
            <a:extLst>
              <a:ext uri="{FF2B5EF4-FFF2-40B4-BE49-F238E27FC236}">
                <a16:creationId xmlns:a16="http://schemas.microsoft.com/office/drawing/2014/main" xmlns="" id="{2FB01CCF-839B-4126-9BF9-132C64D8A1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1E737E6D-2611-AFBE-A37C-261D96A7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bg-BG">
                <a:solidFill>
                  <a:srgbClr val="FFFFFF"/>
                </a:solidFill>
              </a:rPr>
              <a:t>Топология тип: „кръг“</a:t>
            </a:r>
          </a:p>
        </p:txBody>
      </p:sp>
      <p:sp useBgFill="1">
        <p:nvSpPr>
          <p:cNvPr id="55" name="Round Diagonal Corner Rectangle 6">
            <a:extLst>
              <a:ext uri="{FF2B5EF4-FFF2-40B4-BE49-F238E27FC236}">
                <a16:creationId xmlns:a16="http://schemas.microsoft.com/office/drawing/2014/main" xmlns="" id="{F2B1468C-8227-4785-8776-7BDBDDF08F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xmlns="" id="{5C079C55-F7A1-1004-0684-269967786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17" y="2075348"/>
            <a:ext cx="3178638" cy="2701842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7AB56BDC-2A59-3F88-39BE-A7E3A9956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79296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dirty="0">
                <a:solidFill>
                  <a:srgbClr val="FFFFFF"/>
                </a:solidFill>
              </a:rPr>
              <a:t>При </a:t>
            </a:r>
            <a:r>
              <a:rPr lang="ru-RU" dirty="0" err="1">
                <a:solidFill>
                  <a:srgbClr val="FFFFFF"/>
                </a:solidFill>
              </a:rPr>
              <a:t>мрежата</a:t>
            </a:r>
            <a:r>
              <a:rPr lang="ru-RU" dirty="0">
                <a:solidFill>
                  <a:srgbClr val="FFFFFF"/>
                </a:solidFill>
              </a:rPr>
              <a:t> тип “</a:t>
            </a:r>
            <a:r>
              <a:rPr lang="ru-RU" dirty="0" err="1">
                <a:solidFill>
                  <a:srgbClr val="FFFFFF"/>
                </a:solidFill>
              </a:rPr>
              <a:t>кръг</a:t>
            </a:r>
            <a:r>
              <a:rPr lang="ru-RU" dirty="0">
                <a:solidFill>
                  <a:srgbClr val="FFFFFF"/>
                </a:solidFill>
              </a:rPr>
              <a:t>” </a:t>
            </a:r>
            <a:r>
              <a:rPr lang="ru-RU" dirty="0" err="1">
                <a:solidFill>
                  <a:srgbClr val="FFFFFF"/>
                </a:solidFill>
              </a:rPr>
              <a:t>всички</a:t>
            </a:r>
            <a:r>
              <a:rPr lang="ru-RU" dirty="0">
                <a:solidFill>
                  <a:srgbClr val="FFFFFF"/>
                </a:solidFill>
              </a:rPr>
              <a:t> устройства </a:t>
            </a:r>
            <a:r>
              <a:rPr lang="ru-RU" dirty="0" err="1">
                <a:solidFill>
                  <a:srgbClr val="FFFFFF"/>
                </a:solidFill>
              </a:rPr>
              <a:t>са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свързани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помежду</a:t>
            </a:r>
            <a:r>
              <a:rPr lang="ru-RU" dirty="0">
                <a:solidFill>
                  <a:srgbClr val="FFFFFF"/>
                </a:solidFill>
              </a:rPr>
              <a:t> си </a:t>
            </a:r>
            <a:r>
              <a:rPr lang="ru-RU" dirty="0" err="1">
                <a:solidFill>
                  <a:srgbClr val="FFFFFF"/>
                </a:solidFill>
              </a:rPr>
              <a:t>така</a:t>
            </a:r>
            <a:r>
              <a:rPr lang="ru-RU" dirty="0">
                <a:solidFill>
                  <a:srgbClr val="FFFFFF"/>
                </a:solidFill>
              </a:rPr>
              <a:t>, че </a:t>
            </a:r>
            <a:r>
              <a:rPr lang="ru-RU" dirty="0" err="1">
                <a:solidFill>
                  <a:srgbClr val="FFFFFF"/>
                </a:solidFill>
              </a:rPr>
              <a:t>образуват</a:t>
            </a:r>
            <a:r>
              <a:rPr lang="ru-RU" dirty="0">
                <a:solidFill>
                  <a:srgbClr val="FFFFFF"/>
                </a:solidFill>
              </a:rPr>
              <a:t> един затворен </a:t>
            </a:r>
            <a:r>
              <a:rPr lang="ru-RU" dirty="0" err="1">
                <a:solidFill>
                  <a:srgbClr val="FFFFFF"/>
                </a:solidFill>
              </a:rPr>
              <a:t>кръг</a:t>
            </a:r>
            <a:r>
              <a:rPr lang="ru-RU" dirty="0">
                <a:solidFill>
                  <a:srgbClr val="FFFFFF"/>
                </a:solidFill>
              </a:rPr>
              <a:t>. </a:t>
            </a:r>
            <a:r>
              <a:rPr lang="ru-RU" dirty="0" err="1">
                <a:solidFill>
                  <a:srgbClr val="FFFFFF"/>
                </a:solidFill>
              </a:rPr>
              <a:t>Днес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тези</a:t>
            </a:r>
            <a:r>
              <a:rPr lang="ru-RU" dirty="0">
                <a:solidFill>
                  <a:srgbClr val="FFFFFF"/>
                </a:solidFill>
              </a:rPr>
              <a:t> мрежи не </a:t>
            </a:r>
            <a:r>
              <a:rPr lang="ru-RU" dirty="0" err="1">
                <a:solidFill>
                  <a:srgbClr val="FFFFFF"/>
                </a:solidFill>
              </a:rPr>
              <a:t>са</a:t>
            </a:r>
            <a:r>
              <a:rPr lang="ru-RU" dirty="0">
                <a:solidFill>
                  <a:srgbClr val="FFFFFF"/>
                </a:solidFill>
              </a:rPr>
              <a:t> толкова </a:t>
            </a:r>
            <a:r>
              <a:rPr lang="ru-RU" dirty="0" err="1">
                <a:solidFill>
                  <a:srgbClr val="FFFFFF"/>
                </a:solidFill>
              </a:rPr>
              <a:t>популярни</a:t>
            </a:r>
            <a:r>
              <a:rPr lang="ru-RU" dirty="0">
                <a:solidFill>
                  <a:srgbClr val="FFFFFF"/>
                </a:solidFill>
              </a:rPr>
              <a:t>, </a:t>
            </a:r>
            <a:r>
              <a:rPr lang="ru-RU" dirty="0" err="1">
                <a:solidFill>
                  <a:srgbClr val="FFFFFF"/>
                </a:solidFill>
              </a:rPr>
              <a:t>колкото</a:t>
            </a:r>
            <a:r>
              <a:rPr lang="ru-RU" dirty="0">
                <a:solidFill>
                  <a:srgbClr val="FFFFFF"/>
                </a:solidFill>
              </a:rPr>
              <a:t> в </a:t>
            </a:r>
            <a:r>
              <a:rPr lang="ru-RU" dirty="0" err="1">
                <a:solidFill>
                  <a:srgbClr val="FFFFFF"/>
                </a:solidFill>
              </a:rPr>
              <a:t>миналото</a:t>
            </a:r>
            <a:r>
              <a:rPr lang="ru-RU" dirty="0">
                <a:solidFill>
                  <a:srgbClr val="FFFFFF"/>
                </a:solidFill>
              </a:rPr>
              <a:t>. Фиг. 6-3. </a:t>
            </a:r>
            <a:r>
              <a:rPr lang="ru-RU" dirty="0" err="1">
                <a:solidFill>
                  <a:srgbClr val="FFFFFF"/>
                </a:solidFill>
              </a:rPr>
              <a:t>Кръгова</a:t>
            </a:r>
            <a:r>
              <a:rPr lang="ru-RU" dirty="0">
                <a:solidFill>
                  <a:srgbClr val="FFFFFF"/>
                </a:solidFill>
              </a:rPr>
              <a:t> топология </a:t>
            </a:r>
            <a:r>
              <a:rPr lang="ru-RU" dirty="0" err="1">
                <a:solidFill>
                  <a:srgbClr val="FFFFFF"/>
                </a:solidFill>
              </a:rPr>
              <a:t>Ако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последният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компютър</a:t>
            </a:r>
            <a:r>
              <a:rPr lang="ru-RU" dirty="0">
                <a:solidFill>
                  <a:srgbClr val="FFFFFF"/>
                </a:solidFill>
              </a:rPr>
              <a:t> в </a:t>
            </a:r>
            <a:r>
              <a:rPr lang="ru-RU" dirty="0" err="1">
                <a:solidFill>
                  <a:srgbClr val="FFFFFF"/>
                </a:solidFill>
              </a:rPr>
              <a:t>една</a:t>
            </a:r>
            <a:r>
              <a:rPr lang="ru-RU" dirty="0">
                <a:solidFill>
                  <a:srgbClr val="FFFFFF"/>
                </a:solidFill>
              </a:rPr>
              <a:t> мрежа с шинна топология се </a:t>
            </a:r>
            <a:r>
              <a:rPr lang="ru-RU" dirty="0" err="1">
                <a:solidFill>
                  <a:srgbClr val="FFFFFF"/>
                </a:solidFill>
              </a:rPr>
              <a:t>свърже</a:t>
            </a:r>
            <a:r>
              <a:rPr lang="ru-RU" dirty="0">
                <a:solidFill>
                  <a:srgbClr val="FFFFFF"/>
                </a:solidFill>
              </a:rPr>
              <a:t> с </a:t>
            </a:r>
            <a:r>
              <a:rPr lang="ru-RU" dirty="0" err="1">
                <a:solidFill>
                  <a:srgbClr val="FFFFFF"/>
                </a:solidFill>
              </a:rPr>
              <a:t>първия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компютър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ще</a:t>
            </a:r>
            <a:r>
              <a:rPr lang="ru-RU" dirty="0">
                <a:solidFill>
                  <a:srgbClr val="FFFFFF"/>
                </a:solidFill>
              </a:rPr>
              <a:t> се получи мрежа с </a:t>
            </a:r>
            <a:r>
              <a:rPr lang="ru-RU" dirty="0" err="1">
                <a:solidFill>
                  <a:srgbClr val="FFFFFF"/>
                </a:solidFill>
              </a:rPr>
              <a:t>кръгова</a:t>
            </a:r>
            <a:r>
              <a:rPr lang="ru-RU" dirty="0">
                <a:solidFill>
                  <a:srgbClr val="FFFFFF"/>
                </a:solidFill>
              </a:rPr>
              <a:t> топология. Тук </a:t>
            </a:r>
            <a:r>
              <a:rPr lang="ru-RU" dirty="0" err="1">
                <a:solidFill>
                  <a:srgbClr val="FFFFFF"/>
                </a:solidFill>
              </a:rPr>
              <a:t>всеки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компютър</a:t>
            </a:r>
            <a:r>
              <a:rPr lang="ru-RU" dirty="0">
                <a:solidFill>
                  <a:srgbClr val="FFFFFF"/>
                </a:solidFill>
              </a:rPr>
              <a:t> се </a:t>
            </a:r>
            <a:r>
              <a:rPr lang="ru-RU" dirty="0" err="1">
                <a:solidFill>
                  <a:srgbClr val="FFFFFF"/>
                </a:solidFill>
              </a:rPr>
              <a:t>свързва</a:t>
            </a:r>
            <a:r>
              <a:rPr lang="ru-RU" dirty="0">
                <a:solidFill>
                  <a:srgbClr val="FFFFFF"/>
                </a:solidFill>
              </a:rPr>
              <a:t> с два </a:t>
            </a:r>
            <a:r>
              <a:rPr lang="ru-RU" dirty="0" err="1">
                <a:solidFill>
                  <a:srgbClr val="FFFFFF"/>
                </a:solidFill>
              </a:rPr>
              <a:t>други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компютъра</a:t>
            </a:r>
            <a:r>
              <a:rPr lang="ru-RU" dirty="0">
                <a:solidFill>
                  <a:srgbClr val="FFFFFF"/>
                </a:solidFill>
              </a:rPr>
              <a:t>. В </a:t>
            </a:r>
            <a:r>
              <a:rPr lang="ru-RU" dirty="0" err="1">
                <a:solidFill>
                  <a:srgbClr val="FFFFFF"/>
                </a:solidFill>
              </a:rPr>
              <a:t>този</a:t>
            </a:r>
            <a:r>
              <a:rPr lang="ru-RU" dirty="0">
                <a:solidFill>
                  <a:srgbClr val="FFFFFF"/>
                </a:solidFill>
              </a:rPr>
              <a:t> случай </a:t>
            </a:r>
            <a:r>
              <a:rPr lang="ru-RU" dirty="0" err="1">
                <a:solidFill>
                  <a:srgbClr val="FFFFFF"/>
                </a:solidFill>
              </a:rPr>
              <a:t>терминатори</a:t>
            </a:r>
            <a:r>
              <a:rPr lang="ru-RU" dirty="0">
                <a:solidFill>
                  <a:srgbClr val="FFFFFF"/>
                </a:solidFill>
              </a:rPr>
              <a:t> не </a:t>
            </a:r>
            <a:r>
              <a:rPr lang="ru-RU" dirty="0" err="1">
                <a:solidFill>
                  <a:srgbClr val="FFFFFF"/>
                </a:solidFill>
              </a:rPr>
              <a:t>са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необходими</a:t>
            </a:r>
            <a:r>
              <a:rPr lang="ru-RU" dirty="0">
                <a:solidFill>
                  <a:srgbClr val="FFFFFF"/>
                </a:solidFill>
              </a:rPr>
              <a:t>.</a:t>
            </a:r>
            <a:endParaRPr lang="bg-BG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003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E978A47D-4F17-40FE-AB70-7AF78A9575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5BE3A7E-6A3F-401E-A025-BBB8FDB8DD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41EE9036-817C-476C-BD59-B5184F9A3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F098087A-B4E4-4300-A841-44988BD88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F5BD5F4B-A39C-4DF9-84E4-A4D33F30E6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D7FA9858-BFA0-4D5B-AF72-B1B65EB069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A508A5F3-AFE0-4750-A9C2-B51A514FFC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92B4AAEB-ABF4-42A7-BE52-0B442190D1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3767C370-4A42-4376-8CAE-606C4BC8F4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6205F53-9C95-4954-B97C-1625BB8A35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DC80B58E-3469-43E9-96FC-D747B69830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E17A4ED2-DDD7-4B4D-A39C-9B0121C886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A2C14A85-E7A9-4E1D-809F-20F5CFA788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3D51E32-9399-4B7F-8D91-BF9A068B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9969F9D2-502D-4C1D-ABA5-02B1BF2A00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4AE555C6-5623-478A-BF35-63E9929A3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A3D3AED4-A69E-4301-9BB4-436DC5F0C9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C3B8082C-2D81-48D7-8B45-85B7C8929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9AD35461-BA86-408B-8A29-244EB2F2F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F238E495-B6C6-4857-899B-CDD5848312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E20A751E-054C-4EC2-8DA3-0EC923A658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B6E8E701-3D21-4E5C-AB6E-9A74046970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431BDA41-D09D-4984-B888-756F5F81B4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0DC943D2-20E4-4C00-82D2-D405A7C00B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4BC34A74-80A2-4DE1-8ADC-BBD1709035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6C3CA25-431F-4E26-952D-4AA9C4C725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776D1836-82AE-40EF-9829-C6B8D2CF02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9A8E397E-ADF9-45C1-98F4-3F5A86378B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DE07CFD9-357F-40BC-A792-CE874BFE5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6DE13A7C-EE8B-ABB4-BC61-09A0BE90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bg-BG" sz="3400"/>
              <a:t>Предимства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085ECEC0-FF5D-4348-92C7-1EA7C61E7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90A8E48D-E49D-7308-E670-1BE2BCA38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ru-RU" sz="1800"/>
              <a:t> Сравнително проста за инсталиране топология; </a:t>
            </a:r>
          </a:p>
          <a:p>
            <a:r>
              <a:rPr lang="ru-RU" sz="1800"/>
              <a:t> По-малко кабели в сравнение с топология „звезда”; </a:t>
            </a:r>
          </a:p>
          <a:p>
            <a:r>
              <a:rPr lang="ru-RU" sz="1800"/>
              <a:t> Няма централна точка; </a:t>
            </a:r>
          </a:p>
          <a:p>
            <a:r>
              <a:rPr lang="ru-RU" sz="1800"/>
              <a:t> Няма начало или край на мрежата, така че няма нужда от терминатори.</a:t>
            </a:r>
            <a:endParaRPr lang="bg-BG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4E035BE-9FF4-43D3-BC25-CF582D7FF8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xmlns="" id="{F98BCEB2-EC20-4E84-A994-0AC37292C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xmlns="" id="{7A2E1821-AEDF-417E-9F17-83379E9C0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xmlns="" id="{CB3734E2-8292-4B47-B6AB-0E5A058DE9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xmlns="" id="{A0B09C51-29AB-45C0-B707-CCFB9DF28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xmlns="" id="{510C0CED-AE1B-45AE-B5E1-57521E589D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xmlns="" id="{591F2327-4B45-41AA-B41C-7404B6A1E4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xmlns="" id="{5A63224C-41A0-42C0-96F6-0B2BE99A13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xmlns="" id="{A7C00B9F-C253-4776-9935-EC02254A4F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5062D4AA-13F3-4064-8440-FFE8562D8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xmlns="" id="{3E143B27-CB82-440B-879B-D25C1891C1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4852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E978A47D-4F17-40FE-AB70-7AF78A9575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5BE3A7E-6A3F-401E-A025-BBB8FDB8DD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41EE9036-817C-476C-BD59-B5184F9A3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F098087A-B4E4-4300-A841-44988BD88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F5BD5F4B-A39C-4DF9-84E4-A4D33F30E6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D7FA9858-BFA0-4D5B-AF72-B1B65EB069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A508A5F3-AFE0-4750-A9C2-B51A514FFC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92B4AAEB-ABF4-42A7-BE52-0B442190D1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3767C370-4A42-4376-8CAE-606C4BC8F4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6205F53-9C95-4954-B97C-1625BB8A35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DC80B58E-3469-43E9-96FC-D747B69830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E17A4ED2-DDD7-4B4D-A39C-9B0121C886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A2C14A85-E7A9-4E1D-809F-20F5CFA788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3D51E32-9399-4B7F-8D91-BF9A068B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9969F9D2-502D-4C1D-ABA5-02B1BF2A00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4AE555C6-5623-478A-BF35-63E9929A3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A3D3AED4-A69E-4301-9BB4-436DC5F0C9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C3B8082C-2D81-48D7-8B45-85B7C8929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9AD35461-BA86-408B-8A29-244EB2F2F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F238E495-B6C6-4857-899B-CDD5848312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E20A751E-054C-4EC2-8DA3-0EC923A658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B6E8E701-3D21-4E5C-AB6E-9A74046970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431BDA41-D09D-4984-B888-756F5F81B4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0DC943D2-20E4-4C00-82D2-D405A7C00B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4BC34A74-80A2-4DE1-8ADC-BBD1709035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6C3CA25-431F-4E26-952D-4AA9C4C725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776D1836-82AE-40EF-9829-C6B8D2CF02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9A8E397E-ADF9-45C1-98F4-3F5A86378B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DE07CFD9-357F-40BC-A792-CE874BFE5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6F32E0A7-E808-E418-DA7C-3DD1AE48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bg-BG" sz="3100"/>
              <a:t>Недостатъци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085ECEC0-FF5D-4348-92C7-1EA7C61E7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238EDC89-1CDC-36CB-DFF8-1D975E4F9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ru-RU" sz="1800"/>
              <a:t>Повреда в кръга на мрежата засяга цялата мрежа.; </a:t>
            </a:r>
          </a:p>
          <a:p>
            <a:r>
              <a:rPr lang="ru-RU" sz="1800"/>
              <a:t>Трудно е да се добавят нови компютри. Необходимо е да се прекара кабел, за да се добави компютър и цялата мрежа няма да работи, докато новата система не бъде инсталирана и включена. </a:t>
            </a:r>
            <a:endParaRPr lang="bg-BG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4E035BE-9FF4-43D3-BC25-CF582D7FF8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xmlns="" id="{F98BCEB2-EC20-4E84-A994-0AC37292C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xmlns="" id="{7A2E1821-AEDF-417E-9F17-83379E9C0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xmlns="" id="{CB3734E2-8292-4B47-B6AB-0E5A058DE9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xmlns="" id="{A0B09C51-29AB-45C0-B707-CCFB9DF28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xmlns="" id="{510C0CED-AE1B-45AE-B5E1-57521E589D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xmlns="" id="{591F2327-4B45-41AA-B41C-7404B6A1E4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xmlns="" id="{5A63224C-41A0-42C0-96F6-0B2BE99A13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xmlns="" id="{A7C00B9F-C253-4776-9935-EC02254A4F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5062D4AA-13F3-4064-8440-FFE8562D8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xmlns="" id="{3E143B27-CB82-440B-879B-D25C1891C1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338345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775AF3B-5284-4B97-9BB7-55C6FB3699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A0F1F7ED-DA39-478F-85DA-317DE08941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1DAE5903-52E8-4F25-8473-93EF48377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xmlns="" id="{894835C1-32DE-4571-AD10-28D58CB8CFD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xmlns="" id="{097A5B92-0B48-4251-9764-D34DF889207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xmlns="" id="{E222BF19-57E7-43F3-A2B9-2398BEF966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xmlns="" id="{60C8836E-B7D9-48A9-8FD9-4CC52AF44D2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xmlns="" id="{8504740E-456D-4FB9-9520-4317CCFA71B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xmlns="" id="{1563A7B4-B1D5-4F93-AFF9-2EB78655FC5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xmlns="" id="{D139ED24-FA37-4470-8B42-D0D00EDE14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xmlns="" id="{48825AA7-BB26-45C2-93A2-1AD8D9A2325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xmlns="" id="{A98D0B91-D4E4-402D-8234-E96987219E9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xmlns="" id="{94F1DB97-3769-4DA5-9F45-47132C3125D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xmlns="" id="{A9BC86E2-B185-4D80-81B5-A8D387E678B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xmlns="" id="{FA773F49-8CD0-46DC-B986-F2DB57BD726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xmlns="" id="{8C55A009-3401-4888-93C7-4ED51CBC64F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xmlns="" id="{10B44829-5BB5-48C5-8492-699971FE780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xmlns="" id="{30C1F9A0-4FA6-4F6F-B2D0-A1BBA41DFC3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xmlns="" id="{01BF274F-C7B8-44B4-A183-307D8619D27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xmlns="" id="{037E8930-0F22-4558-9432-F18953E32A0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xmlns="" id="{9AFC3429-FF29-47FF-A4A8-317A979DB92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xmlns="" id="{91D48543-2C05-4768-80B1-ECA6F885080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xmlns="" id="{3AC527CC-154C-4370-A25B-74AC5B4A631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xmlns="" id="{798B18F5-51C9-4E50-95C5-A850EF5398A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xmlns="" id="{15B4CF27-638C-4979-B0FD-6263E13074A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xmlns="" id="{236C6A22-48A2-4442-B82D-30DB4982724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xmlns="" id="{1BB7BCE1-0D99-412E-ABA6-81412638E9E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xmlns="" id="{C20E57E0-0912-44F2-93DA-75E4D13F3B7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xmlns="" id="{DF059390-54ED-44F4-983F-92FF36AD94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xmlns="" id="{42D5E9ED-595D-443D-8CDC-D8FCD4021D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DB14A457-C54A-4F1E-91FB-0FEE49877D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xmlns="" id="{791F3E2E-D393-464E-84B4-9B30D071ADE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xmlns="" id="{EBEEAD6F-6425-4F85-A8A8-4FF19A909B3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xmlns="" id="{8AACA44E-9D6C-4708-8D61-D767B6620B8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xmlns="" id="{B6E3525F-9937-463E-872C-8EB7C62D10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xmlns="" id="{BE829B0B-C602-40F1-81D1-A55332343D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xmlns="" id="{92660531-24B5-4B97-A4A2-64686E235D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xmlns="" id="{6242D0CE-6FFD-4D17-AC26-BD3E481195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xmlns="" id="{61631F37-AF37-4DB9-8D98-A08586C7663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xmlns="" id="{2A2597FF-2F22-40BB-A7B3-19C4DFCFFA0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xmlns="" id="{DCC8773C-0113-4046-B222-C8F4080AF3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3" name="Picture 2">
            <a:extLst>
              <a:ext uri="{FF2B5EF4-FFF2-40B4-BE49-F238E27FC236}">
                <a16:creationId xmlns:a16="http://schemas.microsoft.com/office/drawing/2014/main" xmlns="" id="{1B17CCE2-CEEF-40CA-8C4D-0DC2DCA78A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329BFBE8-F208-5039-7B51-159D8C66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bg-BG">
                <a:solidFill>
                  <a:srgbClr val="FFFFFF"/>
                </a:solidFill>
              </a:rPr>
              <a:t>Топология тип: „пръстен“</a:t>
            </a:r>
          </a:p>
        </p:txBody>
      </p:sp>
      <p:sp useBgFill="1">
        <p:nvSpPr>
          <p:cNvPr id="55" name="Round Diagonal Corner Rectangle 9">
            <a:extLst>
              <a:ext uri="{FF2B5EF4-FFF2-40B4-BE49-F238E27FC236}">
                <a16:creationId xmlns:a16="http://schemas.microsoft.com/office/drawing/2014/main" xmlns="" id="{66D4F5BA-1D71-49B2-8A7F-6B4EB94D72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xmlns="" id="{6C7F231F-6CFA-C894-493E-967F24A2C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700" y="1147145"/>
            <a:ext cx="4442158" cy="4567773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E515E641-227D-CCFE-C72A-8E7AA32DB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2000" dirty="0">
                <a:solidFill>
                  <a:srgbClr val="FFFFFF"/>
                </a:solidFill>
              </a:rPr>
              <a:t>В </a:t>
            </a:r>
            <a:r>
              <a:rPr lang="ru-RU" sz="2000" dirty="0" err="1">
                <a:solidFill>
                  <a:srgbClr val="FFFFFF"/>
                </a:solidFill>
              </a:rPr>
              <a:t>съвременните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Token</a:t>
            </a:r>
            <a:r>
              <a:rPr lang="ru-RU" sz="2000" dirty="0">
                <a:solidFill>
                  <a:srgbClr val="FFFFFF"/>
                </a:solidFill>
              </a:rPr>
              <a:t> Ring мрежи се </a:t>
            </a:r>
            <a:r>
              <a:rPr lang="ru-RU" sz="2000" dirty="0" err="1">
                <a:solidFill>
                  <a:srgbClr val="FFFFFF"/>
                </a:solidFill>
              </a:rPr>
              <a:t>използва</a:t>
            </a:r>
            <a:r>
              <a:rPr lang="ru-RU" sz="2000" dirty="0">
                <a:solidFill>
                  <a:srgbClr val="FFFFFF"/>
                </a:solidFill>
              </a:rPr>
              <a:t> устройство подобно на концентратор, наречено MAU (</a:t>
            </a:r>
            <a:r>
              <a:rPr lang="ru-RU" sz="2000" dirty="0" err="1">
                <a:solidFill>
                  <a:srgbClr val="FFFFFF"/>
                </a:solidFill>
              </a:rPr>
              <a:t>multi-station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access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unit</a:t>
            </a:r>
            <a:r>
              <a:rPr lang="ru-RU" sz="2000" dirty="0">
                <a:solidFill>
                  <a:srgbClr val="FFFFFF"/>
                </a:solidFill>
              </a:rPr>
              <a:t>). </a:t>
            </a:r>
            <a:r>
              <a:rPr lang="ru-RU" sz="2000" dirty="0" err="1">
                <a:solidFill>
                  <a:srgbClr val="FFFFFF"/>
                </a:solidFill>
              </a:rPr>
              <a:t>Всеки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компютър</a:t>
            </a:r>
            <a:r>
              <a:rPr lang="ru-RU" sz="2000" dirty="0">
                <a:solidFill>
                  <a:srgbClr val="FFFFFF"/>
                </a:solidFill>
              </a:rPr>
              <a:t> се </a:t>
            </a:r>
            <a:r>
              <a:rPr lang="ru-RU" sz="2000" dirty="0" err="1">
                <a:solidFill>
                  <a:srgbClr val="FFFFFF"/>
                </a:solidFill>
              </a:rPr>
              <a:t>включва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към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мрежата</a:t>
            </a:r>
            <a:r>
              <a:rPr lang="ru-RU" sz="2000" dirty="0">
                <a:solidFill>
                  <a:srgbClr val="FFFFFF"/>
                </a:solidFill>
              </a:rPr>
              <a:t> чрез </a:t>
            </a:r>
            <a:r>
              <a:rPr lang="ru-RU" sz="2000" dirty="0" err="1">
                <a:solidFill>
                  <a:srgbClr val="FFFFFF"/>
                </a:solidFill>
              </a:rPr>
              <a:t>конектор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към</a:t>
            </a:r>
            <a:r>
              <a:rPr lang="ru-RU" sz="2000" dirty="0">
                <a:solidFill>
                  <a:srgbClr val="FFFFFF"/>
                </a:solidFill>
              </a:rPr>
              <a:t> MAU. </a:t>
            </a:r>
            <a:r>
              <a:rPr lang="ru-RU" sz="2000" dirty="0" err="1">
                <a:solidFill>
                  <a:srgbClr val="FFFFFF"/>
                </a:solidFill>
              </a:rPr>
              <a:t>Включването</a:t>
            </a:r>
            <a:r>
              <a:rPr lang="ru-RU" sz="2000" dirty="0">
                <a:solidFill>
                  <a:srgbClr val="FFFFFF"/>
                </a:solidFill>
              </a:rPr>
              <a:t> и </a:t>
            </a:r>
            <a:r>
              <a:rPr lang="ru-RU" sz="2000" dirty="0" err="1">
                <a:solidFill>
                  <a:srgbClr val="FFFFFF"/>
                </a:solidFill>
              </a:rPr>
              <a:t>изключването</a:t>
            </a:r>
            <a:r>
              <a:rPr lang="ru-RU" sz="2000" dirty="0">
                <a:solidFill>
                  <a:srgbClr val="FFFFFF"/>
                </a:solidFill>
              </a:rPr>
              <a:t> на </a:t>
            </a:r>
            <a:r>
              <a:rPr lang="ru-RU" sz="2000" dirty="0" err="1">
                <a:solidFill>
                  <a:srgbClr val="FFFFFF"/>
                </a:solidFill>
              </a:rPr>
              <a:t>компютър</a:t>
            </a:r>
            <a:r>
              <a:rPr lang="ru-RU" sz="2000" dirty="0">
                <a:solidFill>
                  <a:srgbClr val="FFFFFF"/>
                </a:solidFill>
              </a:rPr>
              <a:t> не </a:t>
            </a:r>
            <a:r>
              <a:rPr lang="ru-RU" sz="2000" dirty="0" err="1">
                <a:solidFill>
                  <a:srgbClr val="FFFFFF"/>
                </a:solidFill>
              </a:rPr>
              <a:t>пречи</a:t>
            </a:r>
            <a:r>
              <a:rPr lang="ru-RU" sz="2000" dirty="0">
                <a:solidFill>
                  <a:srgbClr val="FFFFFF"/>
                </a:solidFill>
              </a:rPr>
              <a:t> на </a:t>
            </a:r>
            <a:r>
              <a:rPr lang="ru-RU" sz="2000" dirty="0" err="1">
                <a:solidFill>
                  <a:srgbClr val="FFFFFF"/>
                </a:solidFill>
              </a:rPr>
              <a:t>останалите</a:t>
            </a:r>
            <a:r>
              <a:rPr lang="ru-RU" sz="2000" dirty="0">
                <a:solidFill>
                  <a:srgbClr val="FFFFFF"/>
                </a:solidFill>
              </a:rPr>
              <a:t> в </a:t>
            </a:r>
            <a:r>
              <a:rPr lang="ru-RU" sz="2000" dirty="0" err="1">
                <a:solidFill>
                  <a:srgbClr val="FFFFFF"/>
                </a:solidFill>
              </a:rPr>
              <a:t>мрежата</a:t>
            </a:r>
            <a:r>
              <a:rPr lang="ru-RU" sz="2000" dirty="0">
                <a:solidFill>
                  <a:srgbClr val="FFFFFF"/>
                </a:solidFill>
              </a:rPr>
              <a:t>. </a:t>
            </a:r>
            <a:r>
              <a:rPr lang="ru-RU" sz="2000" dirty="0" err="1">
                <a:solidFill>
                  <a:srgbClr val="FFFFFF"/>
                </a:solidFill>
              </a:rPr>
              <a:t>Топологията</a:t>
            </a:r>
            <a:r>
              <a:rPr lang="ru-RU" sz="2000" dirty="0">
                <a:solidFill>
                  <a:srgbClr val="FFFFFF"/>
                </a:solidFill>
              </a:rPr>
              <a:t> е </a:t>
            </a:r>
            <a:r>
              <a:rPr lang="ru-RU" sz="2000" dirty="0" err="1">
                <a:solidFill>
                  <a:srgbClr val="FFFFFF"/>
                </a:solidFill>
              </a:rPr>
              <a:t>физическа</a:t>
            </a:r>
            <a:r>
              <a:rPr lang="ru-RU" sz="2000" dirty="0">
                <a:solidFill>
                  <a:srgbClr val="FFFFFF"/>
                </a:solidFill>
              </a:rPr>
              <a:t> „звезда”, логически „</a:t>
            </a:r>
            <a:r>
              <a:rPr lang="ru-RU" sz="2000" dirty="0" err="1">
                <a:solidFill>
                  <a:srgbClr val="FFFFFF"/>
                </a:solidFill>
              </a:rPr>
              <a:t>кръг</a:t>
            </a:r>
            <a:r>
              <a:rPr lang="ru-RU" sz="2000" dirty="0">
                <a:solidFill>
                  <a:srgbClr val="FFFFFF"/>
                </a:solidFill>
              </a:rPr>
              <a:t>”, и е известна </a:t>
            </a:r>
            <a:r>
              <a:rPr lang="ru-RU" sz="2000" dirty="0" err="1">
                <a:solidFill>
                  <a:srgbClr val="FFFFFF"/>
                </a:solidFill>
              </a:rPr>
              <a:t>като</a:t>
            </a:r>
            <a:r>
              <a:rPr lang="ru-RU" sz="2000" dirty="0">
                <a:solidFill>
                  <a:srgbClr val="FFFFFF"/>
                </a:solidFill>
              </a:rPr>
              <a:t> топология тип „</a:t>
            </a:r>
            <a:r>
              <a:rPr lang="ru-RU" sz="2000" dirty="0" err="1">
                <a:solidFill>
                  <a:srgbClr val="FFFFFF"/>
                </a:solidFill>
              </a:rPr>
              <a:t>пръстен</a:t>
            </a:r>
            <a:r>
              <a:rPr lang="ru-RU" sz="2000" dirty="0">
                <a:solidFill>
                  <a:srgbClr val="FFFFFF"/>
                </a:solidFill>
              </a:rPr>
              <a:t>”.</a:t>
            </a:r>
            <a:endParaRPr lang="bg-BG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439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E978A47D-4F17-40FE-AB70-7AF78A9575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5BE3A7E-6A3F-401E-A025-BBB8FDB8DD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41EE9036-817C-476C-BD59-B5184F9A3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F098087A-B4E4-4300-A841-44988BD88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F5BD5F4B-A39C-4DF9-84E4-A4D33F30E6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D7FA9858-BFA0-4D5B-AF72-B1B65EB069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A508A5F3-AFE0-4750-A9C2-B51A514FFC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92B4AAEB-ABF4-42A7-BE52-0B442190D1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3767C370-4A42-4376-8CAE-606C4BC8F4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6205F53-9C95-4954-B97C-1625BB8A35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DC80B58E-3469-43E9-96FC-D747B69830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E17A4ED2-DDD7-4B4D-A39C-9B0121C886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A2C14A85-E7A9-4E1D-809F-20F5CFA788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3D51E32-9399-4B7F-8D91-BF9A068B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9969F9D2-502D-4C1D-ABA5-02B1BF2A00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4AE555C6-5623-478A-BF35-63E9929A3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A3D3AED4-A69E-4301-9BB4-436DC5F0C9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C3B8082C-2D81-48D7-8B45-85B7C8929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9AD35461-BA86-408B-8A29-244EB2F2F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F238E495-B6C6-4857-899B-CDD5848312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E20A751E-054C-4EC2-8DA3-0EC923A658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B6E8E701-3D21-4E5C-AB6E-9A74046970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431BDA41-D09D-4984-B888-756F5F81B4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0DC943D2-20E4-4C00-82D2-D405A7C00B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4BC34A74-80A2-4DE1-8ADC-BBD1709035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6C3CA25-431F-4E26-952D-4AA9C4C725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776D1836-82AE-40EF-9829-C6B8D2CF02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9A8E397E-ADF9-45C1-98F4-3F5A86378B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DE07CFD9-357F-40BC-A792-CE874BFE5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D1052588-F529-5014-F45D-4490882A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bg-BG" sz="3400"/>
              <a:t>Предимства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085ECEC0-FF5D-4348-92C7-1EA7C61E7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C8A2EE04-1B18-03BF-EF27-59791429C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ru-RU" sz="1800"/>
              <a:t>Сравнително проста за инсталиране топология; </a:t>
            </a:r>
          </a:p>
          <a:p>
            <a:r>
              <a:rPr lang="ru-RU" sz="1800"/>
              <a:t>По-малко кабели в сравнение с топология „звезда”; </a:t>
            </a:r>
          </a:p>
          <a:p>
            <a:r>
              <a:rPr lang="ru-RU" sz="1800"/>
              <a:t>Няма централна точка; </a:t>
            </a:r>
          </a:p>
          <a:p>
            <a:r>
              <a:rPr lang="ru-RU" sz="1800"/>
              <a:t>Няма начало или край на мрежата, така че няма нужда от терминатори. </a:t>
            </a:r>
            <a:endParaRPr lang="bg-BG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4E035BE-9FF4-43D3-BC25-CF582D7FF8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xmlns="" id="{F98BCEB2-EC20-4E84-A994-0AC37292C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xmlns="" id="{7A2E1821-AEDF-417E-9F17-83379E9C0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xmlns="" id="{CB3734E2-8292-4B47-B6AB-0E5A058DE9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xmlns="" id="{A0B09C51-29AB-45C0-B707-CCFB9DF28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xmlns="" id="{510C0CED-AE1B-45AE-B5E1-57521E589D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xmlns="" id="{591F2327-4B45-41AA-B41C-7404B6A1E4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xmlns="" id="{5A63224C-41A0-42C0-96F6-0B2BE99A13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xmlns="" id="{A7C00B9F-C253-4776-9935-EC02254A4F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5062D4AA-13F3-4064-8440-FFE8562D8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xmlns="" id="{3E143B27-CB82-440B-879B-D25C1891C1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2440185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E978A47D-4F17-40FE-AB70-7AF78A9575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5BE3A7E-6A3F-401E-A025-BBB8FDB8DD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41EE9036-817C-476C-BD59-B5184F9A3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F098087A-B4E4-4300-A841-44988BD88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F5BD5F4B-A39C-4DF9-84E4-A4D33F30E6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D7FA9858-BFA0-4D5B-AF72-B1B65EB069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A508A5F3-AFE0-4750-A9C2-B51A514FFC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92B4AAEB-ABF4-42A7-BE52-0B442190D1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3767C370-4A42-4376-8CAE-606C4BC8F4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6205F53-9C95-4954-B97C-1625BB8A35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DC80B58E-3469-43E9-96FC-D747B69830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E17A4ED2-DDD7-4B4D-A39C-9B0121C886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A2C14A85-E7A9-4E1D-809F-20F5CFA788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3D51E32-9399-4B7F-8D91-BF9A068B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9969F9D2-502D-4C1D-ABA5-02B1BF2A00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4AE555C6-5623-478A-BF35-63E9929A3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A3D3AED4-A69E-4301-9BB4-436DC5F0C9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C3B8082C-2D81-48D7-8B45-85B7C8929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9AD35461-BA86-408B-8A29-244EB2F2F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F238E495-B6C6-4857-899B-CDD5848312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E20A751E-054C-4EC2-8DA3-0EC923A658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B6E8E701-3D21-4E5C-AB6E-9A74046970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431BDA41-D09D-4984-B888-756F5F81B4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0DC943D2-20E4-4C00-82D2-D405A7C00B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4BC34A74-80A2-4DE1-8ADC-BBD1709035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6C3CA25-431F-4E26-952D-4AA9C4C725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776D1836-82AE-40EF-9829-C6B8D2CF02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9A8E397E-ADF9-45C1-98F4-3F5A86378B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DE07CFD9-357F-40BC-A792-CE874BFE5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C4F72336-334C-0BBC-598A-92C764B7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bg-BG" sz="3100"/>
              <a:t>Недостатъци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085ECEC0-FF5D-4348-92C7-1EA7C61E7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568094DB-4658-F62C-536E-CE1F9E0D6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ru-RU" sz="1800" dirty="0" err="1"/>
              <a:t>Повреда</a:t>
            </a:r>
            <a:r>
              <a:rPr lang="ru-RU" sz="1800" dirty="0"/>
              <a:t> в </a:t>
            </a:r>
            <a:r>
              <a:rPr lang="ru-RU" sz="1800" dirty="0" err="1"/>
              <a:t>кръга</a:t>
            </a:r>
            <a:r>
              <a:rPr lang="ru-RU" sz="1800" dirty="0"/>
              <a:t> на </a:t>
            </a:r>
            <a:r>
              <a:rPr lang="ru-RU" sz="1800" dirty="0" err="1"/>
              <a:t>мрежата</a:t>
            </a:r>
            <a:r>
              <a:rPr lang="ru-RU" sz="1800" dirty="0"/>
              <a:t> </a:t>
            </a:r>
            <a:r>
              <a:rPr lang="ru-RU" sz="1800" dirty="0" err="1"/>
              <a:t>засяга</a:t>
            </a:r>
            <a:r>
              <a:rPr lang="ru-RU" sz="1800" dirty="0"/>
              <a:t> </a:t>
            </a:r>
            <a:r>
              <a:rPr lang="ru-RU" sz="1800" dirty="0" err="1"/>
              <a:t>цялата</a:t>
            </a:r>
            <a:r>
              <a:rPr lang="ru-RU" sz="1800" dirty="0"/>
              <a:t> мрежа.; </a:t>
            </a:r>
          </a:p>
          <a:p>
            <a:r>
              <a:rPr lang="ru-RU" sz="1800" dirty="0"/>
              <a:t>Трудно е да се добавят нови </a:t>
            </a:r>
            <a:r>
              <a:rPr lang="ru-RU" sz="1800" dirty="0" err="1"/>
              <a:t>компютри</a:t>
            </a:r>
            <a:r>
              <a:rPr lang="ru-RU" sz="1800" dirty="0"/>
              <a:t>. Необходимо е да се </a:t>
            </a:r>
            <a:r>
              <a:rPr lang="ru-RU" sz="1800" dirty="0" err="1"/>
              <a:t>прекара</a:t>
            </a:r>
            <a:r>
              <a:rPr lang="ru-RU" sz="1800" dirty="0"/>
              <a:t> </a:t>
            </a:r>
            <a:r>
              <a:rPr lang="ru-RU" sz="1800" dirty="0" err="1"/>
              <a:t>кабел</a:t>
            </a:r>
            <a:r>
              <a:rPr lang="ru-RU" sz="1800" dirty="0"/>
              <a:t>, за да се </a:t>
            </a:r>
            <a:r>
              <a:rPr lang="ru-RU" sz="1800" dirty="0" err="1"/>
              <a:t>добави</a:t>
            </a:r>
            <a:r>
              <a:rPr lang="ru-RU" sz="1800" dirty="0"/>
              <a:t> </a:t>
            </a:r>
            <a:r>
              <a:rPr lang="ru-RU" sz="1800" dirty="0" err="1"/>
              <a:t>компютър</a:t>
            </a:r>
            <a:r>
              <a:rPr lang="ru-RU" sz="1800" dirty="0"/>
              <a:t> и </a:t>
            </a:r>
            <a:r>
              <a:rPr lang="ru-RU" sz="1800" dirty="0" err="1"/>
              <a:t>цялата</a:t>
            </a:r>
            <a:r>
              <a:rPr lang="ru-RU" sz="1800" dirty="0"/>
              <a:t> мрежа </a:t>
            </a:r>
            <a:r>
              <a:rPr lang="ru-RU" sz="1800" dirty="0" err="1"/>
              <a:t>няма</a:t>
            </a:r>
            <a:r>
              <a:rPr lang="ru-RU" sz="1800" dirty="0"/>
              <a:t> да </a:t>
            </a:r>
            <a:r>
              <a:rPr lang="ru-RU" sz="1800" dirty="0" err="1"/>
              <a:t>работи</a:t>
            </a:r>
            <a:r>
              <a:rPr lang="ru-RU" sz="1800" dirty="0"/>
              <a:t>, </a:t>
            </a:r>
            <a:r>
              <a:rPr lang="ru-RU" sz="1800" dirty="0" err="1"/>
              <a:t>докато</a:t>
            </a:r>
            <a:r>
              <a:rPr lang="ru-RU" sz="1800" dirty="0"/>
              <a:t> </a:t>
            </a:r>
            <a:r>
              <a:rPr lang="ru-RU" sz="1800" dirty="0" err="1"/>
              <a:t>новата</a:t>
            </a:r>
            <a:r>
              <a:rPr lang="ru-RU" sz="1800" dirty="0"/>
              <a:t> система не </a:t>
            </a:r>
            <a:r>
              <a:rPr lang="ru-RU" sz="1800" dirty="0" err="1"/>
              <a:t>бъде</a:t>
            </a:r>
            <a:r>
              <a:rPr lang="ru-RU" sz="1800" dirty="0"/>
              <a:t> </a:t>
            </a:r>
            <a:r>
              <a:rPr lang="ru-RU" sz="1800" dirty="0" err="1"/>
              <a:t>инсталирана</a:t>
            </a:r>
            <a:r>
              <a:rPr lang="ru-RU" sz="1800" dirty="0"/>
              <a:t> и включена.</a:t>
            </a:r>
            <a:endParaRPr lang="bg-BG" sz="18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4E035BE-9FF4-43D3-BC25-CF582D7FF8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xmlns="" id="{F98BCEB2-EC20-4E84-A994-0AC37292C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xmlns="" id="{7A2E1821-AEDF-417E-9F17-83379E9C0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xmlns="" id="{CB3734E2-8292-4B47-B6AB-0E5A058DE9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xmlns="" id="{A0B09C51-29AB-45C0-B707-CCFB9DF28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xmlns="" id="{510C0CED-AE1B-45AE-B5E1-57521E589D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xmlns="" id="{591F2327-4B45-41AA-B41C-7404B6A1E4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xmlns="" id="{5A63224C-41A0-42C0-96F6-0B2BE99A13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xmlns="" id="{A7C00B9F-C253-4776-9935-EC02254A4F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5062D4AA-13F3-4064-8440-FFE8562D8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xmlns="" id="{3E143B27-CB82-440B-879B-D25C1891C1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787417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B8D1CE56-328E-E49E-C83B-797139EB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Мрежови архитектури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F2608E26-BD60-1B0F-A5B4-68AC090D3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Мрежите могат да се квалифицират според вида на използваната архитектура. Най – популярната архитектура е </a:t>
            </a:r>
            <a:r>
              <a:rPr lang="en-US" dirty="0"/>
              <a:t>Ethernet</a:t>
            </a:r>
            <a:r>
              <a:rPr lang="bg-BG" dirty="0"/>
              <a:t>(Интернет) други използвани архитектури:</a:t>
            </a:r>
          </a:p>
          <a:p>
            <a:r>
              <a:rPr lang="en-US" dirty="0"/>
              <a:t>Token Ring</a:t>
            </a:r>
          </a:p>
          <a:p>
            <a:r>
              <a:rPr lang="en-US" dirty="0"/>
              <a:t>Apple Talk</a:t>
            </a:r>
          </a:p>
          <a:p>
            <a:r>
              <a:rPr lang="en-US" dirty="0"/>
              <a:t>ARCNET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9325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B207BA3B-C001-E804-C187-85E44DCE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dirty="0"/>
              <a:t>Ethernet</a:t>
            </a:r>
            <a:r>
              <a:rPr lang="bg-BG" sz="4000" dirty="0"/>
              <a:t>(Интернет)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55B03517-0B7A-D846-1FD6-2E59861C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2249487"/>
            <a:ext cx="10029352" cy="354171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dirty="0" err="1"/>
              <a:t>Топологията</a:t>
            </a:r>
            <a:r>
              <a:rPr lang="ru-RU" dirty="0"/>
              <a:t> при Ethernet </a:t>
            </a:r>
            <a:r>
              <a:rPr lang="ru-RU" dirty="0" err="1"/>
              <a:t>мрежите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бъде</a:t>
            </a:r>
            <a:r>
              <a:rPr lang="ru-RU" dirty="0"/>
              <a:t> шина или звезда, а </a:t>
            </a:r>
            <a:r>
              <a:rPr lang="ru-RU" dirty="0" err="1"/>
              <a:t>методът</a:t>
            </a:r>
            <a:r>
              <a:rPr lang="ru-RU" dirty="0"/>
              <a:t> за </a:t>
            </a:r>
            <a:r>
              <a:rPr lang="ru-RU" dirty="0" err="1"/>
              <a:t>достъп</a:t>
            </a:r>
            <a:r>
              <a:rPr lang="ru-RU" dirty="0"/>
              <a:t> до </a:t>
            </a:r>
            <a:r>
              <a:rPr lang="ru-RU" dirty="0" err="1"/>
              <a:t>преносната</a:t>
            </a:r>
            <a:r>
              <a:rPr lang="ru-RU" dirty="0"/>
              <a:t> среда се </a:t>
            </a:r>
            <a:r>
              <a:rPr lang="ru-RU" dirty="0" err="1"/>
              <a:t>нарича</a:t>
            </a:r>
            <a:r>
              <a:rPr lang="ru-RU" dirty="0"/>
              <a:t> CSMA/CD. </a:t>
            </a:r>
            <a:r>
              <a:rPr lang="ru-RU" dirty="0" err="1"/>
              <a:t>Съкращението</a:t>
            </a:r>
            <a:r>
              <a:rPr lang="ru-RU" dirty="0"/>
              <a:t> CSMA/CD </a:t>
            </a:r>
            <a:r>
              <a:rPr lang="ru-RU" dirty="0" err="1"/>
              <a:t>идва</a:t>
            </a:r>
            <a:r>
              <a:rPr lang="ru-RU" dirty="0"/>
              <a:t> от</a:t>
            </a:r>
            <a:r>
              <a:rPr lang="en-US" dirty="0"/>
              <a:t> “c</a:t>
            </a:r>
            <a:r>
              <a:rPr lang="ru-RU" dirty="0" err="1"/>
              <a:t>arrier-sense</a:t>
            </a:r>
            <a:r>
              <a:rPr lang="ru-RU" dirty="0"/>
              <a:t> </a:t>
            </a:r>
            <a:r>
              <a:rPr lang="ru-RU" dirty="0" err="1"/>
              <a:t>multiple</a:t>
            </a:r>
            <a:r>
              <a:rPr lang="ru-RU" dirty="0"/>
              <a:t> </a:t>
            </a:r>
            <a:r>
              <a:rPr lang="ru-RU" dirty="0" err="1"/>
              <a:t>access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collision</a:t>
            </a:r>
            <a:r>
              <a:rPr lang="ru-RU" dirty="0"/>
              <a:t> </a:t>
            </a:r>
            <a:r>
              <a:rPr lang="ru-RU" dirty="0" err="1"/>
              <a:t>detection</a:t>
            </a:r>
            <a:r>
              <a:rPr lang="en-US" dirty="0"/>
              <a:t>”</a:t>
            </a:r>
            <a:r>
              <a:rPr lang="ru-RU" dirty="0"/>
              <a:t> (множествен </a:t>
            </a:r>
            <a:r>
              <a:rPr lang="ru-RU" dirty="0" err="1"/>
              <a:t>достъп</a:t>
            </a:r>
            <a:r>
              <a:rPr lang="ru-RU" dirty="0"/>
              <a:t> с </a:t>
            </a:r>
            <a:r>
              <a:rPr lang="ru-RU" dirty="0" err="1"/>
              <a:t>откриване</a:t>
            </a:r>
            <a:r>
              <a:rPr lang="ru-RU" dirty="0"/>
              <a:t> на </a:t>
            </a:r>
            <a:r>
              <a:rPr lang="ru-RU" dirty="0" err="1"/>
              <a:t>носещата</a:t>
            </a:r>
            <a:r>
              <a:rPr lang="ru-RU" dirty="0"/>
              <a:t> и </a:t>
            </a:r>
            <a:r>
              <a:rPr lang="ru-RU" dirty="0" err="1"/>
              <a:t>разпознаване</a:t>
            </a:r>
            <a:r>
              <a:rPr lang="ru-RU" dirty="0"/>
              <a:t> на </a:t>
            </a:r>
            <a:r>
              <a:rPr lang="ru-RU" dirty="0" err="1"/>
              <a:t>конфликтите</a:t>
            </a:r>
            <a:r>
              <a:rPr lang="ru-RU" dirty="0"/>
              <a:t>) и </a:t>
            </a:r>
            <a:r>
              <a:rPr lang="ru-RU" dirty="0" err="1"/>
              <a:t>показва</a:t>
            </a:r>
            <a:r>
              <a:rPr lang="ru-RU" dirty="0"/>
              <a:t> как се </a:t>
            </a:r>
            <a:r>
              <a:rPr lang="ru-RU" dirty="0" err="1"/>
              <a:t>осъществява</a:t>
            </a:r>
            <a:r>
              <a:rPr lang="ru-RU" dirty="0"/>
              <a:t> </a:t>
            </a:r>
            <a:r>
              <a:rPr lang="ru-RU" dirty="0" err="1"/>
              <a:t>комуникацията</a:t>
            </a:r>
            <a:r>
              <a:rPr lang="ru-RU" dirty="0"/>
              <a:t> между </a:t>
            </a:r>
            <a:r>
              <a:rPr lang="ru-RU" dirty="0" err="1"/>
              <a:t>станциите</a:t>
            </a:r>
            <a:r>
              <a:rPr lang="ru-RU" dirty="0"/>
              <a:t>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40064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12E7F515-16EF-4683-C191-E56FBAA2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Carrier-sense multiple access (CSMA)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3264424D-4DCB-E664-E982-9CA58750E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Това</a:t>
            </a:r>
            <a:r>
              <a:rPr lang="en-US" dirty="0"/>
              <a:t> </a:t>
            </a:r>
            <a:r>
              <a:rPr lang="ru-RU" dirty="0"/>
              <a:t>е добра организация за </a:t>
            </a:r>
            <a:r>
              <a:rPr lang="ru-RU" dirty="0" err="1"/>
              <a:t>комуникация</a:t>
            </a:r>
            <a:r>
              <a:rPr lang="ru-RU" dirty="0"/>
              <a:t> между </a:t>
            </a:r>
            <a:r>
              <a:rPr lang="ru-RU" dirty="0" err="1"/>
              <a:t>компютрите</a:t>
            </a:r>
            <a:r>
              <a:rPr lang="ru-RU" dirty="0"/>
              <a:t>. </a:t>
            </a:r>
            <a:r>
              <a:rPr lang="ru-RU" dirty="0" err="1"/>
              <a:t>Какво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се случи обаче </a:t>
            </a:r>
            <a:r>
              <a:rPr lang="ru-RU" dirty="0" err="1"/>
              <a:t>ако</a:t>
            </a:r>
            <a:r>
              <a:rPr lang="ru-RU" dirty="0"/>
              <a:t> две станции </a:t>
            </a:r>
            <a:r>
              <a:rPr lang="ru-RU" dirty="0" err="1"/>
              <a:t>започнат</a:t>
            </a:r>
            <a:r>
              <a:rPr lang="ru-RU" dirty="0"/>
              <a:t> </a:t>
            </a:r>
            <a:r>
              <a:rPr lang="ru-RU" dirty="0" err="1"/>
              <a:t>едновременно</a:t>
            </a:r>
            <a:r>
              <a:rPr lang="ru-RU" dirty="0"/>
              <a:t> да „говорят”? </a:t>
            </a:r>
            <a:r>
              <a:rPr lang="ru-RU" dirty="0" err="1"/>
              <a:t>Тогава</a:t>
            </a:r>
            <a:r>
              <a:rPr lang="ru-RU" dirty="0"/>
              <a:t> </a:t>
            </a:r>
            <a:r>
              <a:rPr lang="ru-RU" dirty="0" err="1"/>
              <a:t>настъпва</a:t>
            </a:r>
            <a:r>
              <a:rPr lang="ru-RU" dirty="0"/>
              <a:t> </a:t>
            </a:r>
            <a:r>
              <a:rPr lang="ru-RU" dirty="0" err="1"/>
              <a:t>колизия</a:t>
            </a:r>
            <a:r>
              <a:rPr lang="ru-RU" dirty="0"/>
              <a:t>. </a:t>
            </a:r>
            <a:r>
              <a:rPr lang="ru-RU" dirty="0" err="1"/>
              <a:t>Методът</a:t>
            </a:r>
            <a:r>
              <a:rPr lang="ru-RU" dirty="0"/>
              <a:t> </a:t>
            </a:r>
            <a:r>
              <a:rPr lang="ru-RU" dirty="0" err="1"/>
              <a:t>collision</a:t>
            </a:r>
            <a:r>
              <a:rPr lang="ru-RU" dirty="0"/>
              <a:t> </a:t>
            </a:r>
            <a:r>
              <a:rPr lang="ru-RU" dirty="0" err="1"/>
              <a:t>detection</a:t>
            </a:r>
            <a:r>
              <a:rPr lang="ru-RU" dirty="0"/>
              <a:t> (CD) </a:t>
            </a:r>
            <a:r>
              <a:rPr lang="ru-RU" dirty="0" err="1"/>
              <a:t>предполага</a:t>
            </a:r>
            <a:r>
              <a:rPr lang="ru-RU" dirty="0"/>
              <a:t> при </a:t>
            </a:r>
            <a:r>
              <a:rPr lang="ru-RU" dirty="0" err="1"/>
              <a:t>възникване</a:t>
            </a:r>
            <a:r>
              <a:rPr lang="ru-RU" dirty="0"/>
              <a:t> на </a:t>
            </a:r>
            <a:r>
              <a:rPr lang="ru-RU" dirty="0" err="1"/>
              <a:t>колизия</a:t>
            </a:r>
            <a:r>
              <a:rPr lang="ru-RU" dirty="0"/>
              <a:t> и </a:t>
            </a:r>
            <a:r>
              <a:rPr lang="ru-RU" dirty="0" err="1"/>
              <a:t>двете</a:t>
            </a:r>
            <a:r>
              <a:rPr lang="ru-RU" dirty="0"/>
              <a:t> станции да </a:t>
            </a:r>
            <a:r>
              <a:rPr lang="ru-RU" dirty="0" err="1"/>
              <a:t>спрат</a:t>
            </a:r>
            <a:r>
              <a:rPr lang="ru-RU" dirty="0"/>
              <a:t> да </a:t>
            </a:r>
            <a:r>
              <a:rPr lang="ru-RU" dirty="0" err="1"/>
              <a:t>предават</a:t>
            </a:r>
            <a:r>
              <a:rPr lang="ru-RU" dirty="0"/>
              <a:t>. </a:t>
            </a:r>
            <a:r>
              <a:rPr lang="ru-RU" dirty="0" err="1"/>
              <a:t>Изчаква</a:t>
            </a:r>
            <a:r>
              <a:rPr lang="ru-RU" dirty="0"/>
              <a:t> се произволен интервал от </a:t>
            </a:r>
            <a:r>
              <a:rPr lang="ru-RU" dirty="0" err="1"/>
              <a:t>време</a:t>
            </a:r>
            <a:r>
              <a:rPr lang="ru-RU" dirty="0"/>
              <a:t> и след </a:t>
            </a:r>
            <a:r>
              <a:rPr lang="ru-RU" dirty="0" err="1"/>
              <a:t>това</a:t>
            </a:r>
            <a:r>
              <a:rPr lang="ru-RU" dirty="0"/>
              <a:t> </a:t>
            </a:r>
            <a:r>
              <a:rPr lang="ru-RU" dirty="0" err="1"/>
              <a:t>отново</a:t>
            </a:r>
            <a:r>
              <a:rPr lang="ru-RU" dirty="0"/>
              <a:t> се </a:t>
            </a:r>
            <a:r>
              <a:rPr lang="ru-RU" dirty="0" err="1"/>
              <a:t>прави</a:t>
            </a:r>
            <a:r>
              <a:rPr lang="ru-RU" dirty="0"/>
              <a:t> опит за </a:t>
            </a:r>
            <a:r>
              <a:rPr lang="ru-RU" dirty="0" err="1"/>
              <a:t>предаване</a:t>
            </a:r>
            <a:r>
              <a:rPr lang="ru-RU" dirty="0"/>
              <a:t> на информация.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2920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45C4C9E2-3257-DEAC-1124-4145FF6E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54101"/>
          </a:xfrm>
        </p:spPr>
        <p:txBody>
          <a:bodyPr/>
          <a:lstStyle/>
          <a:p>
            <a:r>
              <a:rPr lang="en-US" dirty="0"/>
              <a:t>Ethernet </a:t>
            </a:r>
            <a:r>
              <a:rPr lang="bg-BG" dirty="0"/>
              <a:t>мрежите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CA2347C6-2458-3084-B4B2-A0372B0E0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72619"/>
            <a:ext cx="9905999" cy="451858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bg-BG" sz="2800" dirty="0"/>
              <a:t>Според типа на кабела на свързване се разделят на следните категории:</a:t>
            </a:r>
          </a:p>
          <a:p>
            <a:pPr marL="0" indent="0">
              <a:buNone/>
            </a:pPr>
            <a:r>
              <a:rPr lang="nb-NO" sz="2800" dirty="0"/>
              <a:t>• 10Base5 </a:t>
            </a:r>
            <a:endParaRPr lang="bg-BG" sz="2800" dirty="0"/>
          </a:p>
          <a:p>
            <a:pPr marL="0" indent="0">
              <a:buNone/>
            </a:pPr>
            <a:r>
              <a:rPr lang="nb-NO" sz="2800" dirty="0"/>
              <a:t>• 10Base2 </a:t>
            </a:r>
            <a:endParaRPr lang="bg-BG" sz="2800" dirty="0"/>
          </a:p>
          <a:p>
            <a:pPr marL="0" indent="0">
              <a:buNone/>
            </a:pPr>
            <a:r>
              <a:rPr lang="nb-NO" sz="2800" dirty="0"/>
              <a:t>• 10BaseT </a:t>
            </a:r>
            <a:endParaRPr lang="bg-BG" sz="2800" dirty="0"/>
          </a:p>
          <a:p>
            <a:pPr marL="0" indent="0">
              <a:buNone/>
            </a:pPr>
            <a:r>
              <a:rPr lang="nb-NO" sz="2800" dirty="0"/>
              <a:t>• 100BaseT </a:t>
            </a:r>
            <a:endParaRPr lang="bg-BG" sz="2800" dirty="0"/>
          </a:p>
          <a:p>
            <a:pPr marL="0" indent="0">
              <a:buNone/>
            </a:pPr>
            <a:r>
              <a:rPr lang="nb-NO" sz="2800" dirty="0"/>
              <a:t>• 1000BaseT </a:t>
            </a:r>
            <a:endParaRPr lang="bg-BG" sz="2800" dirty="0"/>
          </a:p>
          <a:p>
            <a:pPr marL="0" indent="0">
              <a:buNone/>
            </a:pPr>
            <a:r>
              <a:rPr lang="nb-NO" sz="2800" dirty="0"/>
              <a:t>• 1000BaseVG-AnyLAN </a:t>
            </a:r>
            <a:endParaRPr lang="bg-BG" sz="2800" dirty="0"/>
          </a:p>
          <a:p>
            <a:pPr marL="0" indent="0">
              <a:buNone/>
            </a:pPr>
            <a:r>
              <a:rPr lang="nb-NO" sz="2800" dirty="0"/>
              <a:t>• 10BaseFL 08-2 </a:t>
            </a:r>
            <a:endParaRPr lang="bg-BG" sz="2800" dirty="0"/>
          </a:p>
          <a:p>
            <a:pPr marL="0" indent="0">
              <a:buNone/>
            </a:pPr>
            <a:r>
              <a:rPr lang="nb-NO" sz="2800" dirty="0"/>
              <a:t>• 100BaseFL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520502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46B922C-5BA7-4973-B12F-71A509E4B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6D34D8D-9EE9-4659-8C22-7551A95F96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3CA93C16-1147-4EB3-B4E7-3C43102494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xmlns="" id="{C4779968-92AF-4B85-8C27-EBBFE1D6990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xmlns="" id="{2C43E18D-7024-4F17-A664-E23BFBC12B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xmlns="" id="{CA2ACEBA-081B-4B0B-AFB1-C596B834FD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xmlns="" id="{2AFBB163-514B-493A-983F-8BE96848F9B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xmlns="" id="{7720326C-7DB1-4745-9015-3FA6990855B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xmlns="" id="{01D5FBDC-A284-440B-8D5F-84287B0A25D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xmlns="" id="{517CE611-1CB0-442B-8998-98487209B0E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xmlns="" id="{EF0F0E46-9222-4FCF-A79E-9B4953C6F0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xmlns="" id="{371A87C3-0804-4AB9-8EAD-FBFF597ED82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xmlns="" id="{89F39433-8BC3-48D6-B705-F951DBDAAB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xmlns="" id="{AE671C9D-E91C-4143-A422-273B2F53F69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xmlns="" id="{83A72EA3-8833-41C6-9333-6A04C1C08D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xmlns="" id="{2C0D7AAB-DC9C-4B37-A50E-A7185DE92E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xmlns="" id="{6E7D9D6B-3455-4363-934B-FA2D682931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xmlns="" id="{FFFFCA54-2217-4DAE-B791-4A6CA7DE0BD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xmlns="" id="{BAE43BA5-C104-4FBB-B1C6-C210D3CC532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xmlns="" id="{3BDB2330-DF01-460D-83FB-00C37965CD5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xmlns="" id="{51261093-9B7F-4406-B2F8-0F5BE7676A2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xmlns="" id="{9971E195-2AB6-4CB6-9BD7-A8407B5C809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xmlns="" id="{A3D843E7-8A86-4676-9C98-DECE0DFF674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xmlns="" id="{FAF42817-AB3E-40FA-997F-EAC1411F465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xmlns="" id="{50ED3298-A6DC-4825-93B1-68DB8CB629A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xmlns="" id="{2B951778-3B6B-4BB9-9D89-2ED650C820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xmlns="" id="{8F3ED9A8-A83F-463A-8C2E-E83977D9A9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xmlns="" id="{9A0C113E-781D-4083-86C0-EC936092D27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xmlns="" id="{B63D60EF-1E99-4D4C-BF11-AAF8ABEB86E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xmlns="" id="{50403E41-7079-49EA-8D0B-4F678552D9B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E3B2C458-4D37-49A0-A94E-D516E05C3C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xmlns="" id="{C1B10016-E0C4-4526-A466-9911541D26E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xmlns="" id="{D574C3F0-FC2B-43A3-94B2-75D305FBF7D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xmlns="" id="{D92A5F66-F404-433B-BDBE-5E0DFF40D65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xmlns="" id="{0A0BDF81-64CC-431D-81B1-A21938C0543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xmlns="" id="{42871530-50EC-42C2-879A-AE8154DADC0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xmlns="" id="{53AF2F2A-B148-4906-B90D-6E222397845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xmlns="" id="{9A79EAA4-6F5D-4A2C-B688-CD29C2217C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xmlns="" id="{B9CE5833-22CF-4408-9338-4B7749FEA3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xmlns="" id="{316A985A-7ADD-4BEE-A7B6-E5B49E1839E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xmlns="" id="{352CFA3F-5CFE-412E-9196-C966F34579D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3" name="Picture 2">
            <a:extLst>
              <a:ext uri="{FF2B5EF4-FFF2-40B4-BE49-F238E27FC236}">
                <a16:creationId xmlns:a16="http://schemas.microsoft.com/office/drawing/2014/main" xmlns="" id="{2FB01CCF-839B-4126-9BF9-132C64D8A1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8A0C6523-36C9-6E78-DE44-FDEBC3B3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10Base2</a:t>
            </a:r>
            <a:endParaRPr lang="bg-BG">
              <a:solidFill>
                <a:srgbClr val="FFFFFF"/>
              </a:solidFill>
            </a:endParaRPr>
          </a:p>
        </p:txBody>
      </p:sp>
      <p:sp useBgFill="1">
        <p:nvSpPr>
          <p:cNvPr id="55" name="Round Diagonal Corner Rectangle 6">
            <a:extLst>
              <a:ext uri="{FF2B5EF4-FFF2-40B4-BE49-F238E27FC236}">
                <a16:creationId xmlns:a16="http://schemas.microsoft.com/office/drawing/2014/main" xmlns="" id="{F2B1468C-8227-4785-8776-7BDBDDF08F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 descr="Картина, която съдържа рафт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0882D941-3C2E-FD01-4F63-670BC8A7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17" y="2893848"/>
            <a:ext cx="3178638" cy="1064843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EB19812E-15A2-100F-88CD-EFA896BE3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ru-RU" dirty="0" err="1">
                <a:solidFill>
                  <a:srgbClr val="FFFFFF"/>
                </a:solidFill>
              </a:rPr>
              <a:t>Скорост</a:t>
            </a:r>
            <a:r>
              <a:rPr lang="ru-RU" dirty="0">
                <a:solidFill>
                  <a:srgbClr val="FFFFFF"/>
                </a:solidFill>
              </a:rPr>
              <a:t> на </a:t>
            </a:r>
            <a:r>
              <a:rPr lang="ru-RU" dirty="0" err="1">
                <a:solidFill>
                  <a:srgbClr val="FFFFFF"/>
                </a:solidFill>
              </a:rPr>
              <a:t>предаване</a:t>
            </a:r>
            <a:r>
              <a:rPr lang="ru-RU" dirty="0">
                <a:solidFill>
                  <a:srgbClr val="FFFFFF"/>
                </a:solidFill>
              </a:rPr>
              <a:t> на </a:t>
            </a:r>
            <a:r>
              <a:rPr lang="ru-RU" dirty="0" err="1">
                <a:solidFill>
                  <a:srgbClr val="FFFFFF"/>
                </a:solidFill>
              </a:rPr>
              <a:t>данни</a:t>
            </a:r>
            <a:r>
              <a:rPr lang="ru-RU" dirty="0">
                <a:solidFill>
                  <a:srgbClr val="FFFFFF"/>
                </a:solidFill>
              </a:rPr>
              <a:t> -10 </a:t>
            </a:r>
            <a:r>
              <a:rPr lang="ru-RU" dirty="0" err="1">
                <a:solidFill>
                  <a:srgbClr val="FFFFFF"/>
                </a:solidFill>
              </a:rPr>
              <a:t>Mbps</a:t>
            </a:r>
            <a:r>
              <a:rPr lang="ru-RU" dirty="0">
                <a:solidFill>
                  <a:srgbClr val="FFFFFF"/>
                </a:solidFill>
              </a:rPr>
              <a:t> </a:t>
            </a:r>
          </a:p>
          <a:p>
            <a:r>
              <a:rPr lang="ru-RU" dirty="0" err="1">
                <a:solidFill>
                  <a:srgbClr val="FFFFFF"/>
                </a:solidFill>
              </a:rPr>
              <a:t>Основна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използвана</a:t>
            </a:r>
            <a:r>
              <a:rPr lang="ru-RU" dirty="0">
                <a:solidFill>
                  <a:srgbClr val="FFFFFF"/>
                </a:solidFill>
              </a:rPr>
              <a:t> топология – обща шина </a:t>
            </a:r>
          </a:p>
          <a:p>
            <a:r>
              <a:rPr lang="ru-RU" dirty="0" err="1">
                <a:solidFill>
                  <a:srgbClr val="FFFFFF"/>
                </a:solidFill>
              </a:rPr>
              <a:t>Кабел</a:t>
            </a:r>
            <a:r>
              <a:rPr lang="ru-RU" dirty="0">
                <a:solidFill>
                  <a:srgbClr val="FFFFFF"/>
                </a:solidFill>
              </a:rPr>
              <a:t> – коаксиален, </a:t>
            </a:r>
            <a:r>
              <a:rPr lang="ru-RU" dirty="0" err="1">
                <a:solidFill>
                  <a:srgbClr val="FFFFFF"/>
                </a:solidFill>
              </a:rPr>
              <a:t>тънък</a:t>
            </a:r>
            <a:r>
              <a:rPr lang="ru-RU" dirty="0">
                <a:solidFill>
                  <a:srgbClr val="FFFFFF"/>
                </a:solidFill>
              </a:rPr>
              <a:t> (6мм), тип RG-58 </a:t>
            </a:r>
            <a:r>
              <a:rPr lang="ru-RU" dirty="0" err="1">
                <a:solidFill>
                  <a:srgbClr val="FFFFFF"/>
                </a:solidFill>
              </a:rPr>
              <a:t>със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съпротивление</a:t>
            </a:r>
            <a:r>
              <a:rPr lang="ru-RU" dirty="0">
                <a:solidFill>
                  <a:srgbClr val="FFFFFF"/>
                </a:solidFill>
              </a:rPr>
              <a:t> 50 ома  </a:t>
            </a:r>
            <a:r>
              <a:rPr lang="ru-RU" dirty="0" err="1">
                <a:solidFill>
                  <a:srgbClr val="FFFFFF"/>
                </a:solidFill>
              </a:rPr>
              <a:t>Максимална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дължина</a:t>
            </a:r>
            <a:r>
              <a:rPr lang="ru-RU" dirty="0">
                <a:solidFill>
                  <a:srgbClr val="FFFFFF"/>
                </a:solidFill>
              </a:rPr>
              <a:t> на сегмента – 185 метра </a:t>
            </a:r>
          </a:p>
          <a:p>
            <a:r>
              <a:rPr lang="ru-RU" dirty="0">
                <a:solidFill>
                  <a:srgbClr val="FFFFFF"/>
                </a:solidFill>
              </a:rPr>
              <a:t>Метод на </a:t>
            </a:r>
            <a:r>
              <a:rPr lang="ru-RU" dirty="0" err="1">
                <a:solidFill>
                  <a:srgbClr val="FFFFFF"/>
                </a:solidFill>
              </a:rPr>
              <a:t>предаване</a:t>
            </a:r>
            <a:r>
              <a:rPr lang="ru-RU" dirty="0">
                <a:solidFill>
                  <a:srgbClr val="FFFFFF"/>
                </a:solidFill>
              </a:rPr>
              <a:t> на сигнала – </a:t>
            </a:r>
            <a:r>
              <a:rPr lang="ru-RU" dirty="0" err="1">
                <a:solidFill>
                  <a:srgbClr val="FFFFFF"/>
                </a:solidFill>
              </a:rPr>
              <a:t>Baseband</a:t>
            </a:r>
            <a:endParaRPr lang="bg-BG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475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46B922C-5BA7-4973-B12F-71A509E4B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6D34D8D-9EE9-4659-8C22-7551A95F96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3CA93C16-1147-4EB3-B4E7-3C43102494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xmlns="" id="{C4779968-92AF-4B85-8C27-EBBFE1D6990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xmlns="" id="{2C43E18D-7024-4F17-A664-E23BFBC12B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xmlns="" id="{CA2ACEBA-081B-4B0B-AFB1-C596B834FD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xmlns="" id="{2AFBB163-514B-493A-983F-8BE96848F9B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xmlns="" id="{7720326C-7DB1-4745-9015-3FA6990855B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xmlns="" id="{01D5FBDC-A284-440B-8D5F-84287B0A25D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xmlns="" id="{517CE611-1CB0-442B-8998-98487209B0E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xmlns="" id="{EF0F0E46-9222-4FCF-A79E-9B4953C6F0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xmlns="" id="{371A87C3-0804-4AB9-8EAD-FBFF597ED82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xmlns="" id="{89F39433-8BC3-48D6-B705-F951DBDAAB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xmlns="" id="{AE671C9D-E91C-4143-A422-273B2F53F69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xmlns="" id="{83A72EA3-8833-41C6-9333-6A04C1C08D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xmlns="" id="{2C0D7AAB-DC9C-4B37-A50E-A7185DE92E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xmlns="" id="{6E7D9D6B-3455-4363-934B-FA2D682931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xmlns="" id="{FFFFCA54-2217-4DAE-B791-4A6CA7DE0BD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xmlns="" id="{BAE43BA5-C104-4FBB-B1C6-C210D3CC532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xmlns="" id="{3BDB2330-DF01-460D-83FB-00C37965CD5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xmlns="" id="{51261093-9B7F-4406-B2F8-0F5BE7676A2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xmlns="" id="{9971E195-2AB6-4CB6-9BD7-A8407B5C809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xmlns="" id="{A3D843E7-8A86-4676-9C98-DECE0DFF674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xmlns="" id="{FAF42817-AB3E-40FA-997F-EAC1411F465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xmlns="" id="{50ED3298-A6DC-4825-93B1-68DB8CB629A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xmlns="" id="{2B951778-3B6B-4BB9-9D89-2ED650C820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xmlns="" id="{8F3ED9A8-A83F-463A-8C2E-E83977D9A9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xmlns="" id="{9A0C113E-781D-4083-86C0-EC936092D27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xmlns="" id="{B63D60EF-1E99-4D4C-BF11-AAF8ABEB86E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xmlns="" id="{50403E41-7079-49EA-8D0B-4F678552D9B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E3B2C458-4D37-49A0-A94E-D516E05C3C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xmlns="" id="{C1B10016-E0C4-4526-A466-9911541D26E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xmlns="" id="{D574C3F0-FC2B-43A3-94B2-75D305FBF7D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xmlns="" id="{D92A5F66-F404-433B-BDBE-5E0DFF40D65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xmlns="" id="{0A0BDF81-64CC-431D-81B1-A21938C0543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xmlns="" id="{42871530-50EC-42C2-879A-AE8154DADC0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xmlns="" id="{53AF2F2A-B148-4906-B90D-6E222397845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xmlns="" id="{9A79EAA4-6F5D-4A2C-B688-CD29C2217C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xmlns="" id="{B9CE5833-22CF-4408-9338-4B7749FEA3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xmlns="" id="{316A985A-7ADD-4BEE-A7B6-E5B49E1839E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xmlns="" id="{352CFA3F-5CFE-412E-9196-C966F34579D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3" name="Picture 2">
            <a:extLst>
              <a:ext uri="{FF2B5EF4-FFF2-40B4-BE49-F238E27FC236}">
                <a16:creationId xmlns:a16="http://schemas.microsoft.com/office/drawing/2014/main" xmlns="" id="{2FB01CCF-839B-4126-9BF9-132C64D8A1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BA963E1F-EC44-A6D9-A2FF-9AF526C1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bg-BG">
                <a:solidFill>
                  <a:srgbClr val="FFFFFF"/>
                </a:solidFill>
              </a:rPr>
              <a:t>Мрежи 10</a:t>
            </a:r>
            <a:r>
              <a:rPr lang="en-US">
                <a:solidFill>
                  <a:srgbClr val="FFFFFF"/>
                </a:solidFill>
              </a:rPr>
              <a:t>Base5</a:t>
            </a:r>
            <a:endParaRPr lang="bg-BG">
              <a:solidFill>
                <a:srgbClr val="FFFFFF"/>
              </a:solidFill>
            </a:endParaRPr>
          </a:p>
        </p:txBody>
      </p:sp>
      <p:sp useBgFill="1">
        <p:nvSpPr>
          <p:cNvPr id="55" name="Round Diagonal Corner Rectangle 6">
            <a:extLst>
              <a:ext uri="{FF2B5EF4-FFF2-40B4-BE49-F238E27FC236}">
                <a16:creationId xmlns:a16="http://schemas.microsoft.com/office/drawing/2014/main" xmlns="" id="{F2B1468C-8227-4785-8776-7BDBDDF08F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xmlns="" id="{9BAA42B9-0B11-A04F-DC29-F7B3D4396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17" y="2480625"/>
            <a:ext cx="3178638" cy="1891289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CDB34AD6-E6E3-0D3F-3D79-1CFEBCAC3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2200" dirty="0">
                <a:solidFill>
                  <a:srgbClr val="FFFFFF"/>
                </a:solidFill>
              </a:rPr>
              <a:t>10 – </a:t>
            </a:r>
            <a:r>
              <a:rPr lang="ru-RU" sz="2200" dirty="0" err="1">
                <a:solidFill>
                  <a:srgbClr val="FFFFFF"/>
                </a:solidFill>
              </a:rPr>
              <a:t>скорост</a:t>
            </a:r>
            <a:r>
              <a:rPr lang="ru-RU" sz="2200" dirty="0">
                <a:solidFill>
                  <a:srgbClr val="FFFFFF"/>
                </a:solidFill>
              </a:rPr>
              <a:t> на </a:t>
            </a:r>
            <a:r>
              <a:rPr lang="ru-RU" sz="2200" dirty="0" err="1">
                <a:solidFill>
                  <a:srgbClr val="FFFFFF"/>
                </a:solidFill>
              </a:rPr>
              <a:t>локалната</a:t>
            </a:r>
            <a:r>
              <a:rPr lang="ru-RU" sz="2200" dirty="0">
                <a:solidFill>
                  <a:srgbClr val="FFFFFF"/>
                </a:solidFill>
              </a:rPr>
              <a:t> мрежа в </a:t>
            </a:r>
            <a:r>
              <a:rPr lang="ru-RU" sz="2200" dirty="0" err="1">
                <a:solidFill>
                  <a:srgbClr val="FFFFFF"/>
                </a:solidFill>
              </a:rPr>
              <a:t>Mbps</a:t>
            </a:r>
            <a:r>
              <a:rPr lang="ru-RU" sz="22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200" dirty="0">
                <a:solidFill>
                  <a:srgbClr val="FFFFFF"/>
                </a:solidFill>
              </a:rPr>
              <a:t>Base = </a:t>
            </a:r>
            <a:r>
              <a:rPr lang="ru-RU" sz="2200" dirty="0" err="1">
                <a:solidFill>
                  <a:srgbClr val="FFFFFF"/>
                </a:solidFill>
              </a:rPr>
              <a:t>Baseband</a:t>
            </a:r>
            <a:r>
              <a:rPr lang="ru-RU" sz="2200" dirty="0">
                <a:solidFill>
                  <a:srgbClr val="FFFFFF"/>
                </a:solidFill>
              </a:rPr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200" dirty="0">
                <a:solidFill>
                  <a:srgbClr val="FFFFFF"/>
                </a:solidFill>
              </a:rPr>
              <a:t>5 – </a:t>
            </a:r>
            <a:r>
              <a:rPr lang="ru-RU" sz="2200" dirty="0" err="1">
                <a:solidFill>
                  <a:srgbClr val="FFFFFF"/>
                </a:solidFill>
              </a:rPr>
              <a:t>дължина</a:t>
            </a:r>
            <a:r>
              <a:rPr lang="ru-RU" sz="2200" dirty="0">
                <a:solidFill>
                  <a:srgbClr val="FFFFFF"/>
                </a:solidFill>
              </a:rPr>
              <a:t> на </a:t>
            </a:r>
            <a:r>
              <a:rPr lang="ru-RU" sz="2200" dirty="0" err="1">
                <a:solidFill>
                  <a:srgbClr val="FFFFFF"/>
                </a:solidFill>
              </a:rPr>
              <a:t>мрежовият</a:t>
            </a:r>
            <a:r>
              <a:rPr lang="ru-RU" sz="2200" dirty="0">
                <a:solidFill>
                  <a:srgbClr val="FFFFFF"/>
                </a:solidFill>
              </a:rPr>
              <a:t> сегмент в </a:t>
            </a:r>
            <a:r>
              <a:rPr lang="ru-RU" sz="2200" dirty="0" err="1">
                <a:solidFill>
                  <a:srgbClr val="FFFFFF"/>
                </a:solidFill>
              </a:rPr>
              <a:t>стотици</a:t>
            </a:r>
            <a:r>
              <a:rPr lang="ru-RU" sz="22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200" dirty="0">
                <a:solidFill>
                  <a:srgbClr val="FFFFFF"/>
                </a:solidFill>
              </a:rPr>
              <a:t>10Base5 </a:t>
            </a:r>
            <a:r>
              <a:rPr lang="ru-RU" sz="2200" dirty="0" err="1">
                <a:solidFill>
                  <a:srgbClr val="FFFFFF"/>
                </a:solidFill>
              </a:rPr>
              <a:t>мрежите</a:t>
            </a:r>
            <a:r>
              <a:rPr lang="ru-RU" sz="2200" dirty="0">
                <a:solidFill>
                  <a:srgbClr val="FFFFFF"/>
                </a:solidFill>
              </a:rPr>
              <a:t> </a:t>
            </a:r>
            <a:r>
              <a:rPr lang="ru-RU" sz="2200" dirty="0" err="1">
                <a:solidFill>
                  <a:srgbClr val="FFFFFF"/>
                </a:solidFill>
              </a:rPr>
              <a:t>използват</a:t>
            </a:r>
            <a:r>
              <a:rPr lang="ru-RU" sz="2200" dirty="0">
                <a:solidFill>
                  <a:srgbClr val="FFFFFF"/>
                </a:solidFill>
              </a:rPr>
              <a:t> дебел коаксиален </a:t>
            </a:r>
            <a:r>
              <a:rPr lang="ru-RU" sz="2200" dirty="0" err="1">
                <a:solidFill>
                  <a:srgbClr val="FFFFFF"/>
                </a:solidFill>
              </a:rPr>
              <a:t>кабел</a:t>
            </a:r>
            <a:r>
              <a:rPr lang="ru-RU" sz="2200" dirty="0">
                <a:solidFill>
                  <a:srgbClr val="FFFFFF"/>
                </a:solidFill>
              </a:rPr>
              <a:t> (RG-8 или RG-11) и шинна топология на </a:t>
            </a:r>
            <a:r>
              <a:rPr lang="ru-RU" sz="2200" dirty="0" err="1">
                <a:solidFill>
                  <a:srgbClr val="FFFFFF"/>
                </a:solidFill>
              </a:rPr>
              <a:t>свързване</a:t>
            </a:r>
            <a:r>
              <a:rPr lang="ru-RU" sz="2200" dirty="0">
                <a:solidFill>
                  <a:srgbClr val="FFFFFF"/>
                </a:solidFill>
              </a:rPr>
              <a:t>. </a:t>
            </a:r>
            <a:r>
              <a:rPr lang="ru-RU" sz="2200" dirty="0" err="1">
                <a:solidFill>
                  <a:srgbClr val="FFFFFF"/>
                </a:solidFill>
              </a:rPr>
              <a:t>Поради</a:t>
            </a:r>
            <a:r>
              <a:rPr lang="ru-RU" sz="2200" dirty="0">
                <a:solidFill>
                  <a:srgbClr val="FFFFFF"/>
                </a:solidFill>
              </a:rPr>
              <a:t> </a:t>
            </a:r>
            <a:r>
              <a:rPr lang="ru-RU" sz="2200" dirty="0" err="1">
                <a:solidFill>
                  <a:srgbClr val="FFFFFF"/>
                </a:solidFill>
              </a:rPr>
              <a:t>ниските</a:t>
            </a:r>
            <a:r>
              <a:rPr lang="ru-RU" sz="2200" dirty="0">
                <a:solidFill>
                  <a:srgbClr val="FFFFFF"/>
                </a:solidFill>
              </a:rPr>
              <a:t> скорости и </a:t>
            </a:r>
            <a:r>
              <a:rPr lang="ru-RU" sz="2200" dirty="0" err="1">
                <a:solidFill>
                  <a:srgbClr val="FFFFFF"/>
                </a:solidFill>
              </a:rPr>
              <a:t>по-трудното</a:t>
            </a:r>
            <a:r>
              <a:rPr lang="ru-RU" sz="2200" dirty="0">
                <a:solidFill>
                  <a:srgbClr val="FFFFFF"/>
                </a:solidFill>
              </a:rPr>
              <a:t> </a:t>
            </a:r>
            <a:r>
              <a:rPr lang="ru-RU" sz="2200" dirty="0" err="1">
                <a:solidFill>
                  <a:srgbClr val="FFFFFF"/>
                </a:solidFill>
              </a:rPr>
              <a:t>свързване</a:t>
            </a:r>
            <a:r>
              <a:rPr lang="ru-RU" sz="2200" dirty="0">
                <a:solidFill>
                  <a:srgbClr val="FFFFFF"/>
                </a:solidFill>
              </a:rPr>
              <a:t> на </a:t>
            </a:r>
            <a:r>
              <a:rPr lang="ru-RU" sz="2200" dirty="0" err="1">
                <a:solidFill>
                  <a:srgbClr val="FFFFFF"/>
                </a:solidFill>
              </a:rPr>
              <a:t>кабелите</a:t>
            </a:r>
            <a:r>
              <a:rPr lang="ru-RU" sz="2200" dirty="0">
                <a:solidFill>
                  <a:srgbClr val="FFFFFF"/>
                </a:solidFill>
              </a:rPr>
              <a:t> </a:t>
            </a:r>
            <a:r>
              <a:rPr lang="ru-RU" sz="2200" dirty="0" err="1">
                <a:solidFill>
                  <a:srgbClr val="FFFFFF"/>
                </a:solidFill>
              </a:rPr>
              <a:t>този</a:t>
            </a:r>
            <a:r>
              <a:rPr lang="ru-RU" sz="2200" dirty="0">
                <a:solidFill>
                  <a:srgbClr val="FFFFFF"/>
                </a:solidFill>
              </a:rPr>
              <a:t> стандарт почти не се </a:t>
            </a:r>
            <a:r>
              <a:rPr lang="ru-RU" sz="2200" dirty="0" err="1">
                <a:solidFill>
                  <a:srgbClr val="FFFFFF"/>
                </a:solidFill>
              </a:rPr>
              <a:t>използва</a:t>
            </a:r>
            <a:r>
              <a:rPr lang="ru-RU" sz="2200" dirty="0">
                <a:solidFill>
                  <a:srgbClr val="FFFFFF"/>
                </a:solidFill>
              </a:rPr>
              <a:t>.</a:t>
            </a:r>
            <a:endParaRPr lang="bg-BG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990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46B922C-5BA7-4973-B12F-71A509E4B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6D34D8D-9EE9-4659-8C22-7551A95F96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3CA93C16-1147-4EB3-B4E7-3C43102494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xmlns="" id="{C4779968-92AF-4B85-8C27-EBBFE1D6990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xmlns="" id="{2C43E18D-7024-4F17-A664-E23BFBC12B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xmlns="" id="{CA2ACEBA-081B-4B0B-AFB1-C596B834FD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xmlns="" id="{2AFBB163-514B-493A-983F-8BE96848F9B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xmlns="" id="{7720326C-7DB1-4745-9015-3FA6990855B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xmlns="" id="{01D5FBDC-A284-440B-8D5F-84287B0A25D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xmlns="" id="{517CE611-1CB0-442B-8998-98487209B0E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xmlns="" id="{EF0F0E46-9222-4FCF-A79E-9B4953C6F0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xmlns="" id="{371A87C3-0804-4AB9-8EAD-FBFF597ED82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xmlns="" id="{89F39433-8BC3-48D6-B705-F951DBDAAB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xmlns="" id="{AE671C9D-E91C-4143-A422-273B2F53F69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xmlns="" id="{83A72EA3-8833-41C6-9333-6A04C1C08D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xmlns="" id="{2C0D7AAB-DC9C-4B37-A50E-A7185DE92E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xmlns="" id="{6E7D9D6B-3455-4363-934B-FA2D682931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xmlns="" id="{FFFFCA54-2217-4DAE-B791-4A6CA7DE0BD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xmlns="" id="{BAE43BA5-C104-4FBB-B1C6-C210D3CC532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xmlns="" id="{3BDB2330-DF01-460D-83FB-00C37965CD5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xmlns="" id="{51261093-9B7F-4406-B2F8-0F5BE7676A2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xmlns="" id="{9971E195-2AB6-4CB6-9BD7-A8407B5C809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xmlns="" id="{A3D843E7-8A86-4676-9C98-DECE0DFF674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xmlns="" id="{FAF42817-AB3E-40FA-997F-EAC1411F465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xmlns="" id="{50ED3298-A6DC-4825-93B1-68DB8CB629A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xmlns="" id="{2B951778-3B6B-4BB9-9D89-2ED650C820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xmlns="" id="{8F3ED9A8-A83F-463A-8C2E-E83977D9A9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xmlns="" id="{9A0C113E-781D-4083-86C0-EC936092D27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xmlns="" id="{B63D60EF-1E99-4D4C-BF11-AAF8ABEB86E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xmlns="" id="{50403E41-7079-49EA-8D0B-4F678552D9B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E3B2C458-4D37-49A0-A94E-D516E05C3C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xmlns="" id="{C1B10016-E0C4-4526-A466-9911541D26E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xmlns="" id="{D574C3F0-FC2B-43A3-94B2-75D305FBF7D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xmlns="" id="{D92A5F66-F404-433B-BDBE-5E0DFF40D65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xmlns="" id="{0A0BDF81-64CC-431D-81B1-A21938C0543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xmlns="" id="{42871530-50EC-42C2-879A-AE8154DADC0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xmlns="" id="{53AF2F2A-B148-4906-B90D-6E222397845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xmlns="" id="{9A79EAA4-6F5D-4A2C-B688-CD29C2217C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xmlns="" id="{B9CE5833-22CF-4408-9338-4B7749FEA3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xmlns="" id="{316A985A-7ADD-4BEE-A7B6-E5B49E1839E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xmlns="" id="{352CFA3F-5CFE-412E-9196-C966F34579D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3" name="Picture 2">
            <a:extLst>
              <a:ext uri="{FF2B5EF4-FFF2-40B4-BE49-F238E27FC236}">
                <a16:creationId xmlns:a16="http://schemas.microsoft.com/office/drawing/2014/main" xmlns="" id="{2FB01CCF-839B-4126-9BF9-132C64D8A1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1358EC8F-DD13-1D87-68F1-A923EAAD4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183295"/>
          </a:xfrm>
        </p:spPr>
        <p:txBody>
          <a:bodyPr>
            <a:normAutofit/>
          </a:bodyPr>
          <a:lstStyle/>
          <a:p>
            <a:r>
              <a:rPr lang="bg-BG" dirty="0">
                <a:solidFill>
                  <a:srgbClr val="FFFFFF"/>
                </a:solidFill>
              </a:rPr>
              <a:t>Мрежите: 10</a:t>
            </a:r>
            <a:r>
              <a:rPr lang="en-US" dirty="0" err="1">
                <a:solidFill>
                  <a:srgbClr val="FFFFFF"/>
                </a:solidFill>
              </a:rPr>
              <a:t>BaseT</a:t>
            </a:r>
            <a:r>
              <a:rPr lang="en-US" dirty="0">
                <a:solidFill>
                  <a:srgbClr val="FFFFFF"/>
                </a:solidFill>
              </a:rPr>
              <a:t>, 100BaseT, 1000BaseT</a:t>
            </a:r>
            <a:endParaRPr lang="bg-BG" dirty="0">
              <a:solidFill>
                <a:srgbClr val="FFFFFF"/>
              </a:solidFill>
            </a:endParaRPr>
          </a:p>
        </p:txBody>
      </p:sp>
      <p:sp useBgFill="1">
        <p:nvSpPr>
          <p:cNvPr id="55" name="Round Diagonal Corner Rectangle 6">
            <a:extLst>
              <a:ext uri="{FF2B5EF4-FFF2-40B4-BE49-F238E27FC236}">
                <a16:creationId xmlns:a16="http://schemas.microsoft.com/office/drawing/2014/main" xmlns="" id="{F2B1468C-8227-4785-8776-7BDBDDF08F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 descr="Картина, която съдържа текст, хладилник, закрито, уред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B7D520AB-AC4C-1B39-8D33-805333FAD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17" y="2166734"/>
            <a:ext cx="3178638" cy="2519070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C8BDAEDB-92A0-F6F9-4556-1DCDCF39A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1730375"/>
            <a:ext cx="6188402" cy="4491038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bg-BG" sz="2900" dirty="0">
                <a:solidFill>
                  <a:srgbClr val="FFFFFF"/>
                </a:solidFill>
              </a:rPr>
              <a:t>Мрежите </a:t>
            </a:r>
            <a:r>
              <a:rPr lang="ru-RU" sz="2900" dirty="0" err="1">
                <a:solidFill>
                  <a:srgbClr val="FFFFFF"/>
                </a:solidFill>
              </a:rPr>
              <a:t>използват</a:t>
            </a:r>
            <a:r>
              <a:rPr lang="ru-RU" sz="2900" dirty="0">
                <a:solidFill>
                  <a:srgbClr val="FFFFFF"/>
                </a:solidFill>
              </a:rPr>
              <a:t> кабели с </a:t>
            </a:r>
            <a:r>
              <a:rPr lang="ru-RU" sz="2900" dirty="0" err="1">
                <a:solidFill>
                  <a:srgbClr val="FFFFFF"/>
                </a:solidFill>
              </a:rPr>
              <a:t>усукани</a:t>
            </a:r>
            <a:r>
              <a:rPr lang="ru-RU" sz="2900" dirty="0">
                <a:solidFill>
                  <a:srgbClr val="FFFFFF"/>
                </a:solidFill>
              </a:rPr>
              <a:t> двойки </a:t>
            </a:r>
            <a:r>
              <a:rPr lang="ru-RU" sz="2900" dirty="0" err="1">
                <a:solidFill>
                  <a:srgbClr val="FFFFFF"/>
                </a:solidFill>
              </a:rPr>
              <a:t>проводници</a:t>
            </a:r>
            <a:r>
              <a:rPr lang="ru-RU" sz="2900" dirty="0">
                <a:solidFill>
                  <a:srgbClr val="FFFFFF"/>
                </a:solidFill>
              </a:rPr>
              <a:t> (T – </a:t>
            </a:r>
            <a:r>
              <a:rPr lang="ru-RU" sz="2900" dirty="0" err="1">
                <a:solidFill>
                  <a:srgbClr val="FFFFFF"/>
                </a:solidFill>
              </a:rPr>
              <a:t>twisted</a:t>
            </a:r>
            <a:r>
              <a:rPr lang="ru-RU" sz="2900" dirty="0">
                <a:solidFill>
                  <a:srgbClr val="FFFFFF"/>
                </a:solidFill>
              </a:rPr>
              <a:t> – </a:t>
            </a:r>
            <a:r>
              <a:rPr lang="ru-RU" sz="2900" dirty="0" err="1">
                <a:solidFill>
                  <a:srgbClr val="FFFFFF"/>
                </a:solidFill>
              </a:rPr>
              <a:t>усукан</a:t>
            </a:r>
            <a:r>
              <a:rPr lang="ru-RU" sz="2900" dirty="0">
                <a:solidFill>
                  <a:srgbClr val="FFFFFF"/>
                </a:solidFill>
              </a:rPr>
              <a:t>). UTP </a:t>
            </a:r>
            <a:r>
              <a:rPr lang="ru-RU" sz="2900" dirty="0" err="1">
                <a:solidFill>
                  <a:srgbClr val="FFFFFF"/>
                </a:solidFill>
              </a:rPr>
              <a:t>кабелите</a:t>
            </a:r>
            <a:r>
              <a:rPr lang="ru-RU" sz="2900" dirty="0">
                <a:solidFill>
                  <a:srgbClr val="FFFFFF"/>
                </a:solidFill>
              </a:rPr>
              <a:t> се </a:t>
            </a:r>
            <a:r>
              <a:rPr lang="ru-RU" sz="2900" dirty="0" err="1">
                <a:solidFill>
                  <a:srgbClr val="FFFFFF"/>
                </a:solidFill>
              </a:rPr>
              <a:t>произвеждат</a:t>
            </a:r>
            <a:r>
              <a:rPr lang="ru-RU" sz="2900" dirty="0">
                <a:solidFill>
                  <a:srgbClr val="FFFFFF"/>
                </a:solidFill>
              </a:rPr>
              <a:t> в </a:t>
            </a:r>
            <a:r>
              <a:rPr lang="ru-RU" sz="2900" dirty="0" err="1">
                <a:solidFill>
                  <a:srgbClr val="FFFFFF"/>
                </a:solidFill>
              </a:rPr>
              <a:t>различни</a:t>
            </a:r>
            <a:r>
              <a:rPr lang="ru-RU" sz="2900" dirty="0">
                <a:solidFill>
                  <a:srgbClr val="FFFFFF"/>
                </a:solidFill>
              </a:rPr>
              <a:t> категории от </a:t>
            </a:r>
            <a:r>
              <a:rPr lang="ru-RU" sz="2900" dirty="0" err="1">
                <a:solidFill>
                  <a:srgbClr val="FFFFFF"/>
                </a:solidFill>
              </a:rPr>
              <a:t>Cat</a:t>
            </a:r>
            <a:r>
              <a:rPr lang="ru-RU" sz="2900" dirty="0">
                <a:solidFill>
                  <a:srgbClr val="FFFFFF"/>
                </a:solidFill>
              </a:rPr>
              <a:t> 1 до </a:t>
            </a:r>
            <a:r>
              <a:rPr lang="ru-RU" sz="2900" dirty="0" err="1">
                <a:solidFill>
                  <a:srgbClr val="FFFFFF"/>
                </a:solidFill>
              </a:rPr>
              <a:t>Cat</a:t>
            </a:r>
            <a:r>
              <a:rPr lang="ru-RU" sz="2900" dirty="0">
                <a:solidFill>
                  <a:srgbClr val="FFFFFF"/>
                </a:solidFill>
              </a:rPr>
              <a:t> 6. Всяка </a:t>
            </a:r>
            <a:r>
              <a:rPr lang="ru-RU" sz="2900" dirty="0" err="1">
                <a:solidFill>
                  <a:srgbClr val="FFFFFF"/>
                </a:solidFill>
              </a:rPr>
              <a:t>отделна</a:t>
            </a:r>
            <a:r>
              <a:rPr lang="ru-RU" sz="2900" dirty="0">
                <a:solidFill>
                  <a:srgbClr val="FFFFFF"/>
                </a:solidFill>
              </a:rPr>
              <a:t> категория </a:t>
            </a:r>
            <a:r>
              <a:rPr lang="ru-RU" sz="2900" dirty="0" err="1">
                <a:solidFill>
                  <a:srgbClr val="FFFFFF"/>
                </a:solidFill>
              </a:rPr>
              <a:t>има</a:t>
            </a:r>
            <a:r>
              <a:rPr lang="ru-RU" sz="2900" dirty="0">
                <a:solidFill>
                  <a:srgbClr val="FFFFFF"/>
                </a:solidFill>
              </a:rPr>
              <a:t> и </a:t>
            </a:r>
            <a:r>
              <a:rPr lang="ru-RU" sz="2900" dirty="0" err="1">
                <a:solidFill>
                  <a:srgbClr val="FFFFFF"/>
                </a:solidFill>
              </a:rPr>
              <a:t>максимално</a:t>
            </a:r>
            <a:r>
              <a:rPr lang="ru-RU" sz="2900" dirty="0">
                <a:solidFill>
                  <a:srgbClr val="FFFFFF"/>
                </a:solidFill>
              </a:rPr>
              <a:t> допустима </a:t>
            </a:r>
            <a:r>
              <a:rPr lang="ru-RU" sz="2900" dirty="0" err="1">
                <a:solidFill>
                  <a:srgbClr val="FFFFFF"/>
                </a:solidFill>
              </a:rPr>
              <a:t>скорост</a:t>
            </a:r>
            <a:r>
              <a:rPr lang="ru-RU" sz="2900" dirty="0">
                <a:solidFill>
                  <a:srgbClr val="FFFFFF"/>
                </a:solidFill>
              </a:rPr>
              <a:t> на </a:t>
            </a:r>
            <a:r>
              <a:rPr lang="ru-RU" sz="2900" dirty="0" err="1">
                <a:solidFill>
                  <a:srgbClr val="FFFFFF"/>
                </a:solidFill>
              </a:rPr>
              <a:t>предаване</a:t>
            </a:r>
            <a:r>
              <a:rPr lang="ru-RU" sz="2900" dirty="0">
                <a:solidFill>
                  <a:srgbClr val="FFFFFF"/>
                </a:solidFill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ru-RU" dirty="0">
                <a:solidFill>
                  <a:srgbClr val="FFFFFF"/>
                </a:solidFill>
              </a:rPr>
              <a:t>UTP </a:t>
            </a:r>
            <a:r>
              <a:rPr lang="ru-RU" dirty="0" err="1">
                <a:solidFill>
                  <a:srgbClr val="FFFFFF"/>
                </a:solidFill>
              </a:rPr>
              <a:t>кабелите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позволяват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по-високи</a:t>
            </a:r>
            <a:r>
              <a:rPr lang="ru-RU" dirty="0">
                <a:solidFill>
                  <a:srgbClr val="FFFFFF"/>
                </a:solidFill>
              </a:rPr>
              <a:t> скорости на трансфер, </a:t>
            </a:r>
            <a:r>
              <a:rPr lang="ru-RU" dirty="0" err="1">
                <a:solidFill>
                  <a:srgbClr val="FFFFFF"/>
                </a:solidFill>
              </a:rPr>
              <a:t>отколкото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коаксиалните</a:t>
            </a:r>
            <a:r>
              <a:rPr lang="ru-RU" dirty="0">
                <a:solidFill>
                  <a:srgbClr val="FFFFFF"/>
                </a:solidFill>
              </a:rPr>
              <a:t> кабели; </a:t>
            </a:r>
          </a:p>
          <a:p>
            <a:pPr>
              <a:lnSpc>
                <a:spcPct val="110000"/>
              </a:lnSpc>
            </a:pPr>
            <a:r>
              <a:rPr lang="ru-RU" dirty="0">
                <a:solidFill>
                  <a:srgbClr val="FFFFFF"/>
                </a:solidFill>
              </a:rPr>
              <a:t>UTP </a:t>
            </a:r>
            <a:r>
              <a:rPr lang="ru-RU" dirty="0" err="1">
                <a:solidFill>
                  <a:srgbClr val="FFFFFF"/>
                </a:solidFill>
              </a:rPr>
              <a:t>са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по-гъвкави</a:t>
            </a:r>
            <a:r>
              <a:rPr lang="ru-RU" dirty="0">
                <a:solidFill>
                  <a:srgbClr val="FFFFFF"/>
                </a:solidFill>
              </a:rPr>
              <a:t> и </a:t>
            </a:r>
            <a:r>
              <a:rPr lang="ru-RU" dirty="0" err="1">
                <a:solidFill>
                  <a:srgbClr val="FFFFFF"/>
                </a:solidFill>
              </a:rPr>
              <a:t>лесни</a:t>
            </a:r>
            <a:r>
              <a:rPr lang="ru-RU" dirty="0">
                <a:solidFill>
                  <a:srgbClr val="FFFFFF"/>
                </a:solidFill>
              </a:rPr>
              <a:t> за </a:t>
            </a:r>
            <a:r>
              <a:rPr lang="ru-RU" dirty="0" err="1">
                <a:solidFill>
                  <a:srgbClr val="FFFFFF"/>
                </a:solidFill>
              </a:rPr>
              <a:t>инсталиране</a:t>
            </a:r>
            <a:r>
              <a:rPr lang="ru-RU" dirty="0">
                <a:solidFill>
                  <a:srgbClr val="FFFFFF"/>
                </a:solidFill>
              </a:rPr>
              <a:t>; </a:t>
            </a:r>
          </a:p>
          <a:p>
            <a:pPr>
              <a:lnSpc>
                <a:spcPct val="110000"/>
              </a:lnSpc>
            </a:pPr>
            <a:r>
              <a:rPr lang="ru-RU" dirty="0" err="1">
                <a:solidFill>
                  <a:srgbClr val="FFFFFF"/>
                </a:solidFill>
              </a:rPr>
              <a:t>Използват</a:t>
            </a:r>
            <a:r>
              <a:rPr lang="ru-RU" dirty="0">
                <a:solidFill>
                  <a:srgbClr val="FFFFFF"/>
                </a:solidFill>
              </a:rPr>
              <a:t> за </a:t>
            </a:r>
            <a:r>
              <a:rPr lang="ru-RU" dirty="0" err="1">
                <a:solidFill>
                  <a:srgbClr val="FFFFFF"/>
                </a:solidFill>
              </a:rPr>
              <a:t>свързване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конектори</a:t>
            </a:r>
            <a:r>
              <a:rPr lang="ru-RU" dirty="0">
                <a:solidFill>
                  <a:srgbClr val="FFFFFF"/>
                </a:solidFill>
              </a:rPr>
              <a:t> RJ-45; </a:t>
            </a:r>
          </a:p>
          <a:p>
            <a:pPr>
              <a:lnSpc>
                <a:spcPct val="110000"/>
              </a:lnSpc>
            </a:pPr>
            <a:r>
              <a:rPr lang="ru-RU" dirty="0" err="1">
                <a:solidFill>
                  <a:srgbClr val="FFFFFF"/>
                </a:solidFill>
              </a:rPr>
              <a:t>Максимална</a:t>
            </a:r>
            <a:r>
              <a:rPr lang="ru-RU" dirty="0">
                <a:solidFill>
                  <a:srgbClr val="FFFFFF"/>
                </a:solidFill>
              </a:rPr>
              <a:t> </a:t>
            </a:r>
            <a:r>
              <a:rPr lang="ru-RU" dirty="0" err="1">
                <a:solidFill>
                  <a:srgbClr val="FFFFFF"/>
                </a:solidFill>
              </a:rPr>
              <a:t>дължина</a:t>
            </a:r>
            <a:r>
              <a:rPr lang="ru-RU" dirty="0">
                <a:solidFill>
                  <a:srgbClr val="FFFFFF"/>
                </a:solidFill>
              </a:rPr>
              <a:t> на </a:t>
            </a:r>
            <a:r>
              <a:rPr lang="ru-RU" dirty="0" err="1">
                <a:solidFill>
                  <a:srgbClr val="FFFFFF"/>
                </a:solidFill>
              </a:rPr>
              <a:t>кабела</a:t>
            </a:r>
            <a:r>
              <a:rPr lang="ru-RU" dirty="0">
                <a:solidFill>
                  <a:srgbClr val="FFFFFF"/>
                </a:solidFill>
              </a:rPr>
              <a:t> – 100 метра</a:t>
            </a:r>
            <a:endParaRPr lang="bg-BG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267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46B922C-5BA7-4973-B12F-71A509E4B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6D34D8D-9EE9-4659-8C22-7551A95F96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3CA93C16-1147-4EB3-B4E7-3C43102494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xmlns="" id="{C4779968-92AF-4B85-8C27-EBBFE1D6990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xmlns="" id="{2C43E18D-7024-4F17-A664-E23BFBC12B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xmlns="" id="{CA2ACEBA-081B-4B0B-AFB1-C596B834FD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xmlns="" id="{2AFBB163-514B-493A-983F-8BE96848F9B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xmlns="" id="{7720326C-7DB1-4745-9015-3FA6990855B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xmlns="" id="{01D5FBDC-A284-440B-8D5F-84287B0A25D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xmlns="" id="{517CE611-1CB0-442B-8998-98487209B0E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xmlns="" id="{EF0F0E46-9222-4FCF-A79E-9B4953C6F0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xmlns="" id="{371A87C3-0804-4AB9-8EAD-FBFF597ED82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xmlns="" id="{89F39433-8BC3-48D6-B705-F951DBDAAB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xmlns="" id="{AE671C9D-E91C-4143-A422-273B2F53F69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xmlns="" id="{83A72EA3-8833-41C6-9333-6A04C1C08D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xmlns="" id="{2C0D7AAB-DC9C-4B37-A50E-A7185DE92E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xmlns="" id="{6E7D9D6B-3455-4363-934B-FA2D682931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xmlns="" id="{FFFFCA54-2217-4DAE-B791-4A6CA7DE0BD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xmlns="" id="{BAE43BA5-C104-4FBB-B1C6-C210D3CC532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xmlns="" id="{3BDB2330-DF01-460D-83FB-00C37965CD5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xmlns="" id="{51261093-9B7F-4406-B2F8-0F5BE7676A2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xmlns="" id="{9971E195-2AB6-4CB6-9BD7-A8407B5C809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xmlns="" id="{A3D843E7-8A86-4676-9C98-DECE0DFF674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xmlns="" id="{FAF42817-AB3E-40FA-997F-EAC1411F465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xmlns="" id="{50ED3298-A6DC-4825-93B1-68DB8CB629A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xmlns="" id="{2B951778-3B6B-4BB9-9D89-2ED650C820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xmlns="" id="{8F3ED9A8-A83F-463A-8C2E-E83977D9A9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xmlns="" id="{9A0C113E-781D-4083-86C0-EC936092D27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xmlns="" id="{B63D60EF-1E99-4D4C-BF11-AAF8ABEB86E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xmlns="" id="{50403E41-7079-49EA-8D0B-4F678552D9B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E3B2C458-4D37-49A0-A94E-D516E05C3C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xmlns="" id="{C1B10016-E0C4-4526-A466-9911541D26E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xmlns="" id="{D574C3F0-FC2B-43A3-94B2-75D305FBF7D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xmlns="" id="{D92A5F66-F404-433B-BDBE-5E0DFF40D65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xmlns="" id="{0A0BDF81-64CC-431D-81B1-A21938C0543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xmlns="" id="{42871530-50EC-42C2-879A-AE8154DADC0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xmlns="" id="{53AF2F2A-B148-4906-B90D-6E222397845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xmlns="" id="{9A79EAA4-6F5D-4A2C-B688-CD29C2217C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xmlns="" id="{B9CE5833-22CF-4408-9338-4B7749FEA3D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xmlns="" id="{316A985A-7ADD-4BEE-A7B6-E5B49E1839E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xmlns="" id="{352CFA3F-5CFE-412E-9196-C966F34579D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3" name="Picture 2">
            <a:extLst>
              <a:ext uri="{FF2B5EF4-FFF2-40B4-BE49-F238E27FC236}">
                <a16:creationId xmlns:a16="http://schemas.microsoft.com/office/drawing/2014/main" xmlns="" id="{2FB01CCF-839B-4126-9BF9-132C64D8A1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AF7A5203-31AD-FC93-FE19-6BBC16EC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bg-BG">
                <a:solidFill>
                  <a:srgbClr val="FFFFFF"/>
                </a:solidFill>
              </a:rPr>
              <a:t>Мрежи 1000</a:t>
            </a:r>
            <a:r>
              <a:rPr lang="en-US">
                <a:solidFill>
                  <a:srgbClr val="FFFFFF"/>
                </a:solidFill>
              </a:rPr>
              <a:t>BaseVG-AnyLAN</a:t>
            </a:r>
            <a:endParaRPr lang="bg-BG">
              <a:solidFill>
                <a:srgbClr val="FFFFFF"/>
              </a:solidFill>
            </a:endParaRPr>
          </a:p>
        </p:txBody>
      </p:sp>
      <p:sp useBgFill="1">
        <p:nvSpPr>
          <p:cNvPr id="55" name="Round Diagonal Corner Rectangle 6">
            <a:extLst>
              <a:ext uri="{FF2B5EF4-FFF2-40B4-BE49-F238E27FC236}">
                <a16:creationId xmlns:a16="http://schemas.microsoft.com/office/drawing/2014/main" xmlns="" id="{F2B1468C-8227-4785-8776-7BDBDDF08F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xmlns="" id="{9A73C671-D394-0522-3DA4-7F53F3B58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17" y="2421025"/>
            <a:ext cx="3178638" cy="2010488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42559870-0457-8F53-C890-C0E09406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200" dirty="0">
                <a:solidFill>
                  <a:srgbClr val="FFFFFF"/>
                </a:solidFill>
              </a:rPr>
              <a:t>Мрежовата архитектура 1000</a:t>
            </a:r>
            <a:r>
              <a:rPr lang="en-US" sz="2200" dirty="0" err="1">
                <a:solidFill>
                  <a:srgbClr val="FFFFFF"/>
                </a:solidFill>
              </a:rPr>
              <a:t>BaseVG-AnyLAN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bg-BG" sz="2200" dirty="0">
                <a:solidFill>
                  <a:srgbClr val="FFFFFF"/>
                </a:solidFill>
              </a:rPr>
              <a:t>е разработена от фирмата </a:t>
            </a:r>
            <a:r>
              <a:rPr lang="en-US" sz="2200" dirty="0">
                <a:solidFill>
                  <a:srgbClr val="FFFFFF"/>
                </a:solidFill>
              </a:rPr>
              <a:t>Hewlett Packard </a:t>
            </a:r>
            <a:r>
              <a:rPr lang="bg-BG" sz="2200" dirty="0">
                <a:solidFill>
                  <a:srgbClr val="FFFFFF"/>
                </a:solidFill>
              </a:rPr>
              <a:t>като бърза, достъпна архитектура, използваща хъб като интелигентно свързващо устройство. Макар, че се класифицират към </a:t>
            </a:r>
            <a:r>
              <a:rPr lang="en-US" sz="2200" dirty="0">
                <a:solidFill>
                  <a:srgbClr val="FFFFFF"/>
                </a:solidFill>
              </a:rPr>
              <a:t>Ethernet </a:t>
            </a:r>
            <a:r>
              <a:rPr lang="bg-BG" sz="2200" dirty="0">
                <a:solidFill>
                  <a:srgbClr val="FFFFFF"/>
                </a:solidFill>
              </a:rPr>
              <a:t>мрежите, при тях методът на достъп до преносната среда е различен – нарича се приоритет на поискване (</a:t>
            </a:r>
            <a:r>
              <a:rPr lang="en-US" sz="2200" dirty="0">
                <a:solidFill>
                  <a:srgbClr val="FFFFFF"/>
                </a:solidFill>
              </a:rPr>
              <a:t>demand priority).</a:t>
            </a:r>
            <a:endParaRPr lang="bg-BG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955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9ACD3AF8-B16E-4174-8C1A-41F683C4AF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FF5EAD09-B81D-415F-8BCF-73C81AE05F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xmlns="" id="{CFB79010-8ED4-49EF-AFD2-F4D8C80B69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xmlns="" id="{4649B869-006E-42B5-9DDC-21049B130E0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xmlns="" id="{443096BD-333F-48B6-8220-D1F9793E40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xmlns="" id="{1A45BB9A-7E84-4B9B-923A-270A97F852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xmlns="" id="{D7D7C768-2F76-4DE2-A807-1B9FFF816C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xmlns="" id="{1870B32E-EE42-470E-B543-CA55AEC8CA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xmlns="" id="{EEF09120-11AA-4DB5-98A8-EC4923002C6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xmlns="" id="{39CC463D-589C-461C-A234-0460EB06B8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xmlns="" id="{B6516153-269A-421E-A021-CB3F3C5E1D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xmlns="" id="{45E14300-6C4A-4F77-915F-F3B25B0237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xmlns="" id="{993E312A-E6A6-4B52-ADE6-618ADC89BA6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xmlns="" id="{2F0F3026-2480-472B-8C52-36812C81E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xmlns="" id="{34E1C992-559D-4827-9F30-31A3CA7A2B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xmlns="" id="{D9F2FB98-F443-498F-AAD9-6945825681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xmlns="" id="{75DBF6EC-ED50-43E4-8A8B-64CE86A880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xmlns="" id="{FD854F40-AC43-4F21-9C62-2CE35CFD2B1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xmlns="" id="{62CCB560-494A-4F74-9DE4-068806A893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xmlns="" id="{6F9A05F2-B5D2-4D8A-9A78-14E45C13FEC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xmlns="" id="{A6373189-19BB-4BEC-84A3-432253E058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xmlns="" id="{71AB3122-947A-44DB-B190-A2601C6C95C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xmlns="" id="{74B4109D-3AFC-4D44-87B1-0CDED3E638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xmlns="" id="{44AAD39F-F7C9-4D00-95E0-0465B4E858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xmlns="" id="{C1DCAB8D-6EF6-4A84-8D0C-AA9226DEC9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xmlns="" id="{C407F97F-83CF-4703-B9E0-6335530E32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xmlns="" id="{0D8D2363-5D84-4CFF-89AA-3C93C859DB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xmlns="" id="{0435A35C-AC99-4E12-8CB0-9C640DAA94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xmlns="" id="{F20392CF-2256-4527-836B-2E6F88596EC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xmlns="" id="{C52C3AD3-122C-4010-9C55-B0247F8CCAB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xmlns="" id="{EFCB53ED-09C0-4AD7-9BBC-366833D5FE0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xmlns="" id="{6F309F52-BFCF-47D9-8089-BC049540DB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xmlns="" id="{5F9AE85F-C7AA-4761-B468-2E100829BC5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xmlns="" id="{2C81C778-91E5-4AE9-AACB-8566E7A28B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xmlns="" id="{6C56E0B4-58A0-4B2B-BD56-54121BB8DB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xmlns="" id="{88A29CFE-13A6-4509-946F-5C074F856EE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xmlns="" id="{00235A0A-018B-4499-AC16-AF83457BF4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xmlns="" id="{861DF9B7-50DC-4EBE-8B23-97FE92DBBB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xmlns="" id="{69673907-73D7-4729-A911-9BD078EC2E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xmlns="" id="{4DC844D3-8053-4EE7-A286-50157B6FD86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xmlns="" id="{D67575A0-A45A-4773-874C-16370E3670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xmlns="" id="{4327252B-B62B-4DE0-A924-B7F6E40AD9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xmlns="" id="{778BC6A7-AC19-497B-A7C6-E447B2EBDA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xmlns="" id="{4E79A87B-BF1F-437A-9FED-BE93025E50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xmlns="" id="{DFAAF3CC-B4E0-45C8-AC2D-EF0D6D823D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xmlns="" id="{A5A12C87-1E4A-4664-B2F4-A1C8B656F9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xmlns="" id="{B3AF8230-4630-4505-ADDB-16A9B6B377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xmlns="" id="{33F93F6D-724D-42F3-AF1D-3081EAB5D1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xmlns="" id="{F5DD7A8F-FB67-4E79-80DB-0FAF3A09894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xmlns="" id="{7B140A84-E89E-4A80-9DF8-7BCA45F908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xmlns="" id="{279E1D6A-EFE2-44C6-A5BF-DFADF0DC91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xmlns="" id="{C9FA2204-561F-4ABB-988C-03053820F1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xmlns="" id="{8BD7D04E-AC0A-424F-BC40-28842DAFFA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xmlns="" id="{32B616A2-FE09-47DD-B58C-12EE58B7CA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xmlns="" id="{08C5EAF5-6064-484E-BA05-80D09D84EA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xmlns="" id="{F11D90DF-D275-4725-884C-77E5E01D8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xmlns="" id="{82EEA7F3-64E0-47B1-9B06-0677EA6FD79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xmlns="" id="{F0787433-E8FF-45C5-A1C3-70BC1491BA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xmlns="" id="{A649E977-62EB-4D2F-9AF9-947B5E73CA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6AE485D2-3448-ED73-94F9-DF2E5F0A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03300"/>
            <a:ext cx="7035800" cy="4038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 err="1"/>
              <a:t>Благодаря</a:t>
            </a:r>
            <a:r>
              <a:rPr lang="en-US" sz="6600" dirty="0"/>
              <a:t> </a:t>
            </a:r>
            <a:r>
              <a:rPr lang="en-US" sz="6600" dirty="0" err="1"/>
              <a:t>за</a:t>
            </a:r>
            <a:r>
              <a:rPr lang="en-US" sz="6600" dirty="0"/>
              <a:t> </a:t>
            </a:r>
            <a:r>
              <a:rPr lang="en-US" sz="6600" dirty="0" err="1"/>
              <a:t>вниманието</a:t>
            </a:r>
            <a:r>
              <a:rPr lang="en-US" sz="6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4151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1197</Words>
  <Application>Microsoft Office PowerPoint</Application>
  <PresentationFormat>Custom</PresentationFormat>
  <Paragraphs>88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Circuit</vt:lpstr>
      <vt:lpstr>Мрежи, Мрежови архитектури и мрежови топологии</vt:lpstr>
      <vt:lpstr>Физични Мрежови топологии</vt:lpstr>
      <vt:lpstr>Топология тип: „Шина“</vt:lpstr>
      <vt:lpstr>Предимства </vt:lpstr>
      <vt:lpstr>Недостатъци</vt:lpstr>
      <vt:lpstr>Топология тип: “звезда”</vt:lpstr>
      <vt:lpstr>Предимства</vt:lpstr>
      <vt:lpstr>Недостатъци</vt:lpstr>
      <vt:lpstr>Топология тип: „кръг“</vt:lpstr>
      <vt:lpstr>Предимства</vt:lpstr>
      <vt:lpstr>Недостатъци</vt:lpstr>
      <vt:lpstr>Топология тип: „пръстен“</vt:lpstr>
      <vt:lpstr>Предимства</vt:lpstr>
      <vt:lpstr>Недостатъци</vt:lpstr>
      <vt:lpstr>Мрежови архитектури </vt:lpstr>
      <vt:lpstr>Ethernet(Интернет)</vt:lpstr>
      <vt:lpstr>Carrier-sense multiple access (CSMA)</vt:lpstr>
      <vt:lpstr>Ethernet мрежите</vt:lpstr>
      <vt:lpstr>10Base2</vt:lpstr>
      <vt:lpstr>Мрежи 10Base5</vt:lpstr>
      <vt:lpstr>Мрежите: 10BaseT, 100BaseT, 1000BaseT</vt:lpstr>
      <vt:lpstr>Мрежи 1000BaseVG-AnyLAN</vt:lpstr>
      <vt:lpstr>Благодаря за вниманието!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Мрежи, Мрежови архитектури и мрежови топологии</dc:title>
  <dc:creator>Никола Адмасу</dc:creator>
  <cp:lastModifiedBy>PC-0</cp:lastModifiedBy>
  <cp:revision>30</cp:revision>
  <dcterms:created xsi:type="dcterms:W3CDTF">2022-12-21T07:56:39Z</dcterms:created>
  <dcterms:modified xsi:type="dcterms:W3CDTF">2022-12-21T11:13:01Z</dcterms:modified>
</cp:coreProperties>
</file>