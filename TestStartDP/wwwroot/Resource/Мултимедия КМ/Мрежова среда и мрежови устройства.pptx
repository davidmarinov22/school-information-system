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E1538BF-7453-43F1-9838-B83E099D02AA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F7C94B4-4F7E-436B-BDDC-3A098FF227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bg-BG" sz="3200" dirty="0" smtClean="0"/>
              <a:t>Мрежова среда и мрежови устройства.</a:t>
            </a:r>
            <a:r>
              <a:rPr lang="en-US" sz="3200" dirty="0" smtClean="0"/>
              <a:t>IP</a:t>
            </a:r>
            <a:r>
              <a:rPr lang="bg-BG" sz="3200" dirty="0" smtClean="0"/>
              <a:t> адреси и </a:t>
            </a:r>
            <a:r>
              <a:rPr lang="en-US" sz="3200" dirty="0" smtClean="0"/>
              <a:t>MAC</a:t>
            </a:r>
            <a:r>
              <a:rPr lang="bg-BG" sz="3200" dirty="0" smtClean="0"/>
              <a:t> адреси. Класово и безкласово адресиране.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5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 flipV="1">
            <a:off x="-1981200" y="6019799"/>
            <a:ext cx="990600" cy="762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486400"/>
          </a:xfrm>
        </p:spPr>
        <p:txBody>
          <a:bodyPr>
            <a:noAutofit/>
          </a:bodyPr>
          <a:lstStyle/>
          <a:p>
            <a:r>
              <a:rPr lang="ru-RU" sz="3200" dirty="0" smtClean="0">
                <a:effectLst/>
              </a:rPr>
              <a:t>Мрежова </a:t>
            </a:r>
            <a:r>
              <a:rPr lang="ru-RU" sz="3200" dirty="0">
                <a:effectLst/>
              </a:rPr>
              <a:t>преносна </a:t>
            </a:r>
            <a:r>
              <a:rPr lang="ru-RU" sz="3200" dirty="0" smtClean="0">
                <a:effectLst/>
              </a:rPr>
              <a:t>среда</a:t>
            </a:r>
            <a:br>
              <a:rPr lang="ru-RU" sz="3200" dirty="0" smtClean="0">
                <a:effectLst/>
              </a:rPr>
            </a:br>
            <a:r>
              <a:rPr lang="ru-RU" sz="3200" dirty="0">
                <a:effectLst/>
              </a:rPr>
              <a:t/>
            </a:r>
            <a:br>
              <a:rPr lang="ru-RU" sz="3200" dirty="0">
                <a:effectLst/>
              </a:rPr>
            </a:br>
            <a:r>
              <a:rPr lang="ru-RU" sz="2400" b="0" dirty="0" smtClean="0">
                <a:effectLst/>
              </a:rPr>
              <a:t>Мрежовата </a:t>
            </a:r>
            <a:r>
              <a:rPr lang="ru-RU" sz="2400" b="0" dirty="0">
                <a:effectLst/>
              </a:rPr>
              <a:t>преносна среда осигурява предаване на сигналите между компютрите и</a:t>
            </a:r>
            <a:br>
              <a:rPr lang="ru-RU" sz="2400" b="0" dirty="0">
                <a:effectLst/>
              </a:rPr>
            </a:br>
            <a:r>
              <a:rPr lang="ru-RU" sz="2400" b="0" dirty="0">
                <a:effectLst/>
              </a:rPr>
              <a:t>останалите устройства включени в компютърната мрежа. Основният начин за връзка е с</a:t>
            </a:r>
            <a:br>
              <a:rPr lang="ru-RU" sz="2400" b="0" dirty="0">
                <a:effectLst/>
              </a:rPr>
            </a:br>
            <a:r>
              <a:rPr lang="ru-RU" sz="2400" b="0" dirty="0">
                <a:effectLst/>
              </a:rPr>
              <a:t>помощта на кабел. Съществуват и други технологии за пренос на информация – безжични</a:t>
            </a:r>
            <a:br>
              <a:rPr lang="ru-RU" sz="2400" b="0" dirty="0">
                <a:effectLst/>
              </a:rPr>
            </a:br>
            <a:r>
              <a:rPr lang="ru-RU" sz="2400" b="0" dirty="0">
                <a:effectLst/>
              </a:rPr>
              <a:t>връзки. В настоящата тема са разгледани двата вида преносни среди – кабелна и безжична. </a:t>
            </a:r>
          </a:p>
        </p:txBody>
      </p:sp>
    </p:spTree>
    <p:extLst>
      <p:ext uri="{BB962C8B-B14F-4D97-AF65-F5344CB8AC3E}">
        <p14:creationId xmlns:p14="http://schemas.microsoft.com/office/powerpoint/2010/main" val="334269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400" dirty="0" smtClean="0"/>
              <a:t>Коаксиален кабел</a:t>
            </a:r>
          </a:p>
          <a:p>
            <a:r>
              <a:rPr lang="bg-BG" sz="2400" dirty="0" smtClean="0"/>
              <a:t>Кабел </a:t>
            </a:r>
            <a:r>
              <a:rPr lang="bg-BG" sz="2400" dirty="0"/>
              <a:t>с усукани двойки </a:t>
            </a:r>
            <a:r>
              <a:rPr lang="bg-BG" sz="2400" dirty="0" smtClean="0"/>
              <a:t>проводници</a:t>
            </a:r>
          </a:p>
          <a:p>
            <a:r>
              <a:rPr lang="bg-BG" sz="2400" dirty="0" smtClean="0"/>
              <a:t>Оптичен кабел</a:t>
            </a:r>
          </a:p>
          <a:p>
            <a:r>
              <a:rPr lang="bg-BG" sz="2400" dirty="0" smtClean="0"/>
              <a:t>Безжична </a:t>
            </a:r>
            <a:r>
              <a:rPr lang="bg-BG" sz="2400" dirty="0"/>
              <a:t>преносна </a:t>
            </a:r>
            <a:r>
              <a:rPr lang="bg-BG" sz="2400" dirty="0" smtClean="0"/>
              <a:t>среда</a:t>
            </a:r>
          </a:p>
          <a:p>
            <a:r>
              <a:rPr lang="bg-BG" sz="2400" dirty="0" smtClean="0"/>
              <a:t>Лазер </a:t>
            </a:r>
            <a:r>
              <a:rPr lang="bg-BG" sz="2400" dirty="0"/>
              <a:t>(</a:t>
            </a:r>
            <a:r>
              <a:rPr lang="en-US" sz="2400" dirty="0"/>
              <a:t>Laser</a:t>
            </a:r>
            <a:r>
              <a:rPr lang="en-US" sz="2400" dirty="0" smtClean="0"/>
              <a:t>)</a:t>
            </a:r>
            <a:endParaRPr lang="bg-BG" sz="2400" dirty="0" smtClean="0"/>
          </a:p>
          <a:p>
            <a:r>
              <a:rPr lang="bg-BG" sz="2400" dirty="0" smtClean="0"/>
              <a:t>Инфрачервени </a:t>
            </a:r>
            <a:r>
              <a:rPr lang="bg-BG" sz="2400" dirty="0"/>
              <a:t>лъчи (</a:t>
            </a:r>
            <a:r>
              <a:rPr lang="en-US" sz="2400" dirty="0"/>
              <a:t>Infrared – IrDA</a:t>
            </a:r>
            <a:r>
              <a:rPr lang="en-US" sz="2400" dirty="0" smtClean="0"/>
              <a:t>)</a:t>
            </a:r>
            <a:endParaRPr lang="bg-BG" sz="2400" dirty="0" smtClean="0"/>
          </a:p>
          <a:p>
            <a:r>
              <a:rPr lang="bg-BG" sz="2400" dirty="0" smtClean="0"/>
              <a:t>Радиовълни</a:t>
            </a:r>
          </a:p>
          <a:p>
            <a:r>
              <a:rPr lang="bg-BG" sz="2400" dirty="0" smtClean="0"/>
              <a:t>Въпроси </a:t>
            </a:r>
            <a:r>
              <a:rPr lang="bg-BG" sz="2400" dirty="0"/>
              <a:t>и задачи</a:t>
            </a:r>
            <a:br>
              <a:rPr lang="bg-BG" sz="2400" dirty="0"/>
            </a:b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effectLst/>
              </a:rPr>
              <a:t>Мрежово окабеляване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259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ru-RU" sz="2400" dirty="0" smtClean="0"/>
              <a:t>При </a:t>
            </a:r>
            <a:r>
              <a:rPr lang="ru-RU" sz="2400" dirty="0"/>
              <a:t>изграждане на компютърна мрежа основният начин за връзка между компютрите е с</a:t>
            </a:r>
          </a:p>
          <a:p>
            <a:pPr marL="109728" indent="0">
              <a:buNone/>
            </a:pPr>
            <a:r>
              <a:rPr lang="ru-RU" sz="2400" dirty="0"/>
              <a:t>помощта на кабел. Кабелът се явява основен компонент, чийто избор определя какви</a:t>
            </a:r>
          </a:p>
          <a:p>
            <a:pPr marL="109728" indent="0">
              <a:buNone/>
            </a:pPr>
            <a:r>
              <a:rPr lang="ru-RU" sz="2400" dirty="0"/>
              <a:t>допълнителни компоненти ще са необходими за съответната мрежа. Най-често се използват</a:t>
            </a:r>
          </a:p>
          <a:p>
            <a:pPr marL="109728" indent="0">
              <a:buNone/>
            </a:pPr>
            <a:r>
              <a:rPr lang="ru-RU" sz="2400" dirty="0"/>
              <a:t>следните основни видове кабели: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Коаксиални</a:t>
            </a:r>
            <a:endParaRPr lang="ru-RU" sz="2400" dirty="0"/>
          </a:p>
          <a:p>
            <a:r>
              <a:rPr lang="ru-RU" sz="2400" dirty="0"/>
              <a:t>• С усукани двойки </a:t>
            </a:r>
            <a:r>
              <a:rPr lang="ru-RU" sz="2400" dirty="0" smtClean="0"/>
              <a:t>проводници</a:t>
            </a:r>
            <a:endParaRPr lang="ru-RU" sz="2400" dirty="0"/>
          </a:p>
          <a:p>
            <a:r>
              <a:rPr lang="ru-RU" sz="2400" dirty="0"/>
              <a:t>• Оптически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bg-BG" sz="3600" dirty="0">
                <a:effectLst/>
              </a:rPr>
              <a:t>Мрежово окабеляване</a:t>
            </a:r>
            <a:r>
              <a:rPr lang="bg-BG" sz="3200" dirty="0">
                <a:effectLst/>
              </a:rPr>
              <a:t/>
            </a:r>
            <a:br>
              <a:rPr lang="bg-BG" sz="3200" dirty="0">
                <a:effectLst/>
              </a:rPr>
            </a:b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722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Коаксиални</a:t>
            </a:r>
            <a:endParaRPr lang="en-US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267176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81400" y="1189641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1 – вътрешен проводник във вид на единичен проводник (праволинеен, като на рисунката, или навит в спирала), многожилен проводник или тръбичка</a:t>
            </a:r>
            <a:r>
              <a:rPr lang="ru-RU" dirty="0" smtClean="0"/>
              <a:t>.</a:t>
            </a:r>
          </a:p>
          <a:p>
            <a:r>
              <a:rPr lang="ru-RU" dirty="0"/>
              <a:t>2 – изолация, изпълнена във вид на диелектрично запълване, осигуряващо съосие на взаимното разположение на вътрешния и външния проводник</a:t>
            </a:r>
            <a:r>
              <a:rPr lang="ru-RU" dirty="0" smtClean="0"/>
              <a:t>.</a:t>
            </a:r>
          </a:p>
          <a:p>
            <a:r>
              <a:rPr lang="ru-RU" dirty="0"/>
              <a:t>3 – външен проводник (екран) във вид на оплетка (ширмовка) от метални жички или плътна метална повърхност – </a:t>
            </a:r>
            <a:r>
              <a:rPr lang="ru-RU" dirty="0" smtClean="0"/>
              <a:t>фолио</a:t>
            </a:r>
            <a:endParaRPr lang="ru-RU" dirty="0"/>
          </a:p>
          <a:p>
            <a:r>
              <a:rPr lang="ru-RU" dirty="0"/>
              <a:t>4 – обвивка от светостабилизиран (устойчив на ултравиолетово слънчево излъчване) полиетилен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14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С усукани </a:t>
            </a:r>
            <a:r>
              <a:rPr lang="bg-BG" sz="3200" dirty="0"/>
              <a:t>двойки проводници</a:t>
            </a:r>
            <a:endParaRPr lang="en-US" sz="32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32480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62400" y="1595131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Усуканата двойка е специален вид мрежов кабел. Той се основава на една или повече двойки изолирани и усукани проводници (категорията на кабелите зависи от техния брой). Броят на завъртанията на единица дължина е минимален, но достатъчен, за да намали значително взаимното насочване по време на предаването на сигнала. Горната част на усуканата двойка обикновено е покрита със защитна пластмасова обвивка.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Оптически</a:t>
            </a:r>
            <a:endParaRPr lang="en-US" sz="32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2462212" cy="2143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95135" y="22098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Оптичният кабел е неметален кабел, съставен от едно или няколко оптични </a:t>
            </a:r>
            <a:r>
              <a:rPr lang="ru-RU" dirty="0" smtClean="0"/>
              <a:t>влакна. </a:t>
            </a:r>
            <a:r>
              <a:rPr lang="ru-RU" dirty="0"/>
              <a:t>Всяко от тях е обвито в пластмасов кожух в определен цвят, с който се означава конкретния вид на влакното.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0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MAC и IP са адресите, които уникално дефинират устройство и връзка в мрежа. MAC адресът е номер, присвоен на NIC картата от производителя. IP адресът е номер, присвоен на връзката в мрежа. Основната разлика между MAC адреса и IP адреса е, че MAC адрес уникално идентифицира устройство, което иска да участва в мрежа. От друга страна, </a:t>
            </a:r>
            <a:r>
              <a:rPr lang="ru-RU" sz="2400" dirty="0" smtClean="0"/>
              <a:t>IP</a:t>
            </a:r>
            <a:r>
              <a:rPr lang="en-US" sz="2400" dirty="0" smtClean="0"/>
              <a:t> </a:t>
            </a:r>
            <a:r>
              <a:rPr lang="ru-RU" sz="2400" dirty="0" smtClean="0"/>
              <a:t>адрес </a:t>
            </a:r>
            <a:r>
              <a:rPr lang="ru-RU" sz="2400" dirty="0"/>
              <a:t>еднозначно определя връзката на мрежа с интерфейс на устройство.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142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Адресът</a:t>
            </a:r>
            <a:r>
              <a:rPr lang="ru-RU" sz="2400" dirty="0"/>
              <a:t>, който уникално определя хардуерния интерфейс, се нарича MAC (Media Access Control) адрес. MAC адресът е закупен от производителя, произвеждайки хардуер на интерфейс и присвояващ MAC адресите последователно на хардуера на интерфейса, тъй като те са произведени. MAC адресът се записва в ROM на мрежовата интерфейсна карта (NIC). NIC е хардуер за интерфейс, който се използва от компютъра, за да стане част от мрежа.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>
            <a:normAutofit/>
          </a:bodyPr>
          <a:lstStyle/>
          <a:p>
            <a:r>
              <a:rPr lang="bg-BG" sz="3200" dirty="0">
                <a:effectLst/>
              </a:rPr>
              <a:t>Определение на </a:t>
            </a:r>
            <a:r>
              <a:rPr lang="en-US" sz="3200" dirty="0">
                <a:effectLst/>
              </a:rPr>
              <a:t>Mac </a:t>
            </a:r>
            <a:r>
              <a:rPr lang="bg-BG" sz="3200" dirty="0" smtClean="0">
                <a:effectLst/>
              </a:rPr>
              <a:t>адрес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228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Адресът</a:t>
            </a:r>
            <a:r>
              <a:rPr lang="ru-RU" sz="2400" dirty="0"/>
              <a:t>, предоставен за връзка в мрежа, се нарича IP адрес (интернет протокол) . IP адресът не идентифицира еднозначно устройство в мрежа, но определя конкретна връзка в мрежа. IP адресът се осигурява от администратора на мрежата или от доставчика на интернет услуги (ISP). IP адресът идентифицира мрежата и хоста в тази мрежа. IP адресът се използва по време на маршрута, тъй като той конкретно идентифицира мрежова връзка. Ако компютърът ви е в две мрежи, той ще има два IP адреса.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effectLst/>
              </a:rPr>
              <a:t>Определяне на </a:t>
            </a:r>
            <a:r>
              <a:rPr lang="en-US" sz="3200" dirty="0">
                <a:effectLst/>
              </a:rPr>
              <a:t>IP </a:t>
            </a:r>
            <a:r>
              <a:rPr lang="bg-BG" sz="3200" dirty="0" smtClean="0">
                <a:effectLst/>
              </a:rPr>
              <a:t>адрес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612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>
            <a:noAutofit/>
          </a:bodyPr>
          <a:lstStyle/>
          <a:p>
            <a:r>
              <a:rPr lang="ru-RU" sz="2400" dirty="0" smtClean="0"/>
              <a:t>Пълната </a:t>
            </a:r>
            <a:r>
              <a:rPr lang="ru-RU" sz="2400" dirty="0"/>
              <a:t>форма на MAC адреса е Media Acess Control, докато пълната форма на IP адреса е адрес на интернет протокол.</a:t>
            </a:r>
          </a:p>
          <a:p>
            <a:r>
              <a:rPr lang="ru-RU" sz="2400" dirty="0"/>
              <a:t>IP адресът идентифицира връзка с устройство в мрежа. От друга страна, Mac адресът идентифицира устройство, участващо в мрежа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smtClean="0"/>
              <a:t>Ключови разлики между MAC адрес и IP адрес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3986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MAC </a:t>
            </a:r>
            <a:r>
              <a:rPr lang="bg-BG" sz="2400" dirty="0"/>
              <a:t>адресът е 48 бита (6 байта) шестнадесетичен адрес, докато </a:t>
            </a:r>
            <a:r>
              <a:rPr lang="en-US" sz="2400" dirty="0"/>
              <a:t>IP </a:t>
            </a:r>
            <a:r>
              <a:rPr lang="bg-BG" sz="2400" dirty="0"/>
              <a:t>адресът има две версии, </a:t>
            </a:r>
            <a:r>
              <a:rPr lang="en-US" sz="2400" dirty="0"/>
              <a:t>IPv4 32-</a:t>
            </a:r>
            <a:r>
              <a:rPr lang="bg-BG" sz="2400" dirty="0"/>
              <a:t>битов адрес и </a:t>
            </a:r>
            <a:r>
              <a:rPr lang="en-US" sz="2400" dirty="0"/>
              <a:t>IPv6 128-</a:t>
            </a:r>
            <a:r>
              <a:rPr lang="bg-BG" sz="2400" dirty="0"/>
              <a:t>битов адрес.</a:t>
            </a:r>
          </a:p>
          <a:p>
            <a:r>
              <a:rPr lang="en-US" sz="2400" dirty="0"/>
              <a:t>ARP </a:t>
            </a:r>
            <a:r>
              <a:rPr lang="bg-BG" sz="2400" dirty="0"/>
              <a:t>протоколът извлича </a:t>
            </a:r>
            <a:r>
              <a:rPr lang="en-US" sz="2400" dirty="0"/>
              <a:t>MAC </a:t>
            </a:r>
            <a:r>
              <a:rPr lang="bg-BG" sz="2400" dirty="0"/>
              <a:t>адреса, докато </a:t>
            </a:r>
            <a:r>
              <a:rPr lang="en-US" sz="2400" dirty="0"/>
              <a:t>RARP </a:t>
            </a:r>
            <a:r>
              <a:rPr lang="bg-BG" sz="2400" dirty="0"/>
              <a:t>протокола извлича </a:t>
            </a:r>
            <a:r>
              <a:rPr lang="en-US" sz="2400" dirty="0"/>
              <a:t>IP </a:t>
            </a:r>
            <a:r>
              <a:rPr lang="bg-BG" sz="2400" dirty="0"/>
              <a:t>адрес.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5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bg-BG" sz="2400" dirty="0"/>
              <a:t>Интернет протоколът (</a:t>
            </a:r>
            <a:r>
              <a:rPr lang="en-US" sz="2400" dirty="0"/>
              <a:t>IP) </a:t>
            </a:r>
            <a:r>
              <a:rPr lang="bg-BG" sz="2400" dirty="0"/>
              <a:t>е специфициран с документ </a:t>
            </a:r>
            <a:r>
              <a:rPr lang="en-US" sz="2400" dirty="0"/>
              <a:t>STD5. </a:t>
            </a:r>
            <a:r>
              <a:rPr lang="bg-BG" sz="2400" dirty="0"/>
              <a:t>В стандарта се включват също </a:t>
            </a:r>
            <a:r>
              <a:rPr lang="en-US" sz="2400" dirty="0"/>
              <a:t>ICMP (Internet Control Message Protocol) </a:t>
            </a:r>
            <a:r>
              <a:rPr lang="bg-BG" sz="2400" dirty="0"/>
              <a:t>и </a:t>
            </a:r>
            <a:r>
              <a:rPr lang="en-US" sz="2400" dirty="0"/>
              <a:t>IGMP (Internet Group Management Protocol</a:t>
            </a:r>
            <a:r>
              <a:rPr lang="en-US" sz="2400" dirty="0" smtClean="0"/>
              <a:t>).</a:t>
            </a:r>
            <a:r>
              <a:rPr lang="bg-BG" sz="2400" dirty="0" smtClean="0"/>
              <a:t> </a:t>
            </a:r>
            <a:r>
              <a:rPr lang="en-US" sz="2400" dirty="0" smtClean="0"/>
              <a:t>IP </a:t>
            </a:r>
            <a:r>
              <a:rPr lang="bg-BG" sz="2400" dirty="0"/>
              <a:t>е протокол, който създава виртуално мрежово пространство, скривайки по-долните слоеве. Той позволява пакетен обмен на информация, несвързан с потока данни.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effectLst/>
              </a:rPr>
              <a:t>Класово и безкласово адресиране</a:t>
            </a:r>
            <a:r>
              <a:rPr lang="bg-BG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06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09728" indent="0">
              <a:buNone/>
            </a:pPr>
            <a:r>
              <a:rPr lang="ru-RU" sz="2400" dirty="0"/>
              <a:t>IP адресирането е глобално адресиране. Т.е. това е единна адресна система за целия свят и няма 2 устройства с един и същ IP адрес по света. Един IP адрес е съставен от 32 бита, разделени в 4 октета с по 8 бита във всеки </a:t>
            </a:r>
            <a:r>
              <a:rPr lang="ru-RU" sz="2400" dirty="0" smtClean="0"/>
              <a:t>октет.Например192.168.15.1</a:t>
            </a:r>
            <a:r>
              <a:rPr lang="ru-RU" sz="2400" dirty="0"/>
              <a:t>.</a:t>
            </a:r>
          </a:p>
          <a:p>
            <a:pPr marL="109728" indent="0">
              <a:buNone/>
            </a:pPr>
            <a:r>
              <a:rPr lang="ru-RU" sz="2400" dirty="0" smtClean="0"/>
              <a:t>Във </a:t>
            </a:r>
            <a:r>
              <a:rPr lang="ru-RU" sz="2400" dirty="0"/>
              <a:t>всеки IP адрес лявата част от адреса отговаря за адреса на мрежата и останалата част (дясната) от адреса отговаря за адреса на хоста в мрежата. Например в адреса 192.168.15.1 частта 192.168.15 – указва адреса на мрежа, а .1 е адреса на хост в тази мрежа.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 smtClean="0">
                <a:effectLst/>
              </a:rPr>
              <a:t>Класово адресиране.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152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ru-RU" sz="2400" dirty="0" smtClean="0"/>
              <a:t>Безкласово адресиране позволява разделяне не само по октети, но и по битове. За да работим с него трябва да си преговорим работата с бройни </a:t>
            </a:r>
            <a:r>
              <a:rPr lang="ru-RU" sz="2400" dirty="0"/>
              <a:t>системи. При класовото адресиране имаме 3 класа мрежи и съответно можем да разпределяме бройки за 1-254 хост: клас С, 255 – 65535: клас В, 65536-16милион: клас А.  По този начин може да имаме много незаети IP адреси.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 smtClean="0">
                <a:effectLst/>
              </a:rPr>
              <a:t>Безкласово адресиране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0922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73152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456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</TotalTime>
  <Words>884</Words>
  <Application>Microsoft Office PowerPoint</Application>
  <PresentationFormat>On-screen Show (4:3)</PresentationFormat>
  <Paragraphs>45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Concourse</vt:lpstr>
      <vt:lpstr>Мрежова среда и мрежови устройства.IP адреси и MAC адреси. Класово и безкласово адресиране.</vt:lpstr>
      <vt:lpstr>Мрежова преносна среда  Мрежовата преносна среда осигурява предаване на сигналите между компютрите и останалите устройства включени в компютърната мрежа. Основният начин за връзка е с помощта на кабел. Съществуват и други технологии за пренос на информация – безжични връзки. В настоящата тема са разгледани двата вида преносни среди – кабелна и безжична. </vt:lpstr>
      <vt:lpstr>Мрежово окабеляване</vt:lpstr>
      <vt:lpstr>Мрежово окабеляване </vt:lpstr>
      <vt:lpstr>Коаксиални</vt:lpstr>
      <vt:lpstr>С усукани двойки проводници</vt:lpstr>
      <vt:lpstr>Оптически</vt:lpstr>
      <vt:lpstr>PowerPoint Presentation</vt:lpstr>
      <vt:lpstr>Определение на Mac адрес</vt:lpstr>
      <vt:lpstr>Определяне на IP адрес</vt:lpstr>
      <vt:lpstr>Ключови разлики между MAC адрес и IP адрес</vt:lpstr>
      <vt:lpstr>PowerPoint Presentation</vt:lpstr>
      <vt:lpstr>Класово и безкласово адресиране.</vt:lpstr>
      <vt:lpstr>Класово адресиране.</vt:lpstr>
      <vt:lpstr>Безкласово адресиране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Мрежова среда и мрежови устройства.IP адреси и мак адреси. Класово и безкласово адресиране.</dc:title>
  <dc:creator>PC</dc:creator>
  <cp:lastModifiedBy>PC-0</cp:lastModifiedBy>
  <cp:revision>10</cp:revision>
  <dcterms:created xsi:type="dcterms:W3CDTF">2022-12-19T06:15:29Z</dcterms:created>
  <dcterms:modified xsi:type="dcterms:W3CDTF">2022-12-20T08:16:02Z</dcterms:modified>
</cp:coreProperties>
</file>