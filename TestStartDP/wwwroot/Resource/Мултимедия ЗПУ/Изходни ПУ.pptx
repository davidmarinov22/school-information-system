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98" r:id="rId6"/>
    <p:sldId id="280" r:id="rId7"/>
    <p:sldId id="267" r:id="rId8"/>
    <p:sldId id="260" r:id="rId9"/>
    <p:sldId id="299" r:id="rId10"/>
    <p:sldId id="281" r:id="rId11"/>
    <p:sldId id="262" r:id="rId12"/>
    <p:sldId id="263" r:id="rId13"/>
    <p:sldId id="261" r:id="rId14"/>
    <p:sldId id="269" r:id="rId15"/>
    <p:sldId id="297" r:id="rId16"/>
    <p:sldId id="293" r:id="rId17"/>
    <p:sldId id="294" r:id="rId18"/>
    <p:sldId id="284" r:id="rId19"/>
    <p:sldId id="285" r:id="rId20"/>
    <p:sldId id="265" r:id="rId21"/>
    <p:sldId id="290" r:id="rId22"/>
    <p:sldId id="286" r:id="rId23"/>
    <p:sldId id="287" r:id="rId24"/>
    <p:sldId id="283"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B8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10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lvl="0"/>
            <a:fld id="{74A89BFF-2463-42D0-9D82-94B5BD1D68FD}" type="datetime1">
              <a:rPr lang="en-GB" smtClean="0"/>
              <a:pPr lvl="0"/>
              <a:t>20/12/2022</a:t>
            </a:fld>
            <a:endParaRPr lang="en-GB" dirty="0"/>
          </a:p>
        </p:txBody>
      </p:sp>
      <p:sp>
        <p:nvSpPr>
          <p:cNvPr id="5" name="Footer Placeholder 4"/>
          <p:cNvSpPr>
            <a:spLocks noGrp="1"/>
          </p:cNvSpPr>
          <p:nvPr>
            <p:ph type="ftr" sz="quarter" idx="11"/>
          </p:nvPr>
        </p:nvSpPr>
        <p:spPr/>
        <p:txBody>
          <a:bodyPr/>
          <a:lstStyle/>
          <a:p>
            <a:pPr lvl="0"/>
            <a:endParaRPr lang="en-GB" dirty="0"/>
          </a:p>
        </p:txBody>
      </p:sp>
      <p:sp>
        <p:nvSpPr>
          <p:cNvPr id="6" name="Slide Number Placeholder 5"/>
          <p:cNvSpPr>
            <a:spLocks noGrp="1"/>
          </p:cNvSpPr>
          <p:nvPr>
            <p:ph type="sldNum" sz="quarter" idx="12"/>
          </p:nvPr>
        </p:nvSpPr>
        <p:spPr/>
        <p:txBody>
          <a:bodyPr/>
          <a:lstStyle/>
          <a:p>
            <a:pPr lvl="0"/>
            <a:fld id="{EB0AED15-6EBE-4258-9EE9-E11F173A1200}" type="slidenum">
              <a:rPr lang="en-US" smtClean="0"/>
              <a:t>‹#›</a:t>
            </a:fld>
            <a:endParaRPr lang="en-US" dirty="0"/>
          </a:p>
        </p:txBody>
      </p:sp>
    </p:spTree>
    <p:extLst>
      <p:ext uri="{BB962C8B-B14F-4D97-AF65-F5344CB8AC3E}">
        <p14:creationId xmlns:p14="http://schemas.microsoft.com/office/powerpoint/2010/main" val="24552583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lvl="0"/>
            <a:fld id="{01A35C32-79FD-42FE-96E2-792ED36FBC5A}" type="datetime1">
              <a:rPr lang="en-GB" smtClean="0"/>
              <a:pPr lvl="0"/>
              <a:t>20/12/2022</a:t>
            </a:fld>
            <a:endParaRPr lang="en-GB" dirty="0"/>
          </a:p>
        </p:txBody>
      </p:sp>
      <p:sp>
        <p:nvSpPr>
          <p:cNvPr id="5" name="Footer Placeholder 4"/>
          <p:cNvSpPr>
            <a:spLocks noGrp="1"/>
          </p:cNvSpPr>
          <p:nvPr>
            <p:ph type="ftr" sz="quarter" idx="11"/>
          </p:nvPr>
        </p:nvSpPr>
        <p:spPr/>
        <p:txBody>
          <a:bodyPr/>
          <a:lstStyle/>
          <a:p>
            <a:pPr lvl="0"/>
            <a:endParaRPr lang="en-GB" dirty="0"/>
          </a:p>
        </p:txBody>
      </p:sp>
      <p:sp>
        <p:nvSpPr>
          <p:cNvPr id="6" name="Slide Number Placeholder 5"/>
          <p:cNvSpPr>
            <a:spLocks noGrp="1"/>
          </p:cNvSpPr>
          <p:nvPr>
            <p:ph type="sldNum" sz="quarter" idx="12"/>
          </p:nvPr>
        </p:nvSpPr>
        <p:spPr/>
        <p:txBody>
          <a:bodyPr/>
          <a:lstStyle/>
          <a:p>
            <a:pPr lvl="0"/>
            <a:fld id="{5791327F-D6A8-4F2F-8153-8E08B3F06373}" type="slidenum">
              <a:rPr lang="en-US" smtClean="0"/>
              <a:t>‹#›</a:t>
            </a:fld>
            <a:endParaRPr lang="en-US" dirty="0"/>
          </a:p>
        </p:txBody>
      </p:sp>
    </p:spTree>
    <p:extLst>
      <p:ext uri="{BB962C8B-B14F-4D97-AF65-F5344CB8AC3E}">
        <p14:creationId xmlns:p14="http://schemas.microsoft.com/office/powerpoint/2010/main" val="974728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fld id="{7058065D-7C67-4FEA-8314-800516D4116C}" type="datetime1">
              <a:rPr lang="en-GB" smtClean="0"/>
              <a:pPr lvl="0"/>
              <a:t>20/12/2022</a:t>
            </a:fld>
            <a:endParaRPr lang="en-GB" dirty="0"/>
          </a:p>
        </p:txBody>
      </p:sp>
      <p:sp>
        <p:nvSpPr>
          <p:cNvPr id="5" name="Footer Placeholder 4"/>
          <p:cNvSpPr>
            <a:spLocks noGrp="1"/>
          </p:cNvSpPr>
          <p:nvPr>
            <p:ph type="ftr" sz="quarter" idx="11"/>
          </p:nvPr>
        </p:nvSpPr>
        <p:spPr/>
        <p:txBody>
          <a:bodyPr/>
          <a:lstStyle/>
          <a:p>
            <a:pPr lvl="0"/>
            <a:endParaRPr lang="en-GB" dirty="0"/>
          </a:p>
        </p:txBody>
      </p:sp>
      <p:sp>
        <p:nvSpPr>
          <p:cNvPr id="6" name="Slide Number Placeholder 5"/>
          <p:cNvSpPr>
            <a:spLocks noGrp="1"/>
          </p:cNvSpPr>
          <p:nvPr>
            <p:ph type="sldNum" sz="quarter" idx="12"/>
          </p:nvPr>
        </p:nvSpPr>
        <p:spPr/>
        <p:txBody>
          <a:bodyPr/>
          <a:lstStyle/>
          <a:p>
            <a:pPr lvl="0"/>
            <a:fld id="{D1CC80C9-6D0D-4DA6-8158-720A6E6AC16B}" type="slidenum">
              <a:rPr lang="en-US" smtClean="0"/>
              <a:t>‹#›</a:t>
            </a:fld>
            <a:endParaRPr lang="en-US" dirty="0"/>
          </a:p>
        </p:txBody>
      </p:sp>
    </p:spTree>
    <p:extLst>
      <p:ext uri="{BB962C8B-B14F-4D97-AF65-F5344CB8AC3E}">
        <p14:creationId xmlns:p14="http://schemas.microsoft.com/office/powerpoint/2010/main" val="1899818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lvl="0"/>
            <a:fld id="{C43A438C-F2C7-4127-ACC4-4DA4E5D29123}"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507B6B00-D750-4D94-9440-445033CF82E4}" type="slidenum">
              <a:rPr lang="en-US" smtClean="0"/>
              <a:t>‹#›</a:t>
            </a:fld>
            <a:endParaRPr lang="en-US" dirty="0"/>
          </a:p>
        </p:txBody>
      </p:sp>
    </p:spTree>
    <p:extLst>
      <p:ext uri="{BB962C8B-B14F-4D97-AF65-F5344CB8AC3E}">
        <p14:creationId xmlns:p14="http://schemas.microsoft.com/office/powerpoint/2010/main" val="4207069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lvl="0"/>
            <a:fld id="{6475E2A3-E25E-4E52-A434-E852D17BF026}" type="datetime1">
              <a:rPr lang="en-GB" smtClean="0"/>
              <a:pPr lvl="0"/>
              <a:t>20/12/2022</a:t>
            </a:fld>
            <a:endParaRPr lang="en-GB" dirty="0"/>
          </a:p>
        </p:txBody>
      </p:sp>
      <p:sp>
        <p:nvSpPr>
          <p:cNvPr id="8" name="Footer Placeholder 7"/>
          <p:cNvSpPr>
            <a:spLocks noGrp="1"/>
          </p:cNvSpPr>
          <p:nvPr>
            <p:ph type="ftr" sz="quarter" idx="11"/>
          </p:nvPr>
        </p:nvSpPr>
        <p:spPr/>
        <p:txBody>
          <a:bodyPr/>
          <a:lstStyle/>
          <a:p>
            <a:pPr lvl="0"/>
            <a:endParaRPr lang="en-GB" dirty="0"/>
          </a:p>
        </p:txBody>
      </p:sp>
      <p:sp>
        <p:nvSpPr>
          <p:cNvPr id="9" name="Slide Number Placeholder 8"/>
          <p:cNvSpPr>
            <a:spLocks noGrp="1"/>
          </p:cNvSpPr>
          <p:nvPr>
            <p:ph type="sldNum" sz="quarter" idx="12"/>
          </p:nvPr>
        </p:nvSpPr>
        <p:spPr/>
        <p:txBody>
          <a:bodyPr/>
          <a:lstStyle/>
          <a:p>
            <a:pPr lvl="0"/>
            <a:fld id="{143F64FC-1BF5-4AD5-A057-FE36EE2F3994}" type="slidenum">
              <a:rPr lang="en-US" smtClean="0"/>
              <a:t>‹#›</a:t>
            </a:fld>
            <a:endParaRPr lang="en-US" dirty="0"/>
          </a:p>
        </p:txBody>
      </p:sp>
    </p:spTree>
    <p:extLst>
      <p:ext uri="{BB962C8B-B14F-4D97-AF65-F5344CB8AC3E}">
        <p14:creationId xmlns:p14="http://schemas.microsoft.com/office/powerpoint/2010/main" val="3394731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lvl="0"/>
            <a:fld id="{26ADF568-88B8-4CB5-84EC-9F5156D25AEC}" type="datetime1">
              <a:rPr lang="en-GB" smtClean="0"/>
              <a:pPr lvl="0"/>
              <a:t>20/12/2022</a:t>
            </a:fld>
            <a:endParaRPr lang="en-GB" dirty="0"/>
          </a:p>
        </p:txBody>
      </p:sp>
      <p:sp>
        <p:nvSpPr>
          <p:cNvPr id="4" name="Footer Placeholder 3"/>
          <p:cNvSpPr>
            <a:spLocks noGrp="1"/>
          </p:cNvSpPr>
          <p:nvPr>
            <p:ph type="ftr" sz="quarter" idx="11"/>
          </p:nvPr>
        </p:nvSpPr>
        <p:spPr/>
        <p:txBody>
          <a:bodyPr/>
          <a:lstStyle/>
          <a:p>
            <a:pPr lvl="0"/>
            <a:endParaRPr lang="en-GB" dirty="0"/>
          </a:p>
        </p:txBody>
      </p:sp>
      <p:sp>
        <p:nvSpPr>
          <p:cNvPr id="5" name="Slide Number Placeholder 4"/>
          <p:cNvSpPr>
            <a:spLocks noGrp="1"/>
          </p:cNvSpPr>
          <p:nvPr>
            <p:ph type="sldNum" sz="quarter" idx="12"/>
          </p:nvPr>
        </p:nvSpPr>
        <p:spPr/>
        <p:txBody>
          <a:bodyPr/>
          <a:lstStyle/>
          <a:p>
            <a:pPr lvl="0"/>
            <a:fld id="{6CAA2073-E219-468E-B506-832212FF5BF9}" type="slidenum">
              <a:rPr lang="en-US" smtClean="0"/>
              <a:t>‹#›</a:t>
            </a:fld>
            <a:endParaRPr lang="en-US" dirty="0"/>
          </a:p>
        </p:txBody>
      </p:sp>
    </p:spTree>
    <p:extLst>
      <p:ext uri="{BB962C8B-B14F-4D97-AF65-F5344CB8AC3E}">
        <p14:creationId xmlns:p14="http://schemas.microsoft.com/office/powerpoint/2010/main" val="3187085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AC18E682-BEEB-4713-A9D7-74221867E784}" type="datetime1">
              <a:rPr lang="en-GB" smtClean="0"/>
              <a:pPr lvl="0"/>
              <a:t>20/12/2022</a:t>
            </a:fld>
            <a:endParaRPr lang="en-GB" dirty="0"/>
          </a:p>
        </p:txBody>
      </p:sp>
      <p:sp>
        <p:nvSpPr>
          <p:cNvPr id="3" name="Footer Placeholder 2"/>
          <p:cNvSpPr>
            <a:spLocks noGrp="1"/>
          </p:cNvSpPr>
          <p:nvPr>
            <p:ph type="ftr" sz="quarter" idx="11"/>
          </p:nvPr>
        </p:nvSpPr>
        <p:spPr/>
        <p:txBody>
          <a:bodyPr/>
          <a:lstStyle/>
          <a:p>
            <a:pPr lvl="0"/>
            <a:endParaRPr lang="en-GB" dirty="0"/>
          </a:p>
        </p:txBody>
      </p:sp>
      <p:sp>
        <p:nvSpPr>
          <p:cNvPr id="4" name="Slide Number Placeholder 3"/>
          <p:cNvSpPr>
            <a:spLocks noGrp="1"/>
          </p:cNvSpPr>
          <p:nvPr>
            <p:ph type="sldNum" sz="quarter" idx="12"/>
          </p:nvPr>
        </p:nvSpPr>
        <p:spPr/>
        <p:txBody>
          <a:bodyPr/>
          <a:lstStyle/>
          <a:p>
            <a:pPr lvl="0"/>
            <a:fld id="{4ED0CE28-6C64-4D31-94E9-C0D7F6047A09}" type="slidenum">
              <a:rPr lang="en-US" smtClean="0"/>
              <a:t>‹#›</a:t>
            </a:fld>
            <a:endParaRPr lang="en-US" dirty="0"/>
          </a:p>
        </p:txBody>
      </p:sp>
    </p:spTree>
    <p:extLst>
      <p:ext uri="{BB962C8B-B14F-4D97-AF65-F5344CB8AC3E}">
        <p14:creationId xmlns:p14="http://schemas.microsoft.com/office/powerpoint/2010/main" val="1033984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fld id="{51067474-9176-4580-9A1B-FBE1A24A993B}"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24077469-8C30-4B53-928F-F7D92795D368}" type="slidenum">
              <a:rPr lang="en-US" smtClean="0"/>
              <a:t>‹#›</a:t>
            </a:fld>
            <a:endParaRPr lang="en-US" dirty="0"/>
          </a:p>
        </p:txBody>
      </p:sp>
    </p:spTree>
    <p:extLst>
      <p:ext uri="{BB962C8B-B14F-4D97-AF65-F5344CB8AC3E}">
        <p14:creationId xmlns:p14="http://schemas.microsoft.com/office/powerpoint/2010/main" val="325743072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fld id="{C427C7BA-A080-49A2-9062-BFA24EE650AF}"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24586204-AB92-464B-9F7D-0F440D2CAE58}" type="slidenum">
              <a:rPr lang="en-US" smtClean="0"/>
              <a:t>‹#›</a:t>
            </a:fld>
            <a:endParaRPr lang="en-US" dirty="0"/>
          </a:p>
        </p:txBody>
      </p:sp>
    </p:spTree>
    <p:extLst>
      <p:ext uri="{BB962C8B-B14F-4D97-AF65-F5344CB8AC3E}">
        <p14:creationId xmlns:p14="http://schemas.microsoft.com/office/powerpoint/2010/main" val="3518690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fld id="{C7A73316-3B66-459A-9445-09D0E99DDCAB}"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ABFE9BC7-F6C7-4E30-95F8-1560A70C4EF3}" type="slidenum">
              <a:rPr lang="en-US" smtClean="0"/>
              <a:t>‹#›</a:t>
            </a:fld>
            <a:endParaRPr lang="en-US" dirty="0"/>
          </a:p>
        </p:txBody>
      </p:sp>
    </p:spTree>
    <p:extLst>
      <p:ext uri="{BB962C8B-B14F-4D97-AF65-F5344CB8AC3E}">
        <p14:creationId xmlns:p14="http://schemas.microsoft.com/office/powerpoint/2010/main" val="411070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fld id="{C7A73316-3B66-459A-9445-09D0E99DDCAB}"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ABFE9BC7-F6C7-4E30-95F8-1560A70C4EF3}" type="slidenum">
              <a:rPr lang="en-US" smtClean="0"/>
              <a:t>‹#›</a:t>
            </a:fld>
            <a:endParaRPr lang="en-US" dirty="0"/>
          </a:p>
        </p:txBody>
      </p:sp>
    </p:spTree>
    <p:extLst>
      <p:ext uri="{BB962C8B-B14F-4D97-AF65-F5344CB8AC3E}">
        <p14:creationId xmlns:p14="http://schemas.microsoft.com/office/powerpoint/2010/main" val="2028790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fld id="{C7A73316-3B66-459A-9445-09D0E99DDCAB}"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ABFE9BC7-F6C7-4E30-95F8-1560A70C4EF3}" type="slidenum">
              <a:rPr lang="en-US" smtClean="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6690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fld id="{C7A73316-3B66-459A-9445-09D0E99DDCAB}" type="datetime1">
              <a:rPr lang="en-GB" smtClean="0"/>
              <a:pPr lvl="0"/>
              <a:t>20/12/2022</a:t>
            </a:fld>
            <a:endParaRPr lang="en-GB" dirty="0"/>
          </a:p>
        </p:txBody>
      </p:sp>
      <p:sp>
        <p:nvSpPr>
          <p:cNvPr id="6" name="Footer Placeholder 5"/>
          <p:cNvSpPr>
            <a:spLocks noGrp="1"/>
          </p:cNvSpPr>
          <p:nvPr>
            <p:ph type="ftr" sz="quarter" idx="11"/>
          </p:nvPr>
        </p:nvSpPr>
        <p:spPr/>
        <p:txBody>
          <a:bodyPr/>
          <a:lstStyle/>
          <a:p>
            <a:pPr lvl="0"/>
            <a:endParaRPr lang="en-GB" dirty="0"/>
          </a:p>
        </p:txBody>
      </p:sp>
      <p:sp>
        <p:nvSpPr>
          <p:cNvPr id="7" name="Slide Number Placeholder 6"/>
          <p:cNvSpPr>
            <a:spLocks noGrp="1"/>
          </p:cNvSpPr>
          <p:nvPr>
            <p:ph type="sldNum" sz="quarter" idx="12"/>
          </p:nvPr>
        </p:nvSpPr>
        <p:spPr/>
        <p:txBody>
          <a:bodyPr/>
          <a:lstStyle/>
          <a:p>
            <a:pPr lvl="0"/>
            <a:fld id="{ABFE9BC7-F6C7-4E30-95F8-1560A70C4EF3}" type="slidenum">
              <a:rPr lang="en-US" smtClean="0"/>
              <a:t>‹#›</a:t>
            </a:fld>
            <a:endParaRPr lang="en-US" dirty="0"/>
          </a:p>
        </p:txBody>
      </p:sp>
    </p:spTree>
    <p:extLst>
      <p:ext uri="{BB962C8B-B14F-4D97-AF65-F5344CB8AC3E}">
        <p14:creationId xmlns:p14="http://schemas.microsoft.com/office/powerpoint/2010/main" val="513036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pPr lvl="0"/>
            <a:fld id="{C7A73316-3B66-459A-9445-09D0E99DDCAB}" type="datetime1">
              <a:rPr lang="en-GB" smtClean="0"/>
              <a:pPr lvl="0"/>
              <a:t>20/12/2022</a:t>
            </a:fld>
            <a:endParaRPr lang="en-GB" dirty="0"/>
          </a:p>
        </p:txBody>
      </p:sp>
      <p:sp>
        <p:nvSpPr>
          <p:cNvPr id="4" name="Footer Placeholder 3"/>
          <p:cNvSpPr>
            <a:spLocks noGrp="1"/>
          </p:cNvSpPr>
          <p:nvPr>
            <p:ph type="ftr" sz="quarter" idx="11"/>
          </p:nvPr>
        </p:nvSpPr>
        <p:spPr/>
        <p:txBody>
          <a:bodyPr/>
          <a:lstStyle/>
          <a:p>
            <a:pPr lvl="0"/>
            <a:endParaRPr lang="en-GB" dirty="0"/>
          </a:p>
        </p:txBody>
      </p:sp>
      <p:sp>
        <p:nvSpPr>
          <p:cNvPr id="5" name="Slide Number Placeholder 4"/>
          <p:cNvSpPr>
            <a:spLocks noGrp="1"/>
          </p:cNvSpPr>
          <p:nvPr>
            <p:ph type="sldNum" sz="quarter" idx="12"/>
          </p:nvPr>
        </p:nvSpPr>
        <p:spPr/>
        <p:txBody>
          <a:bodyPr/>
          <a:lstStyle/>
          <a:p>
            <a:pPr lvl="0"/>
            <a:fld id="{ABFE9BC7-F6C7-4E30-95F8-1560A70C4EF3}" type="slidenum">
              <a:rPr lang="en-US" smtClean="0"/>
              <a:t>‹#›</a:t>
            </a:fld>
            <a:endParaRPr lang="en-US" dirty="0"/>
          </a:p>
        </p:txBody>
      </p:sp>
    </p:spTree>
    <p:extLst>
      <p:ext uri="{BB962C8B-B14F-4D97-AF65-F5344CB8AC3E}">
        <p14:creationId xmlns:p14="http://schemas.microsoft.com/office/powerpoint/2010/main" val="3412577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pPr lvl="0"/>
            <a:fld id="{C7A73316-3B66-459A-9445-09D0E99DDCAB}" type="datetime1">
              <a:rPr lang="en-GB" smtClean="0"/>
              <a:pPr lvl="0"/>
              <a:t>20/12/2022</a:t>
            </a:fld>
            <a:endParaRPr lang="en-GB" dirty="0"/>
          </a:p>
        </p:txBody>
      </p:sp>
      <p:sp>
        <p:nvSpPr>
          <p:cNvPr id="4" name="Footer Placeholder 3"/>
          <p:cNvSpPr>
            <a:spLocks noGrp="1"/>
          </p:cNvSpPr>
          <p:nvPr>
            <p:ph type="ftr" sz="quarter" idx="11"/>
          </p:nvPr>
        </p:nvSpPr>
        <p:spPr/>
        <p:txBody>
          <a:bodyPr/>
          <a:lstStyle/>
          <a:p>
            <a:pPr lvl="0"/>
            <a:endParaRPr lang="en-GB" dirty="0"/>
          </a:p>
        </p:txBody>
      </p:sp>
      <p:sp>
        <p:nvSpPr>
          <p:cNvPr id="5" name="Slide Number Placeholder 4"/>
          <p:cNvSpPr>
            <a:spLocks noGrp="1"/>
          </p:cNvSpPr>
          <p:nvPr>
            <p:ph type="sldNum" sz="quarter" idx="12"/>
          </p:nvPr>
        </p:nvSpPr>
        <p:spPr/>
        <p:txBody>
          <a:bodyPr/>
          <a:lstStyle/>
          <a:p>
            <a:pPr lvl="0"/>
            <a:fld id="{ABFE9BC7-F6C7-4E30-95F8-1560A70C4EF3}" type="slidenum">
              <a:rPr lang="en-US" smtClean="0"/>
              <a:t>‹#›</a:t>
            </a:fld>
            <a:endParaRPr lang="en-US" dirty="0"/>
          </a:p>
        </p:txBody>
      </p:sp>
    </p:spTree>
    <p:extLst>
      <p:ext uri="{BB962C8B-B14F-4D97-AF65-F5344CB8AC3E}">
        <p14:creationId xmlns:p14="http://schemas.microsoft.com/office/powerpoint/2010/main" val="509801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lvl="0"/>
            <a:fld id="{F57084F6-604D-4D21-8FFD-1EEE65C08106}" type="datetime1">
              <a:rPr lang="en-GB" smtClean="0"/>
              <a:pPr lvl="0"/>
              <a:t>20/12/2022</a:t>
            </a:fld>
            <a:endParaRPr lang="en-GB" dirty="0"/>
          </a:p>
        </p:txBody>
      </p:sp>
      <p:sp>
        <p:nvSpPr>
          <p:cNvPr id="5" name="Footer Placeholder 4"/>
          <p:cNvSpPr>
            <a:spLocks noGrp="1"/>
          </p:cNvSpPr>
          <p:nvPr>
            <p:ph type="ftr" sz="quarter" idx="11"/>
          </p:nvPr>
        </p:nvSpPr>
        <p:spPr/>
        <p:txBody>
          <a:bodyPr/>
          <a:lstStyle/>
          <a:p>
            <a:pPr lvl="0"/>
            <a:endParaRPr lang="en-GB" dirty="0"/>
          </a:p>
        </p:txBody>
      </p:sp>
      <p:sp>
        <p:nvSpPr>
          <p:cNvPr id="6" name="Slide Number Placeholder 5"/>
          <p:cNvSpPr>
            <a:spLocks noGrp="1"/>
          </p:cNvSpPr>
          <p:nvPr>
            <p:ph type="sldNum" sz="quarter" idx="12"/>
          </p:nvPr>
        </p:nvSpPr>
        <p:spPr/>
        <p:txBody>
          <a:bodyPr/>
          <a:lstStyle/>
          <a:p>
            <a:pPr lvl="0"/>
            <a:fld id="{A7658067-399C-43F1-BA6D-BFDA6FA59DF0}" type="slidenum">
              <a:rPr lang="en-US" smtClean="0"/>
              <a:t>‹#›</a:t>
            </a:fld>
            <a:endParaRPr lang="en-US" dirty="0"/>
          </a:p>
        </p:txBody>
      </p:sp>
    </p:spTree>
    <p:extLst>
      <p:ext uri="{BB962C8B-B14F-4D97-AF65-F5344CB8AC3E}">
        <p14:creationId xmlns:p14="http://schemas.microsoft.com/office/powerpoint/2010/main" val="3132067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lvl="0"/>
            <a:fld id="{6BD55EE1-072F-487F-92B1-A1BDF537E976}" type="datetime1">
              <a:rPr lang="en-GB" smtClean="0"/>
              <a:pPr lvl="0"/>
              <a:t>20/12/2022</a:t>
            </a:fld>
            <a:endParaRPr lang="en-GB" dirty="0"/>
          </a:p>
        </p:txBody>
      </p:sp>
      <p:sp>
        <p:nvSpPr>
          <p:cNvPr id="5" name="Footer Placeholder 4"/>
          <p:cNvSpPr>
            <a:spLocks noGrp="1"/>
          </p:cNvSpPr>
          <p:nvPr>
            <p:ph type="ftr" sz="quarter" idx="11"/>
          </p:nvPr>
        </p:nvSpPr>
        <p:spPr/>
        <p:txBody>
          <a:bodyPr/>
          <a:lstStyle/>
          <a:p>
            <a:pPr lvl="0"/>
            <a:endParaRPr lang="en-GB" dirty="0"/>
          </a:p>
        </p:txBody>
      </p:sp>
      <p:sp>
        <p:nvSpPr>
          <p:cNvPr id="6" name="Slide Number Placeholder 5"/>
          <p:cNvSpPr>
            <a:spLocks noGrp="1"/>
          </p:cNvSpPr>
          <p:nvPr>
            <p:ph type="sldNum" sz="quarter" idx="12"/>
          </p:nvPr>
        </p:nvSpPr>
        <p:spPr/>
        <p:txBody>
          <a:bodyPr/>
          <a:lstStyle/>
          <a:p>
            <a:pPr lvl="0"/>
            <a:fld id="{B6D85B8E-EBB1-486A-9440-D93C9B8DFBA1}" type="slidenum">
              <a:rPr lang="en-US" smtClean="0"/>
              <a:t>‹#›</a:t>
            </a:fld>
            <a:endParaRPr lang="en-US" dirty="0"/>
          </a:p>
        </p:txBody>
      </p:sp>
    </p:spTree>
    <p:extLst>
      <p:ext uri="{BB962C8B-B14F-4D97-AF65-F5344CB8AC3E}">
        <p14:creationId xmlns:p14="http://schemas.microsoft.com/office/powerpoint/2010/main" val="317098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lvl="0"/>
            <a:fld id="{C7A73316-3B66-459A-9445-09D0E99DDCAB}" type="datetime1">
              <a:rPr lang="en-GB" smtClean="0"/>
              <a:pPr lvl="0"/>
              <a:t>20/12/2022</a:t>
            </a:fld>
            <a:endParaRPr lang="en-GB"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pPr lvl="0"/>
            <a:endParaRPr lang="en-GB"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lvl="0"/>
            <a:fld id="{ABFE9BC7-F6C7-4E30-95F8-1560A70C4EF3}" type="slidenum">
              <a:rPr lang="en-US" smtClean="0"/>
              <a:t>‹#›</a:t>
            </a:fld>
            <a:endParaRPr lang="en-US" dirty="0"/>
          </a:p>
        </p:txBody>
      </p:sp>
    </p:spTree>
    <p:extLst>
      <p:ext uri="{BB962C8B-B14F-4D97-AF65-F5344CB8AC3E}">
        <p14:creationId xmlns:p14="http://schemas.microsoft.com/office/powerpoint/2010/main" val="1574929640"/>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1.xml"/><Relationship Id="rId5" Type="http://schemas.openxmlformats.org/officeDocument/2006/relationships/slide" Target="slide24.xml"/><Relationship Id="rId4" Type="http://schemas.openxmlformats.org/officeDocument/2006/relationships/slide" Target="slide20.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4.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hyperlink" Target="https://bg.wikipedia.org/wiki/%D0%9F%D0%B5%D1%87%D0%B0%D1%82" TargetMode="External"/><Relationship Id="rId2" Type="http://schemas.openxmlformats.org/officeDocument/2006/relationships/hyperlink" Target="https://bg.wikipedia.org/wiki/%D0%9F%D0%B5%D1%80%D0%B8%D1%84%D0%B5%D1%80%D0%BD%D0%BE_%D1%83%D1%81%D1%82%D1%80%D0%BE%D0%B9%D1%81%D1%82%D0%B2%D0%BE" TargetMode="Externa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hyperlink" Target="https://bg.wikipedia.org/wiki/%D0%9F%D0%B5%D1%80%D1%81%D0%BE%D0%BD%D0%B0%D0%BB%D0%B5%D0%BD_%D0%BA%D0%BE%D0%BC%D0%BF%D1%8E%D1%82%D1%8A%D1%80" TargetMode="External"/><Relationship Id="rId4" Type="http://schemas.openxmlformats.org/officeDocument/2006/relationships/hyperlink" Target="https://bg.wikipedia.org/wiki/%D0%94%D0%BE%D0%BA%D1%83%D0%BC%D0%B5%D0%BD%D1%82"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4.xml"/><Relationship Id="rId1" Type="http://schemas.openxmlformats.org/officeDocument/2006/relationships/slideLayout" Target="../slideLayouts/slideLayout8.xml"/><Relationship Id="rId5" Type="http://schemas.openxmlformats.org/officeDocument/2006/relationships/image" Target="../media/image3.sv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bg.wikipedia.org/wiki/%D0%A5%D0%B0%D1%80%D1%82%D0%B8%D1%8F" TargetMode="External"/><Relationship Id="rId7" Type="http://schemas.openxmlformats.org/officeDocument/2006/relationships/image" Target="../media/image3.svg"/><Relationship Id="rId2" Type="http://schemas.openxmlformats.org/officeDocument/2006/relationships/hyperlink" Target="https://bg.wikipedia.org/wiki/%D0%9F%D0%B5%D1%80%D0%B8%D1%84%D0%B5%D1%80%D0%BD%D0%BE_%D1%83%D1%81%D1%82%D1%80%D0%BE%D0%B9%D1%81%D1%82%D0%B2%D0%BE" TargetMode="Externa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slide" Target="slide24.xml"/><Relationship Id="rId4" Type="http://schemas.openxmlformats.org/officeDocument/2006/relationships/hyperlink" Target="https://bg.wikipedia.org/wiki/%D0%92%D0%B5%D0%BA%D1%82%D0%BE%D1%80%D0%BD%D0%B0_%D0%B3%D1%80%D0%B0%D1%84%D0%B8%D0%BA%D0%B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hyperlink" Target="https://bg.wikipedia.org/w/index.php?title=%D0%A2%D1%83%D0%BD%D0%B5%D1%80&amp;action=edit&amp;redlink=1" TargetMode="External"/><Relationship Id="rId13" Type="http://schemas.openxmlformats.org/officeDocument/2006/relationships/image" Target="../media/image3.svg"/><Relationship Id="rId3" Type="http://schemas.openxmlformats.org/officeDocument/2006/relationships/hyperlink" Target="https://bg.wikipedia.org/wiki/%D0%9C%D0%BE%D0%BD%D0%B8%D1%82%D0%BE%D1%80#cite_note-1" TargetMode="External"/><Relationship Id="rId7" Type="http://schemas.openxmlformats.org/officeDocument/2006/relationships/hyperlink" Target="https://bg.wikipedia.org/wiki/%D0%A2%D0%B5%D0%BB%D0%B5%D0%B2%D0%B8%D0%B7%D0%BE%D1%80" TargetMode="External"/><Relationship Id="rId12" Type="http://schemas.openxmlformats.org/officeDocument/2006/relationships/image" Target="../media/image6.png"/><Relationship Id="rId2" Type="http://schemas.openxmlformats.org/officeDocument/2006/relationships/hyperlink" Target="https://bg.wikipedia.org/w/index.php?title=%D0%A2%D0%B0%D0%BA%D1%82%D0%B8%D0%BB%D0%B5%D0%BD&amp;action=edit&amp;redlink=1" TargetMode="External"/><Relationship Id="rId1" Type="http://schemas.openxmlformats.org/officeDocument/2006/relationships/slideLayout" Target="../slideLayouts/slideLayout8.xml"/><Relationship Id="rId6" Type="http://schemas.openxmlformats.org/officeDocument/2006/relationships/hyperlink" Target="https://bg.wikipedia.org/wiki/LCD" TargetMode="External"/><Relationship Id="rId11" Type="http://schemas.openxmlformats.org/officeDocument/2006/relationships/slide" Target="slide24.xml"/><Relationship Id="rId5" Type="http://schemas.openxmlformats.org/officeDocument/2006/relationships/hyperlink" Target="https://bg.wikipedia.org/wiki/%D0%9A%D0%B0%D1%82%D0%BE%D0%B4%D0%BD%D0%BE-%D0%BB%D1%8A%D1%87%D0%B5%D0%B2%D0%B0_%D1%82%D1%80%D1%8A%D0%B1%D0%B0" TargetMode="External"/><Relationship Id="rId10" Type="http://schemas.openxmlformats.org/officeDocument/2006/relationships/hyperlink" Target="https://bg.wikipedia.org/w/index.php?title=%D0%A7%D0%B5%D1%81%D1%82%D0%BE%D1%82%D0%B0_%D0%BD%D0%B0_%D0%BE%D0%BF%D1%80%D0%B5%D1%81%D0%BD%D1%8F%D0%B2%D0%B0%D0%BD%D0%B5&amp;action=edit&amp;redlink=1" TargetMode="External"/><Relationship Id="rId4" Type="http://schemas.openxmlformats.org/officeDocument/2006/relationships/hyperlink" Target="https://bg.wikipedia.org/wiki/%D0%9C%D0%BE%D0%BD%D0%B8%D1%82%D0%BE%D1%80#cite_note-2" TargetMode="External"/><Relationship Id="rId9" Type="http://schemas.openxmlformats.org/officeDocument/2006/relationships/hyperlink" Target="https://bg.wikipedia.org/wiki/%D0%A0%D0%B0%D0%B7%D0%B4%D0%B5%D0%BB%D0%B8%D1%82%D0%B5%D0%BB%D0%BD%D0%B0_%D1%81%D0%BF%D0%BE%D1%81%D0%BE%D0%B1%D0%BD%D0%BE%D1%81%D1%82_(%D0%BC%D0%BE%D0%BD%D0%B8%D1%82%D0%BE%D1%80)" TargetMode="External"/><Relationship Id="rId1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hyperlink" Target="https://bg.wikipedia.org/wiki/%D0%9F%D0%B8%D0%BA%D1%81%D0%B5%D0%BB" TargetMode="External"/><Relationship Id="rId2" Type="http://schemas.openxmlformats.org/officeDocument/2006/relationships/hyperlink" Target="https://bg.wikipedia.org/wiki/%D0%A0%D0%B0%D0%B7%D0%B4%D0%B5%D0%BB%D0%B8%D1%82%D0%B5%D0%BB%D0%BD%D0%B0_%D1%81%D0%BF%D0%BE%D1%81%D0%BE%D0%B1%D0%BD%D0%BE%D1%81%D1%82_(%D0%BC%D0%BE%D0%BD%D0%B8%D1%82%D0%BE%D1%80)" TargetMode="External"/><Relationship Id="rId1" Type="http://schemas.openxmlformats.org/officeDocument/2006/relationships/slideLayout" Target="../slideLayouts/slideLayout8.xml"/><Relationship Id="rId4" Type="http://schemas.openxmlformats.org/officeDocument/2006/relationships/hyperlink" Target="https://bg.wikipedia.org/wiki/%D0%93%D1%80%D0%B0%D1%84%D0%B8%D1%87%D0%BD%D0%B0_%D0%BA%D0%B0%D1%80%D1%82%D0%B0"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bg.wikipedia.org/wiki/CD" TargetMode="External"/><Relationship Id="rId3" Type="http://schemas.openxmlformats.org/officeDocument/2006/relationships/hyperlink" Target="https://bg.wikipedia.org/wiki/%D0%9C%D1%83%D0%B7%D0%B8%D0%BA%D0%B0" TargetMode="External"/><Relationship Id="rId7" Type="http://schemas.openxmlformats.org/officeDocument/2006/relationships/hyperlink" Target="https://bg.wikipedia.org/wiki/%D0%A2%D0%B5%D0%BB%D0%B5%D1%84%D0%BE%D0%BD" TargetMode="External"/><Relationship Id="rId12" Type="http://schemas.openxmlformats.org/officeDocument/2006/relationships/image" Target="../media/image17.png"/><Relationship Id="rId2" Type="http://schemas.openxmlformats.org/officeDocument/2006/relationships/hyperlink" Target="https://bg.wikipedia.org/wiki/%D0%A3%D1%81%D1%82%D1%80%D0%BE%D0%B9%D1%81%D1%82%D0%B2%D0%BE" TargetMode="External"/><Relationship Id="rId1" Type="http://schemas.openxmlformats.org/officeDocument/2006/relationships/slideLayout" Target="../slideLayouts/slideLayout9.xml"/><Relationship Id="rId6" Type="http://schemas.openxmlformats.org/officeDocument/2006/relationships/hyperlink" Target="https://bg.wikipedia.org/wiki/%D0%9C%D0%B8%D0%BA%D1%80%D0%BE%D1%84%D0%BE%D0%BD" TargetMode="External"/><Relationship Id="rId11" Type="http://schemas.openxmlformats.org/officeDocument/2006/relationships/hyperlink" Target="https://bg.wikipedia.org/wiki/%D0%A7%D0%B5%D1%81%D1%82%D0%BE%D1%82%D0%B5%D0%BD_%D0%B4%D0%B8%D0%B0%D0%BF%D0%B0%D0%B7%D0%BE%D0%BD" TargetMode="External"/><Relationship Id="rId5" Type="http://schemas.openxmlformats.org/officeDocument/2006/relationships/hyperlink" Target="https://bg.wikipedia.org/wiki/%D0%A1%D0%B8%D0%B3%D0%BD%D0%B0%D0%BB" TargetMode="External"/><Relationship Id="rId10" Type="http://schemas.openxmlformats.org/officeDocument/2006/relationships/hyperlink" Target="https://bg.wikipedia.org/wiki/%D0%9A%D0%BE%D0%BC%D0%BF%D1%8E%D1%82%D1%8A%D1%80" TargetMode="External"/><Relationship Id="rId4" Type="http://schemas.openxmlformats.org/officeDocument/2006/relationships/hyperlink" Target="https://bg.wikipedia.org/wiki/%D0%97%D0%B2%D1%83%D0%BA" TargetMode="External"/><Relationship Id="rId9" Type="http://schemas.openxmlformats.org/officeDocument/2006/relationships/hyperlink" Target="https://bg.wikipedia.org/wiki/DVD"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bg.wikipedia.org/wiki/%D0%A1%D0%BB%D1%83%D1%88%D0%B0%D0%BB%D0%BA%D0%B8#cite_note-1" TargetMode="External"/><Relationship Id="rId2" Type="http://schemas.openxmlformats.org/officeDocument/2006/relationships/hyperlink" Target="https://bg.wikipedia.org/wiki/%D0%A3%D1%85%D0%BE#%D0%92%D1%8A%D0%BD%D1%88%D0%BD%D0%BE_%D1%83%D1%85%D0%BE" TargetMode="Externa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hyperlink" Target="https://proaudio.bg/%D0%90%D0%BA%D1%82%D0%B8%D0%B2%D0%BD%D0%B8-%D1%82%D0%BE%D0%BD%D0%BA%D0%BE%D0%BB%D0%BE%D0%BD%D0%B8" TargetMode="Externa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3.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8" Type="http://schemas.openxmlformats.org/officeDocument/2006/relationships/hyperlink" Target="https://bg.wikipedia.org/wiki/%D0%9E%D0%B1%D0%B5%D0%BA%D1%82%D0%B8%D0%B2" TargetMode="External"/><Relationship Id="rId13" Type="http://schemas.openxmlformats.org/officeDocument/2006/relationships/image" Target="../media/image6.png"/><Relationship Id="rId3" Type="http://schemas.openxmlformats.org/officeDocument/2006/relationships/hyperlink" Target="https://bg.wikipedia.org/wiki/%D0%94%D0%B8%D1%81%D0%BA" TargetMode="External"/><Relationship Id="rId7" Type="http://schemas.openxmlformats.org/officeDocument/2006/relationships/hyperlink" Target="https://bg.wikipedia.org/wiki/%D0%94%D1%8A%D0%BB%D0%B6%D0%B8%D0%BD%D0%B0_%D0%BD%D0%B0_%D0%B2%D1%8A%D0%BB%D0%BD%D0%B0%D1%82%D0%B0" TargetMode="External"/><Relationship Id="rId12" Type="http://schemas.openxmlformats.org/officeDocument/2006/relationships/slide" Target="slide24.xml"/><Relationship Id="rId2" Type="http://schemas.openxmlformats.org/officeDocument/2006/relationships/hyperlink" Target="https://bg.wikipedia.org/wiki/%D0%9D%D0%BE%D1%81%D0%B8%D1%82%D0%B5%D0%BB_%D0%BD%D0%B0_%D0%B8%D0%BD%D1%84%D0%BE%D1%80%D0%BC%D0%B0%D1%86%D0%B8%D1%8F" TargetMode="External"/><Relationship Id="rId1" Type="http://schemas.openxmlformats.org/officeDocument/2006/relationships/slideLayout" Target="../slideLayouts/slideLayout8.xml"/><Relationship Id="rId6" Type="http://schemas.openxmlformats.org/officeDocument/2006/relationships/hyperlink" Target="https://bg.wikipedia.org/wiki/%D0%9B%D0%B0%D0%B7%D0%B5%D1%80" TargetMode="External"/><Relationship Id="rId11" Type="http://schemas.openxmlformats.org/officeDocument/2006/relationships/hyperlink" Target="https://bg.wikipedia.org/wiki/%D0%9C%D0%B5%D0%B3%D0%B0%D0%B1%D0%B0%D0%B9%D1%82" TargetMode="External"/><Relationship Id="rId5" Type="http://schemas.openxmlformats.org/officeDocument/2006/relationships/hyperlink" Target="https://bg.wikipedia.org/wiki/%D0%9A%D0%BE%D0%BC%D0%BF%D0%B0%D0%BA%D1%82%D0%B4%D0%B8%D1%81%D0%BA" TargetMode="External"/><Relationship Id="rId15" Type="http://schemas.openxmlformats.org/officeDocument/2006/relationships/image" Target="../media/image22.png"/><Relationship Id="rId10" Type="http://schemas.openxmlformats.org/officeDocument/2006/relationships/hyperlink" Target="https://bg.wikipedia.org/wiki/CD" TargetMode="External"/><Relationship Id="rId4" Type="http://schemas.openxmlformats.org/officeDocument/2006/relationships/hyperlink" Target="https://bg.wikipedia.org/wiki/%D0%A6%D0%B8%D1%84%D1%80%D0%BE%D0%B2%D0%B0_%D0%B5%D0%BB%D0%B5%D0%BA%D1%82%D1%80%D0%BE%D0%BD%D0%B8%D0%BA%D0%B0" TargetMode="External"/><Relationship Id="rId9" Type="http://schemas.openxmlformats.org/officeDocument/2006/relationships/hyperlink" Target="https://bg.wikipedia.org/wiki/%D0%90%D0%BF%D0%B5%D1%80%D1%82%D1%83%D1%80%D0%B0_(%D0%BE%D0%BF%D1%82%D0%B8%D0%BA%D0%B0)" TargetMode="External"/><Relationship Id="rId14" Type="http://schemas.openxmlformats.org/officeDocument/2006/relationships/image" Target="../media/image3.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hyperlink" Target="https://bg.wikipedia.org/wiki/%D0%9C%D0%B5%D0%B3%D0%B0%D0%B1%D0%B0%D0%B9%D1%82" TargetMode="External"/><Relationship Id="rId13" Type="http://schemas.openxmlformats.org/officeDocument/2006/relationships/image" Target="../media/image23.png"/><Relationship Id="rId3" Type="http://schemas.openxmlformats.org/officeDocument/2006/relationships/hyperlink" Target="https://bg.wikipedia.org/wiki/%D0%94%D0%B0%D0%BD%D0%BD%D0%B8" TargetMode="External"/><Relationship Id="rId7" Type="http://schemas.openxmlformats.org/officeDocument/2006/relationships/hyperlink" Target="https://bg.wikipedia.org/wiki/%D0%A8%D0%B8%D0%BD%D0%B0_(%D0%BA%D0%BE%D0%BC%D0%BF%D1%8E%D1%82%D1%80%D0%B8)" TargetMode="External"/><Relationship Id="rId12" Type="http://schemas.openxmlformats.org/officeDocument/2006/relationships/image" Target="../media/image3.svg"/><Relationship Id="rId2" Type="http://schemas.openxmlformats.org/officeDocument/2006/relationships/hyperlink" Target="https://bg.wikipedia.org/wiki/%D0%97%D0%B0%D0%BF%D0%B0%D0%BC%D0%B5%D1%82%D1%8F%D0%B2%D0%B0%D1%89%D0%BE_%D1%83%D1%81%D1%82%D1%80%D0%BE%D0%B9%D1%81%D1%82%D0%B2%D0%BE" TargetMode="External"/><Relationship Id="rId1" Type="http://schemas.openxmlformats.org/officeDocument/2006/relationships/slideLayout" Target="../slideLayouts/slideLayout8.xml"/><Relationship Id="rId6" Type="http://schemas.openxmlformats.org/officeDocument/2006/relationships/hyperlink" Target="https://bg.wikipedia.org/wiki/USB" TargetMode="External"/><Relationship Id="rId11" Type="http://schemas.openxmlformats.org/officeDocument/2006/relationships/image" Target="../media/image6.png"/><Relationship Id="rId5" Type="http://schemas.openxmlformats.org/officeDocument/2006/relationships/hyperlink" Target="https://bg.wikipedia.org/wiki/%D0%9A%D0%BE%D0%BC%D0%BF%D1%8E%D1%82%D1%8A%D1%80%D0%BD%D0%B0_%D0%BF%D0%B0%D0%BC%D0%B5%D1%82" TargetMode="External"/><Relationship Id="rId10" Type="http://schemas.openxmlformats.org/officeDocument/2006/relationships/slide" Target="slide24.xml"/><Relationship Id="rId4" Type="http://schemas.openxmlformats.org/officeDocument/2006/relationships/hyperlink" Target="https://bg.wikipedia.org/wiki/%D0%9A%D0%BE%D0%BC%D0%BF%D1%8E%D1%82%D1%8A%D1%80" TargetMode="External"/><Relationship Id="rId9" Type="http://schemas.openxmlformats.org/officeDocument/2006/relationships/hyperlink" Target="https://bg.wikipedia.org/wiki/%D0%93%D0%B8%D0%B3%D0%B0%D0%B1%D0%B0%D0%B9%D1%82"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bg.wikipedia.org/wiki/EPROM" TargetMode="External"/><Relationship Id="rId7" Type="http://schemas.openxmlformats.org/officeDocument/2006/relationships/image" Target="../media/image3.svg"/><Relationship Id="rId2" Type="http://schemas.openxmlformats.org/officeDocument/2006/relationships/hyperlink" Target="https://bg.wikipedia.org/wiki/%D0%9C%D0%B8%D0%BA%D1%80%D0%BE%D0%BF%D1%80%D0%BE%D1%86%D0%B5%D1%81%D0%BE%D1%80" TargetMode="Externa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slide" Target="slide24.xml"/><Relationship Id="rId4" Type="http://schemas.openxmlformats.org/officeDocument/2006/relationships/hyperlink" Target="https://bg.wikipedia.org/wiki/EEPROM" TargetMode="External"/></Relationships>
</file>

<file path=ppt/slides/_rels/slide2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8.xml"/><Relationship Id="rId6" Type="http://schemas.openxmlformats.org/officeDocument/2006/relationships/slide" Target="slide23.xml"/><Relationship Id="rId5" Type="http://schemas.openxmlformats.org/officeDocument/2006/relationships/slide" Target="slide20.xml"/><Relationship Id="rId4" Type="http://schemas.openxmlformats.org/officeDocument/2006/relationships/slide" Target="slide9.xml"/></Relationships>
</file>

<file path=ppt/slides/_rels/slide25.xml.rels><?xml version="1.0" encoding="UTF-8" standalone="yes"?>
<Relationships xmlns="http://schemas.openxmlformats.org/package/2006/relationships"><Relationship Id="rId3" Type="http://schemas.openxmlformats.org/officeDocument/2006/relationships/hyperlink" Target="https://bg.wikipedia.org/wiki/%D0%A1%D0%BB%D1%83%D1%88%D0%B0%D0%BB%D0%BA%D0%B8" TargetMode="External"/><Relationship Id="rId2" Type="http://schemas.openxmlformats.org/officeDocument/2006/relationships/hyperlink" Target="https://gyp.dobrblog.com/articles/vidove-ploteri-tehnite-harakteristiki-i-funkcii-za.html" TargetMode="External"/><Relationship Id="rId1" Type="http://schemas.openxmlformats.org/officeDocument/2006/relationships/slideLayout" Target="../slideLayouts/slideLayout3.xml"/><Relationship Id="rId5" Type="http://schemas.openxmlformats.org/officeDocument/2006/relationships/hyperlink" Target="https://www.kaldata.com/forums/blogs/entry/94-%D0%B2%D0%B8%D0%B4%D0%BE%D0%B2%D0%B5%D1%82%D0%B5-cd-dvd-%D1%84%D0%BE%D1%80%D0%BC%D0%B0%D1%82%D0%B8/" TargetMode="External"/><Relationship Id="rId4" Type="http://schemas.openxmlformats.org/officeDocument/2006/relationships/hyperlink" Target="https://www.avitel-bg.com/news.php?news=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Rectangle 5">
            <a:extLst>
              <a:ext uri="{FF2B5EF4-FFF2-40B4-BE49-F238E27FC236}">
                <a16:creationId xmlns="" xmlns:a16="http://schemas.microsoft.com/office/drawing/2014/main" id="{A0AAB513-715E-4B0F-81A3-2E2C384DFAAF}"/>
              </a:ext>
            </a:extLst>
          </p:cNvPr>
          <p:cNvSpPr/>
          <p:nvPr/>
        </p:nvSpPr>
        <p:spPr>
          <a:xfrm>
            <a:off x="416058" y="2595053"/>
            <a:ext cx="11359883" cy="16678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4000" dirty="0" smtClean="0">
                <a:solidFill>
                  <a:srgbClr val="000000"/>
                </a:solidFill>
                <a:latin typeface="Times New Roman" pitchFamily="18"/>
                <a:cs typeface="Times New Roman" pitchFamily="18"/>
              </a:rPr>
              <a:t>Изходни</a:t>
            </a:r>
            <a:r>
              <a:rPr lang="bg-BG" sz="4000" i="0" u="none" strike="noStrike" kern="1200" cap="none" spc="0" baseline="0" dirty="0" smtClean="0">
                <a:solidFill>
                  <a:srgbClr val="000000"/>
                </a:solidFill>
                <a:uFillTx/>
                <a:latin typeface="Times New Roman" pitchFamily="18"/>
                <a:cs typeface="Times New Roman" pitchFamily="18"/>
              </a:rPr>
              <a:t> </a:t>
            </a:r>
            <a:r>
              <a:rPr lang="bg-BG" sz="4000" i="0" u="none" strike="noStrike" kern="1200" cap="none" spc="0" baseline="0" dirty="0">
                <a:solidFill>
                  <a:srgbClr val="000000"/>
                </a:solidFill>
                <a:uFillTx/>
                <a:latin typeface="Times New Roman" pitchFamily="18"/>
                <a:cs typeface="Times New Roman" pitchFamily="18"/>
              </a:rPr>
              <a:t>периферни устройства</a:t>
            </a:r>
            <a:endParaRPr lang="en-GB" sz="4000" i="0" u="none" strike="noStrike" kern="1200" cap="none" spc="0" baseline="0" dirty="0">
              <a:solidFill>
                <a:srgbClr val="000000"/>
              </a:solidFill>
              <a:uFillTx/>
              <a:latin typeface="Times New Roman" pitchFamily="18"/>
              <a:cs typeface="Times New Roman" pitchFamily="1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Subtitle 2">
            <a:extLst>
              <a:ext uri="{FF2B5EF4-FFF2-40B4-BE49-F238E27FC236}">
                <a16:creationId xmlns="" xmlns:a16="http://schemas.microsoft.com/office/drawing/2014/main" id="{6A54B592-11FF-4D32-9303-01E80D5F078E}"/>
              </a:ext>
            </a:extLst>
          </p:cNvPr>
          <p:cNvSpPr txBox="1">
            <a:spLocks noGrp="1"/>
          </p:cNvSpPr>
          <p:nvPr>
            <p:ph type="subTitle" idx="1"/>
          </p:nvPr>
        </p:nvSpPr>
        <p:spPr>
          <a:xfrm>
            <a:off x="1360362" y="1455944"/>
            <a:ext cx="9144000" cy="4903799"/>
          </a:xfrm>
        </p:spPr>
        <p:txBody>
          <a:bodyPr anchorCtr="0">
            <a:normAutofit/>
          </a:bodyPr>
          <a:lstStyle/>
          <a:p>
            <a:pPr marL="342900" lvl="0" indent="-342900" algn="l">
              <a:lnSpc>
                <a:spcPct val="80000"/>
              </a:lnSpc>
              <a:buFont typeface="Wingdings" pitchFamily="2"/>
              <a:buChar char="v"/>
            </a:pPr>
            <a:r>
              <a:rPr lang="bg-BG" sz="2400" dirty="0">
                <a:solidFill>
                  <a:schemeClr val="tx1">
                    <a:lumMod val="65000"/>
                    <a:lumOff val="35000"/>
                  </a:schemeClr>
                </a:solidFill>
                <a:latin typeface="Times New Roman" pitchFamily="18"/>
                <a:cs typeface="Times New Roman" pitchFamily="18"/>
                <a:hlinkClick r:id="rId2" action="ppaction://hlinksldjump">
                  <a:extLst>
                    <a:ext uri="{A12FA001-AC4F-418D-AE19-62706E023703}">
                      <ahyp:hlinkClr xmlns="" xmlns:ahyp="http://schemas.microsoft.com/office/drawing/2018/hyperlinkcolor" val="tx"/>
                    </a:ext>
                  </a:extLst>
                </a:hlinkClick>
              </a:rPr>
              <a:t>Определение</a:t>
            </a:r>
            <a:endParaRPr lang="bg-BG" sz="2400" dirty="0">
              <a:solidFill>
                <a:schemeClr val="tx1">
                  <a:lumMod val="65000"/>
                  <a:lumOff val="35000"/>
                </a:schemeClr>
              </a:solidFill>
              <a:latin typeface="Times New Roman" pitchFamily="18"/>
              <a:cs typeface="Times New Roman" pitchFamily="18"/>
            </a:endParaRPr>
          </a:p>
          <a:p>
            <a:pPr marL="342900" lvl="0" indent="-342900" algn="l">
              <a:lnSpc>
                <a:spcPct val="80000"/>
              </a:lnSpc>
              <a:buFont typeface="Wingdings" pitchFamily="2"/>
              <a:buChar char="v"/>
            </a:pPr>
            <a:r>
              <a:rPr lang="bg-BG" sz="2400" dirty="0">
                <a:solidFill>
                  <a:schemeClr val="tx1">
                    <a:lumMod val="65000"/>
                    <a:lumOff val="35000"/>
                  </a:schemeClr>
                </a:solidFill>
                <a:latin typeface="Times New Roman" pitchFamily="18"/>
                <a:cs typeface="Times New Roman" pitchFamily="18"/>
                <a:hlinkClick r:id="rId3" action="ppaction://hlinksldjump">
                  <a:extLst>
                    <a:ext uri="{A12FA001-AC4F-418D-AE19-62706E023703}">
                      <ahyp:hlinkClr xmlns="" xmlns:ahyp="http://schemas.microsoft.com/office/drawing/2018/hyperlinkcolor" val="tx"/>
                    </a:ext>
                  </a:extLst>
                </a:hlinkClick>
              </a:rPr>
              <a:t>П</a:t>
            </a:r>
            <a:r>
              <a:rPr lang="bg-BG" sz="2400" dirty="0" smtClean="0">
                <a:solidFill>
                  <a:schemeClr val="tx1">
                    <a:lumMod val="65000"/>
                    <a:lumOff val="35000"/>
                  </a:schemeClr>
                </a:solidFill>
                <a:latin typeface="Times New Roman" pitchFamily="18"/>
                <a:cs typeface="Times New Roman" pitchFamily="18"/>
                <a:hlinkClick r:id="rId3" action="ppaction://hlinksldjump">
                  <a:extLst>
                    <a:ext uri="{A12FA001-AC4F-418D-AE19-62706E023703}">
                      <ahyp:hlinkClr xmlns="" xmlns:ahyp="http://schemas.microsoft.com/office/drawing/2018/hyperlinkcolor" val="tx"/>
                    </a:ext>
                  </a:extLst>
                </a:hlinkClick>
              </a:rPr>
              <a:t>ринтер</a:t>
            </a:r>
          </a:p>
          <a:p>
            <a:pPr marL="342900" lvl="0" indent="-342900" algn="l">
              <a:lnSpc>
                <a:spcPct val="80000"/>
              </a:lnSpc>
              <a:buFont typeface="Wingdings" pitchFamily="2"/>
              <a:buChar char="v"/>
            </a:pPr>
            <a:r>
              <a:rPr lang="bg-BG" sz="2400" u="sng" dirty="0" smtClean="0">
                <a:solidFill>
                  <a:srgbClr val="0070C0"/>
                </a:solidFill>
                <a:latin typeface="Times New Roman" pitchFamily="18"/>
                <a:cs typeface="Times New Roman" pitchFamily="18"/>
              </a:rPr>
              <a:t>Плотер</a:t>
            </a:r>
            <a:endParaRPr lang="bg-BG" sz="2400" u="sng" dirty="0">
              <a:solidFill>
                <a:srgbClr val="0070C0"/>
              </a:solidFill>
              <a:latin typeface="Times New Roman" pitchFamily="18"/>
              <a:cs typeface="Times New Roman" pitchFamily="18"/>
            </a:endParaRPr>
          </a:p>
          <a:p>
            <a:pPr marL="342900" lvl="0" indent="-342900" algn="l">
              <a:lnSpc>
                <a:spcPct val="80000"/>
              </a:lnSpc>
              <a:buFont typeface="Wingdings" pitchFamily="2"/>
              <a:buChar char="v"/>
            </a:pPr>
            <a:r>
              <a:rPr lang="bg-BG" sz="2400" dirty="0" smtClean="0">
                <a:solidFill>
                  <a:schemeClr val="tx1">
                    <a:lumMod val="65000"/>
                    <a:lumOff val="35000"/>
                  </a:schemeClr>
                </a:solidFill>
                <a:latin typeface="Times New Roman" pitchFamily="18"/>
                <a:cs typeface="Times New Roman" pitchFamily="18"/>
                <a:hlinkClick r:id="rId4" action="ppaction://hlinksldjump">
                  <a:extLst>
                    <a:ext uri="{A12FA001-AC4F-418D-AE19-62706E023703}">
                      <ahyp:hlinkClr xmlns="" xmlns:ahyp="http://schemas.microsoft.com/office/drawing/2018/hyperlinkcolor" val="tx"/>
                    </a:ext>
                  </a:extLst>
                </a:hlinkClick>
              </a:rPr>
              <a:t>Монитор</a:t>
            </a:r>
            <a:endParaRPr lang="bg-BG" sz="2400" dirty="0" smtClean="0">
              <a:solidFill>
                <a:schemeClr val="tx1">
                  <a:lumMod val="65000"/>
                  <a:lumOff val="35000"/>
                </a:schemeClr>
              </a:solidFill>
              <a:latin typeface="Times New Roman" pitchFamily="18"/>
              <a:cs typeface="Times New Roman" pitchFamily="18"/>
              <a:hlinkClick r:id="rId4" action="ppaction://hlinksldjump">
                <a:extLst>
                  <a:ext uri="{A12FA001-AC4F-418D-AE19-62706E023703}">
                    <ahyp:hlinkClr xmlns="" xmlns:ahyp="http://schemas.microsoft.com/office/drawing/2018/hyperlinkcolor" val="tx"/>
                  </a:ext>
                </a:extLst>
              </a:hlinkClick>
            </a:endParaRPr>
          </a:p>
          <a:p>
            <a:pPr marL="342900" lvl="0" indent="-342900" algn="l">
              <a:lnSpc>
                <a:spcPct val="80000"/>
              </a:lnSpc>
              <a:buFont typeface="Wingdings" pitchFamily="2"/>
              <a:buChar char="v"/>
            </a:pPr>
            <a:r>
              <a:rPr lang="bg-BG"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rPr>
              <a:t>Слушалки</a:t>
            </a:r>
          </a:p>
          <a:p>
            <a:pPr marL="342900" lvl="0" indent="-342900" algn="l">
              <a:lnSpc>
                <a:spcPct val="80000"/>
              </a:lnSpc>
              <a:buFont typeface="Wingdings" pitchFamily="2"/>
              <a:buChar char="v"/>
            </a:pPr>
            <a:r>
              <a:rPr lang="bg-BG"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rPr>
              <a:t>Тон-колони</a:t>
            </a:r>
          </a:p>
          <a:p>
            <a:pPr marL="342900" lvl="0" indent="-342900" algn="l">
              <a:lnSpc>
                <a:spcPct val="80000"/>
              </a:lnSpc>
              <a:buFont typeface="Wingdings" pitchFamily="2"/>
              <a:buChar char="v"/>
            </a:pPr>
            <a:r>
              <a:rPr lang="en-US"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rPr>
              <a:t>CD_DVD</a:t>
            </a:r>
            <a:endParaRPr lang="en-US"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endParaRPr>
          </a:p>
          <a:p>
            <a:pPr marL="342900" lvl="0" indent="-342900" algn="l">
              <a:lnSpc>
                <a:spcPct val="80000"/>
              </a:lnSpc>
              <a:buFont typeface="Wingdings" pitchFamily="2"/>
              <a:buChar char="v"/>
            </a:pPr>
            <a:r>
              <a:rPr lang="en-US"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rPr>
              <a:t>USB </a:t>
            </a:r>
            <a:r>
              <a:rPr lang="bg-BG"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rPr>
              <a:t>флаш</a:t>
            </a:r>
            <a:endParaRPr lang="bg-BG"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endParaRPr>
          </a:p>
          <a:p>
            <a:pPr marL="342900" lvl="0" indent="-342900" algn="l">
              <a:lnSpc>
                <a:spcPct val="80000"/>
              </a:lnSpc>
              <a:buFont typeface="Wingdings" pitchFamily="2"/>
              <a:buChar char="v"/>
            </a:pPr>
            <a:r>
              <a:rPr lang="bg-BG" sz="2400" dirty="0" smtClean="0">
                <a:solidFill>
                  <a:schemeClr val="tx1">
                    <a:lumMod val="65000"/>
                    <a:lumOff val="35000"/>
                  </a:schemeClr>
                </a:solidFill>
                <a:latin typeface="Times New Roman" pitchFamily="18"/>
                <a:cs typeface="Times New Roman" pitchFamily="18"/>
                <a:hlinkClick r:id="rId5" action="ppaction://hlinksldjump">
                  <a:extLst>
                    <a:ext uri="{A12FA001-AC4F-418D-AE19-62706E023703}">
                      <ahyp:hlinkClr xmlns="" xmlns:ahyp="http://schemas.microsoft.com/office/drawing/2018/hyperlinkcolor" val="tx"/>
                    </a:ext>
                  </a:extLst>
                </a:hlinkClick>
              </a:rPr>
              <a:t>Тест</a:t>
            </a:r>
            <a:endParaRPr lang="bg-BG" sz="2400" dirty="0">
              <a:solidFill>
                <a:schemeClr val="tx1">
                  <a:lumMod val="65000"/>
                  <a:lumOff val="35000"/>
                </a:schemeClr>
              </a:solidFill>
              <a:latin typeface="Times New Roman" pitchFamily="18"/>
              <a:cs typeface="Times New Roman" pitchFamily="18"/>
            </a:endParaRPr>
          </a:p>
          <a:p>
            <a:pPr marL="457200" lvl="0" indent="-457200" algn="l">
              <a:lnSpc>
                <a:spcPct val="80000"/>
              </a:lnSpc>
              <a:buAutoNum type="arabicPeriod"/>
            </a:pPr>
            <a:endParaRPr lang="en-GB" dirty="0"/>
          </a:p>
        </p:txBody>
      </p:sp>
      <p:sp>
        <p:nvSpPr>
          <p:cNvPr id="3" name="Rectangle 5">
            <a:extLst>
              <a:ext uri="{FF2B5EF4-FFF2-40B4-BE49-F238E27FC236}">
                <a16:creationId xmlns="" xmlns:a16="http://schemas.microsoft.com/office/drawing/2014/main" id="{599BBEF2-CCD5-4752-B1D0-B781F942AD52}"/>
              </a:ext>
            </a:extLst>
          </p:cNvPr>
          <p:cNvSpPr/>
          <p:nvPr/>
        </p:nvSpPr>
        <p:spPr>
          <a:xfrm>
            <a:off x="416061" y="498257"/>
            <a:ext cx="11359883" cy="719093"/>
          </a:xfrm>
          <a:prstGeom prst="rect">
            <a:avLst/>
          </a:prstGeom>
          <a:ln>
            <a:noFill/>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5"/>
          </a:lnRef>
          <a:fillRef idx="2">
            <a:schemeClr val="accent5"/>
          </a:fillRef>
          <a:effectRef idx="1">
            <a:schemeClr val="accent5"/>
          </a:effectRef>
          <a:fontRef idx="minor">
            <a:schemeClr val="dk1"/>
          </a:fontRef>
        </p:style>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3600" b="0" i="0" u="none" strike="noStrike" kern="1200" cap="none" spc="0" baseline="0" dirty="0">
                <a:solidFill>
                  <a:srgbClr val="000000"/>
                </a:solidFill>
                <a:uFillTx/>
                <a:latin typeface="Times New Roman" pitchFamily="18"/>
                <a:cs typeface="Times New Roman" pitchFamily="18"/>
              </a:rPr>
              <a:t>Съдържание</a:t>
            </a:r>
            <a:endParaRPr lang="en-GB" sz="3600" b="0" i="0" u="none" strike="noStrike" kern="1200" cap="none" spc="0" baseline="0" dirty="0">
              <a:solidFill>
                <a:srgbClr val="000000"/>
              </a:solidFill>
              <a:uFillTx/>
              <a:latin typeface="Times New Roman" pitchFamily="18"/>
              <a:cs typeface="Times New Roman" pitchFamily="18"/>
            </a:endParaRPr>
          </a:p>
        </p:txBody>
      </p:sp>
      <p:cxnSp>
        <p:nvCxnSpPr>
          <p:cNvPr id="4" name="Straight Connector 3">
            <a:extLst>
              <a:ext uri="{FF2B5EF4-FFF2-40B4-BE49-F238E27FC236}">
                <a16:creationId xmlns="" xmlns:a16="http://schemas.microsoft.com/office/drawing/2014/main" id="{799FB715-8FF3-4DFB-A36E-6A1EAB6FF7FD}"/>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 xmlns:a16="http://schemas.microsoft.com/office/drawing/2014/main" id="{80938B0A-8F1D-4C1C-9A68-C0FB7DA8DC0F}"/>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en-US" dirty="0"/>
              <a:t>2</a:t>
            </a:r>
            <a:endParaRPr lang="en-GB" dirty="0"/>
          </a:p>
        </p:txBody>
      </p:sp>
      <p:cxnSp>
        <p:nvCxnSpPr>
          <p:cNvPr id="6" name="Straight Connector 5">
            <a:extLst>
              <a:ext uri="{FF2B5EF4-FFF2-40B4-BE49-F238E27FC236}">
                <a16:creationId xmlns="" xmlns:a16="http://schemas.microsoft.com/office/drawing/2014/main" id="{B8968BAA-60B5-4228-9028-AF1AEE6551D9}"/>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1257915E-A269-424C-8CAE-B9CF2E7C7C71}"/>
              </a:ext>
            </a:extLst>
          </p:cNvPr>
          <p:cNvSpPr txBox="1">
            <a:spLocks noGrp="1"/>
          </p:cNvSpPr>
          <p:nvPr>
            <p:ph type="body" sz="half" idx="2"/>
          </p:nvPr>
        </p:nvSpPr>
        <p:spPr>
          <a:xfrm>
            <a:off x="517880" y="1250302"/>
            <a:ext cx="7010680" cy="4159897"/>
          </a:xfrm>
        </p:spPr>
        <p:txBody>
          <a:bodyPr>
            <a:noAutofit/>
          </a:bodyPr>
          <a:lstStyle/>
          <a:p>
            <a:pPr lvl="0"/>
            <a:r>
              <a:rPr lang="ru-RU" sz="2400" dirty="0">
                <a:effectLst/>
              </a:rPr>
              <a:t>Изходните периферни устройства служат за извеждане на крайните резултати от обработката на данните във вид, удобен за употреба на потребителя. Има два вида изход: временен (softcopy) и дълготраен (hardcopy). Устройствата за временен изход са предназначени за извеждане на визуална или звукова информация, която ще се използва от хората само в момента на извеждането или в малък интервал от време след това. Това обикновено са мониторът и високоговорителят на компютъра. Устройствата за дълготраен изход извеждат информацията, напечатана на хартия. Това са принтерът и плотерът</a:t>
            </a:r>
            <a:r>
              <a:rPr lang="ru-RU" sz="2000" dirty="0">
                <a:effectLst/>
              </a:rPr>
              <a:t>. </a:t>
            </a:r>
            <a:endParaRPr lang="en-GB" sz="2000" u="sng" dirty="0">
              <a:latin typeface="Times New Roman" pitchFamily="18"/>
              <a:cs typeface="Times New Roman" pitchFamily="18"/>
            </a:endParaRPr>
          </a:p>
        </p:txBody>
      </p:sp>
      <p:sp>
        <p:nvSpPr>
          <p:cNvPr id="4" name="Rectangle 7">
            <a:extLst>
              <a:ext uri="{FF2B5EF4-FFF2-40B4-BE49-F238E27FC236}">
                <a16:creationId xmlns="" xmlns:a16="http://schemas.microsoft.com/office/drawing/2014/main" id="{11493CD1-411F-4C29-9E87-9E70A2ACCBC1}"/>
              </a:ext>
            </a:extLst>
          </p:cNvPr>
          <p:cNvSpPr/>
          <p:nvPr/>
        </p:nvSpPr>
        <p:spPr>
          <a:xfrm>
            <a:off x="489995" y="531210"/>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a:solidFill>
                  <a:srgbClr val="000000"/>
                </a:solidFill>
                <a:uFillTx/>
                <a:latin typeface="Times New Roman" pitchFamily="18"/>
                <a:cs typeface="Times New Roman" pitchFamily="18"/>
              </a:rPr>
              <a:t>Определение</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D9095669-2C93-42B5-B22E-ADD0F5D7442A}"/>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19D7570B-792A-4192-9252-160B3F71DE85}"/>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en-US" dirty="0"/>
              <a:t>3</a:t>
            </a:r>
            <a:endParaRPr lang="en-GB" dirty="0"/>
          </a:p>
        </p:txBody>
      </p:sp>
      <p:cxnSp>
        <p:nvCxnSpPr>
          <p:cNvPr id="7" name="Straight Connector 6">
            <a:extLst>
              <a:ext uri="{FF2B5EF4-FFF2-40B4-BE49-F238E27FC236}">
                <a16:creationId xmlns="" xmlns:a16="http://schemas.microsoft.com/office/drawing/2014/main" id="{5CA600EF-87AF-42BB-8FBD-D635E1633BBC}"/>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Back">
            <a:hlinkClick r:id="rId2" action="ppaction://hlinksldjump"/>
            <a:extLst>
              <a:ext uri="{FF2B5EF4-FFF2-40B4-BE49-F238E27FC236}">
                <a16:creationId xmlns="" xmlns:a16="http://schemas.microsoft.com/office/drawing/2014/main" id="{1D4DFADE-52E5-44BF-956E-A208EFF351C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1260256" y="306140"/>
            <a:ext cx="460786" cy="460786"/>
          </a:xfrm>
          <a:prstGeom prst="rect">
            <a:avLst/>
          </a:prstGeom>
        </p:spPr>
      </p:pic>
      <p:pic>
        <p:nvPicPr>
          <p:cNvPr id="9" name="Content Placeholder 8"/>
          <p:cNvPicPr>
            <a:picLocks noGrp="1" noChangeAspect="1"/>
          </p:cNvPicPr>
          <p:nvPr>
            <p:ph idx="1"/>
          </p:nvPr>
        </p:nvPicPr>
        <p:blipFill>
          <a:blip r:embed="rId6"/>
          <a:stretch>
            <a:fillRect/>
          </a:stretch>
        </p:blipFill>
        <p:spPr>
          <a:xfrm>
            <a:off x="7528560" y="1869494"/>
            <a:ext cx="4341707" cy="32520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5A1D94B5-CD9C-4DB0-B279-95867696AA55}"/>
              </a:ext>
            </a:extLst>
          </p:cNvPr>
          <p:cNvSpPr txBox="1">
            <a:spLocks noGrp="1"/>
          </p:cNvSpPr>
          <p:nvPr>
            <p:ph type="body" sz="half" idx="2"/>
          </p:nvPr>
        </p:nvSpPr>
        <p:spPr>
          <a:xfrm>
            <a:off x="534987" y="1707234"/>
            <a:ext cx="7283133" cy="4594192"/>
          </a:xfrm>
        </p:spPr>
        <p:txBody>
          <a:bodyPr>
            <a:noAutofit/>
          </a:bodyPr>
          <a:lstStyle/>
          <a:p>
            <a:pPr lvl="0"/>
            <a:r>
              <a:rPr lang="ru-RU" sz="2800" b="1" dirty="0">
                <a:effectLst/>
              </a:rPr>
              <a:t>Принтерите</a:t>
            </a:r>
            <a:r>
              <a:rPr lang="ru-RU" sz="2800" dirty="0">
                <a:effectLst/>
              </a:rPr>
              <a:t> (в миналото популярни като </a:t>
            </a:r>
            <a:r>
              <a:rPr lang="ru-RU" sz="2800" b="1" dirty="0">
                <a:effectLst/>
              </a:rPr>
              <a:t>печатащи устройства</a:t>
            </a:r>
            <a:r>
              <a:rPr lang="ru-RU" sz="2800" dirty="0">
                <a:effectLst/>
              </a:rPr>
              <a:t>) са компютърни </a:t>
            </a:r>
            <a:r>
              <a:rPr lang="ru-RU" sz="2800" dirty="0">
                <a:effectLst/>
                <a:hlinkClick r:id="rId2" tooltip="Периферно устройство"/>
              </a:rPr>
              <a:t>периферни устройства</a:t>
            </a:r>
            <a:r>
              <a:rPr lang="ru-RU" sz="2800" dirty="0">
                <a:effectLst/>
              </a:rPr>
              <a:t>, които служат за </a:t>
            </a:r>
            <a:r>
              <a:rPr lang="ru-RU" sz="2800" dirty="0">
                <a:effectLst/>
                <a:hlinkClick r:id="rId3" tooltip="Печат"/>
              </a:rPr>
              <a:t>печат</a:t>
            </a:r>
            <a:r>
              <a:rPr lang="ru-RU" sz="2800" dirty="0">
                <a:effectLst/>
              </a:rPr>
              <a:t> на хартия (понякога и на други материали) на </a:t>
            </a:r>
            <a:r>
              <a:rPr lang="ru-RU" sz="2800" dirty="0">
                <a:effectLst/>
                <a:hlinkClick r:id="rId4" tooltip="Документ"/>
              </a:rPr>
              <a:t>документи</a:t>
            </a:r>
            <a:r>
              <a:rPr lang="ru-RU" sz="2800" dirty="0">
                <a:effectLst/>
              </a:rPr>
              <a:t>, които могат да включват текст и изображения. Повечето принтери се използват като </a:t>
            </a:r>
            <a:r>
              <a:rPr lang="ru-RU" sz="2800" dirty="0">
                <a:effectLst/>
                <a:hlinkClick r:id="rId2" tooltip="Периферно устройство"/>
              </a:rPr>
              <a:t>периферни устройства</a:t>
            </a:r>
            <a:r>
              <a:rPr lang="ru-RU" sz="2800" dirty="0">
                <a:effectLst/>
              </a:rPr>
              <a:t>, прикачени с кабел само към един </a:t>
            </a:r>
            <a:r>
              <a:rPr lang="ru-RU" sz="2800" dirty="0">
                <a:effectLst/>
                <a:hlinkClick r:id="rId5" tooltip="Персонален компютър"/>
              </a:rPr>
              <a:t>персонален компютър</a:t>
            </a:r>
            <a:r>
              <a:rPr lang="ru-RU" sz="2800" dirty="0">
                <a:effectLst/>
              </a:rPr>
              <a:t>. </a:t>
            </a:r>
            <a:endParaRPr lang="en-GB" sz="2800" dirty="0">
              <a:latin typeface="Times New Roman" pitchFamily="18"/>
              <a:cs typeface="Times New Roman" pitchFamily="18"/>
            </a:endParaRPr>
          </a:p>
        </p:txBody>
      </p:sp>
      <p:sp>
        <p:nvSpPr>
          <p:cNvPr id="4" name="Rectangle 5">
            <a:extLst>
              <a:ext uri="{FF2B5EF4-FFF2-40B4-BE49-F238E27FC236}">
                <a16:creationId xmlns="" xmlns:a16="http://schemas.microsoft.com/office/drawing/2014/main" id="{CA5888BE-8E10-40CD-8F98-C63A6AD295F1}"/>
              </a:ext>
            </a:extLst>
          </p:cNvPr>
          <p:cNvSpPr/>
          <p:nvPr/>
        </p:nvSpPr>
        <p:spPr>
          <a:xfrm>
            <a:off x="416062" y="576885"/>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smtClean="0">
                <a:solidFill>
                  <a:srgbClr val="000000"/>
                </a:solidFill>
                <a:latin typeface="Times New Roman" pitchFamily="18"/>
                <a:cs typeface="Times New Roman" pitchFamily="18"/>
              </a:rPr>
              <a:t>Принтери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8DD2DCD2-E2D7-49AA-A348-73D588C58628}"/>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C7A5EA2E-DE7B-4831-93C7-E9E6E804B2FD}"/>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en-US" dirty="0"/>
              <a:t>4</a:t>
            </a:r>
            <a:endParaRPr lang="en-GB" dirty="0"/>
          </a:p>
        </p:txBody>
      </p:sp>
      <p:cxnSp>
        <p:nvCxnSpPr>
          <p:cNvPr id="7" name="Straight Connector 6">
            <a:extLst>
              <a:ext uri="{FF2B5EF4-FFF2-40B4-BE49-F238E27FC236}">
                <a16:creationId xmlns="" xmlns:a16="http://schemas.microsoft.com/office/drawing/2014/main" id="{BF7DBE75-737E-4CFB-9BBD-AF1967BCFBDB}"/>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Content Placeholder 2"/>
          <p:cNvPicPr>
            <a:picLocks noGrp="1" noChangeAspect="1"/>
          </p:cNvPicPr>
          <p:nvPr>
            <p:ph idx="1"/>
          </p:nvPr>
        </p:nvPicPr>
        <p:blipFill>
          <a:blip r:embed="rId6"/>
          <a:stretch>
            <a:fillRect/>
          </a:stretch>
        </p:blipFill>
        <p:spPr>
          <a:xfrm>
            <a:off x="7917800" y="2087880"/>
            <a:ext cx="3858145" cy="31241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D6FF4AF3-E59F-47F9-96C2-5E2041FA3FAC}"/>
              </a:ext>
            </a:extLst>
          </p:cNvPr>
          <p:cNvSpPr>
            <a:spLocks noGrp="1"/>
          </p:cNvSpPr>
          <p:nvPr>
            <p:ph type="body" sz="half" idx="2"/>
          </p:nvPr>
        </p:nvSpPr>
        <p:spPr>
          <a:xfrm>
            <a:off x="517880" y="1722975"/>
            <a:ext cx="6807699" cy="4268755"/>
          </a:xfrm>
        </p:spPr>
        <p:txBody>
          <a:bodyPr>
            <a:noAutofit/>
          </a:bodyPr>
          <a:lstStyle/>
          <a:p>
            <a:pPr lvl="0"/>
            <a:r>
              <a:rPr lang="ru-RU" sz="2800" dirty="0">
                <a:ln>
                  <a:noFill/>
                </a:ln>
                <a:solidFill>
                  <a:schemeClr val="tx1"/>
                </a:solidFill>
                <a:effectLst/>
                <a:latin typeface="Times New Roman" panose="02020603050405020304" pitchFamily="18" charset="0"/>
                <a:cs typeface="Times New Roman" panose="02020603050405020304" pitchFamily="18" charset="0"/>
              </a:rPr>
              <a:t>Едно от най-ранните принтиращи устройства било специална добавка към пишещите машини - то се свързвало към компютъра и се поставяло върху клавиатурата на пишещата машина - специална програма го направлявала кои клавиши да натиска и то го правело. От тези времена до днешните дни тази технология се е развила и се е формирал принтерът като </a:t>
            </a:r>
            <a:r>
              <a:rPr lang="ru-RU" sz="2800" dirty="0" smtClean="0">
                <a:ln>
                  <a:noFill/>
                </a:ln>
                <a:solidFill>
                  <a:schemeClr val="tx1"/>
                </a:solidFill>
                <a:effectLst/>
              </a:rPr>
              <a:t> </a:t>
            </a:r>
            <a:r>
              <a:rPr lang="ru-RU" sz="2800" dirty="0">
                <a:ln>
                  <a:noFill/>
                </a:ln>
                <a:solidFill>
                  <a:schemeClr val="tx1"/>
                </a:solidFill>
                <a:effectLst/>
                <a:latin typeface="Times New Roman" panose="02020603050405020304" pitchFamily="18" charset="0"/>
                <a:cs typeface="Times New Roman" panose="02020603050405020304" pitchFamily="18" charset="0"/>
              </a:rPr>
              <a:t>периферно устройство.</a:t>
            </a:r>
            <a:r>
              <a:rPr lang="ru-RU" sz="2800" dirty="0">
                <a:ln>
                  <a:noFill/>
                </a:ln>
                <a:solidFill>
                  <a:schemeClr val="tx1"/>
                </a:solidFill>
                <a:effectLst/>
              </a:rPr>
              <a:t> </a:t>
            </a:r>
            <a:endParaRPr lang="ru-RU" sz="2800" dirty="0">
              <a:ln>
                <a:noFill/>
              </a:ln>
              <a:solidFill>
                <a:schemeClr val="tx1"/>
              </a:solidFill>
              <a:effectLst/>
              <a:latin typeface="Arial" panose="020B0604020202020204" pitchFamily="34" charset="0"/>
            </a:endParaRPr>
          </a:p>
          <a:p>
            <a:endParaRPr lang="en-GB" sz="2800" dirty="0">
              <a:solidFill>
                <a:schemeClr val="tx1"/>
              </a:solidFill>
              <a:latin typeface="Times New Roman" panose="02020603050405020304" pitchFamily="18" charset="0"/>
              <a:cs typeface="Times New Roman" panose="02020603050405020304" pitchFamily="18" charset="0"/>
            </a:endParaRPr>
          </a:p>
        </p:txBody>
      </p:sp>
      <p:sp>
        <p:nvSpPr>
          <p:cNvPr id="7" name="Rectangle 5">
            <a:extLst>
              <a:ext uri="{FF2B5EF4-FFF2-40B4-BE49-F238E27FC236}">
                <a16:creationId xmlns="" xmlns:a16="http://schemas.microsoft.com/office/drawing/2014/main" id="{896ACC9E-462C-40A7-A1EB-E637520CB278}"/>
              </a:ext>
            </a:extLst>
          </p:cNvPr>
          <p:cNvSpPr/>
          <p:nvPr/>
        </p:nvSpPr>
        <p:spPr>
          <a:xfrm>
            <a:off x="416061" y="482846"/>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a:solidFill>
                  <a:srgbClr val="000000"/>
                </a:solidFill>
                <a:uFillTx/>
                <a:latin typeface="Times New Roman" pitchFamily="18"/>
                <a:cs typeface="Times New Roman" pitchFamily="18"/>
              </a:rPr>
              <a:t>История</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8" name="Straight Connector 7">
            <a:extLst>
              <a:ext uri="{FF2B5EF4-FFF2-40B4-BE49-F238E27FC236}">
                <a16:creationId xmlns="" xmlns:a16="http://schemas.microsoft.com/office/drawing/2014/main" id="{ECB4D0D6-AF1F-4511-B126-BE5AEA940228}"/>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6CD710C2-3959-4D13-B3A7-68B1D04B4158}"/>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5</a:t>
            </a:r>
            <a:endParaRPr lang="en-GB" dirty="0"/>
          </a:p>
        </p:txBody>
      </p:sp>
      <p:cxnSp>
        <p:nvCxnSpPr>
          <p:cNvPr id="10" name="Straight Connector 9">
            <a:extLst>
              <a:ext uri="{FF2B5EF4-FFF2-40B4-BE49-F238E27FC236}">
                <a16:creationId xmlns="" xmlns:a16="http://schemas.microsoft.com/office/drawing/2014/main" id="{FFE936FD-AD16-4B36-82A6-25339B40FBD5}"/>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Content Placeholder 5"/>
          <p:cNvPicPr>
            <a:picLocks noGrp="1" noChangeAspect="1"/>
          </p:cNvPicPr>
          <p:nvPr>
            <p:ph idx="1"/>
          </p:nvPr>
        </p:nvPicPr>
        <p:blipFill>
          <a:blip r:embed="rId2"/>
          <a:stretch>
            <a:fillRect/>
          </a:stretch>
        </p:blipFill>
        <p:spPr>
          <a:xfrm>
            <a:off x="8061960" y="1939155"/>
            <a:ext cx="3713984" cy="3695225"/>
          </a:xfrm>
          <a:prstGeom prst="rect">
            <a:avLst/>
          </a:prstGeom>
        </p:spPr>
      </p:pic>
      <p:pic>
        <p:nvPicPr>
          <p:cNvPr id="5" name="Picture 2" descr="http://www.iit.net-bg.info/Uroc/UrokPrinter1_files/image02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06338" y="-465138"/>
            <a:ext cx="1209675" cy="1200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02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25">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467888A8-74D1-45CC-944E-416779A992BF}"/>
              </a:ext>
            </a:extLst>
          </p:cNvPr>
          <p:cNvSpPr txBox="1">
            <a:spLocks noGrp="1"/>
          </p:cNvSpPr>
          <p:nvPr>
            <p:ph type="body" sz="half" idx="2"/>
          </p:nvPr>
        </p:nvSpPr>
        <p:spPr>
          <a:xfrm>
            <a:off x="501301" y="1829978"/>
            <a:ext cx="11274643" cy="4725143"/>
          </a:xfrm>
        </p:spPr>
        <p:txBody>
          <a:bodyPr>
            <a:normAutofit fontScale="85000" lnSpcReduction="10000"/>
          </a:bodyPr>
          <a:lstStyle/>
          <a:p>
            <a:r>
              <a:rPr lang="ru-RU" sz="2800" b="1" dirty="0">
                <a:effectLst/>
              </a:rPr>
              <a:t>Ударни принтери</a:t>
            </a:r>
          </a:p>
          <a:p>
            <a:r>
              <a:rPr lang="ru-RU" sz="2800" dirty="0">
                <a:effectLst/>
              </a:rPr>
              <a:t>Ударни принтери осъществяват контакт с хартията. Те обикновено формират изображения на хартията, притискайки напоена лента с мастило върху листа чрез чукче или игли. Следват няколко примера за принтери от този вид. </a:t>
            </a:r>
          </a:p>
          <a:p>
            <a:r>
              <a:rPr lang="ru-RU" sz="2800" b="1" dirty="0">
                <a:effectLst/>
              </a:rPr>
              <a:t>Линейни принтери</a:t>
            </a:r>
            <a:endParaRPr lang="ru-RU" sz="2800" dirty="0">
              <a:effectLst/>
            </a:endParaRPr>
          </a:p>
          <a:p>
            <a:r>
              <a:rPr lang="ru-RU" sz="2800" dirty="0">
                <a:effectLst/>
              </a:rPr>
              <a:t>В големи компании, където се отпечатват огромен брой материали, принтерите, които отпечатват даден брой символи за определено време, са твърде бавни. Вместо това, за тези организации са необходими принтери, които отпечатват цели редове за същото време. Такива принтери отпечатват от 1,200 до 6,000 рели или линии в минута. Принтерите, които ще споменем сега, като барабанния, верижния и лентовия, са всъщност линейни принтери. </a:t>
            </a:r>
          </a:p>
          <a:p>
            <a:pPr lvl="0"/>
            <a:endParaRPr lang="en-GB" sz="2800" dirty="0"/>
          </a:p>
        </p:txBody>
      </p:sp>
      <p:sp>
        <p:nvSpPr>
          <p:cNvPr id="3" name="Rectangle 4">
            <a:extLst>
              <a:ext uri="{FF2B5EF4-FFF2-40B4-BE49-F238E27FC236}">
                <a16:creationId xmlns="" xmlns:a16="http://schemas.microsoft.com/office/drawing/2014/main" id="{59A0BA20-A5E4-44A3-B389-8444FBC6C939}"/>
              </a:ext>
            </a:extLst>
          </p:cNvPr>
          <p:cNvSpPr/>
          <p:nvPr/>
        </p:nvSpPr>
        <p:spPr>
          <a:xfrm>
            <a:off x="416061" y="65154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smtClean="0">
                <a:solidFill>
                  <a:srgbClr val="000000"/>
                </a:solidFill>
                <a:latin typeface="Times New Roman" pitchFamily="18"/>
                <a:cs typeface="Times New Roman" pitchFamily="18"/>
              </a:rPr>
              <a:t>Видове принтери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4" name="Straight Connector 3">
            <a:extLst>
              <a:ext uri="{FF2B5EF4-FFF2-40B4-BE49-F238E27FC236}">
                <a16:creationId xmlns="" xmlns:a16="http://schemas.microsoft.com/office/drawing/2014/main" id="{3DAF634E-4F5C-4E4E-A902-42D2A835DBAE}"/>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 xmlns:a16="http://schemas.microsoft.com/office/drawing/2014/main" id="{094CE5FC-E043-4808-B8C8-C239B43BC365}"/>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6</a:t>
            </a:r>
            <a:endParaRPr lang="en-GB" dirty="0"/>
          </a:p>
        </p:txBody>
      </p:sp>
      <p:cxnSp>
        <p:nvCxnSpPr>
          <p:cNvPr id="6" name="Straight Connector 5">
            <a:extLst>
              <a:ext uri="{FF2B5EF4-FFF2-40B4-BE49-F238E27FC236}">
                <a16:creationId xmlns="" xmlns:a16="http://schemas.microsoft.com/office/drawing/2014/main" id="{B98253A3-A910-49FA-9681-EF70C35ED400}"/>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12">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1CB7D87C-1A8E-47F6-B5C0-A781208A0450}"/>
              </a:ext>
            </a:extLst>
          </p:cNvPr>
          <p:cNvSpPr txBox="1">
            <a:spLocks noGrp="1"/>
          </p:cNvSpPr>
          <p:nvPr>
            <p:ph type="body" sz="half" idx="2"/>
          </p:nvPr>
        </p:nvSpPr>
        <p:spPr>
          <a:xfrm>
            <a:off x="416060" y="1218600"/>
            <a:ext cx="11359883" cy="4800600"/>
          </a:xfrm>
        </p:spPr>
        <p:txBody>
          <a:bodyPr>
            <a:noAutofit/>
          </a:bodyPr>
          <a:lstStyle/>
          <a:p>
            <a:r>
              <a:rPr lang="ru-RU" sz="2400" b="1" dirty="0">
                <a:effectLst/>
              </a:rPr>
              <a:t>Лентови принтери</a:t>
            </a:r>
            <a:endParaRPr lang="ru-RU" sz="2400" dirty="0">
              <a:effectLst/>
            </a:endParaRPr>
          </a:p>
          <a:p>
            <a:r>
              <a:rPr lang="ru-RU" sz="2400" dirty="0">
                <a:effectLst/>
              </a:rPr>
              <a:t>Лентовите принтери работят по подобен начин, както функционират и верижните принтери, но те използват лента вместо верига и имат по-малко на брой чукчета. Лентовите принтери разполагат със стоманена лента, разделена на 5 отделни секции с по 48 символа всяка. Чукчетата на лентовите принтери са прикачени върху касета, която се движи на желаните места по хартията.</a:t>
            </a:r>
          </a:p>
          <a:p>
            <a:r>
              <a:rPr lang="ru-RU" sz="2400" b="1" dirty="0">
                <a:effectLst/>
              </a:rPr>
              <a:t>Верижни принтери</a:t>
            </a:r>
            <a:endParaRPr lang="ru-RU" sz="2400" dirty="0">
              <a:effectLst/>
            </a:endParaRPr>
          </a:p>
          <a:p>
            <a:r>
              <a:rPr lang="ru-RU" sz="2400" dirty="0">
                <a:effectLst/>
              </a:rPr>
              <a:t>Верижните принтери използват верига от символи, навити около 2 ролки или макари. Също както барабанния принтер, тук има чукче за всяка една възможна позиция на печат. Електрическа схема вътре в принтера разбира кога точно определен символ се появява на точно определена позиция на хартията. Тогава чукчето чуква върху определеното място на хартията, притиска я върху мастилената лента и символа на желаната позиция.</a:t>
            </a:r>
          </a:p>
          <a:p>
            <a:pPr lvl="0"/>
            <a:endParaRPr lang="en-GB" sz="2400" dirty="0">
              <a:latin typeface="Times New Roman" pitchFamily="18"/>
              <a:cs typeface="Times New Roman" pitchFamily="18"/>
            </a:endParaRPr>
          </a:p>
        </p:txBody>
      </p:sp>
      <p:sp>
        <p:nvSpPr>
          <p:cNvPr id="3" name="Rectangle 4">
            <a:extLst>
              <a:ext uri="{FF2B5EF4-FFF2-40B4-BE49-F238E27FC236}">
                <a16:creationId xmlns="" xmlns:a16="http://schemas.microsoft.com/office/drawing/2014/main" id="{84D50514-39A3-49BD-9565-4275BC2FE1D2}"/>
              </a:ext>
            </a:extLst>
          </p:cNvPr>
          <p:cNvSpPr/>
          <p:nvPr/>
        </p:nvSpPr>
        <p:spPr>
          <a:xfrm>
            <a:off x="416060" y="323879"/>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Видове</a:t>
            </a:r>
            <a:r>
              <a:rPr lang="bg-BG" sz="2800" b="0" i="0" u="none" strike="noStrike" kern="1200" cap="none" spc="0" dirty="0" smtClean="0">
                <a:solidFill>
                  <a:srgbClr val="000000"/>
                </a:solidFill>
                <a:uFillTx/>
                <a:latin typeface="Times New Roman" pitchFamily="18"/>
                <a:cs typeface="Times New Roman" pitchFamily="18"/>
              </a:rPr>
              <a:t> принтери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42ABF15A-DBFD-4005-B18B-15B702BDFCB9}"/>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6D4DA969-6FA8-4CFD-BFBC-B5807260E948}"/>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7</a:t>
            </a:r>
            <a:endParaRPr lang="en-GB" dirty="0"/>
          </a:p>
        </p:txBody>
      </p:sp>
      <p:cxnSp>
        <p:nvCxnSpPr>
          <p:cNvPr id="7" name="Straight Connector 6">
            <a:extLst>
              <a:ext uri="{FF2B5EF4-FFF2-40B4-BE49-F238E27FC236}">
                <a16:creationId xmlns="" xmlns:a16="http://schemas.microsoft.com/office/drawing/2014/main" id="{FC5A55ED-5FC9-4DA1-9E5C-D4B03B757F14}"/>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Graphic 10" descr="Back">
            <a:hlinkClick r:id="rId2" action="ppaction://hlinksldjump"/>
            <a:extLst>
              <a:ext uri="{FF2B5EF4-FFF2-40B4-BE49-F238E27FC236}">
                <a16:creationId xmlns="" xmlns:a16="http://schemas.microsoft.com/office/drawing/2014/main" id="{1037A1AD-8DD8-46C1-83D4-9BF02266574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1260256" y="306140"/>
            <a:ext cx="460786" cy="4607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D0088D4D-4927-4A42-8C20-89788C494DFD}"/>
              </a:ext>
            </a:extLst>
          </p:cNvPr>
          <p:cNvSpPr txBox="1">
            <a:spLocks noGrp="1"/>
          </p:cNvSpPr>
          <p:nvPr>
            <p:ph type="body" sz="half" idx="2"/>
          </p:nvPr>
        </p:nvSpPr>
        <p:spPr>
          <a:xfrm>
            <a:off x="771350" y="1900999"/>
            <a:ext cx="6795006" cy="4654122"/>
          </a:xfrm>
        </p:spPr>
        <p:txBody>
          <a:bodyPr/>
          <a:lstStyle/>
          <a:p>
            <a:r>
              <a:rPr lang="ru-RU" sz="2400" b="1" dirty="0">
                <a:solidFill>
                  <a:schemeClr val="tx1"/>
                </a:solidFill>
                <a:effectLst/>
              </a:rPr>
              <a:t>Плотерът</a:t>
            </a:r>
            <a:r>
              <a:rPr lang="ru-RU" sz="2400" dirty="0">
                <a:solidFill>
                  <a:schemeClr val="tx1"/>
                </a:solidFill>
                <a:effectLst/>
              </a:rPr>
              <a:t> е изходно </a:t>
            </a:r>
            <a:r>
              <a:rPr lang="ru-RU" sz="2400" dirty="0">
                <a:solidFill>
                  <a:schemeClr val="tx1"/>
                </a:solidFill>
                <a:effectLst/>
                <a:hlinkClick r:id="rId2" tooltip="Периферно устройство"/>
              </a:rPr>
              <a:t>периферно устройство</a:t>
            </a:r>
            <a:r>
              <a:rPr lang="ru-RU" sz="2400" dirty="0">
                <a:solidFill>
                  <a:schemeClr val="tx1"/>
                </a:solidFill>
                <a:effectLst/>
              </a:rPr>
              <a:t>, което дава възможност за извеждане на графична информация върху </a:t>
            </a:r>
            <a:r>
              <a:rPr lang="ru-RU" sz="2400" dirty="0">
                <a:solidFill>
                  <a:schemeClr val="tx1"/>
                </a:solidFill>
                <a:effectLst/>
                <a:hlinkClick r:id="rId3" tooltip="Хартия"/>
              </a:rPr>
              <a:t>хартия</a:t>
            </a:r>
            <a:r>
              <a:rPr lang="ru-RU" sz="2400" dirty="0">
                <a:solidFill>
                  <a:schemeClr val="tx1"/>
                </a:solidFill>
                <a:effectLst/>
              </a:rPr>
              <a:t>.</a:t>
            </a:r>
          </a:p>
          <a:p>
            <a:r>
              <a:rPr lang="ru-RU" sz="2400" dirty="0">
                <a:solidFill>
                  <a:schemeClr val="tx1"/>
                </a:solidFill>
                <a:effectLst/>
              </a:rPr>
              <a:t>Писалковият плотер чертае върху хартия, като използва писец. Това означава, че този плотер е предназначен предимно за изчертаване на </a:t>
            </a:r>
            <a:r>
              <a:rPr lang="ru-RU" sz="2400" dirty="0">
                <a:solidFill>
                  <a:schemeClr val="tx1"/>
                </a:solidFill>
                <a:effectLst/>
                <a:hlinkClick r:id="rId4" tooltip="Векторна графика"/>
              </a:rPr>
              <a:t>векторна графика</a:t>
            </a:r>
            <a:r>
              <a:rPr lang="ru-RU" sz="2400" dirty="0">
                <a:solidFill>
                  <a:schemeClr val="tx1"/>
                </a:solidFill>
                <a:effectLst/>
              </a:rPr>
              <a:t>. Основното предимство е възможността да се печата на много голям формат хартия, което го прави привлекателен за разпечатване на технически </a:t>
            </a:r>
            <a:r>
              <a:rPr lang="ru-RU" sz="2400" dirty="0" smtClean="0">
                <a:solidFill>
                  <a:schemeClr val="tx1"/>
                </a:solidFill>
                <a:effectLst/>
              </a:rPr>
              <a:t>чертежи.</a:t>
            </a:r>
            <a:endParaRPr lang="ru-RU" sz="2400" dirty="0">
              <a:solidFill>
                <a:schemeClr val="tx1"/>
              </a:solidFill>
              <a:effectLst/>
            </a:endParaRPr>
          </a:p>
          <a:p>
            <a:pPr lvl="0"/>
            <a:endParaRPr lang="en-GB" sz="2400" u="sng" dirty="0">
              <a:latin typeface="Times New Roman" pitchFamily="18"/>
              <a:cs typeface="Times New Roman" pitchFamily="18"/>
            </a:endParaRPr>
          </a:p>
        </p:txBody>
      </p:sp>
      <p:sp>
        <p:nvSpPr>
          <p:cNvPr id="3" name="Rectangle 4">
            <a:extLst>
              <a:ext uri="{FF2B5EF4-FFF2-40B4-BE49-F238E27FC236}">
                <a16:creationId xmlns="" xmlns:a16="http://schemas.microsoft.com/office/drawing/2014/main" id="{442958B0-E7E2-4DBF-9EE0-8F6D723BA53B}"/>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softEdge rad="635000"/>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a:solidFill>
                  <a:srgbClr val="000000"/>
                </a:solidFill>
                <a:latin typeface="Times New Roman" pitchFamily="18"/>
                <a:cs typeface="Times New Roman" pitchFamily="18"/>
              </a:rPr>
              <a:t>П</a:t>
            </a:r>
            <a:r>
              <a:rPr lang="bg-BG" sz="2800" dirty="0" smtClean="0">
                <a:solidFill>
                  <a:srgbClr val="000000"/>
                </a:solidFill>
                <a:latin typeface="Times New Roman" pitchFamily="18"/>
                <a:cs typeface="Times New Roman" pitchFamily="18"/>
              </a:rPr>
              <a:t>лотери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F77D7321-6941-4420-97F8-7B8AEF5257A8}"/>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A5622673-2C80-44B3-A521-69D7881E0CF6}"/>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10</a:t>
            </a:r>
            <a:endParaRPr lang="en-GB" dirty="0"/>
          </a:p>
        </p:txBody>
      </p:sp>
      <p:cxnSp>
        <p:nvCxnSpPr>
          <p:cNvPr id="7" name="Straight Connector 6">
            <a:extLst>
              <a:ext uri="{FF2B5EF4-FFF2-40B4-BE49-F238E27FC236}">
                <a16:creationId xmlns="" xmlns:a16="http://schemas.microsoft.com/office/drawing/2014/main" id="{99B3B9D7-9CA9-4553-9F03-91930BC481BF}"/>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Graphic 10" descr="Back">
            <a:hlinkClick r:id="rId5" action="ppaction://hlinksldjump"/>
            <a:extLst>
              <a:ext uri="{FF2B5EF4-FFF2-40B4-BE49-F238E27FC236}">
                <a16:creationId xmlns="" xmlns:a16="http://schemas.microsoft.com/office/drawing/2014/main" id="{0E7B172E-C54A-464A-BD46-A07116B0B33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11260256" y="306140"/>
            <a:ext cx="460786" cy="460786"/>
          </a:xfrm>
          <a:prstGeom prst="rect">
            <a:avLst/>
          </a:prstGeom>
        </p:spPr>
      </p:pic>
      <p:pic>
        <p:nvPicPr>
          <p:cNvPr id="8" name="Picture 7"/>
          <p:cNvPicPr>
            <a:picLocks noChangeAspect="1"/>
          </p:cNvPicPr>
          <p:nvPr/>
        </p:nvPicPr>
        <p:blipFill>
          <a:blip r:embed="rId8"/>
          <a:stretch>
            <a:fillRect/>
          </a:stretch>
        </p:blipFill>
        <p:spPr>
          <a:xfrm>
            <a:off x="7566356" y="2225566"/>
            <a:ext cx="4209588" cy="31531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3ED2C7D5-FC9F-4DFD-9ACD-A9D720029739}"/>
              </a:ext>
            </a:extLst>
          </p:cNvPr>
          <p:cNvSpPr>
            <a:spLocks noGrp="1"/>
          </p:cNvSpPr>
          <p:nvPr>
            <p:ph type="body" sz="half" idx="2"/>
          </p:nvPr>
        </p:nvSpPr>
        <p:spPr>
          <a:xfrm>
            <a:off x="548189" y="1719144"/>
            <a:ext cx="6680833" cy="4651311"/>
          </a:xfrm>
        </p:spPr>
        <p:txBody>
          <a:bodyPr>
            <a:normAutofit fontScale="92500" lnSpcReduction="10000"/>
          </a:bodyPr>
          <a:lstStyle/>
          <a:p>
            <a:pPr fontAlgn="t"/>
            <a:r>
              <a:rPr lang="ru-RU" sz="2600" b="1" cap="all" dirty="0">
                <a:effectLst/>
              </a:rPr>
              <a:t>ПИСАЛКА ПЛОТЕРИ</a:t>
            </a:r>
          </a:p>
          <a:p>
            <a:pPr fontAlgn="t"/>
            <a:r>
              <a:rPr lang="ru-RU" sz="2600" dirty="0">
                <a:effectLst/>
              </a:rPr>
              <a:t>Перо устройства, наречени електромеханично оборудване тип вектор. Една снимка или изображение върху хартия или друг носител на такива устройства да се прилага например стилус или писалка, която може да се движи в две посоки</a:t>
            </a:r>
            <a:r>
              <a:rPr lang="ru-RU" sz="2600" dirty="0" smtClean="0">
                <a:effectLst/>
              </a:rPr>
              <a:t>. </a:t>
            </a:r>
            <a:r>
              <a:rPr lang="ru-RU" sz="2600" dirty="0">
                <a:effectLst/>
              </a:rPr>
              <a:t>Има модели, които могат да се движат по течни мастила и специален молив, моливите (молив, писалка плотери). По време на движението на елемента на писане съответства на електрически двигател, в тази връзка, когато оборудването произвежда много шум.</a:t>
            </a:r>
          </a:p>
          <a:p>
            <a:endParaRPr lang="en-GB" sz="2400" dirty="0">
              <a:latin typeface="Times New Roman" panose="02020603050405020304" pitchFamily="18" charset="0"/>
              <a:cs typeface="Times New Roman" panose="02020603050405020304" pitchFamily="18" charset="0"/>
            </a:endParaRPr>
          </a:p>
        </p:txBody>
      </p:sp>
      <p:sp>
        <p:nvSpPr>
          <p:cNvPr id="5" name="Rectangle 5">
            <a:extLst>
              <a:ext uri="{FF2B5EF4-FFF2-40B4-BE49-F238E27FC236}">
                <a16:creationId xmlns="" xmlns:a16="http://schemas.microsoft.com/office/drawing/2014/main" id="{80661295-C4E0-41B9-970C-6CC2F45CBAD8}"/>
              </a:ext>
            </a:extLst>
          </p:cNvPr>
          <p:cNvSpPr/>
          <p:nvPr/>
        </p:nvSpPr>
        <p:spPr>
          <a:xfrm>
            <a:off x="416061" y="776801"/>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smtClean="0">
                <a:solidFill>
                  <a:srgbClr val="000000"/>
                </a:solidFill>
                <a:latin typeface="Times New Roman" pitchFamily="18"/>
                <a:cs typeface="Times New Roman" pitchFamily="18"/>
              </a:rPr>
              <a:t>Видове плотери </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7" name="Straight Connector 6">
            <a:extLst>
              <a:ext uri="{FF2B5EF4-FFF2-40B4-BE49-F238E27FC236}">
                <a16:creationId xmlns="" xmlns:a16="http://schemas.microsoft.com/office/drawing/2014/main" id="{2CF7CEEA-7C5A-493E-A446-50F8DB2A461B}"/>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 xmlns:a16="http://schemas.microsoft.com/office/drawing/2014/main" id="{F174C2D1-5660-4A54-BD98-D3B5D389921D}"/>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11</a:t>
            </a:r>
            <a:endParaRPr lang="en-GB" dirty="0"/>
          </a:p>
        </p:txBody>
      </p:sp>
      <p:cxnSp>
        <p:nvCxnSpPr>
          <p:cNvPr id="9" name="Straight Connector 8">
            <a:extLst>
              <a:ext uri="{FF2B5EF4-FFF2-40B4-BE49-F238E27FC236}">
                <a16:creationId xmlns="" xmlns:a16="http://schemas.microsoft.com/office/drawing/2014/main" id="{54C0C404-ABDD-4416-9DB9-300CE466D6BF}"/>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Content Placeholder 2"/>
          <p:cNvPicPr>
            <a:picLocks noGrp="1" noChangeAspect="1"/>
          </p:cNvPicPr>
          <p:nvPr>
            <p:ph idx="1"/>
          </p:nvPr>
        </p:nvPicPr>
        <p:blipFill>
          <a:blip r:embed="rId2"/>
          <a:stretch>
            <a:fillRect/>
          </a:stretch>
        </p:blipFill>
        <p:spPr>
          <a:xfrm>
            <a:off x="7449704" y="2331720"/>
            <a:ext cx="4326240" cy="3139439"/>
          </a:xfrm>
          <a:prstGeom prst="rect">
            <a:avLst/>
          </a:prstGeom>
        </p:spPr>
      </p:pic>
    </p:spTree>
    <p:extLst>
      <p:ext uri="{BB962C8B-B14F-4D97-AF65-F5344CB8AC3E}">
        <p14:creationId xmlns:p14="http://schemas.microsoft.com/office/powerpoint/2010/main" val="2404537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26">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EB81DED3-CF4C-4729-A593-E99D6A6D0E4E}"/>
              </a:ext>
            </a:extLst>
          </p:cNvPr>
          <p:cNvSpPr txBox="1">
            <a:spLocks noGrp="1"/>
          </p:cNvSpPr>
          <p:nvPr>
            <p:ph type="body" sz="half" idx="2"/>
          </p:nvPr>
        </p:nvSpPr>
        <p:spPr>
          <a:xfrm>
            <a:off x="0" y="1146034"/>
            <a:ext cx="8390660" cy="4853549"/>
          </a:xfrm>
        </p:spPr>
        <p:txBody>
          <a:bodyPr>
            <a:noAutofit/>
          </a:bodyPr>
          <a:lstStyle/>
          <a:p>
            <a:pPr fontAlgn="t"/>
            <a:r>
              <a:rPr lang="ru-RU" sz="2800" b="1" cap="all" dirty="0">
                <a:effectLst/>
              </a:rPr>
              <a:t>МАСТИЛЕНО-СТРУЙНИ ПЛОТЕРИ</a:t>
            </a:r>
          </a:p>
          <a:p>
            <a:pPr fontAlgn="t"/>
            <a:r>
              <a:rPr lang="ru-RU" sz="2800" dirty="0">
                <a:effectLst/>
              </a:rPr>
              <a:t>технология Inkjet използван в плотери, малко подобен на използвания в технологията на принтера. Печат се извършва чрез прилагане на големи количества боя точки. Така нареченият "балон" Техниката, която сега се използва в мастилено-струйни плотери, е разработена и патентована от Canon, но сега също се използва от други производители. Печатащата глава се състои от голям брой дюзи, през които е подадено мастило за отпечатване на изображение.</a:t>
            </a:r>
            <a:endParaRPr lang="ru-RU" sz="2800" dirty="0">
              <a:solidFill>
                <a:srgbClr val="6F6F6F"/>
              </a:solidFill>
              <a:latin typeface="Tahoma" pitchFamily="34"/>
            </a:endParaRPr>
          </a:p>
        </p:txBody>
      </p:sp>
      <p:sp>
        <p:nvSpPr>
          <p:cNvPr id="3" name="Rectangle 4">
            <a:extLst>
              <a:ext uri="{FF2B5EF4-FFF2-40B4-BE49-F238E27FC236}">
                <a16:creationId xmlns="" xmlns:a16="http://schemas.microsoft.com/office/drawing/2014/main" id="{5A4F5E02-7DAF-478F-8B90-9CE9B3BF424F}"/>
              </a:ext>
            </a:extLst>
          </p:cNvPr>
          <p:cNvSpPr/>
          <p:nvPr/>
        </p:nvSpPr>
        <p:spPr>
          <a:xfrm>
            <a:off x="437704" y="309024"/>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smtClean="0">
                <a:solidFill>
                  <a:srgbClr val="000000"/>
                </a:solidFill>
                <a:latin typeface="Times New Roman" pitchFamily="18"/>
                <a:cs typeface="Times New Roman" pitchFamily="18"/>
              </a:rPr>
              <a:t>Видове плотери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78F66D53-5427-4C83-8EAE-C869A006AC45}"/>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9D5838AC-CAF5-4D8F-8348-B80D23EB6027}"/>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12</a:t>
            </a:r>
            <a:endParaRPr lang="en-GB" dirty="0"/>
          </a:p>
        </p:txBody>
      </p:sp>
      <p:cxnSp>
        <p:nvCxnSpPr>
          <p:cNvPr id="7" name="Straight Connector 6">
            <a:extLst>
              <a:ext uri="{FF2B5EF4-FFF2-40B4-BE49-F238E27FC236}">
                <a16:creationId xmlns="" xmlns:a16="http://schemas.microsoft.com/office/drawing/2014/main" id="{D53ABC84-E684-4913-B1ED-C642737AB233}"/>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Content Placeholder 9"/>
          <p:cNvPicPr>
            <a:picLocks noGrp="1" noChangeAspect="1"/>
          </p:cNvPicPr>
          <p:nvPr>
            <p:ph idx="1"/>
          </p:nvPr>
        </p:nvPicPr>
        <p:blipFill>
          <a:blip r:embed="rId2"/>
          <a:stretch>
            <a:fillRect/>
          </a:stretch>
        </p:blipFill>
        <p:spPr>
          <a:xfrm>
            <a:off x="8199120" y="1938589"/>
            <a:ext cx="3598467" cy="35213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A1BC87E7-0AA1-4971-96E5-D81D268046E6}"/>
              </a:ext>
            </a:extLst>
          </p:cNvPr>
          <p:cNvSpPr txBox="1">
            <a:spLocks noGrp="1"/>
          </p:cNvSpPr>
          <p:nvPr>
            <p:ph type="body" sz="half" idx="2"/>
          </p:nvPr>
        </p:nvSpPr>
        <p:spPr>
          <a:xfrm>
            <a:off x="410235" y="1840445"/>
            <a:ext cx="6632728" cy="4530010"/>
          </a:xfrm>
        </p:spPr>
        <p:txBody>
          <a:bodyPr>
            <a:normAutofit lnSpcReduction="10000"/>
          </a:bodyPr>
          <a:lstStyle/>
          <a:p>
            <a:pPr fontAlgn="t"/>
            <a:r>
              <a:rPr lang="ru-RU" sz="2400" b="1" cap="all" dirty="0">
                <a:effectLst/>
              </a:rPr>
              <a:t>ЛАЗЕРНИТЕ И LED ПЛОТЕРИ</a:t>
            </a:r>
          </a:p>
          <a:p>
            <a:pPr fontAlgn="t"/>
            <a:r>
              <a:rPr lang="ru-RU" sz="2400" dirty="0">
                <a:effectLst/>
              </a:rPr>
              <a:t>Printing технология в такива устройства е много подобна на използваната технология за лазерно и LED принтери. Когато лазерен лъч се прилага към светодиодите или невидимо изображение след да заредени частици хартия придържа тонер, който след това се пече</a:t>
            </a:r>
            <a:r>
              <a:rPr lang="ru-RU" sz="2400" dirty="0" smtClean="0">
                <a:effectLst/>
              </a:rPr>
              <a:t>. </a:t>
            </a:r>
            <a:r>
              <a:rPr lang="ru-RU" sz="2400" dirty="0">
                <a:effectLst/>
              </a:rPr>
              <a:t>LED и лазерни устройства осигуряват висока резолюция и качество на изображението, а също така има висока скорост на печат и производителност, но има значителен недостатък - високата цена.</a:t>
            </a:r>
          </a:p>
          <a:p>
            <a:pPr lvl="0"/>
            <a:endParaRPr lang="en-GB" sz="2400" dirty="0">
              <a:latin typeface="Times New Roman" pitchFamily="18"/>
              <a:cs typeface="Times New Roman" pitchFamily="18"/>
            </a:endParaRPr>
          </a:p>
        </p:txBody>
      </p:sp>
      <p:sp>
        <p:nvSpPr>
          <p:cNvPr id="3" name="Rectangle 5">
            <a:extLst>
              <a:ext uri="{FF2B5EF4-FFF2-40B4-BE49-F238E27FC236}">
                <a16:creationId xmlns="" xmlns:a16="http://schemas.microsoft.com/office/drawing/2014/main" id="{C6D12CB7-5B94-4137-A92B-CC3DD93101C4}"/>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smtClean="0">
                <a:solidFill>
                  <a:srgbClr val="000000"/>
                </a:solidFill>
                <a:latin typeface="Times New Roman" pitchFamily="18"/>
                <a:cs typeface="Times New Roman" pitchFamily="18"/>
              </a:rPr>
              <a:t>Видове плотери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63D6CE22-8721-4FED-B8E0-9BC05CB71AB5}"/>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7E5A2BC5-DDE2-4567-8A84-A6E8502521E5}"/>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13</a:t>
            </a:r>
            <a:endParaRPr lang="en-GB" dirty="0"/>
          </a:p>
        </p:txBody>
      </p:sp>
      <p:cxnSp>
        <p:nvCxnSpPr>
          <p:cNvPr id="7" name="Straight Connector 6">
            <a:extLst>
              <a:ext uri="{FF2B5EF4-FFF2-40B4-BE49-F238E27FC236}">
                <a16:creationId xmlns="" xmlns:a16="http://schemas.microsoft.com/office/drawing/2014/main" id="{083B955D-DF8E-49AD-9B04-D89919C735AB}"/>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7062843" y="2454214"/>
            <a:ext cx="4787035" cy="30875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E0EA0756-D475-4E2C-86E9-3C2DB1EF44FB}"/>
              </a:ext>
            </a:extLst>
          </p:cNvPr>
          <p:cNvSpPr txBox="1">
            <a:spLocks noGrp="1"/>
          </p:cNvSpPr>
          <p:nvPr>
            <p:ph type="body" sz="half" idx="2"/>
          </p:nvPr>
        </p:nvSpPr>
        <p:spPr>
          <a:xfrm>
            <a:off x="456332" y="1598040"/>
            <a:ext cx="7468306" cy="4957081"/>
          </a:xfrm>
        </p:spPr>
        <p:txBody>
          <a:bodyPr/>
          <a:lstStyle/>
          <a:p>
            <a:pPr fontAlgn="t"/>
            <a:r>
              <a:rPr lang="ru-RU" sz="2400" b="1" cap="all" dirty="0">
                <a:effectLst/>
              </a:rPr>
              <a:t>ПЛОТТЕРИ ДИРЕКТЕН ИЗХОД НА ИЗОБРАЖЕНИЕТО</a:t>
            </a:r>
          </a:p>
          <a:p>
            <a:pPr fontAlgn="t"/>
            <a:r>
              <a:rPr lang="ru-RU" sz="2400" dirty="0">
                <a:effectLst/>
              </a:rPr>
              <a:t>В съоръжения от този тип на изображението се използва за термична хартия, импрегнирана със специален състав. Когато минавате през "гребен" на места, подложени на термична нагреватели хартия променя цвета си, което допринася за появата на изображението</a:t>
            </a:r>
            <a:r>
              <a:rPr lang="ru-RU" sz="2400" dirty="0" smtClean="0">
                <a:effectLst/>
              </a:rPr>
              <a:t>. </a:t>
            </a:r>
            <a:r>
              <a:rPr lang="ru-RU" sz="2400" dirty="0">
                <a:effectLst/>
              </a:rPr>
              <a:t>Много подходящи за подобно оборудване дизайн и инженерингови организации. Въпреки отпечатването на монохромен, произвежда висококачествени и точни изображения.</a:t>
            </a:r>
          </a:p>
          <a:p>
            <a:pPr lvl="0"/>
            <a:endParaRPr lang="en-GB" sz="2400" dirty="0">
              <a:latin typeface="Times New Roman" pitchFamily="18"/>
              <a:cs typeface="Times New Roman" pitchFamily="18"/>
            </a:endParaRPr>
          </a:p>
        </p:txBody>
      </p:sp>
      <p:sp>
        <p:nvSpPr>
          <p:cNvPr id="3" name="Rectangle 7">
            <a:extLst>
              <a:ext uri="{FF2B5EF4-FFF2-40B4-BE49-F238E27FC236}">
                <a16:creationId xmlns="" xmlns:a16="http://schemas.microsoft.com/office/drawing/2014/main" id="{5F65C5A6-40EA-4A51-8F7B-D8C7753C3BB5}"/>
              </a:ext>
            </a:extLst>
          </p:cNvPr>
          <p:cNvSpPr/>
          <p:nvPr/>
        </p:nvSpPr>
        <p:spPr>
          <a:xfrm>
            <a:off x="416061" y="782790"/>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Видове</a:t>
            </a:r>
            <a:r>
              <a:rPr lang="bg-BG" sz="2800" b="0" i="0" u="none" strike="noStrike" kern="1200" cap="none" spc="0" dirty="0" smtClean="0">
                <a:solidFill>
                  <a:srgbClr val="000000"/>
                </a:solidFill>
                <a:uFillTx/>
                <a:latin typeface="Times New Roman" pitchFamily="18"/>
                <a:cs typeface="Times New Roman" pitchFamily="18"/>
              </a:rPr>
              <a:t> плотери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E469DF3C-61E3-4574-851F-F7DE9E2BE9D2}"/>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7320591E-1B4C-48A4-B5E6-FCA39CB8A905}"/>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14</a:t>
            </a:r>
            <a:endParaRPr lang="en-GB" dirty="0"/>
          </a:p>
        </p:txBody>
      </p:sp>
      <p:cxnSp>
        <p:nvCxnSpPr>
          <p:cNvPr id="7" name="Straight Connector 6">
            <a:extLst>
              <a:ext uri="{FF2B5EF4-FFF2-40B4-BE49-F238E27FC236}">
                <a16:creationId xmlns="" xmlns:a16="http://schemas.microsoft.com/office/drawing/2014/main" id="{0BEA2B5A-993D-4CB2-B993-4FA5309B97E1}"/>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7406640" y="2529839"/>
            <a:ext cx="5087870" cy="33762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05A66679-624E-479F-B5C6-AD4912A5B77F}"/>
              </a:ext>
            </a:extLst>
          </p:cNvPr>
          <p:cNvSpPr txBox="1">
            <a:spLocks noGrp="1"/>
          </p:cNvSpPr>
          <p:nvPr>
            <p:ph type="body" sz="half" idx="2"/>
          </p:nvPr>
        </p:nvSpPr>
        <p:spPr>
          <a:xfrm>
            <a:off x="507503" y="1771696"/>
            <a:ext cx="6658296" cy="4313055"/>
          </a:xfrm>
        </p:spPr>
        <p:txBody>
          <a:bodyPr>
            <a:noAutofit/>
          </a:bodyPr>
          <a:lstStyle/>
          <a:p>
            <a:pPr lvl="0"/>
            <a:r>
              <a:rPr lang="ru-RU" sz="2400" b="1" dirty="0">
                <a:effectLst/>
              </a:rPr>
              <a:t>Монитор</a:t>
            </a:r>
            <a:r>
              <a:rPr lang="ru-RU" sz="2400" dirty="0">
                <a:effectLst/>
              </a:rPr>
              <a:t> </a:t>
            </a:r>
            <a:r>
              <a:rPr lang="ru-RU" sz="2400" dirty="0" smtClean="0">
                <a:effectLst/>
              </a:rPr>
              <a:t>e </a:t>
            </a:r>
            <a:r>
              <a:rPr lang="ru-RU" sz="2400" dirty="0">
                <a:effectLst/>
              </a:rPr>
              <a:t>устройство за изобразяване на информация във визуален или </a:t>
            </a:r>
            <a:r>
              <a:rPr lang="ru-RU" sz="2400" dirty="0">
                <a:effectLst/>
                <a:hlinkClick r:id="rId2" tooltip="Тактилен (страницата не съществува)"/>
              </a:rPr>
              <a:t>тактилен</a:t>
            </a:r>
            <a:r>
              <a:rPr lang="ru-RU" sz="2400" dirty="0">
                <a:effectLst/>
              </a:rPr>
              <a:t> вид.</a:t>
            </a:r>
            <a:r>
              <a:rPr lang="ru-RU" sz="2400" baseline="30000" dirty="0">
                <a:effectLst/>
                <a:hlinkClick r:id="rId3"/>
              </a:rPr>
              <a:t>[1]</a:t>
            </a:r>
            <a:r>
              <a:rPr lang="ru-RU" sz="2400" baseline="30000" dirty="0">
                <a:effectLst/>
                <a:hlinkClick r:id="rId4"/>
              </a:rPr>
              <a:t>[2]</a:t>
            </a:r>
            <a:r>
              <a:rPr lang="ru-RU" sz="2400" dirty="0">
                <a:effectLst/>
              </a:rPr>
              <a:t> Повечето монитори имаха </a:t>
            </a:r>
            <a:r>
              <a:rPr lang="ru-RU" sz="2400" dirty="0">
                <a:effectLst/>
                <a:hlinkClick r:id="rId5" tooltip="Катодно-лъчева тръба"/>
              </a:rPr>
              <a:t>катодно-лъчева тръба</a:t>
            </a:r>
            <a:r>
              <a:rPr lang="ru-RU" sz="2400" dirty="0">
                <a:effectLst/>
              </a:rPr>
              <a:t> и формата на голяма кутия с екран, но от няколко години се увеличава използването на екрани с течни кристали (</a:t>
            </a:r>
            <a:r>
              <a:rPr lang="ru-RU" sz="2400" dirty="0">
                <a:effectLst/>
                <a:hlinkClick r:id="rId6" tooltip="LCD"/>
              </a:rPr>
              <a:t>LCD</a:t>
            </a:r>
            <a:r>
              <a:rPr lang="ru-RU" sz="2400" dirty="0">
                <a:effectLst/>
              </a:rPr>
              <a:t>) и плазмени екрани, които са по-компактни. За разлика от </a:t>
            </a:r>
            <a:r>
              <a:rPr lang="ru-RU" sz="2400" dirty="0">
                <a:effectLst/>
                <a:hlinkClick r:id="rId7" tooltip="Телевизор"/>
              </a:rPr>
              <a:t>телевизора</a:t>
            </a:r>
            <a:r>
              <a:rPr lang="ru-RU" sz="2400" dirty="0">
                <a:effectLst/>
              </a:rPr>
              <a:t>, мониторът няма </a:t>
            </a:r>
            <a:r>
              <a:rPr lang="ru-RU" sz="2400" dirty="0">
                <a:effectLst/>
                <a:hlinkClick r:id="rId8" tooltip="Тунер (страницата не съществува)"/>
              </a:rPr>
              <a:t>тунер</a:t>
            </a:r>
            <a:r>
              <a:rPr lang="ru-RU" sz="2400" dirty="0">
                <a:effectLst/>
              </a:rPr>
              <a:t> и обикновено е с по-висока </a:t>
            </a:r>
            <a:r>
              <a:rPr lang="ru-RU" sz="2400" dirty="0">
                <a:effectLst/>
                <a:hlinkClick r:id="rId9" tooltip="Разделителна способност (монитор)"/>
              </a:rPr>
              <a:t>разделителна способност</a:t>
            </a:r>
            <a:r>
              <a:rPr lang="ru-RU" sz="2400" dirty="0">
                <a:effectLst/>
              </a:rPr>
              <a:t> и </a:t>
            </a:r>
            <a:r>
              <a:rPr lang="ru-RU" sz="2400" u="sng" dirty="0">
                <a:effectLst/>
                <a:hlinkClick r:id="rId10" tooltip="Честота на опресняване (страницата не съществува)"/>
              </a:rPr>
              <a:t>честота на опресняване</a:t>
            </a:r>
            <a:endParaRPr lang="en-GB" sz="2400" u="sng" dirty="0">
              <a:solidFill>
                <a:schemeClr val="tx1"/>
              </a:solidFill>
              <a:latin typeface="Times New Roman" panose="02020603050405020304" pitchFamily="18" charset="0"/>
              <a:cs typeface="Times New Roman" panose="02020603050405020304" pitchFamily="18" charset="0"/>
            </a:endParaRPr>
          </a:p>
        </p:txBody>
      </p:sp>
      <p:sp>
        <p:nvSpPr>
          <p:cNvPr id="3" name="Rectangle 7">
            <a:extLst>
              <a:ext uri="{FF2B5EF4-FFF2-40B4-BE49-F238E27FC236}">
                <a16:creationId xmlns="" xmlns:a16="http://schemas.microsoft.com/office/drawing/2014/main" id="{EEDA0AEA-8466-4CB6-B545-0596CE064C33}"/>
              </a:ext>
            </a:extLst>
          </p:cNvPr>
          <p:cNvSpPr/>
          <p:nvPr/>
        </p:nvSpPr>
        <p:spPr>
          <a:xfrm>
            <a:off x="416061" y="636111"/>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Монитор</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466E80B6-4E1E-4528-8CC5-41EF3014F348}"/>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B4737C87-CC7C-406C-BA03-1B73917F23B4}"/>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16</a:t>
            </a:r>
            <a:endParaRPr lang="en-GB" dirty="0"/>
          </a:p>
        </p:txBody>
      </p:sp>
      <p:cxnSp>
        <p:nvCxnSpPr>
          <p:cNvPr id="7" name="Straight Connector 6">
            <a:extLst>
              <a:ext uri="{FF2B5EF4-FFF2-40B4-BE49-F238E27FC236}">
                <a16:creationId xmlns="" xmlns:a16="http://schemas.microsoft.com/office/drawing/2014/main" id="{3CE23863-E4AA-4FBA-8301-A5069A6D3E89}"/>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Graphic 11" descr="Back">
            <a:hlinkClick r:id="rId11" action="ppaction://hlinksldjump"/>
            <a:extLst>
              <a:ext uri="{FF2B5EF4-FFF2-40B4-BE49-F238E27FC236}">
                <a16:creationId xmlns="" xmlns:a16="http://schemas.microsoft.com/office/drawing/2014/main" id="{A21BB5D9-F44A-4401-8717-3669B05778DE}"/>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a:off x="11260256" y="306140"/>
            <a:ext cx="460786" cy="460786"/>
          </a:xfrm>
          <a:prstGeom prst="rect">
            <a:avLst/>
          </a:prstGeom>
        </p:spPr>
      </p:pic>
      <p:pic>
        <p:nvPicPr>
          <p:cNvPr id="9" name="Content Placeholder 8"/>
          <p:cNvPicPr>
            <a:picLocks noGrp="1" noChangeAspect="1"/>
          </p:cNvPicPr>
          <p:nvPr>
            <p:ph idx="1"/>
          </p:nvPr>
        </p:nvPicPr>
        <p:blipFill>
          <a:blip r:embed="rId14"/>
          <a:stretch>
            <a:fillRect/>
          </a:stretch>
        </p:blipFill>
        <p:spPr>
          <a:xfrm>
            <a:off x="7802880" y="2052469"/>
            <a:ext cx="3918162" cy="33660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BC5128F5-9EE9-43A0-AB8D-20E485410264}"/>
              </a:ext>
            </a:extLst>
          </p:cNvPr>
          <p:cNvSpPr txBox="1">
            <a:spLocks noGrp="1"/>
          </p:cNvSpPr>
          <p:nvPr>
            <p:ph type="body" sz="half" idx="2"/>
          </p:nvPr>
        </p:nvSpPr>
        <p:spPr>
          <a:xfrm>
            <a:off x="416061" y="1883161"/>
            <a:ext cx="11359883" cy="4873623"/>
          </a:xfrm>
        </p:spPr>
        <p:txBody>
          <a:bodyPr>
            <a:normAutofit/>
          </a:bodyPr>
          <a:lstStyle/>
          <a:p>
            <a:r>
              <a:rPr lang="ru-RU" sz="2400" dirty="0">
                <a:effectLst/>
              </a:rPr>
              <a:t>Мониторите са изминали дълъг път от времето на мигащите в зелено екрани на компютърните системи от 70-те години на ХХ век, изобразяващи само текст в един цвят.</a:t>
            </a:r>
          </a:p>
          <a:p>
            <a:r>
              <a:rPr lang="ru-RU" sz="2400" dirty="0">
                <a:effectLst/>
              </a:rPr>
              <a:t>През 1981 г. IBM представя </a:t>
            </a:r>
            <a:r>
              <a:rPr lang="ru-RU" sz="2400" b="1" dirty="0">
                <a:effectLst/>
              </a:rPr>
              <a:t>Color Graphics Adapter</a:t>
            </a:r>
            <a:r>
              <a:rPr lang="ru-RU" sz="2400" dirty="0">
                <a:effectLst/>
              </a:rPr>
              <a:t> (CGA), който е способен да възпроизведе четири цвята, и постига максимална </a:t>
            </a:r>
            <a:r>
              <a:rPr lang="ru-RU" sz="2400" dirty="0">
                <a:effectLst/>
                <a:hlinkClick r:id="rId2" tooltip="Разделителна способност (монитор)"/>
              </a:rPr>
              <a:t>резолюция</a:t>
            </a:r>
            <a:r>
              <a:rPr lang="ru-RU" sz="2400" dirty="0">
                <a:effectLst/>
              </a:rPr>
              <a:t> от 320 </a:t>
            </a:r>
            <a:r>
              <a:rPr lang="ru-RU" sz="2400" dirty="0">
                <a:effectLst/>
                <a:hlinkClick r:id="rId3" tooltip="Пиксел"/>
              </a:rPr>
              <a:t>пиксела</a:t>
            </a:r>
            <a:r>
              <a:rPr lang="ru-RU" sz="2400" dirty="0">
                <a:effectLst/>
              </a:rPr>
              <a:t> хоризонтално на 200 пиксела вертикално.</a:t>
            </a:r>
          </a:p>
          <a:p>
            <a:pPr lvl="0"/>
            <a:r>
              <a:rPr lang="ru-RU" sz="2400" dirty="0">
                <a:effectLst/>
              </a:rPr>
              <a:t>Повечето дисплеи, продавани днес поддържат </a:t>
            </a:r>
            <a:r>
              <a:rPr lang="ru-RU" sz="2400" b="1" dirty="0">
                <a:effectLst/>
              </a:rPr>
              <a:t>Ultra Extended Graphics Array</a:t>
            </a:r>
            <a:r>
              <a:rPr lang="ru-RU" sz="2400" dirty="0">
                <a:effectLst/>
              </a:rPr>
              <a:t> (UXGA) стандарта. Цветовата гама на UXGA се състои от 16,8 милиона цвята и разделителна способност до 1600х1200 пиксела, в зависимост от паметта на </a:t>
            </a:r>
            <a:r>
              <a:rPr lang="ru-RU" sz="2400" dirty="0">
                <a:effectLst/>
                <a:hlinkClick r:id="rId4" tooltip="Графична карта"/>
              </a:rPr>
              <a:t>видео картата</a:t>
            </a:r>
            <a:r>
              <a:rPr lang="ru-RU" sz="2400" dirty="0">
                <a:effectLst/>
              </a:rPr>
              <a:t> на компютъра. Максималната резолюция по принцип зависи от броя на цветовете, които се показват.</a:t>
            </a:r>
            <a:endParaRPr lang="en-GB" sz="2400" dirty="0">
              <a:latin typeface="Times New Roman" pitchFamily="18"/>
              <a:cs typeface="Times New Roman" pitchFamily="18"/>
            </a:endParaRPr>
          </a:p>
        </p:txBody>
      </p:sp>
      <p:sp>
        <p:nvSpPr>
          <p:cNvPr id="3" name="Rectangle 7">
            <a:extLst>
              <a:ext uri="{FF2B5EF4-FFF2-40B4-BE49-F238E27FC236}">
                <a16:creationId xmlns="" xmlns:a16="http://schemas.microsoft.com/office/drawing/2014/main" id="{564DC5D4-AAC2-4F8F-8CFE-E7A0D1281285}"/>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kern="0" dirty="0" smtClean="0">
                <a:solidFill>
                  <a:srgbClr val="000000"/>
                </a:solidFill>
                <a:latin typeface="Times New Roman" pitchFamily="18"/>
                <a:cs typeface="Times New Roman" pitchFamily="18"/>
              </a:rPr>
              <a:t>И</a:t>
            </a:r>
            <a:r>
              <a:rPr lang="bg-BG" sz="2800" b="0" i="0" u="none" strike="noStrike" kern="1200" cap="none" spc="0" baseline="0" dirty="0" smtClean="0">
                <a:solidFill>
                  <a:srgbClr val="000000"/>
                </a:solidFill>
                <a:uFillTx/>
                <a:latin typeface="Times New Roman" pitchFamily="18"/>
                <a:cs typeface="Times New Roman" pitchFamily="18"/>
              </a:rPr>
              <a:t>стория</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4C771B0A-5593-4CEA-9199-BDEE15F68606}"/>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814DEFFB-C31D-4DCB-A0F9-6BFF11905AB9}"/>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17</a:t>
            </a:r>
            <a:endParaRPr lang="en-GB" dirty="0"/>
          </a:p>
        </p:txBody>
      </p:sp>
      <p:cxnSp>
        <p:nvCxnSpPr>
          <p:cNvPr id="7" name="Straight Connector 6">
            <a:extLst>
              <a:ext uri="{FF2B5EF4-FFF2-40B4-BE49-F238E27FC236}">
                <a16:creationId xmlns="" xmlns:a16="http://schemas.microsoft.com/office/drawing/2014/main" id="{3142514D-0DD4-429E-9C96-29AFEFA065D2}"/>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83229751-845E-4711-9350-5AC1AEAA22D4}"/>
              </a:ext>
            </a:extLst>
          </p:cNvPr>
          <p:cNvSpPr>
            <a:spLocks noGrp="1"/>
          </p:cNvSpPr>
          <p:nvPr>
            <p:ph type="body" sz="half" idx="2"/>
          </p:nvPr>
        </p:nvSpPr>
        <p:spPr>
          <a:xfrm>
            <a:off x="410610" y="2255374"/>
            <a:ext cx="6975339" cy="4558004"/>
          </a:xfrm>
        </p:spPr>
        <p:txBody>
          <a:bodyPr>
            <a:normAutofit/>
          </a:bodyPr>
          <a:lstStyle/>
          <a:p>
            <a:r>
              <a:rPr lang="ru-RU" sz="2400" b="1" dirty="0">
                <a:effectLst/>
              </a:rPr>
              <a:t>Слушалките</a:t>
            </a:r>
            <a:r>
              <a:rPr lang="ru-RU" sz="2400" dirty="0">
                <a:effectLst/>
              </a:rPr>
              <a:t> са </a:t>
            </a:r>
            <a:r>
              <a:rPr lang="ru-RU" sz="2400" dirty="0">
                <a:effectLst/>
                <a:hlinkClick r:id="rId2" tooltip="Устройство"/>
              </a:rPr>
              <a:t>устройство</a:t>
            </a:r>
            <a:r>
              <a:rPr lang="ru-RU" sz="2400" dirty="0">
                <a:effectLst/>
              </a:rPr>
              <a:t> за индивидуално слушане на </a:t>
            </a:r>
            <a:r>
              <a:rPr lang="ru-RU" sz="2400" dirty="0">
                <a:effectLst/>
                <a:hlinkClick r:id="rId3" tooltip="Музика"/>
              </a:rPr>
              <a:t>музика</a:t>
            </a:r>
            <a:r>
              <a:rPr lang="ru-RU" sz="2400" dirty="0">
                <a:effectLst/>
              </a:rPr>
              <a:t>, реч или друг </a:t>
            </a:r>
            <a:r>
              <a:rPr lang="ru-RU" sz="2400" dirty="0">
                <a:effectLst/>
                <a:hlinkClick r:id="rId4" tooltip="Звук"/>
              </a:rPr>
              <a:t>звуков</a:t>
            </a:r>
            <a:r>
              <a:rPr lang="ru-RU" sz="2400" dirty="0">
                <a:effectLst/>
              </a:rPr>
              <a:t> </a:t>
            </a:r>
            <a:r>
              <a:rPr lang="ru-RU" sz="2400" dirty="0">
                <a:effectLst/>
                <a:hlinkClick r:id="rId5" tooltip="Сигнал"/>
              </a:rPr>
              <a:t>сигнал</a:t>
            </a:r>
            <a:r>
              <a:rPr lang="ru-RU" sz="2400" dirty="0">
                <a:effectLst/>
              </a:rPr>
              <a:t>. В комбинация с </a:t>
            </a:r>
            <a:r>
              <a:rPr lang="ru-RU" sz="2400" dirty="0">
                <a:effectLst/>
                <a:hlinkClick r:id="rId6" tooltip="Микрофон"/>
              </a:rPr>
              <a:t>микрофон</a:t>
            </a:r>
            <a:r>
              <a:rPr lang="ru-RU" sz="2400" dirty="0">
                <a:effectLst/>
              </a:rPr>
              <a:t> могат да служат като </a:t>
            </a:r>
            <a:r>
              <a:rPr lang="ru-RU" sz="2400" dirty="0">
                <a:effectLst/>
                <a:hlinkClick r:id="rId7" tooltip="Телефон"/>
              </a:rPr>
              <a:t>телефон</a:t>
            </a:r>
            <a:r>
              <a:rPr lang="ru-RU" sz="2400" dirty="0">
                <a:effectLst/>
              </a:rPr>
              <a:t>. Слушалки се носят и в звукозаписните студия. Могат да се използват със </a:t>
            </a:r>
            <a:r>
              <a:rPr lang="ru-RU" sz="2400" dirty="0">
                <a:effectLst/>
                <a:hlinkClick r:id="rId8" tooltip="CD"/>
              </a:rPr>
              <a:t>CD</a:t>
            </a:r>
            <a:r>
              <a:rPr lang="ru-RU" sz="2400" dirty="0">
                <a:effectLst/>
              </a:rPr>
              <a:t>, </a:t>
            </a:r>
            <a:r>
              <a:rPr lang="ru-RU" sz="2400" dirty="0">
                <a:effectLst/>
                <a:hlinkClick r:id="rId9" tooltip="DVD"/>
              </a:rPr>
              <a:t>DVD</a:t>
            </a:r>
            <a:r>
              <a:rPr lang="ru-RU" sz="2400" dirty="0">
                <a:effectLst/>
              </a:rPr>
              <a:t>, </a:t>
            </a:r>
            <a:r>
              <a:rPr lang="ru-RU" sz="2400" dirty="0">
                <a:effectLst/>
                <a:hlinkClick r:id="rId10" tooltip="Компютър"/>
              </a:rPr>
              <a:t>компютър</a:t>
            </a:r>
            <a:r>
              <a:rPr lang="ru-RU" sz="2400" dirty="0">
                <a:effectLst/>
              </a:rPr>
              <a:t> и други. Най-важните им характеристики са </a:t>
            </a:r>
            <a:r>
              <a:rPr lang="ru-RU" sz="2400" dirty="0">
                <a:effectLst/>
                <a:hlinkClick r:id="rId11" tooltip="Честотен диапазон"/>
              </a:rPr>
              <a:t>честотен диапазон</a:t>
            </a:r>
            <a:r>
              <a:rPr lang="ru-RU" sz="2400" dirty="0">
                <a:effectLst/>
              </a:rPr>
              <a:t>, чувствителност, съпротивление и максимална мощност.</a:t>
            </a:r>
            <a:endParaRPr lang="en-GB" sz="2400" dirty="0">
              <a:latin typeface="Times New Roman" panose="02020603050405020304" pitchFamily="18" charset="0"/>
              <a:cs typeface="Times New Roman" panose="02020603050405020304" pitchFamily="18" charset="0"/>
            </a:endParaRPr>
          </a:p>
        </p:txBody>
      </p:sp>
      <p:sp>
        <p:nvSpPr>
          <p:cNvPr id="5" name="Rectangle 7">
            <a:extLst>
              <a:ext uri="{FF2B5EF4-FFF2-40B4-BE49-F238E27FC236}">
                <a16:creationId xmlns="" xmlns:a16="http://schemas.microsoft.com/office/drawing/2014/main" id="{FC15758C-D5A0-4B98-B471-E4520C9BAE5A}"/>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kern="0" dirty="0" smtClean="0">
                <a:solidFill>
                  <a:srgbClr val="000000"/>
                </a:solidFill>
                <a:latin typeface="Times New Roman" pitchFamily="18"/>
                <a:cs typeface="Times New Roman" pitchFamily="18"/>
              </a:rPr>
              <a:t>Слушалки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6" name="Straight Connector 5">
            <a:extLst>
              <a:ext uri="{FF2B5EF4-FFF2-40B4-BE49-F238E27FC236}">
                <a16:creationId xmlns="" xmlns:a16="http://schemas.microsoft.com/office/drawing/2014/main" id="{9F479A3E-3400-430C-A561-8A1AE7A227A5}"/>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 xmlns:a16="http://schemas.microsoft.com/office/drawing/2014/main" id="{D0A8D49F-38B1-486E-B55B-0F5C74937B0D}"/>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18</a:t>
            </a:r>
            <a:endParaRPr lang="en-GB" dirty="0"/>
          </a:p>
        </p:txBody>
      </p:sp>
      <p:cxnSp>
        <p:nvCxnSpPr>
          <p:cNvPr id="8" name="Straight Connector 7">
            <a:extLst>
              <a:ext uri="{FF2B5EF4-FFF2-40B4-BE49-F238E27FC236}">
                <a16:creationId xmlns="" xmlns:a16="http://schemas.microsoft.com/office/drawing/2014/main" id="{694FE14B-20EA-4CE3-BA18-C9984C7A8478}"/>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12"/>
          <a:stretch>
            <a:fillRect/>
          </a:stretch>
        </p:blipFill>
        <p:spPr>
          <a:xfrm>
            <a:off x="7522665" y="2255374"/>
            <a:ext cx="4253279" cy="3276746"/>
          </a:xfrm>
          <a:prstGeom prst="rect">
            <a:avLst/>
          </a:prstGeom>
        </p:spPr>
      </p:pic>
    </p:spTree>
    <p:extLst>
      <p:ext uri="{BB962C8B-B14F-4D97-AF65-F5344CB8AC3E}">
        <p14:creationId xmlns:p14="http://schemas.microsoft.com/office/powerpoint/2010/main" val="93300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03082F0C-9DC6-4567-BA42-7A0709A610AD}"/>
              </a:ext>
            </a:extLst>
          </p:cNvPr>
          <p:cNvSpPr>
            <a:spLocks noGrp="1"/>
          </p:cNvSpPr>
          <p:nvPr>
            <p:ph type="body" sz="half" idx="2"/>
          </p:nvPr>
        </p:nvSpPr>
        <p:spPr>
          <a:xfrm>
            <a:off x="452564" y="1926771"/>
            <a:ext cx="6960099" cy="4585996"/>
          </a:xfrm>
        </p:spPr>
        <p:txBody>
          <a:bodyPr>
            <a:noAutofit/>
          </a:bodyPr>
          <a:lstStyle/>
          <a:p>
            <a:r>
              <a:rPr lang="ru-RU" sz="2400" dirty="0">
                <a:effectLst/>
              </a:rPr>
              <a:t>Минислушалки са слушалки, които пасват на формата на ухото, и се слагат в </a:t>
            </a:r>
            <a:r>
              <a:rPr lang="ru-RU" sz="2400" dirty="0">
                <a:effectLst/>
                <a:hlinkClick r:id="rId2" tooltip="Ухо"/>
              </a:rPr>
              <a:t>ушната мида</a:t>
            </a:r>
            <a:r>
              <a:rPr lang="ru-RU" sz="2400" dirty="0">
                <a:effectLst/>
              </a:rPr>
              <a:t>, в началото на ушния канал </a:t>
            </a:r>
            <a:r>
              <a:rPr lang="ru-RU" sz="2400" baseline="30000" dirty="0">
                <a:effectLst/>
                <a:hlinkClick r:id="rId3"/>
              </a:rPr>
              <a:t>[1]</a:t>
            </a:r>
            <a:r>
              <a:rPr lang="ru-RU" sz="2400" dirty="0">
                <a:effectLst/>
              </a:rPr>
              <a:t>. Този тип минислушалки застават директно пред звуковия канал, но не вътре в него. Предимствата им са, че са лесно портативни и удобни за носене, но лесно падат от ухото. За разлика от някои професионални слушалки, обикновено по-големи по-размер, които обхващат отвън цялото външно ухо и ушна мида и изолират от външния шум</a:t>
            </a:r>
            <a:endParaRPr lang="en-GB"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 xmlns:a16="http://schemas.microsoft.com/office/drawing/2014/main" id="{A3F8605D-25DD-4C4E-B2E4-42CF85FAA18E}"/>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BC349C5D-7DCF-49BA-BCB7-99F9CFBF826B}"/>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19</a:t>
            </a:r>
            <a:endParaRPr lang="en-GB" dirty="0"/>
          </a:p>
        </p:txBody>
      </p:sp>
      <p:cxnSp>
        <p:nvCxnSpPr>
          <p:cNvPr id="7" name="Straight Connector 6">
            <a:extLst>
              <a:ext uri="{FF2B5EF4-FFF2-40B4-BE49-F238E27FC236}">
                <a16:creationId xmlns="" xmlns:a16="http://schemas.microsoft.com/office/drawing/2014/main" id="{A2AEA6EC-4ED6-459F-90DF-44EAD32CCDCC}"/>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2AA3BCC4-DD2D-4B82-86B5-BCF25D0B193E}"/>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Минислушалки</a:t>
            </a:r>
            <a:endParaRPr lang="en-GB" sz="2800" b="0" i="0" u="none" strike="noStrike" kern="1200" cap="none" spc="0" baseline="0" dirty="0">
              <a:solidFill>
                <a:srgbClr val="000000"/>
              </a:solidFill>
              <a:uFillTx/>
              <a:latin typeface="Times New Roman" pitchFamily="18"/>
              <a:cs typeface="Times New Roman" pitchFamily="18"/>
            </a:endParaRPr>
          </a:p>
        </p:txBody>
      </p:sp>
      <p:pic>
        <p:nvPicPr>
          <p:cNvPr id="3" name="Content Placeholder 2"/>
          <p:cNvPicPr>
            <a:picLocks noGrp="1" noChangeAspect="1"/>
          </p:cNvPicPr>
          <p:nvPr>
            <p:ph idx="1"/>
          </p:nvPr>
        </p:nvPicPr>
        <p:blipFill>
          <a:blip r:embed="rId4"/>
          <a:stretch>
            <a:fillRect/>
          </a:stretch>
        </p:blipFill>
        <p:spPr>
          <a:xfrm>
            <a:off x="7772400" y="2116683"/>
            <a:ext cx="4003544" cy="3781287"/>
          </a:xfrm>
          <a:prstGeom prst="rect">
            <a:avLst/>
          </a:prstGeom>
        </p:spPr>
      </p:pic>
    </p:spTree>
    <p:extLst>
      <p:ext uri="{BB962C8B-B14F-4D97-AF65-F5344CB8AC3E}">
        <p14:creationId xmlns:p14="http://schemas.microsoft.com/office/powerpoint/2010/main" val="410376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F5C4D519-6849-4835-A829-4F813C75466B}"/>
              </a:ext>
            </a:extLst>
          </p:cNvPr>
          <p:cNvSpPr>
            <a:spLocks noGrp="1"/>
          </p:cNvSpPr>
          <p:nvPr>
            <p:ph type="body" sz="half" idx="2"/>
          </p:nvPr>
        </p:nvSpPr>
        <p:spPr>
          <a:xfrm>
            <a:off x="656904" y="1825044"/>
            <a:ext cx="5911536" cy="4545411"/>
          </a:xfrm>
        </p:spPr>
        <p:txBody>
          <a:bodyPr>
            <a:normAutofit/>
          </a:bodyPr>
          <a:lstStyle/>
          <a:p>
            <a:r>
              <a:rPr lang="ru-RU" sz="2400" dirty="0">
                <a:effectLst/>
              </a:rPr>
              <a:t>Тонколоните са компонента  който  превръща обратно електрическите сигнали записани  на компактдискове, касети и DVD-та  в  звука  който чуваме.</a:t>
            </a:r>
          </a:p>
          <a:p>
            <a:r>
              <a:rPr lang="ru-RU" sz="2400" dirty="0">
                <a:effectLst/>
              </a:rPr>
              <a:t>Тонколоните имат присъствие в почти всеки дом и  имат дълбоко влияние върху нашата култура. По същество те са изключително прости устройства, но направата на качествена тонколона е сложен и продължителен процес.</a:t>
            </a:r>
          </a:p>
          <a:p>
            <a:endParaRPr lang="en-GB"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 xmlns:a16="http://schemas.microsoft.com/office/drawing/2014/main" id="{1AB00882-3DD9-4094-A117-33EDF0F00322}"/>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F340049F-3FDD-4B8D-81DC-3724FECB02A9}"/>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20</a:t>
            </a:r>
            <a:endParaRPr lang="en-GB" dirty="0"/>
          </a:p>
        </p:txBody>
      </p:sp>
      <p:cxnSp>
        <p:nvCxnSpPr>
          <p:cNvPr id="7" name="Straight Connector 6">
            <a:extLst>
              <a:ext uri="{FF2B5EF4-FFF2-40B4-BE49-F238E27FC236}">
                <a16:creationId xmlns="" xmlns:a16="http://schemas.microsoft.com/office/drawing/2014/main" id="{7F9357D5-2AFA-4480-91C0-BC3CA32F3DEE}"/>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85ECB61E-9375-43C3-8762-3F3CC9D991C6}"/>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dirty="0" smtClean="0">
                <a:solidFill>
                  <a:srgbClr val="000000"/>
                </a:solidFill>
                <a:latin typeface="Times New Roman" pitchFamily="18"/>
                <a:cs typeface="Times New Roman" pitchFamily="18"/>
              </a:rPr>
              <a:t>Тон-колони</a:t>
            </a:r>
            <a:endParaRPr lang="en-GB" sz="2800" b="0" i="0" u="none" strike="noStrike" kern="1200" cap="none" spc="0" baseline="0" dirty="0">
              <a:solidFill>
                <a:srgbClr val="000000"/>
              </a:solidFill>
              <a:uFillTx/>
              <a:latin typeface="Times New Roman" pitchFamily="18"/>
              <a:cs typeface="Times New Roman" pitchFamily="18"/>
            </a:endParaRPr>
          </a:p>
        </p:txBody>
      </p:sp>
      <p:pic>
        <p:nvPicPr>
          <p:cNvPr id="10" name="Content Placeholder 9"/>
          <p:cNvPicPr>
            <a:picLocks noGrp="1" noChangeAspect="1"/>
          </p:cNvPicPr>
          <p:nvPr>
            <p:ph idx="1"/>
          </p:nvPr>
        </p:nvPicPr>
        <p:blipFill>
          <a:blip r:embed="rId2"/>
          <a:stretch>
            <a:fillRect/>
          </a:stretch>
        </p:blipFill>
        <p:spPr>
          <a:xfrm>
            <a:off x="7665720" y="2177040"/>
            <a:ext cx="3881624" cy="3663178"/>
          </a:xfrm>
          <a:prstGeom prst="rect">
            <a:avLst/>
          </a:prstGeom>
        </p:spPr>
      </p:pic>
    </p:spTree>
    <p:extLst>
      <p:ext uri="{BB962C8B-B14F-4D97-AF65-F5344CB8AC3E}">
        <p14:creationId xmlns:p14="http://schemas.microsoft.com/office/powerpoint/2010/main" val="2388830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29">
    <p:spTree>
      <p:nvGrpSpPr>
        <p:cNvPr id="1" name=""/>
        <p:cNvGrpSpPr/>
        <p:nvPr/>
      </p:nvGrpSpPr>
      <p:grpSpPr>
        <a:xfrm>
          <a:off x="0" y="0"/>
          <a:ext cx="0" cy="0"/>
          <a:chOff x="0" y="0"/>
          <a:chExt cx="0" cy="0"/>
        </a:xfrm>
      </p:grpSpPr>
      <p:sp>
        <p:nvSpPr>
          <p:cNvPr id="2" name="Rectangle 7">
            <a:extLst>
              <a:ext uri="{FF2B5EF4-FFF2-40B4-BE49-F238E27FC236}">
                <a16:creationId xmlns="" xmlns:a16="http://schemas.microsoft.com/office/drawing/2014/main" id="{553434E8-8FDA-40D0-BEB9-D99CA4F0C27B}"/>
              </a:ext>
            </a:extLst>
          </p:cNvPr>
          <p:cNvSpPr/>
          <p:nvPr/>
        </p:nvSpPr>
        <p:spPr>
          <a:xfrm>
            <a:off x="416061" y="763304"/>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Активни тонколони</a:t>
            </a:r>
            <a:endParaRPr lang="en-GB" sz="2800" b="0" i="0" u="none" strike="noStrike" kern="1200" cap="none" spc="0" baseline="0" dirty="0">
              <a:solidFill>
                <a:srgbClr val="000000"/>
              </a:solidFill>
              <a:uFillTx/>
              <a:latin typeface="Times New Roman" pitchFamily="18"/>
              <a:cs typeface="Times New Roman" pitchFamily="18"/>
            </a:endParaRPr>
          </a:p>
        </p:txBody>
      </p:sp>
      <p:sp>
        <p:nvSpPr>
          <p:cNvPr id="3" name="Content Placeholder 2">
            <a:extLst>
              <a:ext uri="{FF2B5EF4-FFF2-40B4-BE49-F238E27FC236}">
                <a16:creationId xmlns="" xmlns:a16="http://schemas.microsoft.com/office/drawing/2014/main" id="{08BD7F97-1592-43A9-B297-96BE8D9EDD55}"/>
              </a:ext>
            </a:extLst>
          </p:cNvPr>
          <p:cNvSpPr txBox="1">
            <a:spLocks noGrp="1"/>
          </p:cNvSpPr>
          <p:nvPr>
            <p:ph type="body" sz="half" idx="2"/>
          </p:nvPr>
        </p:nvSpPr>
        <p:spPr>
          <a:xfrm>
            <a:off x="629847" y="1648475"/>
            <a:ext cx="7051113" cy="4873623"/>
          </a:xfrm>
        </p:spPr>
        <p:txBody>
          <a:bodyPr>
            <a:noAutofit/>
          </a:bodyPr>
          <a:lstStyle/>
          <a:p>
            <a:pPr lvl="0"/>
            <a:r>
              <a:rPr lang="ru-RU" sz="2400" dirty="0" smtClean="0">
                <a:effectLst/>
              </a:rPr>
              <a:t>Това </a:t>
            </a:r>
            <a:r>
              <a:rPr lang="ru-RU" sz="2400" dirty="0">
                <a:effectLst/>
              </a:rPr>
              <a:t>че усилвателите са вградени означава, че отговарят точно на говорителите и че трябва да направите едно решение по-малко.Най-важното преимущество на всяка </a:t>
            </a:r>
            <a:r>
              <a:rPr lang="ru-RU" sz="2400" dirty="0">
                <a:effectLst/>
                <a:hlinkClick r:id="rId2"/>
              </a:rPr>
              <a:t>активна тонколона</a:t>
            </a:r>
            <a:r>
              <a:rPr lang="ru-RU" sz="2400" dirty="0">
                <a:effectLst/>
              </a:rPr>
              <a:t> е минимизирания шанс от изгаряне на някой от говорителите. Обикновенно дори имат вградени защитни вериги съвпадащи точно с говорителите и усилвателите на </a:t>
            </a:r>
            <a:r>
              <a:rPr lang="ru-RU" sz="2400" dirty="0" smtClean="0">
                <a:effectLst/>
              </a:rPr>
              <a:t>тонколоната.</a:t>
            </a:r>
            <a:r>
              <a:rPr lang="ru-RU" sz="2400" dirty="0" smtClean="0"/>
              <a:t> </a:t>
            </a:r>
            <a:r>
              <a:rPr lang="ru-RU" sz="2400" dirty="0" smtClean="0">
                <a:effectLst/>
              </a:rPr>
              <a:t>Едно </a:t>
            </a:r>
            <a:r>
              <a:rPr lang="ru-RU" sz="2400" dirty="0">
                <a:effectLst/>
              </a:rPr>
              <a:t>нещо по-малко за носене и </a:t>
            </a:r>
            <a:r>
              <a:rPr lang="ru-RU" sz="2400" dirty="0" smtClean="0">
                <a:effectLst/>
              </a:rPr>
              <a:t>забравяне.</a:t>
            </a:r>
            <a:r>
              <a:rPr lang="ru-RU" sz="2400" dirty="0" smtClean="0"/>
              <a:t> </a:t>
            </a:r>
            <a:r>
              <a:rPr lang="ru-RU" sz="2400" dirty="0" smtClean="0">
                <a:effectLst/>
              </a:rPr>
              <a:t>По-малко </a:t>
            </a:r>
            <a:r>
              <a:rPr lang="ru-RU" sz="2400" dirty="0">
                <a:effectLst/>
              </a:rPr>
              <a:t>кабели за носене, оплитане и </a:t>
            </a:r>
            <a:r>
              <a:rPr lang="ru-RU" sz="2400" dirty="0" smtClean="0">
                <a:effectLst/>
              </a:rPr>
              <a:t>свързване</a:t>
            </a:r>
            <a:r>
              <a:rPr lang="ru-RU" sz="2400" dirty="0" smtClean="0"/>
              <a:t>. </a:t>
            </a:r>
            <a:r>
              <a:rPr lang="ru-RU" sz="2400" dirty="0" smtClean="0">
                <a:effectLst/>
              </a:rPr>
              <a:t>Обикновенно </a:t>
            </a:r>
            <a:r>
              <a:rPr lang="ru-RU" sz="2400" dirty="0">
                <a:effectLst/>
              </a:rPr>
              <a:t>имат активен кросоувър, което е потенциално по-добър и дори може би осигуравя малко по-силен звук.</a:t>
            </a:r>
            <a:r>
              <a:rPr lang="ru-RU" sz="2400" dirty="0"/>
              <a:t/>
            </a:r>
            <a:br>
              <a:rPr lang="ru-RU" sz="2400" dirty="0"/>
            </a:br>
            <a:endParaRPr lang="en-GB" sz="2400" dirty="0">
              <a:latin typeface="Times New Roman" pitchFamily="18"/>
              <a:cs typeface="Times New Roman" pitchFamily="18"/>
            </a:endParaRPr>
          </a:p>
        </p:txBody>
      </p:sp>
      <p:cxnSp>
        <p:nvCxnSpPr>
          <p:cNvPr id="4" name="Straight Connector 3">
            <a:extLst>
              <a:ext uri="{FF2B5EF4-FFF2-40B4-BE49-F238E27FC236}">
                <a16:creationId xmlns="" xmlns:a16="http://schemas.microsoft.com/office/drawing/2014/main" id="{8BCDCDB1-1BCD-41DE-B3E3-5B14AD22E005}"/>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 xmlns:a16="http://schemas.microsoft.com/office/drawing/2014/main" id="{1C823F2E-68AF-4131-ADAF-4D6A644D04E6}"/>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21</a:t>
            </a:r>
            <a:endParaRPr lang="en-GB" dirty="0"/>
          </a:p>
        </p:txBody>
      </p:sp>
      <p:cxnSp>
        <p:nvCxnSpPr>
          <p:cNvPr id="6" name="Straight Connector 5">
            <a:extLst>
              <a:ext uri="{FF2B5EF4-FFF2-40B4-BE49-F238E27FC236}">
                <a16:creationId xmlns="" xmlns:a16="http://schemas.microsoft.com/office/drawing/2014/main" id="{4B43728E-1FD6-4A2D-9748-B0C46593D7D7}"/>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Back">
            <a:hlinkClick r:id="rId3" action="ppaction://hlinksldjump"/>
            <a:extLst>
              <a:ext uri="{FF2B5EF4-FFF2-40B4-BE49-F238E27FC236}">
                <a16:creationId xmlns="" xmlns:a16="http://schemas.microsoft.com/office/drawing/2014/main" id="{D6800AF7-1EA3-402C-85F8-480C019FB90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1260256" y="306140"/>
            <a:ext cx="460786" cy="460786"/>
          </a:xfrm>
          <a:prstGeom prst="rect">
            <a:avLst/>
          </a:prstGeom>
        </p:spPr>
      </p:pic>
      <p:pic>
        <p:nvPicPr>
          <p:cNvPr id="7" name="Picture 6"/>
          <p:cNvPicPr>
            <a:picLocks noChangeAspect="1"/>
          </p:cNvPicPr>
          <p:nvPr/>
        </p:nvPicPr>
        <p:blipFill>
          <a:blip r:embed="rId6"/>
          <a:stretch>
            <a:fillRect/>
          </a:stretch>
        </p:blipFill>
        <p:spPr>
          <a:xfrm>
            <a:off x="7741484" y="2560059"/>
            <a:ext cx="4034460" cy="258109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30">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4F1296C8-88BE-4EE0-A672-3A100A69E017}"/>
              </a:ext>
            </a:extLst>
          </p:cNvPr>
          <p:cNvSpPr txBox="1">
            <a:spLocks noGrp="1"/>
          </p:cNvSpPr>
          <p:nvPr>
            <p:ph type="body" sz="half" idx="2"/>
          </p:nvPr>
        </p:nvSpPr>
        <p:spPr>
          <a:xfrm>
            <a:off x="782247" y="1555176"/>
            <a:ext cx="6172200" cy="4452128"/>
          </a:xfrm>
        </p:spPr>
        <p:txBody>
          <a:bodyPr>
            <a:noAutofit/>
          </a:bodyPr>
          <a:lstStyle/>
          <a:p>
            <a:pPr lvl="0"/>
            <a:r>
              <a:rPr lang="ru-RU" sz="2400" dirty="0">
                <a:effectLst/>
              </a:rPr>
              <a:t>По-гъвкави са понеже можете да смените усилвателя си и да надграждате на </a:t>
            </a:r>
            <a:r>
              <a:rPr lang="ru-RU" sz="2400" dirty="0" smtClean="0">
                <a:effectLst/>
              </a:rPr>
              <a:t>етапи.</a:t>
            </a:r>
            <a:r>
              <a:rPr lang="ru-RU" sz="2400" dirty="0" smtClean="0"/>
              <a:t> </a:t>
            </a:r>
            <a:r>
              <a:rPr lang="ru-RU" sz="2400" dirty="0" smtClean="0">
                <a:effectLst/>
              </a:rPr>
              <a:t>По-леки </a:t>
            </a:r>
            <a:r>
              <a:rPr lang="ru-RU" sz="2400" dirty="0">
                <a:effectLst/>
              </a:rPr>
              <a:t>от активните, но пък с отделен усилвател за носене.</a:t>
            </a:r>
            <a:r>
              <a:rPr lang="ru-RU" sz="2400" dirty="0"/>
              <a:t/>
            </a:r>
            <a:br>
              <a:rPr lang="ru-RU" sz="2400" dirty="0"/>
            </a:br>
            <a:r>
              <a:rPr lang="ru-RU" sz="2400" dirty="0">
                <a:effectLst/>
              </a:rPr>
              <a:t>Ако вие сте музикант, който просто иска добро възпроизвеждане, иска да управлява озвучителната си система с минимално усилие и не е на ти с технологиите е по-добре да избере активната система. Това е „Plug&amp;Play" решението с перфектно съвпадение на усилвател и говорител .</a:t>
            </a:r>
            <a:endParaRPr lang="en-GB" sz="2400" dirty="0">
              <a:latin typeface="Times New Roman" pitchFamily="18"/>
              <a:cs typeface="Times New Roman" pitchFamily="18"/>
            </a:endParaRPr>
          </a:p>
        </p:txBody>
      </p:sp>
      <p:sp>
        <p:nvSpPr>
          <p:cNvPr id="3" name="Rectangle 7">
            <a:extLst>
              <a:ext uri="{FF2B5EF4-FFF2-40B4-BE49-F238E27FC236}">
                <a16:creationId xmlns="" xmlns:a16="http://schemas.microsoft.com/office/drawing/2014/main" id="{376A821A-2015-4720-87E3-27ED34992EB6}"/>
              </a:ext>
            </a:extLst>
          </p:cNvPr>
          <p:cNvSpPr/>
          <p:nvPr/>
        </p:nvSpPr>
        <p:spPr>
          <a:xfrm>
            <a:off x="416061" y="763304"/>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Пасивни</a:t>
            </a:r>
            <a:r>
              <a:rPr lang="bg-BG" sz="2800" b="0" i="0" u="none" strike="noStrike" kern="1200" cap="none" spc="0" dirty="0" smtClean="0">
                <a:solidFill>
                  <a:srgbClr val="000000"/>
                </a:solidFill>
                <a:uFillTx/>
                <a:latin typeface="Times New Roman" pitchFamily="18"/>
                <a:cs typeface="Times New Roman" pitchFamily="18"/>
              </a:rPr>
              <a:t> тонколони</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EC8622B2-29AA-4CA1-8E80-11B3DBDA1174}"/>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CCBB2EE4-376B-43CD-8070-FFA17C192B6C}"/>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22</a:t>
            </a:r>
            <a:endParaRPr lang="en-GB" dirty="0"/>
          </a:p>
        </p:txBody>
      </p:sp>
      <p:cxnSp>
        <p:nvCxnSpPr>
          <p:cNvPr id="7" name="Straight Connector 6">
            <a:extLst>
              <a:ext uri="{FF2B5EF4-FFF2-40B4-BE49-F238E27FC236}">
                <a16:creationId xmlns="" xmlns:a16="http://schemas.microsoft.com/office/drawing/2014/main" id="{A8774CE3-0D86-4AEB-994D-8B412343D9FA}"/>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stretch>
            <a:fillRect/>
          </a:stretch>
        </p:blipFill>
        <p:spPr>
          <a:xfrm>
            <a:off x="8260080" y="2113010"/>
            <a:ext cx="2335762" cy="3593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ext Placeholder 3">
            <a:extLst>
              <a:ext uri="{FF2B5EF4-FFF2-40B4-BE49-F238E27FC236}">
                <a16:creationId xmlns="" xmlns:a16="http://schemas.microsoft.com/office/drawing/2014/main" id="{EE9D812E-E944-484B-A955-03BD6B118CFD}"/>
              </a:ext>
            </a:extLst>
          </p:cNvPr>
          <p:cNvSpPr txBox="1">
            <a:spLocks noGrp="1"/>
          </p:cNvSpPr>
          <p:nvPr>
            <p:ph type="body" sz="half" idx="2"/>
          </p:nvPr>
        </p:nvSpPr>
        <p:spPr>
          <a:xfrm>
            <a:off x="839784" y="1717965"/>
            <a:ext cx="6856416" cy="5043053"/>
          </a:xfrm>
        </p:spPr>
        <p:txBody>
          <a:bodyPr>
            <a:normAutofit/>
          </a:bodyPr>
          <a:lstStyle/>
          <a:p>
            <a:pPr lvl="0"/>
            <a:r>
              <a:rPr lang="en-GB" sz="2400" dirty="0" smtClean="0">
                <a:latin typeface="Times New Roman" pitchFamily="18"/>
                <a:cs typeface="Times New Roman" pitchFamily="18"/>
              </a:rPr>
              <a:t>DVD </a:t>
            </a:r>
            <a:r>
              <a:rPr lang="ru-RU" sz="2400" dirty="0">
                <a:effectLst/>
              </a:rPr>
              <a:t> е </a:t>
            </a:r>
            <a:r>
              <a:rPr lang="ru-RU" sz="2400" dirty="0">
                <a:effectLst/>
                <a:hlinkClick r:id="rId2" tooltip="Носител на информация"/>
              </a:rPr>
              <a:t>носител на информация</a:t>
            </a:r>
            <a:r>
              <a:rPr lang="ru-RU" sz="2400" dirty="0">
                <a:effectLst/>
              </a:rPr>
              <a:t>, изработен под формата на </a:t>
            </a:r>
            <a:r>
              <a:rPr lang="ru-RU" sz="2400" dirty="0">
                <a:effectLst/>
                <a:hlinkClick r:id="rId3" tooltip="Диск"/>
              </a:rPr>
              <a:t>диск</a:t>
            </a:r>
            <a:r>
              <a:rPr lang="ru-RU" sz="2400" dirty="0">
                <a:effectLst/>
              </a:rPr>
              <a:t> и предназначен за </a:t>
            </a:r>
            <a:r>
              <a:rPr lang="ru-RU" sz="2400" dirty="0">
                <a:effectLst/>
                <a:hlinkClick r:id="rId4" tooltip="Цифрова електроника"/>
              </a:rPr>
              <a:t>цифров</a:t>
            </a:r>
            <a:r>
              <a:rPr lang="ru-RU" sz="2400" dirty="0">
                <a:effectLst/>
              </a:rPr>
              <a:t> запис. Има същия размер, както и </a:t>
            </a:r>
            <a:r>
              <a:rPr lang="ru-RU" sz="2400" dirty="0">
                <a:effectLst/>
                <a:hlinkClick r:id="rId5" tooltip="Компактдиск"/>
              </a:rPr>
              <a:t>компактдиска</a:t>
            </a:r>
            <a:r>
              <a:rPr lang="ru-RU" sz="2400" dirty="0">
                <a:effectLst/>
              </a:rPr>
              <a:t>, но има по-плътна структура на работната повърхност, което му позволява, благодарение използването на </a:t>
            </a:r>
            <a:r>
              <a:rPr lang="ru-RU" sz="2400" dirty="0">
                <a:effectLst/>
                <a:hlinkClick r:id="rId6" tooltip="Лазер"/>
              </a:rPr>
              <a:t>лазер</a:t>
            </a:r>
            <a:r>
              <a:rPr lang="ru-RU" sz="2400" dirty="0">
                <a:effectLst/>
              </a:rPr>
              <a:t> с по-малка </a:t>
            </a:r>
            <a:r>
              <a:rPr lang="ru-RU" sz="2400" dirty="0">
                <a:effectLst/>
                <a:hlinkClick r:id="rId7" tooltip="Дължина на вълната"/>
              </a:rPr>
              <a:t>дължина на вълната</a:t>
            </a:r>
            <a:r>
              <a:rPr lang="ru-RU" sz="2400" dirty="0">
                <a:effectLst/>
              </a:rPr>
              <a:t> и </a:t>
            </a:r>
            <a:r>
              <a:rPr lang="ru-RU" sz="2400" dirty="0">
                <a:effectLst/>
                <a:hlinkClick r:id="rId8" tooltip="Обектив"/>
              </a:rPr>
              <a:t>обективи</a:t>
            </a:r>
            <a:r>
              <a:rPr lang="ru-RU" sz="2400" dirty="0">
                <a:effectLst/>
              </a:rPr>
              <a:t> с по-голяма </a:t>
            </a:r>
            <a:r>
              <a:rPr lang="ru-RU" sz="2400" dirty="0">
                <a:effectLst/>
                <a:hlinkClick r:id="rId9" tooltip="Апертура (оптика)"/>
              </a:rPr>
              <a:t>числова апертура</a:t>
            </a:r>
            <a:r>
              <a:rPr lang="ru-RU" sz="2400" dirty="0">
                <a:effectLst/>
              </a:rPr>
              <a:t>, да съхранява по-голям обем информация</a:t>
            </a:r>
            <a:r>
              <a:rPr lang="ru-RU" sz="2400" dirty="0" smtClean="0">
                <a:effectLst/>
              </a:rPr>
              <a:t>. </a:t>
            </a:r>
            <a:r>
              <a:rPr lang="ru-RU" sz="2400" b="1" dirty="0">
                <a:effectLst/>
              </a:rPr>
              <a:t>DVD</a:t>
            </a:r>
            <a:r>
              <a:rPr lang="ru-RU" sz="2400" dirty="0">
                <a:effectLst/>
              </a:rPr>
              <a:t> представлява усъвършенстване и развитие на </a:t>
            </a:r>
            <a:r>
              <a:rPr lang="ru-RU" sz="2400" dirty="0">
                <a:effectLst/>
                <a:hlinkClick r:id="rId10" tooltip="CD"/>
              </a:rPr>
              <a:t>CD</a:t>
            </a:r>
            <a:r>
              <a:rPr lang="ru-RU" sz="2400" dirty="0">
                <a:effectLst/>
              </a:rPr>
              <a:t> технологията (последната позволява съхранение на стандартно и най-разпространено 702 </a:t>
            </a:r>
            <a:r>
              <a:rPr lang="ru-RU" sz="2400" dirty="0">
                <a:effectLst/>
                <a:hlinkClick r:id="rId11" tooltip="Мегабайт"/>
              </a:rPr>
              <a:t>MB</a:t>
            </a:r>
            <a:r>
              <a:rPr lang="ru-RU" sz="2400" dirty="0">
                <a:effectLst/>
              </a:rPr>
              <a:t> данни).</a:t>
            </a:r>
            <a:endParaRPr lang="en-GB" sz="2400" dirty="0">
              <a:latin typeface="Times New Roman" pitchFamily="18"/>
              <a:cs typeface="Times New Roman" pitchFamily="18"/>
            </a:endParaRPr>
          </a:p>
        </p:txBody>
      </p:sp>
      <p:sp>
        <p:nvSpPr>
          <p:cNvPr id="4" name="Rectangle 7">
            <a:extLst>
              <a:ext uri="{FF2B5EF4-FFF2-40B4-BE49-F238E27FC236}">
                <a16:creationId xmlns="" xmlns:a16="http://schemas.microsoft.com/office/drawing/2014/main" id="{7B1F8A22-18FB-420C-ADE9-187A4A1B502D}"/>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dirty="0" smtClean="0">
                <a:solidFill>
                  <a:srgbClr val="000000"/>
                </a:solidFill>
                <a:uFillTx/>
                <a:latin typeface="Times New Roman" pitchFamily="18"/>
                <a:cs typeface="Times New Roman" pitchFamily="18"/>
              </a:rPr>
              <a:t>CD_DVD</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801BB79E-CA07-41F3-BA21-BEF63EF2E72D}"/>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F38B3451-C776-4B7D-BB68-0C70E4C0AD0E}"/>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bg-BG" dirty="0"/>
              <a:t>23</a:t>
            </a:r>
            <a:endParaRPr lang="en-GB" dirty="0"/>
          </a:p>
        </p:txBody>
      </p:sp>
      <p:cxnSp>
        <p:nvCxnSpPr>
          <p:cNvPr id="7" name="Straight Connector 6">
            <a:extLst>
              <a:ext uri="{FF2B5EF4-FFF2-40B4-BE49-F238E27FC236}">
                <a16:creationId xmlns="" xmlns:a16="http://schemas.microsoft.com/office/drawing/2014/main" id="{4A738588-2267-4315-9AD5-7342F2873989}"/>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Graphic 10" descr="Back">
            <a:hlinkClick r:id="rId12" action="ppaction://hlinksldjump"/>
            <a:extLst>
              <a:ext uri="{FF2B5EF4-FFF2-40B4-BE49-F238E27FC236}">
                <a16:creationId xmlns="" xmlns:a16="http://schemas.microsoft.com/office/drawing/2014/main" id="{7704C512-3DC3-4A21-B2D2-833C36552556}"/>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11260256" y="306140"/>
            <a:ext cx="460786" cy="460786"/>
          </a:xfrm>
          <a:prstGeom prst="rect">
            <a:avLst/>
          </a:prstGeom>
        </p:spPr>
      </p:pic>
      <p:pic>
        <p:nvPicPr>
          <p:cNvPr id="9" name="Content Placeholder 8"/>
          <p:cNvPicPr>
            <a:picLocks noGrp="1" noChangeAspect="1"/>
          </p:cNvPicPr>
          <p:nvPr>
            <p:ph idx="1"/>
          </p:nvPr>
        </p:nvPicPr>
        <p:blipFill>
          <a:blip r:embed="rId15"/>
          <a:stretch>
            <a:fillRect/>
          </a:stretch>
        </p:blipFill>
        <p:spPr>
          <a:xfrm>
            <a:off x="8018104" y="2240166"/>
            <a:ext cx="3757840" cy="362631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35">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7D1442B5-70A4-4929-9BC3-7ACE436B022E}"/>
              </a:ext>
            </a:extLst>
          </p:cNvPr>
          <p:cNvSpPr txBox="1">
            <a:spLocks noGrp="1"/>
          </p:cNvSpPr>
          <p:nvPr>
            <p:ph type="body" sz="half" idx="2"/>
          </p:nvPr>
        </p:nvSpPr>
        <p:spPr>
          <a:xfrm>
            <a:off x="415560" y="1681498"/>
            <a:ext cx="11360384" cy="4873623"/>
          </a:xfrm>
        </p:spPr>
        <p:txBody>
          <a:bodyPr>
            <a:normAutofit lnSpcReduction="10000"/>
          </a:bodyPr>
          <a:lstStyle/>
          <a:p>
            <a:r>
              <a:rPr lang="en-US" sz="2400" b="1" u="sng" dirty="0">
                <a:effectLst/>
              </a:rPr>
              <a:t>CD-ROM</a:t>
            </a:r>
            <a:r>
              <a:rPr lang="en-US" sz="2400" u="sng" dirty="0">
                <a:effectLst/>
              </a:rPr>
              <a:t> </a:t>
            </a:r>
            <a:r>
              <a:rPr lang="en-US" sz="2400" dirty="0">
                <a:effectLst/>
              </a:rPr>
              <a:t>Mode 1/CD-ROM Mode 2 (Yellow Book)</a:t>
            </a:r>
          </a:p>
          <a:p>
            <a:r>
              <a:rPr lang="bg-BG" sz="2400" dirty="0">
                <a:effectLst/>
              </a:rPr>
              <a:t>Това е стандартният формат за запис на </a:t>
            </a:r>
            <a:r>
              <a:rPr lang="en-US" sz="2400" dirty="0">
                <a:effectLst/>
              </a:rPr>
              <a:t>CD </a:t>
            </a:r>
            <a:r>
              <a:rPr lang="bg-BG" sz="2400" dirty="0">
                <a:effectLst/>
              </a:rPr>
              <a:t>със данни. </a:t>
            </a:r>
            <a:r>
              <a:rPr lang="en-US" sz="2400" dirty="0">
                <a:effectLst/>
              </a:rPr>
              <a:t>Mode 2 </a:t>
            </a:r>
            <a:r>
              <a:rPr lang="bg-BG" sz="2400" dirty="0">
                <a:effectLst/>
              </a:rPr>
              <a:t>може да бъде </a:t>
            </a:r>
            <a:r>
              <a:rPr lang="en-US" sz="2400" dirty="0">
                <a:effectLst/>
              </a:rPr>
              <a:t>form 1 </a:t>
            </a:r>
            <a:r>
              <a:rPr lang="bg-BG" sz="2400" dirty="0">
                <a:effectLst/>
              </a:rPr>
              <a:t>или </a:t>
            </a:r>
            <a:r>
              <a:rPr lang="en-US" sz="2400" dirty="0">
                <a:effectLst/>
              </a:rPr>
              <a:t>form 2. </a:t>
            </a:r>
            <a:r>
              <a:rPr lang="bg-BG" sz="2400" dirty="0">
                <a:effectLst/>
              </a:rPr>
              <a:t>При </a:t>
            </a:r>
            <a:r>
              <a:rPr lang="en-US" sz="2400" dirty="0">
                <a:effectLst/>
              </a:rPr>
              <a:t>form 1 </a:t>
            </a:r>
            <a:r>
              <a:rPr lang="bg-BG" sz="2400" dirty="0">
                <a:effectLst/>
              </a:rPr>
              <a:t>за данните се заделят 2048 байта с корекция на грешките ( за данни), а при </a:t>
            </a:r>
            <a:r>
              <a:rPr lang="en-US" sz="2400" dirty="0">
                <a:effectLst/>
              </a:rPr>
              <a:t>form 2 - 2324 </a:t>
            </a:r>
            <a:r>
              <a:rPr lang="bg-BG" sz="2400" dirty="0">
                <a:effectLst/>
              </a:rPr>
              <a:t>байта дании, без корекция на грешки (за аудио/видео)</a:t>
            </a:r>
          </a:p>
          <a:p>
            <a:r>
              <a:rPr lang="en-US" sz="2400" b="1" u="sng" dirty="0">
                <a:effectLst/>
              </a:rPr>
              <a:t>CD-ROM XA </a:t>
            </a:r>
            <a:r>
              <a:rPr lang="en-US" sz="2400" dirty="0">
                <a:effectLst/>
              </a:rPr>
              <a:t>- Compact Disk Read Only Memory eXtended Architecture</a:t>
            </a:r>
          </a:p>
          <a:p>
            <a:r>
              <a:rPr lang="bg-BG" sz="2400" dirty="0">
                <a:effectLst/>
              </a:rPr>
              <a:t>При този формат е възможно да се запише видео сигнал заедно със звуков сигнал и сигнал за звукова синхронизация за получаване на озвучено изображение.</a:t>
            </a:r>
          </a:p>
          <a:p>
            <a:r>
              <a:rPr lang="en-US" sz="2400" b="1" u="sng" dirty="0">
                <a:effectLst/>
              </a:rPr>
              <a:t>CD-DA</a:t>
            </a:r>
            <a:r>
              <a:rPr lang="en-US" sz="2400" dirty="0">
                <a:effectLst/>
              </a:rPr>
              <a:t> (Red Book) Compact Disk Digital Audio (</a:t>
            </a:r>
            <a:r>
              <a:rPr lang="bg-BG" sz="2400" dirty="0">
                <a:effectLst/>
              </a:rPr>
              <a:t>компакт-диск с цифрово аудио)</a:t>
            </a:r>
          </a:p>
          <a:p>
            <a:r>
              <a:rPr lang="bg-BG" sz="2400" dirty="0">
                <a:effectLst/>
              </a:rPr>
              <a:t>Това е стандартния формат за запис на музикални </a:t>
            </a:r>
            <a:r>
              <a:rPr lang="en-US" sz="2400" dirty="0">
                <a:effectLst/>
              </a:rPr>
              <a:t>CD.</a:t>
            </a:r>
          </a:p>
          <a:p>
            <a:pPr lvl="0"/>
            <a:endParaRPr lang="en-GB" sz="2400" dirty="0">
              <a:latin typeface="Times New Roman" pitchFamily="18"/>
              <a:cs typeface="Times New Roman" pitchFamily="18"/>
            </a:endParaRPr>
          </a:p>
        </p:txBody>
      </p:sp>
      <p:sp>
        <p:nvSpPr>
          <p:cNvPr id="3" name="Rectangle 7">
            <a:extLst>
              <a:ext uri="{FF2B5EF4-FFF2-40B4-BE49-F238E27FC236}">
                <a16:creationId xmlns="" xmlns:a16="http://schemas.microsoft.com/office/drawing/2014/main" id="{1990FB30-41B9-4E87-87C6-1832F255C987}"/>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Видове</a:t>
            </a:r>
            <a:r>
              <a:rPr lang="bg-BG" sz="2800" b="0" i="0" u="none" strike="noStrike" kern="1200" cap="none" spc="0" dirty="0" smtClean="0">
                <a:solidFill>
                  <a:srgbClr val="000000"/>
                </a:solidFill>
                <a:uFillTx/>
                <a:latin typeface="Times New Roman" pitchFamily="18"/>
                <a:cs typeface="Times New Roman" pitchFamily="18"/>
              </a:rPr>
              <a:t> </a:t>
            </a:r>
            <a:r>
              <a:rPr lang="en-US" sz="2800" b="0" i="0" u="none" strike="noStrike" kern="1200" cap="none" spc="0" dirty="0" smtClean="0">
                <a:solidFill>
                  <a:srgbClr val="000000"/>
                </a:solidFill>
                <a:uFillTx/>
                <a:latin typeface="Times New Roman" pitchFamily="18"/>
                <a:cs typeface="Times New Roman" pitchFamily="18"/>
              </a:rPr>
              <a:t>CD DVD</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6" name="Straight Connector 5">
            <a:extLst>
              <a:ext uri="{FF2B5EF4-FFF2-40B4-BE49-F238E27FC236}">
                <a16:creationId xmlns="" xmlns:a16="http://schemas.microsoft.com/office/drawing/2014/main" id="{E3003305-598E-4C74-931C-1E988FC08625}"/>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 xmlns:a16="http://schemas.microsoft.com/office/drawing/2014/main" id="{D9C02EA9-C73E-485F-B034-52FD1A137628}"/>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en-US" dirty="0"/>
              <a:t>2</a:t>
            </a:r>
            <a:r>
              <a:rPr lang="bg-BG" dirty="0"/>
              <a:t>5</a:t>
            </a:r>
            <a:endParaRPr lang="en-GB" dirty="0"/>
          </a:p>
        </p:txBody>
      </p:sp>
      <p:cxnSp>
        <p:nvCxnSpPr>
          <p:cNvPr id="8" name="Straight Connector 7">
            <a:extLst>
              <a:ext uri="{FF2B5EF4-FFF2-40B4-BE49-F238E27FC236}">
                <a16:creationId xmlns="" xmlns:a16="http://schemas.microsoft.com/office/drawing/2014/main" id="{ACF7C252-1B69-424D-9206-0C316BCADF91}"/>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31">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9F7A8ACA-3052-4A0F-8D8A-5587EB63B0DF}"/>
              </a:ext>
            </a:extLst>
          </p:cNvPr>
          <p:cNvSpPr txBox="1">
            <a:spLocks noGrp="1"/>
          </p:cNvSpPr>
          <p:nvPr>
            <p:ph type="body" sz="half" idx="2"/>
          </p:nvPr>
        </p:nvSpPr>
        <p:spPr>
          <a:xfrm>
            <a:off x="721286" y="1653812"/>
            <a:ext cx="7173033" cy="4555385"/>
          </a:xfrm>
        </p:spPr>
        <p:txBody>
          <a:bodyPr>
            <a:noAutofit/>
          </a:bodyPr>
          <a:lstStyle/>
          <a:p>
            <a:pPr lvl="0"/>
            <a:r>
              <a:rPr lang="ru-RU" sz="2800" b="1" dirty="0" smtClean="0">
                <a:effectLst/>
              </a:rPr>
              <a:t>Флашката</a:t>
            </a:r>
            <a:r>
              <a:rPr lang="ru-RU" sz="2800" dirty="0" smtClean="0">
                <a:effectLst/>
              </a:rPr>
              <a:t> е </a:t>
            </a:r>
            <a:r>
              <a:rPr lang="ru-RU" sz="2800" dirty="0">
                <a:effectLst/>
              </a:rPr>
              <a:t>вид </a:t>
            </a:r>
            <a:r>
              <a:rPr lang="ru-RU" sz="2800" dirty="0">
                <a:effectLst/>
                <a:hlinkClick r:id="rId2" tooltip="Запаметяващо устройство"/>
              </a:rPr>
              <a:t>запаметяващо устройство</a:t>
            </a:r>
            <a:r>
              <a:rPr lang="ru-RU" sz="2800" dirty="0">
                <a:effectLst/>
              </a:rPr>
              <a:t>, което служи за съхранение и обмен на </a:t>
            </a:r>
            <a:r>
              <a:rPr lang="ru-RU" sz="2800" dirty="0">
                <a:effectLst/>
                <a:hlinkClick r:id="rId3" tooltip="Данни"/>
              </a:rPr>
              <a:t>данни</a:t>
            </a:r>
            <a:r>
              <a:rPr lang="ru-RU" sz="2800" dirty="0">
                <a:effectLst/>
              </a:rPr>
              <a:t> с </a:t>
            </a:r>
            <a:r>
              <a:rPr lang="ru-RU" sz="2800" dirty="0">
                <a:effectLst/>
                <a:hlinkClick r:id="rId4" tooltip="Компютър"/>
              </a:rPr>
              <a:t>компютър</a:t>
            </a:r>
            <a:r>
              <a:rPr lang="ru-RU" sz="2800" dirty="0">
                <a:effectLst/>
              </a:rPr>
              <a:t>. Основава се на енергонезависима </a:t>
            </a:r>
            <a:r>
              <a:rPr lang="ru-RU" sz="2800" dirty="0">
                <a:effectLst/>
                <a:hlinkClick r:id="rId5" tooltip="Компютърна памет"/>
              </a:rPr>
              <a:t>компютърна памет</a:t>
            </a:r>
            <a:r>
              <a:rPr lang="ru-RU" sz="2800" dirty="0">
                <a:effectLst/>
              </a:rPr>
              <a:t>, комбинирана с </a:t>
            </a:r>
            <a:r>
              <a:rPr lang="ru-RU" sz="2800" dirty="0">
                <a:effectLst/>
                <a:hlinkClick r:id="rId6" tooltip="USB"/>
              </a:rPr>
              <a:t>USB</a:t>
            </a:r>
            <a:r>
              <a:rPr lang="ru-RU" sz="2800" dirty="0">
                <a:effectLst/>
              </a:rPr>
              <a:t> </a:t>
            </a:r>
            <a:r>
              <a:rPr lang="ru-RU" sz="2800" dirty="0">
                <a:effectLst/>
                <a:hlinkClick r:id="rId7" tooltip="Шина (компютри)"/>
              </a:rPr>
              <a:t>шина</a:t>
            </a:r>
            <a:r>
              <a:rPr lang="ru-RU" sz="2800" dirty="0">
                <a:effectLst/>
              </a:rPr>
              <a:t> и е малка по размер, може да се използва за многократно записване на информация и е много удобна. На пазара се предлагат различни по капацитет памети – от десетки </a:t>
            </a:r>
            <a:r>
              <a:rPr lang="ru-RU" sz="2800" dirty="0">
                <a:effectLst/>
                <a:hlinkClick r:id="rId8" tooltip="Мегабайт"/>
              </a:rPr>
              <a:t>мегабайта</a:t>
            </a:r>
            <a:r>
              <a:rPr lang="ru-RU" sz="2800" dirty="0">
                <a:effectLst/>
              </a:rPr>
              <a:t> (MB) до няколко </a:t>
            </a:r>
            <a:r>
              <a:rPr lang="ru-RU" sz="2800" dirty="0">
                <a:effectLst/>
                <a:hlinkClick r:id="rId9" tooltip="Гигабайт"/>
              </a:rPr>
              <a:t>гигабайта</a:t>
            </a:r>
            <a:r>
              <a:rPr lang="ru-RU" sz="2800" dirty="0">
                <a:effectLst/>
              </a:rPr>
              <a:t> (GB).</a:t>
            </a:r>
            <a:endParaRPr lang="en-GB" sz="2800" dirty="0">
              <a:latin typeface="Times New Roman" pitchFamily="18"/>
              <a:cs typeface="Times New Roman" pitchFamily="18"/>
            </a:endParaRPr>
          </a:p>
        </p:txBody>
      </p:sp>
      <p:sp>
        <p:nvSpPr>
          <p:cNvPr id="3" name="Rectangle 7">
            <a:extLst>
              <a:ext uri="{FF2B5EF4-FFF2-40B4-BE49-F238E27FC236}">
                <a16:creationId xmlns="" xmlns:a16="http://schemas.microsoft.com/office/drawing/2014/main" id="{CE29816A-D8C9-4095-A040-3D059643A8B0}"/>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dirty="0" smtClean="0">
                <a:solidFill>
                  <a:srgbClr val="000000"/>
                </a:solidFill>
                <a:uFillTx/>
                <a:latin typeface="Times New Roman" pitchFamily="18"/>
                <a:cs typeface="Times New Roman" pitchFamily="18"/>
              </a:rPr>
              <a:t>USB</a:t>
            </a:r>
            <a:r>
              <a:rPr lang="en-GB" sz="2800" b="0" i="0" u="none" strike="noStrike" kern="1200" cap="none" spc="0" dirty="0" smtClean="0">
                <a:solidFill>
                  <a:srgbClr val="000000"/>
                </a:solidFill>
                <a:uFillTx/>
                <a:latin typeface="Times New Roman" pitchFamily="18"/>
                <a:cs typeface="Times New Roman" pitchFamily="18"/>
              </a:rPr>
              <a:t> </a:t>
            </a:r>
            <a:r>
              <a:rPr lang="bg-BG" sz="2800" b="0" i="0" u="none" strike="noStrike" kern="1200" cap="none" spc="0" dirty="0" smtClean="0">
                <a:solidFill>
                  <a:srgbClr val="000000"/>
                </a:solidFill>
                <a:uFillTx/>
                <a:latin typeface="Times New Roman" pitchFamily="18"/>
                <a:cs typeface="Times New Roman" pitchFamily="18"/>
              </a:rPr>
              <a:t>флаш</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5" name="Straight Connector 4">
            <a:extLst>
              <a:ext uri="{FF2B5EF4-FFF2-40B4-BE49-F238E27FC236}">
                <a16:creationId xmlns="" xmlns:a16="http://schemas.microsoft.com/office/drawing/2014/main" id="{FAFF01B0-E097-4624-9FFF-1A9B27CF5DEC}"/>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054B5D32-0DFF-4928-8BC5-2031936CECDD}"/>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en-US" dirty="0"/>
              <a:t>2</a:t>
            </a:r>
            <a:r>
              <a:rPr lang="bg-BG" dirty="0"/>
              <a:t>6</a:t>
            </a:r>
            <a:endParaRPr lang="en-GB" dirty="0"/>
          </a:p>
        </p:txBody>
      </p:sp>
      <p:cxnSp>
        <p:nvCxnSpPr>
          <p:cNvPr id="7" name="Straight Connector 6">
            <a:extLst>
              <a:ext uri="{FF2B5EF4-FFF2-40B4-BE49-F238E27FC236}">
                <a16:creationId xmlns="" xmlns:a16="http://schemas.microsoft.com/office/drawing/2014/main" id="{D58A92D2-A75B-41F0-95FE-88F8AD74EE12}"/>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Back">
            <a:hlinkClick r:id="rId10" action="ppaction://hlinksldjump"/>
            <a:extLst>
              <a:ext uri="{FF2B5EF4-FFF2-40B4-BE49-F238E27FC236}">
                <a16:creationId xmlns="" xmlns:a16="http://schemas.microsoft.com/office/drawing/2014/main" id="{C9675A39-859D-449B-A6D8-70C61446DB4A}"/>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11260256" y="315471"/>
            <a:ext cx="460786" cy="460786"/>
          </a:xfrm>
          <a:prstGeom prst="rect">
            <a:avLst/>
          </a:prstGeom>
        </p:spPr>
      </p:pic>
      <p:pic>
        <p:nvPicPr>
          <p:cNvPr id="8" name="Picture 7"/>
          <p:cNvPicPr>
            <a:picLocks noChangeAspect="1"/>
          </p:cNvPicPr>
          <p:nvPr/>
        </p:nvPicPr>
        <p:blipFill>
          <a:blip r:embed="rId13"/>
          <a:stretch>
            <a:fillRect/>
          </a:stretch>
        </p:blipFill>
        <p:spPr>
          <a:xfrm>
            <a:off x="8455934" y="2108141"/>
            <a:ext cx="3393944" cy="37797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32">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C129996D-7629-4ECA-9042-514E6E9C672B}"/>
              </a:ext>
            </a:extLst>
          </p:cNvPr>
          <p:cNvSpPr txBox="1">
            <a:spLocks noGrp="1"/>
          </p:cNvSpPr>
          <p:nvPr>
            <p:ph type="body" sz="half" idx="2"/>
          </p:nvPr>
        </p:nvSpPr>
        <p:spPr>
          <a:xfrm>
            <a:off x="390575" y="1565850"/>
            <a:ext cx="7672612" cy="4873623"/>
          </a:xfrm>
        </p:spPr>
        <p:txBody>
          <a:bodyPr/>
          <a:lstStyle/>
          <a:p>
            <a:pPr lvl="0"/>
            <a:r>
              <a:rPr lang="ru-RU" sz="2400" dirty="0">
                <a:effectLst/>
              </a:rPr>
              <a:t>Флашпаметта комбинира някои по-стари технологии, притежаващи ниска цена, ниска консумация и малки размери благодарение на напредъка в </a:t>
            </a:r>
            <a:r>
              <a:rPr lang="ru-RU" sz="2400" dirty="0">
                <a:effectLst/>
                <a:hlinkClick r:id="rId2" tooltip="Микропроцесор"/>
              </a:rPr>
              <a:t>микропроцесорните</a:t>
            </a:r>
            <a:r>
              <a:rPr lang="ru-RU" sz="2400" dirty="0">
                <a:effectLst/>
              </a:rPr>
              <a:t> технологии. Паметта е базирана на предходните </a:t>
            </a:r>
            <a:r>
              <a:rPr lang="ru-RU" sz="2400" dirty="0">
                <a:effectLst/>
                <a:hlinkClick r:id="rId3" tooltip="EPROM"/>
              </a:rPr>
              <a:t>EPROM</a:t>
            </a:r>
            <a:r>
              <a:rPr lang="ru-RU" sz="2400" dirty="0">
                <a:effectLst/>
              </a:rPr>
              <a:t> и </a:t>
            </a:r>
            <a:r>
              <a:rPr lang="ru-RU" sz="2400" dirty="0">
                <a:effectLst/>
                <a:hlinkClick r:id="rId4" tooltip="EEPROM"/>
              </a:rPr>
              <a:t>EEPROM</a:t>
            </a:r>
            <a:r>
              <a:rPr lang="ru-RU" sz="2400" dirty="0">
                <a:effectLst/>
              </a:rPr>
              <a:t> технологии. Те притежават много ограничен капацитет, много са бавни при четене и запис, изискват сложна високоволтова управляваща верига и могат да бъдат презаписани само след изтриване на цялото съдържание на чипа.</a:t>
            </a:r>
            <a:endParaRPr lang="en-GB" sz="2400" dirty="0">
              <a:latin typeface="Times New Roman" pitchFamily="18"/>
              <a:cs typeface="Times New Roman" pitchFamily="18"/>
            </a:endParaRPr>
          </a:p>
        </p:txBody>
      </p:sp>
      <p:sp>
        <p:nvSpPr>
          <p:cNvPr id="3" name="Rectangle 7">
            <a:extLst>
              <a:ext uri="{FF2B5EF4-FFF2-40B4-BE49-F238E27FC236}">
                <a16:creationId xmlns="" xmlns:a16="http://schemas.microsoft.com/office/drawing/2014/main" id="{8DF43447-C3CF-41E9-A5C1-7F6B38409F6C}"/>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smtClean="0">
                <a:solidFill>
                  <a:srgbClr val="000000"/>
                </a:solidFill>
                <a:uFillTx/>
                <a:latin typeface="Times New Roman" pitchFamily="18"/>
                <a:cs typeface="Times New Roman" pitchFamily="18"/>
              </a:rPr>
              <a:t>Технология</a:t>
            </a:r>
            <a:endParaRPr lang="en-GB" sz="2800" b="0" i="0" u="none" strike="noStrike" kern="1200" cap="none" spc="0" baseline="0" dirty="0">
              <a:solidFill>
                <a:srgbClr val="000000"/>
              </a:solidFill>
              <a:uFillTx/>
              <a:latin typeface="Times New Roman" pitchFamily="18"/>
              <a:cs typeface="Times New Roman" pitchFamily="18"/>
            </a:endParaRPr>
          </a:p>
        </p:txBody>
      </p:sp>
      <p:cxnSp>
        <p:nvCxnSpPr>
          <p:cNvPr id="9" name="Straight Connector 8">
            <a:extLst>
              <a:ext uri="{FF2B5EF4-FFF2-40B4-BE49-F238E27FC236}">
                <a16:creationId xmlns="" xmlns:a16="http://schemas.microsoft.com/office/drawing/2014/main" id="{5454DD59-7BED-44E8-B05C-4B33F1AFED53}"/>
              </a:ext>
            </a:extLst>
          </p:cNvPr>
          <p:cNvCxnSpPr>
            <a:cxnSpLocks/>
          </p:cNvCxnSpPr>
          <p:nvPr/>
        </p:nvCxnSpPr>
        <p:spPr>
          <a:xfrm flipH="1">
            <a:off x="527211" y="6522098"/>
            <a:ext cx="97878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E495A8C9-C4EE-4655-8291-145853D2C06D}"/>
              </a:ext>
            </a:extLst>
          </p:cNvPr>
          <p:cNvCxnSpPr/>
          <p:nvPr/>
        </p:nvCxnSpPr>
        <p:spPr>
          <a:xfrm>
            <a:off x="11131420" y="6522098"/>
            <a:ext cx="718458"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41B0BC0E-37C9-4085-ACED-ABFF2C0DAC9E}"/>
              </a:ext>
            </a:extLst>
          </p:cNvPr>
          <p:cNvSpPr txBox="1"/>
          <p:nvPr/>
        </p:nvSpPr>
        <p:spPr>
          <a:xfrm>
            <a:off x="10412962" y="6370455"/>
            <a:ext cx="653142" cy="369332"/>
          </a:xfrm>
          <a:prstGeom prst="rect">
            <a:avLst/>
          </a:prstGeom>
          <a:noFill/>
          <a:ln>
            <a:solidFill>
              <a:schemeClr val="tx2">
                <a:lumMod val="60000"/>
                <a:lumOff val="40000"/>
              </a:schemeClr>
            </a:solidFill>
          </a:ln>
        </p:spPr>
        <p:txBody>
          <a:bodyPr wrap="square" rtlCol="0">
            <a:spAutoFit/>
          </a:bodyPr>
          <a:lstStyle/>
          <a:p>
            <a:pPr algn="ctr"/>
            <a:r>
              <a:rPr lang="en-US" dirty="0"/>
              <a:t>2</a:t>
            </a:r>
            <a:r>
              <a:rPr lang="bg-BG" dirty="0"/>
              <a:t>7</a:t>
            </a:r>
            <a:endParaRPr lang="en-GB" dirty="0"/>
          </a:p>
        </p:txBody>
      </p:sp>
      <p:cxnSp>
        <p:nvCxnSpPr>
          <p:cNvPr id="14" name="Straight Connector 13">
            <a:extLst>
              <a:ext uri="{FF2B5EF4-FFF2-40B4-BE49-F238E27FC236}">
                <a16:creationId xmlns="" xmlns:a16="http://schemas.microsoft.com/office/drawing/2014/main" id="{5260CC93-AC3D-4315-BDD0-55EE43E9306E}"/>
              </a:ext>
            </a:extLst>
          </p:cNvPr>
          <p:cNvCxnSpPr>
            <a:cxnSpLocks/>
          </p:cNvCxnSpPr>
          <p:nvPr/>
        </p:nvCxnSpPr>
        <p:spPr>
          <a:xfrm flipH="1">
            <a:off x="517880" y="6512767"/>
            <a:ext cx="9787812" cy="0"/>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Graphic 14" descr="Back">
            <a:hlinkClick r:id="rId5" action="ppaction://hlinksldjump"/>
            <a:extLst>
              <a:ext uri="{FF2B5EF4-FFF2-40B4-BE49-F238E27FC236}">
                <a16:creationId xmlns="" xmlns:a16="http://schemas.microsoft.com/office/drawing/2014/main" id="{CB957A84-2377-4E50-BB19-8996A5FA2948}"/>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11260256" y="306140"/>
            <a:ext cx="460786" cy="460786"/>
          </a:xfrm>
          <a:prstGeom prst="rect">
            <a:avLst/>
          </a:prstGeom>
        </p:spPr>
      </p:pic>
      <p:pic>
        <p:nvPicPr>
          <p:cNvPr id="5" name="Picture 4"/>
          <p:cNvPicPr>
            <a:picLocks noChangeAspect="1"/>
          </p:cNvPicPr>
          <p:nvPr/>
        </p:nvPicPr>
        <p:blipFill>
          <a:blip r:embed="rId8"/>
          <a:stretch>
            <a:fillRect/>
          </a:stretch>
        </p:blipFill>
        <p:spPr>
          <a:xfrm>
            <a:off x="8442194" y="2133600"/>
            <a:ext cx="3333750" cy="3200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28">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E2622304-40D0-4166-87FC-3E1286DC08B3}"/>
              </a:ext>
            </a:extLst>
          </p:cNvPr>
          <p:cNvSpPr txBox="1">
            <a:spLocks noGrp="1"/>
          </p:cNvSpPr>
          <p:nvPr>
            <p:ph type="body" sz="half" idx="2"/>
          </p:nvPr>
        </p:nvSpPr>
        <p:spPr>
          <a:xfrm>
            <a:off x="416061" y="1845842"/>
            <a:ext cx="11359883" cy="4873623"/>
          </a:xfrm>
        </p:spPr>
        <p:txBody>
          <a:bodyPr>
            <a:normAutofit/>
          </a:bodyPr>
          <a:lstStyle/>
          <a:p>
            <a:pPr lvl="0">
              <a:lnSpc>
                <a:spcPct val="80000"/>
              </a:lnSpc>
            </a:pPr>
            <a:r>
              <a:rPr lang="bg-BG" sz="2400" dirty="0">
                <a:latin typeface="Times New Roman" pitchFamily="18"/>
                <a:cs typeface="Times New Roman" pitchFamily="18"/>
              </a:rPr>
              <a:t>1. Избройте всички познати видове </a:t>
            </a:r>
            <a:r>
              <a:rPr lang="bg-BG" sz="2400" dirty="0" smtClean="0">
                <a:latin typeface="Times New Roman" pitchFamily="18"/>
                <a:cs typeface="Times New Roman" pitchFamily="18"/>
              </a:rPr>
              <a:t>изходни</a:t>
            </a:r>
            <a:r>
              <a:rPr lang="bg-BG" sz="2400" dirty="0" smtClean="0">
                <a:latin typeface="Times New Roman" pitchFamily="18"/>
                <a:cs typeface="Times New Roman" pitchFamily="18"/>
              </a:rPr>
              <a:t> </a:t>
            </a:r>
            <a:r>
              <a:rPr lang="bg-BG" sz="2400" dirty="0">
                <a:latin typeface="Times New Roman" pitchFamily="18"/>
                <a:cs typeface="Times New Roman" pitchFamily="18"/>
              </a:rPr>
              <a:t>устройства. </a:t>
            </a:r>
          </a:p>
          <a:p>
            <a:pPr lvl="0">
              <a:lnSpc>
                <a:spcPct val="80000"/>
              </a:lnSpc>
            </a:pPr>
            <a:r>
              <a:rPr lang="bg-BG" sz="2400" dirty="0">
                <a:solidFill>
                  <a:schemeClr val="bg2">
                    <a:lumMod val="50000"/>
                  </a:schemeClr>
                </a:solidFill>
                <a:latin typeface="Times New Roman" pitchFamily="18"/>
                <a:cs typeface="Times New Roman" pitchFamily="18"/>
                <a:hlinkClick r:id="rId2" action="ppaction://hlinksldjump"/>
              </a:rPr>
              <a:t> </a:t>
            </a:r>
            <a:r>
              <a:rPr lang="bg-BG" sz="2000" dirty="0">
                <a:solidFill>
                  <a:schemeClr val="bg2">
                    <a:lumMod val="50000"/>
                  </a:schemeClr>
                </a:solidFill>
                <a:latin typeface="Times New Roman" pitchFamily="18"/>
                <a:cs typeface="Times New Roman" pitchFamily="18"/>
                <a:hlinkClick r:id="rId2" action="ppaction://hlinksldjump"/>
              </a:rPr>
              <a:t>Отговор</a:t>
            </a:r>
            <a:endParaRPr lang="bg-BG" sz="2000" dirty="0">
              <a:solidFill>
                <a:schemeClr val="bg2">
                  <a:lumMod val="50000"/>
                </a:schemeClr>
              </a:solidFill>
              <a:latin typeface="Times New Roman" pitchFamily="18"/>
              <a:cs typeface="Times New Roman" pitchFamily="18"/>
            </a:endParaRPr>
          </a:p>
          <a:p>
            <a:pPr lvl="0">
              <a:lnSpc>
                <a:spcPct val="80000"/>
              </a:lnSpc>
            </a:pPr>
            <a:r>
              <a:rPr lang="bg-BG" sz="2400" dirty="0">
                <a:latin typeface="Times New Roman" pitchFamily="18"/>
                <a:cs typeface="Times New Roman" pitchFamily="18"/>
              </a:rPr>
              <a:t>2. </a:t>
            </a:r>
            <a:r>
              <a:rPr lang="bg-BG" sz="2400" dirty="0" smtClean="0">
                <a:latin typeface="Times New Roman" pitchFamily="18"/>
                <a:cs typeface="Times New Roman" pitchFamily="18"/>
              </a:rPr>
              <a:t>Обяснете за какво служат принтерите. </a:t>
            </a:r>
          </a:p>
          <a:p>
            <a:pPr lvl="0">
              <a:lnSpc>
                <a:spcPct val="80000"/>
              </a:lnSpc>
            </a:pPr>
            <a:r>
              <a:rPr lang="bg-BG" sz="2400" dirty="0" smtClean="0">
                <a:latin typeface="Times New Roman" pitchFamily="18"/>
                <a:cs typeface="Times New Roman" pitchFamily="18"/>
              </a:rPr>
              <a:t> </a:t>
            </a:r>
            <a:r>
              <a:rPr lang="bg-BG" sz="2000" dirty="0" smtClean="0">
                <a:solidFill>
                  <a:schemeClr val="bg2">
                    <a:lumMod val="50000"/>
                  </a:schemeClr>
                </a:solidFill>
                <a:latin typeface="Times New Roman" pitchFamily="18"/>
                <a:cs typeface="Times New Roman" pitchFamily="18"/>
                <a:hlinkClick r:id="rId3" action="ppaction://hlinksldjump"/>
              </a:rPr>
              <a:t>Отговор</a:t>
            </a:r>
            <a:endParaRPr lang="bg-BG" sz="2000" dirty="0">
              <a:solidFill>
                <a:schemeClr val="bg2">
                  <a:lumMod val="50000"/>
                </a:schemeClr>
              </a:solidFill>
              <a:latin typeface="Times New Roman" pitchFamily="18"/>
              <a:cs typeface="Times New Roman" pitchFamily="18"/>
            </a:endParaRPr>
          </a:p>
          <a:p>
            <a:pPr lvl="0">
              <a:lnSpc>
                <a:spcPct val="80000"/>
              </a:lnSpc>
            </a:pPr>
            <a:r>
              <a:rPr lang="bg-BG" sz="2400" dirty="0">
                <a:latin typeface="Times New Roman" pitchFamily="18"/>
                <a:cs typeface="Times New Roman" pitchFamily="18"/>
              </a:rPr>
              <a:t> 3. Избройте видовете </a:t>
            </a:r>
            <a:r>
              <a:rPr lang="bg-BG" sz="2400" dirty="0" smtClean="0">
                <a:latin typeface="Times New Roman" pitchFamily="18"/>
                <a:cs typeface="Times New Roman" pitchFamily="18"/>
              </a:rPr>
              <a:t>плотери </a:t>
            </a:r>
            <a:r>
              <a:rPr lang="bg-BG" sz="2400" dirty="0">
                <a:latin typeface="Times New Roman" pitchFamily="18"/>
                <a:cs typeface="Times New Roman" pitchFamily="18"/>
              </a:rPr>
              <a:t>и обеснете на кратко принципа им на действие.</a:t>
            </a:r>
          </a:p>
          <a:p>
            <a:pPr lvl="0">
              <a:lnSpc>
                <a:spcPct val="80000"/>
              </a:lnSpc>
            </a:pPr>
            <a:r>
              <a:rPr lang="bg-BG" sz="2000" dirty="0">
                <a:solidFill>
                  <a:schemeClr val="bg2">
                    <a:lumMod val="50000"/>
                  </a:schemeClr>
                </a:solidFill>
                <a:latin typeface="Times New Roman" pitchFamily="18"/>
                <a:cs typeface="Times New Roman" pitchFamily="18"/>
                <a:hlinkClick r:id="rId4" action="ppaction://hlinksldjump"/>
              </a:rPr>
              <a:t>Отговор</a:t>
            </a:r>
            <a:endParaRPr lang="bg-BG" sz="2000" dirty="0">
              <a:solidFill>
                <a:schemeClr val="bg2">
                  <a:lumMod val="50000"/>
                </a:schemeClr>
              </a:solidFill>
              <a:latin typeface="Times New Roman" pitchFamily="18"/>
              <a:cs typeface="Times New Roman" pitchFamily="18"/>
            </a:endParaRPr>
          </a:p>
          <a:p>
            <a:pPr lvl="0">
              <a:lnSpc>
                <a:spcPct val="80000"/>
              </a:lnSpc>
            </a:pPr>
            <a:r>
              <a:rPr lang="bg-BG" sz="2400" dirty="0">
                <a:latin typeface="Times New Roman" pitchFamily="18"/>
                <a:cs typeface="Times New Roman" pitchFamily="18"/>
              </a:rPr>
              <a:t>4. Обяснете </a:t>
            </a:r>
            <a:r>
              <a:rPr lang="bg-BG" sz="2400" dirty="0" smtClean="0">
                <a:latin typeface="Times New Roman" pitchFamily="18"/>
                <a:cs typeface="Times New Roman" pitchFamily="18"/>
              </a:rPr>
              <a:t>за какво се използват </a:t>
            </a:r>
            <a:r>
              <a:rPr lang="en-US" sz="2400" dirty="0" smtClean="0">
                <a:latin typeface="Times New Roman" pitchFamily="18"/>
                <a:cs typeface="Times New Roman" pitchFamily="18"/>
              </a:rPr>
              <a:t>DVD</a:t>
            </a:r>
            <a:r>
              <a:rPr lang="bg-BG" sz="2400" dirty="0" smtClean="0">
                <a:latin typeface="Times New Roman" pitchFamily="18"/>
                <a:cs typeface="Times New Roman" pitchFamily="18"/>
              </a:rPr>
              <a:t>-та.</a:t>
            </a:r>
          </a:p>
          <a:p>
            <a:pPr lvl="0">
              <a:lnSpc>
                <a:spcPct val="80000"/>
              </a:lnSpc>
            </a:pPr>
            <a:r>
              <a:rPr lang="bg-BG" sz="2400" dirty="0" smtClean="0">
                <a:latin typeface="Times New Roman" pitchFamily="18"/>
                <a:cs typeface="Times New Roman" pitchFamily="18"/>
              </a:rPr>
              <a:t> </a:t>
            </a:r>
            <a:r>
              <a:rPr lang="bg-BG" sz="2000" dirty="0" smtClean="0">
                <a:solidFill>
                  <a:schemeClr val="bg2">
                    <a:lumMod val="50000"/>
                  </a:schemeClr>
                </a:solidFill>
                <a:latin typeface="Times New Roman" pitchFamily="18"/>
                <a:cs typeface="Times New Roman" pitchFamily="18"/>
                <a:hlinkClick r:id="rId5" action="ppaction://hlinksldjump"/>
              </a:rPr>
              <a:t>Отговор</a:t>
            </a:r>
            <a:endParaRPr lang="bg-BG" sz="2000" dirty="0">
              <a:solidFill>
                <a:schemeClr val="bg2">
                  <a:lumMod val="50000"/>
                </a:schemeClr>
              </a:solidFill>
              <a:latin typeface="Times New Roman" pitchFamily="18"/>
              <a:cs typeface="Times New Roman" pitchFamily="18"/>
            </a:endParaRPr>
          </a:p>
          <a:p>
            <a:pPr lvl="0">
              <a:lnSpc>
                <a:spcPct val="80000"/>
              </a:lnSpc>
            </a:pPr>
            <a:r>
              <a:rPr lang="bg-BG" sz="2400" dirty="0">
                <a:latin typeface="Times New Roman" pitchFamily="18"/>
                <a:cs typeface="Times New Roman" pitchFamily="18"/>
              </a:rPr>
              <a:t>5. </a:t>
            </a:r>
            <a:r>
              <a:rPr lang="bg-BG" sz="2400" dirty="0" smtClean="0">
                <a:latin typeface="Times New Roman" pitchFamily="18"/>
                <a:cs typeface="Times New Roman" pitchFamily="18"/>
              </a:rPr>
              <a:t>Разкажете за технологията на флашката.</a:t>
            </a:r>
          </a:p>
          <a:p>
            <a:pPr lvl="0">
              <a:lnSpc>
                <a:spcPct val="80000"/>
              </a:lnSpc>
            </a:pPr>
            <a:r>
              <a:rPr lang="bg-BG" sz="2000" dirty="0" smtClean="0">
                <a:solidFill>
                  <a:schemeClr val="bg2">
                    <a:lumMod val="50000"/>
                  </a:schemeClr>
                </a:solidFill>
                <a:latin typeface="Times New Roman" pitchFamily="18"/>
                <a:cs typeface="Times New Roman" pitchFamily="18"/>
                <a:hlinkClick r:id="rId6" action="ppaction://hlinksldjump"/>
              </a:rPr>
              <a:t>Отговор</a:t>
            </a:r>
            <a:endParaRPr lang="en-GB" sz="2000" dirty="0">
              <a:solidFill>
                <a:schemeClr val="bg2">
                  <a:lumMod val="50000"/>
                </a:schemeClr>
              </a:solidFill>
              <a:latin typeface="Times New Roman" pitchFamily="18"/>
              <a:cs typeface="Times New Roman" pitchFamily="18"/>
            </a:endParaRPr>
          </a:p>
        </p:txBody>
      </p:sp>
      <p:sp>
        <p:nvSpPr>
          <p:cNvPr id="3" name="Rectangle 7">
            <a:extLst>
              <a:ext uri="{FF2B5EF4-FFF2-40B4-BE49-F238E27FC236}">
                <a16:creationId xmlns="" xmlns:a16="http://schemas.microsoft.com/office/drawing/2014/main" id="{9B576533-EA42-4378-B50F-F0C9BC346865}"/>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a:solidFill>
                  <a:srgbClr val="000000"/>
                </a:solidFill>
                <a:uFillTx/>
                <a:latin typeface="Times New Roman" pitchFamily="18"/>
                <a:cs typeface="Times New Roman" pitchFamily="18"/>
              </a:rPr>
              <a:t>Тест</a:t>
            </a:r>
            <a:endParaRPr lang="en-GB" sz="2800" b="0" i="0" u="none" strike="noStrike" kern="1200" cap="none" spc="0" baseline="0" dirty="0">
              <a:solidFill>
                <a:srgbClr val="000000"/>
              </a:solidFill>
              <a:uFillTx/>
              <a:latin typeface="Times New Roman" pitchFamily="18"/>
              <a:cs typeface="Times New Roman" pitchFamily="1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sp>
        <p:nvSpPr>
          <p:cNvPr id="2" name="Text Placeholder 2">
            <a:extLst>
              <a:ext uri="{FF2B5EF4-FFF2-40B4-BE49-F238E27FC236}">
                <a16:creationId xmlns="" xmlns:a16="http://schemas.microsoft.com/office/drawing/2014/main" id="{F12A2671-A213-4685-8CC0-5C482577E637}"/>
              </a:ext>
            </a:extLst>
          </p:cNvPr>
          <p:cNvSpPr txBox="1">
            <a:spLocks noGrp="1"/>
          </p:cNvSpPr>
          <p:nvPr>
            <p:ph type="body" idx="1"/>
          </p:nvPr>
        </p:nvSpPr>
        <p:spPr>
          <a:xfrm>
            <a:off x="838202" y="1985066"/>
            <a:ext cx="10515600" cy="4504691"/>
          </a:xfrm>
        </p:spPr>
        <p:txBody>
          <a:bodyPr/>
          <a:lstStyle/>
          <a:p>
            <a:pPr lvl="0"/>
            <a:r>
              <a:rPr lang="en-US" dirty="0">
                <a:solidFill>
                  <a:srgbClr val="000000"/>
                </a:solidFill>
                <a:latin typeface="Times New Roman" pitchFamily="18"/>
                <a:cs typeface="Times New Roman" pitchFamily="18"/>
                <a:hlinkClick r:id="rId2"/>
              </a:rPr>
              <a:t>https://</a:t>
            </a:r>
            <a:r>
              <a:rPr lang="en-US" dirty="0" smtClean="0">
                <a:solidFill>
                  <a:srgbClr val="000000"/>
                </a:solidFill>
                <a:latin typeface="Times New Roman" pitchFamily="18"/>
                <a:cs typeface="Times New Roman" pitchFamily="18"/>
                <a:hlinkClick r:id="rId2"/>
              </a:rPr>
              <a:t>gyp.dobrblog.com/articles/vidove-ploteri-tehnite-harakteristiki-i-funkcii-za.html</a:t>
            </a:r>
            <a:r>
              <a:rPr lang="bg-BG" dirty="0" smtClean="0">
                <a:solidFill>
                  <a:srgbClr val="000000"/>
                </a:solidFill>
                <a:latin typeface="Times New Roman" pitchFamily="18"/>
                <a:cs typeface="Times New Roman" pitchFamily="18"/>
              </a:rPr>
              <a:t> </a:t>
            </a:r>
          </a:p>
          <a:p>
            <a:pPr lvl="0"/>
            <a:r>
              <a:rPr lang="en-US" dirty="0">
                <a:solidFill>
                  <a:srgbClr val="000000"/>
                </a:solidFill>
                <a:latin typeface="Times New Roman" pitchFamily="18"/>
                <a:cs typeface="Times New Roman" pitchFamily="18"/>
                <a:hlinkClick r:id="rId3"/>
              </a:rPr>
              <a:t>https://bg.wikipedia.org/wiki/%</a:t>
            </a:r>
            <a:r>
              <a:rPr lang="en-US" dirty="0" smtClean="0">
                <a:solidFill>
                  <a:srgbClr val="000000"/>
                </a:solidFill>
                <a:latin typeface="Times New Roman" pitchFamily="18"/>
                <a:cs typeface="Times New Roman" pitchFamily="18"/>
                <a:hlinkClick r:id="rId3"/>
              </a:rPr>
              <a:t>D0%A1%D0%BB%D1%83%D1%88%D0%B0%D0%BB%D0%BA%D0%B8</a:t>
            </a:r>
            <a:r>
              <a:rPr lang="bg-BG" dirty="0" smtClean="0">
                <a:solidFill>
                  <a:srgbClr val="000000"/>
                </a:solidFill>
                <a:latin typeface="Times New Roman" pitchFamily="18"/>
                <a:cs typeface="Times New Roman" pitchFamily="18"/>
              </a:rPr>
              <a:t> </a:t>
            </a:r>
          </a:p>
          <a:p>
            <a:pPr lvl="0"/>
            <a:r>
              <a:rPr lang="en-US" dirty="0">
                <a:solidFill>
                  <a:srgbClr val="000000"/>
                </a:solidFill>
                <a:latin typeface="Times New Roman" pitchFamily="18"/>
                <a:cs typeface="Times New Roman" pitchFamily="18"/>
                <a:hlinkClick r:id="rId4"/>
              </a:rPr>
              <a:t>https://</a:t>
            </a:r>
            <a:r>
              <a:rPr lang="en-US" dirty="0" smtClean="0">
                <a:solidFill>
                  <a:srgbClr val="000000"/>
                </a:solidFill>
                <a:latin typeface="Times New Roman" pitchFamily="18"/>
                <a:cs typeface="Times New Roman" pitchFamily="18"/>
                <a:hlinkClick r:id="rId4"/>
              </a:rPr>
              <a:t>www.avitel-bg.com/news.php?news=12</a:t>
            </a:r>
            <a:r>
              <a:rPr lang="bg-BG" dirty="0" smtClean="0">
                <a:solidFill>
                  <a:srgbClr val="000000"/>
                </a:solidFill>
                <a:latin typeface="Times New Roman" pitchFamily="18"/>
                <a:cs typeface="Times New Roman" pitchFamily="18"/>
              </a:rPr>
              <a:t> </a:t>
            </a:r>
          </a:p>
          <a:p>
            <a:pPr lvl="0"/>
            <a:r>
              <a:rPr lang="en-US" dirty="0">
                <a:solidFill>
                  <a:srgbClr val="000000"/>
                </a:solidFill>
                <a:latin typeface="Times New Roman" pitchFamily="18"/>
                <a:cs typeface="Times New Roman" pitchFamily="18"/>
                <a:hlinkClick r:id="rId5"/>
              </a:rPr>
              <a:t>https://www.kaldata.com/forums/blogs/entry/94-%D0%B2%D0%B8%D0%B4%D0%BE%D0%B2%D0%B5%D1%82%D0%B5-cd-dvd-%D1%84%D0%BE%D1%80%D0%BC%D0%B0%D1%82%D0%B8</a:t>
            </a:r>
            <a:r>
              <a:rPr lang="en-US" dirty="0" smtClean="0">
                <a:solidFill>
                  <a:srgbClr val="000000"/>
                </a:solidFill>
                <a:latin typeface="Times New Roman" pitchFamily="18"/>
                <a:cs typeface="Times New Roman" pitchFamily="18"/>
                <a:hlinkClick r:id="rId5"/>
              </a:rPr>
              <a:t>/</a:t>
            </a:r>
            <a:r>
              <a:rPr lang="bg-BG" dirty="0" smtClean="0">
                <a:solidFill>
                  <a:srgbClr val="000000"/>
                </a:solidFill>
                <a:latin typeface="Times New Roman" pitchFamily="18"/>
                <a:cs typeface="Times New Roman" pitchFamily="18"/>
              </a:rPr>
              <a:t> </a:t>
            </a:r>
          </a:p>
          <a:p>
            <a:pPr lvl="0"/>
            <a:endParaRPr lang="bg-BG" dirty="0" smtClean="0">
              <a:solidFill>
                <a:srgbClr val="000000"/>
              </a:solidFill>
              <a:latin typeface="Times New Roman" pitchFamily="18"/>
              <a:cs typeface="Times New Roman" pitchFamily="18"/>
            </a:endParaRPr>
          </a:p>
          <a:p>
            <a:pPr lvl="0"/>
            <a:endParaRPr lang="bg-BG" dirty="0">
              <a:solidFill>
                <a:srgbClr val="000000"/>
              </a:solidFill>
              <a:latin typeface="Times New Roman" pitchFamily="18"/>
              <a:cs typeface="Times New Roman" pitchFamily="18"/>
            </a:endParaRPr>
          </a:p>
        </p:txBody>
      </p:sp>
      <p:sp>
        <p:nvSpPr>
          <p:cNvPr id="3" name="TextBox 3">
            <a:extLst>
              <a:ext uri="{FF2B5EF4-FFF2-40B4-BE49-F238E27FC236}">
                <a16:creationId xmlns="" xmlns:a16="http://schemas.microsoft.com/office/drawing/2014/main" id="{6672C3D7-C19E-426B-9606-2412BF416DB5}"/>
              </a:ext>
            </a:extLst>
          </p:cNvPr>
          <p:cNvSpPr txBox="1"/>
          <p:nvPr/>
        </p:nvSpPr>
        <p:spPr>
          <a:xfrm>
            <a:off x="5974080" y="5876287"/>
            <a:ext cx="6047561" cy="46166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400" b="0" i="0" u="none" strike="noStrike" kern="1200" cap="none" spc="0" baseline="0" dirty="0">
                <a:uFillTx/>
                <a:latin typeface="Calibri"/>
              </a:rPr>
              <a:t>Изготвено от: </a:t>
            </a:r>
            <a:r>
              <a:rPr lang="bg-BG" sz="2400" dirty="0" smtClean="0">
                <a:latin typeface="Calibri"/>
              </a:rPr>
              <a:t>Божидар Веселинов</a:t>
            </a:r>
            <a:r>
              <a:rPr lang="bg-BG" sz="2400" b="0" i="0" u="none" strike="noStrike" kern="1200" cap="none" spc="0" baseline="0" dirty="0" smtClean="0">
                <a:uFillTx/>
                <a:latin typeface="Calibri"/>
              </a:rPr>
              <a:t> </a:t>
            </a:r>
            <a:r>
              <a:rPr lang="en-US" sz="2400" b="0" i="0" u="none" strike="noStrike" kern="1200" cap="none" spc="0" baseline="0" dirty="0" smtClean="0">
                <a:uFillTx/>
                <a:latin typeface="Calibri"/>
              </a:rPr>
              <a:t>10</a:t>
            </a:r>
            <a:r>
              <a:rPr lang="bg-BG" sz="2400" b="0" i="0" u="none" strike="noStrike" kern="1200" cap="none" spc="0" baseline="0" dirty="0" smtClean="0">
                <a:uFillTx/>
                <a:latin typeface="Calibri"/>
              </a:rPr>
              <a:t>г </a:t>
            </a:r>
            <a:r>
              <a:rPr lang="bg-BG" sz="2400" b="0" i="0" u="none" strike="noStrike" kern="1200" cap="none" spc="0" baseline="0" dirty="0">
                <a:uFillTx/>
                <a:latin typeface="Calibri"/>
              </a:rPr>
              <a:t>клас</a:t>
            </a:r>
            <a:endParaRPr lang="en-GB" sz="2400" b="0" i="0" u="none" strike="noStrike" kern="1200" cap="none" spc="0" baseline="0" dirty="0">
              <a:uFillTx/>
              <a:latin typeface="Calibri"/>
            </a:endParaRPr>
          </a:p>
        </p:txBody>
      </p:sp>
      <p:sp>
        <p:nvSpPr>
          <p:cNvPr id="4" name="Rectangle 7">
            <a:extLst>
              <a:ext uri="{FF2B5EF4-FFF2-40B4-BE49-F238E27FC236}">
                <a16:creationId xmlns="" xmlns:a16="http://schemas.microsoft.com/office/drawing/2014/main" id="{2ABC0832-A52D-4705-8665-5C118749B2AC}"/>
              </a:ext>
            </a:extLst>
          </p:cNvPr>
          <p:cNvSpPr/>
          <p:nvPr/>
        </p:nvSpPr>
        <p:spPr>
          <a:xfrm>
            <a:off x="416061" y="773463"/>
            <a:ext cx="11359883" cy="719093"/>
          </a:xfrm>
          <a:prstGeom prst="rect">
            <a:avLst/>
          </a:prstGeom>
          <a:solidFill>
            <a:schemeClr val="accent1">
              <a:lumMod val="40000"/>
              <a:lumOff val="60000"/>
            </a:schemeClr>
          </a:solidFill>
          <a:ln w="6345" cap="flat">
            <a:noFill/>
            <a:prstDash val="solid"/>
            <a:miter/>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bg-BG" sz="2800" b="0" i="0" u="none" strike="noStrike" kern="1200" cap="none" spc="0" baseline="0" dirty="0">
                <a:solidFill>
                  <a:srgbClr val="000000"/>
                </a:solidFill>
                <a:uFillTx/>
                <a:latin typeface="Times New Roman" pitchFamily="18"/>
                <a:cs typeface="Times New Roman" pitchFamily="18"/>
              </a:rPr>
              <a:t>Източници на информация:</a:t>
            </a:r>
            <a:endParaRPr lang="en-GB" sz="2800" b="0" i="0" u="none" strike="noStrike" kern="1200" cap="none" spc="0" baseline="0" dirty="0">
              <a:solidFill>
                <a:srgbClr val="000000"/>
              </a:solidFill>
              <a:uFillTx/>
              <a:latin typeface="Times New Roman" pitchFamily="18"/>
              <a:cs typeface="Times New Roman" pitchFamily="1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4704</TotalTime>
  <Words>923</Words>
  <Application>Microsoft Office PowerPoint</Application>
  <PresentationFormat>Widescreen</PresentationFormat>
  <Paragraphs>111</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Calisto MT</vt:lpstr>
      <vt:lpstr>Tahoma</vt:lpstr>
      <vt:lpstr>Times New Roman</vt:lpstr>
      <vt:lpstr>Trebuchet MS</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Входни периферни утройства</dc:title>
  <dc:creator>yo ko</dc:creator>
  <cp:lastModifiedBy>Microsoft account</cp:lastModifiedBy>
  <cp:revision>68</cp:revision>
  <dcterms:created xsi:type="dcterms:W3CDTF">2022-02-12T14:55:04Z</dcterms:created>
  <dcterms:modified xsi:type="dcterms:W3CDTF">2022-12-20T21:05:12Z</dcterms:modified>
</cp:coreProperties>
</file>