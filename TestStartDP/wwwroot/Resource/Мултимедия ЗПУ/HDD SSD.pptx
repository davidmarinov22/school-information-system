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34"/>
  </p:notesMasterIdLst>
  <p:sldIdLst>
    <p:sldId id="256" r:id="rId5"/>
    <p:sldId id="257" r:id="rId6"/>
    <p:sldId id="258" r:id="rId7"/>
    <p:sldId id="259" r:id="rId8"/>
    <p:sldId id="260" r:id="rId9"/>
    <p:sldId id="261" r:id="rId10"/>
    <p:sldId id="262" r:id="rId11"/>
    <p:sldId id="263" r:id="rId12"/>
    <p:sldId id="264" r:id="rId13"/>
    <p:sldId id="265" r:id="rId14"/>
    <p:sldId id="266" r:id="rId15"/>
    <p:sldId id="268" r:id="rId16"/>
    <p:sldId id="267"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DEE58D-40E6-4109-9441-8120BD5575A3}">
          <p14:sldIdLst>
            <p14:sldId id="256"/>
            <p14:sldId id="257"/>
            <p14:sldId id="258"/>
            <p14:sldId id="259"/>
            <p14:sldId id="260"/>
            <p14:sldId id="261"/>
            <p14:sldId id="262"/>
            <p14:sldId id="263"/>
            <p14:sldId id="264"/>
            <p14:sldId id="265"/>
            <p14:sldId id="266"/>
            <p14:sldId id="268"/>
            <p14:sldId id="267"/>
            <p14:sldId id="269"/>
            <p14:sldId id="270"/>
            <p14:sldId id="271"/>
            <p14:sldId id="272"/>
            <p14:sldId id="273"/>
            <p14:sldId id="274"/>
            <p14:sldId id="275"/>
            <p14:sldId id="276"/>
            <p14:sldId id="277"/>
            <p14:sldId id="278"/>
            <p14:sldId id="279"/>
            <p14:sldId id="280"/>
            <p14:sldId id="281"/>
            <p14:sldId id="282"/>
            <p14:sldId id="283"/>
            <p14:sldId id="284"/>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1" d="100"/>
          <a:sy n="81" d="100"/>
        </p:scale>
        <p:origin x="-300"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980AD3-9F99-4197-B34F-A1A03AE896AB}" type="datetimeFigureOut">
              <a:rPr lang="en-US" smtClean="0"/>
              <a:t>12/21/2022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CB1A5-5432-4393-87EA-40B94F16D928}" type="slidenum">
              <a:rPr lang="en-US" smtClean="0"/>
              <a:t>‹#›</a:t>
            </a:fld>
            <a:endParaRPr lang="en-US"/>
          </a:p>
        </p:txBody>
      </p:sp>
    </p:spTree>
    <p:extLst>
      <p:ext uri="{BB962C8B-B14F-4D97-AF65-F5344CB8AC3E}">
        <p14:creationId xmlns:p14="http://schemas.microsoft.com/office/powerpoint/2010/main" val="1415089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Заглавен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bg-BG"/>
              <a:t>Редакт. стил загл. образец</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bg-BG"/>
              <a:t>Щракнете, за да редактирате стила на подзаглавието в образеца</a:t>
            </a:r>
            <a:endParaRPr lang="en-US" dirty="0"/>
          </a:p>
        </p:txBody>
      </p:sp>
      <p:sp>
        <p:nvSpPr>
          <p:cNvPr id="4" name="Date Placeholder 3"/>
          <p:cNvSpPr>
            <a:spLocks noGrp="1"/>
          </p:cNvSpPr>
          <p:nvPr>
            <p:ph type="dt" sz="half" idx="10"/>
          </p:nvPr>
        </p:nvSpPr>
        <p:spPr/>
        <p:txBody>
          <a:bodyPr/>
          <a:lstStyle/>
          <a:p>
            <a:fld id="{0B764603-208E-4CAD-8386-8A148FC8EFAD}" type="datetimeFigureOut">
              <a:rPr lang="en-US" smtClean="0"/>
              <a:t>12/21/2022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110618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лавие и съдържа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a:t>Редакт. стил загл. образец</a:t>
            </a:r>
            <a:endParaRPr lang="en-US" dirty="0"/>
          </a:p>
        </p:txBody>
      </p:sp>
      <p:sp>
        <p:nvSpPr>
          <p:cNvPr id="3" name="Content Placeholder 2"/>
          <p:cNvSpPr>
            <a:spLocks noGrp="1"/>
          </p:cNvSpPr>
          <p:nvPr>
            <p:ph idx="1"/>
          </p:nvPr>
        </p:nvSpPr>
        <p:spPr/>
        <p:txBody>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Date Placeholder 3"/>
          <p:cNvSpPr>
            <a:spLocks noGrp="1"/>
          </p:cNvSpPr>
          <p:nvPr>
            <p:ph type="dt" sz="half" idx="10"/>
          </p:nvPr>
        </p:nvSpPr>
        <p:spPr/>
        <p:txBody>
          <a:bodyPr/>
          <a:lstStyle/>
          <a:p>
            <a:fld id="{0B764603-208E-4CAD-8386-8A148FC8EFAD}" type="datetimeFigureOut">
              <a:rPr lang="en-US" smtClean="0"/>
              <a:t>12/21/2022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3037421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лавка разд.">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bg-BG"/>
              <a:t>Редакт. стил загл. образец</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bg-BG"/>
              <a:t>Щракнете, за да редактирате стиловете на текста в образеца</a:t>
            </a:r>
          </a:p>
        </p:txBody>
      </p:sp>
      <p:sp>
        <p:nvSpPr>
          <p:cNvPr id="4" name="Date Placeholder 3"/>
          <p:cNvSpPr>
            <a:spLocks noGrp="1"/>
          </p:cNvSpPr>
          <p:nvPr>
            <p:ph type="dt" sz="half" idx="10"/>
          </p:nvPr>
        </p:nvSpPr>
        <p:spPr/>
        <p:txBody>
          <a:bodyPr/>
          <a:lstStyle/>
          <a:p>
            <a:fld id="{0B764603-208E-4CAD-8386-8A148FC8EFAD}" type="datetimeFigureOut">
              <a:rPr lang="en-US" smtClean="0"/>
              <a:t>12/21/2022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3818261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е съдържани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a:t>Редакт. стил загл. образец</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5" name="Date Placeholder 4"/>
          <p:cNvSpPr>
            <a:spLocks noGrp="1"/>
          </p:cNvSpPr>
          <p:nvPr>
            <p:ph type="dt" sz="half" idx="10"/>
          </p:nvPr>
        </p:nvSpPr>
        <p:spPr/>
        <p:txBody>
          <a:bodyPr/>
          <a:lstStyle/>
          <a:p>
            <a:fld id="{0B764603-208E-4CAD-8386-8A148FC8EFAD}" type="datetimeFigureOut">
              <a:rPr lang="en-US" smtClean="0"/>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1078411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bg-BG"/>
              <a:t>Редакт. стил загл. образец</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7" name="Date Placeholder 6"/>
          <p:cNvSpPr>
            <a:spLocks noGrp="1"/>
          </p:cNvSpPr>
          <p:nvPr>
            <p:ph type="dt" sz="half" idx="10"/>
          </p:nvPr>
        </p:nvSpPr>
        <p:spPr/>
        <p:txBody>
          <a:bodyPr/>
          <a:lstStyle/>
          <a:p>
            <a:fld id="{0B764603-208E-4CAD-8386-8A148FC8EFAD}" type="datetimeFigureOut">
              <a:rPr lang="en-US" smtClean="0"/>
              <a:t>12/21/2022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1853983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Само заглав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a:t>Редакт. стил загл. образец</a:t>
            </a:r>
            <a:endParaRPr lang="en-US" dirty="0"/>
          </a:p>
        </p:txBody>
      </p:sp>
      <p:sp>
        <p:nvSpPr>
          <p:cNvPr id="3" name="Date Placeholder 2"/>
          <p:cNvSpPr>
            <a:spLocks noGrp="1"/>
          </p:cNvSpPr>
          <p:nvPr>
            <p:ph type="dt" sz="half" idx="10"/>
          </p:nvPr>
        </p:nvSpPr>
        <p:spPr/>
        <p:txBody>
          <a:bodyPr/>
          <a:lstStyle/>
          <a:p>
            <a:fld id="{0B764603-208E-4CAD-8386-8A148FC8EFAD}" type="datetimeFigureOut">
              <a:rPr lang="en-US" smtClean="0"/>
              <a:t>12/21/2022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395245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разе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764603-208E-4CAD-8386-8A148FC8EFAD}" type="datetimeFigureOut">
              <a:rPr lang="en-US" smtClean="0"/>
              <a:t>12/21/2022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1644976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Съдържание с надпис">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bg-BG"/>
              <a:t>Редакт. стил загл. образец</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0B764603-208E-4CAD-8386-8A148FC8EFAD}" type="datetimeFigureOut">
              <a:rPr lang="en-US" smtClean="0"/>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150663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Картина с надпис">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bg-BG"/>
              <a:t>Редакт. стил загл. образец</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bg-BG"/>
              <a:t>Щракнете върху иконата, за да добавите картина</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0B764603-208E-4CAD-8386-8A148FC8EFAD}" type="datetimeFigureOut">
              <a:rPr lang="en-US" smtClean="0"/>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3546516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картина с надпис">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bg-BG"/>
              <a:t>Редакт. стил загл. образец</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bg-BG"/>
              <a:t>Щракнете върху иконата, за да добавите картина</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0B764603-208E-4CAD-8386-8A148FC8EFAD}" type="datetimeFigureOut">
              <a:rPr lang="en-US" smtClean="0"/>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2662552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лавие и надпис">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bg-BG"/>
              <a:t>Редакт. стил загл. образец</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0B764603-208E-4CAD-8386-8A148FC8EFAD}" type="datetimeFigureOut">
              <a:rPr lang="en-US" smtClean="0"/>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3632896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 с надпис">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bg-BG"/>
              <a:t>Редакт. стил загл. образец</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0B764603-208E-4CAD-8386-8A148FC8EFAD}" type="datetimeFigureOut">
              <a:rPr lang="en-US" smtClean="0"/>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4C9A12-E233-4C06-87FB-34F0D2972CE1}"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273240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ичка с име">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bg-BG"/>
              <a:t>Редакт. стил загл. образец</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bg-BG"/>
              <a:t>Щракнете, за да редактирате стиловете на текста в образеца</a:t>
            </a:r>
          </a:p>
        </p:txBody>
      </p:sp>
      <p:sp>
        <p:nvSpPr>
          <p:cNvPr id="5" name="Date Placeholder 4"/>
          <p:cNvSpPr>
            <a:spLocks noGrp="1"/>
          </p:cNvSpPr>
          <p:nvPr>
            <p:ph type="dt" sz="half" idx="10"/>
          </p:nvPr>
        </p:nvSpPr>
        <p:spPr/>
        <p:txBody>
          <a:bodyPr/>
          <a:lstStyle/>
          <a:p>
            <a:fld id="{0B764603-208E-4CAD-8386-8A148FC8EFAD}" type="datetimeFigureOut">
              <a:rPr lang="en-US" smtClean="0"/>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201552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колони">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bg-BG"/>
              <a:t>Редакт. стил загл. образец</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3" name="Date Placeholder 2"/>
          <p:cNvSpPr>
            <a:spLocks noGrp="1"/>
          </p:cNvSpPr>
          <p:nvPr>
            <p:ph type="dt" sz="half" idx="10"/>
          </p:nvPr>
        </p:nvSpPr>
        <p:spPr/>
        <p:txBody>
          <a:bodyPr/>
          <a:lstStyle/>
          <a:p>
            <a:fld id="{0B764603-208E-4CAD-8386-8A148FC8EFAD}" type="datetimeFigureOut">
              <a:rPr lang="en-US" smtClean="0"/>
              <a:t>12/21/2022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2759189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колони с картини">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bg-BG"/>
              <a:t>Редакт. стил загл. образец</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bg-BG"/>
              <a:t>Щракнете върху иконата, за да добавите картина</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bg-BG"/>
              <a:t>Щракнете върху иконата, за да добавите картина</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bg-BG"/>
              <a:t>Щракнете, за да редактирате стиловете на текста в образеца</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bg-BG"/>
              <a:t>Щракнете върху иконата, за да добавите картина</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bg-BG"/>
              <a:t>Щракнете, за да редактирате стиловете на текста в образеца</a:t>
            </a:r>
          </a:p>
        </p:txBody>
      </p:sp>
      <p:sp>
        <p:nvSpPr>
          <p:cNvPr id="3" name="Date Placeholder 2"/>
          <p:cNvSpPr>
            <a:spLocks noGrp="1"/>
          </p:cNvSpPr>
          <p:nvPr>
            <p:ph type="dt" sz="half" idx="10"/>
          </p:nvPr>
        </p:nvSpPr>
        <p:spPr/>
        <p:txBody>
          <a:bodyPr/>
          <a:lstStyle/>
          <a:p>
            <a:fld id="{0B764603-208E-4CAD-8386-8A148FC8EFAD}" type="datetimeFigureOut">
              <a:rPr lang="en-US" smtClean="0"/>
              <a:t>12/21/2022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1430148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лавие и вертикален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a:t>Редакт. стил загл. образец</a:t>
            </a:r>
            <a:endParaRPr lang="en-US" dirty="0"/>
          </a:p>
        </p:txBody>
      </p:sp>
      <p:sp>
        <p:nvSpPr>
          <p:cNvPr id="3" name="Vertical Text Placeholder 2"/>
          <p:cNvSpPr>
            <a:spLocks noGrp="1"/>
          </p:cNvSpPr>
          <p:nvPr>
            <p:ph type="body" orient="vert" idx="1"/>
          </p:nvPr>
        </p:nvSpPr>
        <p:spPr/>
        <p:txBody>
          <a:bodyPr vert="eaVert" anchor="t"/>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Date Placeholder 3"/>
          <p:cNvSpPr>
            <a:spLocks noGrp="1"/>
          </p:cNvSpPr>
          <p:nvPr>
            <p:ph type="dt" sz="half" idx="10"/>
          </p:nvPr>
        </p:nvSpPr>
        <p:spPr/>
        <p:txBody>
          <a:bodyPr/>
          <a:lstStyle/>
          <a:p>
            <a:fld id="{0B764603-208E-4CAD-8386-8A148FC8EFAD}" type="datetimeFigureOut">
              <a:rPr lang="en-US" smtClean="0"/>
              <a:t>12/21/2022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3629657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но заглавие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bg-BG"/>
              <a:t>Редакт. стил загл. образец</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Date Placeholder 3"/>
          <p:cNvSpPr>
            <a:spLocks noGrp="1"/>
          </p:cNvSpPr>
          <p:nvPr>
            <p:ph type="dt" sz="half" idx="10"/>
          </p:nvPr>
        </p:nvSpPr>
        <p:spPr/>
        <p:txBody>
          <a:bodyPr/>
          <a:lstStyle/>
          <a:p>
            <a:fld id="{0B764603-208E-4CAD-8386-8A148FC8EFAD}" type="datetimeFigureOut">
              <a:rPr lang="en-US" smtClean="0"/>
              <a:t>12/21/2022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4C9A12-E233-4C06-87FB-34F0D2972CE1}" type="slidenum">
              <a:rPr lang="en-US" smtClean="0"/>
              <a:t>‹#›</a:t>
            </a:fld>
            <a:endParaRPr lang="en-US"/>
          </a:p>
        </p:txBody>
      </p:sp>
    </p:spTree>
    <p:extLst>
      <p:ext uri="{BB962C8B-B14F-4D97-AF65-F5344CB8AC3E}">
        <p14:creationId xmlns:p14="http://schemas.microsoft.com/office/powerpoint/2010/main" val="245848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bg-BG"/>
              <a:t>Редакт. стил загл. образец</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bg-BG"/>
              <a:t>Щракнете, за да редактирате стиловете на текста в образеца</a:t>
            </a:r>
          </a:p>
          <a:p>
            <a:pPr lvl="1"/>
            <a:r>
              <a:rPr lang="bg-BG"/>
              <a:t>Второ ниво</a:t>
            </a:r>
          </a:p>
          <a:p>
            <a:pPr lvl="2"/>
            <a:r>
              <a:rPr lang="bg-BG"/>
              <a:t>Трето ниво</a:t>
            </a:r>
          </a:p>
          <a:p>
            <a:pPr lvl="3"/>
            <a:r>
              <a:rPr lang="bg-BG"/>
              <a:t>Четвърто ниво</a:t>
            </a:r>
          </a:p>
          <a:p>
            <a:pPr lvl="4"/>
            <a:r>
              <a:rPr lang="bg-BG"/>
              <a:t>Пето ниво</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B764603-208E-4CAD-8386-8A148FC8EFAD}" type="datetimeFigureOut">
              <a:rPr lang="en-US" smtClean="0"/>
              <a:t>12/21/2022</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04C9A12-E233-4C06-87FB-34F0D2972CE1}" type="slidenum">
              <a:rPr lang="en-US" smtClean="0"/>
              <a:t>‹#›</a:t>
            </a:fld>
            <a:endParaRPr lang="en-US"/>
          </a:p>
        </p:txBody>
      </p:sp>
    </p:spTree>
    <p:extLst>
      <p:ext uri="{BB962C8B-B14F-4D97-AF65-F5344CB8AC3E}">
        <p14:creationId xmlns:p14="http://schemas.microsoft.com/office/powerpoint/2010/main" val="114243096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jpe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5BFC12-6D53-4D76-9A4F-BDADF6095C70}"/>
              </a:ext>
            </a:extLst>
          </p:cNvPr>
          <p:cNvSpPr>
            <a:spLocks noGrp="1"/>
          </p:cNvSpPr>
          <p:nvPr>
            <p:ph type="ctrTitle" idx="4294967295"/>
          </p:nvPr>
        </p:nvSpPr>
        <p:spPr>
          <a:xfrm>
            <a:off x="1503162" y="274434"/>
            <a:ext cx="8780462" cy="2270125"/>
          </a:xfrm>
        </p:spPr>
        <p:txBody>
          <a:bodyPr>
            <a:normAutofit/>
          </a:bodyPr>
          <a:lstStyle/>
          <a:p>
            <a:r>
              <a:rPr lang="en-US" sz="7200" b="1" dirty="0">
                <a:latin typeface="Times New Roman" panose="02020603050405020304" pitchFamily="18" charset="0"/>
                <a:cs typeface="Times New Roman" panose="02020603050405020304" pitchFamily="18" charset="0"/>
              </a:rPr>
              <a:t>Hard Disk </a:t>
            </a:r>
            <a:r>
              <a:rPr lang="bg-BG" sz="7200" b="1" dirty="0">
                <a:latin typeface="Times New Roman" panose="02020603050405020304" pitchFamily="18" charset="0"/>
                <a:cs typeface="Times New Roman" panose="02020603050405020304" pitchFamily="18" charset="0"/>
              </a:rPr>
              <a:t>и</a:t>
            </a:r>
            <a:r>
              <a:rPr lang="en-US" sz="7200" b="1" dirty="0">
                <a:latin typeface="Times New Roman" panose="02020603050405020304" pitchFamily="18" charset="0"/>
                <a:cs typeface="Times New Roman" panose="02020603050405020304" pitchFamily="18" charset="0"/>
              </a:rPr>
              <a:t> SSD</a:t>
            </a:r>
          </a:p>
        </p:txBody>
      </p:sp>
      <p:sp>
        <p:nvSpPr>
          <p:cNvPr id="3" name="Subtitle 2">
            <a:extLst>
              <a:ext uri="{FF2B5EF4-FFF2-40B4-BE49-F238E27FC236}">
                <a16:creationId xmlns:a16="http://schemas.microsoft.com/office/drawing/2014/main" xmlns="" id="{44F2287C-F2BA-48DE-80EE-3A5C7E59B28F}"/>
              </a:ext>
            </a:extLst>
          </p:cNvPr>
          <p:cNvSpPr>
            <a:spLocks noGrp="1"/>
          </p:cNvSpPr>
          <p:nvPr>
            <p:ph type="subTitle" idx="4294967295"/>
          </p:nvPr>
        </p:nvSpPr>
        <p:spPr>
          <a:xfrm>
            <a:off x="3214487" y="2055256"/>
            <a:ext cx="5357813" cy="1160463"/>
          </a:xfrm>
        </p:spPr>
        <p:txBody>
          <a:bodyPr/>
          <a:lstStyle/>
          <a:p>
            <a:pPr marL="0" indent="0" algn="ctr">
              <a:buNone/>
            </a:pPr>
            <a:r>
              <a:rPr lang="bg-BG" dirty="0">
                <a:latin typeface="Times New Roman" panose="02020603050405020304" pitchFamily="18" charset="0"/>
                <a:cs typeface="Times New Roman" panose="02020603050405020304" pitchFamily="18" charset="0"/>
              </a:rPr>
              <a:t>Съпоставка и характеристики</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D8757C0D-EA56-4A21-9C98-DC1FFBF11517}"/>
              </a:ext>
            </a:extLst>
          </p:cNvPr>
          <p:cNvPicPr>
            <a:picLocks noChangeAspect="1"/>
          </p:cNvPicPr>
          <p:nvPr/>
        </p:nvPicPr>
        <p:blipFill>
          <a:blip r:embed="rId2"/>
          <a:stretch>
            <a:fillRect/>
          </a:stretch>
        </p:blipFill>
        <p:spPr>
          <a:xfrm rot="412154">
            <a:off x="1266537" y="2505223"/>
            <a:ext cx="2612992" cy="1985064"/>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5" name="Picture 4">
            <a:extLst>
              <a:ext uri="{FF2B5EF4-FFF2-40B4-BE49-F238E27FC236}">
                <a16:creationId xmlns:a16="http://schemas.microsoft.com/office/drawing/2014/main" xmlns="" id="{05EC0774-965C-4C66-8CDC-5C7EB2539758}"/>
              </a:ext>
            </a:extLst>
          </p:cNvPr>
          <p:cNvPicPr>
            <a:picLocks noChangeAspect="1"/>
          </p:cNvPicPr>
          <p:nvPr/>
        </p:nvPicPr>
        <p:blipFill>
          <a:blip r:embed="rId3"/>
          <a:stretch>
            <a:fillRect/>
          </a:stretch>
        </p:blipFill>
        <p:spPr>
          <a:xfrm rot="20970323">
            <a:off x="8371492" y="2605127"/>
            <a:ext cx="2268455" cy="184312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6" name="Picture 5">
            <a:extLst>
              <a:ext uri="{FF2B5EF4-FFF2-40B4-BE49-F238E27FC236}">
                <a16:creationId xmlns:a16="http://schemas.microsoft.com/office/drawing/2014/main" xmlns="" id="{A4F57FE8-7A97-46AD-99EE-649C876656BE}"/>
              </a:ext>
            </a:extLst>
          </p:cNvPr>
          <p:cNvPicPr>
            <a:picLocks noChangeAspect="1"/>
          </p:cNvPicPr>
          <p:nvPr/>
        </p:nvPicPr>
        <p:blipFill>
          <a:blip r:embed="rId4"/>
          <a:stretch>
            <a:fillRect/>
          </a:stretch>
        </p:blipFill>
        <p:spPr>
          <a:xfrm rot="662393">
            <a:off x="6885458" y="4398957"/>
            <a:ext cx="2979248" cy="1955131"/>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6">
            <a:extLst>
              <a:ext uri="{FF2B5EF4-FFF2-40B4-BE49-F238E27FC236}">
                <a16:creationId xmlns:a16="http://schemas.microsoft.com/office/drawing/2014/main" xmlns="" id="{9E7AC4EA-4D72-4BA2-9837-067E23B8EA12}"/>
              </a:ext>
            </a:extLst>
          </p:cNvPr>
          <p:cNvPicPr>
            <a:picLocks noChangeAspect="1"/>
          </p:cNvPicPr>
          <p:nvPr/>
        </p:nvPicPr>
        <p:blipFill>
          <a:blip r:embed="rId5"/>
          <a:stretch>
            <a:fillRect/>
          </a:stretch>
        </p:blipFill>
        <p:spPr>
          <a:xfrm rot="21017924">
            <a:off x="2581961" y="4287259"/>
            <a:ext cx="3157367" cy="209649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88611165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B202DB-CAB1-4F7C-BAEE-762EF5D603D7}"/>
              </a:ext>
            </a:extLst>
          </p:cNvPr>
          <p:cNvSpPr>
            <a:spLocks noGrp="1"/>
          </p:cNvSpPr>
          <p:nvPr>
            <p:ph type="title"/>
          </p:nvPr>
        </p:nvSpPr>
        <p:spPr>
          <a:xfrm>
            <a:off x="919119" y="192350"/>
            <a:ext cx="10353762" cy="970450"/>
          </a:xfrm>
        </p:spPr>
        <p:txBody>
          <a:bodyPr/>
          <a:lstStyle/>
          <a:p>
            <a:r>
              <a:rPr lang="bg-BG" dirty="0"/>
              <a:t>Съдържание</a:t>
            </a:r>
            <a:endParaRPr lang="en-US" dirty="0"/>
          </a:p>
        </p:txBody>
      </p:sp>
      <p:sp>
        <p:nvSpPr>
          <p:cNvPr id="3" name="Content Placeholder 2">
            <a:extLst>
              <a:ext uri="{FF2B5EF4-FFF2-40B4-BE49-F238E27FC236}">
                <a16:creationId xmlns:a16="http://schemas.microsoft.com/office/drawing/2014/main" xmlns="" id="{B4D485A4-D1CB-4141-904A-94834A42C436}"/>
              </a:ext>
            </a:extLst>
          </p:cNvPr>
          <p:cNvSpPr>
            <a:spLocks noGrp="1"/>
          </p:cNvSpPr>
          <p:nvPr>
            <p:ph sz="half" idx="1"/>
          </p:nvPr>
        </p:nvSpPr>
        <p:spPr>
          <a:xfrm>
            <a:off x="4797664" y="1236867"/>
            <a:ext cx="5064665" cy="4384265"/>
          </a:xfrm>
        </p:spPr>
        <p:txBody>
          <a:bodyPr>
            <a:normAutofit lnSpcReduction="10000"/>
          </a:bodyPr>
          <a:lstStyle/>
          <a:p>
            <a:pPr marL="551250" indent="-514350" algn="just">
              <a:buFont typeface="+mj-lt"/>
              <a:buAutoNum type="romanUcPeriod"/>
            </a:pPr>
            <a:r>
              <a:rPr lang="bg-BG" sz="2400" dirty="0">
                <a:latin typeface="Times New Roman" panose="02020603050405020304" pitchFamily="18" charset="0"/>
                <a:cs typeface="Times New Roman" panose="02020603050405020304" pitchFamily="18" charset="0"/>
              </a:rPr>
              <a:t>Въведение</a:t>
            </a:r>
            <a:endParaRPr lang="en-US" sz="2400" dirty="0">
              <a:latin typeface="Times New Roman" panose="02020603050405020304" pitchFamily="18" charset="0"/>
              <a:cs typeface="Times New Roman" panose="02020603050405020304" pitchFamily="18" charset="0"/>
            </a:endParaRPr>
          </a:p>
          <a:p>
            <a:pPr marL="551250" indent="-514350" algn="just">
              <a:buFont typeface="+mj-lt"/>
              <a:buAutoNum type="romanUcPeriod"/>
            </a:pPr>
            <a:r>
              <a:rPr lang="bg-BG" sz="2400" dirty="0">
                <a:latin typeface="Times New Roman" panose="02020603050405020304" pitchFamily="18" charset="0"/>
                <a:cs typeface="Times New Roman" panose="02020603050405020304" pitchFamily="18" charset="0"/>
              </a:rPr>
              <a:t>Твърд диск</a:t>
            </a:r>
          </a:p>
          <a:p>
            <a:pPr marL="928350" lvl="1" indent="-514350" algn="just">
              <a:buFont typeface="+mj-lt"/>
              <a:buAutoNum type="arabicParenR"/>
            </a:pPr>
            <a:r>
              <a:rPr lang="bg-BG" dirty="0">
                <a:latin typeface="Times New Roman" panose="02020603050405020304" pitchFamily="18" charset="0"/>
                <a:cs typeface="Times New Roman" panose="02020603050405020304" pitchFamily="18" charset="0"/>
              </a:rPr>
              <a:t>Основни характеристики</a:t>
            </a:r>
          </a:p>
          <a:p>
            <a:pPr marL="928350" lvl="1" indent="-514350" algn="just">
              <a:buFont typeface="+mj-lt"/>
              <a:buAutoNum type="arabicParenR"/>
            </a:pPr>
            <a:r>
              <a:rPr lang="bg-BG" dirty="0">
                <a:latin typeface="Times New Roman" panose="02020603050405020304" pitchFamily="18" charset="0"/>
                <a:cs typeface="Times New Roman" panose="02020603050405020304" pitchFamily="18" charset="0"/>
              </a:rPr>
              <a:t>Основни параметри</a:t>
            </a:r>
          </a:p>
          <a:p>
            <a:pPr marL="928350" lvl="1" indent="-514350" algn="just">
              <a:buFont typeface="+mj-lt"/>
              <a:buAutoNum type="arabicParenR"/>
            </a:pPr>
            <a:r>
              <a:rPr lang="bg-BG" dirty="0">
                <a:latin typeface="Times New Roman" panose="02020603050405020304" pitchFamily="18" charset="0"/>
                <a:cs typeface="Times New Roman" panose="02020603050405020304" pitchFamily="18" charset="0"/>
              </a:rPr>
              <a:t>Физическа организация</a:t>
            </a:r>
          </a:p>
          <a:p>
            <a:pPr marL="928350" lvl="1" indent="-514350" algn="just">
              <a:buFont typeface="+mj-lt"/>
              <a:buAutoNum type="arabicParenR"/>
            </a:pPr>
            <a:r>
              <a:rPr lang="bg-BG" dirty="0">
                <a:latin typeface="Times New Roman" panose="02020603050405020304" pitchFamily="18" charset="0"/>
                <a:cs typeface="Times New Roman" panose="02020603050405020304" pitchFamily="18" charset="0"/>
              </a:rPr>
              <a:t>Логическа организация</a:t>
            </a:r>
          </a:p>
          <a:p>
            <a:pPr marL="1234350" lvl="2" indent="-514350" algn="just">
              <a:buFont typeface="Wingdings" panose="05000000000000000000" pitchFamily="2" charset="2"/>
              <a:buChar char="v"/>
            </a:pPr>
            <a:r>
              <a:rPr lang="bg-BG" dirty="0">
                <a:latin typeface="Times New Roman" panose="02020603050405020304" pitchFamily="18" charset="0"/>
                <a:cs typeface="Times New Roman" panose="02020603050405020304" pitchFamily="18" charset="0"/>
              </a:rPr>
              <a:t>Фрагментирани дялове</a:t>
            </a:r>
            <a:endParaRPr lang="en-US" dirty="0">
              <a:latin typeface="Times New Roman" panose="02020603050405020304" pitchFamily="18" charset="0"/>
              <a:cs typeface="Times New Roman" panose="02020603050405020304" pitchFamily="18" charset="0"/>
            </a:endParaRPr>
          </a:p>
          <a:p>
            <a:pPr marL="928350" lvl="1" indent="-514350" algn="just">
              <a:buFont typeface="+mj-lt"/>
              <a:buAutoNum type="arabicParenR"/>
            </a:pPr>
            <a:r>
              <a:rPr lang="bg-BG" dirty="0">
                <a:latin typeface="Times New Roman" panose="02020603050405020304" pitchFamily="18" charset="0"/>
                <a:cs typeface="Times New Roman" panose="02020603050405020304" pitchFamily="18" charset="0"/>
              </a:rPr>
              <a:t>Интерфейси</a:t>
            </a:r>
          </a:p>
          <a:p>
            <a:pPr marL="928350" lvl="1" indent="-514350" algn="just">
              <a:buFont typeface="+mj-lt"/>
              <a:buAutoNum type="arabicParenR"/>
            </a:pPr>
            <a:r>
              <a:rPr lang="en-US" dirty="0">
                <a:latin typeface="Times New Roman" panose="02020603050405020304" pitchFamily="18" charset="0"/>
                <a:cs typeface="Times New Roman" panose="02020603050405020304" pitchFamily="18" charset="0"/>
              </a:rPr>
              <a:t>RAID </a:t>
            </a:r>
            <a:r>
              <a:rPr lang="bg-BG" dirty="0">
                <a:latin typeface="Times New Roman" panose="02020603050405020304" pitchFamily="18" charset="0"/>
                <a:cs typeface="Times New Roman" panose="02020603050405020304" pitchFamily="18" charset="0"/>
              </a:rPr>
              <a:t>масиви</a:t>
            </a:r>
          </a:p>
          <a:p>
            <a:pPr marL="1234350" lvl="2" indent="-514350" algn="just"/>
            <a:r>
              <a:rPr lang="bg-BG" dirty="0">
                <a:latin typeface="Times New Roman" panose="02020603050405020304" pitchFamily="18" charset="0"/>
                <a:cs typeface="Times New Roman" panose="02020603050405020304" pitchFamily="18" charset="0"/>
              </a:rPr>
              <a:t>Стандартни </a:t>
            </a:r>
            <a:r>
              <a:rPr lang="en-US" dirty="0">
                <a:latin typeface="Times New Roman" panose="02020603050405020304" pitchFamily="18" charset="0"/>
                <a:cs typeface="Times New Roman" panose="02020603050405020304" pitchFamily="18" charset="0"/>
              </a:rPr>
              <a:t>RAID </a:t>
            </a:r>
            <a:r>
              <a:rPr lang="bg-BG" dirty="0">
                <a:latin typeface="Times New Roman" panose="02020603050405020304" pitchFamily="18" charset="0"/>
                <a:cs typeface="Times New Roman" panose="02020603050405020304" pitchFamily="18" charset="0"/>
              </a:rPr>
              <a:t>нива</a:t>
            </a:r>
          </a:p>
          <a:p>
            <a:pPr marL="1234350" lvl="2" indent="-514350" algn="just"/>
            <a:r>
              <a:rPr lang="bg-BG" dirty="0">
                <a:latin typeface="Times New Roman" panose="02020603050405020304" pitchFamily="18" charset="0"/>
                <a:cs typeface="Times New Roman" panose="02020603050405020304" pitchFamily="18" charset="0"/>
              </a:rPr>
              <a:t>Хибридни </a:t>
            </a:r>
            <a:r>
              <a:rPr lang="en-US" dirty="0">
                <a:latin typeface="Times New Roman" panose="02020603050405020304" pitchFamily="18" charset="0"/>
                <a:cs typeface="Times New Roman" panose="02020603050405020304" pitchFamily="18" charset="0"/>
              </a:rPr>
              <a:t>RAID </a:t>
            </a:r>
            <a:r>
              <a:rPr lang="bg-BG" dirty="0">
                <a:latin typeface="Times New Roman" panose="02020603050405020304" pitchFamily="18" charset="0"/>
                <a:cs typeface="Times New Roman" panose="02020603050405020304" pitchFamily="18" charset="0"/>
              </a:rPr>
              <a:t>нива</a:t>
            </a:r>
          </a:p>
          <a:p>
            <a:pPr marL="928350" lvl="1" indent="-514350" algn="ctr">
              <a:buFont typeface="+mj-lt"/>
              <a:buAutoNum type="arabicParenR"/>
            </a:pPr>
            <a:endParaRPr lang="bg-BG" dirty="0">
              <a:latin typeface="Times New Roman" panose="02020603050405020304" pitchFamily="18" charset="0"/>
              <a:cs typeface="Times New Roman" panose="02020603050405020304" pitchFamily="18" charset="0"/>
            </a:endParaRPr>
          </a:p>
          <a:p>
            <a:pPr marL="414000" lvl="1" indent="0" algn="ctr">
              <a:buNone/>
            </a:pPr>
            <a:endParaRPr lang="bg-B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xmlns="" id="{61E59A7F-AD62-473D-B752-7F9C21133BB7}"/>
              </a:ext>
            </a:extLst>
          </p:cNvPr>
          <p:cNvSpPr>
            <a:spLocks noGrp="1"/>
          </p:cNvSpPr>
          <p:nvPr>
            <p:ph sz="half" idx="2"/>
          </p:nvPr>
        </p:nvSpPr>
        <p:spPr>
          <a:xfrm>
            <a:off x="4797664" y="5621132"/>
            <a:ext cx="5064665" cy="4384265"/>
          </a:xfrm>
        </p:spPr>
        <p:txBody>
          <a:bodyPr>
            <a:normAutofit lnSpcReduction="10000"/>
          </a:bodyPr>
          <a:lstStyle/>
          <a:p>
            <a:pPr marL="551250" indent="-514350" algn="just">
              <a:buFont typeface="+mj-lt"/>
              <a:buAutoNum type="romanUcPeriod" startAt="3"/>
            </a:pPr>
            <a:r>
              <a:rPr lang="en-US" sz="2400" dirty="0">
                <a:latin typeface="Times New Roman" panose="02020603050405020304" pitchFamily="18" charset="0"/>
                <a:cs typeface="Times New Roman" panose="02020603050405020304" pitchFamily="18" charset="0"/>
              </a:rPr>
              <a:t>SSD</a:t>
            </a:r>
            <a:endParaRPr lang="bg-BG" sz="2400" dirty="0">
              <a:latin typeface="Times New Roman" panose="02020603050405020304" pitchFamily="18" charset="0"/>
              <a:cs typeface="Times New Roman" panose="02020603050405020304" pitchFamily="18" charset="0"/>
            </a:endParaRPr>
          </a:p>
          <a:p>
            <a:pPr marL="928350" lvl="1" indent="-514350" algn="just">
              <a:buFont typeface="+mj-lt"/>
              <a:buAutoNum type="arabicParenR"/>
            </a:pPr>
            <a:r>
              <a:rPr lang="bg-BG" dirty="0">
                <a:latin typeface="Times New Roman" panose="02020603050405020304" pitchFamily="18" charset="0"/>
                <a:cs typeface="Times New Roman" panose="02020603050405020304" pitchFamily="18" charset="0"/>
              </a:rPr>
              <a:t>Видове </a:t>
            </a:r>
            <a:r>
              <a:rPr lang="en-US" dirty="0">
                <a:latin typeface="Times New Roman" panose="02020603050405020304" pitchFamily="18" charset="0"/>
                <a:cs typeface="Times New Roman" panose="02020603050405020304" pitchFamily="18" charset="0"/>
              </a:rPr>
              <a:t>SSD</a:t>
            </a:r>
          </a:p>
        </p:txBody>
      </p:sp>
    </p:spTree>
    <p:extLst>
      <p:ext uri="{BB962C8B-B14F-4D97-AF65-F5344CB8AC3E}">
        <p14:creationId xmlns:p14="http://schemas.microsoft.com/office/powerpoint/2010/main" val="3315932881"/>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C3985A-CB60-439E-964C-293889E05969}"/>
              </a:ext>
            </a:extLst>
          </p:cNvPr>
          <p:cNvSpPr>
            <a:spLocks noGrp="1"/>
          </p:cNvSpPr>
          <p:nvPr>
            <p:ph type="title"/>
          </p:nvPr>
        </p:nvSpPr>
        <p:spPr>
          <a:xfrm>
            <a:off x="919119" y="468946"/>
            <a:ext cx="10353762" cy="970450"/>
          </a:xfrm>
        </p:spPr>
        <p:txBody>
          <a:bodyPr/>
          <a:lstStyle/>
          <a:p>
            <a:r>
              <a:rPr lang="bg-BG" sz="4800" dirty="0">
                <a:latin typeface="Times New Roman" panose="02020603050405020304" pitchFamily="18" charset="0"/>
                <a:cs typeface="Times New Roman" panose="02020603050405020304" pitchFamily="18" charset="0"/>
              </a:rPr>
              <a:t>Въведение</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929B88E-48FD-462C-AE2F-5BEECCD2D251}"/>
              </a:ext>
            </a:extLst>
          </p:cNvPr>
          <p:cNvSpPr>
            <a:spLocks noGrp="1"/>
          </p:cNvSpPr>
          <p:nvPr>
            <p:ph idx="1"/>
          </p:nvPr>
        </p:nvSpPr>
        <p:spPr>
          <a:xfrm>
            <a:off x="1242873" y="2118983"/>
            <a:ext cx="4755473" cy="4113320"/>
          </a:xfrm>
        </p:spPr>
        <p:txBody>
          <a:bodyPr>
            <a:normAutofit/>
          </a:bodyPr>
          <a:lstStyle/>
          <a:p>
            <a:r>
              <a:rPr lang="bg-BG" dirty="0">
                <a:latin typeface="Times New Roman" panose="02020603050405020304" pitchFamily="18" charset="0"/>
                <a:cs typeface="Times New Roman" panose="02020603050405020304" pitchFamily="18" charset="0"/>
              </a:rPr>
              <a:t>Хард дискът (</a:t>
            </a:r>
            <a:r>
              <a:rPr lang="en-US" dirty="0">
                <a:latin typeface="Times New Roman" panose="02020603050405020304" pitchFamily="18" charset="0"/>
                <a:cs typeface="Times New Roman" panose="02020603050405020304" pitchFamily="18" charset="0"/>
              </a:rPr>
              <a:t>HDD)</a:t>
            </a:r>
            <a:r>
              <a:rPr lang="bg-BG" dirty="0">
                <a:latin typeface="Times New Roman" panose="02020603050405020304" pitchFamily="18" charset="0"/>
                <a:cs typeface="Times New Roman" panose="02020603050405020304" pitchFamily="18" charset="0"/>
              </a:rPr>
              <a:t> и </a:t>
            </a:r>
            <a:r>
              <a:rPr lang="en-US" dirty="0">
                <a:latin typeface="Times New Roman" panose="02020603050405020304" pitchFamily="18" charset="0"/>
                <a:cs typeface="Times New Roman" panose="02020603050405020304" pitchFamily="18" charset="0"/>
              </a:rPr>
              <a:t>SSD</a:t>
            </a:r>
            <a:r>
              <a:rPr lang="bg-BG" dirty="0">
                <a:latin typeface="Times New Roman" panose="02020603050405020304" pitchFamily="18" charset="0"/>
                <a:cs typeface="Times New Roman" panose="02020603050405020304" pitchFamily="18" charset="0"/>
              </a:rPr>
              <a:t>-то</a:t>
            </a:r>
            <a:r>
              <a:rPr lang="en-US" dirty="0">
                <a:latin typeface="Times New Roman" panose="02020603050405020304" pitchFamily="18" charset="0"/>
                <a:cs typeface="Times New Roman" panose="02020603050405020304" pitchFamily="18" charset="0"/>
              </a:rPr>
              <a:t> </a:t>
            </a:r>
            <a:r>
              <a:rPr lang="bg-BG" dirty="0">
                <a:latin typeface="Times New Roman" panose="02020603050405020304" pitchFamily="18" charset="0"/>
                <a:cs typeface="Times New Roman" panose="02020603050405020304" pitchFamily="18" charset="0"/>
              </a:rPr>
              <a:t>с</a:t>
            </a:r>
            <a:r>
              <a:rPr lang="en-US" dirty="0">
                <a:latin typeface="Times New Roman" panose="02020603050405020304" pitchFamily="18" charset="0"/>
                <a:cs typeface="Times New Roman" panose="02020603050405020304" pitchFamily="18" charset="0"/>
              </a:rPr>
              <a:t>a</a:t>
            </a:r>
            <a:r>
              <a:rPr lang="bg-BG" dirty="0">
                <a:latin typeface="Times New Roman" panose="02020603050405020304" pitchFamily="18" charset="0"/>
                <a:cs typeface="Times New Roman" panose="02020603050405020304" pitchFamily="18" charset="0"/>
              </a:rPr>
              <a:t> външните запомнящи устройства.</a:t>
            </a:r>
          </a:p>
          <a:p>
            <a:endParaRPr lang="bg-BG" dirty="0">
              <a:latin typeface="Times New Roman" panose="02020603050405020304" pitchFamily="18" charset="0"/>
              <a:cs typeface="Times New Roman" panose="02020603050405020304" pitchFamily="18" charset="0"/>
            </a:endParaRPr>
          </a:p>
          <a:p>
            <a:r>
              <a:rPr lang="bg-BG" dirty="0">
                <a:latin typeface="Times New Roman" panose="02020603050405020304" pitchFamily="18" charset="0"/>
                <a:cs typeface="Times New Roman" panose="02020603050405020304" pitchFamily="18" charset="0"/>
              </a:rPr>
              <a:t>Те са трайни, енергонезависими носители на информация.</a:t>
            </a:r>
          </a:p>
          <a:p>
            <a:endParaRPr lang="bg-BG" dirty="0">
              <a:latin typeface="Times New Roman" panose="02020603050405020304" pitchFamily="18" charset="0"/>
              <a:cs typeface="Times New Roman" panose="02020603050405020304" pitchFamily="18" charset="0"/>
            </a:endParaRPr>
          </a:p>
          <a:p>
            <a:r>
              <a:rPr lang="bg-BG" dirty="0">
                <a:latin typeface="Times New Roman" panose="02020603050405020304" pitchFamily="18" charset="0"/>
                <a:cs typeface="Times New Roman" panose="02020603050405020304" pitchFamily="18" charset="0"/>
              </a:rPr>
              <a:t>Не са интегрирани към дънната платка. Свързани са към нея със специализирани интерфейсни кабели.</a:t>
            </a:r>
          </a:p>
          <a:p>
            <a:endParaRPr lang="bg-BG" sz="2200" dirty="0"/>
          </a:p>
          <a:p>
            <a:endParaRPr lang="bg-BG" sz="2200" dirty="0"/>
          </a:p>
        </p:txBody>
      </p:sp>
      <p:pic>
        <p:nvPicPr>
          <p:cNvPr id="5" name="Picture 4">
            <a:extLst>
              <a:ext uri="{FF2B5EF4-FFF2-40B4-BE49-F238E27FC236}">
                <a16:creationId xmlns:a16="http://schemas.microsoft.com/office/drawing/2014/main" xmlns="" id="{DF7C0A5E-9D9B-4AC3-AB6F-9E5B9481C9C5}"/>
              </a:ext>
            </a:extLst>
          </p:cNvPr>
          <p:cNvPicPr>
            <a:picLocks noChangeAspect="1"/>
          </p:cNvPicPr>
          <p:nvPr/>
        </p:nvPicPr>
        <p:blipFill>
          <a:blip r:embed="rId2"/>
          <a:stretch>
            <a:fillRect/>
          </a:stretch>
        </p:blipFill>
        <p:spPr>
          <a:xfrm>
            <a:off x="6619784" y="2589500"/>
            <a:ext cx="4450670" cy="25240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38185835"/>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B82A91-CDA9-4678-A86B-C2729B0E8004}"/>
              </a:ext>
            </a:extLst>
          </p:cNvPr>
          <p:cNvSpPr>
            <a:spLocks noGrp="1"/>
          </p:cNvSpPr>
          <p:nvPr>
            <p:ph type="title"/>
          </p:nvPr>
        </p:nvSpPr>
        <p:spPr/>
        <p:txBody>
          <a:bodyPr>
            <a:normAutofit/>
          </a:bodyPr>
          <a:lstStyle/>
          <a:p>
            <a:r>
              <a:rPr lang="bg-BG" sz="4800" dirty="0">
                <a:latin typeface="Times New Roman" panose="02020603050405020304" pitchFamily="18" charset="0"/>
                <a:cs typeface="Times New Roman" panose="02020603050405020304" pitchFamily="18" charset="0"/>
              </a:rPr>
              <a:t>Твърд диск (</a:t>
            </a:r>
            <a:r>
              <a:rPr lang="en-US" sz="4800" dirty="0">
                <a:latin typeface="Times New Roman" panose="02020603050405020304" pitchFamily="18" charset="0"/>
                <a:cs typeface="Times New Roman" panose="02020603050405020304" pitchFamily="18" charset="0"/>
              </a:rPr>
              <a:t>Hard Disk Drive)</a:t>
            </a:r>
          </a:p>
        </p:txBody>
      </p:sp>
      <p:sp>
        <p:nvSpPr>
          <p:cNvPr id="3" name="Content Placeholder 2">
            <a:extLst>
              <a:ext uri="{FF2B5EF4-FFF2-40B4-BE49-F238E27FC236}">
                <a16:creationId xmlns:a16="http://schemas.microsoft.com/office/drawing/2014/main" xmlns="" id="{5A5BFBAD-8F10-47B2-BCE9-3BFBF2D2F3EF}"/>
              </a:ext>
            </a:extLst>
          </p:cNvPr>
          <p:cNvSpPr>
            <a:spLocks noGrp="1"/>
          </p:cNvSpPr>
          <p:nvPr>
            <p:ph idx="1"/>
          </p:nvPr>
        </p:nvSpPr>
        <p:spPr>
          <a:xfrm>
            <a:off x="6208295" y="1828800"/>
            <a:ext cx="5059262" cy="4283242"/>
          </a:xfrm>
        </p:spPr>
        <p:txBody>
          <a:bodyPr/>
          <a:lstStyle/>
          <a:p>
            <a:endParaRPr lang="en-US" dirty="0"/>
          </a:p>
        </p:txBody>
      </p:sp>
      <p:pic>
        <p:nvPicPr>
          <p:cNvPr id="4" name="Picture 3">
            <a:extLst>
              <a:ext uri="{FF2B5EF4-FFF2-40B4-BE49-F238E27FC236}">
                <a16:creationId xmlns:a16="http://schemas.microsoft.com/office/drawing/2014/main" xmlns="" id="{EC875D04-7DFE-4DCC-93CF-57BCAE571BB4}"/>
              </a:ext>
            </a:extLst>
          </p:cNvPr>
          <p:cNvPicPr>
            <a:picLocks noChangeAspect="1"/>
          </p:cNvPicPr>
          <p:nvPr/>
        </p:nvPicPr>
        <p:blipFill>
          <a:blip r:embed="rId2"/>
          <a:stretch>
            <a:fillRect/>
          </a:stretch>
        </p:blipFill>
        <p:spPr>
          <a:xfrm>
            <a:off x="3575058" y="1968917"/>
            <a:ext cx="5266473" cy="37260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90242991"/>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BF59A3-2421-4764-90EF-D7AB884DBB75}"/>
              </a:ext>
            </a:extLst>
          </p:cNvPr>
          <p:cNvSpPr>
            <a:spLocks noGrp="1"/>
          </p:cNvSpPr>
          <p:nvPr>
            <p:ph type="title"/>
          </p:nvPr>
        </p:nvSpPr>
        <p:spPr/>
        <p:txBody>
          <a:bodyPr>
            <a:normAutofit/>
          </a:bodyPr>
          <a:lstStyle/>
          <a:p>
            <a:r>
              <a:rPr lang="bg-BG" sz="4800" dirty="0">
                <a:latin typeface="Times New Roman" panose="02020603050405020304" pitchFamily="18" charset="0"/>
                <a:cs typeface="Times New Roman" panose="02020603050405020304" pitchFamily="18" charset="0"/>
              </a:rPr>
              <a:t>Основни характеристики</a:t>
            </a: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7A0577B-75CC-48B6-9841-7548E96B99E7}"/>
              </a:ext>
            </a:extLst>
          </p:cNvPr>
          <p:cNvSpPr>
            <a:spLocks noGrp="1"/>
          </p:cNvSpPr>
          <p:nvPr>
            <p:ph idx="1"/>
          </p:nvPr>
        </p:nvSpPr>
        <p:spPr>
          <a:xfrm>
            <a:off x="613163" y="5308846"/>
            <a:ext cx="10812984" cy="1091953"/>
          </a:xfrm>
        </p:spPr>
        <p:txBody>
          <a:bodyPr>
            <a:normAutofit/>
          </a:bodyPr>
          <a:lstStyle/>
          <a:p>
            <a:pPr algn="ctr"/>
            <a:r>
              <a:rPr lang="ru-RU" dirty="0">
                <a:latin typeface="Times New Roman" panose="02020603050405020304" pitchFamily="18" charset="0"/>
                <a:cs typeface="Times New Roman" panose="02020603050405020304" pitchFamily="18" charset="0"/>
              </a:rPr>
              <a:t>Информацията се съхранява върху хард диска по магнитен път.</a:t>
            </a:r>
          </a:p>
          <a:p>
            <a:pPr algn="ctr"/>
            <a:r>
              <a:rPr lang="ru-RU" dirty="0">
                <a:latin typeface="Times New Roman" panose="02020603050405020304" pitchFamily="18" charset="0"/>
                <a:cs typeface="Times New Roman" panose="02020603050405020304" pitchFamily="18" charset="0"/>
              </a:rPr>
              <a:t>Хард дискът е трайен, енергонезависим носител на информация.</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marL="36900" indent="0" algn="ctr">
              <a:buNone/>
            </a:pPr>
            <a:endParaRPr lang="ru-RU" dirty="0">
              <a:latin typeface="Times New Roman" panose="02020603050405020304" pitchFamily="18" charset="0"/>
              <a:cs typeface="Times New Roman" panose="02020603050405020304" pitchFamily="18" charset="0"/>
            </a:endParaRPr>
          </a:p>
          <a:p>
            <a:pPr algn="ctr"/>
            <a:endParaRPr lang="ru-RU"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8E7E279F-ABE9-406D-B6AF-AA01F6702D55}"/>
              </a:ext>
            </a:extLst>
          </p:cNvPr>
          <p:cNvPicPr>
            <a:picLocks noChangeAspect="1"/>
          </p:cNvPicPr>
          <p:nvPr/>
        </p:nvPicPr>
        <p:blipFill>
          <a:blip r:embed="rId2"/>
          <a:stretch>
            <a:fillRect/>
          </a:stretch>
        </p:blipFill>
        <p:spPr>
          <a:xfrm>
            <a:off x="1297941" y="1978122"/>
            <a:ext cx="3786037" cy="2901755"/>
          </a:xfrm>
          <a:prstGeom prst="rect">
            <a:avLst/>
          </a:prstGeom>
        </p:spPr>
      </p:pic>
      <p:pic>
        <p:nvPicPr>
          <p:cNvPr id="5" name="Picture 4">
            <a:extLst>
              <a:ext uri="{FF2B5EF4-FFF2-40B4-BE49-F238E27FC236}">
                <a16:creationId xmlns:a16="http://schemas.microsoft.com/office/drawing/2014/main" xmlns="" id="{28E9E4BE-3D83-4726-8A54-B1E4CD7694D7}"/>
              </a:ext>
            </a:extLst>
          </p:cNvPr>
          <p:cNvPicPr>
            <a:picLocks noChangeAspect="1"/>
          </p:cNvPicPr>
          <p:nvPr/>
        </p:nvPicPr>
        <p:blipFill>
          <a:blip r:embed="rId3"/>
          <a:stretch>
            <a:fillRect/>
          </a:stretch>
        </p:blipFill>
        <p:spPr>
          <a:xfrm>
            <a:off x="6226623" y="2126593"/>
            <a:ext cx="4914854" cy="26048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93913971"/>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64833A-3407-47FE-B38A-461D1F27DAE4}"/>
              </a:ext>
            </a:extLst>
          </p:cNvPr>
          <p:cNvSpPr>
            <a:spLocks noGrp="1"/>
          </p:cNvSpPr>
          <p:nvPr>
            <p:ph type="title"/>
          </p:nvPr>
        </p:nvSpPr>
        <p:spPr/>
        <p:txBody>
          <a:bodyPr/>
          <a:lstStyle/>
          <a:p>
            <a:r>
              <a:rPr lang="bg-BG" dirty="0">
                <a:latin typeface="Times New Roman" panose="02020603050405020304" pitchFamily="18" charset="0"/>
                <a:cs typeface="Times New Roman" panose="02020603050405020304" pitchFamily="18" charset="0"/>
              </a:rPr>
              <a:t>Основни параметри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AE5EFC3F-5802-439F-95E8-21BD8EEF8943}"/>
              </a:ext>
            </a:extLst>
          </p:cNvPr>
          <p:cNvSpPr>
            <a:spLocks noGrp="1"/>
          </p:cNvSpPr>
          <p:nvPr>
            <p:ph idx="1"/>
          </p:nvPr>
        </p:nvSpPr>
        <p:spPr>
          <a:xfrm>
            <a:off x="6445188" y="1926454"/>
            <a:ext cx="5317725" cy="4202097"/>
          </a:xfrm>
        </p:spPr>
        <p:txBody>
          <a:bodyPr>
            <a:normAutofit lnSpcReduction="10000"/>
          </a:bodyPr>
          <a:lstStyle/>
          <a:p>
            <a:r>
              <a:rPr lang="bg-BG" dirty="0">
                <a:latin typeface="Times New Roman" panose="02020603050405020304" pitchFamily="18" charset="0"/>
                <a:cs typeface="Times New Roman" panose="02020603050405020304" pitchFamily="18" charset="0"/>
              </a:rPr>
              <a:t>скорост на въртене на дисковете (</a:t>
            </a:r>
            <a:r>
              <a:rPr lang="en-US" dirty="0">
                <a:latin typeface="Times New Roman" panose="02020603050405020304" pitchFamily="18" charset="0"/>
                <a:cs typeface="Times New Roman" panose="02020603050405020304" pitchFamily="18" charset="0"/>
              </a:rPr>
              <a:t>rpm – </a:t>
            </a:r>
            <a:r>
              <a:rPr lang="bg-BG" dirty="0">
                <a:latin typeface="Times New Roman" panose="02020603050405020304" pitchFamily="18" charset="0"/>
                <a:cs typeface="Times New Roman" panose="02020603050405020304" pitchFamily="18" charset="0"/>
              </a:rPr>
              <a:t>обороти в минута) – определя производителността на твърдия диск</a:t>
            </a:r>
          </a:p>
          <a:p>
            <a:endParaRPr lang="bg-BG" dirty="0">
              <a:latin typeface="Times New Roman" panose="02020603050405020304" pitchFamily="18" charset="0"/>
              <a:cs typeface="Times New Roman" panose="02020603050405020304" pitchFamily="18" charset="0"/>
            </a:endParaRPr>
          </a:p>
          <a:p>
            <a:r>
              <a:rPr lang="bg-BG" dirty="0">
                <a:latin typeface="Times New Roman" panose="02020603050405020304" pitchFamily="18" charset="0"/>
                <a:cs typeface="Times New Roman" panose="02020603050405020304" pitchFamily="18" charset="0"/>
              </a:rPr>
              <a:t>капацитет – достига терабайти</a:t>
            </a:r>
          </a:p>
          <a:p>
            <a:endParaRPr lang="bg-BG" dirty="0">
              <a:latin typeface="Times New Roman" panose="02020603050405020304" pitchFamily="18" charset="0"/>
              <a:cs typeface="Times New Roman" panose="02020603050405020304" pitchFamily="18" charset="0"/>
            </a:endParaRPr>
          </a:p>
          <a:p>
            <a:r>
              <a:rPr lang="bg-BG" dirty="0">
                <a:latin typeface="Times New Roman" panose="02020603050405020304" pitchFamily="18" charset="0"/>
                <a:cs typeface="Times New Roman" panose="02020603050405020304" pitchFamily="18" charset="0"/>
              </a:rPr>
              <a:t>латентност – отразява времето за достъп на магнитните глави до плочите</a:t>
            </a:r>
          </a:p>
          <a:p>
            <a:endParaRPr lang="bg-BG" dirty="0">
              <a:latin typeface="Times New Roman" panose="02020603050405020304" pitchFamily="18" charset="0"/>
              <a:cs typeface="Times New Roman" panose="02020603050405020304" pitchFamily="18" charset="0"/>
            </a:endParaRPr>
          </a:p>
          <a:p>
            <a:r>
              <a:rPr lang="bg-BG" dirty="0">
                <a:latin typeface="Times New Roman" panose="02020603050405020304" pitchFamily="18" charset="0"/>
                <a:cs typeface="Times New Roman" panose="02020603050405020304" pitchFamily="18" charset="0"/>
              </a:rPr>
              <a:t>Хард дисковете имат размери 8‘‘, 5,25‘‘ и 3,5‘‘</a:t>
            </a:r>
          </a:p>
          <a:p>
            <a:endParaRPr lang="bg-BG" dirty="0">
              <a:latin typeface="Times New Roman" panose="02020603050405020304" pitchFamily="18" charset="0"/>
              <a:cs typeface="Times New Roman" panose="02020603050405020304" pitchFamily="18" charset="0"/>
            </a:endParaRPr>
          </a:p>
          <a:p>
            <a:endParaRPr lang="bg-BG" dirty="0">
              <a:latin typeface="Times New Roman" panose="02020603050405020304" pitchFamily="18" charset="0"/>
              <a:cs typeface="Times New Roman" panose="02020603050405020304" pitchFamily="18" charset="0"/>
            </a:endParaRPr>
          </a:p>
          <a:p>
            <a:endParaRPr lang="bg-BG"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E48E59F1-B4D2-4DBD-98AC-4821DC0A08EC}"/>
              </a:ext>
            </a:extLst>
          </p:cNvPr>
          <p:cNvPicPr>
            <a:picLocks noChangeAspect="1"/>
          </p:cNvPicPr>
          <p:nvPr/>
        </p:nvPicPr>
        <p:blipFill>
          <a:blip r:embed="rId2"/>
          <a:stretch>
            <a:fillRect/>
          </a:stretch>
        </p:blipFill>
        <p:spPr>
          <a:xfrm>
            <a:off x="796356" y="2353093"/>
            <a:ext cx="5069184" cy="3044532"/>
          </a:xfrm>
          <a:prstGeom prst="rect">
            <a:avLst/>
          </a:prstGeom>
        </p:spPr>
      </p:pic>
    </p:spTree>
    <p:extLst>
      <p:ext uri="{BB962C8B-B14F-4D97-AF65-F5344CB8AC3E}">
        <p14:creationId xmlns:p14="http://schemas.microsoft.com/office/powerpoint/2010/main" val="3222245939"/>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37BFDA-EA10-4C94-82F7-2152AFA6CA41}"/>
              </a:ext>
            </a:extLst>
          </p:cNvPr>
          <p:cNvSpPr>
            <a:spLocks noGrp="1"/>
          </p:cNvSpPr>
          <p:nvPr>
            <p:ph type="title"/>
          </p:nvPr>
        </p:nvSpPr>
        <p:spPr/>
        <p:txBody>
          <a:bodyPr/>
          <a:lstStyle/>
          <a:p>
            <a:r>
              <a:rPr lang="bg-BG" dirty="0">
                <a:latin typeface="Times New Roman" panose="02020603050405020304" pitchFamily="18" charset="0"/>
                <a:cs typeface="Times New Roman" panose="02020603050405020304" pitchFamily="18" charset="0"/>
              </a:rPr>
              <a:t>Физическа организация</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01D8B41D-B85B-40DB-B91D-ABE8B4E4092D}"/>
              </a:ext>
            </a:extLst>
          </p:cNvPr>
          <p:cNvSpPr>
            <a:spLocks noGrp="1"/>
          </p:cNvSpPr>
          <p:nvPr>
            <p:ph idx="1"/>
          </p:nvPr>
        </p:nvSpPr>
        <p:spPr>
          <a:xfrm>
            <a:off x="1002571" y="1837678"/>
            <a:ext cx="4332908" cy="4410722"/>
          </a:xfrm>
        </p:spPr>
        <p:txBody>
          <a:bodyPr>
            <a:normAutofit/>
          </a:bodyPr>
          <a:lstStyle/>
          <a:p>
            <a:r>
              <a:rPr lang="ru-RU" dirty="0">
                <a:latin typeface="Times New Roman" panose="02020603050405020304" pitchFamily="18" charset="0"/>
                <a:cs typeface="Times New Roman" panose="02020603050405020304" pitchFamily="18" charset="0"/>
              </a:rPr>
              <a:t>Твърдият диск се състои от два блока – платка с електроника и механична част</a:t>
            </a:r>
          </a:p>
          <a:p>
            <a:r>
              <a:rPr lang="ru-RU" dirty="0">
                <a:latin typeface="Times New Roman" panose="02020603050405020304" pitchFamily="18" charset="0"/>
                <a:cs typeface="Times New Roman" panose="02020603050405020304" pitchFamily="18" charset="0"/>
              </a:rPr>
              <a:t>Хард дисковете са херметически затворени, за да се предотвати напрашване на повърхностите</a:t>
            </a:r>
          </a:p>
          <a:p>
            <a:r>
              <a:rPr lang="ru-RU" dirty="0">
                <a:latin typeface="Times New Roman" panose="02020603050405020304" pitchFamily="18" charset="0"/>
                <a:cs typeface="Times New Roman" panose="02020603050405020304" pitchFamily="18" charset="0"/>
              </a:rPr>
              <a:t>Информацията върху хард диска се съхранява чрез магнитен запис върху магнитни плочи.</a:t>
            </a:r>
          </a:p>
          <a:p>
            <a:r>
              <a:rPr lang="ru-RU" dirty="0">
                <a:latin typeface="Times New Roman" panose="02020603050405020304" pitchFamily="18" charset="0"/>
                <a:cs typeface="Times New Roman" panose="02020603050405020304" pitchFamily="18" charset="0"/>
              </a:rPr>
              <a:t>Плочите са покрити със специален слой от феромагнитен материал.</a:t>
            </a:r>
          </a:p>
          <a:p>
            <a:endParaRPr lang="ru-RU"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DA631F03-2343-4C9D-BD1B-80C7CD7A4AB1}"/>
              </a:ext>
            </a:extLst>
          </p:cNvPr>
          <p:cNvPicPr>
            <a:picLocks noChangeAspect="1"/>
          </p:cNvPicPr>
          <p:nvPr/>
        </p:nvPicPr>
        <p:blipFill>
          <a:blip r:embed="rId2"/>
          <a:stretch>
            <a:fillRect/>
          </a:stretch>
        </p:blipFill>
        <p:spPr>
          <a:xfrm>
            <a:off x="6055760" y="2383140"/>
            <a:ext cx="5419680" cy="3167345"/>
          </a:xfrm>
          <a:prstGeom prst="rect">
            <a:avLst/>
          </a:prstGeom>
        </p:spPr>
      </p:pic>
    </p:spTree>
    <p:extLst>
      <p:ext uri="{BB962C8B-B14F-4D97-AF65-F5344CB8AC3E}">
        <p14:creationId xmlns:p14="http://schemas.microsoft.com/office/powerpoint/2010/main" val="2904216176"/>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78F71937-600E-442F-BFE6-462C1F67A7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37" y="1829526"/>
            <a:ext cx="6218506" cy="3360894"/>
          </a:xfrm>
          <a:prstGeom prst="rect">
            <a:avLst/>
          </a:prstGeom>
        </p:spPr>
      </p:pic>
      <p:sp>
        <p:nvSpPr>
          <p:cNvPr id="2" name="Title 1">
            <a:extLst>
              <a:ext uri="{FF2B5EF4-FFF2-40B4-BE49-F238E27FC236}">
                <a16:creationId xmlns:a16="http://schemas.microsoft.com/office/drawing/2014/main" xmlns="" id="{D1A0FBFF-8209-4A00-8688-226B70A2AA4E}"/>
              </a:ext>
            </a:extLst>
          </p:cNvPr>
          <p:cNvSpPr>
            <a:spLocks noGrp="1"/>
          </p:cNvSpPr>
          <p:nvPr>
            <p:ph type="title"/>
          </p:nvPr>
        </p:nvSpPr>
        <p:spPr>
          <a:xfrm>
            <a:off x="922539" y="2595567"/>
            <a:ext cx="9590550" cy="1828813"/>
          </a:xfrm>
        </p:spPr>
        <p:txBody>
          <a:bodyPr/>
          <a:lstStyle/>
          <a:p>
            <a:endParaRPr lang="en-US" dirty="0"/>
          </a:p>
        </p:txBody>
      </p:sp>
      <p:sp>
        <p:nvSpPr>
          <p:cNvPr id="3" name="Text Placeholder 2">
            <a:extLst>
              <a:ext uri="{FF2B5EF4-FFF2-40B4-BE49-F238E27FC236}">
                <a16:creationId xmlns:a16="http://schemas.microsoft.com/office/drawing/2014/main" xmlns="" id="{7145BA44-93F3-4B46-BC58-8760B2780C74}"/>
              </a:ext>
            </a:extLst>
          </p:cNvPr>
          <p:cNvSpPr>
            <a:spLocks noGrp="1"/>
          </p:cNvSpPr>
          <p:nvPr>
            <p:ph type="body" idx="1"/>
          </p:nvPr>
        </p:nvSpPr>
        <p:spPr>
          <a:xfrm>
            <a:off x="7670307" y="1202923"/>
            <a:ext cx="4048217" cy="5015884"/>
          </a:xfrm>
        </p:spPr>
        <p:txBody>
          <a:bodyPr/>
          <a:lstStyle/>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Магнитните дискове се състоят от една или повече плочи. Двете страни на всяка плоча са покрити с магнитен слой.</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Всички плочи са закрепени на шпиндела на двигател.</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Върху магнитните дискове информацията се записва по магнитен път с помощта на магнитна глава.</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Плочите са прикрепени към шпиндел, който ги върти по марнитните глави.</a:t>
            </a:r>
          </a:p>
        </p:txBody>
      </p:sp>
    </p:spTree>
    <p:extLst>
      <p:ext uri="{BB962C8B-B14F-4D97-AF65-F5344CB8AC3E}">
        <p14:creationId xmlns:p14="http://schemas.microsoft.com/office/powerpoint/2010/main" val="510602517"/>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EB659D-193C-4615-9C05-24BE5707A1AC}"/>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xmlns="" id="{B67EA25A-9C73-4F9C-BCC1-7EAE6AF6B59A}"/>
              </a:ext>
            </a:extLst>
          </p:cNvPr>
          <p:cNvSpPr>
            <a:spLocks noGrp="1"/>
          </p:cNvSpPr>
          <p:nvPr>
            <p:ph type="body" idx="1"/>
          </p:nvPr>
        </p:nvSpPr>
        <p:spPr>
          <a:xfrm>
            <a:off x="7020581" y="958786"/>
            <a:ext cx="4928763" cy="5335481"/>
          </a:xfrm>
        </p:spPr>
        <p:txBody>
          <a:bodyPr>
            <a:normAutofit/>
          </a:bodyPr>
          <a:lstStyle/>
          <a:p>
            <a:pPr marL="342900" indent="-342900" algn="l">
              <a:buFont typeface="Wingdings" panose="05000000000000000000" pitchFamily="2" charset="2"/>
              <a:buChar char="v"/>
            </a:pPr>
            <a:r>
              <a:rPr lang="bg-BG" dirty="0">
                <a:latin typeface="Times New Roman" panose="02020603050405020304" pitchFamily="18" charset="0"/>
                <a:cs typeface="Times New Roman" panose="02020603050405020304" pitchFamily="18" charset="0"/>
              </a:rPr>
              <a:t>Магнитната глава се състои от магнитопровод и четящозаписваща намотка от проводници.</a:t>
            </a:r>
          </a:p>
          <a:p>
            <a:pPr marL="342900" indent="-342900" algn="l">
              <a:buFont typeface="Wingdings" panose="05000000000000000000" pitchFamily="2" charset="2"/>
              <a:buChar char="v"/>
            </a:pPr>
            <a:r>
              <a:rPr lang="bg-BG" dirty="0">
                <a:latin typeface="Times New Roman" panose="02020603050405020304" pitchFamily="18" charset="0"/>
                <a:cs typeface="Times New Roman" panose="02020603050405020304" pitchFamily="18" charset="0"/>
              </a:rPr>
              <a:t>При запис на информация в намотката се подават токови импулси с различна полярност.</a:t>
            </a:r>
          </a:p>
          <a:p>
            <a:pPr marL="342900" indent="-342900" algn="l">
              <a:buFont typeface="Wingdings" panose="05000000000000000000" pitchFamily="2" charset="2"/>
              <a:buChar char="v"/>
            </a:pPr>
            <a:r>
              <a:rPr lang="bg-BG" dirty="0">
                <a:latin typeface="Times New Roman" panose="02020603050405020304" pitchFamily="18" charset="0"/>
                <a:cs typeface="Times New Roman" panose="02020603050405020304" pitchFamily="18" charset="0"/>
              </a:rPr>
              <a:t>През отворът и се подава въздух под налягнае, създаващ „въздушна възглавница“, предпазваща плочите от надраскване.</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Записът се свежда до подаването на ток в намотката, който формира електромагнитно поле в двата края на процепа и.</a:t>
            </a:r>
            <a:endParaRPr lang="bg-BG"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67B8A8D9-EFCA-4A2C-ACB4-2E57444101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464" y="1445311"/>
            <a:ext cx="5725180" cy="3967377"/>
          </a:xfrm>
          <a:prstGeom prst="rect">
            <a:avLst/>
          </a:prstGeom>
        </p:spPr>
      </p:pic>
    </p:spTree>
    <p:extLst>
      <p:ext uri="{BB962C8B-B14F-4D97-AF65-F5344CB8AC3E}">
        <p14:creationId xmlns:p14="http://schemas.microsoft.com/office/powerpoint/2010/main" val="3692361689"/>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E65067-C8EA-425B-B7CE-0AE9037E135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xmlns="" id="{F8A74522-30FF-499D-8E22-18D9478F42EE}"/>
              </a:ext>
            </a:extLst>
          </p:cNvPr>
          <p:cNvSpPr>
            <a:spLocks noGrp="1"/>
          </p:cNvSpPr>
          <p:nvPr>
            <p:ph type="body" idx="1"/>
          </p:nvPr>
        </p:nvSpPr>
        <p:spPr>
          <a:xfrm>
            <a:off x="1207363" y="331184"/>
            <a:ext cx="9678588" cy="4431108"/>
          </a:xfrm>
        </p:spPr>
        <p:txBody>
          <a:bodyPr/>
          <a:lstStyle/>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По този начин е възможно в определени участъци от пътечките молекулите от запомнящия слой (magnetic media coating) да се ориентират в посока S-N, а в други  5 участъци – в посока N-S.</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Няколко последователни участъка със специфична ориентация на молекулите кодират един бит информация (лог. 0 или лог 1). </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Главата, която се използва за четене и запис е една и съща.</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При четене, специфично ориентираните молекули от запомнящия слой индуцират ток в намотката.</a:t>
            </a:r>
          </a:p>
          <a:p>
            <a:pPr marL="342900" indent="-342900" algn="l">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8F5BCE26-CF7B-4F5B-BE10-012426868A78}"/>
              </a:ext>
            </a:extLst>
          </p:cNvPr>
          <p:cNvPicPr>
            <a:picLocks noChangeAspect="1"/>
          </p:cNvPicPr>
          <p:nvPr/>
        </p:nvPicPr>
        <p:blipFill>
          <a:blip r:embed="rId2"/>
          <a:stretch>
            <a:fillRect/>
          </a:stretch>
        </p:blipFill>
        <p:spPr>
          <a:xfrm>
            <a:off x="2502153" y="3511690"/>
            <a:ext cx="7177045" cy="3015126"/>
          </a:xfrm>
          <a:prstGeom prst="rect">
            <a:avLst/>
          </a:prstGeom>
        </p:spPr>
      </p:pic>
    </p:spTree>
    <p:extLst>
      <p:ext uri="{BB962C8B-B14F-4D97-AF65-F5344CB8AC3E}">
        <p14:creationId xmlns:p14="http://schemas.microsoft.com/office/powerpoint/2010/main" val="1910793067"/>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DED240-C1DD-4FBB-9C19-7CB472BED11D}"/>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xmlns="" id="{B0481ECA-E1E8-4BC1-B120-2646F457A1B7}"/>
              </a:ext>
            </a:extLst>
          </p:cNvPr>
          <p:cNvSpPr>
            <a:spLocks noGrp="1"/>
          </p:cNvSpPr>
          <p:nvPr>
            <p:ph type="body" idx="1"/>
          </p:nvPr>
        </p:nvSpPr>
        <p:spPr>
          <a:xfrm>
            <a:off x="5705394" y="1285154"/>
            <a:ext cx="6101907" cy="5080135"/>
          </a:xfrm>
        </p:spPr>
        <p:txBody>
          <a:bodyPr/>
          <a:lstStyle/>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Има толкова глави, колкото повърхности на дисковете.</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Всички четящо-записващи глави (read/write head) се предвижват едновременно от актуаторно рамо (head arm). </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Посоката на предвижване е радиално спрямо дисковия пакет. Това движение се контролира от спъпков двигател.</a:t>
            </a:r>
          </a:p>
          <a:p>
            <a:pPr marL="342900" indent="-342900" algn="l">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Дисковият пакет е набор от една или няколко плочи.</a:t>
            </a:r>
          </a:p>
        </p:txBody>
      </p:sp>
      <p:pic>
        <p:nvPicPr>
          <p:cNvPr id="4" name="Picture 3">
            <a:extLst>
              <a:ext uri="{FF2B5EF4-FFF2-40B4-BE49-F238E27FC236}">
                <a16:creationId xmlns:a16="http://schemas.microsoft.com/office/drawing/2014/main" xmlns="" id="{56CAA84D-05D1-4BA4-A663-5EBE14AF825A}"/>
              </a:ext>
            </a:extLst>
          </p:cNvPr>
          <p:cNvPicPr>
            <a:picLocks noChangeAspect="1"/>
          </p:cNvPicPr>
          <p:nvPr/>
        </p:nvPicPr>
        <p:blipFill>
          <a:blip r:embed="rId2"/>
          <a:stretch>
            <a:fillRect/>
          </a:stretch>
        </p:blipFill>
        <p:spPr>
          <a:xfrm>
            <a:off x="818953" y="3429000"/>
            <a:ext cx="4409993" cy="3057408"/>
          </a:xfrm>
          <a:prstGeom prst="rect">
            <a:avLst/>
          </a:prstGeom>
        </p:spPr>
      </p:pic>
      <p:pic>
        <p:nvPicPr>
          <p:cNvPr id="5" name="Picture 4">
            <a:extLst>
              <a:ext uri="{FF2B5EF4-FFF2-40B4-BE49-F238E27FC236}">
                <a16:creationId xmlns:a16="http://schemas.microsoft.com/office/drawing/2014/main" xmlns="" id="{1BB625C6-80ED-434C-9E23-268C0FDC329E}"/>
              </a:ext>
            </a:extLst>
          </p:cNvPr>
          <p:cNvPicPr>
            <a:picLocks noChangeAspect="1"/>
          </p:cNvPicPr>
          <p:nvPr/>
        </p:nvPicPr>
        <p:blipFill>
          <a:blip r:embed="rId3"/>
          <a:stretch>
            <a:fillRect/>
          </a:stretch>
        </p:blipFill>
        <p:spPr>
          <a:xfrm>
            <a:off x="1412275" y="887587"/>
            <a:ext cx="3541466" cy="2420828"/>
          </a:xfrm>
          <a:prstGeom prst="rect">
            <a:avLst/>
          </a:prstGeom>
        </p:spPr>
      </p:pic>
    </p:spTree>
    <p:extLst>
      <p:ext uri="{BB962C8B-B14F-4D97-AF65-F5344CB8AC3E}">
        <p14:creationId xmlns:p14="http://schemas.microsoft.com/office/powerpoint/2010/main" val="3855050343"/>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7CE6B5-9370-4A27-816E-B8E2E79B02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52EDE41-73E3-4E0B-A891-9567ABC7FCD6}"/>
              </a:ext>
            </a:extLst>
          </p:cNvPr>
          <p:cNvSpPr>
            <a:spLocks noGrp="1"/>
          </p:cNvSpPr>
          <p:nvPr>
            <p:ph idx="1"/>
          </p:nvPr>
        </p:nvSpPr>
        <p:spPr>
          <a:xfrm>
            <a:off x="822147" y="2139520"/>
            <a:ext cx="5176881" cy="4358936"/>
          </a:xfrm>
        </p:spPr>
        <p:txBody>
          <a:bodyPr/>
          <a:lstStyle/>
          <a:p>
            <a:r>
              <a:rPr lang="ru-RU" dirty="0">
                <a:latin typeface="Times New Roman" panose="02020603050405020304" pitchFamily="18" charset="0"/>
                <a:cs typeface="Times New Roman" panose="02020603050405020304" pitchFamily="18" charset="0"/>
              </a:rPr>
              <a:t>Данните се записват върху концентрични окръжности, наречени „пътечки“ (писти). </a:t>
            </a:r>
          </a:p>
          <a:p>
            <a:r>
              <a:rPr lang="ru-RU" dirty="0">
                <a:latin typeface="Times New Roman" panose="02020603050405020304" pitchFamily="18" charset="0"/>
                <a:cs typeface="Times New Roman" panose="02020603050405020304" pitchFamily="18" charset="0"/>
              </a:rPr>
              <a:t>Мислено пистите с еднакъв диаметър от всички работни повърхности са обединени в цилиндри.</a:t>
            </a:r>
          </a:p>
          <a:p>
            <a:r>
              <a:rPr lang="ru-RU" dirty="0">
                <a:latin typeface="Times New Roman" panose="02020603050405020304" pitchFamily="18" charset="0"/>
                <a:cs typeface="Times New Roman" panose="02020603050405020304" pitchFamily="18" charset="0"/>
              </a:rPr>
              <a:t> Цилиндрите съответстват по брой и номерация на пистите по коя да е повърхност</a:t>
            </a:r>
          </a:p>
          <a:p>
            <a:endParaRPr lang="en-US" dirty="0"/>
          </a:p>
        </p:txBody>
      </p:sp>
      <p:pic>
        <p:nvPicPr>
          <p:cNvPr id="5" name="Picture 4">
            <a:extLst>
              <a:ext uri="{FF2B5EF4-FFF2-40B4-BE49-F238E27FC236}">
                <a16:creationId xmlns:a16="http://schemas.microsoft.com/office/drawing/2014/main" xmlns="" id="{AF055F8C-10CB-44DC-BB4A-0975254343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2973" y="1580050"/>
            <a:ext cx="5532225" cy="4422761"/>
          </a:xfrm>
          <a:prstGeom prst="rect">
            <a:avLst/>
          </a:prstGeom>
        </p:spPr>
      </p:pic>
    </p:spTree>
    <p:extLst>
      <p:ext uri="{BB962C8B-B14F-4D97-AF65-F5344CB8AC3E}">
        <p14:creationId xmlns:p14="http://schemas.microsoft.com/office/powerpoint/2010/main" val="1969441385"/>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1F43BF-ED94-4B8F-95D8-F8632BE19312}"/>
              </a:ext>
            </a:extLst>
          </p:cNvPr>
          <p:cNvSpPr>
            <a:spLocks noGrp="1"/>
          </p:cNvSpPr>
          <p:nvPr>
            <p:ph type="title"/>
          </p:nvPr>
        </p:nvSpPr>
        <p:spPr>
          <a:xfrm>
            <a:off x="913795" y="581575"/>
            <a:ext cx="10353762" cy="970450"/>
          </a:xfrm>
        </p:spPr>
        <p:txBody>
          <a:bodyPr/>
          <a:lstStyle/>
          <a:p>
            <a:r>
              <a:rPr lang="bg-BG" dirty="0">
                <a:latin typeface="Times New Roman" panose="02020603050405020304" pitchFamily="18" charset="0"/>
                <a:cs typeface="Times New Roman" panose="02020603050405020304" pitchFamily="18" charset="0"/>
              </a:rPr>
              <a:t>Логическа организация</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5E93677C-9B11-468D-8D84-C706E254FCB0}"/>
              </a:ext>
            </a:extLst>
          </p:cNvPr>
          <p:cNvSpPr>
            <a:spLocks noGrp="1"/>
          </p:cNvSpPr>
          <p:nvPr>
            <p:ph idx="1"/>
          </p:nvPr>
        </p:nvSpPr>
        <p:spPr>
          <a:xfrm>
            <a:off x="6174407" y="1780673"/>
            <a:ext cx="5093150" cy="4186989"/>
          </a:xfrm>
        </p:spPr>
        <p:txBody>
          <a:bodyPr/>
          <a:lstStyle/>
          <a:p>
            <a:pPr>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Операционната система, дава възможност да се работи с дисковете на логическо ниво. </a:t>
            </a:r>
          </a:p>
          <a:p>
            <a:pPr>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На това ниво, всичко записано на дискове, е файл.</a:t>
            </a:r>
          </a:p>
          <a:p>
            <a:pPr>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Най-високо в логическата йерархия е логическият дял. Той се формира от 𝑁 последователни цилиндъра.</a:t>
            </a:r>
          </a:p>
          <a:p>
            <a:pPr>
              <a:buFont typeface="Wingdings" panose="05000000000000000000" pitchFamily="2" charset="2"/>
              <a:buChar char="v"/>
            </a:pPr>
            <a:r>
              <a:rPr lang="ru-RU" dirty="0">
                <a:latin typeface="Times New Roman" panose="02020603050405020304" pitchFamily="18" charset="0"/>
                <a:cs typeface="Times New Roman" panose="02020603050405020304" pitchFamily="18" charset="0"/>
              </a:rPr>
              <a:t> Операционната система вижда дяловете като отделни твърди дискове.</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6C1300D7-9B50-48C0-B31C-B605C9018B60}"/>
              </a:ext>
            </a:extLst>
          </p:cNvPr>
          <p:cNvPicPr>
            <a:picLocks noChangeAspect="1"/>
          </p:cNvPicPr>
          <p:nvPr/>
        </p:nvPicPr>
        <p:blipFill>
          <a:blip r:embed="rId2"/>
          <a:stretch>
            <a:fillRect/>
          </a:stretch>
        </p:blipFill>
        <p:spPr>
          <a:xfrm>
            <a:off x="913795" y="2745204"/>
            <a:ext cx="5103800" cy="2693069"/>
          </a:xfrm>
          <a:prstGeom prst="rect">
            <a:avLst/>
          </a:prstGeom>
        </p:spPr>
      </p:pic>
    </p:spTree>
    <p:extLst>
      <p:ext uri="{BB962C8B-B14F-4D97-AF65-F5344CB8AC3E}">
        <p14:creationId xmlns:p14="http://schemas.microsoft.com/office/powerpoint/2010/main" val="690441125"/>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7F5AAF-C45D-4CE4-977F-3B6551E5B9D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E1CE6E72-90A6-4C7C-A80D-376FB2BA4660}"/>
              </a:ext>
            </a:extLst>
          </p:cNvPr>
          <p:cNvSpPr>
            <a:spLocks noGrp="1"/>
          </p:cNvSpPr>
          <p:nvPr>
            <p:ph idx="1"/>
          </p:nvPr>
        </p:nvSpPr>
        <p:spPr>
          <a:xfrm>
            <a:off x="913795" y="1749836"/>
            <a:ext cx="4941573" cy="3721768"/>
          </a:xfrm>
        </p:spPr>
        <p:txBody>
          <a:bodyPr/>
          <a:lstStyle/>
          <a:p>
            <a:r>
              <a:rPr lang="ru-RU" dirty="0"/>
              <a:t>Файловете се записвана на части, наречени блокове или клъстери. Всеки блок съдържа n на брой последователни сектора..</a:t>
            </a:r>
          </a:p>
          <a:p>
            <a:r>
              <a:rPr lang="ru-RU" dirty="0"/>
              <a:t>Достъпът до дисковете от страна на операционна система се реализира чрез нейната файлова система (FAT32, NTFS и др.). </a:t>
            </a:r>
          </a:p>
          <a:p>
            <a:r>
              <a:rPr lang="ru-RU" dirty="0"/>
              <a:t>Всяка файлова система позволява да се зададе размера да блока за всеки логически дял.</a:t>
            </a:r>
            <a:endParaRPr lang="en-US" dirty="0"/>
          </a:p>
        </p:txBody>
      </p:sp>
      <p:pic>
        <p:nvPicPr>
          <p:cNvPr id="6" name="Picture 5">
            <a:extLst>
              <a:ext uri="{FF2B5EF4-FFF2-40B4-BE49-F238E27FC236}">
                <a16:creationId xmlns:a16="http://schemas.microsoft.com/office/drawing/2014/main" xmlns="" id="{3AC6DD86-C7EC-410E-A1FD-E468AB9751C9}"/>
              </a:ext>
            </a:extLst>
          </p:cNvPr>
          <p:cNvPicPr>
            <a:picLocks noChangeAspect="1"/>
          </p:cNvPicPr>
          <p:nvPr/>
        </p:nvPicPr>
        <p:blipFill>
          <a:blip r:embed="rId2"/>
          <a:stretch>
            <a:fillRect/>
          </a:stretch>
        </p:blipFill>
        <p:spPr>
          <a:xfrm>
            <a:off x="6090676" y="2000995"/>
            <a:ext cx="5419725" cy="3219450"/>
          </a:xfrm>
          <a:prstGeom prst="rect">
            <a:avLst/>
          </a:prstGeom>
        </p:spPr>
      </p:pic>
    </p:spTree>
    <p:extLst>
      <p:ext uri="{BB962C8B-B14F-4D97-AF65-F5344CB8AC3E}">
        <p14:creationId xmlns:p14="http://schemas.microsoft.com/office/powerpoint/2010/main" val="2652074493"/>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C30F7272-12D8-4484-BCB7-476B7619F53F}"/>
              </a:ext>
            </a:extLst>
          </p:cNvPr>
          <p:cNvPicPr>
            <a:picLocks noChangeAspect="1"/>
          </p:cNvPicPr>
          <p:nvPr/>
        </p:nvPicPr>
        <p:blipFill>
          <a:blip r:embed="rId2"/>
          <a:stretch>
            <a:fillRect/>
          </a:stretch>
        </p:blipFill>
        <p:spPr>
          <a:xfrm>
            <a:off x="6617491" y="3429000"/>
            <a:ext cx="3037975" cy="3201747"/>
          </a:xfrm>
          <a:prstGeom prst="rect">
            <a:avLst/>
          </a:prstGeom>
        </p:spPr>
      </p:pic>
      <p:sp>
        <p:nvSpPr>
          <p:cNvPr id="2" name="Title 1">
            <a:extLst>
              <a:ext uri="{FF2B5EF4-FFF2-40B4-BE49-F238E27FC236}">
                <a16:creationId xmlns:a16="http://schemas.microsoft.com/office/drawing/2014/main" xmlns="" id="{1E53E82F-47F3-4BE2-83EB-5709D24F275A}"/>
              </a:ext>
            </a:extLst>
          </p:cNvPr>
          <p:cNvSpPr>
            <a:spLocks noGrp="1"/>
          </p:cNvSpPr>
          <p:nvPr>
            <p:ph type="title"/>
          </p:nvPr>
        </p:nvSpPr>
        <p:spPr/>
        <p:txBody>
          <a:bodyPr>
            <a:normAutofit/>
          </a:bodyPr>
          <a:lstStyle/>
          <a:p>
            <a:r>
              <a:rPr lang="bg-BG" sz="2400" dirty="0">
                <a:latin typeface="Times New Roman" panose="02020603050405020304" pitchFamily="18" charset="0"/>
                <a:cs typeface="Times New Roman" panose="02020603050405020304" pitchFamily="18" charset="0"/>
              </a:rPr>
              <a:t>Фрагментирани дялове</a:t>
            </a: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50402B56-C7E0-45C5-AF50-D2D5AF38C3A7}"/>
              </a:ext>
            </a:extLst>
          </p:cNvPr>
          <p:cNvSpPr>
            <a:spLocks noGrp="1"/>
          </p:cNvSpPr>
          <p:nvPr>
            <p:ph idx="1"/>
          </p:nvPr>
        </p:nvSpPr>
        <p:spPr>
          <a:xfrm>
            <a:off x="913795" y="1672389"/>
            <a:ext cx="5519089" cy="3513221"/>
          </a:xfrm>
        </p:spPr>
        <p:txBody>
          <a:bodyPr/>
          <a:lstStyle/>
          <a:p>
            <a:r>
              <a:rPr lang="ru-RU" dirty="0">
                <a:latin typeface="Times New Roman" panose="02020603050405020304" pitchFamily="18" charset="0"/>
                <a:cs typeface="Times New Roman" panose="02020603050405020304" pitchFamily="18" charset="0"/>
              </a:rPr>
              <a:t>Един диск е фрагментиран, когато блоковете от един файл не са разположени на последователни цилиндри. </a:t>
            </a:r>
            <a:endParaRPr lang="en-US"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Фрагментацията забавя скоростта на обмен с диска тъй като се налага главите да се преместват по-често в радиална посока, а това е бавна операция. </a:t>
            </a:r>
            <a:endParaRPr lang="en-US"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Дискът се дефрагментира програмно чрез специален софтуер.</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BA43C322-01D7-4A6B-9343-33A30D14B54A}"/>
              </a:ext>
            </a:extLst>
          </p:cNvPr>
          <p:cNvPicPr>
            <a:picLocks noChangeAspect="1"/>
          </p:cNvPicPr>
          <p:nvPr/>
        </p:nvPicPr>
        <p:blipFill>
          <a:blip r:embed="rId3"/>
          <a:stretch>
            <a:fillRect/>
          </a:stretch>
        </p:blipFill>
        <p:spPr>
          <a:xfrm>
            <a:off x="8038477" y="1336824"/>
            <a:ext cx="3603192" cy="2092176"/>
          </a:xfrm>
          <a:prstGeom prst="rect">
            <a:avLst/>
          </a:prstGeom>
        </p:spPr>
      </p:pic>
    </p:spTree>
    <p:extLst>
      <p:ext uri="{BB962C8B-B14F-4D97-AF65-F5344CB8AC3E}">
        <p14:creationId xmlns:p14="http://schemas.microsoft.com/office/powerpoint/2010/main" val="3594945329"/>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2E53DC-0FB9-40BA-BAC8-C47E91F1237B}"/>
              </a:ext>
            </a:extLst>
          </p:cNvPr>
          <p:cNvSpPr>
            <a:spLocks noGrp="1"/>
          </p:cNvSpPr>
          <p:nvPr>
            <p:ph type="title"/>
          </p:nvPr>
        </p:nvSpPr>
        <p:spPr/>
        <p:txBody>
          <a:bodyPr/>
          <a:lstStyle/>
          <a:p>
            <a:r>
              <a:rPr lang="bg-BG" dirty="0">
                <a:latin typeface="Times New Roman" panose="02020603050405020304" pitchFamily="18" charset="0"/>
                <a:cs typeface="Times New Roman" panose="02020603050405020304" pitchFamily="18" charset="0"/>
              </a:rPr>
              <a:t>Интерфейси</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CABA7052-0F02-43CE-99B3-905C08BF696C}"/>
              </a:ext>
            </a:extLst>
          </p:cNvPr>
          <p:cNvSpPr>
            <a:spLocks noGrp="1"/>
          </p:cNvSpPr>
          <p:nvPr>
            <p:ph idx="1"/>
          </p:nvPr>
        </p:nvSpPr>
        <p:spPr>
          <a:xfrm>
            <a:off x="1042130" y="2065325"/>
            <a:ext cx="4187595" cy="3501286"/>
          </a:xfrm>
        </p:spPr>
        <p:txBody>
          <a:bodyPr>
            <a:normAutofit/>
          </a:bodyPr>
          <a:lstStyle/>
          <a:p>
            <a:r>
              <a:rPr lang="bg-BG" dirty="0">
                <a:latin typeface="Times New Roman" panose="02020603050405020304" pitchFamily="18" charset="0"/>
                <a:cs typeface="Times New Roman" panose="02020603050405020304" pitchFamily="18" charset="0"/>
              </a:rPr>
              <a:t>Твърдият диск е външно запомнящо устройство и вързката му с компютърната система е осъществена с интерфейсни кабели.</a:t>
            </a:r>
          </a:p>
          <a:p>
            <a:r>
              <a:rPr lang="bg-BG" dirty="0">
                <a:latin typeface="Times New Roman" panose="02020603050405020304" pitchFamily="18" charset="0"/>
                <a:cs typeface="Times New Roman" panose="02020603050405020304" pitchFamily="18" charset="0"/>
              </a:rPr>
              <a:t>Интерфейсите се разделят два типа – такива с паралелно и серийно предаване на данни.</a:t>
            </a:r>
          </a:p>
          <a:p>
            <a:pPr marL="36900" indent="0">
              <a:buNone/>
            </a:pP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44BE2B27-5CD6-47CF-A07F-803E43406910}"/>
              </a:ext>
            </a:extLst>
          </p:cNvPr>
          <p:cNvPicPr>
            <a:picLocks noChangeAspect="1"/>
          </p:cNvPicPr>
          <p:nvPr/>
        </p:nvPicPr>
        <p:blipFill>
          <a:blip r:embed="rId2"/>
          <a:stretch>
            <a:fillRect/>
          </a:stretch>
        </p:blipFill>
        <p:spPr>
          <a:xfrm rot="1309345">
            <a:off x="5689843" y="2105599"/>
            <a:ext cx="2487495" cy="2487495"/>
          </a:xfrm>
          <a:prstGeom prst="rect">
            <a:avLst/>
          </a:prstGeom>
        </p:spPr>
      </p:pic>
      <p:pic>
        <p:nvPicPr>
          <p:cNvPr id="5" name="Picture 4">
            <a:extLst>
              <a:ext uri="{FF2B5EF4-FFF2-40B4-BE49-F238E27FC236}">
                <a16:creationId xmlns:a16="http://schemas.microsoft.com/office/drawing/2014/main" xmlns="" id="{D92ED466-8FA0-4358-9E26-858E90D1080B}"/>
              </a:ext>
            </a:extLst>
          </p:cNvPr>
          <p:cNvPicPr>
            <a:picLocks noChangeAspect="1"/>
          </p:cNvPicPr>
          <p:nvPr/>
        </p:nvPicPr>
        <p:blipFill>
          <a:blip r:embed="rId3"/>
          <a:stretch>
            <a:fillRect/>
          </a:stretch>
        </p:blipFill>
        <p:spPr>
          <a:xfrm rot="20934124">
            <a:off x="9235058" y="1898770"/>
            <a:ext cx="1914811" cy="1914811"/>
          </a:xfrm>
          <a:prstGeom prst="rect">
            <a:avLst/>
          </a:prstGeom>
        </p:spPr>
      </p:pic>
      <p:pic>
        <p:nvPicPr>
          <p:cNvPr id="6" name="Picture 5">
            <a:extLst>
              <a:ext uri="{FF2B5EF4-FFF2-40B4-BE49-F238E27FC236}">
                <a16:creationId xmlns:a16="http://schemas.microsoft.com/office/drawing/2014/main" xmlns="" id="{FC7CF366-81F4-4208-BAD0-78FD194F97B1}"/>
              </a:ext>
            </a:extLst>
          </p:cNvPr>
          <p:cNvPicPr>
            <a:picLocks noChangeAspect="1"/>
          </p:cNvPicPr>
          <p:nvPr/>
        </p:nvPicPr>
        <p:blipFill>
          <a:blip r:embed="rId4"/>
          <a:stretch>
            <a:fillRect/>
          </a:stretch>
        </p:blipFill>
        <p:spPr>
          <a:xfrm rot="412949">
            <a:off x="8637456" y="4132301"/>
            <a:ext cx="2912854" cy="1690983"/>
          </a:xfrm>
          <a:prstGeom prst="rect">
            <a:avLst/>
          </a:prstGeom>
        </p:spPr>
      </p:pic>
      <p:pic>
        <p:nvPicPr>
          <p:cNvPr id="7" name="Picture 6">
            <a:extLst>
              <a:ext uri="{FF2B5EF4-FFF2-40B4-BE49-F238E27FC236}">
                <a16:creationId xmlns:a16="http://schemas.microsoft.com/office/drawing/2014/main" xmlns="" id="{6F555F74-8AFC-434E-B94A-E182B6F3751F}"/>
              </a:ext>
            </a:extLst>
          </p:cNvPr>
          <p:cNvPicPr>
            <a:picLocks noChangeAspect="1"/>
          </p:cNvPicPr>
          <p:nvPr/>
        </p:nvPicPr>
        <p:blipFill>
          <a:blip r:embed="rId5"/>
          <a:stretch>
            <a:fillRect/>
          </a:stretch>
        </p:blipFill>
        <p:spPr>
          <a:xfrm rot="283811">
            <a:off x="5119042" y="4662412"/>
            <a:ext cx="3123241" cy="1389474"/>
          </a:xfrm>
          <a:prstGeom prst="rect">
            <a:avLst/>
          </a:prstGeom>
        </p:spPr>
      </p:pic>
    </p:spTree>
    <p:extLst>
      <p:ext uri="{BB962C8B-B14F-4D97-AF65-F5344CB8AC3E}">
        <p14:creationId xmlns:p14="http://schemas.microsoft.com/office/powerpoint/2010/main" val="316713823"/>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7238FC-674B-4B9D-802C-5B42646D5D27}"/>
              </a:ext>
            </a:extLst>
          </p:cNvPr>
          <p:cNvSpPr>
            <a:spLocks noGrp="1"/>
          </p:cNvSpPr>
          <p:nvPr>
            <p:ph type="title"/>
          </p:nvPr>
        </p:nvSpPr>
        <p:spPr/>
        <p:txBody>
          <a:bodyPr/>
          <a:lstStyle/>
          <a:p>
            <a:endParaRPr lang="en-US" dirty="0"/>
          </a:p>
        </p:txBody>
      </p:sp>
      <p:graphicFrame>
        <p:nvGraphicFramePr>
          <p:cNvPr id="7" name="Content Placeholder 6">
            <a:extLst>
              <a:ext uri="{FF2B5EF4-FFF2-40B4-BE49-F238E27FC236}">
                <a16:creationId xmlns:a16="http://schemas.microsoft.com/office/drawing/2014/main" xmlns="" id="{6A17035F-D821-4581-8826-25C7F37E48EC}"/>
              </a:ext>
            </a:extLst>
          </p:cNvPr>
          <p:cNvGraphicFramePr>
            <a:graphicFrameLocks noGrp="1"/>
          </p:cNvGraphicFramePr>
          <p:nvPr>
            <p:ph idx="1"/>
            <p:extLst>
              <p:ext uri="{D42A27DB-BD31-4B8C-83A1-F6EECF244321}">
                <p14:modId xmlns:p14="http://schemas.microsoft.com/office/powerpoint/2010/main" val="2179599243"/>
              </p:ext>
            </p:extLst>
          </p:nvPr>
        </p:nvGraphicFramePr>
        <p:xfrm>
          <a:off x="3116063" y="609600"/>
          <a:ext cx="5584054" cy="5844466"/>
        </p:xfrm>
        <a:graphic>
          <a:graphicData uri="http://schemas.openxmlformats.org/drawingml/2006/table">
            <a:tbl>
              <a:tblPr firstRow="1" firstCol="1" bandRow="1">
                <a:tableStyleId>{5C22544A-7EE6-4342-B048-85BDC9FD1C3A}</a:tableStyleId>
              </a:tblPr>
              <a:tblGrid>
                <a:gridCol w="2791640">
                  <a:extLst>
                    <a:ext uri="{9D8B030D-6E8A-4147-A177-3AD203B41FA5}">
                      <a16:colId xmlns:a16="http://schemas.microsoft.com/office/drawing/2014/main" xmlns="" val="4078858810"/>
                    </a:ext>
                  </a:extLst>
                </a:gridCol>
                <a:gridCol w="2792414">
                  <a:extLst>
                    <a:ext uri="{9D8B030D-6E8A-4147-A177-3AD203B41FA5}">
                      <a16:colId xmlns:a16="http://schemas.microsoft.com/office/drawing/2014/main" xmlns="" val="2596127497"/>
                    </a:ext>
                  </a:extLst>
                </a:gridCol>
              </a:tblGrid>
              <a:tr h="1535002">
                <a:tc>
                  <a:txBody>
                    <a:bodyPr/>
                    <a:lstStyle/>
                    <a:p>
                      <a:pPr marL="0" marR="0" algn="ctr">
                        <a:lnSpc>
                          <a:spcPct val="115000"/>
                        </a:lnSpc>
                        <a:spcBef>
                          <a:spcPts val="0"/>
                        </a:spcBef>
                        <a:spcAft>
                          <a:spcPts val="0"/>
                        </a:spcAft>
                      </a:pPr>
                      <a:r>
                        <a:rPr lang="bg-BG" sz="1200">
                          <a:effectLst/>
                        </a:rPr>
                        <a:t>Стандарт и тип на интерфейса</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6920" marR="66920" marT="0" marB="0"/>
                </a:tc>
                <a:tc>
                  <a:txBody>
                    <a:bodyPr/>
                    <a:lstStyle/>
                    <a:p>
                      <a:pPr marL="0" marR="0" algn="ctr">
                        <a:lnSpc>
                          <a:spcPct val="115000"/>
                        </a:lnSpc>
                        <a:spcBef>
                          <a:spcPts val="0"/>
                        </a:spcBef>
                        <a:spcAft>
                          <a:spcPts val="0"/>
                        </a:spcAft>
                      </a:pPr>
                      <a:r>
                        <a:rPr lang="bg-BG" sz="1200" dirty="0">
                          <a:effectLst/>
                        </a:rPr>
                        <a:t>Характеристики</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6920" marR="66920" marT="0" marB="0"/>
                </a:tc>
                <a:extLst>
                  <a:ext uri="{0D108BD9-81ED-4DB2-BD59-A6C34878D82A}">
                    <a16:rowId xmlns:a16="http://schemas.microsoft.com/office/drawing/2014/main" xmlns="" val="1409338384"/>
                  </a:ext>
                </a:extLst>
              </a:tr>
              <a:tr h="1345473">
                <a:tc>
                  <a:txBody>
                    <a:bodyPr/>
                    <a:lstStyle/>
                    <a:p>
                      <a:pPr marL="0" marR="0" algn="l">
                        <a:lnSpc>
                          <a:spcPct val="115000"/>
                        </a:lnSpc>
                        <a:spcBef>
                          <a:spcPts val="0"/>
                        </a:spcBef>
                        <a:spcAft>
                          <a:spcPts val="0"/>
                        </a:spcAft>
                      </a:pPr>
                      <a:r>
                        <a:rPr lang="en-US" sz="1100">
                          <a:effectLst/>
                        </a:rPr>
                        <a:t>ATA (Advanced Technological Attachment);</a:t>
                      </a:r>
                    </a:p>
                    <a:p>
                      <a:pPr marL="0" marR="0" algn="l">
                        <a:lnSpc>
                          <a:spcPct val="115000"/>
                        </a:lnSpc>
                        <a:spcBef>
                          <a:spcPts val="0"/>
                        </a:spcBef>
                        <a:spcAft>
                          <a:spcPts val="0"/>
                        </a:spcAft>
                      </a:pPr>
                      <a:r>
                        <a:rPr lang="bg-BG" sz="1100">
                          <a:effectLst/>
                        </a:rPr>
                        <a:t> </a:t>
                      </a:r>
                      <a:endParaRPr lang="en-US" sz="1100">
                        <a:effectLst/>
                      </a:endParaRPr>
                    </a:p>
                    <a:p>
                      <a:pPr marL="0" marR="0" algn="l">
                        <a:lnSpc>
                          <a:spcPct val="115000"/>
                        </a:lnSpc>
                        <a:spcBef>
                          <a:spcPts val="0"/>
                        </a:spcBef>
                        <a:spcAft>
                          <a:spcPts val="0"/>
                        </a:spcAft>
                      </a:pPr>
                      <a:r>
                        <a:rPr lang="bg-BG" sz="1100">
                          <a:effectLst/>
                        </a:rPr>
                        <a:t>Паралелно предаване на данни (паралелен интерфейс)</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6920" marR="66920" marT="0" marB="0"/>
                </a:tc>
                <a:tc>
                  <a:txBody>
                    <a:bodyPr/>
                    <a:lstStyle/>
                    <a:p>
                      <a:pPr marL="0" marR="0" algn="l">
                        <a:lnSpc>
                          <a:spcPct val="115000"/>
                        </a:lnSpc>
                        <a:spcBef>
                          <a:spcPts val="0"/>
                        </a:spcBef>
                        <a:spcAft>
                          <a:spcPts val="0"/>
                        </a:spcAft>
                      </a:pPr>
                      <a:r>
                        <a:rPr lang="bg-BG" sz="1100">
                          <a:effectLst/>
                        </a:rPr>
                        <a:t>Скорост на пренос на данни – 33MB/s – 133MB/s; поддържа до две устройства на канал; 40-80 pins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6920" marR="66920" marT="0" marB="0"/>
                </a:tc>
                <a:extLst>
                  <a:ext uri="{0D108BD9-81ED-4DB2-BD59-A6C34878D82A}">
                    <a16:rowId xmlns:a16="http://schemas.microsoft.com/office/drawing/2014/main" xmlns="" val="977934719"/>
                  </a:ext>
                </a:extLst>
              </a:tr>
              <a:tr h="1618069">
                <a:tc>
                  <a:txBody>
                    <a:bodyPr/>
                    <a:lstStyle/>
                    <a:p>
                      <a:pPr marL="0" marR="0" algn="l">
                        <a:lnSpc>
                          <a:spcPct val="115000"/>
                        </a:lnSpc>
                        <a:spcBef>
                          <a:spcPts val="0"/>
                        </a:spcBef>
                        <a:spcAft>
                          <a:spcPts val="0"/>
                        </a:spcAft>
                      </a:pPr>
                      <a:r>
                        <a:rPr lang="en-US" sz="1100">
                          <a:effectLst/>
                        </a:rPr>
                        <a:t>IDE (Integrated Device Electronic)</a:t>
                      </a:r>
                    </a:p>
                    <a:p>
                      <a:pPr marL="0" marR="0" algn="l">
                        <a:lnSpc>
                          <a:spcPct val="115000"/>
                        </a:lnSpc>
                        <a:spcBef>
                          <a:spcPts val="0"/>
                        </a:spcBef>
                        <a:spcAft>
                          <a:spcPts val="0"/>
                        </a:spcAft>
                      </a:pPr>
                      <a:r>
                        <a:rPr lang="en-US" sz="1100">
                          <a:effectLst/>
                        </a:rPr>
                        <a:t> </a:t>
                      </a:r>
                    </a:p>
                    <a:p>
                      <a:pPr marL="0" marR="0" algn="l">
                        <a:lnSpc>
                          <a:spcPct val="115000"/>
                        </a:lnSpc>
                        <a:spcBef>
                          <a:spcPts val="0"/>
                        </a:spcBef>
                        <a:spcAft>
                          <a:spcPts val="0"/>
                        </a:spcAft>
                      </a:pPr>
                      <a:r>
                        <a:rPr lang="en-US" sz="1100">
                          <a:effectLst/>
                        </a:rPr>
                        <a:t>ATA </a:t>
                      </a:r>
                      <a:r>
                        <a:rPr lang="bg-BG" sz="1100">
                          <a:effectLst/>
                        </a:rPr>
                        <a:t>стандарт/паралелен интерфейс</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6920" marR="66920" marT="0" marB="0"/>
                </a:tc>
                <a:tc>
                  <a:txBody>
                    <a:bodyPr/>
                    <a:lstStyle/>
                    <a:p>
                      <a:pPr marL="0" marR="0" algn="l">
                        <a:lnSpc>
                          <a:spcPct val="115000"/>
                        </a:lnSpc>
                        <a:spcBef>
                          <a:spcPts val="0"/>
                        </a:spcBef>
                        <a:spcAft>
                          <a:spcPts val="0"/>
                        </a:spcAft>
                      </a:pPr>
                      <a:r>
                        <a:rPr lang="bg-BG" sz="1100">
                          <a:effectLst/>
                        </a:rPr>
                        <a:t>Платка, съдържаща постоянна памет </a:t>
                      </a:r>
                      <a:r>
                        <a:rPr lang="en-US" sz="1100">
                          <a:effectLst/>
                        </a:rPr>
                        <a:t>(firmware</a:t>
                      </a:r>
                      <a:r>
                        <a:rPr lang="bg-BG" sz="1100">
                          <a:effectLst/>
                        </a:rPr>
                        <a:t>); оперативна памет на хард диска; специализиран цифров сигнален процесор; скорост на пренос </a:t>
                      </a:r>
                      <a:r>
                        <a:rPr lang="en-US" sz="1100">
                          <a:effectLst/>
                        </a:rPr>
                        <a:t>- </a:t>
                      </a:r>
                      <a:r>
                        <a:rPr lang="bg-BG" sz="1100">
                          <a:effectLst/>
                        </a:rPr>
                        <a:t>60MB/s</a:t>
                      </a:r>
                      <a:r>
                        <a:rPr lang="en-US" sz="1100">
                          <a:effectLst/>
                        </a:rPr>
                        <a:t>; 34 – 80 pins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6920" marR="66920" marT="0" marB="0"/>
                </a:tc>
                <a:extLst>
                  <a:ext uri="{0D108BD9-81ED-4DB2-BD59-A6C34878D82A}">
                    <a16:rowId xmlns:a16="http://schemas.microsoft.com/office/drawing/2014/main" xmlns="" val="2783692213"/>
                  </a:ext>
                </a:extLst>
              </a:tr>
              <a:tr h="1345922">
                <a:tc>
                  <a:txBody>
                    <a:bodyPr/>
                    <a:lstStyle/>
                    <a:p>
                      <a:pPr marL="0" marR="0" algn="l">
                        <a:lnSpc>
                          <a:spcPct val="115000"/>
                        </a:lnSpc>
                        <a:spcBef>
                          <a:spcPts val="0"/>
                        </a:spcBef>
                        <a:spcAft>
                          <a:spcPts val="0"/>
                        </a:spcAft>
                      </a:pPr>
                      <a:r>
                        <a:rPr lang="en-US" sz="1100">
                          <a:effectLst/>
                        </a:rPr>
                        <a:t>EIDE (Enchanced IDE)</a:t>
                      </a:r>
                    </a:p>
                    <a:p>
                      <a:pPr marL="0" marR="0" algn="l">
                        <a:lnSpc>
                          <a:spcPct val="115000"/>
                        </a:lnSpc>
                        <a:spcBef>
                          <a:spcPts val="0"/>
                        </a:spcBef>
                        <a:spcAft>
                          <a:spcPts val="0"/>
                        </a:spcAft>
                      </a:pPr>
                      <a:r>
                        <a:rPr lang="en-US" sz="1100">
                          <a:effectLst/>
                        </a:rPr>
                        <a:t> </a:t>
                      </a:r>
                    </a:p>
                    <a:p>
                      <a:pPr marL="0" marR="0" algn="l">
                        <a:lnSpc>
                          <a:spcPct val="115000"/>
                        </a:lnSpc>
                        <a:spcBef>
                          <a:spcPts val="0"/>
                        </a:spcBef>
                        <a:spcAft>
                          <a:spcPts val="0"/>
                        </a:spcAft>
                      </a:pPr>
                      <a:r>
                        <a:rPr lang="en-US" sz="1100">
                          <a:effectLst/>
                        </a:rPr>
                        <a:t>ATA </a:t>
                      </a:r>
                      <a:r>
                        <a:rPr lang="bg-BG" sz="1100">
                          <a:effectLst/>
                        </a:rPr>
                        <a:t>стандарт/паралелен интерфейс – до 2 устройства (хард диск; ДВД)</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6920" marR="66920" marT="0" marB="0"/>
                </a:tc>
                <a:tc>
                  <a:txBody>
                    <a:bodyPr/>
                    <a:lstStyle/>
                    <a:p>
                      <a:pPr marL="0" marR="0" algn="l">
                        <a:lnSpc>
                          <a:spcPct val="115000"/>
                        </a:lnSpc>
                        <a:spcBef>
                          <a:spcPts val="0"/>
                        </a:spcBef>
                        <a:spcAft>
                          <a:spcPts val="0"/>
                        </a:spcAft>
                      </a:pPr>
                      <a:r>
                        <a:rPr lang="en-US" sz="1100" dirty="0">
                          <a:effectLst/>
                        </a:rPr>
                        <a:t>EIDE </a:t>
                      </a:r>
                      <a:r>
                        <a:rPr lang="bg-BG" sz="1100" dirty="0">
                          <a:effectLst/>
                        </a:rPr>
                        <a:t>контролерът е интегриран в дънната платка; има два канала с по едно устройство; скорост на пренос – 16,6</a:t>
                      </a:r>
                      <a:r>
                        <a:rPr lang="en-US" sz="1100" dirty="0">
                          <a:effectLst/>
                        </a:rPr>
                        <a:t>MB/s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6920" marR="66920" marT="0" marB="0"/>
                </a:tc>
                <a:extLst>
                  <a:ext uri="{0D108BD9-81ED-4DB2-BD59-A6C34878D82A}">
                    <a16:rowId xmlns:a16="http://schemas.microsoft.com/office/drawing/2014/main" xmlns="" val="3476460449"/>
                  </a:ext>
                </a:extLst>
              </a:tr>
            </a:tbl>
          </a:graphicData>
        </a:graphic>
      </p:graphicFrame>
      <p:pic>
        <p:nvPicPr>
          <p:cNvPr id="9" name="Picture 8">
            <a:extLst>
              <a:ext uri="{FF2B5EF4-FFF2-40B4-BE49-F238E27FC236}">
                <a16:creationId xmlns:a16="http://schemas.microsoft.com/office/drawing/2014/main" xmlns="" id="{9F18ABC0-360B-42D8-862B-4514D03E624F}"/>
              </a:ext>
            </a:extLst>
          </p:cNvPr>
          <p:cNvPicPr>
            <a:picLocks noChangeAspect="1"/>
          </p:cNvPicPr>
          <p:nvPr/>
        </p:nvPicPr>
        <p:blipFill>
          <a:blip r:embed="rId2"/>
          <a:stretch>
            <a:fillRect/>
          </a:stretch>
        </p:blipFill>
        <p:spPr>
          <a:xfrm rot="21190531">
            <a:off x="676960" y="2173054"/>
            <a:ext cx="1777482" cy="1255946"/>
          </a:xfrm>
          <a:prstGeom prst="rect">
            <a:avLst/>
          </a:prstGeom>
        </p:spPr>
      </p:pic>
      <p:pic>
        <p:nvPicPr>
          <p:cNvPr id="10" name="Picture 9">
            <a:extLst>
              <a:ext uri="{FF2B5EF4-FFF2-40B4-BE49-F238E27FC236}">
                <a16:creationId xmlns:a16="http://schemas.microsoft.com/office/drawing/2014/main" xmlns="" id="{73FE19DD-63A8-4BA4-88E8-B09C01535DD0}"/>
              </a:ext>
            </a:extLst>
          </p:cNvPr>
          <p:cNvPicPr>
            <a:picLocks noChangeAspect="1"/>
          </p:cNvPicPr>
          <p:nvPr/>
        </p:nvPicPr>
        <p:blipFill>
          <a:blip r:embed="rId3"/>
          <a:stretch>
            <a:fillRect/>
          </a:stretch>
        </p:blipFill>
        <p:spPr>
          <a:xfrm rot="21303722">
            <a:off x="9340372" y="3531833"/>
            <a:ext cx="1646063" cy="1639966"/>
          </a:xfrm>
          <a:prstGeom prst="rect">
            <a:avLst/>
          </a:prstGeom>
        </p:spPr>
      </p:pic>
      <p:pic>
        <p:nvPicPr>
          <p:cNvPr id="11" name="Picture 10">
            <a:extLst>
              <a:ext uri="{FF2B5EF4-FFF2-40B4-BE49-F238E27FC236}">
                <a16:creationId xmlns:a16="http://schemas.microsoft.com/office/drawing/2014/main" xmlns="" id="{168630A1-9DBC-4D44-A0FA-9503A23A3BDF}"/>
              </a:ext>
            </a:extLst>
          </p:cNvPr>
          <p:cNvPicPr>
            <a:picLocks noChangeAspect="1"/>
          </p:cNvPicPr>
          <p:nvPr/>
        </p:nvPicPr>
        <p:blipFill>
          <a:blip r:embed="rId4"/>
          <a:stretch>
            <a:fillRect/>
          </a:stretch>
        </p:blipFill>
        <p:spPr>
          <a:xfrm rot="939916">
            <a:off x="420285" y="5231957"/>
            <a:ext cx="2284747" cy="1016443"/>
          </a:xfrm>
          <a:prstGeom prst="rect">
            <a:avLst/>
          </a:prstGeom>
        </p:spPr>
      </p:pic>
    </p:spTree>
    <p:extLst>
      <p:ext uri="{BB962C8B-B14F-4D97-AF65-F5344CB8AC3E}">
        <p14:creationId xmlns:p14="http://schemas.microsoft.com/office/powerpoint/2010/main" val="3378875570"/>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F72FF2-CD6F-4A5A-B7D5-3124F42D322E}"/>
              </a:ext>
            </a:extLst>
          </p:cNvPr>
          <p:cNvSpPr>
            <a:spLocks noGrp="1"/>
          </p:cNvSpPr>
          <p:nvPr>
            <p:ph type="title"/>
          </p:nvPr>
        </p:nvSpPr>
        <p:spPr/>
        <p:txBody>
          <a:bodyPr/>
          <a:lstStyle/>
          <a:p>
            <a:endParaRPr lang="en-US" dirty="0"/>
          </a:p>
        </p:txBody>
      </p:sp>
      <p:graphicFrame>
        <p:nvGraphicFramePr>
          <p:cNvPr id="7" name="Content Placeholder 6">
            <a:extLst>
              <a:ext uri="{FF2B5EF4-FFF2-40B4-BE49-F238E27FC236}">
                <a16:creationId xmlns:a16="http://schemas.microsoft.com/office/drawing/2014/main" xmlns="" id="{DAA9C5DB-5E4E-4636-9F0E-EDB08FA35558}"/>
              </a:ext>
            </a:extLst>
          </p:cNvPr>
          <p:cNvGraphicFramePr>
            <a:graphicFrameLocks noGrp="1"/>
          </p:cNvGraphicFramePr>
          <p:nvPr>
            <p:ph idx="1"/>
            <p:extLst>
              <p:ext uri="{D42A27DB-BD31-4B8C-83A1-F6EECF244321}">
                <p14:modId xmlns:p14="http://schemas.microsoft.com/office/powerpoint/2010/main" val="2935701003"/>
              </p:ext>
            </p:extLst>
          </p:nvPr>
        </p:nvGraphicFramePr>
        <p:xfrm>
          <a:off x="3444536" y="609600"/>
          <a:ext cx="5486400" cy="5933243"/>
        </p:xfrm>
        <a:graphic>
          <a:graphicData uri="http://schemas.openxmlformats.org/drawingml/2006/table">
            <a:tbl>
              <a:tblPr firstRow="1" firstCol="1" bandRow="1">
                <a:tableStyleId>{5C22544A-7EE6-4342-B048-85BDC9FD1C3A}</a:tableStyleId>
              </a:tblPr>
              <a:tblGrid>
                <a:gridCol w="2742819">
                  <a:extLst>
                    <a:ext uri="{9D8B030D-6E8A-4147-A177-3AD203B41FA5}">
                      <a16:colId xmlns:a16="http://schemas.microsoft.com/office/drawing/2014/main" xmlns="" val="70674237"/>
                    </a:ext>
                  </a:extLst>
                </a:gridCol>
                <a:gridCol w="2743581">
                  <a:extLst>
                    <a:ext uri="{9D8B030D-6E8A-4147-A177-3AD203B41FA5}">
                      <a16:colId xmlns:a16="http://schemas.microsoft.com/office/drawing/2014/main" xmlns="" val="3412878624"/>
                    </a:ext>
                  </a:extLst>
                </a:gridCol>
              </a:tblGrid>
              <a:tr h="2608665">
                <a:tc>
                  <a:txBody>
                    <a:bodyPr/>
                    <a:lstStyle/>
                    <a:p>
                      <a:pPr marL="0" marR="0" algn="l">
                        <a:lnSpc>
                          <a:spcPct val="115000"/>
                        </a:lnSpc>
                        <a:spcBef>
                          <a:spcPts val="0"/>
                        </a:spcBef>
                        <a:spcAft>
                          <a:spcPts val="0"/>
                        </a:spcAft>
                      </a:pPr>
                      <a:r>
                        <a:rPr lang="en-US" sz="1100">
                          <a:effectLst/>
                        </a:rPr>
                        <a:t>SCSI (</a:t>
                      </a:r>
                      <a:r>
                        <a:rPr lang="bg-BG" sz="1100">
                          <a:effectLst/>
                        </a:rPr>
                        <a:t>„скъзи“/</a:t>
                      </a:r>
                      <a:r>
                        <a:rPr lang="en-US" sz="1100">
                          <a:effectLst/>
                        </a:rPr>
                        <a:t>Small Computer System Interface)</a:t>
                      </a:r>
                    </a:p>
                    <a:p>
                      <a:pPr marL="0" marR="0" algn="l">
                        <a:lnSpc>
                          <a:spcPct val="115000"/>
                        </a:lnSpc>
                        <a:spcBef>
                          <a:spcPts val="0"/>
                        </a:spcBef>
                        <a:spcAft>
                          <a:spcPts val="0"/>
                        </a:spcAft>
                      </a:pPr>
                      <a:r>
                        <a:rPr lang="en-US" sz="1100">
                          <a:effectLst/>
                        </a:rPr>
                        <a:t> </a:t>
                      </a:r>
                    </a:p>
                    <a:p>
                      <a:pPr marL="0" marR="0" algn="l">
                        <a:lnSpc>
                          <a:spcPct val="115000"/>
                        </a:lnSpc>
                        <a:spcBef>
                          <a:spcPts val="0"/>
                        </a:spcBef>
                        <a:spcAft>
                          <a:spcPts val="0"/>
                        </a:spcAft>
                      </a:pPr>
                      <a:r>
                        <a:rPr lang="en-US" sz="1100">
                          <a:effectLst/>
                        </a:rPr>
                        <a:t>ATA </a:t>
                      </a:r>
                      <a:r>
                        <a:rPr lang="bg-BG" sz="1100">
                          <a:effectLst/>
                        </a:rPr>
                        <a:t>стандарт/ паралелен И сериен тип на интерфейс</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a:effectLst/>
                        </a:rPr>
                        <a:t>Голяма пропускателна способност; могат да се включват към шината до 8 устройства, като към всяко едно могат да се включат по още 8; ширина на шината -8/16-битова; скорост на пренос на данните – 5</a:t>
                      </a:r>
                      <a:r>
                        <a:rPr lang="en-US" sz="1100">
                          <a:effectLst/>
                        </a:rPr>
                        <a:t>MB/s – 640MB/s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868454445"/>
                  </a:ext>
                </a:extLst>
              </a:tr>
              <a:tr h="1622498">
                <a:tc>
                  <a:txBody>
                    <a:bodyPr/>
                    <a:lstStyle/>
                    <a:p>
                      <a:pPr marL="0" marR="0" algn="l">
                        <a:lnSpc>
                          <a:spcPct val="115000"/>
                        </a:lnSpc>
                        <a:spcBef>
                          <a:spcPts val="0"/>
                        </a:spcBef>
                        <a:spcAft>
                          <a:spcPts val="0"/>
                        </a:spcAft>
                      </a:pPr>
                      <a:r>
                        <a:rPr lang="en-US" sz="1100">
                          <a:effectLst/>
                        </a:rPr>
                        <a:t>SATA</a:t>
                      </a:r>
                      <a:r>
                        <a:rPr lang="bg-BG" sz="1100">
                          <a:effectLst/>
                        </a:rPr>
                        <a:t> (Serial A</a:t>
                      </a:r>
                      <a:r>
                        <a:rPr lang="en-US" sz="1100">
                          <a:effectLst/>
                        </a:rPr>
                        <a:t>TA) 1.0</a:t>
                      </a:r>
                      <a:r>
                        <a:rPr lang="bg-BG" sz="1100">
                          <a:effectLst/>
                        </a:rPr>
                        <a:t> - сериен интерфейс (поддържа </a:t>
                      </a:r>
                      <a:r>
                        <a:rPr lang="en-US" sz="1100">
                          <a:effectLst/>
                        </a:rPr>
                        <a:t>“hotswap”</a:t>
                      </a:r>
                      <a:r>
                        <a:rPr lang="bg-BG" sz="1100">
                          <a:effectLst/>
                        </a:rPr>
                        <a:t> режим; връзката е ор типа „точка-точка“)</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a:effectLst/>
                        </a:rPr>
                        <a:t>Предназначен за свързване на хард дискове и оптични запомнящи устройства;  Скорост на трансфер – 1,5 Gbit/s; не използва мощност</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20259453"/>
                  </a:ext>
                </a:extLst>
              </a:tr>
              <a:tr h="851040">
                <a:tc>
                  <a:txBody>
                    <a:bodyPr/>
                    <a:lstStyle/>
                    <a:p>
                      <a:pPr marL="0" marR="0" algn="l">
                        <a:lnSpc>
                          <a:spcPct val="115000"/>
                        </a:lnSpc>
                        <a:spcBef>
                          <a:spcPts val="0"/>
                        </a:spcBef>
                        <a:spcAft>
                          <a:spcPts val="0"/>
                        </a:spcAft>
                      </a:pPr>
                      <a:r>
                        <a:rPr lang="en-US" sz="1100">
                          <a:effectLst/>
                        </a:rPr>
                        <a:t>SATA 2.0 - </a:t>
                      </a:r>
                      <a:r>
                        <a:rPr lang="bg-BG" sz="1100">
                          <a:effectLst/>
                        </a:rPr>
                        <a:t> сериен интерфейс</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a:effectLst/>
                        </a:rPr>
                        <a:t>Скорост на трансфер – </a:t>
                      </a:r>
                      <a:r>
                        <a:rPr lang="en-US" sz="1100">
                          <a:effectLst/>
                        </a:rPr>
                        <a:t>3</a:t>
                      </a:r>
                      <a:r>
                        <a:rPr lang="bg-BG" sz="1100">
                          <a:effectLst/>
                        </a:rPr>
                        <a:t> Gbit/s; не използва мощност</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504198449"/>
                  </a:ext>
                </a:extLst>
              </a:tr>
              <a:tr h="851040">
                <a:tc>
                  <a:txBody>
                    <a:bodyPr/>
                    <a:lstStyle/>
                    <a:p>
                      <a:pPr marL="0" marR="0" algn="l">
                        <a:lnSpc>
                          <a:spcPct val="115000"/>
                        </a:lnSpc>
                        <a:spcBef>
                          <a:spcPts val="0"/>
                        </a:spcBef>
                        <a:spcAft>
                          <a:spcPts val="0"/>
                        </a:spcAft>
                      </a:pPr>
                      <a:r>
                        <a:rPr lang="en-US" sz="1100">
                          <a:effectLst/>
                        </a:rPr>
                        <a:t>SATA 2.5 - </a:t>
                      </a:r>
                      <a:r>
                        <a:rPr lang="bg-BG" sz="1100">
                          <a:effectLst/>
                        </a:rPr>
                        <a:t> сериен интерфейс</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dirty="0">
                          <a:effectLst/>
                        </a:rPr>
                        <a:t>Скорост на трансфер – </a:t>
                      </a:r>
                      <a:r>
                        <a:rPr lang="en-US" sz="1100" dirty="0">
                          <a:effectLst/>
                        </a:rPr>
                        <a:t>3 </a:t>
                      </a:r>
                      <a:r>
                        <a:rPr lang="bg-BG" sz="1100" dirty="0">
                          <a:effectLst/>
                        </a:rPr>
                        <a:t>Gbit/s; не използва мощност</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210673892"/>
                  </a:ext>
                </a:extLst>
              </a:tr>
            </a:tbl>
          </a:graphicData>
        </a:graphic>
      </p:graphicFrame>
      <p:pic>
        <p:nvPicPr>
          <p:cNvPr id="8" name="Picture 7">
            <a:extLst>
              <a:ext uri="{FF2B5EF4-FFF2-40B4-BE49-F238E27FC236}">
                <a16:creationId xmlns:a16="http://schemas.microsoft.com/office/drawing/2014/main" xmlns="" id="{C310B5F8-7E54-4951-990C-C6D41D27BC48}"/>
              </a:ext>
            </a:extLst>
          </p:cNvPr>
          <p:cNvPicPr>
            <a:picLocks noChangeAspect="1"/>
          </p:cNvPicPr>
          <p:nvPr/>
        </p:nvPicPr>
        <p:blipFill>
          <a:blip r:embed="rId2"/>
          <a:stretch>
            <a:fillRect/>
          </a:stretch>
        </p:blipFill>
        <p:spPr>
          <a:xfrm rot="451430">
            <a:off x="1107915" y="1094825"/>
            <a:ext cx="1670449" cy="1670449"/>
          </a:xfrm>
          <a:prstGeom prst="rect">
            <a:avLst/>
          </a:prstGeom>
        </p:spPr>
      </p:pic>
      <p:pic>
        <p:nvPicPr>
          <p:cNvPr id="9" name="Picture 8">
            <a:extLst>
              <a:ext uri="{FF2B5EF4-FFF2-40B4-BE49-F238E27FC236}">
                <a16:creationId xmlns:a16="http://schemas.microsoft.com/office/drawing/2014/main" xmlns="" id="{EEF4418A-C57C-424D-A350-C71D7E8C74B6}"/>
              </a:ext>
            </a:extLst>
          </p:cNvPr>
          <p:cNvPicPr>
            <a:picLocks noChangeAspect="1"/>
          </p:cNvPicPr>
          <p:nvPr/>
        </p:nvPicPr>
        <p:blipFill>
          <a:blip r:embed="rId3"/>
          <a:stretch>
            <a:fillRect/>
          </a:stretch>
        </p:blipFill>
        <p:spPr>
          <a:xfrm rot="384065">
            <a:off x="9607678" y="3197670"/>
            <a:ext cx="1591194" cy="1591194"/>
          </a:xfrm>
          <a:prstGeom prst="rect">
            <a:avLst/>
          </a:prstGeom>
        </p:spPr>
      </p:pic>
      <p:pic>
        <p:nvPicPr>
          <p:cNvPr id="10" name="Picture 9">
            <a:extLst>
              <a:ext uri="{FF2B5EF4-FFF2-40B4-BE49-F238E27FC236}">
                <a16:creationId xmlns:a16="http://schemas.microsoft.com/office/drawing/2014/main" xmlns="" id="{CDF12CEF-362C-4F80-87F8-273A230AF01D}"/>
              </a:ext>
            </a:extLst>
          </p:cNvPr>
          <p:cNvPicPr>
            <a:picLocks noChangeAspect="1"/>
          </p:cNvPicPr>
          <p:nvPr/>
        </p:nvPicPr>
        <p:blipFill>
          <a:blip r:embed="rId4"/>
          <a:stretch>
            <a:fillRect/>
          </a:stretch>
        </p:blipFill>
        <p:spPr>
          <a:xfrm rot="275084">
            <a:off x="909388" y="4222973"/>
            <a:ext cx="1670449" cy="1670449"/>
          </a:xfrm>
          <a:prstGeom prst="rect">
            <a:avLst/>
          </a:prstGeom>
        </p:spPr>
      </p:pic>
      <p:pic>
        <p:nvPicPr>
          <p:cNvPr id="11" name="Picture 10">
            <a:extLst>
              <a:ext uri="{FF2B5EF4-FFF2-40B4-BE49-F238E27FC236}">
                <a16:creationId xmlns:a16="http://schemas.microsoft.com/office/drawing/2014/main" xmlns="" id="{44A48312-DE37-45A6-81D5-8C014E02C9F3}"/>
              </a:ext>
            </a:extLst>
          </p:cNvPr>
          <p:cNvPicPr>
            <a:picLocks noChangeAspect="1"/>
          </p:cNvPicPr>
          <p:nvPr/>
        </p:nvPicPr>
        <p:blipFill>
          <a:blip r:embed="rId5"/>
          <a:stretch>
            <a:fillRect/>
          </a:stretch>
        </p:blipFill>
        <p:spPr>
          <a:xfrm>
            <a:off x="9731545" y="5335730"/>
            <a:ext cx="969348" cy="1207113"/>
          </a:xfrm>
          <a:prstGeom prst="rect">
            <a:avLst/>
          </a:prstGeom>
        </p:spPr>
      </p:pic>
    </p:spTree>
    <p:extLst>
      <p:ext uri="{BB962C8B-B14F-4D97-AF65-F5344CB8AC3E}">
        <p14:creationId xmlns:p14="http://schemas.microsoft.com/office/powerpoint/2010/main" val="2149150242"/>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1578B3-5470-4AE7-B3BE-DC3CCCC15B52}"/>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xmlns="" id="{33C18FB4-49CD-4CD2-A31F-1E773C8ADC40}"/>
              </a:ext>
            </a:extLst>
          </p:cNvPr>
          <p:cNvGraphicFramePr>
            <a:graphicFrameLocks noGrp="1"/>
          </p:cNvGraphicFramePr>
          <p:nvPr>
            <p:ph idx="1"/>
            <p:extLst>
              <p:ext uri="{D42A27DB-BD31-4B8C-83A1-F6EECF244321}">
                <p14:modId xmlns:p14="http://schemas.microsoft.com/office/powerpoint/2010/main" val="809304446"/>
              </p:ext>
            </p:extLst>
          </p:nvPr>
        </p:nvGraphicFramePr>
        <p:xfrm>
          <a:off x="3128212" y="1580050"/>
          <a:ext cx="6015788" cy="4307404"/>
        </p:xfrm>
        <a:graphic>
          <a:graphicData uri="http://schemas.openxmlformats.org/drawingml/2006/table">
            <a:tbl>
              <a:tblPr firstRow="1" firstCol="1" bandRow="1">
                <a:tableStyleId>{5C22544A-7EE6-4342-B048-85BDC9FD1C3A}</a:tableStyleId>
              </a:tblPr>
              <a:tblGrid>
                <a:gridCol w="3007477">
                  <a:extLst>
                    <a:ext uri="{9D8B030D-6E8A-4147-A177-3AD203B41FA5}">
                      <a16:colId xmlns:a16="http://schemas.microsoft.com/office/drawing/2014/main" xmlns="" val="1491222384"/>
                    </a:ext>
                  </a:extLst>
                </a:gridCol>
                <a:gridCol w="3008311">
                  <a:extLst>
                    <a:ext uri="{9D8B030D-6E8A-4147-A177-3AD203B41FA5}">
                      <a16:colId xmlns:a16="http://schemas.microsoft.com/office/drawing/2014/main" xmlns="" val="2690314772"/>
                    </a:ext>
                  </a:extLst>
                </a:gridCol>
              </a:tblGrid>
              <a:tr h="952917">
                <a:tc>
                  <a:txBody>
                    <a:bodyPr/>
                    <a:lstStyle/>
                    <a:p>
                      <a:pPr marL="0" marR="0" algn="l">
                        <a:lnSpc>
                          <a:spcPct val="115000"/>
                        </a:lnSpc>
                        <a:spcBef>
                          <a:spcPts val="0"/>
                        </a:spcBef>
                        <a:spcAft>
                          <a:spcPts val="0"/>
                        </a:spcAft>
                      </a:pPr>
                      <a:r>
                        <a:rPr lang="en-US" sz="1100">
                          <a:effectLst/>
                        </a:rPr>
                        <a:t>SATA 2.6 - </a:t>
                      </a:r>
                      <a:r>
                        <a:rPr lang="bg-BG" sz="1100">
                          <a:effectLst/>
                        </a:rPr>
                        <a:t> сериен интерфейс</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a:effectLst/>
                        </a:rPr>
                        <a:t>Скорост на трансфер – </a:t>
                      </a:r>
                      <a:r>
                        <a:rPr lang="en-US" sz="1100">
                          <a:effectLst/>
                        </a:rPr>
                        <a:t>3</a:t>
                      </a:r>
                      <a:r>
                        <a:rPr lang="bg-BG" sz="1100">
                          <a:effectLst/>
                        </a:rPr>
                        <a:t> Gbit/s; не използва мощност</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759655271"/>
                  </a:ext>
                </a:extLst>
              </a:tr>
              <a:tr h="952917">
                <a:tc>
                  <a:txBody>
                    <a:bodyPr/>
                    <a:lstStyle/>
                    <a:p>
                      <a:pPr marL="0" marR="0" algn="l">
                        <a:lnSpc>
                          <a:spcPct val="115000"/>
                        </a:lnSpc>
                        <a:spcBef>
                          <a:spcPts val="0"/>
                        </a:spcBef>
                        <a:spcAft>
                          <a:spcPts val="0"/>
                        </a:spcAft>
                      </a:pPr>
                      <a:r>
                        <a:rPr lang="en-US" sz="1100">
                          <a:effectLst/>
                        </a:rPr>
                        <a:t>SATA 3.0 - </a:t>
                      </a:r>
                      <a:r>
                        <a:rPr lang="bg-BG" sz="1100">
                          <a:effectLst/>
                        </a:rPr>
                        <a:t> сериен интерфейс</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dirty="0">
                          <a:effectLst/>
                        </a:rPr>
                        <a:t>Скорост на трансфер – </a:t>
                      </a:r>
                      <a:r>
                        <a:rPr lang="en-US" sz="1100" dirty="0">
                          <a:effectLst/>
                        </a:rPr>
                        <a:t>6 </a:t>
                      </a:r>
                      <a:r>
                        <a:rPr lang="bg-BG" sz="1100" dirty="0">
                          <a:effectLst/>
                        </a:rPr>
                        <a:t>Gbit/s; не използва мощност</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144677913"/>
                  </a:ext>
                </a:extLst>
              </a:tr>
              <a:tr h="952917">
                <a:tc>
                  <a:txBody>
                    <a:bodyPr/>
                    <a:lstStyle/>
                    <a:p>
                      <a:pPr marL="0" marR="0" algn="l">
                        <a:lnSpc>
                          <a:spcPct val="115000"/>
                        </a:lnSpc>
                        <a:spcBef>
                          <a:spcPts val="0"/>
                        </a:spcBef>
                        <a:spcAft>
                          <a:spcPts val="0"/>
                        </a:spcAft>
                      </a:pPr>
                      <a:r>
                        <a:rPr lang="en-US" sz="1100">
                          <a:effectLst/>
                        </a:rPr>
                        <a:t>SATA 3.1 - </a:t>
                      </a:r>
                      <a:r>
                        <a:rPr lang="bg-BG" sz="1100">
                          <a:effectLst/>
                        </a:rPr>
                        <a:t> сериен интерфейс</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a:effectLst/>
                        </a:rPr>
                        <a:t>Скорост на трансфер –  </a:t>
                      </a:r>
                      <a:r>
                        <a:rPr lang="en-US" sz="1100">
                          <a:effectLst/>
                        </a:rPr>
                        <a:t>6 Gb/s</a:t>
                      </a:r>
                      <a:r>
                        <a:rPr lang="bg-BG" sz="1100">
                          <a:effectLst/>
                        </a:rPr>
                        <a:t>; не използва мощност</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610306773"/>
                  </a:ext>
                </a:extLst>
              </a:tr>
              <a:tr h="1448653">
                <a:tc>
                  <a:txBody>
                    <a:bodyPr/>
                    <a:lstStyle/>
                    <a:p>
                      <a:pPr marL="0" marR="0" algn="l">
                        <a:lnSpc>
                          <a:spcPct val="115000"/>
                        </a:lnSpc>
                        <a:spcBef>
                          <a:spcPts val="0"/>
                        </a:spcBef>
                        <a:spcAft>
                          <a:spcPts val="0"/>
                        </a:spcAft>
                      </a:pPr>
                      <a:r>
                        <a:rPr lang="en-US" sz="1100">
                          <a:effectLst/>
                        </a:rPr>
                        <a:t>SATA 3.2 (SATA Express) - </a:t>
                      </a:r>
                      <a:r>
                        <a:rPr lang="bg-BG" sz="1100">
                          <a:effectLst/>
                        </a:rPr>
                        <a:t> сериен интерфейс</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dirty="0">
                          <a:effectLst/>
                        </a:rPr>
                        <a:t>Скорост на трансфер – </a:t>
                      </a:r>
                      <a:r>
                        <a:rPr lang="en-US" sz="1100" dirty="0">
                          <a:effectLst/>
                        </a:rPr>
                        <a:t>8</a:t>
                      </a:r>
                      <a:r>
                        <a:rPr lang="bg-BG" sz="1100" dirty="0">
                          <a:effectLst/>
                        </a:rPr>
                        <a:t> Gb/s (с един конектор) и 16 Gb/s (с два конектора); не използва мощност</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79077033"/>
                  </a:ext>
                </a:extLst>
              </a:tr>
            </a:tbl>
          </a:graphicData>
        </a:graphic>
      </p:graphicFrame>
      <p:pic>
        <p:nvPicPr>
          <p:cNvPr id="5" name="Picture 4">
            <a:extLst>
              <a:ext uri="{FF2B5EF4-FFF2-40B4-BE49-F238E27FC236}">
                <a16:creationId xmlns:a16="http://schemas.microsoft.com/office/drawing/2014/main" xmlns="" id="{D732C79B-0455-4C6D-B0C9-5769348023C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613004">
            <a:off x="924443" y="1451209"/>
            <a:ext cx="1196340" cy="1196340"/>
          </a:xfrm>
          <a:prstGeom prst="rect">
            <a:avLst/>
          </a:prstGeom>
          <a:noFill/>
          <a:ln>
            <a:noFill/>
          </a:ln>
        </p:spPr>
      </p:pic>
      <p:pic>
        <p:nvPicPr>
          <p:cNvPr id="6" name="Picture 5">
            <a:extLst>
              <a:ext uri="{FF2B5EF4-FFF2-40B4-BE49-F238E27FC236}">
                <a16:creationId xmlns:a16="http://schemas.microsoft.com/office/drawing/2014/main" xmlns="" id="{D52F0A46-B387-4E99-9DDF-0A1318380F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20622112">
            <a:off x="10160212" y="2387600"/>
            <a:ext cx="1203960" cy="1041400"/>
          </a:xfrm>
          <a:prstGeom prst="rect">
            <a:avLst/>
          </a:prstGeom>
          <a:noFill/>
        </p:spPr>
      </p:pic>
      <p:pic>
        <p:nvPicPr>
          <p:cNvPr id="7" name="Picture 6">
            <a:extLst>
              <a:ext uri="{FF2B5EF4-FFF2-40B4-BE49-F238E27FC236}">
                <a16:creationId xmlns:a16="http://schemas.microsoft.com/office/drawing/2014/main" xmlns="" id="{D97614E1-0842-496D-B4F5-DDD99FB2B77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7828" y="3560594"/>
            <a:ext cx="1882140" cy="1078230"/>
          </a:xfrm>
          <a:prstGeom prst="rect">
            <a:avLst/>
          </a:prstGeom>
          <a:noFill/>
          <a:ln>
            <a:noFill/>
          </a:ln>
        </p:spPr>
      </p:pic>
      <p:pic>
        <p:nvPicPr>
          <p:cNvPr id="8" name="Picture 7">
            <a:extLst>
              <a:ext uri="{FF2B5EF4-FFF2-40B4-BE49-F238E27FC236}">
                <a16:creationId xmlns:a16="http://schemas.microsoft.com/office/drawing/2014/main" xmlns="" id="{47AEB92C-8454-4192-8C0A-7CAFE4267D4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735331">
            <a:off x="9916372" y="4439654"/>
            <a:ext cx="1447800" cy="1447800"/>
          </a:xfrm>
          <a:prstGeom prst="rect">
            <a:avLst/>
          </a:prstGeom>
          <a:noFill/>
        </p:spPr>
      </p:pic>
    </p:spTree>
    <p:extLst>
      <p:ext uri="{BB962C8B-B14F-4D97-AF65-F5344CB8AC3E}">
        <p14:creationId xmlns:p14="http://schemas.microsoft.com/office/powerpoint/2010/main" val="188960939"/>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9622B3-1EAD-44B7-9BF8-1B016FBCEC91}"/>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xmlns="" id="{B12F9A2F-900B-45E6-A23F-4BC1C1D028AB}"/>
              </a:ext>
            </a:extLst>
          </p:cNvPr>
          <p:cNvGraphicFramePr>
            <a:graphicFrameLocks noGrp="1"/>
          </p:cNvGraphicFramePr>
          <p:nvPr>
            <p:ph idx="1"/>
            <p:extLst>
              <p:ext uri="{D42A27DB-BD31-4B8C-83A1-F6EECF244321}">
                <p14:modId xmlns:p14="http://schemas.microsoft.com/office/powerpoint/2010/main" val="2447499497"/>
              </p:ext>
            </p:extLst>
          </p:nvPr>
        </p:nvGraphicFramePr>
        <p:xfrm>
          <a:off x="3224463" y="946483"/>
          <a:ext cx="5775157" cy="5550569"/>
        </p:xfrm>
        <a:graphic>
          <a:graphicData uri="http://schemas.openxmlformats.org/drawingml/2006/table">
            <a:tbl>
              <a:tblPr firstRow="1" firstCol="1" bandRow="1">
                <a:tableStyleId>{5C22544A-7EE6-4342-B048-85BDC9FD1C3A}</a:tableStyleId>
              </a:tblPr>
              <a:tblGrid>
                <a:gridCol w="2887179">
                  <a:extLst>
                    <a:ext uri="{9D8B030D-6E8A-4147-A177-3AD203B41FA5}">
                      <a16:colId xmlns:a16="http://schemas.microsoft.com/office/drawing/2014/main" xmlns="" val="3043389178"/>
                    </a:ext>
                  </a:extLst>
                </a:gridCol>
                <a:gridCol w="2887978">
                  <a:extLst>
                    <a:ext uri="{9D8B030D-6E8A-4147-A177-3AD203B41FA5}">
                      <a16:colId xmlns:a16="http://schemas.microsoft.com/office/drawing/2014/main" xmlns="" val="347634289"/>
                    </a:ext>
                  </a:extLst>
                </a:gridCol>
              </a:tblGrid>
              <a:tr h="2975546">
                <a:tc>
                  <a:txBody>
                    <a:bodyPr/>
                    <a:lstStyle/>
                    <a:p>
                      <a:pPr marL="0" marR="0" algn="l">
                        <a:lnSpc>
                          <a:spcPct val="115000"/>
                        </a:lnSpc>
                        <a:spcBef>
                          <a:spcPts val="0"/>
                        </a:spcBef>
                        <a:spcAft>
                          <a:spcPts val="0"/>
                        </a:spcAft>
                      </a:pPr>
                      <a:r>
                        <a:rPr lang="en-US" sz="1100">
                          <a:effectLst/>
                        </a:rPr>
                        <a:t>USB (Universal Serial Bus) </a:t>
                      </a:r>
                      <a:r>
                        <a:rPr lang="bg-BG" sz="1100">
                          <a:effectLst/>
                        </a:rPr>
                        <a:t>шина </a:t>
                      </a:r>
                      <a:r>
                        <a:rPr lang="en-US" sz="1100">
                          <a:effectLst/>
                        </a:rPr>
                        <a:t>1.0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a:effectLst/>
                        </a:rPr>
                        <a:t>Поддържа „</a:t>
                      </a:r>
                      <a:r>
                        <a:rPr lang="en-US" sz="1100">
                          <a:effectLst/>
                        </a:rPr>
                        <a:t>Plug&amp;Play”</a:t>
                      </a:r>
                      <a:r>
                        <a:rPr lang="bg-BG" sz="1100">
                          <a:effectLst/>
                        </a:rPr>
                        <a:t>, „горещо включване“; поддържа включени до 127 устройства (йерархично звездна топология) – периферните устройства се идентифицират сами; позволява устройствата да се захранват; едновременен обмен на данни; скорост на трансфер – 12 </a:t>
                      </a:r>
                      <a:r>
                        <a:rPr lang="en-US" sz="1100">
                          <a:effectLst/>
                        </a:rPr>
                        <a:t>Mbit/s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838910976"/>
                  </a:ext>
                </a:extLst>
              </a:tr>
              <a:tr h="1071343">
                <a:tc>
                  <a:txBody>
                    <a:bodyPr/>
                    <a:lstStyle/>
                    <a:p>
                      <a:pPr marL="0" marR="0" algn="l">
                        <a:lnSpc>
                          <a:spcPct val="115000"/>
                        </a:lnSpc>
                        <a:spcBef>
                          <a:spcPts val="0"/>
                        </a:spcBef>
                        <a:spcAft>
                          <a:spcPts val="0"/>
                        </a:spcAft>
                      </a:pPr>
                      <a:r>
                        <a:rPr lang="en-US" sz="1100">
                          <a:effectLst/>
                        </a:rPr>
                        <a:t>USB (Universal Serial Bus) </a:t>
                      </a:r>
                      <a:r>
                        <a:rPr lang="bg-BG" sz="1100">
                          <a:effectLst/>
                        </a:rPr>
                        <a:t>шина 2</a:t>
                      </a:r>
                      <a:r>
                        <a:rPr lang="en-US" sz="11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a:effectLst/>
                        </a:rPr>
                        <a:t>едновременен обмен на данни; Скорост на трансфер – </a:t>
                      </a:r>
                      <a:r>
                        <a:rPr lang="en-US" sz="1100">
                          <a:effectLst/>
                        </a:rPr>
                        <a:t>480</a:t>
                      </a:r>
                      <a:r>
                        <a:rPr lang="bg-BG" sz="1100">
                          <a:effectLst/>
                        </a:rPr>
                        <a:t> Mbit/s</a:t>
                      </a:r>
                      <a:r>
                        <a:rPr lang="en-US" sz="1100">
                          <a:effectLst/>
                        </a:rPr>
                        <a:t>; </a:t>
                      </a:r>
                      <a:r>
                        <a:rPr lang="bg-BG" sz="1100">
                          <a:effectLst/>
                        </a:rPr>
                        <a:t>използвана мощност 2,5W; 5V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107813803"/>
                  </a:ext>
                </a:extLst>
              </a:tr>
              <a:tr h="704430">
                <a:tc>
                  <a:txBody>
                    <a:bodyPr/>
                    <a:lstStyle/>
                    <a:p>
                      <a:pPr marL="0" marR="0" algn="l">
                        <a:lnSpc>
                          <a:spcPct val="115000"/>
                        </a:lnSpc>
                        <a:spcBef>
                          <a:spcPts val="0"/>
                        </a:spcBef>
                        <a:spcAft>
                          <a:spcPts val="0"/>
                        </a:spcAft>
                      </a:pPr>
                      <a:r>
                        <a:rPr lang="en-US" sz="1100">
                          <a:effectLst/>
                        </a:rPr>
                        <a:t>USB (Universal Serial Bus) </a:t>
                      </a:r>
                      <a:r>
                        <a:rPr lang="bg-BG" sz="1100">
                          <a:effectLst/>
                        </a:rPr>
                        <a:t>шина 3</a:t>
                      </a:r>
                      <a:r>
                        <a:rPr lang="en-US" sz="11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a:effectLst/>
                        </a:rPr>
                        <a:t>Скорост на трансфер – 5 </a:t>
                      </a:r>
                      <a:r>
                        <a:rPr lang="en-US" sz="1100">
                          <a:effectLst/>
                        </a:rPr>
                        <a:t>G</a:t>
                      </a:r>
                      <a:r>
                        <a:rPr lang="bg-BG" sz="1100">
                          <a:effectLst/>
                        </a:rPr>
                        <a:t>bit/s</a:t>
                      </a:r>
                      <a:r>
                        <a:rPr lang="en-US" sz="1100">
                          <a:effectLst/>
                        </a:rPr>
                        <a:t>; </a:t>
                      </a:r>
                      <a:r>
                        <a:rPr lang="bg-BG" sz="1100">
                          <a:effectLst/>
                        </a:rPr>
                        <a:t>използвана мощност </a:t>
                      </a:r>
                      <a:r>
                        <a:rPr lang="en-US" sz="1100">
                          <a:effectLst/>
                        </a:rPr>
                        <a:t>4</a:t>
                      </a:r>
                      <a:r>
                        <a:rPr lang="bg-BG" sz="1100">
                          <a:effectLst/>
                        </a:rPr>
                        <a:t>,5W; 5V</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259796777"/>
                  </a:ext>
                </a:extLst>
              </a:tr>
              <a:tr h="799250">
                <a:tc>
                  <a:txBody>
                    <a:bodyPr/>
                    <a:lstStyle/>
                    <a:p>
                      <a:pPr marL="0" marR="0" algn="l">
                        <a:lnSpc>
                          <a:spcPct val="115000"/>
                        </a:lnSpc>
                        <a:spcBef>
                          <a:spcPts val="0"/>
                        </a:spcBef>
                        <a:spcAft>
                          <a:spcPts val="0"/>
                        </a:spcAft>
                      </a:pPr>
                      <a:r>
                        <a:rPr lang="en-US" sz="1100">
                          <a:effectLst/>
                        </a:rPr>
                        <a:t>USB (Universal Serial Bus) </a:t>
                      </a:r>
                      <a:r>
                        <a:rPr lang="bg-BG" sz="1100">
                          <a:effectLst/>
                        </a:rPr>
                        <a:t>шина 3.1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15000"/>
                        </a:lnSpc>
                        <a:spcBef>
                          <a:spcPts val="0"/>
                        </a:spcBef>
                        <a:spcAft>
                          <a:spcPts val="0"/>
                        </a:spcAft>
                      </a:pPr>
                      <a:r>
                        <a:rPr lang="bg-BG" sz="1100" dirty="0">
                          <a:effectLst/>
                        </a:rPr>
                        <a:t>Скорост на трансфер – 8 Gbit/s</a:t>
                      </a:r>
                      <a:r>
                        <a:rPr lang="en-US" sz="1100" dirty="0">
                          <a:effectLst/>
                        </a:rPr>
                        <a:t>; </a:t>
                      </a:r>
                      <a:r>
                        <a:rPr lang="bg-BG" sz="1100" dirty="0">
                          <a:effectLst/>
                        </a:rPr>
                        <a:t>използвана мощност </a:t>
                      </a:r>
                      <a:r>
                        <a:rPr lang="en-US" sz="1100" dirty="0">
                          <a:effectLst/>
                        </a:rPr>
                        <a:t>100</a:t>
                      </a:r>
                      <a:r>
                        <a:rPr lang="bg-BG" sz="1100" dirty="0">
                          <a:effectLst/>
                        </a:rPr>
                        <a:t>W; 5V</a:t>
                      </a:r>
                      <a:r>
                        <a:rPr lang="en-US" sz="1100" dirty="0">
                          <a:effectLst/>
                        </a:rPr>
                        <a:t>/12V/20V</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275040623"/>
                  </a:ext>
                </a:extLst>
              </a:tr>
            </a:tbl>
          </a:graphicData>
        </a:graphic>
      </p:graphicFrame>
      <p:pic>
        <p:nvPicPr>
          <p:cNvPr id="5" name="Picture 4">
            <a:extLst>
              <a:ext uri="{FF2B5EF4-FFF2-40B4-BE49-F238E27FC236}">
                <a16:creationId xmlns:a16="http://schemas.microsoft.com/office/drawing/2014/main" xmlns="" id="{4209122F-A2BD-4EC9-B6D2-1C6A9FD5041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5894" y="1411303"/>
            <a:ext cx="1873317" cy="1873317"/>
          </a:xfrm>
          <a:prstGeom prst="rect">
            <a:avLst/>
          </a:prstGeom>
          <a:noFill/>
        </p:spPr>
      </p:pic>
      <p:pic>
        <p:nvPicPr>
          <p:cNvPr id="6" name="Picture 5">
            <a:extLst>
              <a:ext uri="{FF2B5EF4-FFF2-40B4-BE49-F238E27FC236}">
                <a16:creationId xmlns:a16="http://schemas.microsoft.com/office/drawing/2014/main" xmlns="" id="{D12EBFDD-D5E3-43A4-A523-B95D333353B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1305832">
            <a:off x="9951756" y="3593309"/>
            <a:ext cx="1509537" cy="1509537"/>
          </a:xfrm>
          <a:prstGeom prst="rect">
            <a:avLst/>
          </a:prstGeom>
          <a:noFill/>
        </p:spPr>
      </p:pic>
      <p:pic>
        <p:nvPicPr>
          <p:cNvPr id="7" name="Picture 6">
            <a:extLst>
              <a:ext uri="{FF2B5EF4-FFF2-40B4-BE49-F238E27FC236}">
                <a16:creationId xmlns:a16="http://schemas.microsoft.com/office/drawing/2014/main" xmlns="" id="{82443254-25A9-4B8C-B6E2-33B04CD27E1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675840">
            <a:off x="956526" y="4621366"/>
            <a:ext cx="1335158" cy="1335158"/>
          </a:xfrm>
          <a:prstGeom prst="rect">
            <a:avLst/>
          </a:prstGeom>
          <a:noFill/>
        </p:spPr>
      </p:pic>
      <p:pic>
        <p:nvPicPr>
          <p:cNvPr id="8" name="Picture 7">
            <a:extLst>
              <a:ext uri="{FF2B5EF4-FFF2-40B4-BE49-F238E27FC236}">
                <a16:creationId xmlns:a16="http://schemas.microsoft.com/office/drawing/2014/main" xmlns="" id="{0B82DB9F-0D49-4338-B8E5-F69D07372BA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857925" y="5552172"/>
            <a:ext cx="1626870" cy="944880"/>
          </a:xfrm>
          <a:prstGeom prst="rect">
            <a:avLst/>
          </a:prstGeom>
          <a:noFill/>
        </p:spPr>
      </p:pic>
    </p:spTree>
    <p:extLst>
      <p:ext uri="{BB962C8B-B14F-4D97-AF65-F5344CB8AC3E}">
        <p14:creationId xmlns:p14="http://schemas.microsoft.com/office/powerpoint/2010/main" val="1157634044"/>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9A8825-FA02-49B9-9BD1-DA8D4A9F589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RAID </a:t>
            </a:r>
            <a:r>
              <a:rPr lang="bg-BG" dirty="0">
                <a:latin typeface="Times New Roman" panose="02020603050405020304" pitchFamily="18" charset="0"/>
                <a:cs typeface="Times New Roman" panose="02020603050405020304" pitchFamily="18" charset="0"/>
              </a:rPr>
              <a:t>масиви</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C34A0C05-515E-4A1A-BEC2-F7DA0134ADD1}"/>
              </a:ext>
            </a:extLst>
          </p:cNvPr>
          <p:cNvSpPr>
            <a:spLocks noGrp="1"/>
          </p:cNvSpPr>
          <p:nvPr>
            <p:ph idx="1"/>
          </p:nvPr>
        </p:nvSpPr>
        <p:spPr>
          <a:xfrm>
            <a:off x="913795" y="2059619"/>
            <a:ext cx="4732403" cy="3731581"/>
          </a:xfrm>
        </p:spPr>
        <p:txBody>
          <a:bodyPr/>
          <a:lstStyle/>
          <a:p>
            <a:r>
              <a:rPr lang="ru-RU" dirty="0">
                <a:latin typeface="Times New Roman" panose="02020603050405020304" pitchFamily="18" charset="0"/>
                <a:cs typeface="Times New Roman" panose="02020603050405020304" pitchFamily="18" charset="0"/>
              </a:rPr>
              <a:t>RAID (redudant array of Independant disks) е технология за виртуализация на оперативна памет, комбинираща едновременно няколко хард диска в една логическа единица. </a:t>
            </a:r>
          </a:p>
          <a:p>
            <a:r>
              <a:rPr lang="ru-RU" dirty="0">
                <a:latin typeface="Times New Roman" panose="02020603050405020304" pitchFamily="18" charset="0"/>
                <a:cs typeface="Times New Roman" panose="02020603050405020304" pitchFamily="18" charset="0"/>
              </a:rPr>
              <a:t>Основната ѝ цел е подобряване на производителността и намаляване на риска от загуба на данни при възникване на технически проблеми или унищожаване на хард дисковете.</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4C1BE190-D3FE-4580-B6D4-08D3A4A322BB}"/>
              </a:ext>
            </a:extLst>
          </p:cNvPr>
          <p:cNvPicPr>
            <a:picLocks noChangeAspect="1"/>
          </p:cNvPicPr>
          <p:nvPr/>
        </p:nvPicPr>
        <p:blipFill>
          <a:blip r:embed="rId2"/>
          <a:stretch>
            <a:fillRect/>
          </a:stretch>
        </p:blipFill>
        <p:spPr>
          <a:xfrm>
            <a:off x="6231695" y="2412793"/>
            <a:ext cx="5114050" cy="2618394"/>
          </a:xfrm>
          <a:prstGeom prst="rect">
            <a:avLst/>
          </a:prstGeom>
        </p:spPr>
      </p:pic>
    </p:spTree>
    <p:extLst>
      <p:ext uri="{BB962C8B-B14F-4D97-AF65-F5344CB8AC3E}">
        <p14:creationId xmlns:p14="http://schemas.microsoft.com/office/powerpoint/2010/main" val="2269076392"/>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93D990-B5EF-40EE-BFB1-290BDC47E5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D5BE430F-2E4B-424C-898C-94CF2ED28522}"/>
              </a:ext>
            </a:extLst>
          </p:cNvPr>
          <p:cNvSpPr>
            <a:spLocks noGrp="1"/>
          </p:cNvSpPr>
          <p:nvPr>
            <p:ph idx="1"/>
          </p:nvPr>
        </p:nvSpPr>
        <p:spPr>
          <a:xfrm>
            <a:off x="6906222" y="2201662"/>
            <a:ext cx="4501584" cy="3625049"/>
          </a:xfrm>
        </p:spPr>
        <p:txBody>
          <a:bodyPr/>
          <a:lstStyle/>
          <a:p>
            <a:r>
              <a:rPr lang="ru-RU" dirty="0"/>
              <a:t>RAID масивите функционират като разпределят балансирано информацията (Data) върху определено количество дискове. </a:t>
            </a:r>
          </a:p>
          <a:p>
            <a:r>
              <a:rPr lang="ru-RU" dirty="0"/>
              <a:t>Основно в RAID масивите се използват две техники за разпределяне на данни върху отделните дискове – Data Mirroring и Data Striping.</a:t>
            </a:r>
            <a:endParaRPr lang="en-US" dirty="0"/>
          </a:p>
        </p:txBody>
      </p:sp>
      <p:pic>
        <p:nvPicPr>
          <p:cNvPr id="4" name="Picture 3">
            <a:extLst>
              <a:ext uri="{FF2B5EF4-FFF2-40B4-BE49-F238E27FC236}">
                <a16:creationId xmlns:a16="http://schemas.microsoft.com/office/drawing/2014/main" xmlns="" id="{5645C2E9-60C0-4DE3-9BF1-4782D28036C0}"/>
              </a:ext>
            </a:extLst>
          </p:cNvPr>
          <p:cNvPicPr>
            <a:picLocks noChangeAspect="1"/>
          </p:cNvPicPr>
          <p:nvPr/>
        </p:nvPicPr>
        <p:blipFill>
          <a:blip r:embed="rId2"/>
          <a:stretch>
            <a:fillRect/>
          </a:stretch>
        </p:blipFill>
        <p:spPr>
          <a:xfrm>
            <a:off x="913795" y="2362752"/>
            <a:ext cx="5064413" cy="2528844"/>
          </a:xfrm>
          <a:prstGeom prst="rect">
            <a:avLst/>
          </a:prstGeom>
        </p:spPr>
      </p:pic>
    </p:spTree>
    <p:extLst>
      <p:ext uri="{BB962C8B-B14F-4D97-AF65-F5344CB8AC3E}">
        <p14:creationId xmlns:p14="http://schemas.microsoft.com/office/powerpoint/2010/main" val="815941567"/>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2A9EBF-4DA6-4F70-A2FB-6814DB0D77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2830E04A-33CB-4C86-B383-1A5A9864A9F0}"/>
              </a:ext>
            </a:extLst>
          </p:cNvPr>
          <p:cNvSpPr>
            <a:spLocks noGrp="1"/>
          </p:cNvSpPr>
          <p:nvPr>
            <p:ph idx="1"/>
          </p:nvPr>
        </p:nvSpPr>
        <p:spPr>
          <a:xfrm>
            <a:off x="924443" y="1171677"/>
            <a:ext cx="5289926" cy="4936160"/>
          </a:xfrm>
        </p:spPr>
        <p:txBody>
          <a:bodyPr>
            <a:normAutofit lnSpcReduction="10000"/>
          </a:bodyPr>
          <a:lstStyle/>
          <a:p>
            <a:r>
              <a:rPr lang="ru-RU" dirty="0">
                <a:latin typeface="Times New Roman" panose="02020603050405020304" pitchFamily="18" charset="0"/>
                <a:cs typeface="Times New Roman" panose="02020603050405020304" pitchFamily="18" charset="0"/>
              </a:rPr>
              <a:t>Mirroring (Дублиране) – записва огледално информацията и на единия и на другия хард диск. Положително при този вид разпределяне е че има резервираност на данните при отпадане на единия диск.</a:t>
            </a:r>
          </a:p>
          <a:p>
            <a:r>
              <a:rPr lang="ru-RU" dirty="0">
                <a:latin typeface="Times New Roman" panose="02020603050405020304" pitchFamily="18" charset="0"/>
                <a:cs typeface="Times New Roman" panose="02020603050405020304" pitchFamily="18" charset="0"/>
              </a:rPr>
              <a:t>Striping (Разпределяне) –последователни блокове от данни се разпределят едновременно към отделни физически устройства. Тук данните се разделят на части при записването им на дисковете. Четните части се записват на единия диск, а нечетните на другия, т.е. се редуват.</a:t>
            </a:r>
            <a:endParaRPr lang="en-US"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Разпределянето на данните между дисковете се извършва на различни нива, наричани още RAID нива.</a:t>
            </a: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BD21B9E3-D86A-4551-920A-697F579A76C4}"/>
              </a:ext>
            </a:extLst>
          </p:cNvPr>
          <p:cNvPicPr>
            <a:picLocks noChangeAspect="1"/>
          </p:cNvPicPr>
          <p:nvPr/>
        </p:nvPicPr>
        <p:blipFill>
          <a:blip r:embed="rId2"/>
          <a:stretch>
            <a:fillRect/>
          </a:stretch>
        </p:blipFill>
        <p:spPr>
          <a:xfrm>
            <a:off x="6913522" y="2098737"/>
            <a:ext cx="4238625" cy="3333750"/>
          </a:xfrm>
          <a:prstGeom prst="rect">
            <a:avLst/>
          </a:prstGeom>
        </p:spPr>
      </p:pic>
    </p:spTree>
    <p:extLst>
      <p:ext uri="{BB962C8B-B14F-4D97-AF65-F5344CB8AC3E}">
        <p14:creationId xmlns:p14="http://schemas.microsoft.com/office/powerpoint/2010/main" val="3212974801"/>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438C49-B7FB-4C26-B410-DDEB2720098F}"/>
              </a:ext>
            </a:extLst>
          </p:cNvPr>
          <p:cNvSpPr>
            <a:spLocks noGrp="1"/>
          </p:cNvSpPr>
          <p:nvPr>
            <p:ph type="title"/>
          </p:nvPr>
        </p:nvSpPr>
        <p:spPr>
          <a:xfrm>
            <a:off x="913795" y="272716"/>
            <a:ext cx="10353762" cy="970450"/>
          </a:xfrm>
        </p:spPr>
        <p:txBody>
          <a:bodyPr>
            <a:normAutofit/>
          </a:bodyPr>
          <a:lstStyle/>
          <a:p>
            <a:r>
              <a:rPr lang="bg-BG" sz="2400" dirty="0">
                <a:latin typeface="Times New Roman" panose="02020603050405020304" pitchFamily="18" charset="0"/>
                <a:cs typeface="Times New Roman" panose="02020603050405020304" pitchFamily="18" charset="0"/>
              </a:rPr>
              <a:t>Стандартни </a:t>
            </a:r>
            <a:r>
              <a:rPr lang="en-US" sz="2400" dirty="0">
                <a:latin typeface="Times New Roman" panose="02020603050405020304" pitchFamily="18" charset="0"/>
                <a:cs typeface="Times New Roman" panose="02020603050405020304" pitchFamily="18" charset="0"/>
              </a:rPr>
              <a:t>RAID </a:t>
            </a:r>
            <a:r>
              <a:rPr lang="bg-BG" sz="2400" dirty="0">
                <a:latin typeface="Times New Roman" panose="02020603050405020304" pitchFamily="18" charset="0"/>
                <a:cs typeface="Times New Roman" panose="02020603050405020304" pitchFamily="18" charset="0"/>
              </a:rPr>
              <a:t>нива</a:t>
            </a:r>
            <a:endParaRPr lang="en-US" sz="2400" dirty="0">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xmlns="" id="{FB048A87-FE3A-4980-8AD7-96C93DBE5D35}"/>
              </a:ext>
            </a:extLst>
          </p:cNvPr>
          <p:cNvGraphicFramePr>
            <a:graphicFrameLocks noGrp="1"/>
          </p:cNvGraphicFramePr>
          <p:nvPr>
            <p:ph idx="1"/>
            <p:extLst>
              <p:ext uri="{D42A27DB-BD31-4B8C-83A1-F6EECF244321}">
                <p14:modId xmlns:p14="http://schemas.microsoft.com/office/powerpoint/2010/main" val="342068731"/>
              </p:ext>
            </p:extLst>
          </p:nvPr>
        </p:nvGraphicFramePr>
        <p:xfrm>
          <a:off x="913796" y="1243165"/>
          <a:ext cx="4856689" cy="5342119"/>
        </p:xfrm>
        <a:graphic>
          <a:graphicData uri="http://schemas.openxmlformats.org/drawingml/2006/table">
            <a:tbl>
              <a:tblPr firstRow="1" firstCol="1" bandRow="1">
                <a:tableStyleId>{5C22544A-7EE6-4342-B048-85BDC9FD1C3A}</a:tableStyleId>
              </a:tblPr>
              <a:tblGrid>
                <a:gridCol w="4856689">
                  <a:extLst>
                    <a:ext uri="{9D8B030D-6E8A-4147-A177-3AD203B41FA5}">
                      <a16:colId xmlns:a16="http://schemas.microsoft.com/office/drawing/2014/main" xmlns="" val="3945585396"/>
                    </a:ext>
                  </a:extLst>
                </a:gridCol>
              </a:tblGrid>
              <a:tr h="2440196">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0:</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Минимум 2 устройства, няма защита на информацията.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При увеличаване на броя на дисковете в масива, расте и скоростта на запис/четене.</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Предлага най-добрата производителност, но не позволява защита на данните.</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669642851"/>
                  </a:ext>
                </a:extLst>
              </a:tr>
              <a:tr h="2901923">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1:</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Минимум 2 устройства, опростена защита на данните.</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Производителността при запис е същата както при единичен диск. </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Недостатъкът на това ниво е, че ефективният свободен обем ще бъде двойно по-малък от сбора на инсталираните устройства.</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172623014"/>
                  </a:ext>
                </a:extLst>
              </a:tr>
            </a:tbl>
          </a:graphicData>
        </a:graphic>
      </p:graphicFrame>
      <p:graphicFrame>
        <p:nvGraphicFramePr>
          <p:cNvPr id="9" name="Table 8">
            <a:extLst>
              <a:ext uri="{FF2B5EF4-FFF2-40B4-BE49-F238E27FC236}">
                <a16:creationId xmlns:a16="http://schemas.microsoft.com/office/drawing/2014/main" xmlns="" id="{03F754E3-B3F4-4433-A34F-AC4850A20657}"/>
              </a:ext>
            </a:extLst>
          </p:cNvPr>
          <p:cNvGraphicFramePr>
            <a:graphicFrameLocks noGrp="1"/>
          </p:cNvGraphicFramePr>
          <p:nvPr>
            <p:extLst>
              <p:ext uri="{D42A27DB-BD31-4B8C-83A1-F6EECF244321}">
                <p14:modId xmlns:p14="http://schemas.microsoft.com/office/powerpoint/2010/main" val="668545583"/>
              </p:ext>
            </p:extLst>
          </p:nvPr>
        </p:nvGraphicFramePr>
        <p:xfrm>
          <a:off x="6489577" y="1243165"/>
          <a:ext cx="4788628" cy="5296464"/>
        </p:xfrm>
        <a:graphic>
          <a:graphicData uri="http://schemas.openxmlformats.org/drawingml/2006/table">
            <a:tbl>
              <a:tblPr firstRow="1" firstCol="1" bandRow="1">
                <a:tableStyleId>{5C22544A-7EE6-4342-B048-85BDC9FD1C3A}</a:tableStyleId>
              </a:tblPr>
              <a:tblGrid>
                <a:gridCol w="4788628">
                  <a:extLst>
                    <a:ext uri="{9D8B030D-6E8A-4147-A177-3AD203B41FA5}">
                      <a16:colId xmlns:a16="http://schemas.microsoft.com/office/drawing/2014/main" xmlns="" val="1807826415"/>
                    </a:ext>
                  </a:extLst>
                </a:gridCol>
              </a:tblGrid>
              <a:tr h="3011684">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2:</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Това ниво не се използва от дълги години.</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Препоръчват се поне 10 диска за съхранение на данни и още 4 за генерираните кодове. Това прави общ дисков масив от 14 устройства.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Информацията се разделя на блокове и се записва последователно на дисковете от масива.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3371434"/>
                  </a:ext>
                </a:extLst>
              </a:tr>
              <a:tr h="2284780">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3:</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Принципът на действие е подобен на този на RAID 2.</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Надеждността на съхранение на информация е същата като в предходното RAID 2.</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Един от дисковете е заделен за съхранение на битове за четност.</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855259781"/>
                  </a:ext>
                </a:extLst>
              </a:tr>
            </a:tbl>
          </a:graphicData>
        </a:graphic>
      </p:graphicFrame>
      <p:pic>
        <p:nvPicPr>
          <p:cNvPr id="5122" name="image6.png">
            <a:extLst>
              <a:ext uri="{FF2B5EF4-FFF2-40B4-BE49-F238E27FC236}">
                <a16:creationId xmlns:a16="http://schemas.microsoft.com/office/drawing/2014/main" xmlns="" id="{94B83C73-AD2A-9D7E-6DD9-F077F3CB90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7669" y="2700403"/>
            <a:ext cx="2932720" cy="970450"/>
          </a:xfrm>
          <a:prstGeom prst="rect">
            <a:avLst/>
          </a:prstGeom>
          <a:noFill/>
          <a:extLst>
            <a:ext uri="{909E8E84-426E-40DD-AFC4-6F175D3DCCD1}">
              <a14:hiddenFill xmlns:a14="http://schemas.microsoft.com/office/drawing/2010/main">
                <a:solidFill>
                  <a:srgbClr val="FFFFFF"/>
                </a:solidFill>
              </a14:hiddenFill>
            </a:ext>
          </a:extLst>
        </p:spPr>
      </p:pic>
      <p:pic>
        <p:nvPicPr>
          <p:cNvPr id="5121" name="image4.png">
            <a:extLst>
              <a:ext uri="{FF2B5EF4-FFF2-40B4-BE49-F238E27FC236}">
                <a16:creationId xmlns:a16="http://schemas.microsoft.com/office/drawing/2014/main" xmlns="" id="{6181D1DF-0EF9-12CB-2CC8-42B33D1D7B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7669" y="5380383"/>
            <a:ext cx="2932720" cy="1204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146354"/>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139659-797F-4A19-93AB-623101DB2A43}"/>
              </a:ext>
            </a:extLst>
          </p:cNvPr>
          <p:cNvSpPr>
            <a:spLocks noGrp="1"/>
          </p:cNvSpPr>
          <p:nvPr>
            <p:ph type="title"/>
          </p:nvPr>
        </p:nvSpPr>
        <p:spPr/>
        <p:txBody>
          <a:bodyPr/>
          <a:lstStyle/>
          <a:p>
            <a:endParaRPr lang="en-US" dirty="0"/>
          </a:p>
        </p:txBody>
      </p:sp>
      <p:graphicFrame>
        <p:nvGraphicFramePr>
          <p:cNvPr id="4" name="Content Placeholder 3">
            <a:extLst>
              <a:ext uri="{FF2B5EF4-FFF2-40B4-BE49-F238E27FC236}">
                <a16:creationId xmlns:a16="http://schemas.microsoft.com/office/drawing/2014/main" xmlns="" id="{BC05A414-C1EF-4904-8D5D-A3C09C6A9C41}"/>
              </a:ext>
            </a:extLst>
          </p:cNvPr>
          <p:cNvGraphicFramePr>
            <a:graphicFrameLocks noGrp="1"/>
          </p:cNvGraphicFramePr>
          <p:nvPr>
            <p:ph idx="1"/>
            <p:extLst>
              <p:ext uri="{D42A27DB-BD31-4B8C-83A1-F6EECF244321}">
                <p14:modId xmlns:p14="http://schemas.microsoft.com/office/powerpoint/2010/main" val="2033058801"/>
              </p:ext>
            </p:extLst>
          </p:nvPr>
        </p:nvGraphicFramePr>
        <p:xfrm>
          <a:off x="639192" y="526002"/>
          <a:ext cx="5646199" cy="5805996"/>
        </p:xfrm>
        <a:graphic>
          <a:graphicData uri="http://schemas.openxmlformats.org/drawingml/2006/table">
            <a:tbl>
              <a:tblPr firstRow="1" firstCol="1" bandRow="1">
                <a:tableStyleId>{5C22544A-7EE6-4342-B048-85BDC9FD1C3A}</a:tableStyleId>
              </a:tblPr>
              <a:tblGrid>
                <a:gridCol w="5646199">
                  <a:extLst>
                    <a:ext uri="{9D8B030D-6E8A-4147-A177-3AD203B41FA5}">
                      <a16:colId xmlns:a16="http://schemas.microsoft.com/office/drawing/2014/main" xmlns="" val="1256945200"/>
                    </a:ext>
                  </a:extLst>
                </a:gridCol>
              </a:tblGrid>
              <a:tr h="3029535">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4:</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Изискват се поне 3 твърди диска с еднакъв капацитет</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Разпределянето на информацията се осъществява като предходните две нива(2, 3), като отново е предвидено устройство за съхранение на кодовете за четност.</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Едновременното обработване на две заявки е възможно.</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Ефективността при това ниво се увеличава с добавяне на повече устройства към масива.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37239" marR="37239" marT="0" marB="0"/>
                </a:tc>
                <a:extLst>
                  <a:ext uri="{0D108BD9-81ED-4DB2-BD59-A6C34878D82A}">
                    <a16:rowId xmlns:a16="http://schemas.microsoft.com/office/drawing/2014/main" xmlns="" val="2315196605"/>
                  </a:ext>
                </a:extLst>
              </a:tr>
              <a:tr h="2776461">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5:</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Необходими са минимум 3 диска.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Основава се на разпределението на блокове от данни с кодове за четност.</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Както при останалите нива, блоковете от данни се записват последователно в дисковете от масива, кодовете за четност се разпределят последователно по дисковете в масива.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Функционирането се запазва дори при отпадането на един от дисковете.</a:t>
                      </a:r>
                      <a:endParaRPr lang="en-US" sz="1400" dirty="0">
                        <a:effectLst/>
                        <a:latin typeface="Times New Roman" panose="02020603050405020304" pitchFamily="18" charset="0"/>
                        <a:cs typeface="Times New Roman" panose="02020603050405020304" pitchFamily="18" charset="0"/>
                      </a:endParaRPr>
                    </a:p>
                  </a:txBody>
                  <a:tcPr marL="37239" marR="37239" marT="0" marB="0"/>
                </a:tc>
                <a:extLst>
                  <a:ext uri="{0D108BD9-81ED-4DB2-BD59-A6C34878D82A}">
                    <a16:rowId xmlns:a16="http://schemas.microsoft.com/office/drawing/2014/main" xmlns="" val="2318613782"/>
                  </a:ext>
                </a:extLst>
              </a:tr>
            </a:tbl>
          </a:graphicData>
        </a:graphic>
      </p:graphicFrame>
      <p:graphicFrame>
        <p:nvGraphicFramePr>
          <p:cNvPr id="7" name="Table 6">
            <a:extLst>
              <a:ext uri="{FF2B5EF4-FFF2-40B4-BE49-F238E27FC236}">
                <a16:creationId xmlns:a16="http://schemas.microsoft.com/office/drawing/2014/main" xmlns="" id="{562DA675-FB37-4650-A534-9596BF4F42D8}"/>
              </a:ext>
            </a:extLst>
          </p:cNvPr>
          <p:cNvGraphicFramePr>
            <a:graphicFrameLocks noGrp="1"/>
          </p:cNvGraphicFramePr>
          <p:nvPr>
            <p:extLst>
              <p:ext uri="{D42A27DB-BD31-4B8C-83A1-F6EECF244321}">
                <p14:modId xmlns:p14="http://schemas.microsoft.com/office/powerpoint/2010/main" val="2842424593"/>
              </p:ext>
            </p:extLst>
          </p:nvPr>
        </p:nvGraphicFramePr>
        <p:xfrm>
          <a:off x="6622741" y="2299316"/>
          <a:ext cx="5264459" cy="2403348"/>
        </p:xfrm>
        <a:graphic>
          <a:graphicData uri="http://schemas.openxmlformats.org/drawingml/2006/table">
            <a:tbl>
              <a:tblPr firstRow="1" firstCol="1" bandRow="1">
                <a:tableStyleId>{5C22544A-7EE6-4342-B048-85BDC9FD1C3A}</a:tableStyleId>
              </a:tblPr>
              <a:tblGrid>
                <a:gridCol w="4859841">
                  <a:extLst>
                    <a:ext uri="{9D8B030D-6E8A-4147-A177-3AD203B41FA5}">
                      <a16:colId xmlns:a16="http://schemas.microsoft.com/office/drawing/2014/main" xmlns="" val="454042451"/>
                    </a:ext>
                  </a:extLst>
                </a:gridCol>
                <a:gridCol w="404618">
                  <a:extLst>
                    <a:ext uri="{9D8B030D-6E8A-4147-A177-3AD203B41FA5}">
                      <a16:colId xmlns:a16="http://schemas.microsoft.com/office/drawing/2014/main" xmlns="" val="1841937411"/>
                    </a:ext>
                  </a:extLst>
                </a:gridCol>
              </a:tblGrid>
              <a:tr h="2352584">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6:</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Минималният брой необходими устройства са четири.</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подобен на RAID 5, но при него има двойно разпределяне на битовете за четност.</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Нивото предлага по-голяма надеждност на съхраняваната информация за сметка на по-малко ефективно пространство и по-ниска производителност в сравнение с RAID 5.</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100" dirty="0">
                          <a:effectLst/>
                        </a:rPr>
                        <a:t> </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07000"/>
                        </a:lnSpc>
                        <a:spcBef>
                          <a:spcPts val="0"/>
                        </a:spcBef>
                        <a:spcAft>
                          <a:spcPts val="800"/>
                        </a:spcAft>
                      </a:pPr>
                      <a:endParaRPr lang="bg-BG"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xmlns="" val="2548349823"/>
                  </a:ext>
                </a:extLst>
              </a:tr>
            </a:tbl>
          </a:graphicData>
        </a:graphic>
      </p:graphicFrame>
    </p:spTree>
    <p:extLst>
      <p:ext uri="{BB962C8B-B14F-4D97-AF65-F5344CB8AC3E}">
        <p14:creationId xmlns:p14="http://schemas.microsoft.com/office/powerpoint/2010/main" val="4052926000"/>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B90AC6-F7A0-45D7-BBF0-234CEFA19C6D}"/>
              </a:ext>
            </a:extLst>
          </p:cNvPr>
          <p:cNvSpPr>
            <a:spLocks noGrp="1"/>
          </p:cNvSpPr>
          <p:nvPr>
            <p:ph type="title"/>
          </p:nvPr>
        </p:nvSpPr>
        <p:spPr>
          <a:xfrm>
            <a:off x="919119" y="281126"/>
            <a:ext cx="10353762" cy="970450"/>
          </a:xfrm>
        </p:spPr>
        <p:txBody>
          <a:bodyPr>
            <a:normAutofit/>
          </a:bodyPr>
          <a:lstStyle/>
          <a:p>
            <a:r>
              <a:rPr lang="bg-BG" sz="2400" dirty="0">
                <a:latin typeface="Times New Roman" panose="02020603050405020304" pitchFamily="18" charset="0"/>
                <a:cs typeface="Times New Roman" panose="02020603050405020304" pitchFamily="18" charset="0"/>
              </a:rPr>
              <a:t>Хибридни </a:t>
            </a:r>
            <a:r>
              <a:rPr lang="en-US" sz="2400" dirty="0">
                <a:latin typeface="Times New Roman" panose="02020603050405020304" pitchFamily="18" charset="0"/>
                <a:cs typeface="Times New Roman" panose="02020603050405020304" pitchFamily="18" charset="0"/>
              </a:rPr>
              <a:t>RAID </a:t>
            </a:r>
            <a:r>
              <a:rPr lang="bg-BG" sz="2400" dirty="0">
                <a:latin typeface="Times New Roman" panose="02020603050405020304" pitchFamily="18" charset="0"/>
                <a:cs typeface="Times New Roman" panose="02020603050405020304" pitchFamily="18" charset="0"/>
              </a:rPr>
              <a:t>нива</a:t>
            </a:r>
            <a:endParaRPr lang="en-US" sz="24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xmlns="" id="{0C5CE3A6-5ABA-46CF-8906-08CEA10F4033}"/>
              </a:ext>
            </a:extLst>
          </p:cNvPr>
          <p:cNvGraphicFramePr>
            <a:graphicFrameLocks noGrp="1"/>
          </p:cNvGraphicFramePr>
          <p:nvPr>
            <p:ph idx="1"/>
            <p:extLst>
              <p:ext uri="{D42A27DB-BD31-4B8C-83A1-F6EECF244321}">
                <p14:modId xmlns:p14="http://schemas.microsoft.com/office/powerpoint/2010/main" val="3306846481"/>
              </p:ext>
            </p:extLst>
          </p:nvPr>
        </p:nvGraphicFramePr>
        <p:xfrm>
          <a:off x="381739" y="1393794"/>
          <a:ext cx="5539667" cy="5339351"/>
        </p:xfrm>
        <a:graphic>
          <a:graphicData uri="http://schemas.openxmlformats.org/drawingml/2006/table">
            <a:tbl>
              <a:tblPr bandRow="1">
                <a:tableStyleId>{5C22544A-7EE6-4342-B048-85BDC9FD1C3A}</a:tableStyleId>
              </a:tblPr>
              <a:tblGrid>
                <a:gridCol w="5539667">
                  <a:extLst>
                    <a:ext uri="{9D8B030D-6E8A-4147-A177-3AD203B41FA5}">
                      <a16:colId xmlns:a16="http://schemas.microsoft.com/office/drawing/2014/main" xmlns="" val="2755776823"/>
                    </a:ext>
                  </a:extLst>
                </a:gridCol>
              </a:tblGrid>
              <a:tr h="2619251">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1+0 (10):</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Необходимостта от минимум 4 диска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Това ниво представлява комбинация от RAID 1 и RAID 0.</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В този случай блоковете от данни се записват огледално (информацията се дублира) и едновременно с това се разпределят между двойка дискове.</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Тук има по-голяма производителност и защита на данните от RAID 1, но цената му е много по-висока.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Масивът може да понесе множество загуби на устройства, стига едно огледално копие да не загуби всичките дискове.</a:t>
                      </a:r>
                      <a:endParaRPr lang="en-US" sz="1400" dirty="0">
                        <a:effectLst/>
                        <a:latin typeface="Times New Roman" panose="02020603050405020304" pitchFamily="18" charset="0"/>
                        <a:cs typeface="Times New Roman" panose="02020603050405020304" pitchFamily="18" charset="0"/>
                      </a:endParaRPr>
                    </a:p>
                  </a:txBody>
                  <a:tcPr marL="46269" marR="46269" marT="0" marB="0"/>
                </a:tc>
                <a:extLst>
                  <a:ext uri="{0D108BD9-81ED-4DB2-BD59-A6C34878D82A}">
                    <a16:rowId xmlns:a16="http://schemas.microsoft.com/office/drawing/2014/main" xmlns="" val="1196402479"/>
                  </a:ext>
                </a:extLst>
              </a:tr>
              <a:tr h="2563829">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0+1:</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Отново минималното изискване е 4 дискови устройства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Тук схемата на функциониране е обратна на 1+0. </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Първо информацията се разпределя последователно на блокове и след това те се дублират.</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Рискът от загуба на информация е по-голям, отколкото при RAID 1+0.</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269" marR="46269" marT="0" marB="0"/>
                </a:tc>
                <a:extLst>
                  <a:ext uri="{0D108BD9-81ED-4DB2-BD59-A6C34878D82A}">
                    <a16:rowId xmlns:a16="http://schemas.microsoft.com/office/drawing/2014/main" xmlns="" val="235144601"/>
                  </a:ext>
                </a:extLst>
              </a:tr>
            </a:tbl>
          </a:graphicData>
        </a:graphic>
      </p:graphicFrame>
      <p:graphicFrame>
        <p:nvGraphicFramePr>
          <p:cNvPr id="5" name="Table 4">
            <a:extLst>
              <a:ext uri="{FF2B5EF4-FFF2-40B4-BE49-F238E27FC236}">
                <a16:creationId xmlns:a16="http://schemas.microsoft.com/office/drawing/2014/main" xmlns="" id="{19DEB194-8D0E-4051-B3EB-8CC480E499CC}"/>
              </a:ext>
            </a:extLst>
          </p:cNvPr>
          <p:cNvGraphicFramePr>
            <a:graphicFrameLocks noGrp="1"/>
          </p:cNvGraphicFramePr>
          <p:nvPr>
            <p:extLst>
              <p:ext uri="{D42A27DB-BD31-4B8C-83A1-F6EECF244321}">
                <p14:modId xmlns:p14="http://schemas.microsoft.com/office/powerpoint/2010/main" val="1044767091"/>
              </p:ext>
            </p:extLst>
          </p:nvPr>
        </p:nvGraphicFramePr>
        <p:xfrm>
          <a:off x="6631619" y="1197405"/>
          <a:ext cx="4882719" cy="5535740"/>
        </p:xfrm>
        <a:graphic>
          <a:graphicData uri="http://schemas.openxmlformats.org/drawingml/2006/table">
            <a:tbl>
              <a:tblPr bandRow="1">
                <a:tableStyleId>{5C22544A-7EE6-4342-B048-85BDC9FD1C3A}</a:tableStyleId>
              </a:tblPr>
              <a:tblGrid>
                <a:gridCol w="4882719">
                  <a:extLst>
                    <a:ext uri="{9D8B030D-6E8A-4147-A177-3AD203B41FA5}">
                      <a16:colId xmlns:a16="http://schemas.microsoft.com/office/drawing/2014/main" xmlns="" val="2137329612"/>
                    </a:ext>
                  </a:extLst>
                </a:gridCol>
              </a:tblGrid>
              <a:tr h="1867470">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0+3:</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Нивото обединява начинът на работа на RAID 0 и RAID 3. </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Използва се разделяне (striping) както при RAID 0, но при разпределение на блоковете по схемата на RAID 3.</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Така се увеличава надеждността на RAID 3, но респективно с това се повишава и цената.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514" marR="46514" marT="0" marB="0"/>
                </a:tc>
                <a:extLst>
                  <a:ext uri="{0D108BD9-81ED-4DB2-BD59-A6C34878D82A}">
                    <a16:rowId xmlns:a16="http://schemas.microsoft.com/office/drawing/2014/main" xmlns="" val="3157646955"/>
                  </a:ext>
                </a:extLst>
              </a:tr>
              <a:tr h="1248041">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5+0:</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Съчетание между разпределението на битовете за четност при RAID 5 със stiping - a на RAID 0.</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Подобрява се надеждността на RAID 5 без да се намалява защитата на данните.</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514" marR="46514" marT="0" marB="0"/>
                </a:tc>
                <a:extLst>
                  <a:ext uri="{0D108BD9-81ED-4DB2-BD59-A6C34878D82A}">
                    <a16:rowId xmlns:a16="http://schemas.microsoft.com/office/drawing/2014/main" xmlns="" val="2749306682"/>
                  </a:ext>
                </a:extLst>
              </a:tr>
              <a:tr h="2081797">
                <a:tc>
                  <a:txBody>
                    <a:bodyPr/>
                    <a:lstStyle/>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RAID 7:</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Този RAID е запазена марка на Storage Computer Corporation. </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Показателите на максималния трансфер при четене на файлове, независимо малки или големи, е изключително висок. Начинът на работа обединява РАЙД 3 и РАЙД 4, но предлага много по-голяма производителност от тях.</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Той трудно се намира на пазара и държи висока цена.</a:t>
                      </a:r>
                      <a:endParaRPr lang="en-US" sz="1400" dirty="0">
                        <a:effectLst/>
                        <a:latin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bg-BG" sz="1400" dirty="0">
                          <a:effectLst/>
                          <a:latin typeface="Times New Roman" panose="02020603050405020304" pitchFamily="18" charset="0"/>
                          <a:cs typeface="Times New Roman" panose="02020603050405020304" pitchFamily="18" charset="0"/>
                        </a:rPr>
                        <a:t> </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514" marR="46514" marT="0" marB="0"/>
                </a:tc>
                <a:extLst>
                  <a:ext uri="{0D108BD9-81ED-4DB2-BD59-A6C34878D82A}">
                    <a16:rowId xmlns:a16="http://schemas.microsoft.com/office/drawing/2014/main" xmlns="" val="1728086015"/>
                  </a:ext>
                </a:extLst>
              </a:tr>
            </a:tbl>
          </a:graphicData>
        </a:graphic>
      </p:graphicFrame>
    </p:spTree>
    <p:extLst>
      <p:ext uri="{BB962C8B-B14F-4D97-AF65-F5344CB8AC3E}">
        <p14:creationId xmlns:p14="http://schemas.microsoft.com/office/powerpoint/2010/main" val="2299581893"/>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B9DD58-1E62-494C-BC69-2D5BB7B578D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Solid State Drive</a:t>
            </a:r>
          </a:p>
        </p:txBody>
      </p:sp>
      <p:sp>
        <p:nvSpPr>
          <p:cNvPr id="3" name="Content Placeholder 2">
            <a:extLst>
              <a:ext uri="{FF2B5EF4-FFF2-40B4-BE49-F238E27FC236}">
                <a16:creationId xmlns:a16="http://schemas.microsoft.com/office/drawing/2014/main" xmlns="" id="{DA37789D-0847-4FD4-A09F-0275677837E1}"/>
              </a:ext>
            </a:extLst>
          </p:cNvPr>
          <p:cNvSpPr>
            <a:spLocks noGrp="1"/>
          </p:cNvSpPr>
          <p:nvPr>
            <p:ph idx="1"/>
          </p:nvPr>
        </p:nvSpPr>
        <p:spPr>
          <a:xfrm>
            <a:off x="913795" y="1740023"/>
            <a:ext cx="5043122" cy="4508377"/>
          </a:xfrm>
        </p:spPr>
        <p:txBody>
          <a:bodyPr/>
          <a:lstStyle/>
          <a:p>
            <a:r>
              <a:rPr lang="bg-BG" dirty="0">
                <a:latin typeface="Times New Roman" panose="02020603050405020304" pitchFamily="18" charset="0"/>
                <a:cs typeface="Times New Roman" panose="02020603050405020304" pitchFamily="18" charset="0"/>
              </a:rPr>
              <a:t>Полупроводниково статично дисково устройство (</a:t>
            </a:r>
            <a:r>
              <a:rPr lang="en-US" dirty="0">
                <a:latin typeface="Times New Roman" panose="02020603050405020304" pitchFamily="18" charset="0"/>
                <a:cs typeface="Times New Roman" panose="02020603050405020304" pitchFamily="18" charset="0"/>
              </a:rPr>
              <a:t>SSD) </a:t>
            </a:r>
            <a:r>
              <a:rPr lang="bg-BG" dirty="0">
                <a:latin typeface="Times New Roman" panose="02020603050405020304" pitchFamily="18" charset="0"/>
                <a:cs typeface="Times New Roman" panose="02020603050405020304" pitchFamily="18" charset="0"/>
              </a:rPr>
              <a:t>е траен носител на енергонезависима памет, базирано на флаш паметите.</a:t>
            </a:r>
          </a:p>
          <a:p>
            <a:r>
              <a:rPr lang="en-US" dirty="0">
                <a:latin typeface="Times New Roman" panose="02020603050405020304" pitchFamily="18" charset="0"/>
                <a:cs typeface="Times New Roman" panose="02020603050405020304" pitchFamily="18" charset="0"/>
              </a:rPr>
              <a:t>SSD </a:t>
            </a:r>
            <a:r>
              <a:rPr lang="bg-BG" dirty="0">
                <a:latin typeface="Times New Roman" panose="02020603050405020304" pitchFamily="18" charset="0"/>
                <a:cs typeface="Times New Roman" panose="02020603050405020304" pitchFamily="18" charset="0"/>
              </a:rPr>
              <a:t>е най-бързия, популярен и ефективен начин за съхранение и споделяне на данни.</a:t>
            </a:r>
          </a:p>
          <a:p>
            <a:r>
              <a:rPr lang="en-US" dirty="0">
                <a:latin typeface="Times New Roman" panose="02020603050405020304" pitchFamily="18" charset="0"/>
                <a:cs typeface="Times New Roman" panose="02020603050405020304" pitchFamily="18" charset="0"/>
              </a:rPr>
              <a:t>SSD</a:t>
            </a:r>
            <a:r>
              <a:rPr lang="bg-BG" dirty="0">
                <a:latin typeface="Times New Roman" panose="02020603050405020304" pitchFamily="18" charset="0"/>
                <a:cs typeface="Times New Roman" panose="02020603050405020304" pitchFamily="18" charset="0"/>
              </a:rPr>
              <a:t> е устройство, което вградено в компютърната система работи с флаш памети с помощта на микросхеми.</a:t>
            </a:r>
          </a:p>
          <a:p>
            <a:r>
              <a:rPr lang="bg-BG" dirty="0">
                <a:latin typeface="Times New Roman" panose="02020603050405020304" pitchFamily="18" charset="0"/>
                <a:cs typeface="Times New Roman" panose="02020603050405020304" pitchFamily="18" charset="0"/>
              </a:rPr>
              <a:t>Съхранява само цифрова информация</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60DED865-FD63-4DD2-8F32-DC5C3A0D3A8F}"/>
              </a:ext>
            </a:extLst>
          </p:cNvPr>
          <p:cNvPicPr>
            <a:picLocks noChangeAspect="1"/>
          </p:cNvPicPr>
          <p:nvPr/>
        </p:nvPicPr>
        <p:blipFill>
          <a:blip r:embed="rId2"/>
          <a:stretch>
            <a:fillRect/>
          </a:stretch>
        </p:blipFill>
        <p:spPr>
          <a:xfrm>
            <a:off x="7075503" y="1470180"/>
            <a:ext cx="3846143" cy="2524031"/>
          </a:xfrm>
          <a:prstGeom prst="rect">
            <a:avLst/>
          </a:prstGeom>
        </p:spPr>
      </p:pic>
      <p:pic>
        <p:nvPicPr>
          <p:cNvPr id="5" name="Picture 4">
            <a:extLst>
              <a:ext uri="{FF2B5EF4-FFF2-40B4-BE49-F238E27FC236}">
                <a16:creationId xmlns:a16="http://schemas.microsoft.com/office/drawing/2014/main" xmlns="" id="{13800CC5-2518-45B9-BFE1-23E29A07AD3D}"/>
              </a:ext>
            </a:extLst>
          </p:cNvPr>
          <p:cNvPicPr>
            <a:picLocks noChangeAspect="1"/>
          </p:cNvPicPr>
          <p:nvPr/>
        </p:nvPicPr>
        <p:blipFill>
          <a:blip r:embed="rId3"/>
          <a:stretch>
            <a:fillRect/>
          </a:stretch>
        </p:blipFill>
        <p:spPr>
          <a:xfrm>
            <a:off x="5819314" y="4183925"/>
            <a:ext cx="4105922" cy="2309581"/>
          </a:xfrm>
          <a:prstGeom prst="rect">
            <a:avLst/>
          </a:prstGeom>
        </p:spPr>
      </p:pic>
    </p:spTree>
    <p:extLst>
      <p:ext uri="{BB962C8B-B14F-4D97-AF65-F5344CB8AC3E}">
        <p14:creationId xmlns:p14="http://schemas.microsoft.com/office/powerpoint/2010/main" val="4187481428"/>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23BA77-20B5-47A7-A867-E1B6FC7BE1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01EDED9-AAAE-4976-9BA2-65024F2A71F2}"/>
              </a:ext>
            </a:extLst>
          </p:cNvPr>
          <p:cNvSpPr>
            <a:spLocks noGrp="1"/>
          </p:cNvSpPr>
          <p:nvPr>
            <p:ph idx="1"/>
          </p:nvPr>
        </p:nvSpPr>
        <p:spPr>
          <a:xfrm>
            <a:off x="6526882" y="1853954"/>
            <a:ext cx="4740676" cy="4154749"/>
          </a:xfrm>
        </p:spPr>
        <p:txBody>
          <a:bodyPr/>
          <a:lstStyle/>
          <a:p>
            <a:r>
              <a:rPr lang="ru-RU" dirty="0">
                <a:latin typeface="Times New Roman" panose="02020603050405020304" pitchFamily="18" charset="0"/>
                <a:cs typeface="Times New Roman" panose="02020603050405020304" pitchFamily="18" charset="0"/>
              </a:rPr>
              <a:t>Запис и четене на данни се </a:t>
            </a:r>
            <a:r>
              <a:rPr lang="bg-BG" dirty="0">
                <a:latin typeface="Times New Roman" panose="02020603050405020304" pitchFamily="18" charset="0"/>
                <a:cs typeface="Times New Roman" panose="02020603050405020304" pitchFamily="18" charset="0"/>
              </a:rPr>
              <a:t>осъществява</a:t>
            </a:r>
            <a:r>
              <a:rPr lang="ru-RU" dirty="0">
                <a:latin typeface="Times New Roman" panose="02020603050405020304" pitchFamily="18" charset="0"/>
                <a:cs typeface="Times New Roman" panose="02020603050405020304" pitchFamily="18" charset="0"/>
              </a:rPr>
              <a:t> с активиране и деактивиране на клетки, чрез внезапно спиране на захранването.</a:t>
            </a:r>
          </a:p>
          <a:p>
            <a:r>
              <a:rPr lang="ru-RU" dirty="0">
                <a:latin typeface="Times New Roman" panose="02020603050405020304" pitchFamily="18" charset="0"/>
                <a:cs typeface="Times New Roman" panose="02020603050405020304" pitchFamily="18" charset="0"/>
              </a:rPr>
              <a:t>Може да има диагонал от 3,5‘‘/2,5‘‘/1,8‘‘.</a:t>
            </a:r>
          </a:p>
          <a:p>
            <a:r>
              <a:rPr lang="ru-RU" dirty="0">
                <a:latin typeface="Times New Roman" panose="02020603050405020304" pitchFamily="18" charset="0"/>
                <a:cs typeface="Times New Roman" panose="02020603050405020304" pitchFamily="18" charset="0"/>
              </a:rPr>
              <a:t>Съхранява само цифрова информация.</a:t>
            </a:r>
            <a:endParaRPr lang="en-US" dirty="0">
              <a:latin typeface="Times New Roman" panose="02020603050405020304" pitchFamily="18" charset="0"/>
              <a:cs typeface="Times New Roman" panose="02020603050405020304" pitchFamily="18" charset="0"/>
            </a:endParaRPr>
          </a:p>
          <a:p>
            <a:r>
              <a:rPr lang="bg-BG" dirty="0">
                <a:latin typeface="Times New Roman" panose="02020603050405020304" pitchFamily="18" charset="0"/>
                <a:cs typeface="Times New Roman" panose="02020603050405020304" pitchFamily="18" charset="0"/>
              </a:rPr>
              <a:t>Капацитетът достига до терабайти.</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425E6F9E-9AA8-4E2E-9529-11CC9CCFB532}"/>
              </a:ext>
            </a:extLst>
          </p:cNvPr>
          <p:cNvPicPr>
            <a:picLocks noChangeAspect="1"/>
          </p:cNvPicPr>
          <p:nvPr/>
        </p:nvPicPr>
        <p:blipFill>
          <a:blip r:embed="rId2"/>
          <a:stretch>
            <a:fillRect/>
          </a:stretch>
        </p:blipFill>
        <p:spPr>
          <a:xfrm>
            <a:off x="1052002" y="979415"/>
            <a:ext cx="2721007" cy="2721007"/>
          </a:xfrm>
          <a:prstGeom prst="rect">
            <a:avLst/>
          </a:prstGeom>
        </p:spPr>
      </p:pic>
      <p:pic>
        <p:nvPicPr>
          <p:cNvPr id="5" name="Picture 4">
            <a:extLst>
              <a:ext uri="{FF2B5EF4-FFF2-40B4-BE49-F238E27FC236}">
                <a16:creationId xmlns:a16="http://schemas.microsoft.com/office/drawing/2014/main" xmlns="" id="{0A580847-92E5-4076-B816-02BF81F24B4C}"/>
              </a:ext>
            </a:extLst>
          </p:cNvPr>
          <p:cNvPicPr>
            <a:picLocks noChangeAspect="1"/>
          </p:cNvPicPr>
          <p:nvPr/>
        </p:nvPicPr>
        <p:blipFill>
          <a:blip r:embed="rId3"/>
          <a:stretch>
            <a:fillRect/>
          </a:stretch>
        </p:blipFill>
        <p:spPr>
          <a:xfrm>
            <a:off x="2662560" y="3288011"/>
            <a:ext cx="3002560" cy="3002560"/>
          </a:xfrm>
          <a:prstGeom prst="rect">
            <a:avLst/>
          </a:prstGeom>
        </p:spPr>
      </p:pic>
    </p:spTree>
    <p:extLst>
      <p:ext uri="{BB962C8B-B14F-4D97-AF65-F5344CB8AC3E}">
        <p14:creationId xmlns:p14="http://schemas.microsoft.com/office/powerpoint/2010/main" val="190023978"/>
      </p:ext>
    </p:extLst>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73CAD2-8F29-4A07-85DD-5CAAC05A1EBD}"/>
              </a:ext>
            </a:extLst>
          </p:cNvPr>
          <p:cNvSpPr>
            <a:spLocks noGrp="1"/>
          </p:cNvSpPr>
          <p:nvPr>
            <p:ph type="title"/>
          </p:nvPr>
        </p:nvSpPr>
        <p:spPr/>
        <p:txBody>
          <a:bodyPr/>
          <a:lstStyle/>
          <a:p>
            <a:r>
              <a:rPr lang="bg-BG" dirty="0"/>
              <a:t>Видове </a:t>
            </a:r>
            <a:r>
              <a:rPr lang="en-US" dirty="0"/>
              <a:t>SSD </a:t>
            </a:r>
            <a:r>
              <a:rPr lang="bg-BG" dirty="0"/>
              <a:t>памет</a:t>
            </a:r>
            <a:endParaRPr lang="en-US" dirty="0"/>
          </a:p>
        </p:txBody>
      </p:sp>
      <p:graphicFrame>
        <p:nvGraphicFramePr>
          <p:cNvPr id="4" name="Table 4">
            <a:extLst>
              <a:ext uri="{FF2B5EF4-FFF2-40B4-BE49-F238E27FC236}">
                <a16:creationId xmlns:a16="http://schemas.microsoft.com/office/drawing/2014/main" xmlns="" id="{8E69B429-D2C3-4ED7-B286-A33B5BDD1DB5}"/>
              </a:ext>
            </a:extLst>
          </p:cNvPr>
          <p:cNvGraphicFramePr>
            <a:graphicFrameLocks noGrp="1"/>
          </p:cNvGraphicFramePr>
          <p:nvPr>
            <p:ph idx="1"/>
            <p:extLst>
              <p:ext uri="{D42A27DB-BD31-4B8C-83A1-F6EECF244321}">
                <p14:modId xmlns:p14="http://schemas.microsoft.com/office/powerpoint/2010/main" val="2045929447"/>
              </p:ext>
            </p:extLst>
          </p:nvPr>
        </p:nvGraphicFramePr>
        <p:xfrm>
          <a:off x="781234" y="1704513"/>
          <a:ext cx="10679838" cy="4724400"/>
        </p:xfrm>
        <a:graphic>
          <a:graphicData uri="http://schemas.openxmlformats.org/drawingml/2006/table">
            <a:tbl>
              <a:tblPr firstRow="1" bandRow="1">
                <a:tableStyleId>{5C22544A-7EE6-4342-B048-85BDC9FD1C3A}</a:tableStyleId>
              </a:tblPr>
              <a:tblGrid>
                <a:gridCol w="5339919">
                  <a:extLst>
                    <a:ext uri="{9D8B030D-6E8A-4147-A177-3AD203B41FA5}">
                      <a16:colId xmlns:a16="http://schemas.microsoft.com/office/drawing/2014/main" xmlns="" val="2728403180"/>
                    </a:ext>
                  </a:extLst>
                </a:gridCol>
                <a:gridCol w="5339919">
                  <a:extLst>
                    <a:ext uri="{9D8B030D-6E8A-4147-A177-3AD203B41FA5}">
                      <a16:colId xmlns:a16="http://schemas.microsoft.com/office/drawing/2014/main" xmlns="" val="3470694640"/>
                    </a:ext>
                  </a:extLst>
                </a:gridCol>
              </a:tblGrid>
              <a:tr h="400998">
                <a:tc>
                  <a:txBody>
                    <a:bodyPr/>
                    <a:lstStyle/>
                    <a:p>
                      <a:pPr algn="ctr"/>
                      <a:r>
                        <a:rPr lang="bg-BG" sz="2000" dirty="0">
                          <a:latin typeface="Times New Roman" panose="02020603050405020304" pitchFamily="18" charset="0"/>
                          <a:cs typeface="Times New Roman" panose="02020603050405020304" pitchFamily="18" charset="0"/>
                        </a:rPr>
                        <a:t>Вид (според бр. клетки, които се активират и деактивират)</a:t>
                      </a:r>
                      <a:endParaRPr lang="en-US" sz="2000" dirty="0">
                        <a:latin typeface="Times New Roman" panose="02020603050405020304" pitchFamily="18" charset="0"/>
                        <a:cs typeface="Times New Roman" panose="02020603050405020304" pitchFamily="18" charset="0"/>
                      </a:endParaRPr>
                    </a:p>
                  </a:txBody>
                  <a:tcPr/>
                </a:tc>
                <a:tc>
                  <a:txBody>
                    <a:bodyPr/>
                    <a:lstStyle/>
                    <a:p>
                      <a:pPr algn="ctr"/>
                      <a:r>
                        <a:rPr lang="bg-BG" sz="2000" dirty="0">
                          <a:latin typeface="Times New Roman" panose="02020603050405020304" pitchFamily="18" charset="0"/>
                          <a:cs typeface="Times New Roman" panose="02020603050405020304" pitchFamily="18" charset="0"/>
                        </a:rPr>
                        <a:t>Характеристики</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874107178"/>
                  </a:ext>
                </a:extLst>
              </a:tr>
              <a:tr h="400998">
                <a:tc>
                  <a:txBody>
                    <a:bodyPr/>
                    <a:lstStyle/>
                    <a:p>
                      <a:pPr algn="ctr"/>
                      <a:r>
                        <a:rPr lang="en-US" sz="2000" dirty="0">
                          <a:latin typeface="Times New Roman" panose="02020603050405020304" pitchFamily="18" charset="0"/>
                          <a:cs typeface="Times New Roman" panose="02020603050405020304" pitchFamily="18" charset="0"/>
                        </a:rPr>
                        <a:t>Single Level Cell (SLC/</a:t>
                      </a:r>
                      <a:r>
                        <a:rPr lang="bg-BG" sz="2000" dirty="0">
                          <a:latin typeface="Times New Roman" panose="02020603050405020304" pitchFamily="18" charset="0"/>
                          <a:cs typeface="Times New Roman" panose="02020603050405020304" pitchFamily="18" charset="0"/>
                        </a:rPr>
                        <a:t>Клетка с едно ниво)</a:t>
                      </a:r>
                      <a:endParaRPr lang="en-US" sz="2000" dirty="0">
                        <a:latin typeface="Times New Roman" panose="02020603050405020304" pitchFamily="18" charset="0"/>
                        <a:cs typeface="Times New Roman" panose="02020603050405020304" pitchFamily="18" charset="0"/>
                      </a:endParaRPr>
                    </a:p>
                  </a:txBody>
                  <a:tcPr/>
                </a:tc>
                <a:tc>
                  <a:txBody>
                    <a:bodyPr/>
                    <a:lstStyle/>
                    <a:p>
                      <a:r>
                        <a:rPr lang="bg-BG" sz="2000" dirty="0">
                          <a:latin typeface="Times New Roman" panose="02020603050405020304" pitchFamily="18" charset="0"/>
                          <a:cs typeface="Times New Roman" panose="02020603050405020304" pitchFamily="18" charset="0"/>
                        </a:rPr>
                        <a:t>Една клетка, </a:t>
                      </a:r>
                      <a:r>
                        <a:rPr lang="ru-RU" sz="2000" dirty="0">
                          <a:latin typeface="Times New Roman" panose="02020603050405020304" pitchFamily="18" charset="0"/>
                          <a:cs typeface="Times New Roman" panose="02020603050405020304" pitchFamily="18" charset="0"/>
                        </a:rPr>
                        <a:t>която се активира и деактивира от внезапни прекъсвания на захранването; издръжлива; бързо четене/запис</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099988890"/>
                  </a:ext>
                </a:extLst>
              </a:tr>
              <a:tr h="467510">
                <a:tc>
                  <a:txBody>
                    <a:bodyPr/>
                    <a:lstStyle/>
                    <a:p>
                      <a:pPr algn="ctr"/>
                      <a:r>
                        <a:rPr lang="en-US" sz="2000" dirty="0">
                          <a:latin typeface="Times New Roman" panose="02020603050405020304" pitchFamily="18" charset="0"/>
                          <a:cs typeface="Times New Roman" panose="02020603050405020304" pitchFamily="18" charset="0"/>
                        </a:rPr>
                        <a:t>Multiple Level Cell</a:t>
                      </a:r>
                      <a:r>
                        <a:rPr lang="bg-BG"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(MLC/</a:t>
                      </a:r>
                      <a:r>
                        <a:rPr lang="bg-BG" sz="2000" dirty="0">
                          <a:latin typeface="Times New Roman" panose="02020603050405020304" pitchFamily="18" charset="0"/>
                          <a:cs typeface="Times New Roman" panose="02020603050405020304" pitchFamily="18" charset="0"/>
                        </a:rPr>
                        <a:t>Клетка с много нива)</a:t>
                      </a:r>
                      <a:endParaRPr lang="en-US" sz="2000" dirty="0">
                        <a:latin typeface="Times New Roman" panose="02020603050405020304" pitchFamily="18" charset="0"/>
                        <a:cs typeface="Times New Roman" panose="02020603050405020304" pitchFamily="18" charset="0"/>
                      </a:endParaRPr>
                    </a:p>
                  </a:txBody>
                  <a:tcPr/>
                </a:tc>
                <a:tc>
                  <a:txBody>
                    <a:bodyPr/>
                    <a:lstStyle/>
                    <a:p>
                      <a:r>
                        <a:rPr lang="bg-BG" sz="2000" dirty="0">
                          <a:latin typeface="Times New Roman" panose="02020603050405020304" pitchFamily="18" charset="0"/>
                          <a:cs typeface="Times New Roman" panose="02020603050405020304" pitchFamily="18" charset="0"/>
                        </a:rPr>
                        <a:t>Много клетки, </a:t>
                      </a:r>
                      <a:r>
                        <a:rPr lang="ru-RU" sz="2000" dirty="0">
                          <a:latin typeface="Times New Roman" panose="02020603050405020304" pitchFamily="18" charset="0"/>
                          <a:cs typeface="Times New Roman" panose="02020603050405020304" pitchFamily="18" charset="0"/>
                        </a:rPr>
                        <a:t>които се активират и деактивират; евтина; по – малко надеждна; поддържа 3000 – 5000 прекъсвания; бърза</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017233351"/>
                  </a:ext>
                </a:extLst>
              </a:tr>
              <a:tr h="400998">
                <a:tc>
                  <a:txBody>
                    <a:bodyPr/>
                    <a:lstStyle/>
                    <a:p>
                      <a:pPr algn="ctr"/>
                      <a:r>
                        <a:rPr lang="en-US" sz="2000" dirty="0">
                          <a:latin typeface="Times New Roman" panose="02020603050405020304" pitchFamily="18" charset="0"/>
                          <a:cs typeface="Times New Roman" panose="02020603050405020304" pitchFamily="18" charset="0"/>
                        </a:rPr>
                        <a:t>Triple Level Cell (TLC/</a:t>
                      </a:r>
                      <a:r>
                        <a:rPr lang="bg-BG" sz="2000" dirty="0">
                          <a:latin typeface="Times New Roman" panose="02020603050405020304" pitchFamily="18" charset="0"/>
                          <a:cs typeface="Times New Roman" panose="02020603050405020304" pitchFamily="18" charset="0"/>
                        </a:rPr>
                        <a:t>Тристепенна клетка</a:t>
                      </a:r>
                      <a:endParaRPr lang="en-US" sz="2000" dirty="0">
                        <a:latin typeface="Times New Roman" panose="02020603050405020304" pitchFamily="18" charset="0"/>
                        <a:cs typeface="Times New Roman" panose="02020603050405020304" pitchFamily="18" charset="0"/>
                      </a:endParaRPr>
                    </a:p>
                  </a:txBody>
                  <a:tcPr/>
                </a:tc>
                <a:tc>
                  <a:txBody>
                    <a:bodyPr/>
                    <a:lstStyle/>
                    <a:p>
                      <a:r>
                        <a:rPr lang="bg-BG" sz="2000" dirty="0">
                          <a:latin typeface="Times New Roman" panose="02020603050405020304" pitchFamily="18" charset="0"/>
                          <a:cs typeface="Times New Roman" panose="02020603050405020304" pitchFamily="18" charset="0"/>
                        </a:rPr>
                        <a:t>Три клетки, </a:t>
                      </a:r>
                      <a:r>
                        <a:rPr lang="ru-RU" sz="2000" dirty="0">
                          <a:latin typeface="Times New Roman" panose="02020603050405020304" pitchFamily="18" charset="0"/>
                          <a:cs typeface="Times New Roman" panose="02020603050405020304" pitchFamily="18" charset="0"/>
                        </a:rPr>
                        <a:t>които се активират и деактивират; ниска скорост; евтина; за обикновени потребители; поддържа 3000 – 5000 прекъсвания.</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80537163"/>
                  </a:ext>
                </a:extLst>
              </a:tr>
              <a:tr h="400998">
                <a:tc>
                  <a:txBody>
                    <a:bodyPr/>
                    <a:lstStyle/>
                    <a:p>
                      <a:pPr algn="ctr"/>
                      <a:r>
                        <a:rPr lang="en-US" sz="2000" dirty="0">
                          <a:latin typeface="Times New Roman" panose="02020603050405020304" pitchFamily="18" charset="0"/>
                          <a:cs typeface="Times New Roman" panose="02020603050405020304" pitchFamily="18" charset="0"/>
                        </a:rPr>
                        <a:t>3D – NAND </a:t>
                      </a:r>
                    </a:p>
                  </a:txBody>
                  <a:tcPr/>
                </a:tc>
                <a:tc>
                  <a:txBody>
                    <a:bodyPr/>
                    <a:lstStyle/>
                    <a:p>
                      <a:r>
                        <a:rPr lang="bg-BG" sz="2000" dirty="0">
                          <a:latin typeface="Times New Roman" panose="02020603050405020304" pitchFamily="18" charset="0"/>
                          <a:cs typeface="Times New Roman" panose="02020603050405020304" pitchFamily="18" charset="0"/>
                        </a:rPr>
                        <a:t>Свръх бърза памет; много цикли на презапис; клетките се подреждат вертикално</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3985453095"/>
                  </a:ext>
                </a:extLst>
              </a:tr>
            </a:tbl>
          </a:graphicData>
        </a:graphic>
      </p:graphicFrame>
    </p:spTree>
    <p:extLst>
      <p:ext uri="{BB962C8B-B14F-4D97-AF65-F5344CB8AC3E}">
        <p14:creationId xmlns:p14="http://schemas.microsoft.com/office/powerpoint/2010/main" val="2909835798"/>
      </p:ext>
    </p:extLst>
  </p:cSld>
  <p:clrMapOvr>
    <a:masterClrMapping/>
  </p:clrMapOvr>
  <p:transition spd="slow">
    <p:cove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Плоча">
  <a:themeElements>
    <a:clrScheme name="Плоча">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Плоча">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Плоча">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xmlns=""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D8AC86D224184E94F76181DFAD7BE4" ma:contentTypeVersion="8" ma:contentTypeDescription="Create a new document." ma:contentTypeScope="" ma:versionID="d404f6ed5b17bb65dde402d3d57d927a">
  <xsd:schema xmlns:xsd="http://www.w3.org/2001/XMLSchema" xmlns:xs="http://www.w3.org/2001/XMLSchema" xmlns:p="http://schemas.microsoft.com/office/2006/metadata/properties" xmlns:ns2="dc03390f-f91d-44e3-8737-f8524afbd17f" targetNamespace="http://schemas.microsoft.com/office/2006/metadata/properties" ma:root="true" ma:fieldsID="08b8c02f1a1221373ea82b945d5c3d99" ns2:_="">
    <xsd:import namespace="dc03390f-f91d-44e3-8737-f8524afbd17f"/>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03390f-f91d-44e3-8737-f8524afbd17f"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1" nillable="true" ma:displayName="MediaServiceDateTaken" ma:hidden="true" ma:internalName="MediaServiceDateTaken"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ReferenceId xmlns="dc03390f-f91d-44e3-8737-f8524afbd17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A0CC67-EB3B-476E-A6A7-21D75E7BF0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c03390f-f91d-44e3-8737-f8524afbd1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F5D3C-C0A6-4982-AA1B-1678319F640E}">
  <ds:schemaRefs>
    <ds:schemaRef ds:uri="http://schemas.microsoft.com/office/2006/metadata/properties"/>
    <ds:schemaRef ds:uri="dc03390f-f91d-44e3-8737-f8524afbd17f"/>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www.w3.org/XML/1998/namespace"/>
    <ds:schemaRef ds:uri="http://purl.org/dc/terms/"/>
  </ds:schemaRefs>
</ds:datastoreItem>
</file>

<file path=customXml/itemProps3.xml><?xml version="1.0" encoding="utf-8"?>
<ds:datastoreItem xmlns:ds="http://schemas.openxmlformats.org/officeDocument/2006/customXml" ds:itemID="{995EEC99-3109-40A2-B64A-256A6861E6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TM04033929[[fn=Плоча]]</Template>
  <TotalTime>703</TotalTime>
  <Words>2151</Words>
  <Application>Microsoft Office PowerPoint</Application>
  <PresentationFormat>Custom</PresentationFormat>
  <Paragraphs>206</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Плоча</vt:lpstr>
      <vt:lpstr>Hard Disk и SSD</vt:lpstr>
      <vt:lpstr>Съдържание</vt:lpstr>
      <vt:lpstr>Въведение</vt:lpstr>
      <vt:lpstr>Твърд диск (Hard Disk Drive)</vt:lpstr>
      <vt:lpstr>Основни характеристики</vt:lpstr>
      <vt:lpstr>Основни параметри </vt:lpstr>
      <vt:lpstr>Физическа организация</vt:lpstr>
      <vt:lpstr>PowerPoint Presentation</vt:lpstr>
      <vt:lpstr>PowerPoint Presentation</vt:lpstr>
      <vt:lpstr>PowerPoint Presentation</vt:lpstr>
      <vt:lpstr>PowerPoint Presentation</vt:lpstr>
      <vt:lpstr>PowerPoint Presentation</vt:lpstr>
      <vt:lpstr>Логическа организация</vt:lpstr>
      <vt:lpstr>PowerPoint Presentation</vt:lpstr>
      <vt:lpstr>Фрагментирани дялове</vt:lpstr>
      <vt:lpstr>Интерфейси</vt:lpstr>
      <vt:lpstr>PowerPoint Presentation</vt:lpstr>
      <vt:lpstr>PowerPoint Presentation</vt:lpstr>
      <vt:lpstr>PowerPoint Presentation</vt:lpstr>
      <vt:lpstr>PowerPoint Presentation</vt:lpstr>
      <vt:lpstr>RAID масиви</vt:lpstr>
      <vt:lpstr>PowerPoint Presentation</vt:lpstr>
      <vt:lpstr>PowerPoint Presentation</vt:lpstr>
      <vt:lpstr>Стандартни RAID нива</vt:lpstr>
      <vt:lpstr>PowerPoint Presentation</vt:lpstr>
      <vt:lpstr>Хибридни RAID нива</vt:lpstr>
      <vt:lpstr>Solid State Drive</vt:lpstr>
      <vt:lpstr>PowerPoint Presentation</vt:lpstr>
      <vt:lpstr>Видове SSD памет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Sasho Tsenov</dc:creator>
  <cp:lastModifiedBy>PC-0</cp:lastModifiedBy>
  <cp:revision>38</cp:revision>
  <dcterms:created xsi:type="dcterms:W3CDTF">2021-11-18T09:37:20Z</dcterms:created>
  <dcterms:modified xsi:type="dcterms:W3CDTF">2022-12-21T07:15:01Z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0x0101007DD8AC86D224184E94F76181DFAD7BE4</vt:lpwstr>
  </property>
</Properties>
</file>