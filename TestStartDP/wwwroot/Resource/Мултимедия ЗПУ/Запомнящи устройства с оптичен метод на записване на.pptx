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68" r:id="rId4"/>
    <p:sldId id="258" r:id="rId5"/>
    <p:sldId id="259" r:id="rId6"/>
    <p:sldId id="270" r:id="rId7"/>
    <p:sldId id="260" r:id="rId8"/>
    <p:sldId id="261" r:id="rId9"/>
    <p:sldId id="262" r:id="rId10"/>
    <p:sldId id="263" r:id="rId11"/>
    <p:sldId id="264" r:id="rId12"/>
    <p:sldId id="265" r:id="rId13"/>
    <p:sldId id="266" r:id="rId14"/>
    <p:sldId id="272" r:id="rId15"/>
    <p:sldId id="271" r:id="rId16"/>
    <p:sldId id="273" r:id="rId17"/>
    <p:sldId id="267" r:id="rId18"/>
    <p:sldId id="276" r:id="rId19"/>
    <p:sldId id="269" r:id="rId20"/>
    <p:sldId id="277"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6" d="100"/>
          <a:sy n="66" d="100"/>
        </p:scale>
        <p:origin x="-900" y="-27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30B9749-FECF-4491-9E9E-4412E50CFC56}" type="datetimeFigureOut">
              <a:rPr lang="bg-BG" smtClean="0"/>
              <a:t>20.12.2022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840DBC69-CD61-4B34-A52E-7E8A02B19FB6}" type="slidenum">
              <a:rPr lang="bg-BG" smtClean="0"/>
              <a:t>‹#›</a:t>
            </a:fld>
            <a:endParaRPr lang="bg-BG"/>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9506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0B9749-FECF-4491-9E9E-4412E50CFC56}" type="datetimeFigureOut">
              <a:rPr lang="bg-BG" smtClean="0"/>
              <a:t>20.12.2022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840DBC69-CD61-4B34-A52E-7E8A02B19FB6}" type="slidenum">
              <a:rPr lang="bg-BG" smtClean="0"/>
              <a:t>‹#›</a:t>
            </a:fld>
            <a:endParaRPr lang="bg-BG"/>
          </a:p>
        </p:txBody>
      </p:sp>
    </p:spTree>
    <p:extLst>
      <p:ext uri="{BB962C8B-B14F-4D97-AF65-F5344CB8AC3E}">
        <p14:creationId xmlns:p14="http://schemas.microsoft.com/office/powerpoint/2010/main" val="2643671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0B9749-FECF-4491-9E9E-4412E50CFC56}" type="datetimeFigureOut">
              <a:rPr lang="bg-BG" smtClean="0"/>
              <a:t>20.12.2022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840DBC69-CD61-4B34-A52E-7E8A02B19FB6}" type="slidenum">
              <a:rPr lang="bg-BG" smtClean="0"/>
              <a:t>‹#›</a:t>
            </a:fld>
            <a:endParaRPr lang="bg-BG"/>
          </a:p>
        </p:txBody>
      </p:sp>
    </p:spTree>
    <p:extLst>
      <p:ext uri="{BB962C8B-B14F-4D97-AF65-F5344CB8AC3E}">
        <p14:creationId xmlns:p14="http://schemas.microsoft.com/office/powerpoint/2010/main" val="2157083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30B9749-FECF-4491-9E9E-4412E50CFC56}" type="datetimeFigureOut">
              <a:rPr lang="bg-BG" smtClean="0"/>
              <a:t>20.12.2022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840DBC69-CD61-4B34-A52E-7E8A02B19FB6}" type="slidenum">
              <a:rPr lang="bg-BG" smtClean="0"/>
              <a:t>‹#›</a:t>
            </a:fld>
            <a:endParaRPr lang="bg-BG"/>
          </a:p>
        </p:txBody>
      </p:sp>
    </p:spTree>
    <p:extLst>
      <p:ext uri="{BB962C8B-B14F-4D97-AF65-F5344CB8AC3E}">
        <p14:creationId xmlns:p14="http://schemas.microsoft.com/office/powerpoint/2010/main" val="1696106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30B9749-FECF-4491-9E9E-4412E50CFC56}" type="datetimeFigureOut">
              <a:rPr lang="bg-BG" smtClean="0"/>
              <a:t>20.12.2022 г.</a:t>
            </a:fld>
            <a:endParaRPr lang="bg-BG"/>
          </a:p>
        </p:txBody>
      </p:sp>
      <p:sp>
        <p:nvSpPr>
          <p:cNvPr id="8" name="Footer Placeholder 7"/>
          <p:cNvSpPr>
            <a:spLocks noGrp="1"/>
          </p:cNvSpPr>
          <p:nvPr>
            <p:ph type="ftr" sz="quarter" idx="11"/>
          </p:nvPr>
        </p:nvSpPr>
        <p:spPr/>
        <p:txBody>
          <a:bodyPr/>
          <a:lstStyle/>
          <a:p>
            <a:endParaRPr lang="bg-BG"/>
          </a:p>
        </p:txBody>
      </p:sp>
      <p:sp>
        <p:nvSpPr>
          <p:cNvPr id="9" name="Slide Number Placeholder 8"/>
          <p:cNvSpPr>
            <a:spLocks noGrp="1"/>
          </p:cNvSpPr>
          <p:nvPr>
            <p:ph type="sldNum" sz="quarter" idx="12"/>
          </p:nvPr>
        </p:nvSpPr>
        <p:spPr/>
        <p:txBody>
          <a:bodyPr/>
          <a:lstStyle/>
          <a:p>
            <a:fld id="{840DBC69-CD61-4B34-A52E-7E8A02B19FB6}" type="slidenum">
              <a:rPr lang="bg-BG" smtClean="0"/>
              <a:t>‹#›</a:t>
            </a:fld>
            <a:endParaRPr lang="bg-BG"/>
          </a:p>
        </p:txBody>
      </p:sp>
    </p:spTree>
    <p:extLst>
      <p:ext uri="{BB962C8B-B14F-4D97-AF65-F5344CB8AC3E}">
        <p14:creationId xmlns:p14="http://schemas.microsoft.com/office/powerpoint/2010/main" val="3502090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0B9749-FECF-4491-9E9E-4412E50CFC56}" type="datetimeFigureOut">
              <a:rPr lang="bg-BG" smtClean="0"/>
              <a:t>20.12.2022 г.</a:t>
            </a:fld>
            <a:endParaRPr lang="bg-BG"/>
          </a:p>
        </p:txBody>
      </p:sp>
      <p:sp>
        <p:nvSpPr>
          <p:cNvPr id="4" name="Footer Placeholder 3"/>
          <p:cNvSpPr>
            <a:spLocks noGrp="1"/>
          </p:cNvSpPr>
          <p:nvPr>
            <p:ph type="ftr" sz="quarter" idx="11"/>
          </p:nvPr>
        </p:nvSpPr>
        <p:spPr/>
        <p:txBody>
          <a:bodyPr/>
          <a:lstStyle/>
          <a:p>
            <a:endParaRPr lang="bg-BG"/>
          </a:p>
        </p:txBody>
      </p:sp>
      <p:sp>
        <p:nvSpPr>
          <p:cNvPr id="5" name="Slide Number Placeholder 4"/>
          <p:cNvSpPr>
            <a:spLocks noGrp="1"/>
          </p:cNvSpPr>
          <p:nvPr>
            <p:ph type="sldNum" sz="quarter" idx="12"/>
          </p:nvPr>
        </p:nvSpPr>
        <p:spPr/>
        <p:txBody>
          <a:bodyPr/>
          <a:lstStyle/>
          <a:p>
            <a:fld id="{840DBC69-CD61-4B34-A52E-7E8A02B19FB6}" type="slidenum">
              <a:rPr lang="bg-BG" smtClean="0"/>
              <a:t>‹#›</a:t>
            </a:fld>
            <a:endParaRPr lang="bg-BG"/>
          </a:p>
        </p:txBody>
      </p:sp>
    </p:spTree>
    <p:extLst>
      <p:ext uri="{BB962C8B-B14F-4D97-AF65-F5344CB8AC3E}">
        <p14:creationId xmlns:p14="http://schemas.microsoft.com/office/powerpoint/2010/main" val="1641314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0B9749-FECF-4491-9E9E-4412E50CFC56}" type="datetimeFigureOut">
              <a:rPr lang="bg-BG" smtClean="0"/>
              <a:t>20.12.2022 г.</a:t>
            </a:fld>
            <a:endParaRPr lang="bg-BG"/>
          </a:p>
        </p:txBody>
      </p:sp>
      <p:sp>
        <p:nvSpPr>
          <p:cNvPr id="3" name="Footer Placeholder 2"/>
          <p:cNvSpPr>
            <a:spLocks noGrp="1"/>
          </p:cNvSpPr>
          <p:nvPr>
            <p:ph type="ftr" sz="quarter" idx="11"/>
          </p:nvPr>
        </p:nvSpPr>
        <p:spPr/>
        <p:txBody>
          <a:bodyPr/>
          <a:lstStyle/>
          <a:p>
            <a:endParaRPr lang="bg-BG"/>
          </a:p>
        </p:txBody>
      </p:sp>
      <p:sp>
        <p:nvSpPr>
          <p:cNvPr id="4" name="Slide Number Placeholder 3"/>
          <p:cNvSpPr>
            <a:spLocks noGrp="1"/>
          </p:cNvSpPr>
          <p:nvPr>
            <p:ph type="sldNum" sz="quarter" idx="12"/>
          </p:nvPr>
        </p:nvSpPr>
        <p:spPr/>
        <p:txBody>
          <a:bodyPr/>
          <a:lstStyle/>
          <a:p>
            <a:fld id="{840DBC69-CD61-4B34-A52E-7E8A02B19FB6}" type="slidenum">
              <a:rPr lang="bg-BG" smtClean="0"/>
              <a:t>‹#›</a:t>
            </a:fld>
            <a:endParaRPr lang="bg-BG"/>
          </a:p>
        </p:txBody>
      </p:sp>
    </p:spTree>
    <p:extLst>
      <p:ext uri="{BB962C8B-B14F-4D97-AF65-F5344CB8AC3E}">
        <p14:creationId xmlns:p14="http://schemas.microsoft.com/office/powerpoint/2010/main" val="586169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0B9749-FECF-4491-9E9E-4412E50CFC56}" type="datetimeFigureOut">
              <a:rPr lang="bg-BG" smtClean="0"/>
              <a:t>20.12.2022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840DBC69-CD61-4B34-A52E-7E8A02B19FB6}" type="slidenum">
              <a:rPr lang="bg-BG" smtClean="0"/>
              <a:t>‹#›</a:t>
            </a:fld>
            <a:endParaRPr lang="bg-BG"/>
          </a:p>
        </p:txBody>
      </p:sp>
    </p:spTree>
    <p:extLst>
      <p:ext uri="{BB962C8B-B14F-4D97-AF65-F5344CB8AC3E}">
        <p14:creationId xmlns:p14="http://schemas.microsoft.com/office/powerpoint/2010/main" val="154882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0B9749-FECF-4491-9E9E-4412E50CFC56}" type="datetimeFigureOut">
              <a:rPr lang="bg-BG" smtClean="0"/>
              <a:t>20.12.2022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840DBC69-CD61-4B34-A52E-7E8A02B19FB6}" type="slidenum">
              <a:rPr lang="bg-BG" smtClean="0"/>
              <a:t>‹#›</a:t>
            </a:fld>
            <a:endParaRPr lang="bg-BG"/>
          </a:p>
        </p:txBody>
      </p:sp>
    </p:spTree>
    <p:extLst>
      <p:ext uri="{BB962C8B-B14F-4D97-AF65-F5344CB8AC3E}">
        <p14:creationId xmlns:p14="http://schemas.microsoft.com/office/powerpoint/2010/main" val="2196076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D30B9749-FECF-4491-9E9E-4412E50CFC56}" type="datetimeFigureOut">
              <a:rPr lang="bg-BG" smtClean="0"/>
              <a:t>20.12.2022 г.</a:t>
            </a:fld>
            <a:endParaRPr lang="bg-BG"/>
          </a:p>
        </p:txBody>
      </p:sp>
      <p:sp>
        <p:nvSpPr>
          <p:cNvPr id="4" name="Footer Placeholder 3"/>
          <p:cNvSpPr>
            <a:spLocks noGrp="1"/>
          </p:cNvSpPr>
          <p:nvPr>
            <p:ph type="ftr" sz="quarter" idx="11"/>
          </p:nvPr>
        </p:nvSpPr>
        <p:spPr/>
        <p:txBody>
          <a:bodyPr/>
          <a:lstStyle/>
          <a:p>
            <a:endParaRPr lang="bg-BG"/>
          </a:p>
        </p:txBody>
      </p:sp>
      <p:sp>
        <p:nvSpPr>
          <p:cNvPr id="5" name="Slide Number Placeholder 4"/>
          <p:cNvSpPr>
            <a:spLocks noGrp="1"/>
          </p:cNvSpPr>
          <p:nvPr>
            <p:ph type="sldNum" sz="quarter" idx="12"/>
          </p:nvPr>
        </p:nvSpPr>
        <p:spPr/>
        <p:txBody>
          <a:bodyPr/>
          <a:lstStyle/>
          <a:p>
            <a:fld id="{840DBC69-CD61-4B34-A52E-7E8A02B19FB6}" type="slidenum">
              <a:rPr lang="bg-BG" smtClean="0"/>
              <a:t>‹#›</a:t>
            </a:fld>
            <a:endParaRPr lang="bg-BG"/>
          </a:p>
        </p:txBody>
      </p:sp>
    </p:spTree>
    <p:extLst>
      <p:ext uri="{BB962C8B-B14F-4D97-AF65-F5344CB8AC3E}">
        <p14:creationId xmlns:p14="http://schemas.microsoft.com/office/powerpoint/2010/main" val="1401162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0B9749-FECF-4491-9E9E-4412E50CFC56}" type="datetimeFigureOut">
              <a:rPr lang="bg-BG" smtClean="0"/>
              <a:t>20.12.2022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840DBC69-CD61-4B34-A52E-7E8A02B19FB6}" type="slidenum">
              <a:rPr lang="bg-BG" smtClean="0"/>
              <a:t>‹#›</a:t>
            </a:fld>
            <a:endParaRPr lang="bg-BG"/>
          </a:p>
        </p:txBody>
      </p:sp>
    </p:spTree>
    <p:extLst>
      <p:ext uri="{BB962C8B-B14F-4D97-AF65-F5344CB8AC3E}">
        <p14:creationId xmlns:p14="http://schemas.microsoft.com/office/powerpoint/2010/main" val="31909656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0B9749-FECF-4491-9E9E-4412E50CFC56}" type="datetimeFigureOut">
              <a:rPr lang="bg-BG" smtClean="0"/>
              <a:t>20.12.2022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840DBC69-CD61-4B34-A52E-7E8A02B19FB6}" type="slidenum">
              <a:rPr lang="bg-BG" smtClean="0"/>
              <a:t>‹#›</a:t>
            </a:fld>
            <a:endParaRPr lang="bg-BG"/>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4732311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0B9749-FECF-4491-9E9E-4412E50CFC56}" type="datetimeFigureOut">
              <a:rPr lang="bg-BG" smtClean="0"/>
              <a:t>20.12.2022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840DBC69-CD61-4B34-A52E-7E8A02B19FB6}" type="slidenum">
              <a:rPr lang="bg-BG" smtClean="0"/>
              <a:t>‹#›</a:t>
            </a:fld>
            <a:endParaRPr lang="bg-BG"/>
          </a:p>
        </p:txBody>
      </p:sp>
    </p:spTree>
    <p:extLst>
      <p:ext uri="{BB962C8B-B14F-4D97-AF65-F5344CB8AC3E}">
        <p14:creationId xmlns:p14="http://schemas.microsoft.com/office/powerpoint/2010/main" val="15474592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0B9749-FECF-4491-9E9E-4412E50CFC56}" type="datetimeFigureOut">
              <a:rPr lang="bg-BG" smtClean="0"/>
              <a:t>20.12.2022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840DBC69-CD61-4B34-A52E-7E8A02B19FB6}" type="slidenum">
              <a:rPr lang="bg-BG" smtClean="0"/>
              <a:t>‹#›</a:t>
            </a:fld>
            <a:endParaRPr lang="bg-BG"/>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4845538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0B9749-FECF-4491-9E9E-4412E50CFC56}" type="datetimeFigureOut">
              <a:rPr lang="bg-BG" smtClean="0"/>
              <a:t>20.12.2022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840DBC69-CD61-4B34-A52E-7E8A02B19FB6}" type="slidenum">
              <a:rPr lang="bg-BG" smtClean="0"/>
              <a:t>‹#›</a:t>
            </a:fld>
            <a:endParaRPr lang="bg-BG"/>
          </a:p>
        </p:txBody>
      </p:sp>
    </p:spTree>
    <p:extLst>
      <p:ext uri="{BB962C8B-B14F-4D97-AF65-F5344CB8AC3E}">
        <p14:creationId xmlns:p14="http://schemas.microsoft.com/office/powerpoint/2010/main" val="20976861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0B9749-FECF-4491-9E9E-4412E50CFC56}" type="datetimeFigureOut">
              <a:rPr lang="bg-BG" smtClean="0"/>
              <a:t>20.12.2022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840DBC69-CD61-4B34-A52E-7E8A02B19FB6}" type="slidenum">
              <a:rPr lang="bg-BG" smtClean="0"/>
              <a:t>‹#›</a:t>
            </a:fld>
            <a:endParaRPr lang="bg-BG"/>
          </a:p>
        </p:txBody>
      </p:sp>
    </p:spTree>
    <p:extLst>
      <p:ext uri="{BB962C8B-B14F-4D97-AF65-F5344CB8AC3E}">
        <p14:creationId xmlns:p14="http://schemas.microsoft.com/office/powerpoint/2010/main" val="32457169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0B9749-FECF-4491-9E9E-4412E50CFC56}" type="datetimeFigureOut">
              <a:rPr lang="bg-BG" smtClean="0"/>
              <a:t>20.12.2022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840DBC69-CD61-4B34-A52E-7E8A02B19FB6}" type="slidenum">
              <a:rPr lang="bg-BG" smtClean="0"/>
              <a:t>‹#›</a:t>
            </a:fld>
            <a:endParaRPr lang="bg-BG"/>
          </a:p>
        </p:txBody>
      </p:sp>
    </p:spTree>
    <p:extLst>
      <p:ext uri="{BB962C8B-B14F-4D97-AF65-F5344CB8AC3E}">
        <p14:creationId xmlns:p14="http://schemas.microsoft.com/office/powerpoint/2010/main" val="4148252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D30B9749-FECF-4491-9E9E-4412E50CFC56}" type="datetimeFigureOut">
              <a:rPr lang="bg-BG" smtClean="0"/>
              <a:t>20.12.2022 г.</a:t>
            </a:fld>
            <a:endParaRPr lang="bg-BG"/>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bg-BG"/>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840DBC69-CD61-4B34-A52E-7E8A02B19FB6}" type="slidenum">
              <a:rPr lang="bg-BG" smtClean="0"/>
              <a:t>‹#›</a:t>
            </a:fld>
            <a:endParaRPr lang="bg-BG"/>
          </a:p>
        </p:txBody>
      </p:sp>
    </p:spTree>
    <p:extLst>
      <p:ext uri="{BB962C8B-B14F-4D97-AF65-F5344CB8AC3E}">
        <p14:creationId xmlns:p14="http://schemas.microsoft.com/office/powerpoint/2010/main" val="3664919391"/>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E7116F-7EDD-488B-E060-DE3B40BAC55D}"/>
              </a:ext>
            </a:extLst>
          </p:cNvPr>
          <p:cNvSpPr>
            <a:spLocks noGrp="1"/>
          </p:cNvSpPr>
          <p:nvPr>
            <p:ph type="ctrTitle"/>
          </p:nvPr>
        </p:nvSpPr>
        <p:spPr>
          <a:xfrm>
            <a:off x="1524000" y="1378737"/>
            <a:ext cx="9144000" cy="2387600"/>
          </a:xfrm>
        </p:spPr>
        <p:txBody>
          <a:bodyPr>
            <a:normAutofit fontScale="90000"/>
          </a:bodyPr>
          <a:lstStyle/>
          <a:p>
            <a:r>
              <a:rPr lang="bg-BG" dirty="0"/>
              <a:t>Запомнящи устройства с оптичен метод на запис и четене на информация</a:t>
            </a:r>
          </a:p>
        </p:txBody>
      </p:sp>
      <p:sp>
        <p:nvSpPr>
          <p:cNvPr id="3" name="Subtitle 2">
            <a:extLst>
              <a:ext uri="{FF2B5EF4-FFF2-40B4-BE49-F238E27FC236}">
                <a16:creationId xmlns:a16="http://schemas.microsoft.com/office/drawing/2014/main" xmlns="" id="{5D3EE304-6BEB-CF7C-DDB0-78F91A82D0C2}"/>
              </a:ext>
            </a:extLst>
          </p:cNvPr>
          <p:cNvSpPr>
            <a:spLocks noGrp="1"/>
          </p:cNvSpPr>
          <p:nvPr>
            <p:ph type="subTitle" idx="1"/>
          </p:nvPr>
        </p:nvSpPr>
        <p:spPr>
          <a:xfrm>
            <a:off x="1524000" y="4183152"/>
            <a:ext cx="9144000" cy="1655762"/>
          </a:xfrm>
        </p:spPr>
        <p:txBody>
          <a:bodyPr/>
          <a:lstStyle/>
          <a:p>
            <a:endParaRPr lang="bg-BG" dirty="0"/>
          </a:p>
        </p:txBody>
      </p:sp>
    </p:spTree>
    <p:extLst>
      <p:ext uri="{BB962C8B-B14F-4D97-AF65-F5344CB8AC3E}">
        <p14:creationId xmlns:p14="http://schemas.microsoft.com/office/powerpoint/2010/main" val="39629388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253C75-99E6-E336-FF67-B79D1A3783A5}"/>
              </a:ext>
            </a:extLst>
          </p:cNvPr>
          <p:cNvSpPr>
            <a:spLocks noGrp="1"/>
          </p:cNvSpPr>
          <p:nvPr>
            <p:ph type="title"/>
          </p:nvPr>
        </p:nvSpPr>
        <p:spPr>
          <a:xfrm>
            <a:off x="1828800" y="235013"/>
            <a:ext cx="8534400" cy="1507067"/>
          </a:xfrm>
        </p:spPr>
        <p:txBody>
          <a:bodyPr/>
          <a:lstStyle/>
          <a:p>
            <a:pPr algn="ctr"/>
            <a:r>
              <a:rPr lang="ru-RU" sz="4400" b="1" i="0" dirty="0">
                <a:effectLst/>
                <a:latin typeface="Times New Roman" panose="02020603050405020304" pitchFamily="18" charset="0"/>
              </a:rPr>
              <a:t>Дефиниции и общи сведения</a:t>
            </a:r>
            <a:endParaRPr lang="bg-BG" dirty="0"/>
          </a:p>
        </p:txBody>
      </p:sp>
      <p:sp>
        <p:nvSpPr>
          <p:cNvPr id="3" name="Content Placeholder 2">
            <a:extLst>
              <a:ext uri="{FF2B5EF4-FFF2-40B4-BE49-F238E27FC236}">
                <a16:creationId xmlns:a16="http://schemas.microsoft.com/office/drawing/2014/main" xmlns="" id="{73363A21-C0B6-6A7C-3E20-157EF40ADF89}"/>
              </a:ext>
            </a:extLst>
          </p:cNvPr>
          <p:cNvSpPr>
            <a:spLocks noGrp="1"/>
          </p:cNvSpPr>
          <p:nvPr>
            <p:ph idx="1"/>
          </p:nvPr>
        </p:nvSpPr>
        <p:spPr>
          <a:xfrm>
            <a:off x="769254" y="1951966"/>
            <a:ext cx="10515600" cy="4351338"/>
          </a:xfrm>
        </p:spPr>
        <p:txBody>
          <a:bodyPr>
            <a:normAutofit lnSpcReduction="10000"/>
          </a:bodyPr>
          <a:lstStyle/>
          <a:p>
            <a:pPr marL="685800" indent="0" algn="just">
              <a:spcBef>
                <a:spcPts val="600"/>
              </a:spcBef>
              <a:spcAft>
                <a:spcPts val="0"/>
              </a:spcAft>
              <a:buNone/>
            </a:pPr>
            <a:r>
              <a:rPr lang="bg-BG" sz="1800" b="0" i="0" dirty="0">
                <a:solidFill>
                  <a:srgbClr val="000000"/>
                </a:solidFill>
                <a:effectLst/>
                <a:latin typeface="Calibri (Body)"/>
              </a:rPr>
              <a:t>Оптичните дискове се използват с цел съхранение на цифрово аудио и видео, както и други видове цифрови данни под формата на файлове. Дискът е изработен от пластмаса. Външният диаметър на диска е 120 mm или 80 mm, а диаметъра на отвора за </a:t>
            </a:r>
            <a:r>
              <a:rPr lang="bg-BG" sz="1800" b="0" i="0" dirty="0" err="1">
                <a:solidFill>
                  <a:srgbClr val="000000"/>
                </a:solidFill>
                <a:effectLst/>
                <a:latin typeface="Calibri (Body)"/>
              </a:rPr>
              <a:t>шпиндела</a:t>
            </a:r>
            <a:r>
              <a:rPr lang="bg-BG" sz="1800" b="0" i="0" dirty="0">
                <a:solidFill>
                  <a:srgbClr val="000000"/>
                </a:solidFill>
                <a:effectLst/>
                <a:latin typeface="Calibri (Body)"/>
              </a:rPr>
              <a:t> на двигателя – 15 mm. Дебелината на диска е 1.2 mm</a:t>
            </a:r>
            <a:r>
              <a:rPr lang="ru-RU" sz="1800" b="0" i="0" dirty="0">
                <a:solidFill>
                  <a:srgbClr val="000000"/>
                </a:solidFill>
                <a:effectLst/>
                <a:latin typeface="Calibri (Body)"/>
              </a:rPr>
              <a:t>.</a:t>
            </a:r>
            <a:endParaRPr lang="bg-BG" sz="1800" b="0" i="0" dirty="0">
              <a:solidFill>
                <a:srgbClr val="000000"/>
              </a:solidFill>
              <a:effectLst/>
              <a:latin typeface="Calibri (Body)"/>
            </a:endParaRPr>
          </a:p>
          <a:p>
            <a:pPr marL="685800" indent="0" algn="just">
              <a:spcBef>
                <a:spcPts val="600"/>
              </a:spcBef>
              <a:spcAft>
                <a:spcPts val="0"/>
              </a:spcAft>
              <a:buNone/>
            </a:pPr>
            <a:r>
              <a:rPr lang="bg-BG" sz="1800" b="0" i="0" dirty="0">
                <a:solidFill>
                  <a:srgbClr val="000000"/>
                </a:solidFill>
                <a:effectLst/>
                <a:latin typeface="Calibri (Body)"/>
              </a:rPr>
              <a:t>ЗУ с оптични дискове са устройствата, при които записът и четенето се извършва с помощта на лазерен лъч, прецизно фокусиран върху информационния слой за запис-четене върху дискова повърхност. </a:t>
            </a:r>
          </a:p>
          <a:p>
            <a:pPr marL="685800" indent="0" algn="just">
              <a:spcBef>
                <a:spcPts val="600"/>
              </a:spcBef>
              <a:spcAft>
                <a:spcPts val="0"/>
              </a:spcAft>
              <a:buNone/>
            </a:pPr>
            <a:r>
              <a:rPr lang="bg-BG" sz="1800" b="0" i="0" dirty="0">
                <a:solidFill>
                  <a:srgbClr val="000000"/>
                </a:solidFill>
                <a:effectLst/>
                <a:latin typeface="Calibri (Body)"/>
              </a:rPr>
              <a:t>Информацията се записва посредством маркери - с различна форма и по различни технологии- вдлъбнатини, дупки, кратери, области с различен кристалографски състав и пр., разположени по дължината на множество концентрични писти (при CD-ROM - постоянно разгъваща се спирала). Маркерите с елементарни области върху </a:t>
            </a:r>
            <a:r>
              <a:rPr lang="bg-BG" sz="1800" b="0" i="0" dirty="0" err="1">
                <a:solidFill>
                  <a:srgbClr val="000000"/>
                </a:solidFill>
                <a:effectLst/>
                <a:latin typeface="Calibri (Body)"/>
              </a:rPr>
              <a:t>работанат</a:t>
            </a:r>
            <a:r>
              <a:rPr lang="bg-BG" sz="1800" b="0" i="0" dirty="0">
                <a:solidFill>
                  <a:srgbClr val="000000"/>
                </a:solidFill>
                <a:effectLst/>
                <a:latin typeface="Calibri (Body)"/>
              </a:rPr>
              <a:t> повърхност, които в резултат на записа изменят и запазват трайно различие в оптичните си свойства спрямо чистата повърхност, най-често различна отражателна способност(влошена или разсейваща светлината на четящия лазерен лъч). По характер записът е цифров, т.е. маркерите представят цифрова кодирана информация, независимо от изходния цифров или аналогов вид на информацията по интерфейса с оптично ЗУ.</a:t>
            </a:r>
          </a:p>
          <a:p>
            <a:endParaRPr lang="bg-BG" dirty="0">
              <a:latin typeface="Calibri (Body)"/>
            </a:endParaRPr>
          </a:p>
        </p:txBody>
      </p:sp>
    </p:spTree>
    <p:extLst>
      <p:ext uri="{BB962C8B-B14F-4D97-AF65-F5344CB8AC3E}">
        <p14:creationId xmlns:p14="http://schemas.microsoft.com/office/powerpoint/2010/main" val="815787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A10BCE8-F3DA-AB96-778C-9063656A9167}"/>
              </a:ext>
            </a:extLst>
          </p:cNvPr>
          <p:cNvSpPr>
            <a:spLocks noGrp="1"/>
          </p:cNvSpPr>
          <p:nvPr>
            <p:ph type="title"/>
          </p:nvPr>
        </p:nvSpPr>
        <p:spPr>
          <a:xfrm>
            <a:off x="838200" y="-182108"/>
            <a:ext cx="10515600" cy="1325563"/>
          </a:xfrm>
        </p:spPr>
        <p:txBody>
          <a:bodyPr>
            <a:normAutofit/>
          </a:bodyPr>
          <a:lstStyle/>
          <a:p>
            <a:pPr algn="ctr"/>
            <a:r>
              <a:rPr lang="bg-BG" b="1" i="0" dirty="0">
                <a:effectLst/>
                <a:latin typeface="Times New Roman" panose="02020603050405020304" pitchFamily="18" charset="0"/>
              </a:rPr>
              <a:t>Основни физични принципи</a:t>
            </a:r>
            <a:endParaRPr lang="bg-BG" dirty="0"/>
          </a:p>
        </p:txBody>
      </p:sp>
      <p:sp>
        <p:nvSpPr>
          <p:cNvPr id="3" name="Content Placeholder 2">
            <a:extLst>
              <a:ext uri="{FF2B5EF4-FFF2-40B4-BE49-F238E27FC236}">
                <a16:creationId xmlns:a16="http://schemas.microsoft.com/office/drawing/2014/main" xmlns="" id="{2E3BA5E5-DA2B-477E-572F-0A511315A4CE}"/>
              </a:ext>
            </a:extLst>
          </p:cNvPr>
          <p:cNvSpPr>
            <a:spLocks noGrp="1"/>
          </p:cNvSpPr>
          <p:nvPr>
            <p:ph idx="1"/>
          </p:nvPr>
        </p:nvSpPr>
        <p:spPr>
          <a:xfrm>
            <a:off x="462940" y="1204663"/>
            <a:ext cx="5245649" cy="2368747"/>
          </a:xfrm>
        </p:spPr>
        <p:txBody>
          <a:bodyPr>
            <a:noAutofit/>
          </a:bodyPr>
          <a:lstStyle/>
          <a:p>
            <a:pPr algn="just"/>
            <a:r>
              <a:rPr lang="bg-BG" sz="1700" b="0" i="0" dirty="0">
                <a:solidFill>
                  <a:srgbClr val="000000"/>
                </a:solidFill>
                <a:effectLst/>
                <a:latin typeface="Times New Roman" panose="02020603050405020304" pitchFamily="18" charset="0"/>
              </a:rPr>
              <a:t>Същност на записа - излъчваната от лазера еднородна </a:t>
            </a:r>
            <a:r>
              <a:rPr lang="bg-BG" sz="1700" b="0" i="0" dirty="0" err="1">
                <a:solidFill>
                  <a:srgbClr val="000000"/>
                </a:solidFill>
                <a:effectLst/>
                <a:latin typeface="Times New Roman" panose="02020603050405020304" pitchFamily="18" charset="0"/>
              </a:rPr>
              <a:t>немодулирана</a:t>
            </a:r>
            <a:r>
              <a:rPr lang="bg-BG" sz="1700" b="0" i="0" dirty="0">
                <a:solidFill>
                  <a:srgbClr val="000000"/>
                </a:solidFill>
                <a:effectLst/>
                <a:latin typeface="Times New Roman" panose="02020603050405020304" pitchFamily="18" charset="0"/>
              </a:rPr>
              <a:t> светлина Б се модулира от информацията за запис А и се превръща в светлинен поток  С, който се фокусира за запис върху повърхността на пистата. Могат да бъдат модулирани най-различни параметри: - интензитет, периодичност, фаза, поляризация, обемни параметри. Най-съществено при оптичните запомнящи среди е свойството им надеждно да регистрират и съхраняват резултата от въздействие на модулирания лъч при записа.</a:t>
            </a:r>
            <a:endParaRPr lang="bg-BG" sz="1700" dirty="0"/>
          </a:p>
        </p:txBody>
      </p:sp>
      <p:sp>
        <p:nvSpPr>
          <p:cNvPr id="4" name="Content Placeholder 2">
            <a:extLst>
              <a:ext uri="{FF2B5EF4-FFF2-40B4-BE49-F238E27FC236}">
                <a16:creationId xmlns:a16="http://schemas.microsoft.com/office/drawing/2014/main" xmlns="" id="{59D8BDC2-B2D8-A64F-35EF-F62309430E1B}"/>
              </a:ext>
            </a:extLst>
          </p:cNvPr>
          <p:cNvSpPr txBox="1">
            <a:spLocks/>
          </p:cNvSpPr>
          <p:nvPr/>
        </p:nvSpPr>
        <p:spPr>
          <a:xfrm>
            <a:off x="462940" y="4064417"/>
            <a:ext cx="5245649" cy="24754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ru-RU" sz="1700" b="0" i="0" dirty="0">
                <a:solidFill>
                  <a:srgbClr val="000000"/>
                </a:solidFill>
                <a:effectLst/>
                <a:latin typeface="Times New Roman" panose="02020603050405020304" pitchFamily="18" charset="0"/>
              </a:rPr>
              <a:t> </a:t>
            </a:r>
            <a:r>
              <a:rPr lang="bg-BG" sz="1700" b="0" i="0" dirty="0">
                <a:solidFill>
                  <a:srgbClr val="000000"/>
                </a:solidFill>
                <a:effectLst/>
                <a:latin typeface="Times New Roman" panose="02020603050405020304" pitchFamily="18" charset="0"/>
              </a:rPr>
              <a:t>При четен върху регистриращата среда </a:t>
            </a:r>
            <a:r>
              <a:rPr lang="bg-BG" sz="1700" b="0" i="0" dirty="0" err="1">
                <a:solidFill>
                  <a:srgbClr val="000000"/>
                </a:solidFill>
                <a:effectLst/>
                <a:latin typeface="Times New Roman" panose="02020603050405020304" pitchFamily="18" charset="0"/>
              </a:rPr>
              <a:t>въздействува</a:t>
            </a:r>
            <a:r>
              <a:rPr lang="bg-BG" sz="1700" b="0" i="0" dirty="0">
                <a:solidFill>
                  <a:srgbClr val="000000"/>
                </a:solidFill>
                <a:effectLst/>
                <a:latin typeface="Times New Roman" panose="02020603050405020304" pitchFamily="18" charset="0"/>
              </a:rPr>
              <a:t> </a:t>
            </a:r>
            <a:r>
              <a:rPr lang="bg-BG" sz="1700" b="0" i="0" dirty="0" err="1">
                <a:solidFill>
                  <a:srgbClr val="000000"/>
                </a:solidFill>
                <a:effectLst/>
                <a:latin typeface="Times New Roman" panose="02020603050405020304" pitchFamily="18" charset="0"/>
              </a:rPr>
              <a:t>немодулиран</a:t>
            </a:r>
            <a:r>
              <a:rPr lang="bg-BG" sz="1700" b="0" i="0" dirty="0">
                <a:solidFill>
                  <a:srgbClr val="000000"/>
                </a:solidFill>
                <a:effectLst/>
                <a:latin typeface="Times New Roman" panose="02020603050405020304" pitchFamily="18" charset="0"/>
              </a:rPr>
              <a:t> светлинен поток А с малък интензитет, за да се избегнат нежелателни изменения в свойствата на средата(изтриване, презапис). Регистриращата среда променя някой от параметрите на отразената светлина в степен, да бъде извлечена модулираната в нея информация.</a:t>
            </a:r>
            <a:endParaRPr lang="bg-BG" sz="1700" dirty="0"/>
          </a:p>
        </p:txBody>
      </p:sp>
      <p:pic>
        <p:nvPicPr>
          <p:cNvPr id="6" name="Picture 5" descr="Text&#10;&#10;Description automatically generated with medium confidence">
            <a:extLst>
              <a:ext uri="{FF2B5EF4-FFF2-40B4-BE49-F238E27FC236}">
                <a16:creationId xmlns:a16="http://schemas.microsoft.com/office/drawing/2014/main" xmlns="" id="{121EF322-8D34-0E20-0344-6E23F173A3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58557" y="1624813"/>
            <a:ext cx="5781675" cy="1304925"/>
          </a:xfrm>
          <a:prstGeom prst="rect">
            <a:avLst/>
          </a:prstGeom>
        </p:spPr>
      </p:pic>
      <p:pic>
        <p:nvPicPr>
          <p:cNvPr id="8" name="Picture 7" descr="Icon&#10;&#10;Description automatically generated">
            <a:extLst>
              <a:ext uri="{FF2B5EF4-FFF2-40B4-BE49-F238E27FC236}">
                <a16:creationId xmlns:a16="http://schemas.microsoft.com/office/drawing/2014/main" xmlns="" id="{4872DD1E-F5C4-2B16-921C-FF9BEF0FB8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933890"/>
            <a:ext cx="5906791" cy="1533525"/>
          </a:xfrm>
          <a:prstGeom prst="rect">
            <a:avLst/>
          </a:prstGeom>
        </p:spPr>
      </p:pic>
    </p:spTree>
    <p:extLst>
      <p:ext uri="{BB962C8B-B14F-4D97-AF65-F5344CB8AC3E}">
        <p14:creationId xmlns:p14="http://schemas.microsoft.com/office/powerpoint/2010/main" val="1996020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pattFill prst="pct90">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B1A4173-3FA1-CB08-9199-2D01602DCCC4}"/>
              </a:ext>
            </a:extLst>
          </p:cNvPr>
          <p:cNvSpPr>
            <a:spLocks noGrp="1"/>
          </p:cNvSpPr>
          <p:nvPr>
            <p:ph type="title"/>
          </p:nvPr>
        </p:nvSpPr>
        <p:spPr>
          <a:xfrm>
            <a:off x="640080" y="667512"/>
            <a:ext cx="10908792" cy="1069848"/>
          </a:xfrm>
        </p:spPr>
        <p:txBody>
          <a:bodyPr vert="horz" lIns="91440" tIns="45720" rIns="91440" bIns="45720" rtlCol="0" anchor="ctr">
            <a:normAutofit/>
          </a:bodyPr>
          <a:lstStyle/>
          <a:p>
            <a:pPr algn="ctr"/>
            <a:r>
              <a:rPr lang="bg-BG" sz="5400" b="1" dirty="0">
                <a:latin typeface="Times New Roman" panose="02020603050405020304" pitchFamily="18" charset="0"/>
                <a:cs typeface="Times New Roman" panose="02020603050405020304" pitchFamily="18" charset="0"/>
              </a:rPr>
              <a:t>Класификации</a:t>
            </a:r>
          </a:p>
        </p:txBody>
      </p:sp>
      <p:sp>
        <p:nvSpPr>
          <p:cNvPr id="3" name="Content Placeholder 2">
            <a:extLst>
              <a:ext uri="{FF2B5EF4-FFF2-40B4-BE49-F238E27FC236}">
                <a16:creationId xmlns:a16="http://schemas.microsoft.com/office/drawing/2014/main" xmlns="" id="{C2152E9B-51D5-8B6A-059F-66C8362DB833}"/>
              </a:ext>
            </a:extLst>
          </p:cNvPr>
          <p:cNvSpPr>
            <a:spLocks noGrp="1"/>
          </p:cNvSpPr>
          <p:nvPr>
            <p:ph idx="1"/>
          </p:nvPr>
        </p:nvSpPr>
        <p:spPr>
          <a:xfrm>
            <a:off x="1156954" y="5514015"/>
            <a:ext cx="1798320" cy="548640"/>
          </a:xfrm>
        </p:spPr>
        <p:txBody>
          <a:bodyPr vert="horz" lIns="91440" tIns="45720" rIns="91440" bIns="45720" rtlCol="0">
            <a:normAutofit fontScale="85000" lnSpcReduction="10000"/>
          </a:bodyPr>
          <a:lstStyle/>
          <a:p>
            <a:pPr marL="0" indent="0" algn="ctr">
              <a:buNone/>
            </a:pPr>
            <a:r>
              <a:rPr lang="en-US" sz="2400" dirty="0">
                <a:solidFill>
                  <a:schemeClr val="tx1"/>
                </a:solidFill>
              </a:rPr>
              <a:t>CD </a:t>
            </a:r>
            <a:r>
              <a:rPr lang="en-US" sz="2400" dirty="0" err="1">
                <a:solidFill>
                  <a:schemeClr val="tx1"/>
                </a:solidFill>
              </a:rPr>
              <a:t>дискове</a:t>
            </a:r>
            <a:endParaRPr lang="en-US" sz="2400" dirty="0">
              <a:solidFill>
                <a:schemeClr val="tx1"/>
              </a:solidFill>
            </a:endParaRPr>
          </a:p>
        </p:txBody>
      </p:sp>
      <p:pic>
        <p:nvPicPr>
          <p:cNvPr id="37" name="Picture 36" descr="Icon&#10;&#10;Description automatically generated">
            <a:extLst>
              <a:ext uri="{FF2B5EF4-FFF2-40B4-BE49-F238E27FC236}">
                <a16:creationId xmlns:a16="http://schemas.microsoft.com/office/drawing/2014/main" xmlns="" id="{7CC8BA2F-C44F-D580-B58F-1710A7209E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6287" y="2523744"/>
            <a:ext cx="2998171" cy="2825776"/>
          </a:xfrm>
          <a:prstGeom prst="rect">
            <a:avLst/>
          </a:prstGeom>
        </p:spPr>
      </p:pic>
      <p:pic>
        <p:nvPicPr>
          <p:cNvPr id="31" name="Picture 30" descr="A picture containing electronics, compact disk&#10;&#10;Description automatically generated">
            <a:extLst>
              <a:ext uri="{FF2B5EF4-FFF2-40B4-BE49-F238E27FC236}">
                <a16:creationId xmlns:a16="http://schemas.microsoft.com/office/drawing/2014/main" xmlns="" id="{4C8EC52C-8D29-0A24-7CE1-FF12CB0805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080" y="2523744"/>
            <a:ext cx="2832069" cy="2819482"/>
          </a:xfrm>
          <a:prstGeom prst="rect">
            <a:avLst/>
          </a:prstGeom>
        </p:spPr>
      </p:pic>
      <p:pic>
        <p:nvPicPr>
          <p:cNvPr id="33" name="Picture 32" descr="A picture containing electronics, compact disk&#10;&#10;Description automatically generated">
            <a:extLst>
              <a:ext uri="{FF2B5EF4-FFF2-40B4-BE49-F238E27FC236}">
                <a16:creationId xmlns:a16="http://schemas.microsoft.com/office/drawing/2014/main" xmlns="" id="{49075C08-9537-3768-B06E-BE9959C7CC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72149" y="2517450"/>
            <a:ext cx="2832069" cy="2832069"/>
          </a:xfrm>
          <a:prstGeom prst="rect">
            <a:avLst/>
          </a:prstGeom>
        </p:spPr>
      </p:pic>
      <p:pic>
        <p:nvPicPr>
          <p:cNvPr id="35" name="Picture 34" descr="A picture containing text, electronics, compact disk&#10;&#10;Description automatically generated">
            <a:extLst>
              <a:ext uri="{FF2B5EF4-FFF2-40B4-BE49-F238E27FC236}">
                <a16:creationId xmlns:a16="http://schemas.microsoft.com/office/drawing/2014/main" xmlns="" id="{DC46B8E7-096B-1915-2D46-EC5A293C6AF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04218" y="2517450"/>
            <a:ext cx="2832069" cy="2832069"/>
          </a:xfrm>
          <a:prstGeom prst="rect">
            <a:avLst/>
          </a:prstGeom>
        </p:spPr>
      </p:pic>
      <p:sp>
        <p:nvSpPr>
          <p:cNvPr id="38" name="Content Placeholder 2">
            <a:extLst>
              <a:ext uri="{FF2B5EF4-FFF2-40B4-BE49-F238E27FC236}">
                <a16:creationId xmlns:a16="http://schemas.microsoft.com/office/drawing/2014/main" xmlns="" id="{1DCB0E17-E94A-F5F3-5284-788909D106C9}"/>
              </a:ext>
            </a:extLst>
          </p:cNvPr>
          <p:cNvSpPr txBox="1">
            <a:spLocks/>
          </p:cNvSpPr>
          <p:nvPr/>
        </p:nvSpPr>
        <p:spPr>
          <a:xfrm>
            <a:off x="3608965" y="5512966"/>
            <a:ext cx="2567008" cy="539764"/>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bg-BG" dirty="0"/>
              <a:t>DVD дискове</a:t>
            </a:r>
          </a:p>
        </p:txBody>
      </p:sp>
      <p:sp>
        <p:nvSpPr>
          <p:cNvPr id="39" name="Content Placeholder 2">
            <a:extLst>
              <a:ext uri="{FF2B5EF4-FFF2-40B4-BE49-F238E27FC236}">
                <a16:creationId xmlns:a16="http://schemas.microsoft.com/office/drawing/2014/main" xmlns="" id="{BEE6D393-07D4-1EBB-63A8-24EEA0DCCB18}"/>
              </a:ext>
            </a:extLst>
          </p:cNvPr>
          <p:cNvSpPr txBox="1">
            <a:spLocks/>
          </p:cNvSpPr>
          <p:nvPr/>
        </p:nvSpPr>
        <p:spPr>
          <a:xfrm>
            <a:off x="6435395" y="5522891"/>
            <a:ext cx="2700892" cy="539764"/>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bg-BG" dirty="0" err="1"/>
              <a:t>Bluray</a:t>
            </a:r>
            <a:r>
              <a:rPr lang="bg-BG" dirty="0"/>
              <a:t> дискове</a:t>
            </a:r>
          </a:p>
        </p:txBody>
      </p:sp>
      <p:sp>
        <p:nvSpPr>
          <p:cNvPr id="40" name="Content Placeholder 2">
            <a:extLst>
              <a:ext uri="{FF2B5EF4-FFF2-40B4-BE49-F238E27FC236}">
                <a16:creationId xmlns:a16="http://schemas.microsoft.com/office/drawing/2014/main" xmlns="" id="{E4AA603D-0B94-29B6-D075-2B10F0E7656A}"/>
              </a:ext>
            </a:extLst>
          </p:cNvPr>
          <p:cNvSpPr txBox="1">
            <a:spLocks/>
          </p:cNvSpPr>
          <p:nvPr/>
        </p:nvSpPr>
        <p:spPr>
          <a:xfrm>
            <a:off x="9321370" y="5522891"/>
            <a:ext cx="2461902" cy="539764"/>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bg-BG" dirty="0"/>
              <a:t>HVD дискове</a:t>
            </a:r>
            <a:r>
              <a:rPr lang="ru-RU" dirty="0"/>
              <a:t>.</a:t>
            </a:r>
            <a:endParaRPr lang="bg-BG" dirty="0"/>
          </a:p>
          <a:p>
            <a:pPr marL="0" indent="0">
              <a:buFont typeface="Arial" panose="020B0604020202020204" pitchFamily="34" charset="0"/>
              <a:buNone/>
            </a:pPr>
            <a:endParaRPr lang="bg-BG" dirty="0"/>
          </a:p>
        </p:txBody>
      </p:sp>
    </p:spTree>
    <p:extLst>
      <p:ext uri="{BB962C8B-B14F-4D97-AF65-F5344CB8AC3E}">
        <p14:creationId xmlns:p14="http://schemas.microsoft.com/office/powerpoint/2010/main" val="6910255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21" name="Rectangle 9">
            <a:extLst>
              <a:ext uri="{FF2B5EF4-FFF2-40B4-BE49-F238E27FC236}">
                <a16:creationId xmlns:a16="http://schemas.microsoft.com/office/drawing/2014/main" xmlns="" id="{929448D9-8F1D-4CFE-93BA-E0272F0DBD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AF4866DB-7989-A887-AEE7-3EC6BAAA4637}"/>
              </a:ext>
            </a:extLst>
          </p:cNvPr>
          <p:cNvSpPr>
            <a:spLocks noGrp="1"/>
          </p:cNvSpPr>
          <p:nvPr>
            <p:ph type="title"/>
          </p:nvPr>
        </p:nvSpPr>
        <p:spPr>
          <a:xfrm>
            <a:off x="416357" y="561444"/>
            <a:ext cx="7543800" cy="1507067"/>
          </a:xfrm>
        </p:spPr>
        <p:txBody>
          <a:bodyPr>
            <a:normAutofit/>
          </a:bodyPr>
          <a:lstStyle/>
          <a:p>
            <a:r>
              <a:rPr lang="bg-BG" b="1" dirty="0">
                <a:latin typeface="Times New Roman" panose="02020603050405020304" pitchFamily="18" charset="0"/>
                <a:cs typeface="Times New Roman" panose="02020603050405020304" pitchFamily="18" charset="0"/>
              </a:rPr>
              <a:t>Компакт дискове (</a:t>
            </a:r>
            <a:r>
              <a:rPr lang="en-US" b="1" dirty="0">
                <a:latin typeface="Times New Roman" panose="02020603050405020304" pitchFamily="18" charset="0"/>
                <a:cs typeface="Times New Roman" panose="02020603050405020304" pitchFamily="18" charset="0"/>
              </a:rPr>
              <a:t>CD)</a:t>
            </a:r>
            <a:endParaRPr lang="bg-BG"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E2B7F5A1-0F14-8FDE-F3FF-7DCC0878999C}"/>
              </a:ext>
            </a:extLst>
          </p:cNvPr>
          <p:cNvSpPr>
            <a:spLocks noGrp="1"/>
          </p:cNvSpPr>
          <p:nvPr>
            <p:ph idx="1"/>
          </p:nvPr>
        </p:nvSpPr>
        <p:spPr>
          <a:xfrm>
            <a:off x="416357" y="2068511"/>
            <a:ext cx="7493137" cy="3615267"/>
          </a:xfrm>
        </p:spPr>
        <p:txBody>
          <a:bodyPr>
            <a:normAutofit/>
          </a:bodyPr>
          <a:lstStyle/>
          <a:p>
            <a:pPr>
              <a:lnSpc>
                <a:spcPct val="90000"/>
              </a:lnSpc>
            </a:pPr>
            <a:r>
              <a:rPr lang="bg-BG" sz="1700" i="0" dirty="0">
                <a:solidFill>
                  <a:schemeClr val="bg1"/>
                </a:solidFill>
                <a:effectLst/>
                <a:latin typeface="Calibri (Body)"/>
                <a:cs typeface="Times New Roman" panose="02020603050405020304" pitchFamily="18" charset="0"/>
              </a:rPr>
              <a:t>Компактдискът (</a:t>
            </a:r>
            <a:r>
              <a:rPr lang="bg-BG" sz="1700" i="0" dirty="0" err="1">
                <a:solidFill>
                  <a:schemeClr val="bg1"/>
                </a:solidFill>
                <a:effectLst/>
                <a:latin typeface="Calibri (Body)"/>
                <a:cs typeface="Times New Roman" panose="02020603050405020304" pitchFamily="18" charset="0"/>
              </a:rPr>
              <a:t>Compact</a:t>
            </a:r>
            <a:r>
              <a:rPr lang="bg-BG" sz="1700" i="0" dirty="0">
                <a:solidFill>
                  <a:schemeClr val="bg1"/>
                </a:solidFill>
                <a:effectLst/>
                <a:latin typeface="Calibri (Body)"/>
                <a:cs typeface="Times New Roman" panose="02020603050405020304" pitchFamily="18" charset="0"/>
              </a:rPr>
              <a:t> </a:t>
            </a:r>
            <a:r>
              <a:rPr lang="bg-BG" sz="1700" i="0" dirty="0" err="1">
                <a:solidFill>
                  <a:schemeClr val="bg1"/>
                </a:solidFill>
                <a:effectLst/>
                <a:latin typeface="Calibri (Body)"/>
                <a:cs typeface="Times New Roman" panose="02020603050405020304" pitchFamily="18" charset="0"/>
              </a:rPr>
              <a:t>Disc</a:t>
            </a:r>
            <a:r>
              <a:rPr lang="bg-BG" sz="1700" i="0" dirty="0">
                <a:solidFill>
                  <a:schemeClr val="bg1"/>
                </a:solidFill>
                <a:effectLst/>
                <a:latin typeface="Calibri (Body)"/>
                <a:cs typeface="Times New Roman" panose="02020603050405020304" pitchFamily="18" charset="0"/>
              </a:rPr>
              <a:t>, CD, CD-ROM) е оптичен </a:t>
            </a:r>
            <a:r>
              <a:rPr lang="bg-BG" sz="1700" dirty="0">
                <a:solidFill>
                  <a:schemeClr val="bg1"/>
                </a:solidFill>
                <a:latin typeface="Calibri (Body)"/>
                <a:cs typeface="Times New Roman" panose="02020603050405020304" pitchFamily="18" charset="0"/>
              </a:rPr>
              <a:t>носител на информация</a:t>
            </a:r>
            <a:r>
              <a:rPr lang="bg-BG" sz="1700" i="0" dirty="0">
                <a:solidFill>
                  <a:schemeClr val="bg1"/>
                </a:solidFill>
                <a:effectLst/>
                <a:latin typeface="Calibri (Body)"/>
                <a:cs typeface="Times New Roman" panose="02020603050405020304" pitchFamily="18" charset="0"/>
              </a:rPr>
              <a:t> във вид на </a:t>
            </a:r>
            <a:r>
              <a:rPr lang="bg-BG" sz="1700" dirty="0">
                <a:solidFill>
                  <a:schemeClr val="bg1"/>
                </a:solidFill>
                <a:latin typeface="Calibri (Body)"/>
                <a:cs typeface="Times New Roman" panose="02020603050405020304" pitchFamily="18" charset="0"/>
              </a:rPr>
              <a:t>диск</a:t>
            </a:r>
            <a:r>
              <a:rPr lang="bg-BG" sz="1700" i="0" dirty="0">
                <a:solidFill>
                  <a:schemeClr val="bg1"/>
                </a:solidFill>
                <a:effectLst/>
                <a:latin typeface="Calibri (Body)"/>
                <a:cs typeface="Times New Roman" panose="02020603050405020304" pitchFamily="18" charset="0"/>
              </a:rPr>
              <a:t> с отвор в центъра, </a:t>
            </a:r>
            <a:r>
              <a:rPr lang="bg-BG" sz="1700" dirty="0">
                <a:solidFill>
                  <a:schemeClr val="bg1"/>
                </a:solidFill>
                <a:latin typeface="Calibri (Body)"/>
                <a:cs typeface="Times New Roman" panose="02020603050405020304" pitchFamily="18" charset="0"/>
              </a:rPr>
              <a:t>информацията</a:t>
            </a:r>
            <a:r>
              <a:rPr lang="bg-BG" sz="1700" i="0" dirty="0">
                <a:solidFill>
                  <a:schemeClr val="bg1"/>
                </a:solidFill>
                <a:effectLst/>
                <a:latin typeface="Calibri (Body)"/>
                <a:cs typeface="Times New Roman" panose="02020603050405020304" pitchFamily="18" charset="0"/>
              </a:rPr>
              <a:t> от който се чете с помощта на </a:t>
            </a:r>
            <a:r>
              <a:rPr lang="bg-BG" sz="1700" dirty="0">
                <a:solidFill>
                  <a:schemeClr val="bg1"/>
                </a:solidFill>
                <a:latin typeface="Calibri (Body)"/>
                <a:cs typeface="Times New Roman" panose="02020603050405020304" pitchFamily="18" charset="0"/>
              </a:rPr>
              <a:t>лазер</a:t>
            </a:r>
            <a:r>
              <a:rPr lang="bg-BG" sz="1700" i="0" dirty="0">
                <a:solidFill>
                  <a:schemeClr val="bg1"/>
                </a:solidFill>
                <a:effectLst/>
                <a:latin typeface="Calibri (Body)"/>
                <a:cs typeface="Times New Roman" panose="02020603050405020304" pitchFamily="18" charset="0"/>
              </a:rPr>
              <a:t>. Първоначално компактдискът е бил създаден за цифрово съхранение на </a:t>
            </a:r>
            <a:r>
              <a:rPr lang="bg-BG" sz="1700" dirty="0">
                <a:solidFill>
                  <a:schemeClr val="bg1"/>
                </a:solidFill>
                <a:latin typeface="Calibri (Body)"/>
                <a:cs typeface="Times New Roman" panose="02020603050405020304" pitchFamily="18" charset="0"/>
              </a:rPr>
              <a:t>звукови записи</a:t>
            </a:r>
            <a:r>
              <a:rPr lang="bg-BG" sz="1700" i="0" dirty="0">
                <a:solidFill>
                  <a:schemeClr val="bg1"/>
                </a:solidFill>
                <a:effectLst/>
                <a:latin typeface="Calibri (Body)"/>
                <a:cs typeface="Times New Roman" panose="02020603050405020304" pitchFamily="18" charset="0"/>
              </a:rPr>
              <a:t> (т. нар. CD-</a:t>
            </a:r>
            <a:r>
              <a:rPr lang="bg-BG" sz="1700" i="0" dirty="0" err="1">
                <a:solidFill>
                  <a:schemeClr val="bg1"/>
                </a:solidFill>
                <a:effectLst/>
                <a:latin typeface="Calibri (Body)"/>
                <a:cs typeface="Times New Roman" panose="02020603050405020304" pitchFamily="18" charset="0"/>
              </a:rPr>
              <a:t>Digital</a:t>
            </a:r>
            <a:r>
              <a:rPr lang="bg-BG" sz="1700" i="0" dirty="0">
                <a:solidFill>
                  <a:schemeClr val="bg1"/>
                </a:solidFill>
                <a:effectLst/>
                <a:latin typeface="Calibri (Body)"/>
                <a:cs typeface="Times New Roman" panose="02020603050405020304" pitchFamily="18" charset="0"/>
              </a:rPr>
              <a:t> </a:t>
            </a:r>
            <a:r>
              <a:rPr lang="bg-BG" sz="1700" i="0" dirty="0" err="1">
                <a:solidFill>
                  <a:schemeClr val="bg1"/>
                </a:solidFill>
                <a:effectLst/>
                <a:latin typeface="Calibri (Body)"/>
                <a:cs typeface="Times New Roman" panose="02020603050405020304" pitchFamily="18" charset="0"/>
              </a:rPr>
              <a:t>Audio</a:t>
            </a:r>
            <a:r>
              <a:rPr lang="bg-BG" sz="1700" i="0" dirty="0">
                <a:solidFill>
                  <a:schemeClr val="bg1"/>
                </a:solidFill>
                <a:effectLst/>
                <a:latin typeface="Calibri (Body)"/>
                <a:cs typeface="Times New Roman" panose="02020603050405020304" pitchFamily="18" charset="0"/>
              </a:rPr>
              <a:t> или CD-DA), обаче в днешно време той широко се използва като устройство за съхранение на данни с широко предназначение (т. нар. CD-ROM). Аудио компактдисковете по формат се различават от компактдисковете с данни и обикновено </a:t>
            </a:r>
            <a:r>
              <a:rPr lang="bg-BG" sz="1700" dirty="0">
                <a:solidFill>
                  <a:schemeClr val="bg1"/>
                </a:solidFill>
                <a:latin typeface="Calibri (Body)"/>
                <a:cs typeface="Times New Roman" panose="02020603050405020304" pitchFamily="18" charset="0"/>
              </a:rPr>
              <a:t>CD-плейърите</a:t>
            </a:r>
            <a:r>
              <a:rPr lang="bg-BG" sz="1700" i="0" dirty="0">
                <a:solidFill>
                  <a:schemeClr val="bg1"/>
                </a:solidFill>
                <a:effectLst/>
                <a:latin typeface="Calibri (Body)"/>
                <a:cs typeface="Times New Roman" panose="02020603050405020304" pitchFamily="18" charset="0"/>
              </a:rPr>
              <a:t> могат да възпроизвеждат само тях (на компютър може да се четат и двата вида дискове). Срещат се дискове, съдържащи както </a:t>
            </a:r>
            <a:r>
              <a:rPr lang="bg-BG" sz="1700" i="0" dirty="0" err="1">
                <a:solidFill>
                  <a:schemeClr val="bg1"/>
                </a:solidFill>
                <a:effectLst/>
                <a:latin typeface="Calibri (Body)"/>
                <a:cs typeface="Times New Roman" panose="02020603050405020304" pitchFamily="18" charset="0"/>
              </a:rPr>
              <a:t>аудиоинформация</a:t>
            </a:r>
            <a:r>
              <a:rPr lang="bg-BG" sz="1700" i="0" dirty="0">
                <a:solidFill>
                  <a:schemeClr val="bg1"/>
                </a:solidFill>
                <a:effectLst/>
                <a:latin typeface="Calibri (Body)"/>
                <a:cs typeface="Times New Roman" panose="02020603050405020304" pitchFamily="18" charset="0"/>
              </a:rPr>
              <a:t>, така и данни – те могат както да се прослушват на CD-плейър, така и да се четат на компютър. С появата на </a:t>
            </a:r>
            <a:r>
              <a:rPr lang="bg-BG" sz="1700" dirty="0">
                <a:solidFill>
                  <a:schemeClr val="bg1"/>
                </a:solidFill>
                <a:latin typeface="Calibri (Body)"/>
                <a:cs typeface="Times New Roman" panose="02020603050405020304" pitchFamily="18" charset="0"/>
              </a:rPr>
              <a:t>mp3</a:t>
            </a:r>
            <a:r>
              <a:rPr lang="bg-BG" sz="1700" i="0" dirty="0">
                <a:solidFill>
                  <a:schemeClr val="bg1"/>
                </a:solidFill>
                <a:effectLst/>
                <a:latin typeface="Calibri (Body)"/>
                <a:cs typeface="Times New Roman" panose="02020603050405020304" pitchFamily="18" charset="0"/>
              </a:rPr>
              <a:t> формата производителите на битови CD-плейъри и </a:t>
            </a:r>
            <a:r>
              <a:rPr lang="bg-BG" sz="1700" dirty="0">
                <a:solidFill>
                  <a:schemeClr val="bg1"/>
                </a:solidFill>
                <a:latin typeface="Calibri (Body)"/>
                <a:cs typeface="Times New Roman" panose="02020603050405020304" pitchFamily="18" charset="0"/>
              </a:rPr>
              <a:t>музикални уредби</a:t>
            </a:r>
            <a:r>
              <a:rPr lang="bg-BG" sz="1700" i="0" dirty="0">
                <a:solidFill>
                  <a:schemeClr val="bg1"/>
                </a:solidFill>
                <a:effectLst/>
                <a:latin typeface="Calibri (Body)"/>
                <a:cs typeface="Times New Roman" panose="02020603050405020304" pitchFamily="18" charset="0"/>
              </a:rPr>
              <a:t> започват да ги снабдяват с възможността да четат и mp3-файлове от CD-ROM.</a:t>
            </a:r>
          </a:p>
        </p:txBody>
      </p:sp>
      <p:pic>
        <p:nvPicPr>
          <p:cNvPr id="5" name="Picture 4" descr="A picture containing compact disk, electronics, pinwheel&#10;&#10;Description automatically generated">
            <a:extLst>
              <a:ext uri="{FF2B5EF4-FFF2-40B4-BE49-F238E27FC236}">
                <a16:creationId xmlns:a16="http://schemas.microsoft.com/office/drawing/2014/main" xmlns="" id="{BB7C8670-0420-D08E-19A1-42589F7EB634}"/>
              </a:ext>
            </a:extLst>
          </p:cNvPr>
          <p:cNvPicPr>
            <a:picLocks noChangeAspect="1"/>
          </p:cNvPicPr>
          <p:nvPr/>
        </p:nvPicPr>
        <p:blipFill rotWithShape="1">
          <a:blip r:embed="rId2">
            <a:extLst>
              <a:ext uri="{28A0092B-C50C-407E-A947-70E740481C1C}">
                <a14:useLocalDpi xmlns:a14="http://schemas.microsoft.com/office/drawing/2010/main" val="0"/>
              </a:ext>
            </a:extLst>
          </a:blip>
          <a:srcRect l="31661" r="33313" b="-1"/>
          <a:stretch/>
        </p:blipFill>
        <p:spPr>
          <a:xfrm>
            <a:off x="8820603" y="10"/>
            <a:ext cx="3371397" cy="6857990"/>
          </a:xfrm>
          <a:prstGeom prst="rect">
            <a:avLst/>
          </a:prstGeom>
          <a:effectLst>
            <a:innerShdw blurRad="57150" dist="38100" dir="14460000">
              <a:prstClr val="black">
                <a:alpha val="70000"/>
              </a:prstClr>
            </a:innerShdw>
          </a:effectLst>
        </p:spPr>
      </p:pic>
      <p:grpSp>
        <p:nvGrpSpPr>
          <p:cNvPr id="22" name="Group 11">
            <a:extLst>
              <a:ext uri="{FF2B5EF4-FFF2-40B4-BE49-F238E27FC236}">
                <a16:creationId xmlns:a16="http://schemas.microsoft.com/office/drawing/2014/main" xmlns="" id="{94749DEA-AC6C-4834-A330-03A1796B8929}"/>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9206969" y="2963333"/>
            <a:ext cx="2981858" cy="3208867"/>
            <a:chOff x="9206969" y="2963333"/>
            <a:chExt cx="2981858" cy="3208867"/>
          </a:xfrm>
        </p:grpSpPr>
        <p:cxnSp>
          <p:nvCxnSpPr>
            <p:cNvPr id="13" name="Straight Connector 12">
              <a:extLst>
                <a:ext uri="{FF2B5EF4-FFF2-40B4-BE49-F238E27FC236}">
                  <a16:creationId xmlns:a16="http://schemas.microsoft.com/office/drawing/2014/main" xmlns="" id="{20CBC5D1-BAF0-454E-9D7C-68370AA9545E}"/>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13">
              <a:extLst>
                <a:ext uri="{FF2B5EF4-FFF2-40B4-BE49-F238E27FC236}">
                  <a16:creationId xmlns:a16="http://schemas.microsoft.com/office/drawing/2014/main" xmlns="" id="{8ABB9F45-32F7-4915-A94F-F1E34B32DEDC}"/>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xmlns="" id="{94EA6F09-00FD-4C50-A2DF-D0B1CC4C9AB1}"/>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xmlns="" id="{4B8B975B-2618-4734-A401-FAB74519010B}"/>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xmlns="" id="{4EF4B123-0577-4F10-986B-6BD86396ABBE}"/>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700906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E9148A-7BF8-4081-1743-6C85502C6E6C}"/>
              </a:ext>
            </a:extLst>
          </p:cNvPr>
          <p:cNvSpPr>
            <a:spLocks noGrp="1"/>
          </p:cNvSpPr>
          <p:nvPr>
            <p:ph type="title"/>
          </p:nvPr>
        </p:nvSpPr>
        <p:spPr>
          <a:xfrm>
            <a:off x="1533958" y="185497"/>
            <a:ext cx="8534400" cy="1507067"/>
          </a:xfrm>
        </p:spPr>
        <p:txBody>
          <a:bodyPr/>
          <a:lstStyle/>
          <a:p>
            <a:pPr algn="ctr"/>
            <a:r>
              <a:rPr lang="bg-BG" b="1" dirty="0">
                <a:latin typeface="Times New Roman" panose="02020603050405020304" pitchFamily="18" charset="0"/>
                <a:cs typeface="Times New Roman" panose="02020603050405020304" pitchFamily="18" charset="0"/>
              </a:rPr>
              <a:t>Как работи </a:t>
            </a:r>
            <a:r>
              <a:rPr lang="en-US" b="1" dirty="0">
                <a:latin typeface="Times New Roman" panose="02020603050405020304" pitchFamily="18" charset="0"/>
                <a:cs typeface="Times New Roman" panose="02020603050405020304" pitchFamily="18" charset="0"/>
              </a:rPr>
              <a:t>CD </a:t>
            </a:r>
            <a:r>
              <a:rPr lang="bg-BG" b="1" dirty="0">
                <a:latin typeface="Times New Roman" panose="02020603050405020304" pitchFamily="18" charset="0"/>
                <a:cs typeface="Times New Roman" panose="02020603050405020304" pitchFamily="18" charset="0"/>
              </a:rPr>
              <a:t>дискът </a:t>
            </a:r>
          </a:p>
        </p:txBody>
      </p:sp>
      <p:sp>
        <p:nvSpPr>
          <p:cNvPr id="3" name="Content Placeholder 2">
            <a:extLst>
              <a:ext uri="{FF2B5EF4-FFF2-40B4-BE49-F238E27FC236}">
                <a16:creationId xmlns:a16="http://schemas.microsoft.com/office/drawing/2014/main" xmlns="" id="{10BC0158-8DAF-427B-E57B-191AE24B1E08}"/>
              </a:ext>
            </a:extLst>
          </p:cNvPr>
          <p:cNvSpPr>
            <a:spLocks noGrp="1"/>
          </p:cNvSpPr>
          <p:nvPr>
            <p:ph idx="1"/>
          </p:nvPr>
        </p:nvSpPr>
        <p:spPr>
          <a:xfrm>
            <a:off x="979774" y="1692564"/>
            <a:ext cx="10066916" cy="4606635"/>
          </a:xfrm>
        </p:spPr>
        <p:txBody>
          <a:bodyPr>
            <a:normAutofit fontScale="92500" lnSpcReduction="20000"/>
          </a:bodyPr>
          <a:lstStyle/>
          <a:p>
            <a:pPr algn="just"/>
            <a:r>
              <a:rPr lang="bg-BG" i="0" dirty="0">
                <a:solidFill>
                  <a:schemeClr val="bg1"/>
                </a:solidFill>
                <a:effectLst/>
                <a:latin typeface="Calibri (Body)"/>
                <a:cs typeface="Times New Roman" panose="02020603050405020304" pitchFamily="18" charset="0"/>
              </a:rPr>
              <a:t>Информацията се записва на диска във вид на </a:t>
            </a:r>
            <a:r>
              <a:rPr lang="bg-BG" dirty="0">
                <a:solidFill>
                  <a:schemeClr val="bg1"/>
                </a:solidFill>
                <a:latin typeface="Calibri (Body)"/>
                <a:cs typeface="Times New Roman" panose="02020603050405020304" pitchFamily="18" charset="0"/>
              </a:rPr>
              <a:t>спирална</a:t>
            </a:r>
            <a:r>
              <a:rPr lang="bg-BG" i="0" dirty="0">
                <a:solidFill>
                  <a:schemeClr val="bg1"/>
                </a:solidFill>
                <a:effectLst/>
                <a:latin typeface="Calibri (Body)"/>
                <a:cs typeface="Times New Roman" panose="02020603050405020304" pitchFamily="18" charset="0"/>
              </a:rPr>
              <a:t> пътечка чрез т. нар. </a:t>
            </a:r>
            <a:r>
              <a:rPr lang="bg-BG" i="0" dirty="0" err="1">
                <a:solidFill>
                  <a:schemeClr val="bg1"/>
                </a:solidFill>
                <a:effectLst/>
                <a:latin typeface="Calibri (Body)"/>
                <a:cs typeface="Times New Roman" panose="02020603050405020304" pitchFamily="18" charset="0"/>
              </a:rPr>
              <a:t>питове</a:t>
            </a:r>
            <a:r>
              <a:rPr lang="bg-BG" i="0" dirty="0">
                <a:solidFill>
                  <a:schemeClr val="bg1"/>
                </a:solidFill>
                <a:effectLst/>
                <a:latin typeface="Calibri (Body)"/>
                <a:cs typeface="Times New Roman" panose="02020603050405020304" pitchFamily="18" charset="0"/>
              </a:rPr>
              <a:t> (</a:t>
            </a:r>
            <a:r>
              <a:rPr lang="bg-BG" i="0" dirty="0" err="1">
                <a:solidFill>
                  <a:schemeClr val="bg1"/>
                </a:solidFill>
                <a:effectLst/>
                <a:latin typeface="Calibri (Body)"/>
                <a:cs typeface="Times New Roman" panose="02020603050405020304" pitchFamily="18" charset="0"/>
              </a:rPr>
              <a:t>ямички</a:t>
            </a:r>
            <a:r>
              <a:rPr lang="bg-BG" i="0" dirty="0">
                <a:solidFill>
                  <a:schemeClr val="bg1"/>
                </a:solidFill>
                <a:effectLst/>
                <a:latin typeface="Calibri (Body)"/>
                <a:cs typeface="Times New Roman" panose="02020603050405020304" pitchFamily="18" charset="0"/>
              </a:rPr>
              <a:t>, вдлъбнатини), издълбавани в </a:t>
            </a:r>
            <a:r>
              <a:rPr lang="bg-BG" i="0" dirty="0" err="1">
                <a:solidFill>
                  <a:schemeClr val="bg1"/>
                </a:solidFill>
                <a:effectLst/>
                <a:latin typeface="Calibri (Body)"/>
                <a:cs typeface="Times New Roman" panose="02020603050405020304" pitchFamily="18" charset="0"/>
              </a:rPr>
              <a:t>поликарбонатния</a:t>
            </a:r>
            <a:r>
              <a:rPr lang="bg-BG" i="0" dirty="0">
                <a:solidFill>
                  <a:schemeClr val="bg1"/>
                </a:solidFill>
                <a:effectLst/>
                <a:latin typeface="Calibri (Body)"/>
                <a:cs typeface="Times New Roman" panose="02020603050405020304" pitchFamily="18" charset="0"/>
              </a:rPr>
              <a:t> слой. Всеки пит е с около 125 </a:t>
            </a:r>
            <a:r>
              <a:rPr lang="bg-BG" dirty="0" err="1">
                <a:solidFill>
                  <a:schemeClr val="bg1"/>
                </a:solidFill>
                <a:latin typeface="Calibri (Body)"/>
                <a:cs typeface="Times New Roman" panose="02020603050405020304" pitchFamily="18" charset="0"/>
              </a:rPr>
              <a:t>nm</a:t>
            </a:r>
            <a:r>
              <a:rPr lang="bg-BG" i="0" dirty="0">
                <a:solidFill>
                  <a:schemeClr val="bg1"/>
                </a:solidFill>
                <a:effectLst/>
                <a:latin typeface="Calibri (Body)"/>
                <a:cs typeface="Times New Roman" panose="02020603050405020304" pitchFamily="18" charset="0"/>
              </a:rPr>
              <a:t> дълбочина и 500 </a:t>
            </a:r>
            <a:r>
              <a:rPr lang="bg-BG" i="0" dirty="0" err="1">
                <a:solidFill>
                  <a:schemeClr val="bg1"/>
                </a:solidFill>
                <a:effectLst/>
                <a:latin typeface="Calibri (Body)"/>
                <a:cs typeface="Times New Roman" panose="02020603050405020304" pitchFamily="18" charset="0"/>
              </a:rPr>
              <a:t>nm</a:t>
            </a:r>
            <a:r>
              <a:rPr lang="bg-BG" i="0" dirty="0">
                <a:solidFill>
                  <a:schemeClr val="bg1"/>
                </a:solidFill>
                <a:effectLst/>
                <a:latin typeface="Calibri (Body)"/>
                <a:cs typeface="Times New Roman" panose="02020603050405020304" pitchFamily="18" charset="0"/>
              </a:rPr>
              <a:t> широчина, а дължината му варира от 850 </a:t>
            </a:r>
            <a:r>
              <a:rPr lang="bg-BG" i="0" dirty="0" err="1">
                <a:solidFill>
                  <a:schemeClr val="bg1"/>
                </a:solidFill>
                <a:effectLst/>
                <a:latin typeface="Calibri (Body)"/>
                <a:cs typeface="Times New Roman" panose="02020603050405020304" pitchFamily="18" charset="0"/>
              </a:rPr>
              <a:t>nm</a:t>
            </a:r>
            <a:r>
              <a:rPr lang="bg-BG" i="0" dirty="0">
                <a:solidFill>
                  <a:schemeClr val="bg1"/>
                </a:solidFill>
                <a:effectLst/>
                <a:latin typeface="Calibri (Body)"/>
                <a:cs typeface="Times New Roman" panose="02020603050405020304" pitchFamily="18" charset="0"/>
              </a:rPr>
              <a:t> до 3,5 </a:t>
            </a:r>
            <a:r>
              <a:rPr lang="bg-BG" dirty="0">
                <a:solidFill>
                  <a:schemeClr val="bg1"/>
                </a:solidFill>
                <a:latin typeface="Calibri (Body)"/>
                <a:cs typeface="Times New Roman" panose="02020603050405020304" pitchFamily="18" charset="0"/>
              </a:rPr>
              <a:t>µm</a:t>
            </a:r>
            <a:r>
              <a:rPr lang="bg-BG" i="0" dirty="0">
                <a:solidFill>
                  <a:schemeClr val="bg1"/>
                </a:solidFill>
                <a:effectLst/>
                <a:latin typeface="Calibri (Body)"/>
                <a:cs typeface="Times New Roman" panose="02020603050405020304" pitchFamily="18" charset="0"/>
              </a:rPr>
              <a:t>. Разстоянието между съседните пътечки на спиралата по стандарт се допуска да варира от 1,5 до 1,7 микрона. При аудио CD може да се срещне пълната гама 1,5 – 1,7 µm, докато при 74-минутния </a:t>
            </a:r>
            <a:r>
              <a:rPr lang="bg-BG" dirty="0">
                <a:solidFill>
                  <a:schemeClr val="bg1"/>
                </a:solidFill>
                <a:latin typeface="Calibri (Body)"/>
                <a:cs typeface="Times New Roman" panose="02020603050405020304" pitchFamily="18" charset="0"/>
              </a:rPr>
              <a:t>CD-R</a:t>
            </a:r>
            <a:r>
              <a:rPr lang="bg-BG" i="0" dirty="0">
                <a:solidFill>
                  <a:schemeClr val="bg1"/>
                </a:solidFill>
                <a:effectLst/>
                <a:latin typeface="Calibri (Body)"/>
                <a:cs typeface="Times New Roman" panose="02020603050405020304" pitchFamily="18" charset="0"/>
              </a:rPr>
              <a:t> то е 1,6 µm, а при 80 минутния CD-R – 1,5 µm.</a:t>
            </a:r>
          </a:p>
          <a:p>
            <a:pPr algn="just"/>
            <a:r>
              <a:rPr lang="bg-BG" i="0" dirty="0">
                <a:solidFill>
                  <a:schemeClr val="bg1"/>
                </a:solidFill>
                <a:effectLst/>
                <a:latin typeface="Calibri (Body)"/>
                <a:cs typeface="Times New Roman" panose="02020603050405020304" pitchFamily="18" charset="0"/>
              </a:rPr>
              <a:t>Данните от диска се четат с помощта на </a:t>
            </a:r>
            <a:r>
              <a:rPr lang="bg-BG" dirty="0">
                <a:solidFill>
                  <a:schemeClr val="bg1"/>
                </a:solidFill>
                <a:latin typeface="Calibri (Body)"/>
                <a:cs typeface="Times New Roman" panose="02020603050405020304" pitchFamily="18" charset="0"/>
              </a:rPr>
              <a:t>лазерен</a:t>
            </a:r>
            <a:r>
              <a:rPr lang="bg-BG" i="0" dirty="0">
                <a:solidFill>
                  <a:schemeClr val="bg1"/>
                </a:solidFill>
                <a:effectLst/>
                <a:latin typeface="Calibri (Body)"/>
                <a:cs typeface="Times New Roman" panose="02020603050405020304" pitchFamily="18" charset="0"/>
              </a:rPr>
              <a:t> лъч с </a:t>
            </a:r>
            <a:r>
              <a:rPr lang="bg-BG" dirty="0">
                <a:solidFill>
                  <a:schemeClr val="bg1"/>
                </a:solidFill>
                <a:latin typeface="Calibri (Body)"/>
                <a:cs typeface="Times New Roman" panose="02020603050405020304" pitchFamily="18" charset="0"/>
              </a:rPr>
              <a:t>дължина на вълната</a:t>
            </a:r>
            <a:r>
              <a:rPr lang="bg-BG" i="0" dirty="0">
                <a:solidFill>
                  <a:schemeClr val="bg1"/>
                </a:solidFill>
                <a:effectLst/>
                <a:latin typeface="Calibri (Body)"/>
                <a:cs typeface="Times New Roman" panose="02020603050405020304" pitchFamily="18" charset="0"/>
              </a:rPr>
              <a:t> 780 </a:t>
            </a:r>
            <a:r>
              <a:rPr lang="bg-BG" i="0" dirty="0" err="1">
                <a:solidFill>
                  <a:schemeClr val="bg1"/>
                </a:solidFill>
                <a:effectLst/>
                <a:latin typeface="Calibri (Body)"/>
                <a:cs typeface="Times New Roman" panose="02020603050405020304" pitchFamily="18" charset="0"/>
              </a:rPr>
              <a:t>nm</a:t>
            </a:r>
            <a:r>
              <a:rPr lang="bg-BG" i="0" dirty="0">
                <a:solidFill>
                  <a:schemeClr val="bg1"/>
                </a:solidFill>
                <a:effectLst/>
                <a:latin typeface="Calibri (Body)"/>
                <a:cs typeface="Times New Roman" panose="02020603050405020304" pitchFamily="18" charset="0"/>
              </a:rPr>
              <a:t>, който минава през </a:t>
            </a:r>
            <a:r>
              <a:rPr lang="bg-BG" i="0" dirty="0" err="1">
                <a:solidFill>
                  <a:schemeClr val="bg1"/>
                </a:solidFill>
                <a:effectLst/>
                <a:latin typeface="Calibri (Body)"/>
                <a:cs typeface="Times New Roman" panose="02020603050405020304" pitchFamily="18" charset="0"/>
              </a:rPr>
              <a:t>поликарбонатния</a:t>
            </a:r>
            <a:r>
              <a:rPr lang="bg-BG" i="0" dirty="0">
                <a:solidFill>
                  <a:schemeClr val="bg1"/>
                </a:solidFill>
                <a:effectLst/>
                <a:latin typeface="Calibri (Body)"/>
                <a:cs typeface="Times New Roman" panose="02020603050405020304" pitchFamily="18" charset="0"/>
              </a:rPr>
              <a:t> слой, отразява се от алуминиевото покритие и се улавя от </a:t>
            </a:r>
            <a:r>
              <a:rPr lang="bg-BG" dirty="0" err="1">
                <a:solidFill>
                  <a:schemeClr val="bg1"/>
                </a:solidFill>
                <a:latin typeface="Calibri (Body)"/>
                <a:cs typeface="Times New Roman" panose="02020603050405020304" pitchFamily="18" charset="0"/>
              </a:rPr>
              <a:t>фотодиод</a:t>
            </a:r>
            <a:r>
              <a:rPr lang="bg-BG" i="0" dirty="0">
                <a:solidFill>
                  <a:schemeClr val="bg1"/>
                </a:solidFill>
                <a:effectLst/>
                <a:latin typeface="Calibri (Body)"/>
                <a:cs typeface="Times New Roman" panose="02020603050405020304" pitchFamily="18" charset="0"/>
              </a:rPr>
              <a:t>. Лъчът на лазера образува върху отражателния слой петно с диаметър около 1,5 µm. Тъй като дискът се чете от долната страна, всеки пит изглежда за лазера като възвишение. Местата, където такива възвишения отсъстват, се наричат площадки (</a:t>
            </a:r>
            <a:r>
              <a:rPr lang="bg-BG" i="0" dirty="0" err="1">
                <a:solidFill>
                  <a:schemeClr val="bg1"/>
                </a:solidFill>
                <a:effectLst/>
                <a:latin typeface="Calibri (Body)"/>
                <a:cs typeface="Times New Roman" panose="02020603050405020304" pitchFamily="18" charset="0"/>
              </a:rPr>
              <a:t>land</a:t>
            </a:r>
            <a:r>
              <a:rPr lang="bg-BG" i="0" dirty="0">
                <a:solidFill>
                  <a:schemeClr val="bg1"/>
                </a:solidFill>
                <a:effectLst/>
                <a:latin typeface="Calibri (Body)"/>
                <a:cs typeface="Times New Roman" panose="02020603050405020304" pitchFamily="18" charset="0"/>
              </a:rPr>
              <a:t>).</a:t>
            </a:r>
          </a:p>
          <a:p>
            <a:pPr algn="just"/>
            <a:r>
              <a:rPr lang="bg-BG" i="0" dirty="0">
                <a:solidFill>
                  <a:schemeClr val="bg1"/>
                </a:solidFill>
                <a:effectLst/>
                <a:latin typeface="Calibri (Body)"/>
                <a:cs typeface="Times New Roman" panose="02020603050405020304" pitchFamily="18" charset="0"/>
              </a:rPr>
              <a:t>Светлината от лазера, попаднала на площадка, се </a:t>
            </a:r>
            <a:r>
              <a:rPr lang="bg-BG" dirty="0">
                <a:solidFill>
                  <a:schemeClr val="bg1"/>
                </a:solidFill>
                <a:latin typeface="Calibri (Body)"/>
                <a:cs typeface="Times New Roman" panose="02020603050405020304" pitchFamily="18" charset="0"/>
              </a:rPr>
              <a:t>отразява</a:t>
            </a:r>
            <a:r>
              <a:rPr lang="bg-BG" i="0" dirty="0">
                <a:solidFill>
                  <a:schemeClr val="bg1"/>
                </a:solidFill>
                <a:effectLst/>
                <a:latin typeface="Calibri (Body)"/>
                <a:cs typeface="Times New Roman" panose="02020603050405020304" pitchFamily="18" charset="0"/>
              </a:rPr>
              <a:t> и се регистрира от </a:t>
            </a:r>
            <a:r>
              <a:rPr lang="bg-BG" i="0" dirty="0" err="1">
                <a:solidFill>
                  <a:schemeClr val="bg1"/>
                </a:solidFill>
                <a:effectLst/>
                <a:latin typeface="Calibri (Body)"/>
                <a:cs typeface="Times New Roman" panose="02020603050405020304" pitchFamily="18" charset="0"/>
              </a:rPr>
              <a:t>фотодиода</a:t>
            </a:r>
            <a:r>
              <a:rPr lang="bg-BG" i="0" dirty="0">
                <a:solidFill>
                  <a:schemeClr val="bg1"/>
                </a:solidFill>
                <a:effectLst/>
                <a:latin typeface="Calibri (Body)"/>
                <a:cs typeface="Times New Roman" panose="02020603050405020304" pitchFamily="18" charset="0"/>
              </a:rPr>
              <a:t>. Ако светлината попадне на възвишение, тя претърпява </a:t>
            </a:r>
            <a:r>
              <a:rPr lang="bg-BG" dirty="0">
                <a:solidFill>
                  <a:schemeClr val="bg1"/>
                </a:solidFill>
                <a:latin typeface="Calibri (Body)"/>
                <a:cs typeface="Times New Roman" panose="02020603050405020304" pitchFamily="18" charset="0"/>
              </a:rPr>
              <a:t>интерференция</a:t>
            </a:r>
            <a:r>
              <a:rPr lang="bg-BG" i="0" dirty="0">
                <a:solidFill>
                  <a:schemeClr val="bg1"/>
                </a:solidFill>
                <a:effectLst/>
                <a:latin typeface="Calibri (Body)"/>
                <a:cs typeface="Times New Roman" panose="02020603050405020304" pitchFamily="18" charset="0"/>
              </a:rPr>
              <a:t> със светлината, отразена от площадката около възвишението и не се отразява. Този ефект се получава вследствие на факта, че височината на всяко възвишение е равна на една четвърт от </a:t>
            </a:r>
            <a:r>
              <a:rPr lang="bg-BG" dirty="0">
                <a:solidFill>
                  <a:schemeClr val="bg1"/>
                </a:solidFill>
                <a:latin typeface="Calibri (Body)"/>
                <a:cs typeface="Times New Roman" panose="02020603050405020304" pitchFamily="18" charset="0"/>
              </a:rPr>
              <a:t>дължината на вълната</a:t>
            </a:r>
            <a:r>
              <a:rPr lang="bg-BG" i="0" dirty="0">
                <a:solidFill>
                  <a:schemeClr val="bg1"/>
                </a:solidFill>
                <a:effectLst/>
                <a:latin typeface="Calibri (Body)"/>
                <a:cs typeface="Times New Roman" panose="02020603050405020304" pitchFamily="18" charset="0"/>
              </a:rPr>
              <a:t> на светлината на лазера, което води до разлика във </a:t>
            </a:r>
            <a:r>
              <a:rPr lang="bg-BG" dirty="0">
                <a:solidFill>
                  <a:schemeClr val="bg1"/>
                </a:solidFill>
                <a:latin typeface="Calibri (Body)"/>
                <a:cs typeface="Times New Roman" panose="02020603050405020304" pitchFamily="18" charset="0"/>
              </a:rPr>
              <a:t>фазите</a:t>
            </a:r>
            <a:r>
              <a:rPr lang="bg-BG" i="0" dirty="0">
                <a:solidFill>
                  <a:schemeClr val="bg1"/>
                </a:solidFill>
                <a:effectLst/>
                <a:latin typeface="Calibri (Body)"/>
                <a:cs typeface="Times New Roman" panose="02020603050405020304" pitchFamily="18" charset="0"/>
              </a:rPr>
              <a:t>, равна на половината от дължината на вълната, между светлината, отразена от площадката, и светлината, отразена от възвишението.</a:t>
            </a:r>
          </a:p>
          <a:p>
            <a:endParaRPr lang="bg-BG" dirty="0">
              <a:solidFill>
                <a:schemeClr val="bg1"/>
              </a:solidFill>
            </a:endParaRPr>
          </a:p>
        </p:txBody>
      </p:sp>
    </p:spTree>
    <p:extLst>
      <p:ext uri="{BB962C8B-B14F-4D97-AF65-F5344CB8AC3E}">
        <p14:creationId xmlns:p14="http://schemas.microsoft.com/office/powerpoint/2010/main" val="14689670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lumMod val="75000"/>
              </a:schemeClr>
            </a:gs>
            <a:gs pos="88100">
              <a:srgbClr val="0B334E"/>
            </a:gs>
            <a:gs pos="100000">
              <a:schemeClr val="bg2">
                <a:lumMod val="50000"/>
              </a:schemeClr>
            </a:gs>
          </a:gsLst>
          <a:lin ang="612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CADF2543-1B6F-4FBC-A7AF-53A0430E05A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812F9BE6-31F0-38B3-F452-AC8742EE13AD}"/>
              </a:ext>
            </a:extLst>
          </p:cNvPr>
          <p:cNvSpPr>
            <a:spLocks noGrp="1"/>
          </p:cNvSpPr>
          <p:nvPr>
            <p:ph type="title"/>
          </p:nvPr>
        </p:nvSpPr>
        <p:spPr>
          <a:xfrm>
            <a:off x="684212" y="485244"/>
            <a:ext cx="8534400" cy="1507067"/>
          </a:xfrm>
        </p:spPr>
        <p:txBody>
          <a:bodyPr>
            <a:normAutofit/>
          </a:bodyPr>
          <a:lstStyle/>
          <a:p>
            <a:r>
              <a:rPr lang="bg-BG" b="1" i="0" dirty="0">
                <a:effectLst/>
                <a:latin typeface="Times New Roman" panose="02020603050405020304" pitchFamily="18" charset="0"/>
                <a:cs typeface="Times New Roman" panose="02020603050405020304" pitchFamily="18" charset="0"/>
              </a:rPr>
              <a:t>CD-ROM</a:t>
            </a:r>
            <a:endParaRPr lang="bg-BG" b="1" dirty="0">
              <a:latin typeface="Times New Roman" panose="02020603050405020304" pitchFamily="18" charset="0"/>
              <a:cs typeface="Times New Roman" panose="02020603050405020304" pitchFamily="18" charset="0"/>
            </a:endParaRPr>
          </a:p>
        </p:txBody>
      </p:sp>
      <p:grpSp>
        <p:nvGrpSpPr>
          <p:cNvPr id="10" name="Group 9">
            <a:extLst>
              <a:ext uri="{FF2B5EF4-FFF2-40B4-BE49-F238E27FC236}">
                <a16:creationId xmlns:a16="http://schemas.microsoft.com/office/drawing/2014/main" xmlns="" id="{A80A6E81-6B71-43DF-877B-E964A9A4CB68}"/>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9206969" y="2963333"/>
            <a:ext cx="2981858" cy="3208867"/>
            <a:chOff x="9206969" y="2963333"/>
            <a:chExt cx="2981858" cy="3208867"/>
          </a:xfrm>
        </p:grpSpPr>
        <p:cxnSp>
          <p:nvCxnSpPr>
            <p:cNvPr id="11" name="Straight Connector 10">
              <a:extLst>
                <a:ext uri="{FF2B5EF4-FFF2-40B4-BE49-F238E27FC236}">
                  <a16:creationId xmlns:a16="http://schemas.microsoft.com/office/drawing/2014/main" xmlns="" id="{4E35C3AD-357F-4004-A3F3-2D4EAF34A63D}"/>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1276012" y="2963333"/>
              <a:ext cx="912814" cy="912812"/>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xmlns="" id="{337B6032-0A70-4F26-A9A3-B4D60DF11818}"/>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9206969" y="3190344"/>
              <a:ext cx="2981857" cy="2981856"/>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xmlns="" id="{DE192CE3-3DD1-448F-93BE-42983DA0D5A9}"/>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292292" y="3285067"/>
              <a:ext cx="1896534" cy="1896533"/>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xmlns="" id="{E6D3DA09-5C72-4562-BEDE-1937DF87E81D}"/>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443103" y="3131080"/>
              <a:ext cx="1745722" cy="1745720"/>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xmlns="" id="{D6ACA7CA-2A20-49D7-9053-E076463D79A3}"/>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918826" y="3683001"/>
              <a:ext cx="1270001" cy="1269999"/>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grpSp>
      <p:sp>
        <p:nvSpPr>
          <p:cNvPr id="3" name="Content Placeholder 2">
            <a:extLst>
              <a:ext uri="{FF2B5EF4-FFF2-40B4-BE49-F238E27FC236}">
                <a16:creationId xmlns:a16="http://schemas.microsoft.com/office/drawing/2014/main" xmlns="" id="{A60C3964-5DF1-36D0-9522-F956BF3EDC74}"/>
              </a:ext>
            </a:extLst>
          </p:cNvPr>
          <p:cNvSpPr>
            <a:spLocks noGrp="1"/>
          </p:cNvSpPr>
          <p:nvPr>
            <p:ph idx="1"/>
          </p:nvPr>
        </p:nvSpPr>
        <p:spPr>
          <a:xfrm>
            <a:off x="473242" y="1648064"/>
            <a:ext cx="9751221" cy="4456161"/>
          </a:xfrm>
        </p:spPr>
        <p:txBody>
          <a:bodyPr>
            <a:normAutofit/>
          </a:bodyPr>
          <a:lstStyle/>
          <a:p>
            <a:pPr algn="just">
              <a:lnSpc>
                <a:spcPct val="90000"/>
              </a:lnSpc>
            </a:pPr>
            <a:r>
              <a:rPr lang="bg-BG" sz="1400" dirty="0">
                <a:solidFill>
                  <a:schemeClr val="tx1"/>
                </a:solidFill>
              </a:rPr>
              <a:t>Първите оптични дискове, който може да съдържат произволни цифрови данни под формата на файлове, са CD-ROM дисковете. </a:t>
            </a:r>
            <a:r>
              <a:rPr lang="bg-BG" sz="1400" i="0" dirty="0">
                <a:solidFill>
                  <a:schemeClr val="tx1"/>
                </a:solidFill>
                <a:effectLst/>
              </a:rPr>
              <a:t>Абревиатурата „CD-ROM“ означава „</a:t>
            </a:r>
            <a:r>
              <a:rPr lang="bg-BG" sz="1400" i="0" dirty="0" err="1">
                <a:solidFill>
                  <a:schemeClr val="tx1"/>
                </a:solidFill>
                <a:effectLst/>
              </a:rPr>
              <a:t>Compact</a:t>
            </a:r>
            <a:r>
              <a:rPr lang="bg-BG" sz="1400" i="0" dirty="0">
                <a:solidFill>
                  <a:schemeClr val="tx1"/>
                </a:solidFill>
                <a:effectLst/>
              </a:rPr>
              <a:t> </a:t>
            </a:r>
            <a:r>
              <a:rPr lang="bg-BG" sz="1400" i="0" dirty="0" err="1">
                <a:solidFill>
                  <a:schemeClr val="tx1"/>
                </a:solidFill>
                <a:effectLst/>
              </a:rPr>
              <a:t>Disk</a:t>
            </a:r>
            <a:r>
              <a:rPr lang="bg-BG" sz="1400" i="0" dirty="0">
                <a:solidFill>
                  <a:schemeClr val="tx1"/>
                </a:solidFill>
                <a:effectLst/>
              </a:rPr>
              <a:t> </a:t>
            </a:r>
            <a:r>
              <a:rPr lang="bg-BG" sz="1400" i="0" dirty="0" err="1">
                <a:solidFill>
                  <a:schemeClr val="tx1"/>
                </a:solidFill>
                <a:effectLst/>
              </a:rPr>
              <a:t>Read</a:t>
            </a:r>
            <a:r>
              <a:rPr lang="bg-BG" sz="1400" i="0" dirty="0">
                <a:solidFill>
                  <a:schemeClr val="tx1"/>
                </a:solidFill>
                <a:effectLst/>
              </a:rPr>
              <a:t> </a:t>
            </a:r>
            <a:r>
              <a:rPr lang="bg-BG" sz="1400" i="0" dirty="0" err="1">
                <a:solidFill>
                  <a:schemeClr val="tx1"/>
                </a:solidFill>
                <a:effectLst/>
              </a:rPr>
              <a:t>Only</a:t>
            </a:r>
            <a:r>
              <a:rPr lang="bg-BG" sz="1400" i="0" dirty="0">
                <a:solidFill>
                  <a:schemeClr val="tx1"/>
                </a:solidFill>
                <a:effectLst/>
              </a:rPr>
              <a:t> </a:t>
            </a:r>
            <a:r>
              <a:rPr lang="bg-BG" sz="1400" i="0" dirty="0" err="1">
                <a:solidFill>
                  <a:schemeClr val="tx1"/>
                </a:solidFill>
                <a:effectLst/>
              </a:rPr>
              <a:t>Memory</a:t>
            </a:r>
            <a:r>
              <a:rPr lang="bg-BG" sz="1400" i="0" dirty="0">
                <a:solidFill>
                  <a:schemeClr val="tx1"/>
                </a:solidFill>
                <a:effectLst/>
              </a:rPr>
              <a:t>“ и означава, че</a:t>
            </a:r>
            <a:r>
              <a:rPr lang="ru-RU" sz="1400" dirty="0">
                <a:solidFill>
                  <a:schemeClr val="tx1"/>
                </a:solidFill>
              </a:rPr>
              <a:t> </a:t>
            </a:r>
            <a:r>
              <a:rPr lang="bg-BG" sz="1400" dirty="0">
                <a:solidFill>
                  <a:schemeClr val="tx1"/>
                </a:solidFill>
              </a:rPr>
              <a:t>Записът на данните се реализира по време на производството на диска. Поради тази причина те се наричат CD-ROM дискове (прави се аналогия с ROM паметите). </a:t>
            </a:r>
          </a:p>
          <a:p>
            <a:pPr algn="just">
              <a:lnSpc>
                <a:spcPct val="90000"/>
              </a:lnSpc>
            </a:pPr>
            <a:r>
              <a:rPr lang="bg-BG" sz="1400" dirty="0">
                <a:solidFill>
                  <a:schemeClr val="tx1"/>
                </a:solidFill>
              </a:rPr>
              <a:t>Данните, съхранявани на CD-ROM, следват стандартните техники за кодиране на данни на CD, описани в спецификацията на Червената книга. Това включва кръстосано преплитане на кодиране на Рийд-Соломон (CIRC), модулация от осем до четиринадесет (EFM) и използване на ями и полета за кодиране на битовете във физическата повърхност на компактдиска.</a:t>
            </a:r>
          </a:p>
          <a:p>
            <a:pPr algn="just">
              <a:lnSpc>
                <a:spcPct val="90000"/>
              </a:lnSpc>
            </a:pPr>
            <a:r>
              <a:rPr lang="bg-BG" sz="1400" dirty="0">
                <a:solidFill>
                  <a:schemeClr val="tx1"/>
                </a:solidFill>
              </a:rPr>
              <a:t>Подобно на аудио компактдискове (CD-DA), един CD-ROM сектор съдържа 2352 байта потребителски данни, съставени от 98 кадъра, всеки от които се състои от 33 байта (24 байта за потребителските данни, 8 байта за коригиране на грешки и 1 байт за </a:t>
            </a:r>
            <a:r>
              <a:rPr lang="bg-BG" sz="1400" dirty="0" err="1">
                <a:solidFill>
                  <a:schemeClr val="tx1"/>
                </a:solidFill>
              </a:rPr>
              <a:t>подкод</a:t>
            </a:r>
            <a:r>
              <a:rPr lang="bg-BG" sz="1400" dirty="0">
                <a:solidFill>
                  <a:schemeClr val="tx1"/>
                </a:solidFill>
              </a:rPr>
              <a:t>). За разлика от аудио компактдискове, данните, съхранени в тези сектори, съответстват на всеки тип цифрови данни, а не на аудио проби, кодирани според спецификацията на аудио компактдискове. За да структурира, адресира и защити тези данни, стандартът за CD-ROM допълнително дефинира два режима на сектора, Режим 1 и Режим 2, които описват две различни оформления за данните в даден сектор.[2] Една песен (група сектори) в CD-ROM съдържа само сектори в един и същи режим, но ако в CD-ROM присъстват няколко песни, всяка песен може да има своите сектори в различен режим от останалите песни. Те могат също да съществуват съвместно с аудио CD записи, какъвто е случаят със смесени компактдискове.</a:t>
            </a:r>
          </a:p>
        </p:txBody>
      </p:sp>
    </p:spTree>
    <p:extLst>
      <p:ext uri="{BB962C8B-B14F-4D97-AF65-F5344CB8AC3E}">
        <p14:creationId xmlns:p14="http://schemas.microsoft.com/office/powerpoint/2010/main" val="3012897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lumMod val="75000"/>
              </a:schemeClr>
            </a:gs>
            <a:gs pos="86200">
              <a:srgbClr val="0B334F"/>
            </a:gs>
            <a:gs pos="100000">
              <a:schemeClr val="bg2">
                <a:lumMod val="50000"/>
              </a:schemeClr>
            </a:gs>
          </a:gsLst>
          <a:lin ang="612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CADF2543-1B6F-4FBC-A7AF-53A0430E05A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F650A3AF-1A35-C8E9-14BE-23CB969B007D}"/>
              </a:ext>
            </a:extLst>
          </p:cNvPr>
          <p:cNvSpPr>
            <a:spLocks noGrp="1"/>
          </p:cNvSpPr>
          <p:nvPr>
            <p:ph type="title"/>
          </p:nvPr>
        </p:nvSpPr>
        <p:spPr>
          <a:xfrm>
            <a:off x="672569" y="269877"/>
            <a:ext cx="8534400" cy="1507067"/>
          </a:xfrm>
        </p:spPr>
        <p:txBody>
          <a:bodyPr>
            <a:normAutofit/>
          </a:bodyPr>
          <a:lstStyle/>
          <a:p>
            <a:r>
              <a:rPr lang="en-US" b="1" i="0" dirty="0">
                <a:effectLst/>
                <a:latin typeface="Times New Roman" panose="02020603050405020304" pitchFamily="18" charset="0"/>
                <a:cs typeface="Times New Roman" panose="02020603050405020304" pitchFamily="18" charset="0"/>
              </a:rPr>
              <a:t>CD-R</a:t>
            </a:r>
            <a:endParaRPr lang="bg-BG" b="1" dirty="0">
              <a:latin typeface="Times New Roman" panose="02020603050405020304" pitchFamily="18" charset="0"/>
              <a:cs typeface="Times New Roman" panose="02020603050405020304" pitchFamily="18" charset="0"/>
            </a:endParaRPr>
          </a:p>
        </p:txBody>
      </p:sp>
      <p:grpSp>
        <p:nvGrpSpPr>
          <p:cNvPr id="10" name="Group 9">
            <a:extLst>
              <a:ext uri="{FF2B5EF4-FFF2-40B4-BE49-F238E27FC236}">
                <a16:creationId xmlns:a16="http://schemas.microsoft.com/office/drawing/2014/main" xmlns="" id="{A80A6E81-6B71-43DF-877B-E964A9A4CB68}"/>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9206969" y="2963333"/>
            <a:ext cx="2981858" cy="3208867"/>
            <a:chOff x="9206969" y="2963333"/>
            <a:chExt cx="2981858" cy="3208867"/>
          </a:xfrm>
        </p:grpSpPr>
        <p:cxnSp>
          <p:nvCxnSpPr>
            <p:cNvPr id="11" name="Straight Connector 10">
              <a:extLst>
                <a:ext uri="{FF2B5EF4-FFF2-40B4-BE49-F238E27FC236}">
                  <a16:creationId xmlns:a16="http://schemas.microsoft.com/office/drawing/2014/main" xmlns="" id="{4E35C3AD-357F-4004-A3F3-2D4EAF34A63D}"/>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1276012" y="2963333"/>
              <a:ext cx="912814" cy="912812"/>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xmlns="" id="{337B6032-0A70-4F26-A9A3-B4D60DF11818}"/>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9206969" y="3190344"/>
              <a:ext cx="2981857" cy="2981856"/>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xmlns="" id="{DE192CE3-3DD1-448F-93BE-42983DA0D5A9}"/>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292292" y="3285067"/>
              <a:ext cx="1896534" cy="1896533"/>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xmlns="" id="{E6D3DA09-5C72-4562-BEDE-1937DF87E81D}"/>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443103" y="3131080"/>
              <a:ext cx="1745722" cy="1745720"/>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xmlns="" id="{D6ACA7CA-2A20-49D7-9053-E076463D79A3}"/>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918826" y="3683001"/>
              <a:ext cx="1270001" cy="1269999"/>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grpSp>
      <p:sp>
        <p:nvSpPr>
          <p:cNvPr id="3" name="Content Placeholder 2">
            <a:extLst>
              <a:ext uri="{FF2B5EF4-FFF2-40B4-BE49-F238E27FC236}">
                <a16:creationId xmlns:a16="http://schemas.microsoft.com/office/drawing/2014/main" xmlns="" id="{C98D7761-39C9-AC2F-F632-9B9C544BA487}"/>
              </a:ext>
            </a:extLst>
          </p:cNvPr>
          <p:cNvSpPr>
            <a:spLocks noGrp="1"/>
          </p:cNvSpPr>
          <p:nvPr>
            <p:ph idx="1"/>
          </p:nvPr>
        </p:nvSpPr>
        <p:spPr>
          <a:xfrm>
            <a:off x="1013620" y="2219322"/>
            <a:ext cx="8534400" cy="3615267"/>
          </a:xfrm>
        </p:spPr>
        <p:txBody>
          <a:bodyPr>
            <a:noAutofit/>
          </a:bodyPr>
          <a:lstStyle/>
          <a:p>
            <a:pPr algn="just">
              <a:lnSpc>
                <a:spcPct val="90000"/>
              </a:lnSpc>
            </a:pPr>
            <a:r>
              <a:rPr lang="bg-BG" sz="1400" i="0" dirty="0">
                <a:solidFill>
                  <a:schemeClr val="tx1"/>
                </a:solidFill>
                <a:effectLst/>
              </a:rPr>
              <a:t>Дисковете от тип CD-R дискове. (</a:t>
            </a:r>
            <a:r>
              <a:rPr lang="bg-BG" sz="1400" i="0" dirty="0" err="1">
                <a:solidFill>
                  <a:schemeClr val="tx1"/>
                </a:solidFill>
                <a:effectLst/>
              </a:rPr>
              <a:t>Compact</a:t>
            </a:r>
            <a:r>
              <a:rPr lang="bg-BG" sz="1400" i="0" dirty="0">
                <a:solidFill>
                  <a:schemeClr val="tx1"/>
                </a:solidFill>
                <a:effectLst/>
              </a:rPr>
              <a:t> </a:t>
            </a:r>
            <a:r>
              <a:rPr lang="bg-BG" sz="1400" i="0" dirty="0" err="1">
                <a:solidFill>
                  <a:schemeClr val="tx1"/>
                </a:solidFill>
                <a:effectLst/>
              </a:rPr>
              <a:t>Disc-Recordable</a:t>
            </a:r>
            <a:r>
              <a:rPr lang="bg-BG" sz="1400" i="0" dirty="0">
                <a:solidFill>
                  <a:schemeClr val="tx1"/>
                </a:solidFill>
                <a:effectLst/>
              </a:rPr>
              <a:t>) позволяват еднократен запис от страна на потребителя. Физическият и логически формат на CD-R диска е описан в стандарта </a:t>
            </a:r>
            <a:r>
              <a:rPr lang="bg-BG" sz="1400" i="0" dirty="0" err="1">
                <a:solidFill>
                  <a:schemeClr val="tx1"/>
                </a:solidFill>
                <a:effectLst/>
              </a:rPr>
              <a:t>Orange</a:t>
            </a:r>
            <a:r>
              <a:rPr lang="bg-BG" sz="1400" i="0" dirty="0">
                <a:solidFill>
                  <a:schemeClr val="tx1"/>
                </a:solidFill>
                <a:effectLst/>
              </a:rPr>
              <a:t> </a:t>
            </a:r>
            <a:r>
              <a:rPr lang="bg-BG" sz="1400" i="0" dirty="0" err="1">
                <a:solidFill>
                  <a:schemeClr val="tx1"/>
                </a:solidFill>
                <a:effectLst/>
              </a:rPr>
              <a:t>Book</a:t>
            </a:r>
            <a:r>
              <a:rPr lang="bg-BG" sz="1400" i="0" dirty="0">
                <a:solidFill>
                  <a:schemeClr val="tx1"/>
                </a:solidFill>
                <a:effectLst/>
              </a:rPr>
              <a:t> </a:t>
            </a:r>
            <a:r>
              <a:rPr lang="bg-BG" sz="1400" i="0" dirty="0" err="1">
                <a:solidFill>
                  <a:schemeClr val="tx1"/>
                </a:solidFill>
                <a:effectLst/>
              </a:rPr>
              <a:t>Part</a:t>
            </a:r>
            <a:r>
              <a:rPr lang="bg-BG" sz="1400" i="0" dirty="0">
                <a:solidFill>
                  <a:schemeClr val="tx1"/>
                </a:solidFill>
                <a:effectLst/>
              </a:rPr>
              <a:t> II. CD-R са разработени от японската фирма </a:t>
            </a:r>
            <a:r>
              <a:rPr lang="bg-BG" sz="1400" dirty="0" err="1">
                <a:solidFill>
                  <a:schemeClr val="tx1"/>
                </a:solidFill>
              </a:rPr>
              <a:t>Taiyo</a:t>
            </a:r>
            <a:r>
              <a:rPr lang="bg-BG" sz="1400" dirty="0">
                <a:solidFill>
                  <a:schemeClr val="tx1"/>
                </a:solidFill>
              </a:rPr>
              <a:t> </a:t>
            </a:r>
            <a:r>
              <a:rPr lang="bg-BG" sz="1400" dirty="0" err="1">
                <a:solidFill>
                  <a:schemeClr val="tx1"/>
                </a:solidFill>
              </a:rPr>
              <a:t>Yuden</a:t>
            </a:r>
            <a:r>
              <a:rPr lang="bg-BG" sz="1400" i="0" dirty="0">
                <a:solidFill>
                  <a:schemeClr val="tx1"/>
                </a:solidFill>
                <a:effectLst/>
              </a:rPr>
              <a:t>. </a:t>
            </a:r>
          </a:p>
          <a:p>
            <a:pPr algn="just">
              <a:lnSpc>
                <a:spcPct val="90000"/>
              </a:lnSpc>
            </a:pPr>
            <a:r>
              <a:rPr lang="bg-BG" sz="1400" i="0" dirty="0">
                <a:solidFill>
                  <a:schemeClr val="tx1"/>
                </a:solidFill>
                <a:effectLst/>
              </a:rPr>
              <a:t>Дисковете за еднократен запис CD-R се различават от обикновените CD по това, че имат допълнителен слой, нанесен между пластмасовата подложка и металния отразяващ слой. Този слой представлява органично багрило на основата на цианови, </a:t>
            </a:r>
            <a:r>
              <a:rPr lang="bg-BG" sz="1400" i="0" dirty="0" err="1">
                <a:solidFill>
                  <a:schemeClr val="tx1"/>
                </a:solidFill>
                <a:effectLst/>
              </a:rPr>
              <a:t>фталоцианови</a:t>
            </a:r>
            <a:r>
              <a:rPr lang="bg-BG" sz="1400" i="0" dirty="0">
                <a:solidFill>
                  <a:schemeClr val="tx1"/>
                </a:solidFill>
                <a:effectLst/>
              </a:rPr>
              <a:t> или </a:t>
            </a:r>
            <a:r>
              <a:rPr lang="bg-BG" sz="1400" i="0" dirty="0" err="1">
                <a:solidFill>
                  <a:schemeClr val="tx1"/>
                </a:solidFill>
                <a:effectLst/>
              </a:rPr>
              <a:t>азо</a:t>
            </a:r>
            <a:r>
              <a:rPr lang="bg-BG" sz="1400" i="0" dirty="0">
                <a:solidFill>
                  <a:schemeClr val="tx1"/>
                </a:solidFill>
                <a:effectLst/>
              </a:rPr>
              <a:t>-съединения. Понякога производителите добавят оцветител към </a:t>
            </a:r>
            <a:r>
              <a:rPr lang="bg-BG" sz="1400" i="0" dirty="0" err="1">
                <a:solidFill>
                  <a:schemeClr val="tx1"/>
                </a:solidFill>
                <a:effectLst/>
              </a:rPr>
              <a:t>фталоциановите</a:t>
            </a:r>
            <a:r>
              <a:rPr lang="bg-BG" sz="1400" i="0" dirty="0">
                <a:solidFill>
                  <a:schemeClr val="tx1"/>
                </a:solidFill>
                <a:effectLst/>
              </a:rPr>
              <a:t> багрила. Така те стават сиви на цвят и по външен вид диска прилича много на матрично CD. Според цвета е възможно до голяма степен да се определи материала на записващия слой. Описаните дотук цветове са валидни когато отражателния слой на диска е </a:t>
            </a:r>
            <a:r>
              <a:rPr lang="bg-BG" sz="1400" dirty="0">
                <a:solidFill>
                  <a:schemeClr val="tx1"/>
                </a:solidFill>
              </a:rPr>
              <a:t>сребро</a:t>
            </a:r>
            <a:r>
              <a:rPr lang="bg-BG" sz="1400" i="0" dirty="0">
                <a:solidFill>
                  <a:schemeClr val="tx1"/>
                </a:solidFill>
                <a:effectLst/>
              </a:rPr>
              <a:t>. Ако диска е покрит със златен слой така описаните цветове се променят. Използването на </a:t>
            </a:r>
            <a:r>
              <a:rPr lang="bg-BG" sz="1400" dirty="0">
                <a:solidFill>
                  <a:schemeClr val="tx1"/>
                </a:solidFill>
              </a:rPr>
              <a:t>злато</a:t>
            </a:r>
            <a:r>
              <a:rPr lang="bg-BG" sz="1400" i="0" dirty="0">
                <a:solidFill>
                  <a:schemeClr val="tx1"/>
                </a:solidFill>
                <a:effectLst/>
              </a:rPr>
              <a:t> в днешни дни обаче е рядко явление. Последният факт не може да се установи по цвета на картинката (цвета на боята) от горната страна на диска.</a:t>
            </a:r>
          </a:p>
          <a:p>
            <a:pPr algn="just">
              <a:lnSpc>
                <a:spcPct val="90000"/>
              </a:lnSpc>
            </a:pPr>
            <a:r>
              <a:rPr lang="bg-BG" sz="1400" i="0" dirty="0">
                <a:solidFill>
                  <a:schemeClr val="tx1"/>
                </a:solidFill>
                <a:effectLst/>
              </a:rPr>
              <a:t>При запис, вследствие загряването на допълнителния слой с помощта на лазерно лъчение, се извършват необратими химически промени в него, като се променя както геометричният размер на загрятото петно, така и </a:t>
            </a:r>
            <a:r>
              <a:rPr lang="bg-BG" sz="1400" dirty="0">
                <a:solidFill>
                  <a:schemeClr val="tx1"/>
                </a:solidFill>
              </a:rPr>
              <a:t>отражателната способност</a:t>
            </a:r>
            <a:r>
              <a:rPr lang="bg-BG" sz="1400" i="0" dirty="0">
                <a:solidFill>
                  <a:schemeClr val="tx1"/>
                </a:solidFill>
                <a:effectLst/>
              </a:rPr>
              <a:t> на диска в тази точка. На това място се образува маркер (пит), който може да се прочете от </a:t>
            </a:r>
            <a:r>
              <a:rPr lang="bg-BG" sz="1400" dirty="0">
                <a:solidFill>
                  <a:schemeClr val="tx1"/>
                </a:solidFill>
              </a:rPr>
              <a:t>четящата глава</a:t>
            </a:r>
            <a:r>
              <a:rPr lang="bg-BG" sz="1400" i="0" dirty="0">
                <a:solidFill>
                  <a:schemeClr val="tx1"/>
                </a:solidFill>
                <a:effectLst/>
              </a:rPr>
              <a:t> вследствие на променената си отражателна способност. За разлика от обикновените CD, тук отражателният метален слой не е от </a:t>
            </a:r>
            <a:r>
              <a:rPr lang="bg-BG" sz="1400" dirty="0">
                <a:solidFill>
                  <a:schemeClr val="tx1"/>
                </a:solidFill>
              </a:rPr>
              <a:t>алуминий</a:t>
            </a:r>
            <a:r>
              <a:rPr lang="bg-BG" sz="1400" i="0" dirty="0">
                <a:solidFill>
                  <a:schemeClr val="tx1"/>
                </a:solidFill>
                <a:effectLst/>
              </a:rPr>
              <a:t>, а от сребро или злато поради по-добрата им отражателна способност и химическа устойчивост. От значение е и качеството на лаковото покритие, което се отлага върху металния слой. То предпазва диска както от корозия, така и от надраскване и други външни въздействия, които биха унищожили записаната информация.</a:t>
            </a:r>
            <a:endParaRPr lang="bg-BG" sz="1400" dirty="0">
              <a:solidFill>
                <a:schemeClr val="tx1"/>
              </a:solidFill>
            </a:endParaRPr>
          </a:p>
        </p:txBody>
      </p:sp>
    </p:spTree>
    <p:extLst>
      <p:ext uri="{BB962C8B-B14F-4D97-AF65-F5344CB8AC3E}">
        <p14:creationId xmlns:p14="http://schemas.microsoft.com/office/powerpoint/2010/main" val="3420902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lumMod val="75000"/>
              </a:schemeClr>
            </a:gs>
            <a:gs pos="83000">
              <a:schemeClr val="bg2">
                <a:lumMod val="50000"/>
              </a:schemeClr>
            </a:gs>
          </a:gsLst>
          <a:lin ang="612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CADF2543-1B6F-4FBC-A7AF-53A0430E05A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F883339F-F8FC-1804-6026-4DE93E3A59A6}"/>
              </a:ext>
            </a:extLst>
          </p:cNvPr>
          <p:cNvSpPr>
            <a:spLocks noGrp="1"/>
          </p:cNvSpPr>
          <p:nvPr>
            <p:ph type="title"/>
          </p:nvPr>
        </p:nvSpPr>
        <p:spPr>
          <a:xfrm>
            <a:off x="758294" y="88105"/>
            <a:ext cx="8534400" cy="1507067"/>
          </a:xfrm>
        </p:spPr>
        <p:txBody>
          <a:bodyPr>
            <a:normAutofit/>
          </a:bodyPr>
          <a:lstStyle/>
          <a:p>
            <a:r>
              <a:rPr lang="ru-RU" b="1" i="0" dirty="0">
                <a:effectLst/>
                <a:latin typeface="Times New Roman" panose="02020603050405020304" pitchFamily="18" charset="0"/>
                <a:cs typeface="Times New Roman" panose="02020603050405020304" pitchFamily="18" charset="0"/>
              </a:rPr>
              <a:t>CD-RW</a:t>
            </a:r>
            <a:endParaRPr lang="bg-BG" dirty="0">
              <a:latin typeface="Times New Roman" panose="02020603050405020304" pitchFamily="18" charset="0"/>
              <a:cs typeface="Times New Roman" panose="02020603050405020304" pitchFamily="18" charset="0"/>
            </a:endParaRPr>
          </a:p>
        </p:txBody>
      </p:sp>
      <p:grpSp>
        <p:nvGrpSpPr>
          <p:cNvPr id="10" name="Group 9">
            <a:extLst>
              <a:ext uri="{FF2B5EF4-FFF2-40B4-BE49-F238E27FC236}">
                <a16:creationId xmlns:a16="http://schemas.microsoft.com/office/drawing/2014/main" xmlns="" id="{A80A6E81-6B71-43DF-877B-E964A9A4CB68}"/>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9206969" y="2963333"/>
            <a:ext cx="2981858" cy="3208867"/>
            <a:chOff x="9206969" y="2963333"/>
            <a:chExt cx="2981858" cy="3208867"/>
          </a:xfrm>
        </p:grpSpPr>
        <p:cxnSp>
          <p:nvCxnSpPr>
            <p:cNvPr id="11" name="Straight Connector 10">
              <a:extLst>
                <a:ext uri="{FF2B5EF4-FFF2-40B4-BE49-F238E27FC236}">
                  <a16:creationId xmlns:a16="http://schemas.microsoft.com/office/drawing/2014/main" xmlns="" id="{4E35C3AD-357F-4004-A3F3-2D4EAF34A63D}"/>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1276012" y="2963333"/>
              <a:ext cx="912814" cy="912812"/>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xmlns="" id="{337B6032-0A70-4F26-A9A3-B4D60DF11818}"/>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9206969" y="3190344"/>
              <a:ext cx="2981857" cy="2981856"/>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xmlns="" id="{DE192CE3-3DD1-448F-93BE-42983DA0D5A9}"/>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292292" y="3285067"/>
              <a:ext cx="1896534" cy="1896533"/>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xmlns="" id="{E6D3DA09-5C72-4562-BEDE-1937DF87E81D}"/>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443103" y="3131080"/>
              <a:ext cx="1745722" cy="1745720"/>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xmlns="" id="{D6ACA7CA-2A20-49D7-9053-E076463D79A3}"/>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918826" y="3683001"/>
              <a:ext cx="1270001" cy="1269999"/>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grpSp>
      <p:sp>
        <p:nvSpPr>
          <p:cNvPr id="3" name="Content Placeholder 2">
            <a:extLst>
              <a:ext uri="{FF2B5EF4-FFF2-40B4-BE49-F238E27FC236}">
                <a16:creationId xmlns:a16="http://schemas.microsoft.com/office/drawing/2014/main" xmlns="" id="{CDF59DEA-989D-95CA-83B6-3D6812078C84}"/>
              </a:ext>
            </a:extLst>
          </p:cNvPr>
          <p:cNvSpPr>
            <a:spLocks noGrp="1"/>
          </p:cNvSpPr>
          <p:nvPr>
            <p:ph idx="1"/>
          </p:nvPr>
        </p:nvSpPr>
        <p:spPr>
          <a:xfrm>
            <a:off x="597164" y="1878011"/>
            <a:ext cx="9691954" cy="4408489"/>
          </a:xfrm>
        </p:spPr>
        <p:txBody>
          <a:bodyPr>
            <a:noAutofit/>
          </a:bodyPr>
          <a:lstStyle/>
          <a:p>
            <a:pPr algn="just">
              <a:lnSpc>
                <a:spcPct val="90000"/>
              </a:lnSpc>
            </a:pPr>
            <a:r>
              <a:rPr lang="bg-BG" sz="1400" i="0" dirty="0">
                <a:solidFill>
                  <a:schemeClr val="tx1"/>
                </a:solidFill>
                <a:effectLst/>
              </a:rPr>
              <a:t>CD-RW (</a:t>
            </a:r>
            <a:r>
              <a:rPr lang="bg-BG" sz="1400" i="1" dirty="0" err="1">
                <a:solidFill>
                  <a:schemeClr val="tx1"/>
                </a:solidFill>
                <a:effectLst/>
              </a:rPr>
              <a:t>Compact</a:t>
            </a:r>
            <a:r>
              <a:rPr lang="bg-BG" sz="1400" i="1" dirty="0">
                <a:solidFill>
                  <a:schemeClr val="tx1"/>
                </a:solidFill>
                <a:effectLst/>
              </a:rPr>
              <a:t> </a:t>
            </a:r>
            <a:r>
              <a:rPr lang="bg-BG" sz="1400" i="1" dirty="0" err="1">
                <a:solidFill>
                  <a:schemeClr val="tx1"/>
                </a:solidFill>
                <a:effectLst/>
              </a:rPr>
              <a:t>Disc-ReWritable</a:t>
            </a:r>
            <a:r>
              <a:rPr lang="bg-BG" sz="1400" i="0" dirty="0">
                <a:solidFill>
                  <a:schemeClr val="tx1"/>
                </a:solidFill>
                <a:effectLst/>
              </a:rPr>
              <a:t>) е вид </a:t>
            </a:r>
            <a:r>
              <a:rPr lang="bg-BG" sz="1400" dirty="0">
                <a:solidFill>
                  <a:schemeClr val="tx1"/>
                </a:solidFill>
              </a:rPr>
              <a:t>компактдиск</a:t>
            </a:r>
            <a:r>
              <a:rPr lang="bg-BG" sz="1400" i="0" dirty="0">
                <a:solidFill>
                  <a:schemeClr val="tx1"/>
                </a:solidFill>
                <a:effectLst/>
              </a:rPr>
              <a:t>, позволяващ многократен запис и изтриване на данни. На български се нарича презаписваем компактдиск. По време на разработването си този формат се е наричал CD-E (</a:t>
            </a:r>
            <a:r>
              <a:rPr lang="bg-BG" sz="1400" i="1" dirty="0">
                <a:solidFill>
                  <a:schemeClr val="tx1"/>
                </a:solidFill>
                <a:effectLst/>
              </a:rPr>
              <a:t>CD-</a:t>
            </a:r>
            <a:r>
              <a:rPr lang="bg-BG" sz="1400" i="1" dirty="0" err="1">
                <a:solidFill>
                  <a:schemeClr val="tx1"/>
                </a:solidFill>
                <a:effectLst/>
              </a:rPr>
              <a:t>Erasable</a:t>
            </a:r>
            <a:r>
              <a:rPr lang="bg-BG" sz="1400" i="0" dirty="0">
                <a:solidFill>
                  <a:schemeClr val="tx1"/>
                </a:solidFill>
                <a:effectLst/>
              </a:rPr>
              <a:t>).</a:t>
            </a:r>
          </a:p>
          <a:p>
            <a:pPr algn="just">
              <a:lnSpc>
                <a:spcPct val="90000"/>
              </a:lnSpc>
            </a:pPr>
            <a:r>
              <a:rPr lang="bg-BG" sz="1400" i="0" dirty="0">
                <a:solidFill>
                  <a:schemeClr val="tx1"/>
                </a:solidFill>
                <a:effectLst/>
              </a:rPr>
              <a:t>CD-RW дисковете, наподобяват по структура много на CD-R, но при тях записващият слой се състои от специална сплав – обикновено </a:t>
            </a:r>
            <a:r>
              <a:rPr lang="bg-BG" sz="1400" dirty="0">
                <a:solidFill>
                  <a:schemeClr val="tx1"/>
                </a:solidFill>
              </a:rPr>
              <a:t>сребро</a:t>
            </a:r>
            <a:r>
              <a:rPr lang="bg-BG" sz="1400" i="0" dirty="0">
                <a:solidFill>
                  <a:schemeClr val="tx1"/>
                </a:solidFill>
                <a:effectLst/>
              </a:rPr>
              <a:t>, </a:t>
            </a:r>
            <a:r>
              <a:rPr lang="bg-BG" sz="1400" dirty="0">
                <a:solidFill>
                  <a:schemeClr val="tx1"/>
                </a:solidFill>
              </a:rPr>
              <a:t>индий</a:t>
            </a:r>
            <a:r>
              <a:rPr lang="bg-BG" sz="1400" i="0" dirty="0">
                <a:solidFill>
                  <a:schemeClr val="tx1"/>
                </a:solidFill>
                <a:effectLst/>
              </a:rPr>
              <a:t>, </a:t>
            </a:r>
            <a:r>
              <a:rPr lang="bg-BG" sz="1400" dirty="0">
                <a:solidFill>
                  <a:schemeClr val="tx1"/>
                </a:solidFill>
              </a:rPr>
              <a:t>антимон</a:t>
            </a:r>
            <a:r>
              <a:rPr lang="bg-BG" sz="1400" i="0" dirty="0">
                <a:solidFill>
                  <a:schemeClr val="tx1"/>
                </a:solidFill>
                <a:effectLst/>
              </a:rPr>
              <a:t> и </a:t>
            </a:r>
            <a:r>
              <a:rPr lang="bg-BG" sz="1400" dirty="0">
                <a:solidFill>
                  <a:schemeClr val="tx1"/>
                </a:solidFill>
              </a:rPr>
              <a:t>телур</a:t>
            </a:r>
            <a:r>
              <a:rPr lang="bg-BG" sz="1400" i="0" dirty="0">
                <a:solidFill>
                  <a:schemeClr val="tx1"/>
                </a:solidFill>
                <a:effectLst/>
              </a:rPr>
              <a:t> (</a:t>
            </a:r>
            <a:r>
              <a:rPr lang="bg-BG" sz="1400" i="0" dirty="0" err="1">
                <a:solidFill>
                  <a:schemeClr val="tx1"/>
                </a:solidFill>
                <a:effectLst/>
              </a:rPr>
              <a:t>AgInSbTe</a:t>
            </a:r>
            <a:r>
              <a:rPr lang="bg-BG" sz="1400" i="0" dirty="0">
                <a:solidFill>
                  <a:schemeClr val="tx1"/>
                </a:solidFill>
                <a:effectLst/>
              </a:rPr>
              <a:t>). Първоначално тази сплав е </a:t>
            </a:r>
            <a:r>
              <a:rPr lang="bg-BG" sz="1400" i="0" dirty="0" err="1">
                <a:solidFill>
                  <a:schemeClr val="tx1"/>
                </a:solidFill>
                <a:effectLst/>
              </a:rPr>
              <a:t>поликристална</a:t>
            </a:r>
            <a:r>
              <a:rPr lang="bg-BG" sz="1400" i="0" dirty="0">
                <a:solidFill>
                  <a:schemeClr val="tx1"/>
                </a:solidFill>
                <a:effectLst/>
              </a:rPr>
              <a:t> и има по-висока </a:t>
            </a:r>
            <a:r>
              <a:rPr lang="bg-BG" sz="1400" dirty="0">
                <a:solidFill>
                  <a:schemeClr val="tx1"/>
                </a:solidFill>
              </a:rPr>
              <a:t>отражателна способност</a:t>
            </a:r>
            <a:r>
              <a:rPr lang="bg-BG" sz="1400" i="0" dirty="0">
                <a:solidFill>
                  <a:schemeClr val="tx1"/>
                </a:solidFill>
                <a:effectLst/>
              </a:rPr>
              <a:t>. В процеса на запис слоят се загрява от </a:t>
            </a:r>
            <a:r>
              <a:rPr lang="bg-BG" sz="1400" dirty="0">
                <a:solidFill>
                  <a:schemeClr val="tx1"/>
                </a:solidFill>
              </a:rPr>
              <a:t>лазерен</a:t>
            </a:r>
            <a:r>
              <a:rPr lang="bg-BG" sz="1400" i="0" dirty="0">
                <a:solidFill>
                  <a:schemeClr val="tx1"/>
                </a:solidFill>
                <a:effectLst/>
              </a:rPr>
              <a:t> лъч с висока мощност до </a:t>
            </a:r>
            <a:r>
              <a:rPr lang="bg-BG" sz="1400" i="0" dirty="0" err="1">
                <a:solidFill>
                  <a:schemeClr val="tx1"/>
                </a:solidFill>
                <a:effectLst/>
              </a:rPr>
              <a:t>темератури</a:t>
            </a:r>
            <a:r>
              <a:rPr lang="bg-BG" sz="1400" i="0" dirty="0">
                <a:solidFill>
                  <a:schemeClr val="tx1"/>
                </a:solidFill>
                <a:effectLst/>
              </a:rPr>
              <a:t> от порядъка на 500 – 700 °C. Това води до стопяване на материала и преминаването му в </a:t>
            </a:r>
            <a:r>
              <a:rPr lang="bg-BG" sz="1400" dirty="0">
                <a:solidFill>
                  <a:schemeClr val="tx1"/>
                </a:solidFill>
              </a:rPr>
              <a:t>аморфно състояние</a:t>
            </a:r>
            <a:r>
              <a:rPr lang="bg-BG" sz="1400" i="0" dirty="0">
                <a:solidFill>
                  <a:schemeClr val="tx1"/>
                </a:solidFill>
                <a:effectLst/>
              </a:rPr>
              <a:t>, а с това и намаляване на отражателната способност. Така </a:t>
            </a:r>
            <a:r>
              <a:rPr lang="bg-BG" sz="1400" i="0" dirty="0" err="1">
                <a:solidFill>
                  <a:schemeClr val="tx1"/>
                </a:solidFill>
                <a:effectLst/>
              </a:rPr>
              <a:t>засветените</a:t>
            </a:r>
            <a:r>
              <a:rPr lang="bg-BG" sz="1400" i="0" dirty="0">
                <a:solidFill>
                  <a:schemeClr val="tx1"/>
                </a:solidFill>
                <a:effectLst/>
              </a:rPr>
              <a:t> участъци, подобно на CD-R диска представляват </a:t>
            </a:r>
            <a:r>
              <a:rPr lang="bg-BG" sz="1400" i="0" dirty="0" err="1">
                <a:solidFill>
                  <a:schemeClr val="tx1"/>
                </a:solidFill>
                <a:effectLst/>
              </a:rPr>
              <a:t>питовете</a:t>
            </a:r>
            <a:r>
              <a:rPr lang="bg-BG" sz="1400" i="0" dirty="0">
                <a:solidFill>
                  <a:schemeClr val="tx1"/>
                </a:solidFill>
                <a:effectLst/>
              </a:rPr>
              <a:t> (</a:t>
            </a:r>
            <a:r>
              <a:rPr lang="bg-BG" sz="1400" i="0" dirty="0" err="1">
                <a:solidFill>
                  <a:schemeClr val="tx1"/>
                </a:solidFill>
                <a:effectLst/>
              </a:rPr>
              <a:t>питове</a:t>
            </a:r>
            <a:r>
              <a:rPr lang="bg-BG" sz="1400" i="0" dirty="0">
                <a:solidFill>
                  <a:schemeClr val="tx1"/>
                </a:solidFill>
                <a:effectLst/>
              </a:rPr>
              <a:t> се наричат </a:t>
            </a:r>
            <a:r>
              <a:rPr lang="bg-BG" sz="1400" i="0" dirty="0" err="1">
                <a:solidFill>
                  <a:schemeClr val="tx1"/>
                </a:solidFill>
                <a:effectLst/>
              </a:rPr>
              <a:t>вдлъбнатинките</a:t>
            </a:r>
            <a:r>
              <a:rPr lang="bg-BG" sz="1400" i="0" dirty="0">
                <a:solidFill>
                  <a:schemeClr val="tx1"/>
                </a:solidFill>
                <a:effectLst/>
              </a:rPr>
              <a:t> на компактдиска), докато </a:t>
            </a:r>
            <a:r>
              <a:rPr lang="bg-BG" sz="1400" i="0" dirty="0" err="1">
                <a:solidFill>
                  <a:schemeClr val="tx1"/>
                </a:solidFill>
                <a:effectLst/>
              </a:rPr>
              <a:t>незасветените</a:t>
            </a:r>
            <a:r>
              <a:rPr lang="bg-BG" sz="1400" i="0" dirty="0">
                <a:solidFill>
                  <a:schemeClr val="tx1"/>
                </a:solidFill>
                <a:effectLst/>
              </a:rPr>
              <a:t> участъци – </a:t>
            </a:r>
            <a:r>
              <a:rPr lang="bg-BG" sz="1400" i="0" dirty="0" err="1">
                <a:solidFill>
                  <a:schemeClr val="tx1"/>
                </a:solidFill>
                <a:effectLst/>
              </a:rPr>
              <a:t>ландовете</a:t>
            </a:r>
            <a:r>
              <a:rPr lang="bg-BG" sz="1400" i="0" dirty="0">
                <a:solidFill>
                  <a:schemeClr val="tx1"/>
                </a:solidFill>
                <a:effectLst/>
              </a:rPr>
              <a:t> (площадките между </a:t>
            </a:r>
            <a:r>
              <a:rPr lang="bg-BG" sz="1400" i="0" dirty="0" err="1">
                <a:solidFill>
                  <a:schemeClr val="tx1"/>
                </a:solidFill>
                <a:effectLst/>
              </a:rPr>
              <a:t>питовете</a:t>
            </a:r>
            <a:r>
              <a:rPr lang="bg-BG" sz="1400" i="0" dirty="0">
                <a:solidFill>
                  <a:schemeClr val="tx1"/>
                </a:solidFill>
                <a:effectLst/>
              </a:rPr>
              <a:t>). При четене мощността на лазерния лъч е много по-малка и не разрушава записаната информация. При изтриване аморфният материал се загрява до по-ниски температури от порядъка на 200 °C, при което той не се стопява, а преминава от аморфно в </a:t>
            </a:r>
            <a:r>
              <a:rPr lang="bg-BG" sz="1400" dirty="0" err="1">
                <a:solidFill>
                  <a:schemeClr val="tx1"/>
                </a:solidFill>
              </a:rPr>
              <a:t>поликристално</a:t>
            </a:r>
            <a:r>
              <a:rPr lang="bg-BG" sz="1400" i="0" dirty="0">
                <a:solidFill>
                  <a:schemeClr val="tx1"/>
                </a:solidFill>
                <a:effectLst/>
              </a:rPr>
              <a:t> състояние, като отново се увеличава отражателната му способност. Поради по-малката прозрачност на този материал отражателната способност не надвишава 15 – 25%. Това изисква много по-чувствителна оптика на четящите устройства и е причина за недобрата съвместимост на тези дискове с всички CD устройства.</a:t>
            </a:r>
          </a:p>
          <a:p>
            <a:pPr algn="just">
              <a:lnSpc>
                <a:spcPct val="90000"/>
              </a:lnSpc>
            </a:pPr>
            <a:r>
              <a:rPr lang="bg-BG" sz="1400" b="0" i="0" dirty="0">
                <a:solidFill>
                  <a:schemeClr val="tx1"/>
                </a:solidFill>
                <a:effectLst/>
              </a:rPr>
              <a:t>Както при CD-R диска и тук записът се прави на отделни сесии, като след всяка от тях може да се добавя следваща, докато се запълни целия диск. След това дискът може да се изтрие напълно и е готов да се записва отново. По данни на производителите тази технология позволява до 1000 пъти презапис без загуба на данните. Изтриването става по два начина: пълно или бързо изтриване. Пълното изтриване е по-бавно, но осигурява конфиденциалност на изтритата информация. При бързото изтриване се заличават само мета данните. Така е възможно с помощта на специални програми да се възстанови „изтритата информация“.</a:t>
            </a:r>
            <a:endParaRPr lang="bg-BG" sz="1400" i="0" dirty="0">
              <a:solidFill>
                <a:schemeClr val="tx1"/>
              </a:solidFill>
              <a:effectLst/>
            </a:endParaRPr>
          </a:p>
        </p:txBody>
      </p:sp>
    </p:spTree>
    <p:extLst>
      <p:ext uri="{BB962C8B-B14F-4D97-AF65-F5344CB8AC3E}">
        <p14:creationId xmlns:p14="http://schemas.microsoft.com/office/powerpoint/2010/main" val="2454547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19" name="Rectangle 9">
            <a:extLst>
              <a:ext uri="{FF2B5EF4-FFF2-40B4-BE49-F238E27FC236}">
                <a16:creationId xmlns:a16="http://schemas.microsoft.com/office/drawing/2014/main" xmlns="" id="{9ACA6826-032C-4799-B079-15DB2A6CBD9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59A71A4E-B362-FACC-ED85-09058FCEA149}"/>
              </a:ext>
            </a:extLst>
          </p:cNvPr>
          <p:cNvSpPr>
            <a:spLocks noGrp="1"/>
          </p:cNvSpPr>
          <p:nvPr>
            <p:ph type="title"/>
          </p:nvPr>
        </p:nvSpPr>
        <p:spPr>
          <a:xfrm>
            <a:off x="1504336" y="446006"/>
            <a:ext cx="8534400" cy="1507067"/>
          </a:xfrm>
        </p:spPr>
        <p:txBody>
          <a:bodyPr>
            <a:normAutofit/>
          </a:bodyPr>
          <a:lstStyle/>
          <a:p>
            <a:r>
              <a:rPr lang="en-US" b="1" dirty="0">
                <a:latin typeface="Times New Roman" panose="02020603050405020304" pitchFamily="18" charset="0"/>
                <a:cs typeface="Times New Roman" panose="02020603050405020304" pitchFamily="18" charset="0"/>
              </a:rPr>
              <a:t>DVD </a:t>
            </a:r>
            <a:r>
              <a:rPr lang="bg-BG" b="1" dirty="0">
                <a:latin typeface="Times New Roman" panose="02020603050405020304" pitchFamily="18" charset="0"/>
                <a:cs typeface="Times New Roman" panose="02020603050405020304" pitchFamily="18" charset="0"/>
              </a:rPr>
              <a:t>дискове</a:t>
            </a:r>
          </a:p>
        </p:txBody>
      </p:sp>
      <p:sp>
        <p:nvSpPr>
          <p:cNvPr id="3" name="Content Placeholder 2">
            <a:extLst>
              <a:ext uri="{FF2B5EF4-FFF2-40B4-BE49-F238E27FC236}">
                <a16:creationId xmlns:a16="http://schemas.microsoft.com/office/drawing/2014/main" xmlns="" id="{123B1D61-B49A-AC7E-158F-A3CC12567E5A}"/>
              </a:ext>
            </a:extLst>
          </p:cNvPr>
          <p:cNvSpPr>
            <a:spLocks noGrp="1"/>
          </p:cNvSpPr>
          <p:nvPr>
            <p:ph idx="1"/>
          </p:nvPr>
        </p:nvSpPr>
        <p:spPr>
          <a:xfrm>
            <a:off x="105052" y="1874446"/>
            <a:ext cx="7394897" cy="4078679"/>
          </a:xfrm>
        </p:spPr>
        <p:txBody>
          <a:bodyPr>
            <a:normAutofit/>
          </a:bodyPr>
          <a:lstStyle/>
          <a:p>
            <a:pPr algn="just">
              <a:lnSpc>
                <a:spcPct val="90000"/>
              </a:lnSpc>
            </a:pPr>
            <a:r>
              <a:rPr lang="bg-BG" sz="1400" dirty="0">
                <a:solidFill>
                  <a:schemeClr val="bg1"/>
                </a:solidFill>
              </a:rPr>
              <a:t>DVD (</a:t>
            </a:r>
            <a:r>
              <a:rPr lang="bg-BG" sz="1400" dirty="0" err="1">
                <a:solidFill>
                  <a:schemeClr val="bg1"/>
                </a:solidFill>
              </a:rPr>
              <a:t>Digital</a:t>
            </a:r>
            <a:r>
              <a:rPr lang="bg-BG" sz="1400" dirty="0">
                <a:solidFill>
                  <a:schemeClr val="bg1"/>
                </a:solidFill>
              </a:rPr>
              <a:t> </a:t>
            </a:r>
            <a:r>
              <a:rPr lang="bg-BG" sz="1400" dirty="0" err="1">
                <a:solidFill>
                  <a:schemeClr val="bg1"/>
                </a:solidFill>
              </a:rPr>
              <a:t>Versatile</a:t>
            </a:r>
            <a:r>
              <a:rPr lang="bg-BG" sz="1400" dirty="0">
                <a:solidFill>
                  <a:schemeClr val="bg1"/>
                </a:solidFill>
              </a:rPr>
              <a:t> </a:t>
            </a:r>
            <a:r>
              <a:rPr lang="bg-BG" sz="1400" dirty="0" err="1">
                <a:solidFill>
                  <a:schemeClr val="bg1"/>
                </a:solidFill>
              </a:rPr>
              <a:t>Disc</a:t>
            </a:r>
            <a:r>
              <a:rPr lang="bg-BG" sz="1400" dirty="0">
                <a:solidFill>
                  <a:schemeClr val="bg1"/>
                </a:solidFill>
              </a:rPr>
              <a:t> – цифров универсален диск</a:t>
            </a:r>
            <a:r>
              <a:rPr lang="en-US" sz="1400" dirty="0">
                <a:solidFill>
                  <a:schemeClr val="bg1"/>
                </a:solidFill>
              </a:rPr>
              <a:t>;</a:t>
            </a:r>
            <a:r>
              <a:rPr lang="bg-BG" sz="1400" dirty="0">
                <a:solidFill>
                  <a:schemeClr val="bg1"/>
                </a:solidFill>
              </a:rPr>
              <a:t> или </a:t>
            </a:r>
            <a:r>
              <a:rPr lang="bg-BG" sz="1400" dirty="0" err="1">
                <a:solidFill>
                  <a:schemeClr val="bg1"/>
                </a:solidFill>
              </a:rPr>
              <a:t>Digital</a:t>
            </a:r>
            <a:r>
              <a:rPr lang="bg-BG" sz="1400" dirty="0">
                <a:solidFill>
                  <a:schemeClr val="bg1"/>
                </a:solidFill>
              </a:rPr>
              <a:t> </a:t>
            </a:r>
            <a:r>
              <a:rPr lang="bg-BG" sz="1400" dirty="0" err="1">
                <a:solidFill>
                  <a:schemeClr val="bg1"/>
                </a:solidFill>
              </a:rPr>
              <a:t>Video</a:t>
            </a:r>
            <a:r>
              <a:rPr lang="bg-BG" sz="1400" dirty="0">
                <a:solidFill>
                  <a:schemeClr val="bg1"/>
                </a:solidFill>
              </a:rPr>
              <a:t> </a:t>
            </a:r>
            <a:r>
              <a:rPr lang="bg-BG" sz="1400" dirty="0" err="1">
                <a:solidFill>
                  <a:schemeClr val="bg1"/>
                </a:solidFill>
              </a:rPr>
              <a:t>Disc</a:t>
            </a:r>
            <a:r>
              <a:rPr lang="bg-BG" sz="1400" dirty="0">
                <a:solidFill>
                  <a:schemeClr val="bg1"/>
                </a:solidFill>
              </a:rPr>
              <a:t> – цифров видеодиск) е носител на информация, изработен под формата на диск и предназначен за цифров запис. Има същия размер, както и компактдиска, но има по-плътна структура на работната повърхност, което му позволява, благодарение използването на лазер с по-малка дължина на вълната и обективи с по-голяма числова </a:t>
            </a:r>
            <a:r>
              <a:rPr lang="bg-BG" sz="1400" dirty="0" err="1">
                <a:solidFill>
                  <a:schemeClr val="bg1"/>
                </a:solidFill>
              </a:rPr>
              <a:t>апертура</a:t>
            </a:r>
            <a:r>
              <a:rPr lang="bg-BG" sz="1400" dirty="0">
                <a:solidFill>
                  <a:schemeClr val="bg1"/>
                </a:solidFill>
              </a:rPr>
              <a:t>, да съхранява по-голям обем информация. Техническата спецификация на DVD-ROM диск и DVD устройство е готова окончателно през 1995 г. </a:t>
            </a:r>
          </a:p>
          <a:p>
            <a:pPr algn="just">
              <a:lnSpc>
                <a:spcPct val="90000"/>
              </a:lnSpc>
            </a:pPr>
            <a:r>
              <a:rPr lang="bg-BG" sz="1400" i="0" dirty="0">
                <a:solidFill>
                  <a:schemeClr val="bg1"/>
                </a:solidFill>
                <a:effectLst/>
              </a:rPr>
              <a:t>DVD представлява усъвършенстване и развитие на </a:t>
            </a:r>
            <a:r>
              <a:rPr lang="bg-BG" sz="1400" dirty="0">
                <a:solidFill>
                  <a:schemeClr val="bg1"/>
                </a:solidFill>
              </a:rPr>
              <a:t>CD</a:t>
            </a:r>
            <a:r>
              <a:rPr lang="bg-BG" sz="1400" i="0" dirty="0">
                <a:solidFill>
                  <a:schemeClr val="bg1"/>
                </a:solidFill>
                <a:effectLst/>
              </a:rPr>
              <a:t> технологията (последната позволява съхранение на стандартно и най-разпространено 702 </a:t>
            </a:r>
            <a:r>
              <a:rPr lang="bg-BG" sz="1400" dirty="0">
                <a:solidFill>
                  <a:schemeClr val="bg1"/>
                </a:solidFill>
              </a:rPr>
              <a:t>MB</a:t>
            </a:r>
            <a:r>
              <a:rPr lang="bg-BG" sz="1400" i="0" dirty="0">
                <a:solidFill>
                  <a:schemeClr val="bg1"/>
                </a:solidFill>
                <a:effectLst/>
              </a:rPr>
              <a:t> данни). Посредством новата технология на един диск с размерите на CD могат да се запишат данни от 4,7 </a:t>
            </a:r>
            <a:r>
              <a:rPr lang="bg-BG" sz="1400" dirty="0">
                <a:solidFill>
                  <a:schemeClr val="bg1"/>
                </a:solidFill>
              </a:rPr>
              <a:t>GB</a:t>
            </a:r>
            <a:r>
              <a:rPr lang="bg-BG" sz="1400" i="0" dirty="0">
                <a:solidFill>
                  <a:schemeClr val="bg1"/>
                </a:solidFill>
                <a:effectLst/>
              </a:rPr>
              <a:t> (DVD5) до 8,5 GB (DVD9), съответно при еднослоен и двуслоен, но едностранен диск. Съществуват и двустранни, еднослойни DVD – DVD10, които побират до 9,4 </a:t>
            </a:r>
            <a:r>
              <a:rPr lang="bg-BG" sz="1400" dirty="0">
                <a:solidFill>
                  <a:schemeClr val="bg1"/>
                </a:solidFill>
              </a:rPr>
              <a:t>GB</a:t>
            </a:r>
            <a:r>
              <a:rPr lang="bg-BG" sz="1400" i="0" dirty="0">
                <a:solidFill>
                  <a:schemeClr val="bg1"/>
                </a:solidFill>
                <a:effectLst/>
              </a:rPr>
              <a:t>. По-рядко могат да се срещнат и двуслойни, двустранни DVD с обем 17,1 GB, т.нар. DVD18. DVD дискът се състои от две подложки с дебелина 0,6 </a:t>
            </a:r>
            <a:r>
              <a:rPr lang="bg-BG" sz="1400" dirty="0">
                <a:solidFill>
                  <a:schemeClr val="bg1"/>
                </a:solidFill>
              </a:rPr>
              <a:t>mm</a:t>
            </a:r>
            <a:r>
              <a:rPr lang="bg-BG" sz="1400" i="0" dirty="0">
                <a:solidFill>
                  <a:schemeClr val="bg1"/>
                </a:solidFill>
                <a:effectLst/>
              </a:rPr>
              <a:t>, които залепени една за друга правят 1,2 mm, което е и дебелината на един CD диск. Всяка една от подложките на DVD диска може да носи един или два информационни слоя – оттам и разнообразието във физическата структура и обема на диска (DVD5, DVD9, DVD10, DVD18).</a:t>
            </a:r>
            <a:endParaRPr lang="bg-BG" sz="1400" dirty="0">
              <a:solidFill>
                <a:schemeClr val="bg1"/>
              </a:solidFill>
            </a:endParaRPr>
          </a:p>
        </p:txBody>
      </p:sp>
      <p:pic>
        <p:nvPicPr>
          <p:cNvPr id="5" name="Picture 4" descr="Shape&#10;&#10;Description automatically generated with medium confidence">
            <a:extLst>
              <a:ext uri="{FF2B5EF4-FFF2-40B4-BE49-F238E27FC236}">
                <a16:creationId xmlns:a16="http://schemas.microsoft.com/office/drawing/2014/main" xmlns="" id="{FD31E1D9-457F-7F7B-203E-EF46528CA61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99949" y="2613150"/>
            <a:ext cx="4650175" cy="2371588"/>
          </a:xfrm>
          <a:prstGeom prst="rect">
            <a:avLst/>
          </a:prstGeom>
          <a:effectLst>
            <a:innerShdw blurRad="57150" dist="38100" dir="14460000">
              <a:prstClr val="black">
                <a:alpha val="70000"/>
              </a:prstClr>
            </a:innerShdw>
          </a:effectLst>
        </p:spPr>
      </p:pic>
      <p:grpSp>
        <p:nvGrpSpPr>
          <p:cNvPr id="20" name="Group 11">
            <a:extLst>
              <a:ext uri="{FF2B5EF4-FFF2-40B4-BE49-F238E27FC236}">
                <a16:creationId xmlns:a16="http://schemas.microsoft.com/office/drawing/2014/main" xmlns="" id="{DD58A807-BD0E-4B1D-A523-2F20E7FE2695}"/>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9206969" y="2933837"/>
            <a:ext cx="2981858" cy="3208867"/>
            <a:chOff x="9206969" y="2963333"/>
            <a:chExt cx="2981858" cy="3208867"/>
          </a:xfrm>
        </p:grpSpPr>
        <p:cxnSp>
          <p:nvCxnSpPr>
            <p:cNvPr id="13" name="Straight Connector 12">
              <a:extLst>
                <a:ext uri="{FF2B5EF4-FFF2-40B4-BE49-F238E27FC236}">
                  <a16:creationId xmlns:a16="http://schemas.microsoft.com/office/drawing/2014/main" xmlns="" id="{AC82FD88-0436-4D5C-B5A2-7B90191949E1}"/>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xmlns="" id="{E2706DBD-9DBD-49D6-80EB-C896096D2F0B}"/>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xmlns="" id="{251C7442-3F0F-49E3-9389-D6B4BAE14A89}"/>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xmlns="" id="{BA614368-43A5-4794-BA71-09F8585F9FC2}"/>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xmlns="" id="{3F42B96B-0C70-40CB-A027-175F2A16571A}"/>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8252444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5642FCA-2ED4-3BC1-3F44-8C4CFD05DEFD}"/>
              </a:ext>
            </a:extLst>
          </p:cNvPr>
          <p:cNvSpPr>
            <a:spLocks noGrp="1"/>
          </p:cNvSpPr>
          <p:nvPr>
            <p:ph type="title"/>
          </p:nvPr>
        </p:nvSpPr>
        <p:spPr>
          <a:xfrm>
            <a:off x="846207" y="258232"/>
            <a:ext cx="7350079" cy="1507067"/>
          </a:xfrm>
        </p:spPr>
        <p:txBody>
          <a:bodyPr>
            <a:normAutofit/>
          </a:bodyPr>
          <a:lstStyle/>
          <a:p>
            <a:r>
              <a:rPr lang="en-US" b="1" dirty="0">
                <a:latin typeface="Times New Roman" panose="02020603050405020304" pitchFamily="18" charset="0"/>
                <a:cs typeface="Times New Roman" panose="02020603050405020304" pitchFamily="18" charset="0"/>
              </a:rPr>
              <a:t>DVD-R </a:t>
            </a:r>
            <a:r>
              <a:rPr lang="bg-BG" b="1" dirty="0">
                <a:latin typeface="Times New Roman" panose="02020603050405020304" pitchFamily="18" charset="0"/>
                <a:cs typeface="Times New Roman" panose="02020603050405020304" pitchFamily="18" charset="0"/>
              </a:rPr>
              <a:t>дискове </a:t>
            </a:r>
          </a:p>
        </p:txBody>
      </p:sp>
      <p:sp>
        <p:nvSpPr>
          <p:cNvPr id="3" name="Content Placeholder 2">
            <a:extLst>
              <a:ext uri="{FF2B5EF4-FFF2-40B4-BE49-F238E27FC236}">
                <a16:creationId xmlns:a16="http://schemas.microsoft.com/office/drawing/2014/main" xmlns="" id="{5DC06597-B126-6151-FA3B-73EC7FA3A39A}"/>
              </a:ext>
            </a:extLst>
          </p:cNvPr>
          <p:cNvSpPr>
            <a:spLocks noGrp="1"/>
          </p:cNvSpPr>
          <p:nvPr>
            <p:ph idx="1"/>
          </p:nvPr>
        </p:nvSpPr>
        <p:spPr>
          <a:xfrm>
            <a:off x="376028" y="1871551"/>
            <a:ext cx="7820258" cy="4014899"/>
          </a:xfrm>
        </p:spPr>
        <p:txBody>
          <a:bodyPr>
            <a:normAutofit/>
          </a:bodyPr>
          <a:lstStyle/>
          <a:p>
            <a:pPr algn="just">
              <a:lnSpc>
                <a:spcPct val="90000"/>
              </a:lnSpc>
            </a:pPr>
            <a:r>
              <a:rPr lang="bg-BG" sz="1400" dirty="0">
                <a:solidFill>
                  <a:schemeClr val="bg1"/>
                </a:solidFill>
              </a:rPr>
              <a:t>Дисковете от тип DVD </a:t>
            </a:r>
            <a:r>
              <a:rPr lang="bg-BG" sz="1400" dirty="0" err="1">
                <a:solidFill>
                  <a:schemeClr val="bg1"/>
                </a:solidFill>
              </a:rPr>
              <a:t>Recordable</a:t>
            </a:r>
            <a:r>
              <a:rPr lang="bg-BG" sz="1400" dirty="0">
                <a:solidFill>
                  <a:schemeClr val="bg1"/>
                </a:solidFill>
              </a:rPr>
              <a:t> (DVD-R) са от тип WORM (</a:t>
            </a:r>
            <a:r>
              <a:rPr lang="bg-BG" sz="1400" dirty="0" err="1">
                <a:solidFill>
                  <a:schemeClr val="bg1"/>
                </a:solidFill>
              </a:rPr>
              <a:t>Write-Once</a:t>
            </a:r>
            <a:r>
              <a:rPr lang="bg-BG" sz="1400" dirty="0">
                <a:solidFill>
                  <a:schemeClr val="bg1"/>
                </a:solidFill>
              </a:rPr>
              <a:t>, </a:t>
            </a:r>
            <a:r>
              <a:rPr lang="bg-BG" sz="1400" dirty="0" err="1">
                <a:solidFill>
                  <a:schemeClr val="bg1"/>
                </a:solidFill>
              </a:rPr>
              <a:t>Read-Many</a:t>
            </a:r>
            <a:r>
              <a:rPr lang="bg-BG" sz="1400" dirty="0">
                <a:solidFill>
                  <a:schemeClr val="bg1"/>
                </a:solidFill>
              </a:rPr>
              <a:t>) – позволяват еднократен запис и многократно четене. Запомнящият слой при тези дискове е от органична боя, както при CD-R дисковете. Записът и четенето се реализира с лазерен лъч с дължина на вълната 650 </a:t>
            </a:r>
            <a:r>
              <a:rPr lang="bg-BG" sz="1400" dirty="0" err="1">
                <a:solidFill>
                  <a:schemeClr val="bg1"/>
                </a:solidFill>
              </a:rPr>
              <a:t>nm</a:t>
            </a:r>
            <a:r>
              <a:rPr lang="bg-BG" sz="1400" dirty="0">
                <a:solidFill>
                  <a:schemeClr val="bg1"/>
                </a:solidFill>
              </a:rPr>
              <a:t> и мощност 8-10 </a:t>
            </a:r>
            <a:r>
              <a:rPr lang="bg-BG" sz="1400" dirty="0" err="1">
                <a:solidFill>
                  <a:schemeClr val="bg1"/>
                </a:solidFill>
              </a:rPr>
              <a:t>mW</a:t>
            </a:r>
            <a:r>
              <a:rPr lang="bg-BG" sz="1400" dirty="0">
                <a:solidFill>
                  <a:schemeClr val="bg1"/>
                </a:solidFill>
              </a:rPr>
              <a:t>. Дисковете могат да съдържат един или два запомнящи слоя. При еднослойните дискове капацитета е 4.7 </a:t>
            </a:r>
            <a:r>
              <a:rPr lang="bg-BG" sz="1400" dirty="0" err="1">
                <a:solidFill>
                  <a:schemeClr val="bg1"/>
                </a:solidFill>
              </a:rPr>
              <a:t>GiB</a:t>
            </a:r>
            <a:r>
              <a:rPr lang="bg-BG" sz="1400" dirty="0">
                <a:solidFill>
                  <a:schemeClr val="bg1"/>
                </a:solidFill>
              </a:rPr>
              <a:t>, а при двуслойните – 9.4 </a:t>
            </a:r>
            <a:r>
              <a:rPr lang="bg-BG" sz="1400" dirty="0" err="1">
                <a:solidFill>
                  <a:schemeClr val="bg1"/>
                </a:solidFill>
              </a:rPr>
              <a:t>GiB</a:t>
            </a:r>
            <a:r>
              <a:rPr lang="bg-BG" sz="1400" dirty="0">
                <a:solidFill>
                  <a:schemeClr val="bg1"/>
                </a:solidFill>
              </a:rPr>
              <a:t>. Скоростта на запис е по-ниска в сравнение с CD-R дисковете: 1х (11.08 </a:t>
            </a:r>
            <a:r>
              <a:rPr lang="bg-BG" sz="1400" dirty="0" err="1">
                <a:solidFill>
                  <a:schemeClr val="bg1"/>
                </a:solidFill>
              </a:rPr>
              <a:t>Mib</a:t>
            </a:r>
            <a:r>
              <a:rPr lang="bg-BG" sz="1400" dirty="0">
                <a:solidFill>
                  <a:schemeClr val="bg1"/>
                </a:solidFill>
              </a:rPr>
              <a:t>/s), 2х (22.16 </a:t>
            </a:r>
            <a:r>
              <a:rPr lang="bg-BG" sz="1400" dirty="0" err="1">
                <a:solidFill>
                  <a:schemeClr val="bg1"/>
                </a:solidFill>
              </a:rPr>
              <a:t>Mib</a:t>
            </a:r>
            <a:r>
              <a:rPr lang="bg-BG" sz="1400" dirty="0">
                <a:solidFill>
                  <a:schemeClr val="bg1"/>
                </a:solidFill>
              </a:rPr>
              <a:t>/s) и 4х (44.32 </a:t>
            </a:r>
            <a:r>
              <a:rPr lang="bg-BG" sz="1400" dirty="0" err="1">
                <a:solidFill>
                  <a:schemeClr val="bg1"/>
                </a:solidFill>
              </a:rPr>
              <a:t>Mib</a:t>
            </a:r>
            <a:r>
              <a:rPr lang="bg-BG" sz="1400" dirty="0">
                <a:solidFill>
                  <a:schemeClr val="bg1"/>
                </a:solidFill>
              </a:rPr>
              <a:t>/s). 6 7  Информацията се записва на една пътечка (</a:t>
            </a:r>
            <a:r>
              <a:rPr lang="bg-BG" sz="1400" dirty="0" err="1">
                <a:solidFill>
                  <a:schemeClr val="bg1"/>
                </a:solidFill>
              </a:rPr>
              <a:t>groove</a:t>
            </a:r>
            <a:r>
              <a:rPr lang="bg-BG" sz="1400" dirty="0">
                <a:solidFill>
                  <a:schemeClr val="bg1"/>
                </a:solidFill>
              </a:rPr>
              <a:t>) под формата на </a:t>
            </a:r>
            <a:r>
              <a:rPr lang="bg-BG" sz="1400" dirty="0" err="1">
                <a:solidFill>
                  <a:schemeClr val="bg1"/>
                </a:solidFill>
              </a:rPr>
              <a:t>Архимедова</a:t>
            </a:r>
            <a:r>
              <a:rPr lang="bg-BG" sz="1400" dirty="0">
                <a:solidFill>
                  <a:schemeClr val="bg1"/>
                </a:solidFill>
              </a:rPr>
              <a:t> спирала. Освен данните, пътечката съдържа и служебна информация, свързана с насочване на записващия лазер (</a:t>
            </a:r>
            <a:r>
              <a:rPr lang="bg-BG" sz="1400" dirty="0" err="1">
                <a:solidFill>
                  <a:schemeClr val="bg1"/>
                </a:solidFill>
              </a:rPr>
              <a:t>серво</a:t>
            </a:r>
            <a:r>
              <a:rPr lang="bg-BG" sz="1400" dirty="0">
                <a:solidFill>
                  <a:schemeClr val="bg1"/>
                </a:solidFill>
              </a:rPr>
              <a:t> информация) и информация за началото и края на всеки блок данни.</a:t>
            </a:r>
            <a:r>
              <a:rPr lang="ru-RU" sz="1400" dirty="0">
                <a:solidFill>
                  <a:schemeClr val="bg1"/>
                </a:solidFill>
              </a:rPr>
              <a:t> </a:t>
            </a:r>
            <a:r>
              <a:rPr lang="ru-RU" sz="1400" dirty="0" err="1">
                <a:solidFill>
                  <a:schemeClr val="bg1"/>
                </a:solidFill>
              </a:rPr>
              <a:t>Всеки</a:t>
            </a:r>
            <a:r>
              <a:rPr lang="ru-RU" sz="1400" dirty="0">
                <a:solidFill>
                  <a:schemeClr val="bg1"/>
                </a:solidFill>
              </a:rPr>
              <a:t> </a:t>
            </a:r>
            <a:r>
              <a:rPr lang="ru-RU" sz="1400" dirty="0" err="1">
                <a:solidFill>
                  <a:schemeClr val="bg1"/>
                </a:solidFill>
              </a:rPr>
              <a:t>запомнящ</a:t>
            </a:r>
            <a:r>
              <a:rPr lang="ru-RU" sz="1400" dirty="0">
                <a:solidFill>
                  <a:schemeClr val="bg1"/>
                </a:solidFill>
              </a:rPr>
              <a:t> слой </a:t>
            </a:r>
            <a:r>
              <a:rPr lang="ru-RU" sz="1400" dirty="0" err="1">
                <a:solidFill>
                  <a:schemeClr val="bg1"/>
                </a:solidFill>
              </a:rPr>
              <a:t>позволява</a:t>
            </a:r>
            <a:r>
              <a:rPr lang="ru-RU" sz="1400" dirty="0">
                <a:solidFill>
                  <a:schemeClr val="bg1"/>
                </a:solidFill>
              </a:rPr>
              <a:t> </a:t>
            </a:r>
            <a:r>
              <a:rPr lang="ru-RU" sz="1400" dirty="0" err="1">
                <a:solidFill>
                  <a:schemeClr val="bg1"/>
                </a:solidFill>
              </a:rPr>
              <a:t>запис</a:t>
            </a:r>
            <a:r>
              <a:rPr lang="ru-RU" sz="1400" dirty="0">
                <a:solidFill>
                  <a:schemeClr val="bg1"/>
                </a:solidFill>
              </a:rPr>
              <a:t> на 4.7 </a:t>
            </a:r>
            <a:r>
              <a:rPr lang="ru-RU" sz="1400" dirty="0" err="1">
                <a:solidFill>
                  <a:schemeClr val="bg1"/>
                </a:solidFill>
              </a:rPr>
              <a:t>GiB</a:t>
            </a:r>
            <a:r>
              <a:rPr lang="ru-RU" sz="1400" dirty="0">
                <a:solidFill>
                  <a:schemeClr val="bg1"/>
                </a:solidFill>
              </a:rPr>
              <a:t> </a:t>
            </a:r>
            <a:r>
              <a:rPr lang="ru-RU" sz="1400" dirty="0" err="1">
                <a:solidFill>
                  <a:schemeClr val="bg1"/>
                </a:solidFill>
              </a:rPr>
              <a:t>данни</a:t>
            </a:r>
            <a:r>
              <a:rPr lang="ru-RU" sz="1400" dirty="0">
                <a:solidFill>
                  <a:schemeClr val="bg1"/>
                </a:solidFill>
              </a:rPr>
              <a:t>. </a:t>
            </a:r>
            <a:r>
              <a:rPr lang="bg-BG" sz="1400" dirty="0">
                <a:solidFill>
                  <a:schemeClr val="bg1"/>
                </a:solidFill>
              </a:rPr>
              <a:t>Над всеки запомнящ свой има отражателен слой от алуминиева сплав. Над всеки отражателен слой има защитен слой. При тези дискове се налага завъртане на диска, когато трябва да бъде прочетена или записана информацията от/в другия </a:t>
            </a:r>
            <a:r>
              <a:rPr lang="bg-BG" sz="1400" dirty="0" err="1">
                <a:solidFill>
                  <a:schemeClr val="bg1"/>
                </a:solidFill>
              </a:rPr>
              <a:t>слой.Всеки</a:t>
            </a:r>
            <a:r>
              <a:rPr lang="bg-BG" sz="1400" dirty="0">
                <a:solidFill>
                  <a:schemeClr val="bg1"/>
                </a:solidFill>
              </a:rPr>
              <a:t> запомнящ слой позволява запис на 4.7 </a:t>
            </a:r>
            <a:r>
              <a:rPr lang="bg-BG" sz="1400" dirty="0" err="1">
                <a:solidFill>
                  <a:schemeClr val="bg1"/>
                </a:solidFill>
              </a:rPr>
              <a:t>GiB</a:t>
            </a:r>
            <a:r>
              <a:rPr lang="bg-BG" sz="1400" dirty="0">
                <a:solidFill>
                  <a:schemeClr val="bg1"/>
                </a:solidFill>
              </a:rPr>
              <a:t> данни. Над всеки запомнящ свой има отражателен слой от алуминиева сплав. Над всеки отражателния слой има защитен слой. При тези дискове се налага завъртане на диска, когато трябва да бъде прочетена или записана информацията от/в другия слой. </a:t>
            </a:r>
          </a:p>
        </p:txBody>
      </p:sp>
      <p:pic>
        <p:nvPicPr>
          <p:cNvPr id="5" name="Picture 4" descr="A picture containing application&#10;&#10;Description automatically generated">
            <a:extLst>
              <a:ext uri="{FF2B5EF4-FFF2-40B4-BE49-F238E27FC236}">
                <a16:creationId xmlns:a16="http://schemas.microsoft.com/office/drawing/2014/main" xmlns="" id="{C1EDCBC9-9533-6B74-97FA-9B866B6078B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501" r="6338" b="-1"/>
          <a:stretch/>
        </p:blipFill>
        <p:spPr>
          <a:xfrm>
            <a:off x="8352915" y="825388"/>
            <a:ext cx="3670989" cy="4911725"/>
          </a:xfrm>
          <a:custGeom>
            <a:avLst/>
            <a:gdLst/>
            <a:ahLst/>
            <a:cxnLst/>
            <a:rect l="l" t="t" r="r" b="b"/>
            <a:pathLst>
              <a:path w="3239538" h="4334450">
                <a:moveTo>
                  <a:pt x="322464" y="0"/>
                </a:moveTo>
                <a:lnTo>
                  <a:pt x="3239538" y="0"/>
                </a:lnTo>
                <a:lnTo>
                  <a:pt x="3239538" y="4011987"/>
                </a:lnTo>
                <a:lnTo>
                  <a:pt x="2917075" y="4334450"/>
                </a:lnTo>
                <a:lnTo>
                  <a:pt x="0" y="4334450"/>
                </a:lnTo>
                <a:lnTo>
                  <a:pt x="0" y="322464"/>
                </a:lnTo>
                <a:close/>
              </a:path>
            </a:pathLst>
          </a:custGeom>
          <a:ln w="15875">
            <a:solidFill>
              <a:srgbClr val="FFFFFF">
                <a:alpha val="40000"/>
              </a:srgbClr>
            </a:solidFill>
          </a:ln>
          <a:effectLst>
            <a:innerShdw blurRad="57150" dist="38100" dir="14460000">
              <a:prstClr val="black">
                <a:alpha val="70000"/>
              </a:prstClr>
            </a:innerShdw>
          </a:effectLst>
        </p:spPr>
      </p:pic>
      <p:grpSp>
        <p:nvGrpSpPr>
          <p:cNvPr id="28" name="Group 27">
            <a:extLst>
              <a:ext uri="{FF2B5EF4-FFF2-40B4-BE49-F238E27FC236}">
                <a16:creationId xmlns:a16="http://schemas.microsoft.com/office/drawing/2014/main" xmlns="" id="{6B975FEB-EB22-4265-87DB-98C8B1A03E61}"/>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9206969" y="2959517"/>
            <a:ext cx="2981858" cy="3208867"/>
            <a:chOff x="9206969" y="2963333"/>
            <a:chExt cx="2981858" cy="3208867"/>
          </a:xfrm>
        </p:grpSpPr>
        <p:cxnSp>
          <p:nvCxnSpPr>
            <p:cNvPr id="29" name="Straight Connector 28">
              <a:extLst>
                <a:ext uri="{FF2B5EF4-FFF2-40B4-BE49-F238E27FC236}">
                  <a16:creationId xmlns:a16="http://schemas.microsoft.com/office/drawing/2014/main" xmlns="" id="{165F12FA-1912-4E22-A32D-0831ADB49ACC}"/>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xmlns="" id="{3D85A33A-E141-4004-96FE-2B25852F7843}"/>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xmlns="" id="{CDBBF9A1-F02B-475F-8E25-E42F6005345D}"/>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xmlns="" id="{C4E10861-F5C5-4FCE-BB8E-126306C8C7D8}"/>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xmlns="" id="{9EE8BD36-DC78-4FAA-AC76-FF2D4FAD3355}"/>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451668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0A8AFFD-FB14-AB14-3E6B-CDAA7282F2E6}"/>
              </a:ext>
            </a:extLst>
          </p:cNvPr>
          <p:cNvSpPr>
            <a:spLocks noGrp="1"/>
          </p:cNvSpPr>
          <p:nvPr>
            <p:ph type="title"/>
          </p:nvPr>
        </p:nvSpPr>
        <p:spPr>
          <a:xfrm>
            <a:off x="683484" y="413127"/>
            <a:ext cx="7350079" cy="1507067"/>
          </a:xfrm>
        </p:spPr>
        <p:txBody>
          <a:bodyPr>
            <a:normAutofit/>
          </a:bodyPr>
          <a:lstStyle/>
          <a:p>
            <a:r>
              <a:rPr lang="ru-RU" b="1" dirty="0">
                <a:latin typeface="Times New Roman" panose="02020603050405020304" pitchFamily="18" charset="0"/>
                <a:cs typeface="Times New Roman" panose="02020603050405020304" pitchFamily="18" charset="0"/>
              </a:rPr>
              <a:t>DVD-RW</a:t>
            </a:r>
            <a:endParaRPr lang="bg-BG"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07842285-E8EA-9841-2C08-5638BD876A47}"/>
              </a:ext>
            </a:extLst>
          </p:cNvPr>
          <p:cNvSpPr>
            <a:spLocks noGrp="1"/>
          </p:cNvSpPr>
          <p:nvPr>
            <p:ph idx="1"/>
          </p:nvPr>
        </p:nvSpPr>
        <p:spPr>
          <a:xfrm>
            <a:off x="547754" y="2192490"/>
            <a:ext cx="7350079" cy="3615267"/>
          </a:xfrm>
        </p:spPr>
        <p:txBody>
          <a:bodyPr>
            <a:normAutofit/>
          </a:bodyPr>
          <a:lstStyle/>
          <a:p>
            <a:pPr algn="just">
              <a:lnSpc>
                <a:spcPct val="90000"/>
              </a:lnSpc>
            </a:pPr>
            <a:r>
              <a:rPr lang="bg-BG" sz="1700" dirty="0">
                <a:solidFill>
                  <a:schemeClr val="bg1"/>
                </a:solidFill>
                <a:latin typeface="Calibri (Body)"/>
              </a:rPr>
              <a:t>DVD-RW Дискове - дискове от тип DVD </a:t>
            </a:r>
            <a:r>
              <a:rPr lang="bg-BG" sz="1700" dirty="0" err="1">
                <a:solidFill>
                  <a:schemeClr val="bg1"/>
                </a:solidFill>
                <a:latin typeface="Calibri (Body)"/>
              </a:rPr>
              <a:t>Rewritable</a:t>
            </a:r>
            <a:r>
              <a:rPr lang="bg-BG" sz="1700" dirty="0">
                <a:solidFill>
                  <a:schemeClr val="bg1"/>
                </a:solidFill>
                <a:latin typeface="Calibri (Body)"/>
              </a:rPr>
              <a:t> (DVD-RW) са от тип WMRM (</a:t>
            </a:r>
            <a:r>
              <a:rPr lang="bg-BG" sz="1700" dirty="0" err="1">
                <a:solidFill>
                  <a:schemeClr val="bg1"/>
                </a:solidFill>
                <a:latin typeface="Calibri (Body)"/>
              </a:rPr>
              <a:t>Write-Many</a:t>
            </a:r>
            <a:r>
              <a:rPr lang="bg-BG" sz="1700" dirty="0">
                <a:solidFill>
                  <a:schemeClr val="bg1"/>
                </a:solidFill>
                <a:latin typeface="Calibri (Body)"/>
              </a:rPr>
              <a:t> </a:t>
            </a:r>
            <a:r>
              <a:rPr lang="bg-BG" sz="1700" dirty="0" err="1">
                <a:solidFill>
                  <a:schemeClr val="bg1"/>
                </a:solidFill>
                <a:latin typeface="Calibri (Body)"/>
              </a:rPr>
              <a:t>Read-Many</a:t>
            </a:r>
            <a:r>
              <a:rPr lang="bg-BG" sz="1700" dirty="0">
                <a:solidFill>
                  <a:schemeClr val="bg1"/>
                </a:solidFill>
                <a:latin typeface="Calibri (Body)"/>
              </a:rPr>
              <a:t>). Съгласно стандарта, тези дискове позволяват до 1000 презаписа на информацията. Както при CD-RW дисковете, така и при DVD-RW дисковете запомнящия слой е сплав, най-често от сребро, индий, антимон и телур. Тъй като се налага загряване на сплавта до две високи температури, мощността на лазерния лъч при запис е с две нива – мощност за изтриване и мощност за запис. Скоростта при запис е 1х и 2х. Дисковете могат да бъдат еднослойни и двуслойни и </a:t>
            </a:r>
            <a:r>
              <a:rPr lang="bg-BG" sz="1700" dirty="0" err="1">
                <a:solidFill>
                  <a:schemeClr val="bg1"/>
                </a:solidFill>
                <a:latin typeface="Calibri (Body)"/>
              </a:rPr>
              <a:t>четирислойни</a:t>
            </a:r>
            <a:r>
              <a:rPr lang="bg-BG" sz="1700" dirty="0">
                <a:solidFill>
                  <a:schemeClr val="bg1"/>
                </a:solidFill>
                <a:latin typeface="Calibri (Body)"/>
              </a:rPr>
              <a:t>. Следователно капацитета на тези дискове е 4.7 </a:t>
            </a:r>
            <a:r>
              <a:rPr lang="bg-BG" sz="1700" dirty="0" err="1">
                <a:solidFill>
                  <a:schemeClr val="bg1"/>
                </a:solidFill>
                <a:latin typeface="Calibri (Body)"/>
              </a:rPr>
              <a:t>GiB</a:t>
            </a:r>
            <a:r>
              <a:rPr lang="bg-BG" sz="1700" dirty="0">
                <a:solidFill>
                  <a:schemeClr val="bg1"/>
                </a:solidFill>
                <a:latin typeface="Calibri (Body)"/>
              </a:rPr>
              <a:t>, 9.4 </a:t>
            </a:r>
            <a:r>
              <a:rPr lang="bg-BG" sz="1700" dirty="0" err="1">
                <a:solidFill>
                  <a:schemeClr val="bg1"/>
                </a:solidFill>
                <a:latin typeface="Calibri (Body)"/>
              </a:rPr>
              <a:t>Gib</a:t>
            </a:r>
            <a:r>
              <a:rPr lang="bg-BG" sz="1700" dirty="0">
                <a:solidFill>
                  <a:schemeClr val="bg1"/>
                </a:solidFill>
                <a:latin typeface="Calibri (Body)"/>
              </a:rPr>
              <a:t> или 18.8 </a:t>
            </a:r>
            <a:r>
              <a:rPr lang="bg-BG" sz="1700" dirty="0" err="1">
                <a:solidFill>
                  <a:schemeClr val="bg1"/>
                </a:solidFill>
                <a:latin typeface="Calibri (Body)"/>
              </a:rPr>
              <a:t>GiB</a:t>
            </a:r>
            <a:r>
              <a:rPr lang="bg-BG" sz="1700" dirty="0">
                <a:solidFill>
                  <a:schemeClr val="bg1"/>
                </a:solidFill>
                <a:latin typeface="Calibri (Body)"/>
              </a:rPr>
              <a:t>. </a:t>
            </a:r>
            <a:r>
              <a:rPr lang="bg-BG" sz="1700" dirty="0" err="1">
                <a:solidFill>
                  <a:schemeClr val="bg1"/>
                </a:solidFill>
                <a:latin typeface="Calibri (Body)"/>
              </a:rPr>
              <a:t>Четирислойните</a:t>
            </a:r>
            <a:r>
              <a:rPr lang="bg-BG" sz="1700" dirty="0">
                <a:solidFill>
                  <a:schemeClr val="bg1"/>
                </a:solidFill>
                <a:latin typeface="Calibri (Body)"/>
              </a:rPr>
              <a:t> дискове са двустранни. От всяка страна има по два запомнящи слоя, разположени един над друг. За да е възможно селективно четене и запис от конкретен слой, отражателния слой над запомнящ слой 1 е отражателен за запомнящ слой 1, но пропуска лъча с по-висока мощност, за да може той да се фокусира в запомнящ слой 2. Отражателен слой 2 отразява лъча, фокусиран в запомнящ слой 2. </a:t>
            </a:r>
          </a:p>
        </p:txBody>
      </p:sp>
      <p:pic>
        <p:nvPicPr>
          <p:cNvPr id="5" name="Picture 4" descr="Icon&#10;&#10;Description automatically generated">
            <a:extLst>
              <a:ext uri="{FF2B5EF4-FFF2-40B4-BE49-F238E27FC236}">
                <a16:creationId xmlns:a16="http://schemas.microsoft.com/office/drawing/2014/main" xmlns="" id="{557B837A-067C-DC31-34AB-E3095BCF233B}"/>
              </a:ext>
            </a:extLst>
          </p:cNvPr>
          <p:cNvPicPr>
            <a:picLocks noChangeAspect="1"/>
          </p:cNvPicPr>
          <p:nvPr/>
        </p:nvPicPr>
        <p:blipFill rotWithShape="1">
          <a:blip r:embed="rId2">
            <a:extLst>
              <a:ext uri="{28A0092B-C50C-407E-A947-70E740481C1C}">
                <a14:useLocalDpi xmlns:a14="http://schemas.microsoft.com/office/drawing/2010/main" val="0"/>
              </a:ext>
            </a:extLst>
          </a:blip>
          <a:srcRect l="15217" r="10043" b="-1"/>
          <a:stretch/>
        </p:blipFill>
        <p:spPr>
          <a:xfrm>
            <a:off x="8169294" y="759109"/>
            <a:ext cx="3813156" cy="5101942"/>
          </a:xfrm>
          <a:custGeom>
            <a:avLst/>
            <a:gdLst/>
            <a:ahLst/>
            <a:cxnLst/>
            <a:rect l="l" t="t" r="r" b="b"/>
            <a:pathLst>
              <a:path w="3239538" h="4334450">
                <a:moveTo>
                  <a:pt x="322464" y="0"/>
                </a:moveTo>
                <a:lnTo>
                  <a:pt x="3239538" y="0"/>
                </a:lnTo>
                <a:lnTo>
                  <a:pt x="3239538" y="4011987"/>
                </a:lnTo>
                <a:lnTo>
                  <a:pt x="2917075" y="4334450"/>
                </a:lnTo>
                <a:lnTo>
                  <a:pt x="0" y="4334450"/>
                </a:lnTo>
                <a:lnTo>
                  <a:pt x="0" y="322464"/>
                </a:lnTo>
                <a:close/>
              </a:path>
            </a:pathLst>
          </a:custGeom>
          <a:ln w="15875">
            <a:solidFill>
              <a:srgbClr val="FFFFFF">
                <a:alpha val="40000"/>
              </a:srgbClr>
            </a:solidFill>
          </a:ln>
          <a:effectLst>
            <a:innerShdw blurRad="57150" dist="38100" dir="14460000">
              <a:prstClr val="black">
                <a:alpha val="70000"/>
              </a:prstClr>
            </a:innerShdw>
          </a:effectLst>
        </p:spPr>
      </p:pic>
      <p:grpSp>
        <p:nvGrpSpPr>
          <p:cNvPr id="19" name="Group 9">
            <a:extLst>
              <a:ext uri="{FF2B5EF4-FFF2-40B4-BE49-F238E27FC236}">
                <a16:creationId xmlns:a16="http://schemas.microsoft.com/office/drawing/2014/main" xmlns="" id="{6B975FEB-EB22-4265-87DB-98C8B1A03E61}"/>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9206969" y="2959517"/>
            <a:ext cx="2981858" cy="3208867"/>
            <a:chOff x="9206969" y="2963333"/>
            <a:chExt cx="2981858" cy="3208867"/>
          </a:xfrm>
        </p:grpSpPr>
        <p:cxnSp>
          <p:nvCxnSpPr>
            <p:cNvPr id="11" name="Straight Connector 10">
              <a:extLst>
                <a:ext uri="{FF2B5EF4-FFF2-40B4-BE49-F238E27FC236}">
                  <a16:creationId xmlns:a16="http://schemas.microsoft.com/office/drawing/2014/main" xmlns="" id="{165F12FA-1912-4E22-A32D-0831ADB49ACC}"/>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Straight Connector 11">
              <a:extLst>
                <a:ext uri="{FF2B5EF4-FFF2-40B4-BE49-F238E27FC236}">
                  <a16:creationId xmlns:a16="http://schemas.microsoft.com/office/drawing/2014/main" xmlns="" id="{3D85A33A-E141-4004-96FE-2B25852F7843}"/>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xmlns="" id="{CDBBF9A1-F02B-475F-8E25-E42F6005345D}"/>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xmlns="" id="{C4E10861-F5C5-4FCE-BB8E-126306C8C7D8}"/>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xmlns="" id="{9EE8BD36-DC78-4FAA-AC76-FF2D4FAD3355}"/>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953844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00DF21D5-92B5-4D0E-8ACB-CD3732E404A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gradFill>
            <a:gsLst>
              <a:gs pos="10000">
                <a:schemeClr val="dk2">
                  <a:tint val="97000"/>
                  <a:hueMod val="92000"/>
                  <a:satMod val="169000"/>
                  <a:lumMod val="164000"/>
                </a:schemeClr>
              </a:gs>
              <a:gs pos="100000">
                <a:schemeClr val="dk2">
                  <a:shade val="96000"/>
                  <a:satMod val="120000"/>
                  <a:lumMod val="90000"/>
                </a:schemeClr>
              </a:gs>
            </a:gsLst>
            <a:lin ang="6120000" scaled="1"/>
          </a:gradFill>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10" name="Snip Diagonal Corner Rectangle 21">
            <a:extLst>
              <a:ext uri="{FF2B5EF4-FFF2-40B4-BE49-F238E27FC236}">
                <a16:creationId xmlns:a16="http://schemas.microsoft.com/office/drawing/2014/main" xmlns="" id="{B729B08C-A8E8-4A5F-BE85-F0B9269F87D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2"/>
            <a:ext cx="8129873" cy="6858002"/>
          </a:xfrm>
          <a:prstGeom prst="snip2DiagRect">
            <a:avLst>
              <a:gd name="adj1" fmla="val 0"/>
              <a:gd name="adj2" fmla="val 0"/>
            </a:avLst>
          </a:prstGeom>
          <a:solidFill>
            <a:schemeClr val="bg1">
              <a:alpha val="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xmlns="" id="{3AF0DAB2-66C2-4FB9-A4F3-E117F1D180D9}"/>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9206969" y="2963333"/>
            <a:ext cx="2981858" cy="3208867"/>
            <a:chOff x="9206969" y="2963333"/>
            <a:chExt cx="2981858" cy="3208867"/>
          </a:xfrm>
        </p:grpSpPr>
        <p:cxnSp>
          <p:nvCxnSpPr>
            <p:cNvPr id="13" name="Straight Connector 12">
              <a:extLst>
                <a:ext uri="{FF2B5EF4-FFF2-40B4-BE49-F238E27FC236}">
                  <a16:creationId xmlns:a16="http://schemas.microsoft.com/office/drawing/2014/main" xmlns="" id="{7C7822CD-C541-4174-B43B-4A5E288187B0}"/>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1276012" y="2963333"/>
              <a:ext cx="912814" cy="912812"/>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xmlns="" id="{A98BC445-D166-4C73-9048-E9EAA3130183}"/>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9206969" y="3190344"/>
              <a:ext cx="2981857" cy="2981856"/>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xmlns="" id="{50D18988-C2FA-49D2-BDF7-5C3060944B08}"/>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292292" y="3285067"/>
              <a:ext cx="1896534" cy="1896533"/>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xmlns="" id="{22EBDE56-D9C2-4852-B55B-3DB8E6795570}"/>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443103" y="3131080"/>
              <a:ext cx="1745722" cy="1745720"/>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xmlns="" id="{EB5952F4-0479-49EC-8294-C078F23532AF}"/>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918826" y="3683001"/>
              <a:ext cx="1270001" cy="1269999"/>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grpSp>
      <p:sp>
        <p:nvSpPr>
          <p:cNvPr id="2" name="Title 1">
            <a:extLst>
              <a:ext uri="{FF2B5EF4-FFF2-40B4-BE49-F238E27FC236}">
                <a16:creationId xmlns:a16="http://schemas.microsoft.com/office/drawing/2014/main" xmlns="" id="{0EB76719-0D57-A899-65F0-8020956647CB}"/>
              </a:ext>
            </a:extLst>
          </p:cNvPr>
          <p:cNvSpPr>
            <a:spLocks noGrp="1"/>
          </p:cNvSpPr>
          <p:nvPr>
            <p:ph type="title"/>
          </p:nvPr>
        </p:nvSpPr>
        <p:spPr>
          <a:xfrm>
            <a:off x="7572083" y="941424"/>
            <a:ext cx="4060474" cy="3248611"/>
          </a:xfrm>
        </p:spPr>
        <p:txBody>
          <a:bodyPr anchor="b">
            <a:normAutofit/>
          </a:bodyPr>
          <a:lstStyle/>
          <a:p>
            <a:r>
              <a:rPr lang="bg-BG" b="1" dirty="0" err="1">
                <a:solidFill>
                  <a:srgbClr val="FFFFFF"/>
                </a:solidFill>
                <a:latin typeface="Times New Roman" panose="02020603050405020304" pitchFamily="18" charset="0"/>
                <a:cs typeface="Times New Roman" panose="02020603050405020304" pitchFamily="18" charset="0"/>
              </a:rPr>
              <a:t>Blu-ray</a:t>
            </a:r>
            <a:r>
              <a:rPr lang="bg-BG" b="1" dirty="0">
                <a:solidFill>
                  <a:srgbClr val="FFFFFF"/>
                </a:solidFill>
                <a:latin typeface="Times New Roman" panose="02020603050405020304" pitchFamily="18" charset="0"/>
                <a:cs typeface="Times New Roman" panose="02020603050405020304" pitchFamily="18" charset="0"/>
              </a:rPr>
              <a:t> дискове</a:t>
            </a:r>
          </a:p>
        </p:txBody>
      </p:sp>
      <p:sp>
        <p:nvSpPr>
          <p:cNvPr id="3" name="Content Placeholder 2">
            <a:extLst>
              <a:ext uri="{FF2B5EF4-FFF2-40B4-BE49-F238E27FC236}">
                <a16:creationId xmlns:a16="http://schemas.microsoft.com/office/drawing/2014/main" xmlns="" id="{A6063A37-CCD5-74F2-C9E4-761CF634697F}"/>
              </a:ext>
            </a:extLst>
          </p:cNvPr>
          <p:cNvSpPr>
            <a:spLocks noGrp="1"/>
          </p:cNvSpPr>
          <p:nvPr>
            <p:ph idx="1"/>
          </p:nvPr>
        </p:nvSpPr>
        <p:spPr>
          <a:xfrm>
            <a:off x="684212" y="941424"/>
            <a:ext cx="6261337" cy="4758985"/>
          </a:xfrm>
        </p:spPr>
        <p:txBody>
          <a:bodyPr anchor="ctr">
            <a:normAutofit/>
          </a:bodyPr>
          <a:lstStyle/>
          <a:p>
            <a:pPr algn="just">
              <a:lnSpc>
                <a:spcPct val="90000"/>
              </a:lnSpc>
            </a:pPr>
            <a:r>
              <a:rPr lang="bg-BG" sz="1400" dirty="0">
                <a:solidFill>
                  <a:schemeClr val="bg1"/>
                </a:solidFill>
              </a:rPr>
              <a:t>Тези дискове са алтернатива на DVD технологията, като целта е предоставяне на медиа за пренос на цифрови видео записи с високо качество. Капацитетът на еднослойните </a:t>
            </a:r>
            <a:r>
              <a:rPr lang="bg-BG" sz="1400" dirty="0" err="1">
                <a:solidFill>
                  <a:schemeClr val="bg1"/>
                </a:solidFill>
              </a:rPr>
              <a:t>Blu-ray</a:t>
            </a:r>
            <a:r>
              <a:rPr lang="bg-BG" sz="1400" dirty="0">
                <a:solidFill>
                  <a:schemeClr val="bg1"/>
                </a:solidFill>
              </a:rPr>
              <a:t> дискове е 25GB; двуслойните са с капацитет 50GB; трислойните са с капацитет 100GB, а капацитетът на </a:t>
            </a:r>
            <a:r>
              <a:rPr lang="bg-BG" sz="1400" dirty="0" err="1">
                <a:solidFill>
                  <a:schemeClr val="bg1"/>
                </a:solidFill>
              </a:rPr>
              <a:t>четирислойните</a:t>
            </a:r>
            <a:r>
              <a:rPr lang="bg-BG" sz="1400" dirty="0">
                <a:solidFill>
                  <a:schemeClr val="bg1"/>
                </a:solidFill>
              </a:rPr>
              <a:t> е 128GB.  За да се постигне висока плътност на записа се използва лазерен лъч, чиято дължина на вълната е в синия (по-точно виолетовия) спектър (405 </a:t>
            </a:r>
            <a:r>
              <a:rPr lang="bg-BG" sz="1400" dirty="0" err="1">
                <a:solidFill>
                  <a:schemeClr val="bg1"/>
                </a:solidFill>
              </a:rPr>
              <a:t>nm</a:t>
            </a:r>
            <a:r>
              <a:rPr lang="bg-BG" sz="1400" dirty="0">
                <a:solidFill>
                  <a:schemeClr val="bg1"/>
                </a:solidFill>
              </a:rPr>
              <a:t>). Целта е лазерният лъч да се фокусира в точка с по-малка площ и това да позволи по-висока плътност на записа. Дебелината на подложката отново е 1.2 mm, но запомнящият слой е на дълбочина само 0.1 mm от повърхността на диска. Тази малка дълбочина позволява по-малко разсейване на лъча при преминаването му през подложката. Разстоянието между съседните обороти на пътечката в радиална посока е 0.32 µm.</a:t>
            </a:r>
          </a:p>
          <a:p>
            <a:pPr algn="just">
              <a:lnSpc>
                <a:spcPct val="90000"/>
              </a:lnSpc>
            </a:pPr>
            <a:r>
              <a:rPr lang="bg-BG" sz="1400" dirty="0">
                <a:solidFill>
                  <a:schemeClr val="bg1"/>
                </a:solidFill>
              </a:rPr>
              <a:t>Видовете </a:t>
            </a:r>
            <a:r>
              <a:rPr lang="en-US" sz="1400" dirty="0">
                <a:solidFill>
                  <a:schemeClr val="bg1"/>
                </a:solidFill>
              </a:rPr>
              <a:t>Blu-ray </a:t>
            </a:r>
            <a:r>
              <a:rPr lang="bg-BG" sz="1400" dirty="0">
                <a:solidFill>
                  <a:schemeClr val="bg1"/>
                </a:solidFill>
              </a:rPr>
              <a:t>дискове са следните:  </a:t>
            </a:r>
          </a:p>
          <a:p>
            <a:pPr algn="just">
              <a:lnSpc>
                <a:spcPct val="90000"/>
              </a:lnSpc>
            </a:pPr>
            <a:r>
              <a:rPr lang="en-US" sz="1400" dirty="0">
                <a:solidFill>
                  <a:schemeClr val="bg1"/>
                </a:solidFill>
              </a:rPr>
              <a:t>BD-ROM – </a:t>
            </a:r>
            <a:r>
              <a:rPr lang="bg-BG" sz="1400" dirty="0">
                <a:solidFill>
                  <a:schemeClr val="bg1"/>
                </a:solidFill>
              </a:rPr>
              <a:t>само за четене (предимно за домашно видео). </a:t>
            </a:r>
          </a:p>
          <a:p>
            <a:pPr algn="just">
              <a:lnSpc>
                <a:spcPct val="90000"/>
              </a:lnSpc>
            </a:pPr>
            <a:r>
              <a:rPr lang="en-US" sz="1400" dirty="0">
                <a:solidFill>
                  <a:schemeClr val="bg1"/>
                </a:solidFill>
              </a:rPr>
              <a:t>BD-R – </a:t>
            </a:r>
            <a:r>
              <a:rPr lang="bg-BG" sz="1400" dirty="0">
                <a:solidFill>
                  <a:schemeClr val="bg1"/>
                </a:solidFill>
              </a:rPr>
              <a:t>еднократен запис. </a:t>
            </a:r>
          </a:p>
          <a:p>
            <a:pPr algn="just">
              <a:lnSpc>
                <a:spcPct val="90000"/>
              </a:lnSpc>
            </a:pPr>
            <a:r>
              <a:rPr lang="en-US" sz="1400" dirty="0">
                <a:solidFill>
                  <a:schemeClr val="bg1"/>
                </a:solidFill>
              </a:rPr>
              <a:t>BD-RE – </a:t>
            </a:r>
            <a:r>
              <a:rPr lang="bg-BG" sz="1400" dirty="0">
                <a:solidFill>
                  <a:schemeClr val="bg1"/>
                </a:solidFill>
              </a:rPr>
              <a:t>многократно презаписваеми (до 1000 пъти). </a:t>
            </a:r>
          </a:p>
          <a:p>
            <a:pPr algn="just">
              <a:lnSpc>
                <a:spcPct val="90000"/>
              </a:lnSpc>
            </a:pPr>
            <a:r>
              <a:rPr lang="en-US" sz="1400" dirty="0">
                <a:solidFill>
                  <a:schemeClr val="bg1"/>
                </a:solidFill>
              </a:rPr>
              <a:t>BD-XL – </a:t>
            </a:r>
            <a:r>
              <a:rPr lang="bg-BG" sz="1400" dirty="0">
                <a:solidFill>
                  <a:schemeClr val="bg1"/>
                </a:solidFill>
              </a:rPr>
              <a:t>многократно презаписваеми, многослойни. </a:t>
            </a:r>
          </a:p>
        </p:txBody>
      </p:sp>
    </p:spTree>
    <p:extLst>
      <p:ext uri="{BB962C8B-B14F-4D97-AF65-F5344CB8AC3E}">
        <p14:creationId xmlns:p14="http://schemas.microsoft.com/office/powerpoint/2010/main" val="3069021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xmlns="" id="{9ACA6826-032C-4799-B079-15DB2A6CBD9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348AF966-64B6-92CF-E5D5-DC3491DFDD34}"/>
              </a:ext>
            </a:extLst>
          </p:cNvPr>
          <p:cNvSpPr>
            <a:spLocks noGrp="1"/>
          </p:cNvSpPr>
          <p:nvPr>
            <p:ph type="title"/>
          </p:nvPr>
        </p:nvSpPr>
        <p:spPr>
          <a:xfrm>
            <a:off x="558269" y="352806"/>
            <a:ext cx="8534400" cy="1507067"/>
          </a:xfrm>
        </p:spPr>
        <p:txBody>
          <a:bodyPr>
            <a:normAutofit/>
          </a:bodyPr>
          <a:lstStyle/>
          <a:p>
            <a:r>
              <a:rPr lang="bg-BG" b="1" dirty="0">
                <a:latin typeface="Times New Roman" panose="02020603050405020304" pitchFamily="18" charset="0"/>
                <a:cs typeface="Times New Roman" panose="02020603050405020304" pitchFamily="18" charset="0"/>
              </a:rPr>
              <a:t>BD-R </a:t>
            </a:r>
            <a:r>
              <a:rPr lang="en-US" b="1" dirty="0">
                <a:latin typeface="Times New Roman" panose="02020603050405020304" pitchFamily="18" charset="0"/>
                <a:cs typeface="Times New Roman" panose="02020603050405020304" pitchFamily="18" charset="0"/>
              </a:rPr>
              <a:t>&amp; BD-RE</a:t>
            </a:r>
            <a:endParaRPr lang="bg-BG"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4302131E-B9A8-D0A4-06A1-F29C813D2B9B}"/>
              </a:ext>
            </a:extLst>
          </p:cNvPr>
          <p:cNvSpPr>
            <a:spLocks noGrp="1"/>
          </p:cNvSpPr>
          <p:nvPr>
            <p:ph idx="1"/>
          </p:nvPr>
        </p:nvSpPr>
        <p:spPr>
          <a:xfrm>
            <a:off x="281103" y="1958053"/>
            <a:ext cx="7662747" cy="3909347"/>
          </a:xfrm>
        </p:spPr>
        <p:txBody>
          <a:bodyPr>
            <a:normAutofit/>
          </a:bodyPr>
          <a:lstStyle/>
          <a:p>
            <a:pPr algn="just">
              <a:lnSpc>
                <a:spcPct val="90000"/>
              </a:lnSpc>
            </a:pPr>
            <a:r>
              <a:rPr lang="ru-RU" sz="1600" dirty="0">
                <a:solidFill>
                  <a:schemeClr val="bg1"/>
                </a:solidFill>
              </a:rPr>
              <a:t>„</a:t>
            </a:r>
            <a:r>
              <a:rPr lang="en-US" sz="1600" dirty="0">
                <a:solidFill>
                  <a:schemeClr val="bg1"/>
                </a:solidFill>
              </a:rPr>
              <a:t> Blu-ray Disc recordable"</a:t>
            </a:r>
            <a:r>
              <a:rPr lang="bg-BG" sz="1600" dirty="0">
                <a:solidFill>
                  <a:schemeClr val="bg1"/>
                </a:solidFill>
              </a:rPr>
              <a:t> </a:t>
            </a:r>
            <a:r>
              <a:rPr lang="ru-RU" sz="1600" dirty="0">
                <a:solidFill>
                  <a:schemeClr val="bg1"/>
                </a:solidFill>
              </a:rPr>
              <a:t>(</a:t>
            </a:r>
            <a:r>
              <a:rPr lang="bg-BG" sz="1600" dirty="0">
                <a:solidFill>
                  <a:schemeClr val="bg1"/>
                </a:solidFill>
              </a:rPr>
              <a:t>BD-R) се отнася до два оптични дискови формата, които могат да се записват с оптичен диск рекордер. BD-R дискове могат да бъдат записани веднъж, докато </a:t>
            </a:r>
            <a:r>
              <a:rPr lang="bg-BG" sz="1600" dirty="0" err="1">
                <a:solidFill>
                  <a:schemeClr val="bg1"/>
                </a:solidFill>
              </a:rPr>
              <a:t>Blu-ray</a:t>
            </a:r>
            <a:r>
              <a:rPr lang="bg-BG" sz="1600" dirty="0">
                <a:solidFill>
                  <a:schemeClr val="bg1"/>
                </a:solidFill>
              </a:rPr>
              <a:t> </a:t>
            </a:r>
            <a:r>
              <a:rPr lang="bg-BG" sz="1600" dirty="0" err="1">
                <a:solidFill>
                  <a:schemeClr val="bg1"/>
                </a:solidFill>
              </a:rPr>
              <a:t>Disc</a:t>
            </a:r>
            <a:r>
              <a:rPr lang="bg-BG" sz="1600" dirty="0">
                <a:solidFill>
                  <a:schemeClr val="bg1"/>
                </a:solidFill>
              </a:rPr>
              <a:t> </a:t>
            </a:r>
            <a:r>
              <a:rPr lang="bg-BG" sz="1600" dirty="0" err="1">
                <a:solidFill>
                  <a:schemeClr val="bg1"/>
                </a:solidFill>
              </a:rPr>
              <a:t>Recordable</a:t>
            </a:r>
            <a:r>
              <a:rPr lang="bg-BG" sz="1600" dirty="0">
                <a:solidFill>
                  <a:schemeClr val="bg1"/>
                </a:solidFill>
              </a:rPr>
              <a:t> </a:t>
            </a:r>
            <a:r>
              <a:rPr lang="bg-BG" sz="1600" dirty="0" err="1">
                <a:solidFill>
                  <a:schemeClr val="bg1"/>
                </a:solidFill>
              </a:rPr>
              <a:t>Erasable</a:t>
            </a:r>
            <a:r>
              <a:rPr lang="bg-BG" sz="1600" dirty="0">
                <a:solidFill>
                  <a:schemeClr val="bg1"/>
                </a:solidFill>
              </a:rPr>
              <a:t> (BD-RE) могат да бъдат изтрити и презаписани няколко пъти. Текущата практическа максимална скорост за </a:t>
            </a:r>
            <a:r>
              <a:rPr lang="bg-BG" sz="1600" dirty="0" err="1">
                <a:solidFill>
                  <a:schemeClr val="bg1"/>
                </a:solidFill>
              </a:rPr>
              <a:t>Blu-ray</a:t>
            </a:r>
            <a:r>
              <a:rPr lang="bg-BG" sz="1600" dirty="0">
                <a:solidFill>
                  <a:schemeClr val="bg1"/>
                </a:solidFill>
              </a:rPr>
              <a:t> дискове е около 12× (54 MB/s).  По-високите скорости на въртене (5000+ </a:t>
            </a:r>
            <a:r>
              <a:rPr lang="bg-BG" sz="1600" dirty="0" err="1">
                <a:solidFill>
                  <a:schemeClr val="bg1"/>
                </a:solidFill>
              </a:rPr>
              <a:t>rpm</a:t>
            </a:r>
            <a:r>
              <a:rPr lang="bg-BG" sz="1600" dirty="0">
                <a:solidFill>
                  <a:schemeClr val="bg1"/>
                </a:solidFill>
              </a:rPr>
              <a:t>) причиняват твърде много трептене, за да могат дисковете да се записват правилно, както при 24× (33,2 MB/s) и 56× (8,2 MB/s, 11 200 </a:t>
            </a:r>
            <a:r>
              <a:rPr lang="bg-BG" sz="1600" dirty="0" err="1">
                <a:solidFill>
                  <a:schemeClr val="bg1"/>
                </a:solidFill>
              </a:rPr>
              <a:t>rpm</a:t>
            </a:r>
            <a:r>
              <a:rPr lang="bg-BG" sz="1600" dirty="0">
                <a:solidFill>
                  <a:schemeClr val="bg1"/>
                </a:solidFill>
              </a:rPr>
              <a:t>) максимални скорости, съответно, на стандартните DVD и CD дискове. От септември 2007 г. BD-RE се предлага и в по-малкия размер на </a:t>
            </a:r>
            <a:r>
              <a:rPr lang="bg-BG" sz="1600" dirty="0" err="1">
                <a:solidFill>
                  <a:schemeClr val="bg1"/>
                </a:solidFill>
              </a:rPr>
              <a:t>Mini</a:t>
            </a:r>
            <a:r>
              <a:rPr lang="bg-BG" sz="1600" dirty="0">
                <a:solidFill>
                  <a:schemeClr val="bg1"/>
                </a:solidFill>
              </a:rPr>
              <a:t> </a:t>
            </a:r>
            <a:r>
              <a:rPr lang="bg-BG" sz="1600" dirty="0" err="1">
                <a:solidFill>
                  <a:schemeClr val="bg1"/>
                </a:solidFill>
              </a:rPr>
              <a:t>Blu-ray</a:t>
            </a:r>
            <a:r>
              <a:rPr lang="bg-BG" sz="1600" dirty="0">
                <a:solidFill>
                  <a:schemeClr val="bg1"/>
                </a:solidFill>
              </a:rPr>
              <a:t> </a:t>
            </a:r>
            <a:r>
              <a:rPr lang="bg-BG" sz="1600" dirty="0" err="1">
                <a:solidFill>
                  <a:schemeClr val="bg1"/>
                </a:solidFill>
              </a:rPr>
              <a:t>Disc</a:t>
            </a:r>
            <a:r>
              <a:rPr lang="bg-BG" sz="1600" dirty="0">
                <a:solidFill>
                  <a:schemeClr val="bg1"/>
                </a:solidFill>
              </a:rPr>
              <a:t> от 8 cm.</a:t>
            </a:r>
          </a:p>
          <a:p>
            <a:pPr algn="just">
              <a:lnSpc>
                <a:spcPct val="90000"/>
              </a:lnSpc>
            </a:pPr>
            <a:r>
              <a:rPr lang="en-US" sz="1600" dirty="0">
                <a:solidFill>
                  <a:schemeClr val="bg1"/>
                </a:solidFill>
              </a:rPr>
              <a:t>Blu-ray Disc Recordable Erasable (BD-RE) </a:t>
            </a:r>
            <a:r>
              <a:rPr lang="bg-BG" sz="1600" dirty="0">
                <a:solidFill>
                  <a:schemeClr val="bg1"/>
                </a:solidFill>
              </a:rPr>
              <a:t>може да бъде изтрит и презаписан многократно. Капацитетът на диска е 25 </a:t>
            </a:r>
            <a:r>
              <a:rPr lang="en-US" sz="1600" dirty="0">
                <a:solidFill>
                  <a:schemeClr val="bg1"/>
                </a:solidFill>
              </a:rPr>
              <a:t>GB </a:t>
            </a:r>
            <a:r>
              <a:rPr lang="bg-BG" sz="1600" dirty="0">
                <a:solidFill>
                  <a:schemeClr val="bg1"/>
                </a:solidFill>
              </a:rPr>
              <a:t>за еднослойни дискове, 50 </a:t>
            </a:r>
            <a:r>
              <a:rPr lang="en-US" sz="1600" dirty="0">
                <a:solidFill>
                  <a:schemeClr val="bg1"/>
                </a:solidFill>
              </a:rPr>
              <a:t>GB </a:t>
            </a:r>
            <a:r>
              <a:rPr lang="bg-BG" sz="1600" dirty="0">
                <a:solidFill>
                  <a:schemeClr val="bg1"/>
                </a:solidFill>
              </a:rPr>
              <a:t>за двуслойни дискове, 100 </a:t>
            </a:r>
            <a:r>
              <a:rPr lang="en-US" sz="1600" dirty="0">
                <a:solidFill>
                  <a:schemeClr val="bg1"/>
                </a:solidFill>
              </a:rPr>
              <a:t>GB ("XL") </a:t>
            </a:r>
            <a:r>
              <a:rPr lang="bg-BG" sz="1600" dirty="0">
                <a:solidFill>
                  <a:schemeClr val="bg1"/>
                </a:solidFill>
              </a:rPr>
              <a:t>за трислойни и 128 </a:t>
            </a:r>
            <a:r>
              <a:rPr lang="en-US" sz="1600" dirty="0">
                <a:solidFill>
                  <a:schemeClr val="bg1"/>
                </a:solidFill>
              </a:rPr>
              <a:t>GB </a:t>
            </a:r>
            <a:r>
              <a:rPr lang="bg-BG" sz="1600" dirty="0">
                <a:solidFill>
                  <a:schemeClr val="bg1"/>
                </a:solidFill>
              </a:rPr>
              <a:t>за </a:t>
            </a:r>
            <a:r>
              <a:rPr lang="bg-BG" sz="1600" dirty="0" err="1">
                <a:solidFill>
                  <a:schemeClr val="bg1"/>
                </a:solidFill>
              </a:rPr>
              <a:t>четирислойни</a:t>
            </a:r>
            <a:r>
              <a:rPr lang="bg-BG" sz="1600" dirty="0">
                <a:solidFill>
                  <a:schemeClr val="bg1"/>
                </a:solidFill>
              </a:rPr>
              <a:t> (само в </a:t>
            </a:r>
            <a:r>
              <a:rPr lang="en-US" sz="1600" dirty="0">
                <a:solidFill>
                  <a:schemeClr val="bg1"/>
                </a:solidFill>
              </a:rPr>
              <a:t>BD-R).</a:t>
            </a:r>
            <a:r>
              <a:rPr lang="bg-BG" sz="1600" dirty="0">
                <a:solidFill>
                  <a:schemeClr val="bg1"/>
                </a:solidFill>
              </a:rPr>
              <a:t> </a:t>
            </a:r>
          </a:p>
        </p:txBody>
      </p:sp>
      <p:pic>
        <p:nvPicPr>
          <p:cNvPr id="6" name="Picture 5" descr="Logo&#10;&#10;Description automatically generated">
            <a:extLst>
              <a:ext uri="{FF2B5EF4-FFF2-40B4-BE49-F238E27FC236}">
                <a16:creationId xmlns:a16="http://schemas.microsoft.com/office/drawing/2014/main" xmlns="" id="{6F1E7FDA-3588-5A12-811E-34B5CC8ADA0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73061" y="2598591"/>
            <a:ext cx="4318939" cy="2321429"/>
          </a:xfrm>
          <a:prstGeom prst="rect">
            <a:avLst/>
          </a:prstGeom>
          <a:effectLst>
            <a:innerShdw blurRad="57150" dist="38100" dir="14460000">
              <a:prstClr val="black">
                <a:alpha val="70000"/>
              </a:prstClr>
            </a:innerShdw>
          </a:effectLst>
        </p:spPr>
      </p:pic>
      <p:grpSp>
        <p:nvGrpSpPr>
          <p:cNvPr id="13" name="Group 12">
            <a:extLst>
              <a:ext uri="{FF2B5EF4-FFF2-40B4-BE49-F238E27FC236}">
                <a16:creationId xmlns:a16="http://schemas.microsoft.com/office/drawing/2014/main" xmlns="" id="{DD58A807-BD0E-4B1D-A523-2F20E7FE2695}"/>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9206969" y="2933837"/>
            <a:ext cx="2981858" cy="3208867"/>
            <a:chOff x="9206969" y="2963333"/>
            <a:chExt cx="2981858" cy="3208867"/>
          </a:xfrm>
        </p:grpSpPr>
        <p:cxnSp>
          <p:nvCxnSpPr>
            <p:cNvPr id="14" name="Straight Connector 13">
              <a:extLst>
                <a:ext uri="{FF2B5EF4-FFF2-40B4-BE49-F238E27FC236}">
                  <a16:creationId xmlns:a16="http://schemas.microsoft.com/office/drawing/2014/main" xmlns="" id="{AC82FD88-0436-4D5C-B5A2-7B90191949E1}"/>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xmlns="" id="{E2706DBD-9DBD-49D6-80EB-C896096D2F0B}"/>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xmlns="" id="{251C7442-3F0F-49E3-9389-D6B4BAE14A89}"/>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xmlns="" id="{BA614368-43A5-4794-BA71-09F8585F9FC2}"/>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xmlns="" id="{3F42B96B-0C70-40CB-A027-175F2A16571A}"/>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1384875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DA9B355-677A-3BF0-CD87-B508565CB4EE}"/>
              </a:ext>
            </a:extLst>
          </p:cNvPr>
          <p:cNvSpPr>
            <a:spLocks noGrp="1"/>
          </p:cNvSpPr>
          <p:nvPr>
            <p:ph type="title"/>
          </p:nvPr>
        </p:nvSpPr>
        <p:spPr>
          <a:xfrm>
            <a:off x="695515" y="260239"/>
            <a:ext cx="7350079" cy="1507067"/>
          </a:xfrm>
        </p:spPr>
        <p:txBody>
          <a:bodyPr>
            <a:normAutofit/>
          </a:bodyPr>
          <a:lstStyle/>
          <a:p>
            <a:r>
              <a:rPr lang="bg-BG" b="1" dirty="0">
                <a:latin typeface="Times New Roman" panose="02020603050405020304" pitchFamily="18" charset="0"/>
                <a:cs typeface="Times New Roman" panose="02020603050405020304" pitchFamily="18" charset="0"/>
              </a:rPr>
              <a:t>Как работят BD-R </a:t>
            </a:r>
            <a:r>
              <a:rPr lang="en-US" b="1" dirty="0">
                <a:latin typeface="Times New Roman" panose="02020603050405020304" pitchFamily="18" charset="0"/>
                <a:cs typeface="Times New Roman" panose="02020603050405020304" pitchFamily="18" charset="0"/>
              </a:rPr>
              <a:t>&amp; BD-RE</a:t>
            </a:r>
            <a:r>
              <a:rPr lang="bg-BG" b="1"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xmlns="" id="{127984BB-640E-6544-1B1A-C4849BB89D44}"/>
              </a:ext>
            </a:extLst>
          </p:cNvPr>
          <p:cNvSpPr>
            <a:spLocks noGrp="1"/>
          </p:cNvSpPr>
          <p:nvPr>
            <p:ph idx="1"/>
          </p:nvPr>
        </p:nvSpPr>
        <p:spPr>
          <a:xfrm>
            <a:off x="357818" y="1871551"/>
            <a:ext cx="7350079" cy="3615267"/>
          </a:xfrm>
        </p:spPr>
        <p:txBody>
          <a:bodyPr>
            <a:normAutofit/>
          </a:bodyPr>
          <a:lstStyle/>
          <a:p>
            <a:pPr algn="just">
              <a:lnSpc>
                <a:spcPct val="90000"/>
              </a:lnSpc>
            </a:pPr>
            <a:r>
              <a:rPr lang="bg-BG" sz="1700" dirty="0">
                <a:solidFill>
                  <a:schemeClr val="bg1"/>
                </a:solidFill>
              </a:rPr>
              <a:t>Вместо вдлъбнатини и полета, които се срещат на предварително записани, BD-R и RE дисковете съдържат жлебове, които съдържат честота на трептене, която се използва за локализиране на позицията на лазера за четене или запис върху диска. BD-R има </a:t>
            </a:r>
            <a:r>
              <a:rPr lang="bg-BG" sz="1700" dirty="0" err="1">
                <a:solidFill>
                  <a:schemeClr val="bg1"/>
                </a:solidFill>
              </a:rPr>
              <a:t>Optimum</a:t>
            </a:r>
            <a:r>
              <a:rPr lang="bg-BG" sz="1700" dirty="0">
                <a:solidFill>
                  <a:schemeClr val="bg1"/>
                </a:solidFill>
              </a:rPr>
              <a:t> </a:t>
            </a:r>
            <a:r>
              <a:rPr lang="bg-BG" sz="1700" dirty="0" err="1">
                <a:solidFill>
                  <a:schemeClr val="bg1"/>
                </a:solidFill>
              </a:rPr>
              <a:t>Power</a:t>
            </a:r>
            <a:r>
              <a:rPr lang="bg-BG" sz="1700" dirty="0">
                <a:solidFill>
                  <a:schemeClr val="bg1"/>
                </a:solidFill>
              </a:rPr>
              <a:t> </a:t>
            </a:r>
            <a:r>
              <a:rPr lang="bg-BG" sz="1700" dirty="0" err="1">
                <a:solidFill>
                  <a:schemeClr val="bg1"/>
                </a:solidFill>
              </a:rPr>
              <a:t>Calibrations</a:t>
            </a:r>
            <a:r>
              <a:rPr lang="bg-BG" sz="1700" dirty="0">
                <a:solidFill>
                  <a:schemeClr val="bg1"/>
                </a:solidFill>
              </a:rPr>
              <a:t> (OPC) / Тестова зона, която се използва за калибриране (фино регулиране) на мощността на пишещия лазер преди и по време на писане, а също така има </a:t>
            </a:r>
            <a:r>
              <a:rPr lang="bg-BG" sz="1700" dirty="0" err="1">
                <a:solidFill>
                  <a:schemeClr val="bg1"/>
                </a:solidFill>
              </a:rPr>
              <a:t>Drive</a:t>
            </a:r>
            <a:r>
              <a:rPr lang="bg-BG" sz="1700" dirty="0">
                <a:solidFill>
                  <a:schemeClr val="bg1"/>
                </a:solidFill>
              </a:rPr>
              <a:t> </a:t>
            </a:r>
            <a:r>
              <a:rPr lang="bg-BG" sz="1700" dirty="0" err="1">
                <a:solidFill>
                  <a:schemeClr val="bg1"/>
                </a:solidFill>
              </a:rPr>
              <a:t>Calibration</a:t>
            </a:r>
            <a:r>
              <a:rPr lang="bg-BG" sz="1700" dirty="0">
                <a:solidFill>
                  <a:schemeClr val="bg1"/>
                </a:solidFill>
              </a:rPr>
              <a:t> </a:t>
            </a:r>
            <a:r>
              <a:rPr lang="bg-BG" sz="1700" dirty="0" err="1">
                <a:solidFill>
                  <a:schemeClr val="bg1"/>
                </a:solidFill>
              </a:rPr>
              <a:t>Zone</a:t>
            </a:r>
            <a:r>
              <a:rPr lang="bg-BG" sz="1700" dirty="0">
                <a:solidFill>
                  <a:schemeClr val="bg1"/>
                </a:solidFill>
              </a:rPr>
              <a:t> (DCZ) на външния ръб на диска, за опционално високоскоростно калибриране. Калибрирането е необходимо за допускане на леки производствени дефекти, значително намаляване или пълно елиминиране на отхвърлените дискове и устройства, намаляване на разходите и елиминиране на потенциални отпадъци.</a:t>
            </a:r>
          </a:p>
        </p:txBody>
      </p:sp>
      <p:pic>
        <p:nvPicPr>
          <p:cNvPr id="6" name="Picture 5" descr="A blue circle with white text&#10;&#10;Description automatically generated with low confidence">
            <a:extLst>
              <a:ext uri="{FF2B5EF4-FFF2-40B4-BE49-F238E27FC236}">
                <a16:creationId xmlns:a16="http://schemas.microsoft.com/office/drawing/2014/main" xmlns="" id="{925A47DA-46D5-BA90-C909-1C86E1F9772C}"/>
              </a:ext>
            </a:extLst>
          </p:cNvPr>
          <p:cNvPicPr>
            <a:picLocks noChangeAspect="1"/>
          </p:cNvPicPr>
          <p:nvPr/>
        </p:nvPicPr>
        <p:blipFill rotWithShape="1">
          <a:blip r:embed="rId2">
            <a:extLst>
              <a:ext uri="{28A0092B-C50C-407E-A947-70E740481C1C}">
                <a14:useLocalDpi xmlns:a14="http://schemas.microsoft.com/office/drawing/2010/main" val="0"/>
              </a:ext>
            </a:extLst>
          </a:blip>
          <a:srcRect l="14098" r="13031"/>
          <a:stretch/>
        </p:blipFill>
        <p:spPr>
          <a:xfrm>
            <a:off x="8277869" y="700290"/>
            <a:ext cx="3716394" cy="4972476"/>
          </a:xfrm>
          <a:custGeom>
            <a:avLst/>
            <a:gdLst/>
            <a:ahLst/>
            <a:cxnLst/>
            <a:rect l="l" t="t" r="r" b="b"/>
            <a:pathLst>
              <a:path w="3239538" h="4334450">
                <a:moveTo>
                  <a:pt x="322464" y="0"/>
                </a:moveTo>
                <a:lnTo>
                  <a:pt x="3239538" y="0"/>
                </a:lnTo>
                <a:lnTo>
                  <a:pt x="3239538" y="4011987"/>
                </a:lnTo>
                <a:lnTo>
                  <a:pt x="2917075" y="4334450"/>
                </a:lnTo>
                <a:lnTo>
                  <a:pt x="0" y="4334450"/>
                </a:lnTo>
                <a:lnTo>
                  <a:pt x="0" y="322464"/>
                </a:lnTo>
                <a:close/>
              </a:path>
            </a:pathLst>
          </a:custGeom>
          <a:ln w="15875">
            <a:solidFill>
              <a:srgbClr val="FFFFFF">
                <a:alpha val="40000"/>
              </a:srgbClr>
            </a:solidFill>
          </a:ln>
          <a:effectLst>
            <a:innerShdw blurRad="57150" dist="38100" dir="14460000">
              <a:prstClr val="black">
                <a:alpha val="70000"/>
              </a:prstClr>
            </a:innerShdw>
          </a:effectLst>
        </p:spPr>
      </p:pic>
      <p:grpSp>
        <p:nvGrpSpPr>
          <p:cNvPr id="11" name="Group 10">
            <a:extLst>
              <a:ext uri="{FF2B5EF4-FFF2-40B4-BE49-F238E27FC236}">
                <a16:creationId xmlns:a16="http://schemas.microsoft.com/office/drawing/2014/main" xmlns="" id="{6B975FEB-EB22-4265-87DB-98C8B1A03E61}"/>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9206969" y="2959517"/>
            <a:ext cx="2981858" cy="3208867"/>
            <a:chOff x="9206969" y="2963333"/>
            <a:chExt cx="2981858" cy="3208867"/>
          </a:xfrm>
        </p:grpSpPr>
        <p:cxnSp>
          <p:nvCxnSpPr>
            <p:cNvPr id="12" name="Straight Connector 11">
              <a:extLst>
                <a:ext uri="{FF2B5EF4-FFF2-40B4-BE49-F238E27FC236}">
                  <a16:creationId xmlns:a16="http://schemas.microsoft.com/office/drawing/2014/main" xmlns="" id="{165F12FA-1912-4E22-A32D-0831ADB49ACC}"/>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5" name="Straight Connector 12">
              <a:extLst>
                <a:ext uri="{FF2B5EF4-FFF2-40B4-BE49-F238E27FC236}">
                  <a16:creationId xmlns:a16="http://schemas.microsoft.com/office/drawing/2014/main" xmlns="" id="{3D85A33A-E141-4004-96FE-2B25852F7843}"/>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xmlns="" id="{CDBBF9A1-F02B-475F-8E25-E42F6005345D}"/>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xmlns="" id="{C4E10861-F5C5-4FCE-BB8E-126306C8C7D8}"/>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xmlns="" id="{9EE8BD36-DC78-4FAA-AC76-FF2D4FAD3355}"/>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446931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21" name="Rectangle 10">
            <a:extLst>
              <a:ext uri="{FF2B5EF4-FFF2-40B4-BE49-F238E27FC236}">
                <a16:creationId xmlns:a16="http://schemas.microsoft.com/office/drawing/2014/main" xmlns="" id="{BADDD09E-8094-4188-9090-C1C7840FE71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69E1D4F9-A135-529F-4948-775A06735B99}"/>
              </a:ext>
            </a:extLst>
          </p:cNvPr>
          <p:cNvSpPr>
            <a:spLocks noGrp="1"/>
          </p:cNvSpPr>
          <p:nvPr>
            <p:ph type="title"/>
          </p:nvPr>
        </p:nvSpPr>
        <p:spPr>
          <a:xfrm>
            <a:off x="6404155" y="342106"/>
            <a:ext cx="4205003" cy="1507067"/>
          </a:xfrm>
        </p:spPr>
        <p:txBody>
          <a:bodyPr>
            <a:normAutofit/>
          </a:bodyPr>
          <a:lstStyle/>
          <a:p>
            <a:r>
              <a:rPr lang="en-US" sz="3200" b="1" i="0" dirty="0">
                <a:effectLst/>
                <a:latin typeface="Times New Roman" panose="02020603050405020304" pitchFamily="18" charset="0"/>
                <a:cs typeface="Times New Roman" panose="02020603050405020304" pitchFamily="18" charset="0"/>
              </a:rPr>
              <a:t>BDXL</a:t>
            </a:r>
            <a:endParaRPr lang="bg-BG" sz="3200" dirty="0">
              <a:latin typeface="Times New Roman" panose="02020603050405020304" pitchFamily="18" charset="0"/>
              <a:cs typeface="Times New Roman" panose="02020603050405020304" pitchFamily="18" charset="0"/>
            </a:endParaRPr>
          </a:p>
        </p:txBody>
      </p:sp>
      <p:sp>
        <p:nvSpPr>
          <p:cNvPr id="13" name="Snip Diagonal Corner Rectangle 24">
            <a:extLst>
              <a:ext uri="{FF2B5EF4-FFF2-40B4-BE49-F238E27FC236}">
                <a16:creationId xmlns:a16="http://schemas.microsoft.com/office/drawing/2014/main" xmlns="" id="{C58F6CE0-025D-40A5-AEF1-00954E3F986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34000" y="620722"/>
            <a:ext cx="5136155" cy="5286838"/>
          </a:xfrm>
          <a:prstGeom prst="snip2DiagRect">
            <a:avLst>
              <a:gd name="adj1" fmla="val 9954"/>
              <a:gd name="adj2" fmla="val 0"/>
            </a:avLst>
          </a:prstGeom>
          <a:solidFill>
            <a:schemeClr val="tx1"/>
          </a:solidFill>
          <a:ln>
            <a:no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Graphical user interface, application&#10;&#10;Description automatically generated">
            <a:extLst>
              <a:ext uri="{FF2B5EF4-FFF2-40B4-BE49-F238E27FC236}">
                <a16:creationId xmlns:a16="http://schemas.microsoft.com/office/drawing/2014/main" xmlns="" id="{0734DE59-DD8E-B578-2583-5C454B7FD39E}"/>
              </a:ext>
            </a:extLst>
          </p:cNvPr>
          <p:cNvPicPr>
            <a:picLocks noChangeAspect="1"/>
          </p:cNvPicPr>
          <p:nvPr/>
        </p:nvPicPr>
        <p:blipFill rotWithShape="1">
          <a:blip r:embed="rId2">
            <a:extLst>
              <a:ext uri="{28A0092B-C50C-407E-A947-70E740481C1C}">
                <a14:useLocalDpi xmlns:a14="http://schemas.microsoft.com/office/drawing/2010/main" val="0"/>
              </a:ext>
            </a:extLst>
          </a:blip>
          <a:srcRect l="2952" r="-1" b="-1"/>
          <a:stretch/>
        </p:blipFill>
        <p:spPr>
          <a:xfrm>
            <a:off x="797205" y="786117"/>
            <a:ext cx="4809744" cy="4956048"/>
          </a:xfrm>
          <a:custGeom>
            <a:avLst/>
            <a:gdLst/>
            <a:ahLst/>
            <a:cxnLst/>
            <a:rect l="l" t="t" r="r" b="b"/>
            <a:pathLst>
              <a:path w="4809744" h="4956048">
                <a:moveTo>
                  <a:pt x="478762" y="0"/>
                </a:moveTo>
                <a:lnTo>
                  <a:pt x="4809744" y="0"/>
                </a:lnTo>
                <a:lnTo>
                  <a:pt x="4809744" y="4477286"/>
                </a:lnTo>
                <a:lnTo>
                  <a:pt x="4330982" y="4956048"/>
                </a:lnTo>
                <a:lnTo>
                  <a:pt x="0" y="4956048"/>
                </a:lnTo>
                <a:lnTo>
                  <a:pt x="0" y="478762"/>
                </a:lnTo>
                <a:close/>
              </a:path>
            </a:pathLst>
          </a:custGeom>
        </p:spPr>
      </p:pic>
      <p:sp>
        <p:nvSpPr>
          <p:cNvPr id="3" name="Content Placeholder 2">
            <a:extLst>
              <a:ext uri="{FF2B5EF4-FFF2-40B4-BE49-F238E27FC236}">
                <a16:creationId xmlns:a16="http://schemas.microsoft.com/office/drawing/2014/main" xmlns="" id="{0456634A-0924-E7C2-7118-FBA0AD4D8A0E}"/>
              </a:ext>
            </a:extLst>
          </p:cNvPr>
          <p:cNvSpPr>
            <a:spLocks noGrp="1"/>
          </p:cNvSpPr>
          <p:nvPr>
            <p:ph idx="1"/>
          </p:nvPr>
        </p:nvSpPr>
        <p:spPr>
          <a:xfrm>
            <a:off x="6082672" y="1933047"/>
            <a:ext cx="5190166" cy="3809118"/>
          </a:xfrm>
        </p:spPr>
        <p:txBody>
          <a:bodyPr>
            <a:noAutofit/>
          </a:bodyPr>
          <a:lstStyle/>
          <a:p>
            <a:pPr algn="just">
              <a:lnSpc>
                <a:spcPct val="90000"/>
              </a:lnSpc>
            </a:pPr>
            <a:r>
              <a:rPr lang="bg-BG" sz="1400" dirty="0">
                <a:solidFill>
                  <a:schemeClr val="bg1"/>
                </a:solidFill>
              </a:rPr>
              <a:t>Форматът </a:t>
            </a:r>
            <a:r>
              <a:rPr lang="en-US" sz="1400" dirty="0">
                <a:solidFill>
                  <a:schemeClr val="bg1"/>
                </a:solidFill>
              </a:rPr>
              <a:t>BDXL </a:t>
            </a:r>
            <a:r>
              <a:rPr lang="bg-BG" sz="1400" dirty="0">
                <a:solidFill>
                  <a:schemeClr val="bg1"/>
                </a:solidFill>
              </a:rPr>
              <a:t>позволява 100 </a:t>
            </a:r>
            <a:r>
              <a:rPr lang="en-US" sz="1400" dirty="0">
                <a:solidFill>
                  <a:schemeClr val="bg1"/>
                </a:solidFill>
              </a:rPr>
              <a:t>GB </a:t>
            </a:r>
            <a:r>
              <a:rPr lang="bg-BG" sz="1400" dirty="0">
                <a:solidFill>
                  <a:schemeClr val="bg1"/>
                </a:solidFill>
              </a:rPr>
              <a:t>и 128 </a:t>
            </a:r>
            <a:r>
              <a:rPr lang="en-US" sz="1400" dirty="0">
                <a:solidFill>
                  <a:schemeClr val="bg1"/>
                </a:solidFill>
              </a:rPr>
              <a:t>GB </a:t>
            </a:r>
            <a:r>
              <a:rPr lang="bg-BG" sz="1400" dirty="0">
                <a:solidFill>
                  <a:schemeClr val="bg1"/>
                </a:solidFill>
              </a:rPr>
              <a:t>дискове за еднократен запис и 100 </a:t>
            </a:r>
            <a:r>
              <a:rPr lang="en-US" sz="1400" dirty="0">
                <a:solidFill>
                  <a:schemeClr val="bg1"/>
                </a:solidFill>
              </a:rPr>
              <a:t>GB </a:t>
            </a:r>
            <a:r>
              <a:rPr lang="bg-BG" sz="1400" dirty="0">
                <a:solidFill>
                  <a:schemeClr val="bg1"/>
                </a:solidFill>
              </a:rPr>
              <a:t>презаписваеми</a:t>
            </a:r>
            <a:r>
              <a:rPr lang="en-US" sz="1400" dirty="0">
                <a:solidFill>
                  <a:schemeClr val="bg1"/>
                </a:solidFill>
              </a:rPr>
              <a:t>   </a:t>
            </a:r>
            <a:r>
              <a:rPr lang="bg-BG" sz="1400" dirty="0">
                <a:solidFill>
                  <a:schemeClr val="bg1"/>
                </a:solidFill>
              </a:rPr>
              <a:t>дискове за търговски приложения.</a:t>
            </a:r>
            <a:r>
              <a:rPr lang="en-US" sz="1400" dirty="0">
                <a:solidFill>
                  <a:schemeClr val="bg1"/>
                </a:solidFill>
              </a:rPr>
              <a:t> </a:t>
            </a:r>
            <a:r>
              <a:rPr lang="bg-BG" sz="1400" dirty="0">
                <a:solidFill>
                  <a:schemeClr val="bg1"/>
                </a:solidFill>
              </a:rPr>
              <a:t>Спецификацията на </a:t>
            </a:r>
            <a:r>
              <a:rPr lang="en-US" sz="1400" dirty="0">
                <a:solidFill>
                  <a:schemeClr val="bg1"/>
                </a:solidFill>
              </a:rPr>
              <a:t>BD-R 3.0 </a:t>
            </a:r>
            <a:r>
              <a:rPr lang="bg-BG" sz="1400" dirty="0">
                <a:solidFill>
                  <a:schemeClr val="bg1"/>
                </a:solidFill>
              </a:rPr>
              <a:t>формат (</a:t>
            </a:r>
            <a:r>
              <a:rPr lang="en-US" sz="1400" dirty="0">
                <a:solidFill>
                  <a:schemeClr val="bg1"/>
                </a:solidFill>
              </a:rPr>
              <a:t>BDXL) </a:t>
            </a:r>
            <a:r>
              <a:rPr lang="bg-BG" sz="1400" dirty="0">
                <a:solidFill>
                  <a:schemeClr val="bg1"/>
                </a:solidFill>
              </a:rPr>
              <a:t>определя многопластов диск, който може да се записва във формат </a:t>
            </a:r>
            <a:r>
              <a:rPr lang="en-US" sz="1400" dirty="0">
                <a:solidFill>
                  <a:schemeClr val="bg1"/>
                </a:solidFill>
              </a:rPr>
              <a:t>BDAV </a:t>
            </a:r>
            <a:r>
              <a:rPr lang="bg-BG" sz="1400" dirty="0">
                <a:solidFill>
                  <a:schemeClr val="bg1"/>
                </a:solidFill>
              </a:rPr>
              <a:t>със скорост 2× и 4×, с възможност за 100/128 </a:t>
            </a:r>
            <a:r>
              <a:rPr lang="en-US" sz="1400" dirty="0">
                <a:solidFill>
                  <a:schemeClr val="bg1"/>
                </a:solidFill>
              </a:rPr>
              <a:t>GB </a:t>
            </a:r>
            <a:r>
              <a:rPr lang="bg-BG" sz="1400" dirty="0">
                <a:solidFill>
                  <a:schemeClr val="bg1"/>
                </a:solidFill>
              </a:rPr>
              <a:t>и използване на </a:t>
            </a:r>
            <a:r>
              <a:rPr lang="en-US" sz="1400" dirty="0">
                <a:solidFill>
                  <a:schemeClr val="bg1"/>
                </a:solidFill>
              </a:rPr>
              <a:t>UDF2.5/2.6</a:t>
            </a:r>
            <a:r>
              <a:rPr lang="bg-BG" sz="1400" dirty="0">
                <a:solidFill>
                  <a:schemeClr val="bg1"/>
                </a:solidFill>
              </a:rPr>
              <a:t>.</a:t>
            </a:r>
            <a:r>
              <a:rPr lang="en-US" sz="1400" dirty="0">
                <a:solidFill>
                  <a:schemeClr val="bg1"/>
                </a:solidFill>
              </a:rPr>
              <a:t> BD-RE 4.0 Format Specification (BDXL) </a:t>
            </a:r>
            <a:r>
              <a:rPr lang="bg-BG" sz="1400" dirty="0">
                <a:solidFill>
                  <a:schemeClr val="bg1"/>
                </a:solidFill>
              </a:rPr>
              <a:t>дефинира многослоен диск, който може да се презаписва в </a:t>
            </a:r>
            <a:r>
              <a:rPr lang="en-US" sz="1400" dirty="0">
                <a:solidFill>
                  <a:schemeClr val="bg1"/>
                </a:solidFill>
              </a:rPr>
              <a:t>BDAV </a:t>
            </a:r>
            <a:r>
              <a:rPr lang="bg-BG" sz="1400" dirty="0">
                <a:solidFill>
                  <a:schemeClr val="bg1"/>
                </a:solidFill>
              </a:rPr>
              <a:t>със скорост 2× и 4×, с възможност за 100 </a:t>
            </a:r>
            <a:r>
              <a:rPr lang="en-US" sz="1400" dirty="0">
                <a:solidFill>
                  <a:schemeClr val="bg1"/>
                </a:solidFill>
              </a:rPr>
              <a:t>GB </a:t>
            </a:r>
            <a:r>
              <a:rPr lang="bg-BG" sz="1400" dirty="0">
                <a:solidFill>
                  <a:schemeClr val="bg1"/>
                </a:solidFill>
              </a:rPr>
              <a:t>и използване на </a:t>
            </a:r>
            <a:r>
              <a:rPr lang="en-US" sz="1400" dirty="0">
                <a:solidFill>
                  <a:schemeClr val="bg1"/>
                </a:solidFill>
              </a:rPr>
              <a:t>UDF2.5 </a:t>
            </a:r>
            <a:r>
              <a:rPr lang="bg-BG" sz="1400" dirty="0">
                <a:solidFill>
                  <a:schemeClr val="bg1"/>
                </a:solidFill>
              </a:rPr>
              <a:t>като файлова система. Въпреки че 66 </a:t>
            </a:r>
            <a:r>
              <a:rPr lang="en-US" sz="1400" dirty="0">
                <a:solidFill>
                  <a:schemeClr val="bg1"/>
                </a:solidFill>
              </a:rPr>
              <a:t>GB </a:t>
            </a:r>
            <a:r>
              <a:rPr lang="bg-BG" sz="1400" dirty="0">
                <a:solidFill>
                  <a:schemeClr val="bg1"/>
                </a:solidFill>
              </a:rPr>
              <a:t>и 100 </a:t>
            </a:r>
            <a:r>
              <a:rPr lang="en-US" sz="1400" dirty="0">
                <a:solidFill>
                  <a:schemeClr val="bg1"/>
                </a:solidFill>
              </a:rPr>
              <a:t>GB BD-ROM </a:t>
            </a:r>
            <a:r>
              <a:rPr lang="bg-BG" sz="1400" dirty="0">
                <a:solidFill>
                  <a:schemeClr val="bg1"/>
                </a:solidFill>
              </a:rPr>
              <a:t>дискове, използвани за </a:t>
            </a:r>
            <a:r>
              <a:rPr lang="en-US" sz="1400" dirty="0">
                <a:solidFill>
                  <a:schemeClr val="bg1"/>
                </a:solidFill>
              </a:rPr>
              <a:t>Ultra HD Blu-ray, </a:t>
            </a:r>
            <a:r>
              <a:rPr lang="bg-BG" sz="1400" dirty="0">
                <a:solidFill>
                  <a:schemeClr val="bg1"/>
                </a:solidFill>
              </a:rPr>
              <a:t>използват същата линейна плътност като </a:t>
            </a:r>
            <a:r>
              <a:rPr lang="en-US" sz="1400" dirty="0">
                <a:solidFill>
                  <a:schemeClr val="bg1"/>
                </a:solidFill>
              </a:rPr>
              <a:t>BDXL, </a:t>
            </a:r>
            <a:r>
              <a:rPr lang="bg-BG" sz="1400" dirty="0">
                <a:solidFill>
                  <a:schemeClr val="bg1"/>
                </a:solidFill>
              </a:rPr>
              <a:t>двата формата не са съвместими един с друг, следователно не е възможно да се използва трислоен </a:t>
            </a:r>
            <a:r>
              <a:rPr lang="en-US" sz="1400" dirty="0">
                <a:solidFill>
                  <a:schemeClr val="bg1"/>
                </a:solidFill>
              </a:rPr>
              <a:t>BDXL </a:t>
            </a:r>
            <a:r>
              <a:rPr lang="bg-BG" sz="1400" dirty="0">
                <a:solidFill>
                  <a:schemeClr val="bg1"/>
                </a:solidFill>
              </a:rPr>
              <a:t>диск за запис </a:t>
            </a:r>
            <a:r>
              <a:rPr lang="en-US" sz="1400" dirty="0">
                <a:solidFill>
                  <a:schemeClr val="bg1"/>
                </a:solidFill>
              </a:rPr>
              <a:t>Ultra HD Blu-ray </a:t>
            </a:r>
            <a:r>
              <a:rPr lang="bg-BG" sz="1400" dirty="0">
                <a:solidFill>
                  <a:schemeClr val="bg1"/>
                </a:solidFill>
              </a:rPr>
              <a:t>диск, който може да се възпроизвежда в </a:t>
            </a:r>
            <a:r>
              <a:rPr lang="en-US" sz="1400" dirty="0">
                <a:solidFill>
                  <a:schemeClr val="bg1"/>
                </a:solidFill>
              </a:rPr>
              <a:t>Ultra HD Blu-ray </a:t>
            </a:r>
            <a:r>
              <a:rPr lang="bg-BG" sz="1400" dirty="0">
                <a:solidFill>
                  <a:schemeClr val="bg1"/>
                </a:solidFill>
              </a:rPr>
              <a:t>плейър, въпреки че стандартните 50 </a:t>
            </a:r>
            <a:r>
              <a:rPr lang="en-US" sz="1400" dirty="0">
                <a:solidFill>
                  <a:schemeClr val="bg1"/>
                </a:solidFill>
              </a:rPr>
              <a:t>GB BD-R DL </a:t>
            </a:r>
            <a:r>
              <a:rPr lang="bg-BG" sz="1400" dirty="0">
                <a:solidFill>
                  <a:schemeClr val="bg1"/>
                </a:solidFill>
              </a:rPr>
              <a:t>дискове могат да се записват в </a:t>
            </a:r>
            <a:r>
              <a:rPr lang="en-US" sz="1400" dirty="0">
                <a:solidFill>
                  <a:schemeClr val="bg1"/>
                </a:solidFill>
              </a:rPr>
              <a:t>Ultra HD </a:t>
            </a:r>
            <a:r>
              <a:rPr lang="bg-BG" sz="1400" dirty="0">
                <a:solidFill>
                  <a:schemeClr val="bg1"/>
                </a:solidFill>
              </a:rPr>
              <a:t>формат.</a:t>
            </a:r>
          </a:p>
        </p:txBody>
      </p:sp>
      <p:grpSp>
        <p:nvGrpSpPr>
          <p:cNvPr id="15" name="Group 14">
            <a:extLst>
              <a:ext uri="{FF2B5EF4-FFF2-40B4-BE49-F238E27FC236}">
                <a16:creationId xmlns:a16="http://schemas.microsoft.com/office/drawing/2014/main" xmlns="" id="{D8025A22-9C86-4108-A289-BD5650A8EAEA}"/>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9206969" y="2963333"/>
            <a:ext cx="2981858" cy="3208867"/>
            <a:chOff x="9206969" y="2963333"/>
            <a:chExt cx="2981858" cy="3208867"/>
          </a:xfrm>
        </p:grpSpPr>
        <p:cxnSp>
          <p:nvCxnSpPr>
            <p:cNvPr id="16" name="Straight Connector 15">
              <a:extLst>
                <a:ext uri="{FF2B5EF4-FFF2-40B4-BE49-F238E27FC236}">
                  <a16:creationId xmlns:a16="http://schemas.microsoft.com/office/drawing/2014/main" xmlns="" id="{59A3623F-EF59-4F0B-9030-79CB7F9950E2}"/>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xmlns="" id="{9EBD0F53-A43D-414A-8653-E9F1D3610349}"/>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xmlns="" id="{908661C0-6128-4F64-8EDF-2D73D5F47644}"/>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xmlns="" id="{C8AFEF08-AFBA-4125-B170-D3EB3E11DB64}"/>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xmlns="" id="{AA0E13BF-B4CA-4B20-A5DD-50ABBAEC7BBE}"/>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301340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A4085A2-2DA1-1600-DB28-5D80C600BAF3}"/>
              </a:ext>
            </a:extLst>
          </p:cNvPr>
          <p:cNvSpPr>
            <a:spLocks noGrp="1"/>
          </p:cNvSpPr>
          <p:nvPr>
            <p:ph type="title"/>
          </p:nvPr>
        </p:nvSpPr>
        <p:spPr>
          <a:xfrm>
            <a:off x="217487" y="208052"/>
            <a:ext cx="6478588" cy="1507067"/>
          </a:xfrm>
        </p:spPr>
        <p:txBody>
          <a:bodyPr/>
          <a:lstStyle/>
          <a:p>
            <a:pPr algn="ctr"/>
            <a:r>
              <a:rPr lang="en-US" b="1" dirty="0">
                <a:latin typeface="Times New Roman" panose="02020603050405020304" pitchFamily="18" charset="0"/>
                <a:cs typeface="Times New Roman" panose="02020603050405020304" pitchFamily="18" charset="0"/>
              </a:rPr>
              <a:t>HVD </a:t>
            </a:r>
            <a:r>
              <a:rPr lang="bg-BG" b="1" dirty="0">
                <a:latin typeface="Times New Roman" panose="02020603050405020304" pitchFamily="18" charset="0"/>
                <a:cs typeface="Times New Roman" panose="02020603050405020304" pitchFamily="18" charset="0"/>
              </a:rPr>
              <a:t>дискове</a:t>
            </a:r>
          </a:p>
        </p:txBody>
      </p:sp>
      <p:sp>
        <p:nvSpPr>
          <p:cNvPr id="3" name="Content Placeholder 2">
            <a:extLst>
              <a:ext uri="{FF2B5EF4-FFF2-40B4-BE49-F238E27FC236}">
                <a16:creationId xmlns:a16="http://schemas.microsoft.com/office/drawing/2014/main" xmlns="" id="{B607BC75-D4B2-59F9-B3A2-CB5DC2F6370E}"/>
              </a:ext>
            </a:extLst>
          </p:cNvPr>
          <p:cNvSpPr>
            <a:spLocks noGrp="1"/>
          </p:cNvSpPr>
          <p:nvPr>
            <p:ph idx="1"/>
          </p:nvPr>
        </p:nvSpPr>
        <p:spPr>
          <a:xfrm>
            <a:off x="217487" y="1621366"/>
            <a:ext cx="6478588" cy="3615267"/>
          </a:xfrm>
        </p:spPr>
        <p:txBody>
          <a:bodyPr>
            <a:normAutofit fontScale="92500"/>
          </a:bodyPr>
          <a:lstStyle/>
          <a:p>
            <a:pPr algn="just"/>
            <a:r>
              <a:rPr lang="bg-BG" dirty="0">
                <a:solidFill>
                  <a:schemeClr val="bg1"/>
                </a:solidFill>
              </a:rPr>
              <a:t>Холограмните дискове - </a:t>
            </a:r>
            <a:r>
              <a:rPr lang="bg-BG" dirty="0" err="1">
                <a:solidFill>
                  <a:schemeClr val="bg1"/>
                </a:solidFill>
              </a:rPr>
              <a:t>Holographic</a:t>
            </a:r>
            <a:r>
              <a:rPr lang="bg-BG" dirty="0">
                <a:solidFill>
                  <a:schemeClr val="bg1"/>
                </a:solidFill>
              </a:rPr>
              <a:t> </a:t>
            </a:r>
            <a:r>
              <a:rPr lang="bg-BG" dirty="0" err="1">
                <a:solidFill>
                  <a:schemeClr val="bg1"/>
                </a:solidFill>
              </a:rPr>
              <a:t>Versatile</a:t>
            </a:r>
            <a:r>
              <a:rPr lang="bg-BG" dirty="0">
                <a:solidFill>
                  <a:schemeClr val="bg1"/>
                </a:solidFill>
              </a:rPr>
              <a:t> </a:t>
            </a:r>
            <a:r>
              <a:rPr lang="bg-BG" dirty="0" err="1">
                <a:solidFill>
                  <a:schemeClr val="bg1"/>
                </a:solidFill>
              </a:rPr>
              <a:t>Disc</a:t>
            </a:r>
            <a:r>
              <a:rPr lang="bg-BG" dirty="0">
                <a:solidFill>
                  <a:schemeClr val="bg1"/>
                </a:solidFill>
              </a:rPr>
              <a:t> (HVD) – използват кодиране на информацията в запомнящия слой в дълбочина (3D запис). Така се постига много висока плътност на записа и капацитет до 400 </a:t>
            </a:r>
            <a:r>
              <a:rPr lang="bg-BG" dirty="0" err="1">
                <a:solidFill>
                  <a:schemeClr val="bg1"/>
                </a:solidFill>
              </a:rPr>
              <a:t>GiB</a:t>
            </a:r>
            <a:r>
              <a:rPr lang="bg-BG" dirty="0">
                <a:solidFill>
                  <a:schemeClr val="bg1"/>
                </a:solidFill>
              </a:rPr>
              <a:t>.</a:t>
            </a:r>
          </a:p>
          <a:p>
            <a:pPr algn="just"/>
            <a:r>
              <a:rPr lang="bg-BG" dirty="0">
                <a:solidFill>
                  <a:schemeClr val="bg1"/>
                </a:solidFill>
              </a:rPr>
              <a:t>Холографският Многослоен Диск може да съхранява до 200 гигабайта (GB) информация, дотогава недостижимо от останалите формати. HDV са несъвместими с CD и DVD форматите, но предимство на новата технология е повишеният капацитет и трансфер.</a:t>
            </a:r>
          </a:p>
        </p:txBody>
      </p:sp>
      <p:pic>
        <p:nvPicPr>
          <p:cNvPr id="5" name="Picture 4" descr="Text&#10;&#10;Description automatically generated">
            <a:extLst>
              <a:ext uri="{FF2B5EF4-FFF2-40B4-BE49-F238E27FC236}">
                <a16:creationId xmlns:a16="http://schemas.microsoft.com/office/drawing/2014/main" xmlns="" id="{8C962EE8-17B5-CBBF-51CE-F2D98945F7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7050" y="2293473"/>
            <a:ext cx="5314950" cy="1908550"/>
          </a:xfrm>
          <a:prstGeom prst="rect">
            <a:avLst/>
          </a:prstGeom>
        </p:spPr>
      </p:pic>
    </p:spTree>
    <p:extLst>
      <p:ext uri="{BB962C8B-B14F-4D97-AF65-F5344CB8AC3E}">
        <p14:creationId xmlns:p14="http://schemas.microsoft.com/office/powerpoint/2010/main" val="38601737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CAA0C09-F02C-DED1-D255-3CB931A58A7E}"/>
              </a:ext>
            </a:extLst>
          </p:cNvPr>
          <p:cNvSpPr>
            <a:spLocks noGrp="1"/>
          </p:cNvSpPr>
          <p:nvPr>
            <p:ph type="title"/>
          </p:nvPr>
        </p:nvSpPr>
        <p:spPr>
          <a:xfrm>
            <a:off x="1617662" y="143932"/>
            <a:ext cx="8534400" cy="1507067"/>
          </a:xfrm>
        </p:spPr>
        <p:txBody>
          <a:bodyPr/>
          <a:lstStyle/>
          <a:p>
            <a:pPr algn="ctr"/>
            <a:r>
              <a:rPr lang="bg-BG" b="1" dirty="0">
                <a:latin typeface="Times New Roman" panose="02020603050405020304" pitchFamily="18" charset="0"/>
                <a:cs typeface="Times New Roman" panose="02020603050405020304" pitchFamily="18" charset="0"/>
              </a:rPr>
              <a:t>Как работи</a:t>
            </a:r>
            <a:r>
              <a:rPr lang="en-US" b="1" dirty="0">
                <a:latin typeface="Times New Roman" panose="02020603050405020304" pitchFamily="18" charset="0"/>
                <a:cs typeface="Times New Roman" panose="02020603050405020304" pitchFamily="18" charset="0"/>
              </a:rPr>
              <a:t> HVD</a:t>
            </a:r>
            <a:endParaRPr lang="bg-BG"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368BE6BA-BEB5-14EB-E236-7D3D145ED9AD}"/>
              </a:ext>
            </a:extLst>
          </p:cNvPr>
          <p:cNvSpPr>
            <a:spLocks noGrp="1"/>
          </p:cNvSpPr>
          <p:nvPr>
            <p:ph idx="1"/>
          </p:nvPr>
        </p:nvSpPr>
        <p:spPr>
          <a:xfrm>
            <a:off x="937418" y="1498599"/>
            <a:ext cx="10140157" cy="4586288"/>
          </a:xfrm>
        </p:spPr>
        <p:txBody>
          <a:bodyPr>
            <a:normAutofit fontScale="85000" lnSpcReduction="10000"/>
          </a:bodyPr>
          <a:lstStyle/>
          <a:p>
            <a:pPr algn="just"/>
            <a:r>
              <a:rPr lang="bg-BG" sz="2000" dirty="0">
                <a:solidFill>
                  <a:schemeClr val="bg1"/>
                </a:solidFill>
              </a:rPr>
              <a:t>При тези дискове се използват два лазера – единият в синьо-зеления спектър, а другият – в червеният спектър.  Синьо-зеленият лазер се използва при запис и четене и е с дължина на вълната 532nm. Червеният лазер (650nm) се използва с цел адресиране и позициониране. Синьо-зеленият лазер се използва за четене на информацията записана в холографския слой на диска (</a:t>
            </a:r>
            <a:r>
              <a:rPr lang="bg-BG" sz="2000" dirty="0" err="1">
                <a:solidFill>
                  <a:schemeClr val="bg1"/>
                </a:solidFill>
              </a:rPr>
              <a:t>фотополимер</a:t>
            </a:r>
            <a:r>
              <a:rPr lang="bg-BG" sz="2000" dirty="0">
                <a:solidFill>
                  <a:schemeClr val="bg1"/>
                </a:solidFill>
              </a:rPr>
              <a:t>), докато червеният лазер чете </a:t>
            </a:r>
            <a:r>
              <a:rPr lang="bg-BG" sz="2000" dirty="0" err="1">
                <a:solidFill>
                  <a:schemeClr val="bg1"/>
                </a:solidFill>
              </a:rPr>
              <a:t>серво</a:t>
            </a:r>
            <a:r>
              <a:rPr lang="bg-BG" sz="2000" dirty="0">
                <a:solidFill>
                  <a:schemeClr val="bg1"/>
                </a:solidFill>
              </a:rPr>
              <a:t> информацията, която е необходима за позициониране на четящата лазерна глава (както при CD и DVD). Тъй като запомнящият (холографски) слой е над слоя със </a:t>
            </a:r>
            <a:r>
              <a:rPr lang="bg-BG" sz="2000" dirty="0" err="1">
                <a:solidFill>
                  <a:schemeClr val="bg1"/>
                </a:solidFill>
              </a:rPr>
              <a:t>серво</a:t>
            </a:r>
            <a:r>
              <a:rPr lang="bg-BG" sz="2000" dirty="0">
                <a:solidFill>
                  <a:schemeClr val="bg1"/>
                </a:solidFill>
              </a:rPr>
              <a:t> информация, не трябва да се допуска синьо-зеления лазер да достигне до </a:t>
            </a:r>
            <a:r>
              <a:rPr lang="bg-BG" sz="2000" dirty="0" err="1">
                <a:solidFill>
                  <a:schemeClr val="bg1"/>
                </a:solidFill>
              </a:rPr>
              <a:t>серво</a:t>
            </a:r>
            <a:r>
              <a:rPr lang="bg-BG" sz="2000" dirty="0">
                <a:solidFill>
                  <a:schemeClr val="bg1"/>
                </a:solidFill>
              </a:rPr>
              <a:t> слоя. За целта под запомнящия е </a:t>
            </a:r>
            <a:r>
              <a:rPr lang="bg-BG" sz="2000" dirty="0" err="1">
                <a:solidFill>
                  <a:schemeClr val="bg1"/>
                </a:solidFill>
              </a:rPr>
              <a:t>дихроично</a:t>
            </a:r>
            <a:r>
              <a:rPr lang="bg-BG" sz="2000" dirty="0">
                <a:solidFill>
                  <a:schemeClr val="bg1"/>
                </a:solidFill>
              </a:rPr>
              <a:t> огледало, което отразява синьо-зелената светлина и пропуска червената светлина.</a:t>
            </a:r>
          </a:p>
          <a:p>
            <a:pPr algn="just"/>
            <a:r>
              <a:rPr lang="bg-BG" sz="2000" dirty="0">
                <a:solidFill>
                  <a:schemeClr val="bg1"/>
                </a:solidFill>
              </a:rPr>
              <a:t>Процесът на запис на информация върху един HVD започва с кодиране на информацията в двоични данни, които се съхраняват в пространствен светлинен модулатор - </a:t>
            </a:r>
            <a:r>
              <a:rPr lang="bg-BG" sz="2000" dirty="0" err="1">
                <a:solidFill>
                  <a:schemeClr val="bg1"/>
                </a:solidFill>
              </a:rPr>
              <a:t>Spatial</a:t>
            </a:r>
            <a:r>
              <a:rPr lang="bg-BG" sz="2000" dirty="0">
                <a:solidFill>
                  <a:schemeClr val="bg1"/>
                </a:solidFill>
              </a:rPr>
              <a:t> </a:t>
            </a:r>
            <a:r>
              <a:rPr lang="bg-BG" sz="2000" dirty="0" err="1">
                <a:solidFill>
                  <a:schemeClr val="bg1"/>
                </a:solidFill>
              </a:rPr>
              <a:t>Light</a:t>
            </a:r>
            <a:r>
              <a:rPr lang="bg-BG" sz="2000" dirty="0">
                <a:solidFill>
                  <a:schemeClr val="bg1"/>
                </a:solidFill>
              </a:rPr>
              <a:t> </a:t>
            </a:r>
            <a:r>
              <a:rPr lang="bg-BG" sz="2000" dirty="0" err="1">
                <a:solidFill>
                  <a:schemeClr val="bg1"/>
                </a:solidFill>
              </a:rPr>
              <a:t>Modulator</a:t>
            </a:r>
            <a:r>
              <a:rPr lang="bg-BG" sz="2000" dirty="0">
                <a:solidFill>
                  <a:schemeClr val="bg1"/>
                </a:solidFill>
              </a:rPr>
              <a:t> (SLM). Единиците и нулите се кодират като непрозрачни или полупрозрачни области от една "страница". Една „страница” е минималното количество информация, което се записва на диска – приблизително 60,000 бита. В страницата информацията се записва пространствено – пресечен конус с основи съответно 500μm и 200μm. </a:t>
            </a:r>
          </a:p>
        </p:txBody>
      </p:sp>
    </p:spTree>
    <p:extLst>
      <p:ext uri="{BB962C8B-B14F-4D97-AF65-F5344CB8AC3E}">
        <p14:creationId xmlns:p14="http://schemas.microsoft.com/office/powerpoint/2010/main" val="40732719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xmlns="" id="{D6F819BF-BEC4-454B-82CF-C7F1926407F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useBgFill="1">
        <p:nvSpPr>
          <p:cNvPr id="12" name="Snip Diagonal Corner Rectangle 21">
            <a:extLst>
              <a:ext uri="{FF2B5EF4-FFF2-40B4-BE49-F238E27FC236}">
                <a16:creationId xmlns:a16="http://schemas.microsoft.com/office/drawing/2014/main" xmlns="" id="{79D5C3D0-88DD-405B-A549-4B5C3712E18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84212" y="641648"/>
            <a:ext cx="6575496" cy="5286838"/>
          </a:xfrm>
          <a:prstGeom prst="snip2DiagRect">
            <a:avLst>
              <a:gd name="adj1" fmla="val 8741"/>
              <a:gd name="adj2" fmla="val 0"/>
            </a:avLst>
          </a:prstGeom>
          <a:ln>
            <a:no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iagram&#10;&#10;Description automatically generated">
            <a:extLst>
              <a:ext uri="{FF2B5EF4-FFF2-40B4-BE49-F238E27FC236}">
                <a16:creationId xmlns:a16="http://schemas.microsoft.com/office/drawing/2014/main" xmlns="" id="{E58B79A9-1421-9F0F-FCE1-E678D4057D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1217" y="1176947"/>
            <a:ext cx="5641063" cy="4174387"/>
          </a:xfrm>
          <a:prstGeom prst="rect">
            <a:avLst/>
          </a:prstGeom>
        </p:spPr>
      </p:pic>
      <p:sp>
        <p:nvSpPr>
          <p:cNvPr id="3" name="Content Placeholder 2">
            <a:extLst>
              <a:ext uri="{FF2B5EF4-FFF2-40B4-BE49-F238E27FC236}">
                <a16:creationId xmlns:a16="http://schemas.microsoft.com/office/drawing/2014/main" xmlns="" id="{55BCE92D-53DC-E3D6-5BA4-AF14E3F2DA5D}"/>
              </a:ext>
            </a:extLst>
          </p:cNvPr>
          <p:cNvSpPr>
            <a:spLocks noGrp="1"/>
          </p:cNvSpPr>
          <p:nvPr>
            <p:ph idx="1"/>
          </p:nvPr>
        </p:nvSpPr>
        <p:spPr>
          <a:xfrm>
            <a:off x="7259708" y="803573"/>
            <a:ext cx="4778761" cy="5444827"/>
          </a:xfrm>
        </p:spPr>
        <p:txBody>
          <a:bodyPr anchor="t">
            <a:normAutofit/>
          </a:bodyPr>
          <a:lstStyle/>
          <a:p>
            <a:pPr>
              <a:lnSpc>
                <a:spcPct val="90000"/>
              </a:lnSpc>
            </a:pPr>
            <a:r>
              <a:rPr lang="bg-BG" sz="1400" dirty="0">
                <a:solidFill>
                  <a:schemeClr val="tx1">
                    <a:lumMod val="95000"/>
                    <a:lumOff val="5000"/>
                  </a:schemeClr>
                </a:solidFill>
              </a:rPr>
              <a:t>На Фигурата е показана структурата на HVD диск. Използвани са следните означения: </a:t>
            </a:r>
          </a:p>
          <a:p>
            <a:pPr>
              <a:lnSpc>
                <a:spcPct val="90000"/>
              </a:lnSpc>
            </a:pPr>
            <a:r>
              <a:rPr lang="bg-BG" sz="1400" dirty="0">
                <a:solidFill>
                  <a:schemeClr val="tx1">
                    <a:lumMod val="95000"/>
                    <a:lumOff val="5000"/>
                  </a:schemeClr>
                </a:solidFill>
              </a:rPr>
              <a:t>1. Зелен записващ/четящ лазер (532 </a:t>
            </a:r>
            <a:r>
              <a:rPr lang="bg-BG" sz="1400" dirty="0" err="1">
                <a:solidFill>
                  <a:schemeClr val="tx1">
                    <a:lumMod val="95000"/>
                    <a:lumOff val="5000"/>
                  </a:schemeClr>
                </a:solidFill>
              </a:rPr>
              <a:t>nm</a:t>
            </a:r>
            <a:r>
              <a:rPr lang="bg-BG" sz="1400" dirty="0">
                <a:solidFill>
                  <a:schemeClr val="tx1">
                    <a:lumMod val="95000"/>
                    <a:lumOff val="5000"/>
                  </a:schemeClr>
                </a:solidFill>
              </a:rPr>
              <a:t>). </a:t>
            </a:r>
          </a:p>
          <a:p>
            <a:pPr>
              <a:lnSpc>
                <a:spcPct val="90000"/>
              </a:lnSpc>
            </a:pPr>
            <a:r>
              <a:rPr lang="bg-BG" sz="1400" dirty="0">
                <a:solidFill>
                  <a:schemeClr val="tx1">
                    <a:lumMod val="95000"/>
                    <a:lumOff val="5000"/>
                  </a:schemeClr>
                </a:solidFill>
              </a:rPr>
              <a:t>2. Червен позициониращ/адресен лазер (650 </a:t>
            </a:r>
            <a:r>
              <a:rPr lang="bg-BG" sz="1400" dirty="0" err="1">
                <a:solidFill>
                  <a:schemeClr val="tx1">
                    <a:lumMod val="95000"/>
                    <a:lumOff val="5000"/>
                  </a:schemeClr>
                </a:solidFill>
              </a:rPr>
              <a:t>nm</a:t>
            </a:r>
            <a:r>
              <a:rPr lang="bg-BG" sz="1400" dirty="0">
                <a:solidFill>
                  <a:schemeClr val="tx1">
                    <a:lumMod val="95000"/>
                    <a:lumOff val="5000"/>
                  </a:schemeClr>
                </a:solidFill>
              </a:rPr>
              <a:t>). </a:t>
            </a:r>
          </a:p>
          <a:p>
            <a:pPr>
              <a:lnSpc>
                <a:spcPct val="90000"/>
              </a:lnSpc>
            </a:pPr>
            <a:r>
              <a:rPr lang="bg-BG" sz="1400" dirty="0">
                <a:solidFill>
                  <a:schemeClr val="tx1">
                    <a:lumMod val="95000"/>
                    <a:lumOff val="5000"/>
                  </a:schemeClr>
                </a:solidFill>
              </a:rPr>
              <a:t>3. Холограма (данни). </a:t>
            </a:r>
          </a:p>
          <a:p>
            <a:pPr>
              <a:lnSpc>
                <a:spcPct val="90000"/>
              </a:lnSpc>
            </a:pPr>
            <a:r>
              <a:rPr lang="bg-BG" sz="1400" dirty="0">
                <a:solidFill>
                  <a:schemeClr val="tx1">
                    <a:lumMod val="95000"/>
                    <a:lumOff val="5000"/>
                  </a:schemeClr>
                </a:solidFill>
              </a:rPr>
              <a:t>4. </a:t>
            </a:r>
            <a:r>
              <a:rPr lang="bg-BG" sz="1400" dirty="0" err="1">
                <a:solidFill>
                  <a:schemeClr val="tx1">
                    <a:lumMod val="95000"/>
                    <a:lumOff val="5000"/>
                  </a:schemeClr>
                </a:solidFill>
              </a:rPr>
              <a:t>Поликарбонатен</a:t>
            </a:r>
            <a:r>
              <a:rPr lang="bg-BG" sz="1400" dirty="0">
                <a:solidFill>
                  <a:schemeClr val="tx1">
                    <a:lumMod val="95000"/>
                    <a:lumOff val="5000"/>
                  </a:schemeClr>
                </a:solidFill>
              </a:rPr>
              <a:t> слой. </a:t>
            </a:r>
          </a:p>
          <a:p>
            <a:pPr>
              <a:lnSpc>
                <a:spcPct val="90000"/>
              </a:lnSpc>
            </a:pPr>
            <a:r>
              <a:rPr lang="bg-BG" sz="1400" dirty="0">
                <a:solidFill>
                  <a:schemeClr val="tx1">
                    <a:lumMod val="95000"/>
                    <a:lumOff val="5000"/>
                  </a:schemeClr>
                </a:solidFill>
              </a:rPr>
              <a:t>5. Слой от </a:t>
            </a:r>
            <a:r>
              <a:rPr lang="bg-BG" sz="1400" dirty="0" err="1">
                <a:solidFill>
                  <a:schemeClr val="tx1">
                    <a:lumMod val="95000"/>
                    <a:lumOff val="5000"/>
                  </a:schemeClr>
                </a:solidFill>
              </a:rPr>
              <a:t>Фотополимер</a:t>
            </a:r>
            <a:r>
              <a:rPr lang="bg-BG" sz="1400" dirty="0">
                <a:solidFill>
                  <a:schemeClr val="tx1">
                    <a:lumMod val="95000"/>
                    <a:lumOff val="5000"/>
                  </a:schemeClr>
                </a:solidFill>
              </a:rPr>
              <a:t> (съдържа информацията).</a:t>
            </a:r>
          </a:p>
          <a:p>
            <a:pPr>
              <a:lnSpc>
                <a:spcPct val="90000"/>
              </a:lnSpc>
            </a:pPr>
            <a:r>
              <a:rPr lang="bg-BG" sz="1400" dirty="0">
                <a:solidFill>
                  <a:schemeClr val="tx1">
                    <a:lumMod val="95000"/>
                    <a:lumOff val="5000"/>
                  </a:schemeClr>
                </a:solidFill>
              </a:rPr>
              <a:t> 6. Отделящ слой (интервал). </a:t>
            </a:r>
          </a:p>
          <a:p>
            <a:pPr>
              <a:lnSpc>
                <a:spcPct val="90000"/>
              </a:lnSpc>
            </a:pPr>
            <a:r>
              <a:rPr lang="bg-BG" sz="1400" dirty="0">
                <a:solidFill>
                  <a:schemeClr val="tx1">
                    <a:lumMod val="95000"/>
                    <a:lumOff val="5000"/>
                  </a:schemeClr>
                </a:solidFill>
              </a:rPr>
              <a:t>7. </a:t>
            </a:r>
            <a:r>
              <a:rPr lang="bg-BG" sz="1400" dirty="0" err="1">
                <a:solidFill>
                  <a:schemeClr val="tx1">
                    <a:lumMod val="95000"/>
                    <a:lumOff val="5000"/>
                  </a:schemeClr>
                </a:solidFill>
              </a:rPr>
              <a:t>Дихроично</a:t>
            </a:r>
            <a:r>
              <a:rPr lang="bg-BG" sz="1400" dirty="0">
                <a:solidFill>
                  <a:schemeClr val="tx1">
                    <a:lumMod val="95000"/>
                    <a:lumOff val="5000"/>
                  </a:schemeClr>
                </a:solidFill>
              </a:rPr>
              <a:t> огледало (отразява синьо-зелената светлина). </a:t>
            </a:r>
          </a:p>
          <a:p>
            <a:pPr>
              <a:lnSpc>
                <a:spcPct val="90000"/>
              </a:lnSpc>
            </a:pPr>
            <a:r>
              <a:rPr lang="bg-BG" sz="1400" dirty="0">
                <a:solidFill>
                  <a:schemeClr val="tx1">
                    <a:lumMod val="95000"/>
                    <a:lumOff val="5000"/>
                  </a:schemeClr>
                </a:solidFill>
              </a:rPr>
              <a:t>8. Алуминиев отражателен слой (отразява червената светлина). </a:t>
            </a:r>
          </a:p>
          <a:p>
            <a:pPr>
              <a:lnSpc>
                <a:spcPct val="90000"/>
              </a:lnSpc>
            </a:pPr>
            <a:r>
              <a:rPr lang="bg-BG" sz="1400" dirty="0">
                <a:solidFill>
                  <a:schemeClr val="tx1">
                    <a:lumMod val="95000"/>
                    <a:lumOff val="5000"/>
                  </a:schemeClr>
                </a:solidFill>
              </a:rPr>
              <a:t>9. Прозрачна предпазна основа. </a:t>
            </a:r>
          </a:p>
        </p:txBody>
      </p:sp>
      <p:grpSp>
        <p:nvGrpSpPr>
          <p:cNvPr id="14" name="Group 13">
            <a:extLst>
              <a:ext uri="{FF2B5EF4-FFF2-40B4-BE49-F238E27FC236}">
                <a16:creationId xmlns:a16="http://schemas.microsoft.com/office/drawing/2014/main" xmlns="" id="{B29E1950-A366-48B7-8DAB-726C0DE58072}"/>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9206969" y="2963333"/>
            <a:ext cx="2981858" cy="3208867"/>
            <a:chOff x="9206969" y="2963333"/>
            <a:chExt cx="2981858" cy="3208867"/>
          </a:xfrm>
        </p:grpSpPr>
        <p:cxnSp>
          <p:nvCxnSpPr>
            <p:cNvPr id="15" name="Straight Connector 14">
              <a:extLst>
                <a:ext uri="{FF2B5EF4-FFF2-40B4-BE49-F238E27FC236}">
                  <a16:creationId xmlns:a16="http://schemas.microsoft.com/office/drawing/2014/main" xmlns="" id="{624123CD-2156-4134-A3FB-C82036B5FAEB}"/>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1276012" y="2963333"/>
              <a:ext cx="912814" cy="912812"/>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xmlns="" id="{282DAEA8-4DC7-4972-8972-06976C61D518}"/>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9206969" y="3190344"/>
              <a:ext cx="2981857" cy="2981856"/>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xmlns="" id="{C33B16A3-1C35-4E6B-88DA-2A2550F94147}"/>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292292" y="3285067"/>
              <a:ext cx="1896534" cy="1896533"/>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xmlns="" id="{106381D1-240B-4A28-88D3-6ACC575DCF15}"/>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443103" y="3131080"/>
              <a:ext cx="1745722" cy="1745720"/>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xmlns="" id="{7C8CFC7B-B818-47F0-AE87-6B34B07D14D2}"/>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918826" y="3683001"/>
              <a:ext cx="1270001" cy="1269999"/>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89343517"/>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11">
            <a:extLst>
              <a:ext uri="{FF2B5EF4-FFF2-40B4-BE49-F238E27FC236}">
                <a16:creationId xmlns:a16="http://schemas.microsoft.com/office/drawing/2014/main" xmlns="" id="{124D9F5B-C72B-41EE-97C2-D3600B62717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pic>
        <p:nvPicPr>
          <p:cNvPr id="7" name="Picture 6" descr="Diagram&#10;&#10;Description automatically generated">
            <a:extLst>
              <a:ext uri="{FF2B5EF4-FFF2-40B4-BE49-F238E27FC236}">
                <a16:creationId xmlns:a16="http://schemas.microsoft.com/office/drawing/2014/main" xmlns="" id="{EC4377D3-2BA4-3BF9-7351-8F3BBAAC15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653" y="1160771"/>
            <a:ext cx="5918034" cy="4201804"/>
          </a:xfrm>
          <a:prstGeom prst="rect">
            <a:avLst/>
          </a:prstGeom>
          <a:effectLst>
            <a:innerShdw blurRad="57150" dist="38100" dir="14460000">
              <a:prstClr val="black">
                <a:alpha val="70000"/>
              </a:prstClr>
            </a:innerShdw>
          </a:effectLst>
        </p:spPr>
      </p:pic>
      <p:sp>
        <p:nvSpPr>
          <p:cNvPr id="3" name="Content Placeholder 2">
            <a:extLst>
              <a:ext uri="{FF2B5EF4-FFF2-40B4-BE49-F238E27FC236}">
                <a16:creationId xmlns:a16="http://schemas.microsoft.com/office/drawing/2014/main" xmlns="" id="{7399E82C-5C1C-3CFB-89E8-DF410438B205}"/>
              </a:ext>
            </a:extLst>
          </p:cNvPr>
          <p:cNvSpPr>
            <a:spLocks noGrp="1"/>
          </p:cNvSpPr>
          <p:nvPr>
            <p:ph idx="1"/>
          </p:nvPr>
        </p:nvSpPr>
        <p:spPr>
          <a:xfrm>
            <a:off x="6319023" y="963613"/>
            <a:ext cx="5491977" cy="4827587"/>
          </a:xfrm>
        </p:spPr>
        <p:txBody>
          <a:bodyPr>
            <a:normAutofit/>
          </a:bodyPr>
          <a:lstStyle/>
          <a:p>
            <a:pPr algn="just">
              <a:lnSpc>
                <a:spcPct val="90000"/>
              </a:lnSpc>
            </a:pPr>
            <a:r>
              <a:rPr lang="bg-BG" sz="1400" dirty="0">
                <a:solidFill>
                  <a:schemeClr val="tx1">
                    <a:lumMod val="95000"/>
                    <a:lumOff val="5000"/>
                  </a:schemeClr>
                </a:solidFill>
              </a:rPr>
              <a:t>Лазерният лъч преминава през оптичен </a:t>
            </a:r>
            <a:r>
              <a:rPr lang="bg-BG" sz="1400" dirty="0" err="1">
                <a:solidFill>
                  <a:schemeClr val="tx1">
                    <a:lumMod val="95000"/>
                    <a:lumOff val="5000"/>
                  </a:schemeClr>
                </a:solidFill>
              </a:rPr>
              <a:t>сплитер</a:t>
            </a:r>
            <a:r>
              <a:rPr lang="bg-BG" sz="1400" dirty="0">
                <a:solidFill>
                  <a:schemeClr val="tx1">
                    <a:lumMod val="95000"/>
                    <a:lumOff val="5000"/>
                  </a:schemeClr>
                </a:solidFill>
              </a:rPr>
              <a:t> като Фигурата. Формират се два лъча – информационен (</a:t>
            </a:r>
            <a:r>
              <a:rPr lang="bg-BG" sz="1400" dirty="0" err="1">
                <a:solidFill>
                  <a:schemeClr val="tx1">
                    <a:lumMod val="95000"/>
                    <a:lumOff val="5000"/>
                  </a:schemeClr>
                </a:solidFill>
              </a:rPr>
              <a:t>information</a:t>
            </a:r>
            <a:r>
              <a:rPr lang="bg-BG" sz="1400" dirty="0">
                <a:solidFill>
                  <a:schemeClr val="tx1">
                    <a:lumMod val="95000"/>
                    <a:lumOff val="5000"/>
                  </a:schemeClr>
                </a:solidFill>
              </a:rPr>
              <a:t> </a:t>
            </a:r>
            <a:r>
              <a:rPr lang="bg-BG" sz="1400" dirty="0" err="1">
                <a:solidFill>
                  <a:schemeClr val="tx1">
                    <a:lumMod val="95000"/>
                    <a:lumOff val="5000"/>
                  </a:schemeClr>
                </a:solidFill>
              </a:rPr>
              <a:t>beam</a:t>
            </a:r>
            <a:r>
              <a:rPr lang="bg-BG" sz="1400" dirty="0">
                <a:solidFill>
                  <a:schemeClr val="tx1">
                    <a:lumMod val="95000"/>
                    <a:lumOff val="5000"/>
                  </a:schemeClr>
                </a:solidFill>
              </a:rPr>
              <a:t>) и опорен (</a:t>
            </a:r>
            <a:r>
              <a:rPr lang="bg-BG" sz="1400" dirty="0" err="1">
                <a:solidFill>
                  <a:schemeClr val="tx1">
                    <a:lumMod val="95000"/>
                    <a:lumOff val="5000"/>
                  </a:schemeClr>
                </a:solidFill>
              </a:rPr>
              <a:t>reference</a:t>
            </a:r>
            <a:r>
              <a:rPr lang="bg-BG" sz="1400" dirty="0">
                <a:solidFill>
                  <a:schemeClr val="tx1">
                    <a:lumMod val="95000"/>
                    <a:lumOff val="5000"/>
                  </a:schemeClr>
                </a:solidFill>
              </a:rPr>
              <a:t> </a:t>
            </a:r>
            <a:r>
              <a:rPr lang="bg-BG" sz="1400" dirty="0" err="1">
                <a:solidFill>
                  <a:schemeClr val="tx1">
                    <a:lumMod val="95000"/>
                    <a:lumOff val="5000"/>
                  </a:schemeClr>
                </a:solidFill>
              </a:rPr>
              <a:t>beam</a:t>
            </a:r>
            <a:r>
              <a:rPr lang="bg-BG" sz="1400" dirty="0">
                <a:solidFill>
                  <a:schemeClr val="tx1">
                    <a:lumMod val="95000"/>
                    <a:lumOff val="5000"/>
                  </a:schemeClr>
                </a:solidFill>
              </a:rPr>
              <a:t>). Лъчът, който преминава през SLM става информационен, а другият – опорният – се използва за адресиране на данните (</a:t>
            </a:r>
            <a:r>
              <a:rPr lang="bg-BG" sz="1400" dirty="0" err="1">
                <a:solidFill>
                  <a:schemeClr val="tx1">
                    <a:lumMod val="95000"/>
                    <a:lumOff val="5000"/>
                  </a:schemeClr>
                </a:solidFill>
              </a:rPr>
              <a:t>серво</a:t>
            </a:r>
            <a:r>
              <a:rPr lang="bg-BG" sz="1400" dirty="0">
                <a:solidFill>
                  <a:schemeClr val="tx1">
                    <a:lumMod val="95000"/>
                    <a:lumOff val="5000"/>
                  </a:schemeClr>
                </a:solidFill>
              </a:rPr>
              <a:t> данни). Когато лазерният лъч преминава през SLM, части от светлината се блокират от непрозрачните области на страницата, а други преминават през полупрозрачни области.</a:t>
            </a:r>
          </a:p>
          <a:p>
            <a:pPr algn="just">
              <a:lnSpc>
                <a:spcPct val="90000"/>
              </a:lnSpc>
            </a:pPr>
            <a:r>
              <a:rPr lang="bg-BG" sz="1400" dirty="0">
                <a:solidFill>
                  <a:schemeClr val="tx1">
                    <a:lumMod val="95000"/>
                    <a:lumOff val="5000"/>
                  </a:schemeClr>
                </a:solidFill>
              </a:rPr>
              <a:t>По този начин информационният лъч модулира информацията, записана в SLM. Следва обединяване на двата лъча (интерференция) и запис на информацията в записващия слой под формата на холограма. За да се прочетат данните от HVD, трябва да извлече информацията, съхранена в холограмата. За целта лазер проектира светлинен лъч върху </a:t>
            </a:r>
            <a:r>
              <a:rPr lang="bg-BG" sz="1400" dirty="0" err="1">
                <a:solidFill>
                  <a:schemeClr val="tx1">
                    <a:lumMod val="95000"/>
                    <a:lumOff val="5000"/>
                  </a:schemeClr>
                </a:solidFill>
              </a:rPr>
              <a:t>холограматата</a:t>
            </a:r>
            <a:r>
              <a:rPr lang="bg-BG" sz="1400" dirty="0">
                <a:solidFill>
                  <a:schemeClr val="tx1">
                    <a:lumMod val="95000"/>
                    <a:lumOff val="5000"/>
                  </a:schemeClr>
                </a:solidFill>
              </a:rPr>
              <a:t>. Този лъч е идентичен с опорният лъч. Получава се дифракция на светлината. Тя зависи от информацията, записана в всяка холограма (страница). Получената светлина пресъздава образа на данните от страницата. Този лъч достига до CMOS оптичен сензор. Следва декодиране на данните до нули и единици. </a:t>
            </a:r>
          </a:p>
        </p:txBody>
      </p:sp>
      <p:grpSp>
        <p:nvGrpSpPr>
          <p:cNvPr id="22" name="Group 13">
            <a:extLst>
              <a:ext uri="{FF2B5EF4-FFF2-40B4-BE49-F238E27FC236}">
                <a16:creationId xmlns:a16="http://schemas.microsoft.com/office/drawing/2014/main" xmlns="" id="{0180A64C-1862-4B1B-8953-FA96DEE4C44F}"/>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9206969" y="2963333"/>
            <a:ext cx="2981858" cy="3208867"/>
            <a:chOff x="9206969" y="2963333"/>
            <a:chExt cx="2981858" cy="3208867"/>
          </a:xfrm>
        </p:grpSpPr>
        <p:cxnSp>
          <p:nvCxnSpPr>
            <p:cNvPr id="15" name="Straight Connector 14">
              <a:extLst>
                <a:ext uri="{FF2B5EF4-FFF2-40B4-BE49-F238E27FC236}">
                  <a16:creationId xmlns:a16="http://schemas.microsoft.com/office/drawing/2014/main" xmlns="" id="{52859A51-B3CA-4126-956F-D0DCCBA21294}"/>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1276012" y="2963333"/>
              <a:ext cx="912814" cy="912812"/>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xmlns="" id="{1ECA05ED-FBC3-48F4-8E6D-AB89EC6081CF}"/>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9206969" y="3190344"/>
              <a:ext cx="2981857" cy="2981856"/>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xmlns="" id="{5EE24CC5-F080-45A3-B2B4-59A7BCA5AB4A}"/>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292292" y="3285067"/>
              <a:ext cx="1896534" cy="1896533"/>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xmlns="" id="{B3EC6EC2-2351-427C-90C2-F107915733BC}"/>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443103" y="3131080"/>
              <a:ext cx="1745722" cy="1745720"/>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xmlns="" id="{D524D87A-9540-4F77-B006-823176623BD8}"/>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918826" y="3683001"/>
              <a:ext cx="1270001" cy="1269999"/>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081587222"/>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xmlns=""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1875</TotalTime>
  <Words>2247</Words>
  <Application>Microsoft Office PowerPoint</Application>
  <PresentationFormat>Custom</PresentationFormat>
  <Paragraphs>70</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Slice</vt:lpstr>
      <vt:lpstr>Запомнящи устройства с оптичен метод на запис и четене на информация</vt:lpstr>
      <vt:lpstr>Дефиниции и общи сведения</vt:lpstr>
      <vt:lpstr>Основни физични принципи</vt:lpstr>
      <vt:lpstr>Класификации</vt:lpstr>
      <vt:lpstr>Компакт дискове (CD)</vt:lpstr>
      <vt:lpstr>Как работи CD дискът </vt:lpstr>
      <vt:lpstr>CD-ROM</vt:lpstr>
      <vt:lpstr>CD-R</vt:lpstr>
      <vt:lpstr>CD-RW</vt:lpstr>
      <vt:lpstr>DVD дискове</vt:lpstr>
      <vt:lpstr>DVD-R дискове </vt:lpstr>
      <vt:lpstr>DVD-RW</vt:lpstr>
      <vt:lpstr>Blu-ray дискове</vt:lpstr>
      <vt:lpstr>BD-R &amp; BD-RE</vt:lpstr>
      <vt:lpstr>Как работят BD-R &amp; BD-RE </vt:lpstr>
      <vt:lpstr>BDXL</vt:lpstr>
      <vt:lpstr>HVD дискове</vt:lpstr>
      <vt:lpstr>Как работи HVD</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Запомнящи устройства с оптичен метод на записване на информация</dc:title>
  <dc:creator>Dimitar Kirchev</dc:creator>
  <cp:lastModifiedBy>PC-0</cp:lastModifiedBy>
  <cp:revision>14</cp:revision>
  <dcterms:created xsi:type="dcterms:W3CDTF">2022-12-18T11:38:05Z</dcterms:created>
  <dcterms:modified xsi:type="dcterms:W3CDTF">2022-12-20T06:48:09Z</dcterms:modified>
</cp:coreProperties>
</file>