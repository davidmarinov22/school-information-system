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0" r:id="rId4"/>
    <p:sldId id="275" r:id="rId5"/>
    <p:sldId id="276" r:id="rId6"/>
    <p:sldId id="258" r:id="rId7"/>
    <p:sldId id="259"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7" r:id="rId23"/>
    <p:sldId id="279" r:id="rId24"/>
    <p:sldId id="278" r:id="rId25"/>
    <p:sldId id="280"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6" d="100"/>
          <a:sy n="76" d="100"/>
        </p:scale>
        <p:origin x="-1206" y="1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9144000" cy="2933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p:nvCxnSpPr>
        <p:spPr>
          <a:xfrm>
            <a:off x="0" y="2925286"/>
            <a:ext cx="914400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2514600" y="2362200"/>
            <a:ext cx="4114800" cy="112776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pPr algn="ctr" defTabSz="914400" rtl="0" eaLnBrk="1" latinLnBrk="0" hangingPunct="1">
              <a:spcBef>
                <a:spcPts val="400"/>
              </a:spcBef>
              <a:buNone/>
            </a:pPr>
            <a:endParaRPr lang="en-US" sz="1800" b="1" kern="1200" cap="all" spc="0" baseline="0">
              <a:solidFill>
                <a:schemeClr val="bg1"/>
              </a:solidFill>
              <a:latin typeface="+mj-lt"/>
              <a:ea typeface="+mj-ea"/>
              <a:cs typeface="Tunga" pitchFamily="2"/>
            </a:endParaRPr>
          </a:p>
        </p:txBody>
      </p:sp>
      <p:sp>
        <p:nvSpPr>
          <p:cNvPr id="3" name="Subtitle 2"/>
          <p:cNvSpPr>
            <a:spLocks noGrp="1"/>
          </p:cNvSpPr>
          <p:nvPr>
            <p:ph type="subTitle" idx="1"/>
          </p:nvPr>
        </p:nvSpPr>
        <p:spPr>
          <a:xfrm>
            <a:off x="2565400" y="3045460"/>
            <a:ext cx="4013200" cy="428625"/>
          </a:xfrm>
        </p:spPr>
        <p:txBody>
          <a:bodyPr tIns="0" anchor="t">
            <a:noAutofit/>
          </a:bodyPr>
          <a:lstStyle>
            <a:lvl1pPr marL="0" indent="0" algn="ctr">
              <a:buNone/>
              <a:defRPr sz="1600" b="0" i="0" cap="none" spc="0" baseline="0">
                <a:solidFill>
                  <a:schemeClr val="bg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2" name="Title 11"/>
          <p:cNvSpPr>
            <a:spLocks noGrp="1"/>
          </p:cNvSpPr>
          <p:nvPr>
            <p:ph type="title"/>
          </p:nvPr>
        </p:nvSpPr>
        <p:spPr>
          <a:xfrm>
            <a:off x="2565400" y="2397760"/>
            <a:ext cx="4013200" cy="599440"/>
          </a:xfrm>
          <a:noFill/>
          <a:ln>
            <a:noFill/>
          </a:ln>
        </p:spPr>
        <p:txBody>
          <a:bodyPr bIns="0" anchor="b"/>
          <a:lstStyle>
            <a:lvl1pPr>
              <a:defRPr>
                <a:effectLst>
                  <a:glow rad="88900">
                    <a:schemeClr val="tx1">
                      <a:alpha val="60000"/>
                    </a:schemeClr>
                  </a:glow>
                </a:effectLst>
              </a:defRPr>
            </a:lvl1pPr>
          </a:lstStyle>
          <a:p>
            <a:r>
              <a:rPr lang="en-US"/>
              <a:t>Click to edit Master title style</a:t>
            </a:r>
            <a:endParaRPr lang="en-US" dirty="0"/>
          </a:p>
        </p:txBody>
      </p:sp>
      <p:sp>
        <p:nvSpPr>
          <p:cNvPr id="11" name="Date Placeholder 10"/>
          <p:cNvSpPr>
            <a:spLocks noGrp="1"/>
          </p:cNvSpPr>
          <p:nvPr>
            <p:ph type="dt" sz="half" idx="10"/>
          </p:nvPr>
        </p:nvSpPr>
        <p:spPr bwMode="black"/>
        <p:txBody>
          <a:bodyPr/>
          <a:lstStyle/>
          <a:p>
            <a:fld id="{DF253C57-DF35-4717-B2F0-D153C00BB7CC}" type="datetimeFigureOut">
              <a:rPr lang="en-US" smtClean="0"/>
              <a:t>12/20/2022</a:t>
            </a:fld>
            <a:endParaRPr lang="en-US"/>
          </a:p>
        </p:txBody>
      </p:sp>
      <p:sp>
        <p:nvSpPr>
          <p:cNvPr id="17" name="Slide Number Placeholder 16"/>
          <p:cNvSpPr>
            <a:spLocks noGrp="1"/>
          </p:cNvSpPr>
          <p:nvPr>
            <p:ph type="sldNum" sz="quarter" idx="11"/>
          </p:nvPr>
        </p:nvSpPr>
        <p:spPr/>
        <p:txBody>
          <a:bodyPr/>
          <a:lstStyle/>
          <a:p>
            <a:fld id="{19466BEB-D975-4A51-8150-7A91479BCF54}" type="slidenum">
              <a:rPr lang="en-US" smtClean="0"/>
              <a:t>‹#›</a:t>
            </a:fld>
            <a:endParaRPr lang="en-US"/>
          </a:p>
        </p:txBody>
      </p:sp>
      <p:sp>
        <p:nvSpPr>
          <p:cNvPr id="19" name="Footer Placeholder 18"/>
          <p:cNvSpPr>
            <a:spLocks noGrp="1"/>
          </p:cNvSpPr>
          <p:nvPr>
            <p:ph type="ftr" sz="quarter" idx="12"/>
          </p:nvPr>
        </p:nvSpPr>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1" name="Content Placeholder 30"/>
          <p:cNvSpPr>
            <a:spLocks noGrp="1"/>
          </p:cNvSpPr>
          <p:nvPr>
            <p:ph sz="quarter" idx="13"/>
          </p:nvPr>
        </p:nvSpPr>
        <p:spPr>
          <a:xfrm>
            <a:off x="457200" y="2020824"/>
            <a:ext cx="8229600" cy="4075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p:cNvSpPr>
            <a:spLocks noGrp="1"/>
          </p:cNvSpPr>
          <p:nvPr>
            <p:ph type="title"/>
          </p:nvPr>
        </p:nvSpPr>
        <p:spPr/>
        <p:txBody>
          <a:bodyPr/>
          <a:lstStyle/>
          <a:p>
            <a:r>
              <a:rPr lang="en-US"/>
              <a:t>Click to edit Master title style</a:t>
            </a:r>
          </a:p>
        </p:txBody>
      </p:sp>
      <p:sp>
        <p:nvSpPr>
          <p:cNvPr id="11" name="Date Placeholder 10"/>
          <p:cNvSpPr>
            <a:spLocks noGrp="1"/>
          </p:cNvSpPr>
          <p:nvPr>
            <p:ph type="dt" sz="half" idx="14"/>
          </p:nvPr>
        </p:nvSpPr>
        <p:spPr/>
        <p:txBody>
          <a:bodyPr/>
          <a:lstStyle/>
          <a:p>
            <a:fld id="{DF253C57-DF35-4717-B2F0-D153C00BB7CC}" type="datetimeFigureOut">
              <a:rPr lang="en-US" smtClean="0"/>
              <a:t>12/20/2022</a:t>
            </a:fld>
            <a:endParaRPr lang="en-US"/>
          </a:p>
        </p:txBody>
      </p:sp>
      <p:sp>
        <p:nvSpPr>
          <p:cNvPr id="12" name="Slide Number Placeholder 11"/>
          <p:cNvSpPr>
            <a:spLocks noGrp="1"/>
          </p:cNvSpPr>
          <p:nvPr>
            <p:ph type="sldNum" sz="quarter" idx="15"/>
          </p:nvPr>
        </p:nvSpPr>
        <p:spPr/>
        <p:txBody>
          <a:bodyPr/>
          <a:lstStyle/>
          <a:p>
            <a:fld id="{19466BEB-D975-4A51-8150-7A91479BCF54}" type="slidenum">
              <a:rPr lang="en-US" smtClean="0"/>
              <a:t>‹#›</a:t>
            </a:fld>
            <a:endParaRPr lang="en-US"/>
          </a:p>
        </p:txBody>
      </p:sp>
      <p:sp>
        <p:nvSpPr>
          <p:cNvPr id="13" name="Footer Placeholder 12"/>
          <p:cNvSpPr>
            <a:spLocks noGrp="1"/>
          </p:cNvSpPr>
          <p:nvPr>
            <p:ph type="ftr" sz="quarter" idx="16"/>
          </p:nvPr>
        </p:nvSpPr>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1"/>
      </p:bgRef>
    </p:bg>
    <p:spTree>
      <p:nvGrpSpPr>
        <p:cNvPr id="1" name=""/>
        <p:cNvGrpSpPr/>
        <p:nvPr/>
      </p:nvGrpSpPr>
      <p:grpSpPr>
        <a:xfrm>
          <a:off x="0" y="0"/>
          <a:ext cx="0" cy="0"/>
          <a:chOff x="0" y="0"/>
          <a:chExt cx="0" cy="0"/>
        </a:xfrm>
      </p:grpSpPr>
      <p:sp>
        <p:nvSpPr>
          <p:cNvPr id="8" name="Rectangle 7"/>
          <p:cNvSpPr/>
          <p:nvPr/>
        </p:nvSpPr>
        <p:spPr>
          <a:xfrm>
            <a:off x="0" y="3922776"/>
            <a:ext cx="9144000" cy="29352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0" y="3921760"/>
            <a:ext cx="9144000" cy="1588"/>
          </a:xfrm>
          <a:prstGeom prst="line">
            <a:avLst/>
          </a:prstGeom>
          <a:ln w="127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514600" y="3368040"/>
            <a:ext cx="4114800" cy="112776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pPr algn="ctr" defTabSz="914400" rtl="0" eaLnBrk="1" latinLnBrk="0" hangingPunct="1">
              <a:spcBef>
                <a:spcPts val="400"/>
              </a:spcBef>
              <a:buNone/>
            </a:pPr>
            <a:endParaRPr lang="en-US" sz="1800" b="1" kern="1200" cap="all" spc="0" baseline="0">
              <a:solidFill>
                <a:schemeClr val="bg1"/>
              </a:solidFill>
              <a:latin typeface="+mj-lt"/>
              <a:ea typeface="+mj-ea"/>
              <a:cs typeface="Tunga" pitchFamily="2"/>
            </a:endParaRPr>
          </a:p>
        </p:txBody>
      </p:sp>
      <p:sp>
        <p:nvSpPr>
          <p:cNvPr id="9" name="Title Placeholder 1"/>
          <p:cNvSpPr>
            <a:spLocks noGrp="1"/>
          </p:cNvSpPr>
          <p:nvPr>
            <p:ph type="title"/>
          </p:nvPr>
        </p:nvSpPr>
        <p:spPr bwMode="black">
          <a:xfrm>
            <a:off x="2529052" y="3367246"/>
            <a:ext cx="4085897" cy="706821"/>
          </a:xfrm>
          <a:prstGeom prst="rect">
            <a:avLst/>
          </a:prstGeom>
          <a:noFill/>
          <a:ln w="98425" cmpd="thinThick">
            <a:noFill/>
            <a:miter lim="800000"/>
          </a:ln>
        </p:spPr>
        <p:txBody>
          <a:bodyPr vert="horz" lIns="91440" tIns="45720" rIns="91440" bIns="0" rtlCol="0" anchor="b" anchorCtr="0">
            <a:normAutofit/>
          </a:bodyPr>
          <a:lstStyle>
            <a:lvl1pPr>
              <a:defRPr kumimoji="0" lang="en-US" sz="1800" b="1" i="0" u="none" strike="noStrike" kern="1200" cap="all" spc="0" normalizeH="0" baseline="0" noProof="0" dirty="0" smtClean="0">
                <a:ln>
                  <a:noFill/>
                </a:ln>
                <a:solidFill>
                  <a:schemeClr val="bg1"/>
                </a:solidFill>
                <a:effectLst/>
                <a:uLnTx/>
                <a:uFillTx/>
                <a:latin typeface="+mj-lt"/>
                <a:ea typeface="+mj-ea"/>
                <a:cs typeface="Tunga" pitchFamily="2"/>
              </a:defRPr>
            </a:lvl1pPr>
          </a:lstStyle>
          <a:p>
            <a:r>
              <a:rPr lang="en-US"/>
              <a:t>Click to edit Master title style</a:t>
            </a:r>
            <a:endParaRPr lang="en-US" dirty="0"/>
          </a:p>
        </p:txBody>
      </p:sp>
      <p:sp>
        <p:nvSpPr>
          <p:cNvPr id="10" name="Subtitle 2"/>
          <p:cNvSpPr>
            <a:spLocks noGrp="1"/>
          </p:cNvSpPr>
          <p:nvPr>
            <p:ph type="subTitle" idx="1"/>
          </p:nvPr>
        </p:nvSpPr>
        <p:spPr bwMode="black">
          <a:xfrm>
            <a:off x="2518542" y="4084577"/>
            <a:ext cx="4106917" cy="397094"/>
          </a:xfrm>
        </p:spPr>
        <p:txBody>
          <a:bodyPr tIns="0" anchor="t" anchorCtr="0">
            <a:normAutofit/>
          </a:bodyPr>
          <a:lstStyle>
            <a:lvl1pPr marL="0" indent="0" algn="ctr">
              <a:buNone/>
              <a:defRPr kumimoji="0" lang="en-US" sz="1600" b="0" i="0" u="none" strike="noStrike" kern="1200" cap="none" spc="0" normalizeH="0" baseline="0" noProof="0" dirty="0">
                <a:ln>
                  <a:noFill/>
                </a:ln>
                <a:solidFill>
                  <a:schemeClr val="bg1"/>
                </a:solidFill>
                <a:effectLst/>
                <a:uLnTx/>
                <a:uFillTx/>
                <a:latin typeface="+mn-lt"/>
                <a:ea typeface="+mn-ea"/>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3" name="Date Placeholder 12"/>
          <p:cNvSpPr>
            <a:spLocks noGrp="1"/>
          </p:cNvSpPr>
          <p:nvPr>
            <p:ph type="dt" sz="half" idx="10"/>
          </p:nvPr>
        </p:nvSpPr>
        <p:spPr/>
        <p:txBody>
          <a:bodyPr/>
          <a:lstStyle/>
          <a:p>
            <a:fld id="{DF253C57-DF35-4717-B2F0-D153C00BB7CC}" type="datetimeFigureOut">
              <a:rPr lang="en-US" smtClean="0"/>
              <a:t>12/20/2022</a:t>
            </a:fld>
            <a:endParaRPr lang="en-US"/>
          </a:p>
        </p:txBody>
      </p:sp>
      <p:sp>
        <p:nvSpPr>
          <p:cNvPr id="14" name="Slide Number Placeholder 13"/>
          <p:cNvSpPr>
            <a:spLocks noGrp="1"/>
          </p:cNvSpPr>
          <p:nvPr>
            <p:ph type="sldNum" sz="quarter" idx="11"/>
          </p:nvPr>
        </p:nvSpPr>
        <p:spPr/>
        <p:txBody>
          <a:bodyPr/>
          <a:lstStyle/>
          <a:p>
            <a:fld id="{19466BEB-D975-4A51-8150-7A91479BCF54}" type="slidenum">
              <a:rPr lang="en-US" smtClean="0"/>
              <a:t>‹#›</a:t>
            </a:fld>
            <a:endParaRPr lang="en-US"/>
          </a:p>
        </p:txBody>
      </p:sp>
      <p:sp>
        <p:nvSpPr>
          <p:cNvPr id="15" name="Footer Placeholder 14"/>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Content Placeholder 30"/>
          <p:cNvSpPr>
            <a:spLocks noGrp="1"/>
          </p:cNvSpPr>
          <p:nvPr>
            <p:ph sz="quarter" idx="13"/>
          </p:nvPr>
        </p:nvSpPr>
        <p:spPr>
          <a:xfrm>
            <a:off x="457201" y="2020824"/>
            <a:ext cx="402336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30"/>
          <p:cNvSpPr>
            <a:spLocks noGrp="1"/>
          </p:cNvSpPr>
          <p:nvPr>
            <p:ph sz="quarter" idx="14"/>
          </p:nvPr>
        </p:nvSpPr>
        <p:spPr>
          <a:xfrm>
            <a:off x="4663440" y="2020824"/>
            <a:ext cx="402336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p:cNvSpPr>
            <a:spLocks noGrp="1"/>
          </p:cNvSpPr>
          <p:nvPr>
            <p:ph type="dt" sz="half" idx="15"/>
          </p:nvPr>
        </p:nvSpPr>
        <p:spPr/>
        <p:txBody>
          <a:bodyPr/>
          <a:lstStyle/>
          <a:p>
            <a:fld id="{DF253C57-DF35-4717-B2F0-D153C00BB7CC}" type="datetimeFigureOut">
              <a:rPr lang="en-US" smtClean="0"/>
              <a:t>12/20/2022</a:t>
            </a:fld>
            <a:endParaRPr lang="en-US"/>
          </a:p>
        </p:txBody>
      </p:sp>
      <p:sp>
        <p:nvSpPr>
          <p:cNvPr id="12" name="Slide Number Placeholder 11"/>
          <p:cNvSpPr>
            <a:spLocks noGrp="1"/>
          </p:cNvSpPr>
          <p:nvPr>
            <p:ph type="sldNum" sz="quarter" idx="16"/>
          </p:nvPr>
        </p:nvSpPr>
        <p:spPr/>
        <p:txBody>
          <a:bodyPr/>
          <a:lstStyle/>
          <a:p>
            <a:fld id="{19466BEB-D975-4A51-8150-7A91479BCF54}" type="slidenum">
              <a:rPr lang="en-US" smtClean="0"/>
              <a:t>‹#›</a:t>
            </a:fld>
            <a:endParaRPr lang="en-US"/>
          </a:p>
        </p:txBody>
      </p:sp>
      <p:sp>
        <p:nvSpPr>
          <p:cNvPr id="13" name="Footer Placeholder 12"/>
          <p:cNvSpPr>
            <a:spLocks noGrp="1"/>
          </p:cNvSpPr>
          <p:nvPr>
            <p:ph type="ftr" sz="quarter" idx="17"/>
          </p:nvPr>
        </p:nvSpPr>
        <p:spPr/>
        <p:txBody>
          <a:bodyPr/>
          <a:lstStyle/>
          <a:p>
            <a:endParaRPr lang="en-US"/>
          </a:p>
        </p:txBody>
      </p:sp>
      <p:sp>
        <p:nvSpPr>
          <p:cNvPr id="16" name="Title 15"/>
          <p:cNvSpPr>
            <a:spLocks noGrp="1"/>
          </p:cNvSpPr>
          <p:nvPr>
            <p:ph type="title"/>
          </p:nvPr>
        </p:nvSpPr>
        <p:spPr/>
        <p:txBody>
          <a:bodyPr/>
          <a:lstStyle/>
          <a:p>
            <a:r>
              <a:rPr lang="en-US"/>
              <a:t>Click to edit Master title style</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3" name="Content Placeholder 30"/>
          <p:cNvSpPr>
            <a:spLocks noGrp="1"/>
          </p:cNvSpPr>
          <p:nvPr>
            <p:ph sz="quarter" idx="13"/>
          </p:nvPr>
        </p:nvSpPr>
        <p:spPr>
          <a:xfrm>
            <a:off x="457201" y="2819400"/>
            <a:ext cx="4023360" cy="3209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Content Placeholder 30"/>
          <p:cNvSpPr>
            <a:spLocks noGrp="1"/>
          </p:cNvSpPr>
          <p:nvPr>
            <p:ph sz="quarter" idx="14"/>
          </p:nvPr>
        </p:nvSpPr>
        <p:spPr>
          <a:xfrm>
            <a:off x="4663440" y="2816352"/>
            <a:ext cx="4023360" cy="3209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3"/>
          <p:cNvSpPr>
            <a:spLocks noGrp="1"/>
          </p:cNvSpPr>
          <p:nvPr>
            <p:ph type="body" sz="half" idx="2"/>
          </p:nvPr>
        </p:nvSpPr>
        <p:spPr>
          <a:xfrm>
            <a:off x="457200" y="2020824"/>
            <a:ext cx="4023360" cy="704088"/>
          </a:xfrm>
          <a:noFill/>
          <a:ln w="98425" cmpd="thinThick">
            <a:no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1" kern="1200" cap="none" spc="200" baseline="0" smtClean="0">
                <a:solidFill>
                  <a:schemeClr val="tx1"/>
                </a:solidFill>
                <a:latin typeface="+mj-lt"/>
                <a:ea typeface="+mj-ea"/>
                <a:cs typeface="Tunga" pitchFamily="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1" name="Text Placeholder 3"/>
          <p:cNvSpPr>
            <a:spLocks noGrp="1"/>
          </p:cNvSpPr>
          <p:nvPr>
            <p:ph type="body" sz="half" idx="15"/>
          </p:nvPr>
        </p:nvSpPr>
        <p:spPr>
          <a:xfrm>
            <a:off x="4663440" y="2020824"/>
            <a:ext cx="4023360" cy="704088"/>
          </a:xfrm>
          <a:noFill/>
          <a:ln w="98425" cmpd="thinThick">
            <a:no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1" i="0" kern="1200" cap="none" spc="200" baseline="0" dirty="0" smtClean="0">
                <a:solidFill>
                  <a:schemeClr val="tx1"/>
                </a:solidFill>
                <a:latin typeface="+mj-lt"/>
                <a:ea typeface="+mj-ea"/>
                <a:cs typeface="Tunga" pitchFamily="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400"/>
              </a:spcBef>
              <a:spcAft>
                <a:spcPts val="0"/>
              </a:spcAft>
              <a:buClr>
                <a:schemeClr val="accent1"/>
              </a:buClr>
              <a:buFontTx/>
              <a:buNone/>
            </a:pPr>
            <a:r>
              <a:rPr lang="en-US"/>
              <a:t>Click to edit Master text styles</a:t>
            </a:r>
          </a:p>
        </p:txBody>
      </p:sp>
      <p:sp>
        <p:nvSpPr>
          <p:cNvPr id="11" name="Date Placeholder 10"/>
          <p:cNvSpPr>
            <a:spLocks noGrp="1"/>
          </p:cNvSpPr>
          <p:nvPr>
            <p:ph type="dt" sz="half" idx="16"/>
          </p:nvPr>
        </p:nvSpPr>
        <p:spPr/>
        <p:txBody>
          <a:bodyPr/>
          <a:lstStyle/>
          <a:p>
            <a:fld id="{DF253C57-DF35-4717-B2F0-D153C00BB7CC}" type="datetimeFigureOut">
              <a:rPr lang="en-US" smtClean="0"/>
              <a:t>12/20/2022</a:t>
            </a:fld>
            <a:endParaRPr lang="en-US"/>
          </a:p>
        </p:txBody>
      </p:sp>
      <p:sp>
        <p:nvSpPr>
          <p:cNvPr id="12" name="Slide Number Placeholder 11"/>
          <p:cNvSpPr>
            <a:spLocks noGrp="1"/>
          </p:cNvSpPr>
          <p:nvPr>
            <p:ph type="sldNum" sz="quarter" idx="17"/>
          </p:nvPr>
        </p:nvSpPr>
        <p:spPr/>
        <p:txBody>
          <a:bodyPr/>
          <a:lstStyle/>
          <a:p>
            <a:fld id="{19466BEB-D975-4A51-8150-7A91479BCF54}" type="slidenum">
              <a:rPr lang="en-US" smtClean="0"/>
              <a:t>‹#›</a:t>
            </a:fld>
            <a:endParaRPr lang="en-US"/>
          </a:p>
        </p:txBody>
      </p:sp>
      <p:sp>
        <p:nvSpPr>
          <p:cNvPr id="13" name="Footer Placeholder 12"/>
          <p:cNvSpPr>
            <a:spLocks noGrp="1"/>
          </p:cNvSpPr>
          <p:nvPr>
            <p:ph type="ftr" sz="quarter" idx="18"/>
          </p:nvPr>
        </p:nvSpPr>
        <p:spPr/>
        <p:txBody>
          <a:bodyPr/>
          <a:lstStyle/>
          <a:p>
            <a:endParaRPr lang="en-US"/>
          </a:p>
        </p:txBody>
      </p:sp>
      <p:sp>
        <p:nvSpPr>
          <p:cNvPr id="18" name="Title 17"/>
          <p:cNvSpPr>
            <a:spLocks noGrp="1"/>
          </p:cNvSpPr>
          <p:nvPr>
            <p:ph type="title"/>
          </p:nvPr>
        </p:nvSpPr>
        <p:spPr/>
        <p:txBody>
          <a:bodyPr/>
          <a:lstStyle/>
          <a:p>
            <a:r>
              <a:rPr lang="en-US"/>
              <a:t>Click to edit Master title style</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t>Click to edit Master title style</a:t>
            </a:r>
          </a:p>
        </p:txBody>
      </p:sp>
      <p:sp>
        <p:nvSpPr>
          <p:cNvPr id="15" name="Date Placeholder 14"/>
          <p:cNvSpPr>
            <a:spLocks noGrp="1"/>
          </p:cNvSpPr>
          <p:nvPr>
            <p:ph type="dt" sz="half" idx="10"/>
          </p:nvPr>
        </p:nvSpPr>
        <p:spPr/>
        <p:txBody>
          <a:bodyPr/>
          <a:lstStyle/>
          <a:p>
            <a:fld id="{DF253C57-DF35-4717-B2F0-D153C00BB7CC}" type="datetimeFigureOut">
              <a:rPr lang="en-US" smtClean="0"/>
              <a:t>12/20/2022</a:t>
            </a:fld>
            <a:endParaRPr lang="en-US"/>
          </a:p>
        </p:txBody>
      </p:sp>
      <p:sp>
        <p:nvSpPr>
          <p:cNvPr id="16" name="Slide Number Placeholder 15"/>
          <p:cNvSpPr>
            <a:spLocks noGrp="1"/>
          </p:cNvSpPr>
          <p:nvPr>
            <p:ph type="sldNum" sz="quarter" idx="11"/>
          </p:nvPr>
        </p:nvSpPr>
        <p:spPr/>
        <p:txBody>
          <a:bodyPr/>
          <a:lstStyle/>
          <a:p>
            <a:fld id="{19466BEB-D975-4A51-8150-7A91479BCF54}" type="slidenum">
              <a:rPr lang="en-US" smtClean="0"/>
              <a:t>‹#›</a:t>
            </a:fld>
            <a:endParaRPr lang="en-US"/>
          </a:p>
        </p:txBody>
      </p:sp>
      <p:sp>
        <p:nvSpPr>
          <p:cNvPr id="17" name="Footer Placeholder 16"/>
          <p:cNvSpPr>
            <a:spLocks noGrp="1"/>
          </p:cNvSpPr>
          <p:nvPr>
            <p:ph type="ftr" sz="quarter" idx="12"/>
          </p:nvPr>
        </p:nvSpPr>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DF253C57-DF35-4717-B2F0-D153C00BB7CC}" type="datetimeFigureOut">
              <a:rPr lang="en-US" smtClean="0"/>
              <a:t>12/20/2022</a:t>
            </a:fld>
            <a:endParaRPr lang="en-US"/>
          </a:p>
        </p:txBody>
      </p:sp>
      <p:sp>
        <p:nvSpPr>
          <p:cNvPr id="8" name="Slide Number Placeholder 7"/>
          <p:cNvSpPr>
            <a:spLocks noGrp="1"/>
          </p:cNvSpPr>
          <p:nvPr>
            <p:ph type="sldNum" sz="quarter" idx="11"/>
          </p:nvPr>
        </p:nvSpPr>
        <p:spPr/>
        <p:txBody>
          <a:bodyPr/>
          <a:lstStyle/>
          <a:p>
            <a:fld id="{19466BEB-D975-4A51-8150-7A91479BCF54}"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4" name="Content Placeholder 30"/>
          <p:cNvSpPr>
            <a:spLocks noGrp="1"/>
          </p:cNvSpPr>
          <p:nvPr>
            <p:ph sz="quarter" idx="14"/>
          </p:nvPr>
        </p:nvSpPr>
        <p:spPr>
          <a:xfrm>
            <a:off x="1485900" y="1914525"/>
            <a:ext cx="6172200" cy="35109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
          <p:cNvSpPr>
            <a:spLocks noGrp="1"/>
          </p:cNvSpPr>
          <p:nvPr>
            <p:ph type="body" sz="half" idx="2"/>
          </p:nvPr>
        </p:nvSpPr>
        <p:spPr>
          <a:xfrm>
            <a:off x="1737360" y="5513832"/>
            <a:ext cx="5669280" cy="548640"/>
          </a:xfrm>
        </p:spPr>
        <p:txBody>
          <a:bodyPr vert="horz" lIns="91440" tIns="0" rIns="91440" bIns="45720" rtlCol="0" anchor="ctr">
            <a:normAutofit/>
          </a:bodyPr>
          <a:lstStyle>
            <a:lvl1pPr marL="0" indent="0" algn="ctr" defTabSz="914400" rtl="0" eaLnBrk="1" latinLnBrk="0" hangingPunct="1">
              <a:lnSpc>
                <a:spcPct val="100000"/>
              </a:lnSpc>
              <a:spcBef>
                <a:spcPts val="0"/>
              </a:spcBef>
              <a:buClr>
                <a:schemeClr val="accent1"/>
              </a:buClr>
              <a:buFont typeface="Arial" pitchFamily="34" charset="0"/>
              <a:buNone/>
              <a:defRPr lang="en-US" sz="1400" b="0" i="0" kern="1200" cap="none" spc="0" baseline="0" smtClean="0">
                <a:solidFill>
                  <a:schemeClr val="tx1"/>
                </a:solidFill>
                <a:latin typeface="+mn-lt"/>
                <a:ea typeface="+mn-ea"/>
                <a:cs typeface="Tahoma"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3" name="Title 12"/>
          <p:cNvSpPr>
            <a:spLocks noGrp="1"/>
          </p:cNvSpPr>
          <p:nvPr>
            <p:ph type="title"/>
          </p:nvPr>
        </p:nvSpPr>
        <p:spPr/>
        <p:txBody>
          <a:bodyPr/>
          <a:lstStyle/>
          <a:p>
            <a:r>
              <a:rPr lang="en-US"/>
              <a:t>Click to edit Master title style</a:t>
            </a:r>
          </a:p>
        </p:txBody>
      </p:sp>
      <p:sp>
        <p:nvSpPr>
          <p:cNvPr id="16" name="Date Placeholder 15"/>
          <p:cNvSpPr>
            <a:spLocks noGrp="1"/>
          </p:cNvSpPr>
          <p:nvPr>
            <p:ph type="dt" sz="half" idx="15"/>
          </p:nvPr>
        </p:nvSpPr>
        <p:spPr/>
        <p:txBody>
          <a:bodyPr/>
          <a:lstStyle/>
          <a:p>
            <a:fld id="{DF253C57-DF35-4717-B2F0-D153C00BB7CC}" type="datetimeFigureOut">
              <a:rPr lang="en-US" smtClean="0"/>
              <a:t>12/20/2022</a:t>
            </a:fld>
            <a:endParaRPr lang="en-US"/>
          </a:p>
        </p:txBody>
      </p:sp>
      <p:sp>
        <p:nvSpPr>
          <p:cNvPr id="19" name="Slide Number Placeholder 18"/>
          <p:cNvSpPr>
            <a:spLocks noGrp="1"/>
          </p:cNvSpPr>
          <p:nvPr>
            <p:ph type="sldNum" sz="quarter" idx="16"/>
          </p:nvPr>
        </p:nvSpPr>
        <p:spPr/>
        <p:txBody>
          <a:bodyPr/>
          <a:lstStyle/>
          <a:p>
            <a:fld id="{19466BEB-D975-4A51-8150-7A91479BCF54}" type="slidenum">
              <a:rPr lang="en-US" smtClean="0"/>
              <a:t>‹#›</a:t>
            </a:fld>
            <a:endParaRPr lang="en-US"/>
          </a:p>
        </p:txBody>
      </p:sp>
      <p:sp>
        <p:nvSpPr>
          <p:cNvPr id="23" name="Footer Placeholder 22"/>
          <p:cNvSpPr>
            <a:spLocks noGrp="1"/>
          </p:cNvSpPr>
          <p:nvPr>
            <p:ph type="ftr" sz="quarter" idx="17"/>
          </p:nvPr>
        </p:nvSpPr>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1852209" y="2026918"/>
            <a:ext cx="5439582" cy="3263750"/>
          </a:xfrm>
          <a:solidFill>
            <a:schemeClr val="tx1"/>
          </a:solidFill>
          <a:ln w="69850" cmpd="dbl">
            <a:solidFill>
              <a:schemeClr val="tx1"/>
            </a:solid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0" kern="1200" cap="none" spc="0" baseline="0" dirty="0">
                <a:solidFill>
                  <a:schemeClr val="bg1"/>
                </a:solidFill>
                <a:latin typeface="+mj-lt"/>
                <a:ea typeface="+mj-ea"/>
                <a:cs typeface="Tunga" pitchFamily="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5" name="Text Placeholder 24"/>
          <p:cNvSpPr>
            <a:spLocks noGrp="1"/>
          </p:cNvSpPr>
          <p:nvPr>
            <p:ph type="body" sz="quarter" idx="13"/>
          </p:nvPr>
        </p:nvSpPr>
        <p:spPr>
          <a:xfrm>
            <a:off x="1737360" y="5516880"/>
            <a:ext cx="5669280" cy="548640"/>
          </a:xfrm>
        </p:spPr>
        <p:txBody>
          <a:bodyPr vert="horz" lIns="91440" tIns="0" rIns="91440" bIns="0" rtlCol="0" anchor="ctr" anchorCtr="0">
            <a:normAutofit/>
          </a:bodyPr>
          <a:lstStyle>
            <a:lvl1pPr marL="0" indent="0">
              <a:spcBef>
                <a:spcPts val="0"/>
              </a:spcBef>
              <a:buNone/>
              <a:defRPr lang="en-US" sz="1400" b="0" i="0" kern="1200" cap="none" spc="30" baseline="0" smtClean="0">
                <a:solidFill>
                  <a:schemeClr val="tx2"/>
                </a:solidFill>
                <a:latin typeface="+mn-lt"/>
                <a:ea typeface="+mn-ea"/>
                <a:cs typeface="Tahoma" pitchFamily="34" charset="0"/>
              </a:defRPr>
            </a:lvl1pPr>
            <a:lvl2pPr marL="171450" indent="1588">
              <a:buNone/>
              <a:defRPr>
                <a:solidFill>
                  <a:schemeClr val="bg2"/>
                </a:solidFill>
              </a:defRPr>
            </a:lvl2pPr>
            <a:lvl3pPr marL="344488" indent="6350">
              <a:buNone/>
              <a:defRPr>
                <a:solidFill>
                  <a:schemeClr val="bg2"/>
                </a:solidFill>
              </a:defRPr>
            </a:lvl3pPr>
            <a:lvl4pPr marL="515938" indent="3175">
              <a:buNone/>
              <a:defRPr>
                <a:solidFill>
                  <a:schemeClr val="bg2"/>
                </a:solidFill>
              </a:defRPr>
            </a:lvl4pPr>
            <a:lvl5pPr marL="688975" indent="-1588">
              <a:buNone/>
              <a:defRPr>
                <a:solidFill>
                  <a:schemeClr val="bg2"/>
                </a:solidFill>
              </a:defRPr>
            </a:lvl5pPr>
          </a:lstStyle>
          <a:p>
            <a:pPr marL="0" lvl="0" indent="0" algn="ctr" defTabSz="914400" rtl="0" eaLnBrk="1" latinLnBrk="0" hangingPunct="1">
              <a:spcBef>
                <a:spcPts val="600"/>
              </a:spcBef>
              <a:spcAft>
                <a:spcPts val="0"/>
              </a:spcAft>
              <a:buClr>
                <a:schemeClr val="accent1"/>
              </a:buClr>
              <a:buFont typeface="Arial" pitchFamily="34" charset="0"/>
              <a:buNone/>
            </a:pPr>
            <a:r>
              <a:rPr lang="en-US"/>
              <a:t>Click to edit Master text styles</a:t>
            </a:r>
          </a:p>
        </p:txBody>
      </p:sp>
      <p:sp>
        <p:nvSpPr>
          <p:cNvPr id="12" name="Title 11"/>
          <p:cNvSpPr>
            <a:spLocks noGrp="1"/>
          </p:cNvSpPr>
          <p:nvPr>
            <p:ph type="title"/>
          </p:nvPr>
        </p:nvSpPr>
        <p:spPr>
          <a:xfrm>
            <a:off x="2514600" y="975360"/>
            <a:ext cx="4114800" cy="701040"/>
          </a:xfrm>
        </p:spPr>
        <p:txBody>
          <a:bodyPr/>
          <a:lstStyle/>
          <a:p>
            <a:r>
              <a:rPr lang="en-US"/>
              <a:t>Click to edit Master title style</a:t>
            </a:r>
          </a:p>
        </p:txBody>
      </p:sp>
      <p:sp>
        <p:nvSpPr>
          <p:cNvPr id="13" name="Date Placeholder 12"/>
          <p:cNvSpPr>
            <a:spLocks noGrp="1"/>
          </p:cNvSpPr>
          <p:nvPr>
            <p:ph type="dt" sz="half" idx="14"/>
          </p:nvPr>
        </p:nvSpPr>
        <p:spPr>
          <a:xfrm>
            <a:off x="2981325" y="273180"/>
            <a:ext cx="3181350" cy="292100"/>
          </a:xfrm>
        </p:spPr>
        <p:txBody>
          <a:bodyPr/>
          <a:lstStyle/>
          <a:p>
            <a:fld id="{DF253C57-DF35-4717-B2F0-D153C00BB7CC}" type="datetimeFigureOut">
              <a:rPr lang="en-US" smtClean="0"/>
              <a:t>12/20/2022</a:t>
            </a:fld>
            <a:endParaRPr lang="en-US"/>
          </a:p>
        </p:txBody>
      </p:sp>
      <p:sp>
        <p:nvSpPr>
          <p:cNvPr id="14" name="Slide Number Placeholder 13"/>
          <p:cNvSpPr>
            <a:spLocks noGrp="1"/>
          </p:cNvSpPr>
          <p:nvPr>
            <p:ph type="sldNum" sz="quarter" idx="15"/>
          </p:nvPr>
        </p:nvSpPr>
        <p:spPr>
          <a:xfrm>
            <a:off x="4038600" y="6172200"/>
            <a:ext cx="1066800" cy="304800"/>
          </a:xfrm>
        </p:spPr>
        <p:txBody>
          <a:bodyPr/>
          <a:lstStyle/>
          <a:p>
            <a:fld id="{19466BEB-D975-4A51-8150-7A91479BCF54}" type="slidenum">
              <a:rPr lang="en-US" smtClean="0"/>
              <a:t>‹#›</a:t>
            </a:fld>
            <a:endParaRPr lang="en-US"/>
          </a:p>
        </p:txBody>
      </p:sp>
      <p:sp>
        <p:nvSpPr>
          <p:cNvPr id="15" name="Footer Placeholder 14"/>
          <p:cNvSpPr>
            <a:spLocks noGrp="1"/>
          </p:cNvSpPr>
          <p:nvPr>
            <p:ph type="ftr" sz="quarter" idx="16"/>
          </p:nvPr>
        </p:nvSpPr>
        <p:spPr>
          <a:xfrm>
            <a:off x="1447800" y="6486525"/>
            <a:ext cx="6248400" cy="292100"/>
          </a:xfrm>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253C57-DF35-4717-B2F0-D153C00BB7CC}" type="datetimeFigureOut">
              <a:rPr lang="en-US" smtClean="0"/>
              <a:t>12/20/2022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466BEB-D975-4A51-8150-7A91479BCF54}"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cxnSp>
        <p:nvCxnSpPr>
          <p:cNvPr id="9" name="Straight Connector 8"/>
          <p:cNvCxnSpPr/>
          <p:nvPr/>
        </p:nvCxnSpPr>
        <p:spPr>
          <a:xfrm rot="5400000">
            <a:off x="4267200" y="3429000"/>
            <a:ext cx="6858000" cy="1588"/>
          </a:xfrm>
          <a:prstGeom prst="line">
            <a:avLst/>
          </a:prstGeom>
          <a:ln w="127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bwMode="hidden">
          <a:xfrm>
            <a:off x="0" y="1"/>
            <a:ext cx="7696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Vertical Text Placeholder 2"/>
          <p:cNvSpPr>
            <a:spLocks noGrp="1"/>
          </p:cNvSpPr>
          <p:nvPr>
            <p:ph type="body" orient="vert" idx="1"/>
          </p:nvPr>
        </p:nvSpPr>
        <p:spPr>
          <a:xfrm>
            <a:off x="457200" y="914401"/>
            <a:ext cx="6629400" cy="5029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253C57-DF35-4717-B2F0-D153C00BB7CC}" type="datetimeFigureOut">
              <a:rPr lang="en-US" smtClean="0"/>
              <a:t>12/20/2022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466BEB-D975-4A51-8150-7A91479BCF54}" type="slidenum">
              <a:rPr lang="en-US" smtClean="0"/>
              <a:t>‹#›</a:t>
            </a:fld>
            <a:endParaRPr lang="en-US"/>
          </a:p>
        </p:txBody>
      </p:sp>
      <p:sp>
        <p:nvSpPr>
          <p:cNvPr id="2" name="Vertical Title 1"/>
          <p:cNvSpPr>
            <a:spLocks noGrp="1"/>
          </p:cNvSpPr>
          <p:nvPr>
            <p:ph type="title" orient="vert"/>
          </p:nvPr>
        </p:nvSpPr>
        <p:spPr>
          <a:xfrm>
            <a:off x="7239000" y="914401"/>
            <a:ext cx="926980" cy="5029200"/>
          </a:xfrm>
        </p:spPr>
        <p:txBody>
          <a:bodyPr vert="eaVert"/>
          <a:lstStyle/>
          <a:p>
            <a:r>
              <a:rPr lang="en-US"/>
              <a:t>Click to edit Master title style</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8" name="Rectangle 7"/>
          <p:cNvSpPr/>
          <p:nvPr/>
        </p:nvSpPr>
        <p:spPr bwMode="hidden">
          <a:xfrm>
            <a:off x="0" y="1335973"/>
            <a:ext cx="9144000" cy="55220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457200" y="2019301"/>
            <a:ext cx="8229600" cy="41173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981325" y="273180"/>
            <a:ext cx="3181350" cy="292100"/>
          </a:xfrm>
          <a:prstGeom prst="rect">
            <a:avLst/>
          </a:prstGeom>
        </p:spPr>
        <p:txBody>
          <a:bodyPr vert="horz" lIns="91440" tIns="45720" rIns="91440" bIns="45720" rtlCol="0" anchor="ctr">
            <a:noAutofit/>
          </a:bodyPr>
          <a:lstStyle>
            <a:lvl1pPr algn="ctr">
              <a:defRPr sz="1200" b="0" cap="all" spc="300" baseline="0">
                <a:solidFill>
                  <a:schemeClr val="tx1"/>
                </a:solidFill>
              </a:defRPr>
            </a:lvl1pPr>
          </a:lstStyle>
          <a:p>
            <a:fld id="{DF253C57-DF35-4717-B2F0-D153C00BB7CC}" type="datetimeFigureOut">
              <a:rPr lang="en-US" smtClean="0"/>
              <a:t>12/20/2022</a:t>
            </a:fld>
            <a:endParaRPr lang="en-US"/>
          </a:p>
        </p:txBody>
      </p:sp>
      <p:sp>
        <p:nvSpPr>
          <p:cNvPr id="5" name="Footer Placeholder 4"/>
          <p:cNvSpPr>
            <a:spLocks noGrp="1"/>
          </p:cNvSpPr>
          <p:nvPr>
            <p:ph type="ftr" sz="quarter" idx="3"/>
          </p:nvPr>
        </p:nvSpPr>
        <p:spPr>
          <a:xfrm>
            <a:off x="1447800" y="6486525"/>
            <a:ext cx="6248400" cy="292100"/>
          </a:xfrm>
          <a:prstGeom prst="rect">
            <a:avLst/>
          </a:prstGeom>
        </p:spPr>
        <p:txBody>
          <a:bodyPr vert="horz" lIns="91440" tIns="45720" rIns="91440" bIns="45720" rtlCol="0" anchor="ctr">
            <a:normAutofit/>
          </a:bodyPr>
          <a:lstStyle>
            <a:lvl1pPr algn="ctr">
              <a:defRPr sz="1100" b="0" cap="all" spc="300" baseline="0">
                <a:solidFill>
                  <a:schemeClr val="tx1"/>
                </a:solidFill>
              </a:defRPr>
            </a:lvl1pPr>
          </a:lstStyle>
          <a:p>
            <a:endParaRPr lang="en-US"/>
          </a:p>
        </p:txBody>
      </p:sp>
      <p:sp>
        <p:nvSpPr>
          <p:cNvPr id="6" name="Slide Number Placeholder 5"/>
          <p:cNvSpPr>
            <a:spLocks noGrp="1"/>
          </p:cNvSpPr>
          <p:nvPr>
            <p:ph type="sldNum" sz="quarter" idx="4"/>
          </p:nvPr>
        </p:nvSpPr>
        <p:spPr>
          <a:xfrm>
            <a:off x="4038600" y="6172200"/>
            <a:ext cx="1066800" cy="304800"/>
          </a:xfrm>
          <a:prstGeom prst="rect">
            <a:avLst/>
          </a:prstGeom>
          <a:ln>
            <a:noFill/>
          </a:ln>
        </p:spPr>
        <p:txBody>
          <a:bodyPr vert="horz" lIns="0" tIns="0" rIns="0" bIns="0" rtlCol="0" anchor="ctr">
            <a:normAutofit/>
          </a:bodyPr>
          <a:lstStyle>
            <a:lvl1pPr algn="ctr">
              <a:defRPr sz="1200" b="1">
                <a:solidFill>
                  <a:schemeClr val="tx1"/>
                </a:solidFill>
              </a:defRPr>
            </a:lvl1pPr>
          </a:lstStyle>
          <a:p>
            <a:fld id="{19466BEB-D975-4A51-8150-7A91479BCF54}" type="slidenum">
              <a:rPr lang="en-US" smtClean="0"/>
              <a:t>‹#›</a:t>
            </a:fld>
            <a:endParaRPr lang="en-US"/>
          </a:p>
        </p:txBody>
      </p:sp>
      <p:cxnSp>
        <p:nvCxnSpPr>
          <p:cNvPr id="10" name="Straight Connector 9"/>
          <p:cNvCxnSpPr/>
          <p:nvPr/>
        </p:nvCxnSpPr>
        <p:spPr>
          <a:xfrm>
            <a:off x="0" y="1331436"/>
            <a:ext cx="9144000" cy="1588"/>
          </a:xfrm>
          <a:prstGeom prst="line">
            <a:avLst/>
          </a:prstGeom>
          <a:ln w="12700">
            <a:solidFill>
              <a:schemeClr val="tx2">
                <a:lumMod val="75000"/>
              </a:schemeClr>
            </a:solidFill>
          </a:ln>
          <a:effectLst/>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2514600" y="975360"/>
            <a:ext cx="4114800" cy="70104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r>
              <a:rPr lang="en-US"/>
              <a:t>Click to edit Master title style</a:t>
            </a:r>
            <a:endParaRPr lang="en-US" dirty="0"/>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914400" rtl="0" eaLnBrk="1" latinLnBrk="0" hangingPunct="1">
        <a:spcBef>
          <a:spcPts val="400"/>
        </a:spcBef>
        <a:buNone/>
        <a:defRPr sz="1800" b="1" kern="1200" cap="all" spc="0" baseline="0">
          <a:solidFill>
            <a:schemeClr val="bg1">
              <a:lumMod val="75000"/>
              <a:lumOff val="25000"/>
            </a:schemeClr>
          </a:solidFill>
          <a:effectLst/>
          <a:latin typeface="+mj-lt"/>
          <a:ea typeface="+mj-ea"/>
          <a:cs typeface="Tunga" pitchFamily="2"/>
        </a:defRPr>
      </a:lvl1pPr>
    </p:titleStyle>
    <p:bodyStyle>
      <a:lvl1pPr marL="0" indent="0" algn="ctr" defTabSz="914400" rtl="0" eaLnBrk="1" latinLnBrk="0" hangingPunct="1">
        <a:lnSpc>
          <a:spcPct val="100000"/>
        </a:lnSpc>
        <a:spcBef>
          <a:spcPts val="600"/>
        </a:spcBef>
        <a:spcAft>
          <a:spcPts val="0"/>
        </a:spcAft>
        <a:buClr>
          <a:schemeClr val="accent1"/>
        </a:buClr>
        <a:buFontTx/>
        <a:buNone/>
        <a:defRPr sz="2000" b="0" i="0" kern="1200" cap="none" spc="30" baseline="0">
          <a:solidFill>
            <a:schemeClr val="tx1"/>
          </a:solidFill>
          <a:latin typeface="+mn-lt"/>
          <a:ea typeface="+mn-ea"/>
          <a:cs typeface="Tahoma" pitchFamily="34" charset="0"/>
        </a:defRPr>
      </a:lvl1pPr>
      <a:lvl2pPr marL="0" indent="0" algn="ctr" defTabSz="914400" rtl="0" eaLnBrk="1" latinLnBrk="0" hangingPunct="1">
        <a:lnSpc>
          <a:spcPct val="100000"/>
        </a:lnSpc>
        <a:spcBef>
          <a:spcPts val="1200"/>
        </a:spcBef>
        <a:buClr>
          <a:schemeClr val="accent1"/>
        </a:buClr>
        <a:buFontTx/>
        <a:buNone/>
        <a:defRPr sz="1800" kern="1200">
          <a:solidFill>
            <a:schemeClr val="tx2"/>
          </a:solidFill>
          <a:latin typeface="+mn-lt"/>
          <a:ea typeface="+mn-ea"/>
          <a:cs typeface="Tahoma" pitchFamily="34" charset="0"/>
        </a:defRPr>
      </a:lvl2pPr>
      <a:lvl3pPr marL="0" indent="0" algn="ctr" defTabSz="914400" rtl="0" eaLnBrk="1" latinLnBrk="0" hangingPunct="1">
        <a:lnSpc>
          <a:spcPct val="100000"/>
        </a:lnSpc>
        <a:spcBef>
          <a:spcPts val="1200"/>
        </a:spcBef>
        <a:buClr>
          <a:schemeClr val="accent1"/>
        </a:buClr>
        <a:buFontTx/>
        <a:buNone/>
        <a:defRPr sz="1600" kern="1200">
          <a:solidFill>
            <a:schemeClr val="tx1"/>
          </a:solidFill>
          <a:latin typeface="+mn-lt"/>
          <a:ea typeface="+mn-ea"/>
          <a:cs typeface="Tahoma" pitchFamily="34" charset="0"/>
        </a:defRPr>
      </a:lvl3pPr>
      <a:lvl4pPr marL="0" indent="0" algn="ctr" defTabSz="914400" rtl="0" eaLnBrk="1" latinLnBrk="0" hangingPunct="1">
        <a:lnSpc>
          <a:spcPct val="100000"/>
        </a:lnSpc>
        <a:spcBef>
          <a:spcPts val="1200"/>
        </a:spcBef>
        <a:buClr>
          <a:schemeClr val="accent1"/>
        </a:buClr>
        <a:buFontTx/>
        <a:buNone/>
        <a:defRPr sz="1400" kern="1200">
          <a:solidFill>
            <a:schemeClr val="tx2"/>
          </a:solidFill>
          <a:latin typeface="+mn-lt"/>
          <a:ea typeface="+mn-ea"/>
          <a:cs typeface="Tahoma" pitchFamily="34" charset="0"/>
        </a:defRPr>
      </a:lvl4pPr>
      <a:lvl5pPr marL="0" indent="0" algn="ctr" defTabSz="914400" rtl="0" eaLnBrk="1" latinLnBrk="0" hangingPunct="1">
        <a:lnSpc>
          <a:spcPct val="100000"/>
        </a:lnSpc>
        <a:spcBef>
          <a:spcPts val="1200"/>
        </a:spcBef>
        <a:buClr>
          <a:schemeClr val="accent1"/>
        </a:buClr>
        <a:buFontTx/>
        <a:buNone/>
        <a:defRPr sz="1400" kern="1200" baseline="0">
          <a:solidFill>
            <a:schemeClr val="tx1"/>
          </a:solidFill>
          <a:latin typeface="+mn-lt"/>
          <a:ea typeface="+mn-ea"/>
          <a:cs typeface="Tahoma" pitchFamily="34" charset="0"/>
        </a:defRPr>
      </a:lvl5pPr>
      <a:lvl6pPr marL="0" indent="0" algn="ctr" defTabSz="914400" rtl="0" eaLnBrk="1" latinLnBrk="0" hangingPunct="1">
        <a:lnSpc>
          <a:spcPct val="100000"/>
        </a:lnSpc>
        <a:spcBef>
          <a:spcPts val="1200"/>
        </a:spcBef>
        <a:buFont typeface="Arial" pitchFamily="34" charset="0"/>
        <a:buNone/>
        <a:defRPr sz="1400" kern="1200">
          <a:solidFill>
            <a:schemeClr val="tx2"/>
          </a:solidFill>
          <a:latin typeface="+mn-lt"/>
          <a:ea typeface="+mn-ea"/>
          <a:cs typeface="+mn-cs"/>
        </a:defRPr>
      </a:lvl6pPr>
      <a:lvl7pPr marL="0" indent="0" algn="ctr" defTabSz="914400" rtl="0" eaLnBrk="1" latinLnBrk="0" hangingPunct="1">
        <a:lnSpc>
          <a:spcPct val="100000"/>
        </a:lnSpc>
        <a:spcBef>
          <a:spcPts val="1200"/>
        </a:spcBef>
        <a:buFont typeface="Arial" pitchFamily="34" charset="0"/>
        <a:buNone/>
        <a:defRPr sz="1400" kern="1200">
          <a:solidFill>
            <a:schemeClr val="tx1"/>
          </a:solidFill>
          <a:latin typeface="+mn-lt"/>
          <a:ea typeface="+mn-ea"/>
          <a:cs typeface="+mn-cs"/>
        </a:defRPr>
      </a:lvl7pPr>
      <a:lvl8pPr marL="0" indent="0" algn="ctr" defTabSz="914400" rtl="0" eaLnBrk="1" latinLnBrk="0" hangingPunct="1">
        <a:lnSpc>
          <a:spcPct val="100000"/>
        </a:lnSpc>
        <a:spcBef>
          <a:spcPts val="1200"/>
        </a:spcBef>
        <a:buFont typeface="Arial" pitchFamily="34" charset="0"/>
        <a:buNone/>
        <a:defRPr sz="1400" kern="1200">
          <a:solidFill>
            <a:schemeClr val="tx2"/>
          </a:solidFill>
          <a:latin typeface="+mn-lt"/>
          <a:ea typeface="+mn-ea"/>
          <a:cs typeface="+mn-cs"/>
        </a:defRPr>
      </a:lvl8pPr>
      <a:lvl9pPr marL="0" indent="0" algn="ctr" defTabSz="914400" rtl="0" eaLnBrk="1" latinLnBrk="0" hangingPunct="1">
        <a:lnSpc>
          <a:spcPct val="100000"/>
        </a:lnSpc>
        <a:spcBef>
          <a:spcPts val="1200"/>
        </a:spcBef>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8" Type="http://schemas.openxmlformats.org/officeDocument/2006/relationships/hyperlink" Target="https://en.wikipedia.org/wiki/CD-RW" TargetMode="External"/><Relationship Id="rId3" Type="http://schemas.openxmlformats.org/officeDocument/2006/relationships/hyperlink" Target="http://www1.ecs.uni-ruse.bg/kp/less/ext-mem/opticdev/opt-dev-less.html" TargetMode="External"/><Relationship Id="rId7" Type="http://schemas.openxmlformats.org/officeDocument/2006/relationships/hyperlink" Target="https://en.wikipedia.org/wiki/CD-R" TargetMode="External"/><Relationship Id="rId2" Type="http://schemas.openxmlformats.org/officeDocument/2006/relationships/hyperlink" Target="https://zapametqva6tiustroistva.wordpress.com/&#1074;&#1079;&#1091;-&#1085;&#1072;-&#1086;&#1087;&#1090;&#1080;&#1095;&#1077;&#1085;-&#1085;&#1086;&#1089;&#1080;&#1090;&#1077;&#1083;/" TargetMode="External"/><Relationship Id="rId1" Type="http://schemas.openxmlformats.org/officeDocument/2006/relationships/slideLayout" Target="../slideLayouts/slideLayout8.xml"/><Relationship Id="rId6" Type="http://schemas.openxmlformats.org/officeDocument/2006/relationships/hyperlink" Target="https://en.wikipedia.org/wiki/CD-ROM" TargetMode="External"/><Relationship Id="rId5" Type="http://schemas.openxmlformats.org/officeDocument/2006/relationships/hyperlink" Target="https://bg.wikipedia.org/wiki/DVD" TargetMode="External"/><Relationship Id="rId4" Type="http://schemas.openxmlformats.org/officeDocument/2006/relationships/hyperlink" Target="https://bg.wikipedia.org/wiki/Blu-ray_&#1076;&#1080;&#1089;&#108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5776" y="2708920"/>
            <a:ext cx="4013200" cy="599440"/>
          </a:xfrm>
        </p:spPr>
        <p:txBody>
          <a:bodyPr>
            <a:normAutofit fontScale="90000"/>
          </a:bodyPr>
          <a:lstStyle/>
          <a:p>
            <a:r>
              <a:rPr lang="bg-BG" dirty="0"/>
              <a:t>Външни запомнящи устройства с оптичен метод на запис</a:t>
            </a:r>
            <a:endParaRPr lang="en-US" dirty="0"/>
          </a:p>
        </p:txBody>
      </p:sp>
    </p:spTree>
    <p:extLst>
      <p:ext uri="{BB962C8B-B14F-4D97-AF65-F5344CB8AC3E}">
        <p14:creationId xmlns:p14="http://schemas.microsoft.com/office/powerpoint/2010/main" val="3593153944"/>
      </p:ext>
    </p:extLst>
  </p:cSld>
  <p:clrMapOvr>
    <a:masterClrMapping/>
  </p:clrMapOvr>
  <mc:AlternateContent xmlns:mc="http://schemas.openxmlformats.org/markup-compatibility/2006" xmlns:p14="http://schemas.microsoft.com/office/powerpoint/2010/main">
    <mc:Choice Requires="p14">
      <p:transition p14:dur="10" advClick="0" advTm="10000"/>
    </mc:Choice>
    <mc:Fallback xmlns="">
      <p:transition advClick="0" advTm="10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3162672" y="1916832"/>
            <a:ext cx="2818656" cy="4075176"/>
          </a:xfrm>
        </p:spPr>
        <p:txBody>
          <a:bodyPr>
            <a:normAutofit lnSpcReduction="10000"/>
          </a:bodyPr>
          <a:lstStyle/>
          <a:p>
            <a:pPr algn="l"/>
            <a:r>
              <a:rPr lang="bg-BG" dirty="0"/>
              <a:t>3-Въведение</a:t>
            </a:r>
          </a:p>
          <a:p>
            <a:pPr algn="l"/>
            <a:r>
              <a:rPr lang="bg-BG" dirty="0"/>
              <a:t>4-Оптичен запис</a:t>
            </a:r>
          </a:p>
          <a:p>
            <a:pPr algn="l"/>
            <a:r>
              <a:rPr lang="bg-BG" dirty="0"/>
              <a:t>6-</a:t>
            </a:r>
            <a:r>
              <a:rPr lang="en-US" dirty="0"/>
              <a:t>CD-ROM</a:t>
            </a:r>
          </a:p>
          <a:p>
            <a:pPr algn="l"/>
            <a:r>
              <a:rPr lang="en-US" dirty="0"/>
              <a:t>8-CD-R</a:t>
            </a:r>
          </a:p>
          <a:p>
            <a:pPr algn="l"/>
            <a:r>
              <a:rPr lang="en-US" dirty="0"/>
              <a:t>10-CD-RW</a:t>
            </a:r>
          </a:p>
          <a:p>
            <a:pPr algn="l"/>
            <a:r>
              <a:rPr lang="en-US" dirty="0"/>
              <a:t>13-DVD</a:t>
            </a:r>
          </a:p>
          <a:p>
            <a:pPr algn="l"/>
            <a:r>
              <a:rPr lang="en-US" dirty="0"/>
              <a:t>15-</a:t>
            </a:r>
            <a:r>
              <a:rPr lang="bg-BG" dirty="0"/>
              <a:t>Стандарти на </a:t>
            </a:r>
            <a:r>
              <a:rPr lang="en-US" dirty="0"/>
              <a:t>DVD</a:t>
            </a:r>
            <a:endParaRPr lang="bg-BG" dirty="0"/>
          </a:p>
          <a:p>
            <a:pPr algn="l"/>
            <a:r>
              <a:rPr lang="bg-BG" dirty="0"/>
              <a:t>18-</a:t>
            </a:r>
            <a:r>
              <a:rPr lang="en-US" dirty="0"/>
              <a:t>BLUERAY</a:t>
            </a:r>
          </a:p>
          <a:p>
            <a:pPr algn="l"/>
            <a:r>
              <a:rPr lang="en-US" dirty="0"/>
              <a:t>21-</a:t>
            </a:r>
            <a:r>
              <a:rPr lang="bg-BG" dirty="0"/>
              <a:t>Съпоставка на ВЗУ</a:t>
            </a:r>
            <a:endParaRPr lang="en-US" dirty="0"/>
          </a:p>
          <a:p>
            <a:pPr algn="l"/>
            <a:r>
              <a:rPr lang="en-US" dirty="0"/>
              <a:t>24-</a:t>
            </a:r>
            <a:r>
              <a:rPr lang="bg-BG" dirty="0"/>
              <a:t>Въпроси и задачи</a:t>
            </a:r>
          </a:p>
          <a:p>
            <a:pPr algn="l"/>
            <a:r>
              <a:rPr lang="bg-BG" dirty="0"/>
              <a:t>25-Източници</a:t>
            </a:r>
            <a:endParaRPr lang="en-US" dirty="0"/>
          </a:p>
          <a:p>
            <a:endParaRPr lang="en-US" dirty="0"/>
          </a:p>
          <a:p>
            <a:endParaRPr lang="en-US" dirty="0"/>
          </a:p>
          <a:p>
            <a:endParaRPr lang="en-US" dirty="0"/>
          </a:p>
        </p:txBody>
      </p:sp>
      <p:sp>
        <p:nvSpPr>
          <p:cNvPr id="3" name="Title 2"/>
          <p:cNvSpPr>
            <a:spLocks noGrp="1"/>
          </p:cNvSpPr>
          <p:nvPr>
            <p:ph type="title"/>
          </p:nvPr>
        </p:nvSpPr>
        <p:spPr/>
        <p:txBody>
          <a:bodyPr/>
          <a:lstStyle/>
          <a:p>
            <a:r>
              <a:rPr lang="bg-BG" dirty="0"/>
              <a:t>Съдържание</a:t>
            </a:r>
            <a:endParaRPr lang="en-US" dirty="0"/>
          </a:p>
        </p:txBody>
      </p:sp>
    </p:spTree>
    <p:extLst>
      <p:ext uri="{BB962C8B-B14F-4D97-AF65-F5344CB8AC3E}">
        <p14:creationId xmlns:p14="http://schemas.microsoft.com/office/powerpoint/2010/main" val="2273704744"/>
      </p:ext>
    </p:extLst>
  </p:cSld>
  <p:clrMapOvr>
    <a:masterClrMapping/>
  </p:clrMapOvr>
  <mc:AlternateContent xmlns:mc="http://schemas.openxmlformats.org/markup-compatibility/2006" xmlns:p14="http://schemas.microsoft.com/office/powerpoint/2010/main">
    <mc:Choice Requires="p14">
      <p:transition p14:dur="10" advClick="0" advTm="15000"/>
    </mc:Choice>
    <mc:Fallback xmlns="">
      <p:transition advClick="0" advTm="15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467544" y="1916832"/>
            <a:ext cx="8229600" cy="4075176"/>
          </a:xfrm>
        </p:spPr>
        <p:txBody>
          <a:bodyPr>
            <a:noAutofit/>
          </a:bodyPr>
          <a:lstStyle/>
          <a:p>
            <a:pPr algn="just"/>
            <a:r>
              <a:rPr lang="ru-RU" sz="1800" dirty="0"/>
              <a:t>Външни запомнящи устройства са всички устройства, които предоставят някакъв вид енергонезависима памет за една компютърна система, без тази, която е интегрирана в базовата конфигурация. Към външните запомнящи устройства се причисляват: твърдите дискове (HD); интегралните дискове (SSD); оптични дискове (CD, DVD, Bluray и холограмни дискове); външна флаш памет и др. Комуникацията между външните запомнящи устройства и компютърната конфигурация се реализира чрез специализирани интерфейси (ATA, SATA, SCSI) или интерфейси с общо приложение (USB). Скоростта на обмен с външните запомнящи устройства е важен параметър, който се задава в MiB/s или GiB/s. Тази скорост зависи от много фактори, по-важните от които са следните: механичен или електрически е достъпа до паметта; пропускателна способност на използвания интерфейс; използва ли се кеширане на данните и с какъв капацитет и от какъв тип е използваната кеш памет; чрез заявка за прекъсване или заявка за директен достъп до паметта се реализира синхронизацията на обмена и самия обмен на данните; 2D или 3D е записа на данните и др.</a:t>
            </a:r>
            <a:endParaRPr lang="en-US" sz="1800" dirty="0"/>
          </a:p>
        </p:txBody>
      </p:sp>
      <p:sp>
        <p:nvSpPr>
          <p:cNvPr id="3" name="Title 2"/>
          <p:cNvSpPr>
            <a:spLocks noGrp="1"/>
          </p:cNvSpPr>
          <p:nvPr>
            <p:ph type="title"/>
          </p:nvPr>
        </p:nvSpPr>
        <p:spPr/>
        <p:txBody>
          <a:bodyPr/>
          <a:lstStyle/>
          <a:p>
            <a:r>
              <a:rPr lang="bg-BG" dirty="0"/>
              <a:t>Въведение</a:t>
            </a:r>
            <a:endParaRPr lang="en-US" dirty="0"/>
          </a:p>
        </p:txBody>
      </p:sp>
    </p:spTree>
    <p:extLst>
      <p:ext uri="{BB962C8B-B14F-4D97-AF65-F5344CB8AC3E}">
        <p14:creationId xmlns:p14="http://schemas.microsoft.com/office/powerpoint/2010/main" val="857653639"/>
      </p:ext>
    </p:extLst>
  </p:cSld>
  <p:clrMapOvr>
    <a:masterClrMapping/>
  </p:clrMapOvr>
  <mc:AlternateContent xmlns:mc="http://schemas.openxmlformats.org/markup-compatibility/2006" xmlns:p14="http://schemas.microsoft.com/office/powerpoint/2010/main">
    <mc:Choice Requires="p14">
      <p:transition spd="slow" p14:dur="2000" advClick="0" advTm="30000"/>
    </mc:Choice>
    <mc:Fallback xmlns="">
      <p:transition spd="slow" advClick="0" advTm="30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Контейнер за съдържание 1">
            <a:extLst>
              <a:ext uri="{FF2B5EF4-FFF2-40B4-BE49-F238E27FC236}">
                <a16:creationId xmlns:a16="http://schemas.microsoft.com/office/drawing/2014/main" xmlns="" id="{2749345B-2956-458F-8FEE-375D778152D3}"/>
              </a:ext>
            </a:extLst>
          </p:cNvPr>
          <p:cNvSpPr>
            <a:spLocks noGrp="1"/>
          </p:cNvSpPr>
          <p:nvPr>
            <p:ph sz="quarter" idx="13"/>
          </p:nvPr>
        </p:nvSpPr>
        <p:spPr>
          <a:xfrm>
            <a:off x="395536" y="1556792"/>
            <a:ext cx="8291263" cy="4968552"/>
          </a:xfrm>
        </p:spPr>
        <p:txBody>
          <a:bodyPr>
            <a:normAutofit/>
          </a:bodyPr>
          <a:lstStyle/>
          <a:p>
            <a:pPr lvl="0" algn="just" eaLnBrk="0" fontAlgn="base" hangingPunct="0">
              <a:spcBef>
                <a:spcPct val="0"/>
              </a:spcBef>
              <a:spcAft>
                <a:spcPct val="0"/>
              </a:spcAft>
              <a:buClrTx/>
              <a:buFontTx/>
              <a:buChar char="•"/>
            </a:pPr>
            <a:endParaRPr lang="bg-BG" altLang="bg-BG" sz="800" dirty="0">
              <a:solidFill>
                <a:srgbClr val="444444"/>
              </a:solidFill>
              <a:latin typeface="Arial" panose="020B0604020202020204" pitchFamily="34" charset="0"/>
              <a:cs typeface="Arial" panose="020B0604020202020204" pitchFamily="34" charset="0"/>
            </a:endParaRPr>
          </a:p>
          <a:p>
            <a:pPr fontAlgn="base"/>
            <a:r>
              <a:rPr lang="bg-BG" altLang="bg-BG" sz="1800" dirty="0">
                <a:solidFill>
                  <a:srgbClr val="444444"/>
                </a:solidFill>
                <a:latin typeface="Arial" panose="020B0604020202020204" pitchFamily="34" charset="0"/>
                <a:cs typeface="Arial" panose="020B0604020202020204" pitchFamily="34" charset="0"/>
              </a:rPr>
              <a:t>  </a:t>
            </a:r>
            <a:r>
              <a:rPr lang="ru-RU" sz="1800" dirty="0"/>
              <a:t>В </a:t>
            </a:r>
            <a:r>
              <a:rPr lang="ru-RU" sz="1800" dirty="0" err="1"/>
              <a:t>основата</a:t>
            </a:r>
            <a:r>
              <a:rPr lang="ru-RU" sz="1800" dirty="0"/>
              <a:t> на </a:t>
            </a:r>
            <a:r>
              <a:rPr lang="ru-RU" sz="1800" dirty="0" err="1"/>
              <a:t>оптичния</a:t>
            </a:r>
            <a:r>
              <a:rPr lang="ru-RU" sz="1800" dirty="0"/>
              <a:t> </a:t>
            </a:r>
            <a:r>
              <a:rPr lang="ru-RU" sz="1800" dirty="0" err="1"/>
              <a:t>носител</a:t>
            </a:r>
            <a:r>
              <a:rPr lang="ru-RU" sz="1800" dirty="0"/>
              <a:t> при </a:t>
            </a:r>
            <a:r>
              <a:rPr lang="ru-RU" sz="1800" dirty="0" err="1"/>
              <a:t>конструирането</a:t>
            </a:r>
            <a:r>
              <a:rPr lang="ru-RU" sz="1800" dirty="0"/>
              <a:t> </a:t>
            </a:r>
            <a:r>
              <a:rPr lang="ru-RU" sz="1800" dirty="0" err="1"/>
              <a:t>му</a:t>
            </a:r>
            <a:r>
              <a:rPr lang="ru-RU" sz="1800" dirty="0"/>
              <a:t> </a:t>
            </a:r>
            <a:r>
              <a:rPr lang="ru-RU" sz="1800" dirty="0" err="1"/>
              <a:t>стои</a:t>
            </a:r>
            <a:r>
              <a:rPr lang="ru-RU" sz="1800" dirty="0"/>
              <a:t> </a:t>
            </a:r>
            <a:r>
              <a:rPr lang="ru-RU" sz="1800" dirty="0" err="1"/>
              <a:t>принципът</a:t>
            </a:r>
            <a:r>
              <a:rPr lang="ru-RU" sz="1800" dirty="0"/>
              <a:t> на </a:t>
            </a:r>
            <a:r>
              <a:rPr lang="ru-RU" sz="1800" dirty="0" err="1"/>
              <a:t>оптичния</a:t>
            </a:r>
            <a:r>
              <a:rPr lang="ru-RU" sz="1800" dirty="0"/>
              <a:t> </a:t>
            </a:r>
            <a:r>
              <a:rPr lang="ru-RU" sz="1800" dirty="0" err="1"/>
              <a:t>запис</a:t>
            </a:r>
            <a:r>
              <a:rPr lang="ru-RU" sz="1800" dirty="0"/>
              <a:t>. </a:t>
            </a:r>
            <a:r>
              <a:rPr lang="ru-RU" sz="1800" dirty="0" err="1"/>
              <a:t>Най</a:t>
            </a:r>
            <a:r>
              <a:rPr lang="ru-RU" sz="1800" dirty="0"/>
              <a:t>-общо той се </a:t>
            </a:r>
            <a:r>
              <a:rPr lang="ru-RU" sz="1800" dirty="0" err="1"/>
              <a:t>основава</a:t>
            </a:r>
            <a:r>
              <a:rPr lang="ru-RU" sz="1800" dirty="0"/>
              <a:t> на </a:t>
            </a:r>
            <a:r>
              <a:rPr lang="ru-RU" sz="1800" dirty="0" err="1"/>
              <a:t>насочването</a:t>
            </a:r>
            <a:r>
              <a:rPr lang="ru-RU" sz="1800" dirty="0"/>
              <a:t> на </a:t>
            </a:r>
            <a:r>
              <a:rPr lang="ru-RU" sz="1800" dirty="0" err="1"/>
              <a:t>тясно</a:t>
            </a:r>
            <a:r>
              <a:rPr lang="ru-RU" sz="1800" dirty="0"/>
              <a:t> </a:t>
            </a:r>
            <a:r>
              <a:rPr lang="ru-RU" sz="1800" dirty="0" err="1"/>
              <a:t>фокусиран</a:t>
            </a:r>
            <a:r>
              <a:rPr lang="ru-RU" sz="1800" dirty="0"/>
              <a:t> сноп светлина </a:t>
            </a:r>
            <a:r>
              <a:rPr lang="ru-RU" sz="1800" dirty="0" err="1"/>
              <a:t>към</a:t>
            </a:r>
            <a:r>
              <a:rPr lang="ru-RU" sz="1800" dirty="0"/>
              <a:t> </a:t>
            </a:r>
            <a:r>
              <a:rPr lang="ru-RU" sz="1800" dirty="0" err="1"/>
              <a:t>огледална</a:t>
            </a:r>
            <a:r>
              <a:rPr lang="ru-RU" sz="1800" dirty="0"/>
              <a:t> подложка. </a:t>
            </a:r>
            <a:r>
              <a:rPr lang="ru-RU" sz="1800" dirty="0" err="1"/>
              <a:t>Наблюдава</a:t>
            </a:r>
            <a:r>
              <a:rPr lang="ru-RU" sz="1800" dirty="0"/>
              <a:t> се че той се </a:t>
            </a:r>
            <a:r>
              <a:rPr lang="ru-RU" sz="1800" dirty="0" err="1"/>
              <a:t>отклонява</a:t>
            </a:r>
            <a:r>
              <a:rPr lang="ru-RU" sz="1800" dirty="0"/>
              <a:t> под </a:t>
            </a:r>
            <a:r>
              <a:rPr lang="ru-RU" sz="1800" dirty="0" err="1"/>
              <a:t>същия</a:t>
            </a:r>
            <a:r>
              <a:rPr lang="ru-RU" sz="1800" dirty="0"/>
              <a:t> </a:t>
            </a:r>
            <a:r>
              <a:rPr lang="ru-RU" sz="1800" dirty="0" err="1"/>
              <a:t>ъгъл</a:t>
            </a:r>
            <a:r>
              <a:rPr lang="ru-RU" sz="1800" dirty="0"/>
              <a:t> в </a:t>
            </a:r>
            <a:r>
              <a:rPr lang="ru-RU" sz="1800" dirty="0" err="1"/>
              <a:t>същата</a:t>
            </a:r>
            <a:r>
              <a:rPr lang="ru-RU" sz="1800" dirty="0"/>
              <a:t> среда. </a:t>
            </a:r>
            <a:r>
              <a:rPr lang="ru-RU" sz="1800" dirty="0" err="1"/>
              <a:t>Възниква</a:t>
            </a:r>
            <a:r>
              <a:rPr lang="ru-RU" sz="1800" dirty="0"/>
              <a:t> </a:t>
            </a:r>
            <a:r>
              <a:rPr lang="ru-RU" sz="1800" dirty="0" err="1"/>
              <a:t>въпроса</a:t>
            </a:r>
            <a:r>
              <a:rPr lang="ru-RU" sz="1800" dirty="0"/>
              <a:t> дали </a:t>
            </a:r>
            <a:r>
              <a:rPr lang="ru-RU" sz="1800" dirty="0" err="1"/>
              <a:t>може</a:t>
            </a:r>
            <a:r>
              <a:rPr lang="ru-RU" sz="1800" dirty="0"/>
              <a:t> да се </a:t>
            </a:r>
            <a:r>
              <a:rPr lang="ru-RU" sz="1800" dirty="0" err="1"/>
              <a:t>извършва</a:t>
            </a:r>
            <a:r>
              <a:rPr lang="ru-RU" sz="1800" dirty="0"/>
              <a:t> </a:t>
            </a:r>
            <a:r>
              <a:rPr lang="ru-RU" sz="1800" dirty="0" err="1"/>
              <a:t>запис</a:t>
            </a:r>
            <a:r>
              <a:rPr lang="ru-RU" sz="1800" dirty="0"/>
              <a:t> в </a:t>
            </a:r>
            <a:r>
              <a:rPr lang="ru-RU" sz="1800" dirty="0" err="1"/>
              <a:t>такива</a:t>
            </a:r>
            <a:r>
              <a:rPr lang="ru-RU" sz="1800" dirty="0"/>
              <a:t> </a:t>
            </a:r>
            <a:r>
              <a:rPr lang="ru-RU" sz="1800" dirty="0" err="1"/>
              <a:t>повърхност</a:t>
            </a:r>
            <a:r>
              <a:rPr lang="ru-RU" sz="1800" dirty="0"/>
              <a:t>. </a:t>
            </a:r>
            <a:r>
              <a:rPr lang="ru-RU" sz="1800" dirty="0" err="1"/>
              <a:t>Има</a:t>
            </a:r>
            <a:r>
              <a:rPr lang="ru-RU" sz="1800" dirty="0"/>
              <a:t> два начина:</a:t>
            </a:r>
          </a:p>
          <a:p>
            <a:pPr fontAlgn="base"/>
            <a:r>
              <a:rPr lang="ru-RU" sz="1800" dirty="0" err="1"/>
              <a:t>Ако</a:t>
            </a:r>
            <a:r>
              <a:rPr lang="ru-RU" sz="1800" dirty="0"/>
              <a:t> се </a:t>
            </a:r>
            <a:r>
              <a:rPr lang="ru-RU" sz="1800" dirty="0" err="1"/>
              <a:t>пробие</a:t>
            </a:r>
            <a:r>
              <a:rPr lang="ru-RU" sz="1800" dirty="0"/>
              <a:t> </a:t>
            </a:r>
            <a:r>
              <a:rPr lang="ru-RU" sz="1800" dirty="0" err="1"/>
              <a:t>отвор</a:t>
            </a:r>
            <a:r>
              <a:rPr lang="ru-RU" sz="1800" dirty="0"/>
              <a:t>, при </a:t>
            </a:r>
            <a:r>
              <a:rPr lang="ru-RU" sz="1800" dirty="0" err="1"/>
              <a:t>което</a:t>
            </a:r>
            <a:r>
              <a:rPr lang="ru-RU" sz="1800" dirty="0"/>
              <a:t> </a:t>
            </a:r>
            <a:r>
              <a:rPr lang="ru-RU" sz="1800" dirty="0" err="1"/>
              <a:t>лъчът</a:t>
            </a:r>
            <a:r>
              <a:rPr lang="ru-RU" sz="1800" dirty="0"/>
              <a:t> </a:t>
            </a:r>
            <a:r>
              <a:rPr lang="ru-RU" sz="1800" dirty="0" err="1"/>
              <a:t>преминава</a:t>
            </a:r>
            <a:r>
              <a:rPr lang="ru-RU" sz="1800" dirty="0"/>
              <a:t> </a:t>
            </a:r>
            <a:r>
              <a:rPr lang="ru-RU" sz="1800" dirty="0" err="1"/>
              <a:t>през</a:t>
            </a:r>
            <a:r>
              <a:rPr lang="ru-RU" sz="1800" dirty="0"/>
              <a:t> него;</a:t>
            </a:r>
          </a:p>
          <a:p>
            <a:pPr fontAlgn="base"/>
            <a:r>
              <a:rPr lang="ru-RU" sz="1800" dirty="0" err="1"/>
              <a:t>Ако</a:t>
            </a:r>
            <a:r>
              <a:rPr lang="ru-RU" sz="1800" dirty="0"/>
              <a:t> се отклони </a:t>
            </a:r>
            <a:r>
              <a:rPr lang="ru-RU" sz="1800" dirty="0" err="1"/>
              <a:t>ъгъла</a:t>
            </a:r>
            <a:r>
              <a:rPr lang="ru-RU" sz="1800" dirty="0"/>
              <a:t> на отклонение на </a:t>
            </a:r>
            <a:r>
              <a:rPr lang="ru-RU" sz="1800" dirty="0" err="1"/>
              <a:t>лъча</a:t>
            </a:r>
            <a:r>
              <a:rPr lang="ru-RU" sz="1800" dirty="0"/>
              <a:t>. </a:t>
            </a:r>
            <a:r>
              <a:rPr lang="ru-RU" sz="1800" dirty="0" err="1"/>
              <a:t>Записът</a:t>
            </a:r>
            <a:r>
              <a:rPr lang="ru-RU" sz="1800" dirty="0"/>
              <a:t> </a:t>
            </a:r>
            <a:r>
              <a:rPr lang="ru-RU" sz="1800" dirty="0" err="1"/>
              <a:t>формира</a:t>
            </a:r>
            <a:r>
              <a:rPr lang="ru-RU" sz="1800" dirty="0"/>
              <a:t> </a:t>
            </a:r>
            <a:r>
              <a:rPr lang="ru-RU" sz="1800" dirty="0" err="1"/>
              <a:t>оптични</a:t>
            </a:r>
            <a:r>
              <a:rPr lang="ru-RU" sz="1800" dirty="0"/>
              <a:t> </a:t>
            </a:r>
            <a:r>
              <a:rPr lang="ru-RU" sz="1800" dirty="0" err="1"/>
              <a:t>нееднородности</a:t>
            </a:r>
            <a:r>
              <a:rPr lang="ru-RU" sz="1800" dirty="0"/>
              <a:t> </a:t>
            </a:r>
            <a:r>
              <a:rPr lang="ru-RU" sz="1800" dirty="0" err="1"/>
              <a:t>върху</a:t>
            </a:r>
            <a:r>
              <a:rPr lang="ru-RU" sz="1800" dirty="0"/>
              <a:t> </a:t>
            </a:r>
            <a:r>
              <a:rPr lang="ru-RU" sz="1800" dirty="0" err="1"/>
              <a:t>повърхността</a:t>
            </a:r>
            <a:r>
              <a:rPr lang="ru-RU" sz="1800" dirty="0"/>
              <a:t> ( </a:t>
            </a:r>
            <a:r>
              <a:rPr lang="ru-RU" sz="1800" dirty="0" err="1"/>
              <a:t>така</a:t>
            </a:r>
            <a:r>
              <a:rPr lang="ru-RU" sz="1800" dirty="0"/>
              <a:t> </a:t>
            </a:r>
            <a:r>
              <a:rPr lang="ru-RU" sz="1800" dirty="0" err="1"/>
              <a:t>наречените</a:t>
            </a:r>
            <a:r>
              <a:rPr lang="ru-RU" sz="1800" dirty="0"/>
              <a:t> </a:t>
            </a:r>
            <a:r>
              <a:rPr lang="ru-RU" sz="1800" dirty="0" err="1"/>
              <a:t>мехурчета</a:t>
            </a:r>
            <a:r>
              <a:rPr lang="ru-RU" sz="1800" dirty="0"/>
              <a:t>). </a:t>
            </a:r>
            <a:r>
              <a:rPr lang="ru-RU" sz="1800" dirty="0" err="1"/>
              <a:t>Оптичния</a:t>
            </a:r>
            <a:r>
              <a:rPr lang="ru-RU" sz="1800" dirty="0"/>
              <a:t> </a:t>
            </a:r>
            <a:r>
              <a:rPr lang="ru-RU" sz="1800" dirty="0" err="1"/>
              <a:t>запис</a:t>
            </a:r>
            <a:r>
              <a:rPr lang="ru-RU" sz="1800" dirty="0"/>
              <a:t> е специфичен </a:t>
            </a:r>
            <a:r>
              <a:rPr lang="ru-RU" sz="1800" dirty="0" err="1"/>
              <a:t>процес</a:t>
            </a:r>
            <a:r>
              <a:rPr lang="ru-RU" sz="1800" dirty="0"/>
              <a:t> на </a:t>
            </a:r>
            <a:r>
              <a:rPr lang="ru-RU" sz="1800" dirty="0" err="1"/>
              <a:t>прекодиране</a:t>
            </a:r>
            <a:r>
              <a:rPr lang="ru-RU" sz="1800" dirty="0"/>
              <a:t> на </a:t>
            </a:r>
            <a:r>
              <a:rPr lang="ru-RU" sz="1800" dirty="0" err="1"/>
              <a:t>пренасяната</a:t>
            </a:r>
            <a:r>
              <a:rPr lang="ru-RU" sz="1800" dirty="0"/>
              <a:t> от </a:t>
            </a:r>
            <a:r>
              <a:rPr lang="ru-RU" sz="1800" dirty="0" err="1"/>
              <a:t>оптичния</a:t>
            </a:r>
            <a:r>
              <a:rPr lang="ru-RU" sz="1800" dirty="0"/>
              <a:t> </a:t>
            </a:r>
            <a:r>
              <a:rPr lang="ru-RU" sz="1800" dirty="0" err="1"/>
              <a:t>записващ</a:t>
            </a:r>
            <a:r>
              <a:rPr lang="ru-RU" sz="1800" dirty="0"/>
              <a:t> сигнал информация. </a:t>
            </a:r>
            <a:r>
              <a:rPr lang="ru-RU" sz="1800" dirty="0" err="1"/>
              <a:t>Основава</a:t>
            </a:r>
            <a:r>
              <a:rPr lang="ru-RU" sz="1800" dirty="0"/>
              <a:t> се на </a:t>
            </a:r>
            <a:r>
              <a:rPr lang="ru-RU" sz="1800" dirty="0" err="1"/>
              <a:t>целесъобразно</a:t>
            </a:r>
            <a:r>
              <a:rPr lang="ru-RU" sz="1800" dirty="0"/>
              <a:t> </a:t>
            </a:r>
            <a:r>
              <a:rPr lang="ru-RU" sz="1800" dirty="0" err="1"/>
              <a:t>организирани</a:t>
            </a:r>
            <a:r>
              <a:rPr lang="ru-RU" sz="1800" dirty="0"/>
              <a:t> физико-</a:t>
            </a:r>
            <a:r>
              <a:rPr lang="ru-RU" sz="1800" dirty="0" err="1"/>
              <a:t>химични</a:t>
            </a:r>
            <a:r>
              <a:rPr lang="ru-RU" sz="1800" dirty="0"/>
              <a:t> явления на взаимодействие на </a:t>
            </a:r>
            <a:r>
              <a:rPr lang="ru-RU" sz="1800" dirty="0" err="1"/>
              <a:t>светлината</a:t>
            </a:r>
            <a:r>
              <a:rPr lang="ru-RU" sz="1800" dirty="0"/>
              <a:t> </a:t>
            </a:r>
            <a:r>
              <a:rPr lang="ru-RU" sz="1800" dirty="0" err="1"/>
              <a:t>със</a:t>
            </a:r>
            <a:r>
              <a:rPr lang="ru-RU" sz="1800" dirty="0"/>
              <a:t> </a:t>
            </a:r>
            <a:r>
              <a:rPr lang="ru-RU" sz="1800" dirty="0" err="1"/>
              <a:t>съдържащата</a:t>
            </a:r>
            <a:r>
              <a:rPr lang="ru-RU" sz="1800" dirty="0"/>
              <a:t> се в </a:t>
            </a:r>
            <a:r>
              <a:rPr lang="ru-RU" sz="1800" dirty="0" err="1"/>
              <a:t>цветочувствителната</a:t>
            </a:r>
            <a:r>
              <a:rPr lang="ru-RU" sz="1800" dirty="0"/>
              <a:t> </a:t>
            </a:r>
            <a:r>
              <a:rPr lang="ru-RU" sz="1800" dirty="0" err="1"/>
              <a:t>регистрираща</a:t>
            </a:r>
            <a:r>
              <a:rPr lang="ru-RU" sz="1800" dirty="0"/>
              <a:t> среда вещество.</a:t>
            </a:r>
          </a:p>
        </p:txBody>
      </p:sp>
      <p:sp>
        <p:nvSpPr>
          <p:cNvPr id="4" name="Заглавие 3">
            <a:extLst>
              <a:ext uri="{FF2B5EF4-FFF2-40B4-BE49-F238E27FC236}">
                <a16:creationId xmlns:a16="http://schemas.microsoft.com/office/drawing/2014/main" xmlns="" id="{D1FF39F9-3167-4494-8AE1-74F91AE5FDB7}"/>
              </a:ext>
            </a:extLst>
          </p:cNvPr>
          <p:cNvSpPr>
            <a:spLocks noGrp="1"/>
          </p:cNvSpPr>
          <p:nvPr>
            <p:ph type="title"/>
          </p:nvPr>
        </p:nvSpPr>
        <p:spPr/>
        <p:txBody>
          <a:bodyPr/>
          <a:lstStyle/>
          <a:p>
            <a:r>
              <a:rPr lang="bg-BG" dirty="0"/>
              <a:t>Оптичен запис</a:t>
            </a:r>
          </a:p>
        </p:txBody>
      </p:sp>
    </p:spTree>
    <p:extLst>
      <p:ext uri="{BB962C8B-B14F-4D97-AF65-F5344CB8AC3E}">
        <p14:creationId xmlns:p14="http://schemas.microsoft.com/office/powerpoint/2010/main" val="14054621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ово поле 1">
            <a:extLst>
              <a:ext uri="{FF2B5EF4-FFF2-40B4-BE49-F238E27FC236}">
                <a16:creationId xmlns:a16="http://schemas.microsoft.com/office/drawing/2014/main" xmlns="" id="{8864E521-626C-4714-AC04-E72C30F6AF71}"/>
              </a:ext>
            </a:extLst>
          </p:cNvPr>
          <p:cNvSpPr txBox="1"/>
          <p:nvPr/>
        </p:nvSpPr>
        <p:spPr>
          <a:xfrm>
            <a:off x="215516" y="620688"/>
            <a:ext cx="8712968" cy="1754326"/>
          </a:xfrm>
          <a:prstGeom prst="rect">
            <a:avLst/>
          </a:prstGeom>
          <a:noFill/>
        </p:spPr>
        <p:txBody>
          <a:bodyPr wrap="square" rtlCol="0">
            <a:spAutoFit/>
          </a:bodyPr>
          <a:lstStyle/>
          <a:p>
            <a:pPr algn="just"/>
            <a:r>
              <a:rPr lang="ru-RU" dirty="0"/>
              <a:t>С </a:t>
            </a:r>
            <a:r>
              <a:rPr lang="ru-RU" dirty="0" err="1"/>
              <a:t>помощта</a:t>
            </a:r>
            <a:r>
              <a:rPr lang="ru-RU" dirty="0"/>
              <a:t> на </a:t>
            </a:r>
            <a:r>
              <a:rPr lang="ru-RU" dirty="0" err="1"/>
              <a:t>светлинния</a:t>
            </a:r>
            <a:r>
              <a:rPr lang="ru-RU" dirty="0"/>
              <a:t> </a:t>
            </a:r>
            <a:r>
              <a:rPr lang="ru-RU" dirty="0" err="1"/>
              <a:t>модулатор</a:t>
            </a:r>
            <a:r>
              <a:rPr lang="ru-RU" dirty="0"/>
              <a:t> </a:t>
            </a:r>
            <a:r>
              <a:rPr lang="ru-RU" dirty="0" err="1"/>
              <a:t>данните</a:t>
            </a:r>
            <a:r>
              <a:rPr lang="ru-RU" dirty="0"/>
              <a:t> за </a:t>
            </a:r>
            <a:r>
              <a:rPr lang="ru-RU" dirty="0" err="1"/>
              <a:t>запис</a:t>
            </a:r>
            <a:r>
              <a:rPr lang="ru-RU" dirty="0"/>
              <a:t> А, </a:t>
            </a:r>
            <a:r>
              <a:rPr lang="ru-RU" dirty="0" err="1"/>
              <a:t>преобразуват</a:t>
            </a:r>
            <a:r>
              <a:rPr lang="ru-RU" dirty="0"/>
              <a:t> </a:t>
            </a:r>
            <a:r>
              <a:rPr lang="ru-RU" dirty="0" err="1"/>
              <a:t>излъчваната</a:t>
            </a:r>
            <a:r>
              <a:rPr lang="ru-RU" dirty="0"/>
              <a:t> от лазера </a:t>
            </a:r>
            <a:r>
              <a:rPr lang="ru-RU" dirty="0" err="1"/>
              <a:t>еднородна</a:t>
            </a:r>
            <a:r>
              <a:rPr lang="ru-RU" dirty="0"/>
              <a:t> </a:t>
            </a:r>
            <a:r>
              <a:rPr lang="ru-RU" dirty="0" err="1"/>
              <a:t>немодулирана</a:t>
            </a:r>
            <a:r>
              <a:rPr lang="ru-RU" dirty="0"/>
              <a:t> светлина Б в </a:t>
            </a:r>
            <a:r>
              <a:rPr lang="ru-RU" dirty="0" err="1"/>
              <a:t>оптичен</a:t>
            </a:r>
            <a:r>
              <a:rPr lang="ru-RU" dirty="0"/>
              <a:t> сигнал В, </a:t>
            </a:r>
            <a:r>
              <a:rPr lang="ru-RU" dirty="0" err="1"/>
              <a:t>който</a:t>
            </a:r>
            <a:r>
              <a:rPr lang="ru-RU" dirty="0"/>
              <a:t> с </a:t>
            </a:r>
            <a:r>
              <a:rPr lang="ru-RU" dirty="0" err="1"/>
              <a:t>помощта</a:t>
            </a:r>
            <a:r>
              <a:rPr lang="ru-RU" dirty="0"/>
              <a:t> на </a:t>
            </a:r>
            <a:r>
              <a:rPr lang="ru-RU" dirty="0" err="1"/>
              <a:t>фокусираща</a:t>
            </a:r>
            <a:r>
              <a:rPr lang="ru-RU" dirty="0"/>
              <a:t> система </a:t>
            </a:r>
            <a:r>
              <a:rPr lang="ru-RU" dirty="0" err="1"/>
              <a:t>взаимодейства</a:t>
            </a:r>
            <a:r>
              <a:rPr lang="ru-RU" dirty="0"/>
              <a:t> с определен микро </a:t>
            </a:r>
            <a:r>
              <a:rPr lang="ru-RU" dirty="0" err="1"/>
              <a:t>участък</a:t>
            </a:r>
            <a:r>
              <a:rPr lang="ru-RU" dirty="0"/>
              <a:t> от </a:t>
            </a:r>
            <a:r>
              <a:rPr lang="ru-RU" dirty="0" err="1"/>
              <a:t>регистриращата</a:t>
            </a:r>
            <a:r>
              <a:rPr lang="ru-RU" dirty="0"/>
              <a:t> среда. </a:t>
            </a:r>
            <a:r>
              <a:rPr lang="ru-RU" dirty="0" err="1"/>
              <a:t>Тази</a:t>
            </a:r>
            <a:r>
              <a:rPr lang="ru-RU" dirty="0"/>
              <a:t> среда </a:t>
            </a:r>
            <a:r>
              <a:rPr lang="ru-RU" dirty="0" err="1"/>
              <a:t>трябва</a:t>
            </a:r>
            <a:r>
              <a:rPr lang="ru-RU" dirty="0"/>
              <a:t> да е </a:t>
            </a:r>
            <a:r>
              <a:rPr lang="ru-RU" dirty="0" err="1"/>
              <a:t>със</a:t>
            </a:r>
            <a:r>
              <a:rPr lang="ru-RU" dirty="0"/>
              <a:t> свойства, </a:t>
            </a:r>
            <a:r>
              <a:rPr lang="ru-RU" dirty="0" err="1"/>
              <a:t>позволяващи</a:t>
            </a:r>
            <a:r>
              <a:rPr lang="ru-RU" dirty="0"/>
              <a:t> да </a:t>
            </a:r>
            <a:r>
              <a:rPr lang="ru-RU" dirty="0" err="1"/>
              <a:t>бъдат</a:t>
            </a:r>
            <a:r>
              <a:rPr lang="ru-RU" dirty="0"/>
              <a:t> </a:t>
            </a:r>
            <a:r>
              <a:rPr lang="ru-RU" dirty="0" err="1"/>
              <a:t>регистрирани</a:t>
            </a:r>
            <a:r>
              <a:rPr lang="ru-RU" dirty="0"/>
              <a:t> </a:t>
            </a:r>
            <a:r>
              <a:rPr lang="ru-RU" dirty="0" err="1"/>
              <a:t>надеждно</a:t>
            </a:r>
            <a:r>
              <a:rPr lang="ru-RU" dirty="0"/>
              <a:t> </a:t>
            </a:r>
            <a:r>
              <a:rPr lang="ru-RU" dirty="0" err="1"/>
              <a:t>информационните</a:t>
            </a:r>
            <a:r>
              <a:rPr lang="ru-RU" dirty="0"/>
              <a:t> изменения на параметрите на </a:t>
            </a:r>
            <a:r>
              <a:rPr lang="ru-RU" dirty="0" err="1"/>
              <a:t>въздействие</a:t>
            </a:r>
            <a:r>
              <a:rPr lang="ru-RU" dirty="0"/>
              <a:t> в/у </a:t>
            </a:r>
            <a:r>
              <a:rPr lang="ru-RU" dirty="0" err="1"/>
              <a:t>регистриращата</a:t>
            </a:r>
            <a:r>
              <a:rPr lang="ru-RU" dirty="0"/>
              <a:t> среда .</a:t>
            </a:r>
            <a:endParaRPr lang="bg-BG" dirty="0"/>
          </a:p>
        </p:txBody>
      </p:sp>
      <p:pic>
        <p:nvPicPr>
          <p:cNvPr id="4" name="Картина 3">
            <a:extLst>
              <a:ext uri="{FF2B5EF4-FFF2-40B4-BE49-F238E27FC236}">
                <a16:creationId xmlns:a16="http://schemas.microsoft.com/office/drawing/2014/main" xmlns="" id="{C4739A96-4CB7-43FB-ACBF-AD877A8191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569" y="3086160"/>
            <a:ext cx="7960861" cy="2793653"/>
          </a:xfrm>
          <a:prstGeom prst="rect">
            <a:avLst/>
          </a:prstGeom>
        </p:spPr>
      </p:pic>
    </p:spTree>
    <p:extLst>
      <p:ext uri="{BB962C8B-B14F-4D97-AF65-F5344CB8AC3E}">
        <p14:creationId xmlns:p14="http://schemas.microsoft.com/office/powerpoint/2010/main" val="16243482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1403648" y="1772816"/>
            <a:ext cx="6480720" cy="4005072"/>
          </a:xfrm>
        </p:spPr>
        <p:txBody>
          <a:bodyPr>
            <a:noAutofit/>
          </a:bodyPr>
          <a:lstStyle/>
          <a:p>
            <a:pPr algn="just"/>
            <a:r>
              <a:rPr lang="ru-RU" sz="1800" dirty="0"/>
              <a:t>С</a:t>
            </a:r>
            <a:r>
              <a:rPr lang="en-US" sz="1800" dirty="0"/>
              <a:t>D ROM </a:t>
            </a:r>
            <a:r>
              <a:rPr lang="ru-RU" sz="1800" dirty="0"/>
              <a:t>е вид памет само за четене, състояща се от предварително пресован оптичен компактен диск, който съдържа данни. Компютрите могат да четат, но не и да записват или изтриват CD-ROM. Някои компактдискове, наречени усъвършенствани компактдискове, съдържат както компютърни данни, така и звук, като последният може да се възпроизвежда на CD плейър, докато данните (като софтуер или цифрово видео) могат да се използват само на компютър (например компютърните компактдискове с формат ISO 9660).През 90-те години на ХХ век и в началото на ХХ век CD-ROM-ите бяха популярни за разпространение на софтуер и данни за компютри и конзоли за видеоигри от пето поколение. От началото на 2000-те години DVD започва да го замества в тези роли</a:t>
            </a:r>
            <a:r>
              <a:rPr lang="en-US" sz="1800" dirty="0"/>
              <a:t>.</a:t>
            </a:r>
          </a:p>
        </p:txBody>
      </p:sp>
      <p:sp>
        <p:nvSpPr>
          <p:cNvPr id="4" name="Title 3"/>
          <p:cNvSpPr>
            <a:spLocks noGrp="1"/>
          </p:cNvSpPr>
          <p:nvPr>
            <p:ph type="title"/>
          </p:nvPr>
        </p:nvSpPr>
        <p:spPr/>
        <p:txBody>
          <a:bodyPr>
            <a:normAutofit/>
          </a:bodyPr>
          <a:lstStyle/>
          <a:p>
            <a:r>
              <a:rPr lang="en-US" sz="4000" dirty="0"/>
              <a:t>CD ROM</a:t>
            </a:r>
          </a:p>
        </p:txBody>
      </p:sp>
    </p:spTree>
    <p:extLst>
      <p:ext uri="{BB962C8B-B14F-4D97-AF65-F5344CB8AC3E}">
        <p14:creationId xmlns:p14="http://schemas.microsoft.com/office/powerpoint/2010/main" val="1065620481"/>
      </p:ext>
    </p:extLst>
  </p:cSld>
  <p:clrMapOvr>
    <a:masterClrMapping/>
  </p:clrMapOvr>
  <mc:AlternateContent xmlns:mc="http://schemas.openxmlformats.org/markup-compatibility/2006" xmlns:p14="http://schemas.microsoft.com/office/powerpoint/2010/main">
    <mc:Choice Requires="p14">
      <p:transition p14:dur="10" advClick="0" advTm="25000"/>
    </mc:Choice>
    <mc:Fallback xmlns="">
      <p:transition advClick="0" advTm="25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476672"/>
            <a:ext cx="2857500" cy="2771775"/>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0152" y="476672"/>
            <a:ext cx="2886968" cy="2863872"/>
          </a:xfrm>
          <a:prstGeom prst="rect">
            <a:avLst/>
          </a:prstGeom>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47864" y="3950927"/>
            <a:ext cx="2808312" cy="2597689"/>
          </a:xfrm>
          <a:prstGeom prst="rect">
            <a:avLst/>
          </a:prstGeom>
        </p:spPr>
      </p:pic>
    </p:spTree>
    <p:extLst>
      <p:ext uri="{BB962C8B-B14F-4D97-AF65-F5344CB8AC3E}">
        <p14:creationId xmlns:p14="http://schemas.microsoft.com/office/powerpoint/2010/main" val="1907136367"/>
      </p:ext>
    </p:extLst>
  </p:cSld>
  <p:clrMapOvr>
    <a:masterClrMapping/>
  </p:clrMapOvr>
  <mc:AlternateContent xmlns:mc="http://schemas.openxmlformats.org/markup-compatibility/2006" xmlns:p14="http://schemas.microsoft.com/office/powerpoint/2010/main">
    <mc:Choice Requires="p14">
      <p:transition p14:dur="10" advTm="10000"/>
    </mc:Choice>
    <mc:Fallback xmlns="">
      <p:transition advTm="10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457200" y="1772816"/>
            <a:ext cx="8219255" cy="4253080"/>
          </a:xfrm>
        </p:spPr>
        <p:txBody>
          <a:bodyPr>
            <a:noAutofit/>
          </a:bodyPr>
          <a:lstStyle/>
          <a:p>
            <a:pPr algn="just"/>
            <a:r>
              <a:rPr lang="ru-RU" sz="1800" dirty="0"/>
              <a:t>Дисковете за еднократен запис CD-R се различават от обикновените CD по това, че имат допълнителен слой, нанесен между пластмасовата подложка и металния отразяващ слой. Този слой представлява органично багрило на основата на цианови, фталоцианови или азо-съединения. Циановите багрила за запис (сини до виолетови на цвят) са създадени и патентовани от Taiyo Yuden, фталоциановите (светлозелени на цвят) – от швейцарската фирма Ciba Specialty Chemicals, а азо-багрилата (от средно до светлосиньо)- от Mitsubishi Chemical Corporation. Понякога производителите добавят оцветител към фталоциановите багрила. Така те стават сиви на цвят и по външен вид диска прилича много на матрично CD. Според цвета е възможно до голяма степен да се определи материала на записващия слой. Описаните дотук цветове са валидни когато отражателния слой на диска е сребро. Ако диска е покрит със златен слой така описаните цветове се променят. Използването на злато в днешни дни обаче е рядко явление. Последният факт не може да се установи по цвета на картинката (цвета на боята) от горната страна на диска.</a:t>
            </a:r>
            <a:endParaRPr lang="en-US" sz="1800" dirty="0"/>
          </a:p>
        </p:txBody>
      </p:sp>
      <p:sp>
        <p:nvSpPr>
          <p:cNvPr id="4" name="Title 3"/>
          <p:cNvSpPr>
            <a:spLocks noGrp="1"/>
          </p:cNvSpPr>
          <p:nvPr>
            <p:ph type="title"/>
          </p:nvPr>
        </p:nvSpPr>
        <p:spPr/>
        <p:txBody>
          <a:bodyPr>
            <a:noAutofit/>
          </a:bodyPr>
          <a:lstStyle/>
          <a:p>
            <a:r>
              <a:rPr lang="en-US" sz="4800" dirty="0"/>
              <a:t>CD-r</a:t>
            </a:r>
          </a:p>
        </p:txBody>
      </p:sp>
    </p:spTree>
    <p:extLst>
      <p:ext uri="{BB962C8B-B14F-4D97-AF65-F5344CB8AC3E}">
        <p14:creationId xmlns:p14="http://schemas.microsoft.com/office/powerpoint/2010/main" val="433129339"/>
      </p:ext>
    </p:extLst>
  </p:cSld>
  <p:clrMapOvr>
    <a:masterClrMapping/>
  </p:clrMapOvr>
  <mc:AlternateContent xmlns:mc="http://schemas.openxmlformats.org/markup-compatibility/2006" xmlns:p14="http://schemas.microsoft.com/office/powerpoint/2010/main">
    <mc:Choice Requires="p14">
      <p:transition p14:dur="10" advTm="25000"/>
    </mc:Choice>
    <mc:Fallback xmlns="">
      <p:transition advTm="25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8875" y="1988840"/>
            <a:ext cx="4286250" cy="4200525"/>
          </a:xfrm>
          <a:prstGeom prst="rect">
            <a:avLst/>
          </a:prstGeom>
        </p:spPr>
      </p:pic>
      <p:sp>
        <p:nvSpPr>
          <p:cNvPr id="3" name="Rectangle 2"/>
          <p:cNvSpPr/>
          <p:nvPr/>
        </p:nvSpPr>
        <p:spPr>
          <a:xfrm>
            <a:off x="455897" y="238097"/>
            <a:ext cx="8232206" cy="1754326"/>
          </a:xfrm>
          <a:prstGeom prst="rect">
            <a:avLst/>
          </a:prstGeom>
          <a:noFill/>
        </p:spPr>
        <p:txBody>
          <a:bodyPr wrap="square" lIns="91440" tIns="45720" rIns="91440" bIns="45720">
            <a:spAutoFit/>
          </a:bodyPr>
          <a:lstStyle/>
          <a:p>
            <a:pPr algn="ctr"/>
            <a:r>
              <a:rPr lang="en-US" sz="5400" b="1" cap="all" spc="0" dirty="0" err="1">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Eto</a:t>
            </a:r>
            <a:r>
              <a:rPr lang="en-US" sz="5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 </a:t>
            </a:r>
            <a:r>
              <a:rPr lang="en-US" sz="5400" b="1" cap="all" spc="0" dirty="0" err="1">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kak</a:t>
            </a:r>
            <a:r>
              <a:rPr lang="en-US"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 </a:t>
            </a:r>
            <a:r>
              <a:rPr lang="bg-BG"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изглежда </a:t>
            </a:r>
            <a:r>
              <a:rPr lang="en-US"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cd-r</a:t>
            </a:r>
            <a:endParaRPr lang="en-US" sz="5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2425093134"/>
      </p:ext>
    </p:extLst>
  </p:cSld>
  <p:clrMapOvr>
    <a:masterClrMapping/>
  </p:clrMapOvr>
  <mc:AlternateContent xmlns:mc="http://schemas.openxmlformats.org/markup-compatibility/2006" xmlns:p14="http://schemas.microsoft.com/office/powerpoint/2010/main">
    <mc:Choice Requires="p14">
      <p:transition p14:dur="10" advTm="5000"/>
    </mc:Choice>
    <mc:Fallback xmlns="">
      <p:transition advTm="5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323528" y="1745432"/>
            <a:ext cx="8435279" cy="5112568"/>
          </a:xfrm>
        </p:spPr>
        <p:txBody>
          <a:bodyPr>
            <a:normAutofit fontScale="85000" lnSpcReduction="20000"/>
          </a:bodyPr>
          <a:lstStyle/>
          <a:p>
            <a:pPr algn="just"/>
            <a:r>
              <a:rPr lang="ru-RU" sz="2100" dirty="0"/>
              <a:t>CD-RW дисковете, наподобяват по структура много на CD-R, но при тях записващият слой се състои от специална сплав – обикновено сребро, индий, антимон и телур (AgInSbTe). Първоначално тази сплав е поликристална и има по-висока отражателна способност. В процеса на запис слоят се загрява от лазерен лъч с висока мощност до темератури от порядъка на 500 – 700 °C. Това води до стопяване на материала и преминаването му в аморфно състояние, а с това и намаляване на отражателната способност. Така засветените участъци, подобно на CD-R диска представляват питовете (питове се наричат вдлъбнатинките на компактдиска), докато незасветените участъци – ландовете (площадките между питовете).</a:t>
            </a:r>
          </a:p>
          <a:p>
            <a:pPr algn="just"/>
            <a:r>
              <a:rPr lang="ru-RU" sz="2100" dirty="0"/>
              <a:t>При четене мощността на лазерния лъч е много по-малка и не разрушава записаната информация. При изтриване аморфният материал се загрява до по-ниски температури от порядъка на 200 °C, при което той не се стопява, а преминава от аморфно в поликристално състояние, като отново се увеличава отражателната му способност. Поради по-малката прозрачност на този материал отражателната способност не надвишава 15 – 25%. Това, както и по-ниските нива на ВЧ (HF) сигналите, прави CD-RW дисковете неотговарящи на стандартите за CD и CD-R – </a:t>
            </a:r>
            <a:r>
              <a:rPr lang="ru-RU" sz="2100" i="1" dirty="0"/>
              <a:t>Red Book</a:t>
            </a:r>
            <a:r>
              <a:rPr lang="ru-RU" sz="2100" dirty="0"/>
              <a:t> и </a:t>
            </a:r>
            <a:r>
              <a:rPr lang="ru-RU" sz="2100" i="1" dirty="0"/>
              <a:t>Orange Book – Part II</a:t>
            </a:r>
            <a:r>
              <a:rPr lang="ru-RU" sz="2100" dirty="0"/>
              <a:t>. Това изисква много по-чувствителна оптика на четящите устройства и е причина за недобрата съвместимост на тези дискове с всички CD устройства.</a:t>
            </a:r>
          </a:p>
          <a:p>
            <a:pPr algn="just"/>
            <a:endParaRPr lang="en-US" dirty="0"/>
          </a:p>
        </p:txBody>
      </p:sp>
      <p:sp>
        <p:nvSpPr>
          <p:cNvPr id="4" name="Title 3"/>
          <p:cNvSpPr>
            <a:spLocks noGrp="1"/>
          </p:cNvSpPr>
          <p:nvPr>
            <p:ph type="title"/>
          </p:nvPr>
        </p:nvSpPr>
        <p:spPr/>
        <p:txBody>
          <a:bodyPr>
            <a:noAutofit/>
          </a:bodyPr>
          <a:lstStyle/>
          <a:p>
            <a:r>
              <a:rPr lang="en-US" sz="4800" dirty="0"/>
              <a:t>CD-RW</a:t>
            </a:r>
          </a:p>
        </p:txBody>
      </p:sp>
    </p:spTree>
    <p:extLst>
      <p:ext uri="{BB962C8B-B14F-4D97-AF65-F5344CB8AC3E}">
        <p14:creationId xmlns:p14="http://schemas.microsoft.com/office/powerpoint/2010/main" val="32191001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908720"/>
            <a:ext cx="8712968" cy="5355312"/>
          </a:xfrm>
          <a:prstGeom prst="rect">
            <a:avLst/>
          </a:prstGeom>
          <a:noFill/>
        </p:spPr>
        <p:txBody>
          <a:bodyPr wrap="square" rtlCol="0">
            <a:spAutoFit/>
          </a:bodyPr>
          <a:lstStyle/>
          <a:p>
            <a:pPr algn="just"/>
            <a:r>
              <a:rPr lang="ru-RU" dirty="0"/>
              <a:t>Както при CD-R диска и тук записът се прави на отделни сесии, като след всяка от тях може да се добавя следваща, докато се запълни целия диск. След това дискът може да се изтрие напълно и е готов да се записва отново. По данни на производителите тази технология позволява до 1000 пъти презапис без загуба на данните. Изтриването става по два начина: пълно или бързо изтриване. Пълното изтриване е по-бавно, но осигурява конфиденциалност на изтритата информация. При бързото изтриване се заличават само мета данните. Така е възможно с помощта на специални програми да се възстанови „изтритата информация“. Важна разлика между CD-R и CD-RW дисковете е, че възстановеното (след изтриване) поликристално състояние на материала деградира постепенно до аморфно от само себе си и губи записаната впоследствие информация. По тази причина CD-RW дисковете не са пригодни за дълготрайно архивиране.</a:t>
            </a:r>
            <a:r>
              <a:rPr lang="en-US" dirty="0"/>
              <a:t> </a:t>
            </a:r>
            <a:r>
              <a:rPr lang="bg-BG" dirty="0"/>
              <a:t>Както при </a:t>
            </a:r>
            <a:r>
              <a:rPr lang="en-US" dirty="0"/>
              <a:t>CD-R </a:t>
            </a:r>
            <a:r>
              <a:rPr lang="bg-BG" dirty="0"/>
              <a:t>така и при </a:t>
            </a:r>
            <a:r>
              <a:rPr lang="en-US" dirty="0"/>
              <a:t>CD-RW </a:t>
            </a:r>
            <a:r>
              <a:rPr lang="bg-BG" dirty="0"/>
              <a:t>е възможна технологията на запис </a:t>
            </a:r>
            <a:r>
              <a:rPr lang="en-US" i="1" dirty="0"/>
              <a:t>packet writing</a:t>
            </a:r>
            <a:r>
              <a:rPr lang="en-US" dirty="0"/>
              <a:t>, </a:t>
            </a:r>
            <a:r>
              <a:rPr lang="bg-BG" dirty="0"/>
              <a:t>правеща записа (но не и изтриването) на диска подобен на външен вид на записа върху флопи диск. За тази цел са разработени софтуерни програми като </a:t>
            </a:r>
            <a:r>
              <a:rPr lang="en-US" dirty="0"/>
              <a:t>Roxio </a:t>
            </a:r>
            <a:r>
              <a:rPr lang="en-US" dirty="0" err="1"/>
              <a:t>DirectCD</a:t>
            </a:r>
            <a:r>
              <a:rPr lang="en-US" dirty="0"/>
              <a:t>, Nero AG </a:t>
            </a:r>
            <a:r>
              <a:rPr lang="en-US" dirty="0" err="1"/>
              <a:t>InCD</a:t>
            </a:r>
            <a:r>
              <a:rPr lang="en-US" dirty="0"/>
              <a:t>, Sonic Solutions Drive Letter Access. </a:t>
            </a:r>
            <a:r>
              <a:rPr lang="bg-BG" dirty="0"/>
              <a:t>Многократният презапис по този начин е ограничен, поради това че форматираните </a:t>
            </a:r>
            <a:r>
              <a:rPr lang="en-US" dirty="0"/>
              <a:t>CD-RW </a:t>
            </a:r>
            <a:r>
              <a:rPr lang="bg-BG" dirty="0"/>
              <a:t>изглежда деградират по-бързо от неформатираните (виж </a:t>
            </a:r>
            <a:r>
              <a:rPr lang="en-US" dirty="0"/>
              <a:t>packet writing, </a:t>
            </a:r>
            <a:r>
              <a:rPr lang="en-US" dirty="0" err="1"/>
              <a:t>DirectCD</a:t>
            </a:r>
            <a:r>
              <a:rPr lang="en-US" dirty="0"/>
              <a:t> </a:t>
            </a:r>
            <a:r>
              <a:rPr lang="bg-BG" dirty="0"/>
              <a:t>и други).</a:t>
            </a:r>
            <a:endParaRPr lang="en-US" dirty="0"/>
          </a:p>
        </p:txBody>
      </p:sp>
    </p:spTree>
    <p:extLst>
      <p:ext uri="{BB962C8B-B14F-4D97-AF65-F5344CB8AC3E}">
        <p14:creationId xmlns:p14="http://schemas.microsoft.com/office/powerpoint/2010/main" val="20408093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6375" y="333375"/>
            <a:ext cx="6191250" cy="6191250"/>
          </a:xfrm>
          <a:prstGeom prst="rect">
            <a:avLst/>
          </a:prstGeom>
        </p:spPr>
      </p:pic>
    </p:spTree>
    <p:extLst>
      <p:ext uri="{BB962C8B-B14F-4D97-AF65-F5344CB8AC3E}">
        <p14:creationId xmlns:p14="http://schemas.microsoft.com/office/powerpoint/2010/main" val="27452263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sz="4800" dirty="0"/>
              <a:t>DVD</a:t>
            </a:r>
          </a:p>
        </p:txBody>
      </p:sp>
      <p:sp>
        <p:nvSpPr>
          <p:cNvPr id="5" name="Content Placeholder 2"/>
          <p:cNvSpPr>
            <a:spLocks noGrp="1"/>
          </p:cNvSpPr>
          <p:nvPr>
            <p:ph sz="quarter" idx="13"/>
          </p:nvPr>
        </p:nvSpPr>
        <p:spPr>
          <a:xfrm>
            <a:off x="107950" y="1700213"/>
            <a:ext cx="8928100" cy="5041900"/>
          </a:xfrm>
        </p:spPr>
        <p:txBody>
          <a:bodyPr>
            <a:noAutofit/>
          </a:bodyPr>
          <a:lstStyle/>
          <a:p>
            <a:pPr algn="just"/>
            <a:r>
              <a:rPr lang="ru-RU" sz="1800" dirty="0"/>
              <a:t>DVD (често срещано съкращение на Digital Video Disc или Digital Versatile Disc) е цифров оптичен диск за съхранение на данни. Той е изобретен и разработен през 1995 г. и е пуснат за първи път на 1 ноември 1996 г. в Япония. Носителят може да съхранява всякакъв вид цифрови данни и е широко използван за видеопрограми (гледани с помощта на DVD плейъри) или преди това и за съхранение на софтуер и други компютърни файлове. DVD дисковете предлагат значително по-голям капацитет за съхранение от компактните дискове (CD), като същевременно имат същите размери. Стандартният DVD диск може да съхранява до 4,7 GB памет, докато вариантите могат да съхраняват до максимум 17,08 GB.</a:t>
            </a:r>
            <a:r>
              <a:rPr lang="en-US" sz="1800" dirty="0"/>
              <a:t> </a:t>
            </a:r>
            <a:r>
              <a:rPr lang="ru-RU" sz="1800" dirty="0"/>
              <a:t>Предварително записаните DVD дискове се произвеждат масово с помощта на формовъчни машини, които физически отпечатват данни върху DVD диска. Такива дискове са форма на DVD-ROM, тъй като данните могат само да се четат, но не и да се записват или изтриват. Празните записваеми DVD дискове (DVD-R и DVD+R) могат да бъдат записани веднъж с помощта на DVD записващо устройство и след това да функционират като DVD-ROM. Презаписваемите DVD дискове (DVD-RW, DVD+RW и DVD-RAM) могат да се записват и изтриват многократно.</a:t>
            </a:r>
            <a:endParaRPr lang="en-US" sz="1800" dirty="0"/>
          </a:p>
        </p:txBody>
      </p:sp>
    </p:spTree>
    <p:extLst>
      <p:ext uri="{BB962C8B-B14F-4D97-AF65-F5344CB8AC3E}">
        <p14:creationId xmlns:p14="http://schemas.microsoft.com/office/powerpoint/2010/main" val="23053457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552" y="260648"/>
            <a:ext cx="7992888" cy="1754326"/>
          </a:xfrm>
          <a:prstGeom prst="rect">
            <a:avLst/>
          </a:prstGeom>
          <a:noFill/>
        </p:spPr>
        <p:txBody>
          <a:bodyPr wrap="square" rtlCol="0">
            <a:spAutoFit/>
          </a:bodyPr>
          <a:lstStyle/>
          <a:p>
            <a:pPr algn="just"/>
            <a:r>
              <a:rPr lang="ru-RU" dirty="0"/>
              <a:t>DVD дисковете се използват в потребителски цифров видеоформат DVD-Video и по-рядко в потребителски цифров аудиоформат DVD-Audio, както и за създаване на DVD дискове, записани в специален формат AVCHD за съхранение на материали с висока разделителна способност (често в комбинация с видеокамери с формат AVCHD). DVD дисковете, съдържащи други видове информация, могат да се наричат DVD дискове с данни.</a:t>
            </a:r>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3528" y="2348880"/>
            <a:ext cx="3611893" cy="1896244"/>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35421" y="4255942"/>
            <a:ext cx="4608004" cy="2346242"/>
          </a:xfrm>
          <a:prstGeom prst="rect">
            <a:avLst/>
          </a:prstGeom>
        </p:spPr>
      </p:pic>
    </p:spTree>
    <p:extLst>
      <p:ext uri="{BB962C8B-B14F-4D97-AF65-F5344CB8AC3E}">
        <p14:creationId xmlns:p14="http://schemas.microsoft.com/office/powerpoint/2010/main" val="41517771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395536" y="1772816"/>
            <a:ext cx="8435279" cy="4896544"/>
          </a:xfrm>
        </p:spPr>
        <p:txBody>
          <a:bodyPr>
            <a:normAutofit fontScale="92500"/>
          </a:bodyPr>
          <a:lstStyle/>
          <a:p>
            <a:pPr algn="just" fontAlgn="base"/>
            <a:r>
              <a:rPr lang="ru-RU" sz="1900" dirty="0"/>
              <a:t>Външно, DVD-ROM изглежда почти като обикновен CD - той със същия размер като на широко използвани днес CD-ROM: диаметър - 120 mm (4.75 инча) дебелина - 1.2 мм. Може би това е дори разочарова потребителите очакват от новия стандарт за нещо необичайно. Но основното, наистина фантастично почит крият дълбоко:</a:t>
            </a:r>
            <a:br>
              <a:rPr lang="ru-RU" sz="1900" dirty="0"/>
            </a:br>
            <a:r>
              <a:rPr lang="ru-RU" sz="1900" dirty="0"/>
              <a:t>DVD-ROM може да бъде еднопосочна или двупосочна. Работа слоеве от всяка страна на DVD-ROM може да бъде едно или две. Следните видове DVD-ROM диск:</a:t>
            </a:r>
            <a:br>
              <a:rPr lang="ru-RU" sz="1900" dirty="0"/>
            </a:br>
            <a:r>
              <a:rPr lang="ru-RU" sz="1900" dirty="0"/>
              <a:t>DVD-5 (едностранен, еднослоен диск) - едностранен еднослоен диск, 4.7 GB;</a:t>
            </a:r>
          </a:p>
          <a:p>
            <a:pPr algn="just" fontAlgn="base"/>
            <a:r>
              <a:rPr lang="ru-RU" sz="1900" dirty="0"/>
              <a:t>DVD-9 (едностранен двуслоен диск) - едностранен двуслоен диск 8.5 GB;</a:t>
            </a:r>
          </a:p>
          <a:p>
            <a:pPr algn="just" fontAlgn="base"/>
            <a:r>
              <a:rPr lang="ru-RU" sz="1900" dirty="0"/>
              <a:t>DVD-10 (Двустранен, еднослоен диск) - двустранен еднослоен диск, 9.4 GB;</a:t>
            </a:r>
          </a:p>
          <a:p>
            <a:pPr algn="just" fontAlgn="base"/>
            <a:r>
              <a:rPr lang="ru-RU" sz="1900" dirty="0"/>
              <a:t>DVD-18 (Двустранен, двуслоен диск) - двустранен двуслоен диск, 17.0 GB;</a:t>
            </a:r>
            <a:br>
              <a:rPr lang="ru-RU" sz="1900" dirty="0"/>
            </a:br>
            <a:endParaRPr lang="ru-RU" sz="1900" dirty="0"/>
          </a:p>
          <a:p>
            <a:r>
              <a:rPr lang="ru-RU" dirty="0"/>
              <a:t/>
            </a:r>
            <a:br>
              <a:rPr lang="ru-RU" dirty="0"/>
            </a:br>
            <a:endParaRPr lang="en-US" dirty="0"/>
          </a:p>
        </p:txBody>
      </p:sp>
      <p:sp>
        <p:nvSpPr>
          <p:cNvPr id="4" name="Title 3"/>
          <p:cNvSpPr>
            <a:spLocks noGrp="1"/>
          </p:cNvSpPr>
          <p:nvPr>
            <p:ph type="title"/>
          </p:nvPr>
        </p:nvSpPr>
        <p:spPr/>
        <p:txBody>
          <a:bodyPr>
            <a:normAutofit/>
          </a:bodyPr>
          <a:lstStyle/>
          <a:p>
            <a:r>
              <a:rPr lang="bg-BG" sz="2800" dirty="0"/>
              <a:t>Стандарти на </a:t>
            </a:r>
            <a:r>
              <a:rPr lang="en-US" sz="2800" dirty="0"/>
              <a:t>DVD</a:t>
            </a:r>
          </a:p>
        </p:txBody>
      </p:sp>
    </p:spTree>
    <p:extLst>
      <p:ext uri="{BB962C8B-B14F-4D97-AF65-F5344CB8AC3E}">
        <p14:creationId xmlns:p14="http://schemas.microsoft.com/office/powerpoint/2010/main" val="8048670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1052736"/>
            <a:ext cx="8352928" cy="4524315"/>
          </a:xfrm>
          <a:prstGeom prst="rect">
            <a:avLst/>
          </a:prstGeom>
          <a:noFill/>
        </p:spPr>
        <p:txBody>
          <a:bodyPr wrap="square" rtlCol="0">
            <a:spAutoFit/>
          </a:bodyPr>
          <a:lstStyle/>
          <a:p>
            <a:pPr algn="just" fontAlgn="base"/>
            <a:r>
              <a:rPr lang="ru-RU" dirty="0"/>
              <a:t>DVD-5DVD-5 - това е първата версия на пазара на DVD: едностранен еднослоен диск и капацитет на запис 4.7 GB.</a:t>
            </a:r>
          </a:p>
          <a:p>
            <a:pPr algn="just" fontAlgn="base"/>
            <a:r>
              <a:rPr lang="ru-RU" dirty="0"/>
              <a:t>DVD включва 0.6 mm филм покрити с алуминий и залепен върху чист субстрат. пръскане технология е същата, която се използва в производството на конвенционалните CD. филм алуминий има дебелина от 55 нанометра, както и аудио CD и CD-ROM.</a:t>
            </a:r>
          </a:p>
          <a:p>
            <a:pPr algn="just" fontAlgn="base"/>
            <a:r>
              <a:rPr lang="ru-RU" dirty="0"/>
              <a:t>DVD-9 - две нива едностранен диск с капацитет от 8.5 GB. За производството на такъв диск е необходимо да се създаде прозрачен слой, който отразява 18-30% на лазерното лъчение. Това е достатъчно, за да може да се чете информация от горния слой. В същото време, полупрозрачен слой е достатъчно, за да мине излъчването на сигнала от долния слой с висока отражателна способност да се чете. нива на информация разделя високо еднакво лепило (дебелина на залепващия слой е 40-70 микрона) се използва за свързване на двете половини на диска. Това разстояние е необходимо да се направи разграничение на сигнала, отразена от един и другите нива.</a:t>
            </a:r>
          </a:p>
          <a:p>
            <a:endParaRPr lang="en-US" dirty="0"/>
          </a:p>
        </p:txBody>
      </p:sp>
    </p:spTree>
    <p:extLst>
      <p:ext uri="{BB962C8B-B14F-4D97-AF65-F5344CB8AC3E}">
        <p14:creationId xmlns:p14="http://schemas.microsoft.com/office/powerpoint/2010/main" val="32783080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Картина 2">
            <a:extLst>
              <a:ext uri="{FF2B5EF4-FFF2-40B4-BE49-F238E27FC236}">
                <a16:creationId xmlns:a16="http://schemas.microsoft.com/office/drawing/2014/main" xmlns="" id="{17FA8184-89E8-41E3-8FB5-291B8C63FA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758" y="1086205"/>
            <a:ext cx="3641370" cy="4685587"/>
          </a:xfrm>
          <a:prstGeom prst="rect">
            <a:avLst/>
          </a:prstGeom>
        </p:spPr>
      </p:pic>
      <p:pic>
        <p:nvPicPr>
          <p:cNvPr id="5" name="Картина 4">
            <a:extLst>
              <a:ext uri="{FF2B5EF4-FFF2-40B4-BE49-F238E27FC236}">
                <a16:creationId xmlns:a16="http://schemas.microsoft.com/office/drawing/2014/main" xmlns="" id="{C81E2250-737B-4BBD-A6EC-DA4B22FCA1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2040" y="1086206"/>
            <a:ext cx="3524202" cy="4685587"/>
          </a:xfrm>
          <a:prstGeom prst="rect">
            <a:avLst/>
          </a:prstGeom>
        </p:spPr>
      </p:pic>
    </p:spTree>
    <p:extLst>
      <p:ext uri="{BB962C8B-B14F-4D97-AF65-F5344CB8AC3E}">
        <p14:creationId xmlns:p14="http://schemas.microsoft.com/office/powerpoint/2010/main" val="36333264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Контейнер за съдържание 1">
            <a:extLst>
              <a:ext uri="{FF2B5EF4-FFF2-40B4-BE49-F238E27FC236}">
                <a16:creationId xmlns:a16="http://schemas.microsoft.com/office/drawing/2014/main" xmlns="" id="{350D5176-F281-4226-B191-56B3AE95637D}"/>
              </a:ext>
            </a:extLst>
          </p:cNvPr>
          <p:cNvSpPr>
            <a:spLocks noGrp="1"/>
          </p:cNvSpPr>
          <p:nvPr>
            <p:ph sz="quarter" idx="13"/>
          </p:nvPr>
        </p:nvSpPr>
        <p:spPr>
          <a:xfrm>
            <a:off x="457200" y="1772816"/>
            <a:ext cx="8435279" cy="4608512"/>
          </a:xfrm>
        </p:spPr>
        <p:txBody>
          <a:bodyPr>
            <a:normAutofit/>
          </a:bodyPr>
          <a:lstStyle/>
          <a:p>
            <a:pPr algn="just"/>
            <a:r>
              <a:rPr lang="ru-RU" sz="1800" dirty="0" err="1"/>
              <a:t>Blu-ray</a:t>
            </a:r>
            <a:r>
              <a:rPr lang="ru-RU" sz="1800" dirty="0"/>
              <a:t> </a:t>
            </a:r>
            <a:r>
              <a:rPr lang="ru-RU" sz="1800" dirty="0" err="1"/>
              <a:t>дисковете</a:t>
            </a:r>
            <a:r>
              <a:rPr lang="ru-RU" sz="1800" dirty="0"/>
              <a:t> (BD) </a:t>
            </a:r>
            <a:r>
              <a:rPr lang="ru-RU" sz="1800" dirty="0" err="1"/>
              <a:t>са</a:t>
            </a:r>
            <a:r>
              <a:rPr lang="ru-RU" sz="1800" dirty="0"/>
              <a:t> </a:t>
            </a:r>
            <a:r>
              <a:rPr lang="ru-RU" sz="1800" dirty="0" err="1"/>
              <a:t>оптични</a:t>
            </a:r>
            <a:r>
              <a:rPr lang="ru-RU" sz="1800" dirty="0"/>
              <a:t> </a:t>
            </a:r>
            <a:r>
              <a:rPr lang="ru-RU" sz="1800" dirty="0" err="1"/>
              <a:t>дискове</a:t>
            </a:r>
            <a:r>
              <a:rPr lang="ru-RU" sz="1800" dirty="0"/>
              <a:t> с </a:t>
            </a:r>
            <a:r>
              <a:rPr lang="ru-RU" sz="1800" dirty="0" err="1"/>
              <a:t>висока</a:t>
            </a:r>
            <a:r>
              <a:rPr lang="ru-RU" sz="1800" dirty="0"/>
              <a:t> </a:t>
            </a:r>
            <a:r>
              <a:rPr lang="ru-RU" sz="1800" dirty="0" err="1"/>
              <a:t>плътност</a:t>
            </a:r>
            <a:r>
              <a:rPr lang="ru-RU" sz="1800" dirty="0"/>
              <a:t> на </a:t>
            </a:r>
            <a:r>
              <a:rPr lang="ru-RU" sz="1800" dirty="0" err="1"/>
              <a:t>записа</a:t>
            </a:r>
            <a:r>
              <a:rPr lang="ru-RU" sz="1800" dirty="0"/>
              <a:t>, </a:t>
            </a:r>
            <a:r>
              <a:rPr lang="ru-RU" sz="1800" dirty="0" err="1"/>
              <a:t>предназначени</a:t>
            </a:r>
            <a:r>
              <a:rPr lang="ru-RU" sz="1800" dirty="0"/>
              <a:t> за </a:t>
            </a:r>
            <a:r>
              <a:rPr lang="ru-RU" sz="1800" dirty="0" err="1"/>
              <a:t>съхраняване</a:t>
            </a:r>
            <a:r>
              <a:rPr lang="ru-RU" sz="1800" dirty="0"/>
              <a:t> на </a:t>
            </a:r>
            <a:r>
              <a:rPr lang="ru-RU" sz="1800" dirty="0" err="1"/>
              <a:t>цифрови</a:t>
            </a:r>
            <a:r>
              <a:rPr lang="ru-RU" sz="1800" dirty="0"/>
              <a:t> </a:t>
            </a:r>
            <a:r>
              <a:rPr lang="ru-RU" sz="1800" dirty="0" err="1"/>
              <a:t>данни</a:t>
            </a:r>
            <a:r>
              <a:rPr lang="ru-RU" sz="1800" dirty="0"/>
              <a:t>, </a:t>
            </a:r>
            <a:r>
              <a:rPr lang="ru-RU" sz="1800" dirty="0" err="1"/>
              <a:t>включително</a:t>
            </a:r>
            <a:r>
              <a:rPr lang="ru-RU" sz="1800" dirty="0"/>
              <a:t> видео с </a:t>
            </a:r>
            <a:r>
              <a:rPr lang="ru-RU" sz="1800" dirty="0" err="1"/>
              <a:t>висока</a:t>
            </a:r>
            <a:r>
              <a:rPr lang="ru-RU" sz="1800" dirty="0"/>
              <a:t> </a:t>
            </a:r>
            <a:r>
              <a:rPr lang="ru-RU" sz="1800" dirty="0" err="1"/>
              <a:t>разделителна</a:t>
            </a:r>
            <a:r>
              <a:rPr lang="ru-RU" sz="1800" dirty="0"/>
              <a:t> </a:t>
            </a:r>
            <a:r>
              <a:rPr lang="ru-RU" sz="1800" dirty="0" err="1"/>
              <a:t>способност</a:t>
            </a:r>
            <a:r>
              <a:rPr lang="ru-RU" sz="1800" dirty="0"/>
              <a:t> (</a:t>
            </a:r>
            <a:r>
              <a:rPr lang="ru-RU" sz="1800" dirty="0" err="1"/>
              <a:t>High</a:t>
            </a:r>
            <a:r>
              <a:rPr lang="ru-RU" sz="1800" dirty="0"/>
              <a:t> </a:t>
            </a:r>
            <a:r>
              <a:rPr lang="ru-RU" sz="1800" dirty="0" err="1"/>
              <a:t>Definition</a:t>
            </a:r>
            <a:r>
              <a:rPr lang="ru-RU" sz="1800" dirty="0"/>
              <a:t> </a:t>
            </a:r>
            <a:r>
              <a:rPr lang="ru-RU" sz="1800" dirty="0" err="1"/>
              <a:t>Video</a:t>
            </a:r>
            <a:r>
              <a:rPr lang="ru-RU" sz="1800" dirty="0"/>
              <a:t>).</a:t>
            </a:r>
          </a:p>
          <a:p>
            <a:pPr algn="just"/>
            <a:r>
              <a:rPr lang="ru-RU" sz="1800" dirty="0" err="1"/>
              <a:t>Името</a:t>
            </a:r>
            <a:r>
              <a:rPr lang="ru-RU" sz="1800" dirty="0"/>
              <a:t> на </a:t>
            </a:r>
            <a:r>
              <a:rPr lang="ru-RU" sz="1800" dirty="0" err="1"/>
              <a:t>новия</a:t>
            </a:r>
            <a:r>
              <a:rPr lang="ru-RU" sz="1800" dirty="0"/>
              <a:t> формат </a:t>
            </a:r>
            <a:r>
              <a:rPr lang="ru-RU" sz="1800" dirty="0" err="1"/>
              <a:t>произлиза</a:t>
            </a:r>
            <a:r>
              <a:rPr lang="ru-RU" sz="1800" dirty="0"/>
              <a:t> от </a:t>
            </a:r>
            <a:r>
              <a:rPr lang="ru-RU" sz="1800" dirty="0" err="1"/>
              <a:t>използването</a:t>
            </a:r>
            <a:r>
              <a:rPr lang="ru-RU" sz="1800" dirty="0"/>
              <a:t> в него на </a:t>
            </a:r>
            <a:r>
              <a:rPr lang="ru-RU" sz="1800" dirty="0" err="1"/>
              <a:t>синьо</a:t>
            </a:r>
            <a:r>
              <a:rPr lang="ru-RU" sz="1800" dirty="0"/>
              <a:t> (</a:t>
            </a:r>
            <a:r>
              <a:rPr lang="ru-RU" sz="1800" dirty="0" err="1"/>
              <a:t>по-точно</a:t>
            </a:r>
            <a:r>
              <a:rPr lang="ru-RU" sz="1800" dirty="0"/>
              <a:t> </a:t>
            </a:r>
            <a:r>
              <a:rPr lang="ru-RU" sz="1800" dirty="0" err="1"/>
              <a:t>виолетово</a:t>
            </a:r>
            <a:r>
              <a:rPr lang="ru-RU" sz="1800" dirty="0"/>
              <a:t>) </a:t>
            </a:r>
            <a:r>
              <a:rPr lang="ru-RU" sz="1800" dirty="0" err="1"/>
              <a:t>лазерно</a:t>
            </a:r>
            <a:r>
              <a:rPr lang="ru-RU" sz="1800" dirty="0"/>
              <a:t> </a:t>
            </a:r>
            <a:r>
              <a:rPr lang="ru-RU" sz="1800" dirty="0" err="1"/>
              <a:t>излъчване</a:t>
            </a:r>
            <a:r>
              <a:rPr lang="ru-RU" sz="1800" dirty="0"/>
              <a:t> („</a:t>
            </a:r>
            <a:r>
              <a:rPr lang="ru-RU" sz="1800" dirty="0" err="1"/>
              <a:t>blue</a:t>
            </a:r>
            <a:r>
              <a:rPr lang="ru-RU" sz="1800" dirty="0"/>
              <a:t> </a:t>
            </a:r>
            <a:r>
              <a:rPr lang="ru-RU" sz="1800" dirty="0" err="1"/>
              <a:t>ray</a:t>
            </a:r>
            <a:r>
              <a:rPr lang="ru-RU" sz="1800" dirty="0"/>
              <a:t>“ </a:t>
            </a:r>
            <a:r>
              <a:rPr lang="ru-RU" sz="1800" dirty="0" err="1"/>
              <a:t>означава</a:t>
            </a:r>
            <a:r>
              <a:rPr lang="ru-RU" sz="1800" dirty="0"/>
              <a:t> „</a:t>
            </a:r>
            <a:r>
              <a:rPr lang="ru-RU" sz="1800" dirty="0" err="1"/>
              <a:t>син</a:t>
            </a:r>
            <a:r>
              <a:rPr lang="ru-RU" sz="1800" dirty="0"/>
              <a:t> </a:t>
            </a:r>
            <a:r>
              <a:rPr lang="ru-RU" sz="1800" dirty="0" err="1"/>
              <a:t>лъч</a:t>
            </a:r>
            <a:r>
              <a:rPr lang="ru-RU" sz="1800" dirty="0"/>
              <a:t>“, </a:t>
            </a:r>
            <a:r>
              <a:rPr lang="ru-RU" sz="1800" dirty="0" err="1"/>
              <a:t>вж</a:t>
            </a:r>
            <a:r>
              <a:rPr lang="ru-RU" sz="1800" dirty="0"/>
              <a:t>. </a:t>
            </a:r>
            <a:r>
              <a:rPr lang="ru-RU" sz="1800" i="1" dirty="0" err="1"/>
              <a:t>Интересни</a:t>
            </a:r>
            <a:r>
              <a:rPr lang="ru-RU" sz="1800" i="1" dirty="0"/>
              <a:t> </a:t>
            </a:r>
            <a:r>
              <a:rPr lang="ru-RU" sz="1800" i="1" dirty="0" err="1"/>
              <a:t>факти</a:t>
            </a:r>
            <a:r>
              <a:rPr lang="ru-RU" sz="1800" dirty="0"/>
              <a:t> </a:t>
            </a:r>
            <a:r>
              <a:rPr lang="ru-RU" sz="1800" dirty="0" err="1"/>
              <a:t>по-долу</a:t>
            </a:r>
            <a:r>
              <a:rPr lang="ru-RU" sz="1800" dirty="0"/>
              <a:t>), </a:t>
            </a:r>
            <a:r>
              <a:rPr lang="ru-RU" sz="1800" dirty="0" err="1"/>
              <a:t>което</a:t>
            </a:r>
            <a:r>
              <a:rPr lang="ru-RU" sz="1800" dirty="0"/>
              <a:t> </a:t>
            </a:r>
            <a:r>
              <a:rPr lang="ru-RU" sz="1800" dirty="0" err="1"/>
              <a:t>позволява</a:t>
            </a:r>
            <a:r>
              <a:rPr lang="ru-RU" sz="1800" dirty="0"/>
              <a:t> </a:t>
            </a:r>
            <a:r>
              <a:rPr lang="ru-RU" sz="1800" dirty="0" err="1"/>
              <a:t>запис</a:t>
            </a:r>
            <a:r>
              <a:rPr lang="ru-RU" sz="1800" dirty="0"/>
              <a:t> и </a:t>
            </a:r>
            <a:r>
              <a:rPr lang="ru-RU" sz="1800" dirty="0" err="1"/>
              <a:t>съхранение</a:t>
            </a:r>
            <a:r>
              <a:rPr lang="ru-RU" sz="1800" dirty="0"/>
              <a:t> на </a:t>
            </a:r>
            <a:r>
              <a:rPr lang="ru-RU" sz="1800" dirty="0" err="1"/>
              <a:t>данни</a:t>
            </a:r>
            <a:r>
              <a:rPr lang="ru-RU" sz="1800" dirty="0"/>
              <a:t> </a:t>
            </a:r>
            <a:r>
              <a:rPr lang="ru-RU" sz="1800" dirty="0" err="1"/>
              <a:t>върху</a:t>
            </a:r>
            <a:r>
              <a:rPr lang="ru-RU" sz="1800" dirty="0"/>
              <a:t> </a:t>
            </a:r>
            <a:r>
              <a:rPr lang="ru-RU" sz="1800" dirty="0" err="1"/>
              <a:t>оптичен</a:t>
            </a:r>
            <a:r>
              <a:rPr lang="ru-RU" sz="1800" dirty="0"/>
              <a:t> </a:t>
            </a:r>
            <a:r>
              <a:rPr lang="ru-RU" sz="1800" dirty="0" err="1"/>
              <a:t>носител</a:t>
            </a:r>
            <a:r>
              <a:rPr lang="ru-RU" sz="1800" dirty="0"/>
              <a:t> с </a:t>
            </a:r>
            <a:r>
              <a:rPr lang="ru-RU" sz="1800" dirty="0" err="1"/>
              <a:t>висока</a:t>
            </a:r>
            <a:r>
              <a:rPr lang="ru-RU" sz="1800" dirty="0"/>
              <a:t> </a:t>
            </a:r>
            <a:r>
              <a:rPr lang="ru-RU" sz="1800" dirty="0" err="1"/>
              <a:t>плътност</a:t>
            </a:r>
            <a:r>
              <a:rPr lang="ru-RU" sz="1800" dirty="0"/>
              <a:t>. Един от </a:t>
            </a:r>
            <a:r>
              <a:rPr lang="ru-RU" sz="1800" dirty="0" err="1"/>
              <a:t>проблемите</a:t>
            </a:r>
            <a:r>
              <a:rPr lang="ru-RU" sz="1800" dirty="0"/>
              <a:t> при </a:t>
            </a:r>
            <a:r>
              <a:rPr lang="ru-RU" sz="1800" dirty="0" err="1"/>
              <a:t>Blu-ray</a:t>
            </a:r>
            <a:r>
              <a:rPr lang="ru-RU" sz="1800" dirty="0"/>
              <a:t>, </a:t>
            </a:r>
            <a:r>
              <a:rPr lang="ru-RU" sz="1800" dirty="0" err="1"/>
              <a:t>породен</a:t>
            </a:r>
            <a:r>
              <a:rPr lang="ru-RU" sz="1800" dirty="0"/>
              <a:t> от </a:t>
            </a:r>
            <a:r>
              <a:rPr lang="ru-RU" sz="1800" dirty="0" err="1"/>
              <a:t>високата</a:t>
            </a:r>
            <a:r>
              <a:rPr lang="ru-RU" sz="1800" dirty="0"/>
              <a:t> </a:t>
            </a:r>
            <a:r>
              <a:rPr lang="ru-RU" sz="1800" dirty="0" err="1"/>
              <a:t>плътност</a:t>
            </a:r>
            <a:r>
              <a:rPr lang="ru-RU" sz="1800" dirty="0"/>
              <a:t> на </a:t>
            </a:r>
            <a:r>
              <a:rPr lang="ru-RU" sz="1800" dirty="0" err="1"/>
              <a:t>данните</a:t>
            </a:r>
            <a:r>
              <a:rPr lang="ru-RU" sz="1800" dirty="0"/>
              <a:t>, е </a:t>
            </a:r>
            <a:r>
              <a:rPr lang="ru-RU" sz="1800" dirty="0" err="1"/>
              <a:t>защитата</a:t>
            </a:r>
            <a:r>
              <a:rPr lang="ru-RU" sz="1800" dirty="0"/>
              <a:t> на слоя с информация </a:t>
            </a:r>
            <a:r>
              <a:rPr lang="ru-RU" sz="1800" dirty="0" err="1"/>
              <a:t>срещу</a:t>
            </a:r>
            <a:r>
              <a:rPr lang="ru-RU" sz="1800" dirty="0"/>
              <a:t> </a:t>
            </a:r>
            <a:r>
              <a:rPr lang="ru-RU" sz="1800" dirty="0" err="1"/>
              <a:t>физическо</a:t>
            </a:r>
            <a:r>
              <a:rPr lang="ru-RU" sz="1800" dirty="0"/>
              <a:t> </a:t>
            </a:r>
            <a:r>
              <a:rPr lang="ru-RU" sz="1800" dirty="0" err="1"/>
              <a:t>нараняване</a:t>
            </a:r>
            <a:r>
              <a:rPr lang="ru-RU" sz="1800" dirty="0"/>
              <a:t>. В </a:t>
            </a:r>
            <a:r>
              <a:rPr lang="ru-RU" sz="1800" dirty="0" err="1"/>
              <a:t>началото</a:t>
            </a:r>
            <a:r>
              <a:rPr lang="ru-RU" sz="1800" dirty="0"/>
              <a:t> на </a:t>
            </a:r>
            <a:r>
              <a:rPr lang="ru-RU" sz="1800" dirty="0" err="1"/>
              <a:t>развитието</a:t>
            </a:r>
            <a:r>
              <a:rPr lang="ru-RU" sz="1800" dirty="0"/>
              <a:t> на </a:t>
            </a:r>
            <a:r>
              <a:rPr lang="ru-RU" sz="1800" dirty="0" err="1"/>
              <a:t>тази</a:t>
            </a:r>
            <a:r>
              <a:rPr lang="ru-RU" sz="1800" dirty="0"/>
              <a:t> технология </a:t>
            </a:r>
            <a:r>
              <a:rPr lang="ru-RU" sz="1800" dirty="0" err="1"/>
              <a:t>носителите</a:t>
            </a:r>
            <a:r>
              <a:rPr lang="ru-RU" sz="1800" dirty="0"/>
              <a:t> се </a:t>
            </a:r>
            <a:r>
              <a:rPr lang="ru-RU" sz="1800" dirty="0" err="1"/>
              <a:t>съхраняваха</a:t>
            </a:r>
            <a:r>
              <a:rPr lang="ru-RU" sz="1800" dirty="0"/>
              <a:t> в </a:t>
            </a:r>
            <a:r>
              <a:rPr lang="ru-RU" sz="1800" dirty="0" err="1"/>
              <a:t>специални</a:t>
            </a:r>
            <a:r>
              <a:rPr lang="ru-RU" sz="1800" dirty="0"/>
              <a:t> </a:t>
            </a:r>
            <a:r>
              <a:rPr lang="ru-RU" sz="1800" dirty="0" err="1"/>
              <a:t>прахозащитни</a:t>
            </a:r>
            <a:r>
              <a:rPr lang="ru-RU" sz="1800" dirty="0"/>
              <a:t> и </a:t>
            </a:r>
            <a:r>
              <a:rPr lang="ru-RU" sz="1800" dirty="0" err="1"/>
              <a:t>удароустойчиви</a:t>
            </a:r>
            <a:r>
              <a:rPr lang="ru-RU" sz="1800" dirty="0"/>
              <a:t> </a:t>
            </a:r>
            <a:r>
              <a:rPr lang="ru-RU" sz="1800" dirty="0" err="1"/>
              <a:t>кутии</a:t>
            </a:r>
            <a:r>
              <a:rPr lang="ru-RU" sz="1800" dirty="0"/>
              <a:t>, </a:t>
            </a:r>
            <a:r>
              <a:rPr lang="ru-RU" sz="1800" dirty="0" err="1"/>
              <a:t>които</a:t>
            </a:r>
            <a:r>
              <a:rPr lang="ru-RU" sz="1800" dirty="0"/>
              <a:t> </a:t>
            </a:r>
            <a:r>
              <a:rPr lang="ru-RU" sz="1800" dirty="0" err="1"/>
              <a:t>обаче</a:t>
            </a:r>
            <a:r>
              <a:rPr lang="ru-RU" sz="1800" dirty="0"/>
              <a:t> </a:t>
            </a:r>
            <a:r>
              <a:rPr lang="ru-RU" sz="1800" dirty="0" err="1"/>
              <a:t>правеха</a:t>
            </a:r>
            <a:r>
              <a:rPr lang="ru-RU" sz="1800" dirty="0"/>
              <a:t> дизайна на диска </a:t>
            </a:r>
            <a:r>
              <a:rPr lang="ru-RU" sz="1800" dirty="0" err="1"/>
              <a:t>доста</a:t>
            </a:r>
            <a:r>
              <a:rPr lang="ru-RU" sz="1800" dirty="0"/>
              <a:t> старомоден и неудобен. </a:t>
            </a:r>
            <a:r>
              <a:rPr lang="ru-RU" sz="1800" dirty="0" err="1"/>
              <a:t>Ето</a:t>
            </a:r>
            <a:r>
              <a:rPr lang="ru-RU" sz="1800" dirty="0"/>
              <a:t> </a:t>
            </a:r>
            <a:r>
              <a:rPr lang="ru-RU" sz="1800" dirty="0" err="1"/>
              <a:t>защо</a:t>
            </a:r>
            <a:r>
              <a:rPr lang="ru-RU" sz="1800" dirty="0"/>
              <a:t> </a:t>
            </a:r>
            <a:r>
              <a:rPr lang="ru-RU" sz="1800" dirty="0" err="1"/>
              <a:t>Blu-ray</a:t>
            </a:r>
            <a:r>
              <a:rPr lang="ru-RU" sz="1800" dirty="0"/>
              <a:t> </a:t>
            </a:r>
            <a:r>
              <a:rPr lang="ru-RU" sz="1800" dirty="0" err="1"/>
              <a:t>консорциумът</a:t>
            </a:r>
            <a:r>
              <a:rPr lang="ru-RU" sz="1800" dirty="0"/>
              <a:t> </a:t>
            </a:r>
            <a:r>
              <a:rPr lang="ru-RU" sz="1800" dirty="0" err="1"/>
              <a:t>разработи</a:t>
            </a:r>
            <a:r>
              <a:rPr lang="ru-RU" sz="1800" dirty="0"/>
              <a:t> </a:t>
            </a:r>
            <a:r>
              <a:rPr lang="ru-RU" sz="1800" dirty="0" err="1"/>
              <a:t>специален</a:t>
            </a:r>
            <a:r>
              <a:rPr lang="ru-RU" sz="1800" dirty="0"/>
              <a:t> </a:t>
            </a:r>
            <a:r>
              <a:rPr lang="ru-RU" sz="1800" dirty="0" err="1"/>
              <a:t>покривен</a:t>
            </a:r>
            <a:r>
              <a:rPr lang="ru-RU" sz="1800" dirty="0"/>
              <a:t> слой, </a:t>
            </a:r>
            <a:r>
              <a:rPr lang="ru-RU" sz="1800" dirty="0" err="1"/>
              <a:t>който</a:t>
            </a:r>
            <a:r>
              <a:rPr lang="ru-RU" sz="1800" dirty="0"/>
              <a:t> се </a:t>
            </a:r>
            <a:r>
              <a:rPr lang="ru-RU" sz="1800" dirty="0" err="1"/>
              <a:t>нанася</a:t>
            </a:r>
            <a:r>
              <a:rPr lang="ru-RU" sz="1800" dirty="0"/>
              <a:t> </a:t>
            </a:r>
            <a:r>
              <a:rPr lang="ru-RU" sz="1800" dirty="0" err="1"/>
              <a:t>върху</a:t>
            </a:r>
            <a:r>
              <a:rPr lang="ru-RU" sz="1800" dirty="0"/>
              <a:t> носителя и </a:t>
            </a:r>
            <a:r>
              <a:rPr lang="ru-RU" sz="1800" dirty="0" err="1"/>
              <a:t>предпазва</a:t>
            </a:r>
            <a:r>
              <a:rPr lang="ru-RU" sz="1800" dirty="0"/>
              <a:t> </a:t>
            </a:r>
            <a:r>
              <a:rPr lang="ru-RU" sz="1800" dirty="0" err="1"/>
              <a:t>защитния</a:t>
            </a:r>
            <a:r>
              <a:rPr lang="ru-RU" sz="1800" dirty="0"/>
              <a:t>, а </a:t>
            </a:r>
            <a:r>
              <a:rPr lang="ru-RU" sz="1800" dirty="0" err="1"/>
              <a:t>също</a:t>
            </a:r>
            <a:r>
              <a:rPr lang="ru-RU" sz="1800" dirty="0"/>
              <a:t> и </a:t>
            </a:r>
            <a:r>
              <a:rPr lang="ru-RU" sz="1800" dirty="0" err="1"/>
              <a:t>информационния</a:t>
            </a:r>
            <a:r>
              <a:rPr lang="ru-RU" sz="1800" dirty="0"/>
              <a:t> слой от </a:t>
            </a:r>
            <a:r>
              <a:rPr lang="ru-RU" sz="1800" dirty="0" err="1"/>
              <a:t>надраскване</a:t>
            </a:r>
            <a:r>
              <a:rPr lang="ru-RU" sz="1800" dirty="0"/>
              <a:t>. </a:t>
            </a:r>
            <a:r>
              <a:rPr lang="ru-RU" sz="1800" dirty="0" err="1"/>
              <a:t>Така</a:t>
            </a:r>
            <a:r>
              <a:rPr lang="ru-RU" sz="1800" dirty="0"/>
              <a:t> BD </a:t>
            </a:r>
            <a:r>
              <a:rPr lang="ru-RU" sz="1800" dirty="0" err="1"/>
              <a:t>носителите</a:t>
            </a:r>
            <a:r>
              <a:rPr lang="ru-RU" sz="1800" dirty="0"/>
              <a:t> </a:t>
            </a:r>
            <a:r>
              <a:rPr lang="ru-RU" sz="1800" dirty="0" err="1"/>
              <a:t>стават</a:t>
            </a:r>
            <a:r>
              <a:rPr lang="ru-RU" sz="1800" dirty="0"/>
              <a:t> много </a:t>
            </a:r>
            <a:r>
              <a:rPr lang="ru-RU" sz="1800" dirty="0" err="1"/>
              <a:t>по-стабилни</a:t>
            </a:r>
            <a:r>
              <a:rPr lang="ru-RU" sz="1800" dirty="0"/>
              <a:t> и </a:t>
            </a:r>
            <a:r>
              <a:rPr lang="ru-RU" sz="1800" dirty="0" err="1"/>
              <a:t>защитени</a:t>
            </a:r>
            <a:r>
              <a:rPr lang="ru-RU" sz="1800" dirty="0"/>
              <a:t> от </a:t>
            </a:r>
            <a:r>
              <a:rPr lang="ru-RU" sz="1800" dirty="0" err="1"/>
              <a:t>външни</a:t>
            </a:r>
            <a:r>
              <a:rPr lang="ru-RU" sz="1800" dirty="0"/>
              <a:t> влияния, а </a:t>
            </a:r>
            <a:r>
              <a:rPr lang="ru-RU" sz="1800" dirty="0" err="1"/>
              <a:t>освен</a:t>
            </a:r>
            <a:r>
              <a:rPr lang="ru-RU" sz="1800" dirty="0"/>
              <a:t> </a:t>
            </a:r>
            <a:r>
              <a:rPr lang="ru-RU" sz="1800" dirty="0" err="1"/>
              <a:t>това</a:t>
            </a:r>
            <a:r>
              <a:rPr lang="ru-RU" sz="1800" dirty="0"/>
              <a:t> се </a:t>
            </a:r>
            <a:r>
              <a:rPr lang="ru-RU" sz="1800" dirty="0" err="1"/>
              <a:t>увеличава</a:t>
            </a:r>
            <a:r>
              <a:rPr lang="ru-RU" sz="1800" dirty="0"/>
              <a:t> </a:t>
            </a:r>
            <a:r>
              <a:rPr lang="ru-RU" sz="1800" dirty="0" err="1"/>
              <a:t>времето</a:t>
            </a:r>
            <a:r>
              <a:rPr lang="ru-RU" sz="1800" dirty="0"/>
              <a:t> за </a:t>
            </a:r>
            <a:r>
              <a:rPr lang="ru-RU" sz="1800" dirty="0" err="1"/>
              <a:t>съхранение</a:t>
            </a:r>
            <a:r>
              <a:rPr lang="ru-RU" sz="1800" dirty="0"/>
              <a:t> на </a:t>
            </a:r>
            <a:r>
              <a:rPr lang="ru-RU" sz="1800" dirty="0" err="1"/>
              <a:t>информацията</a:t>
            </a:r>
            <a:r>
              <a:rPr lang="ru-RU" sz="1800" dirty="0"/>
              <a:t>.</a:t>
            </a:r>
          </a:p>
          <a:p>
            <a:endParaRPr lang="bg-BG" dirty="0"/>
          </a:p>
        </p:txBody>
      </p:sp>
      <p:sp>
        <p:nvSpPr>
          <p:cNvPr id="4" name="Заглавие 3">
            <a:extLst>
              <a:ext uri="{FF2B5EF4-FFF2-40B4-BE49-F238E27FC236}">
                <a16:creationId xmlns:a16="http://schemas.microsoft.com/office/drawing/2014/main" xmlns="" id="{9ADF89C9-DDC5-4FAA-8761-76EC7E9D0446}"/>
              </a:ext>
            </a:extLst>
          </p:cNvPr>
          <p:cNvSpPr>
            <a:spLocks noGrp="1"/>
          </p:cNvSpPr>
          <p:nvPr>
            <p:ph type="title"/>
          </p:nvPr>
        </p:nvSpPr>
        <p:spPr/>
        <p:txBody>
          <a:bodyPr>
            <a:noAutofit/>
          </a:bodyPr>
          <a:lstStyle/>
          <a:p>
            <a:r>
              <a:rPr lang="en-US" sz="4800" dirty="0" err="1"/>
              <a:t>blueray</a:t>
            </a:r>
            <a:endParaRPr lang="bg-BG" sz="4800" dirty="0"/>
          </a:p>
        </p:txBody>
      </p:sp>
    </p:spTree>
    <p:extLst>
      <p:ext uri="{BB962C8B-B14F-4D97-AF65-F5344CB8AC3E}">
        <p14:creationId xmlns:p14="http://schemas.microsoft.com/office/powerpoint/2010/main" val="1579859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ово поле 1">
            <a:extLst>
              <a:ext uri="{FF2B5EF4-FFF2-40B4-BE49-F238E27FC236}">
                <a16:creationId xmlns:a16="http://schemas.microsoft.com/office/drawing/2014/main" xmlns="" id="{247B84EC-D291-431A-B57D-FE2706495ECF}"/>
              </a:ext>
            </a:extLst>
          </p:cNvPr>
          <p:cNvSpPr txBox="1"/>
          <p:nvPr/>
        </p:nvSpPr>
        <p:spPr>
          <a:xfrm>
            <a:off x="395536" y="1412776"/>
            <a:ext cx="8496944" cy="3139321"/>
          </a:xfrm>
          <a:prstGeom prst="rect">
            <a:avLst/>
          </a:prstGeom>
          <a:noFill/>
        </p:spPr>
        <p:txBody>
          <a:bodyPr wrap="square" rtlCol="0">
            <a:spAutoFit/>
          </a:bodyPr>
          <a:lstStyle/>
          <a:p>
            <a:pPr algn="just"/>
            <a:r>
              <a:rPr lang="ru-RU" dirty="0"/>
              <a:t>а </a:t>
            </a:r>
            <a:r>
              <a:rPr lang="ru-RU" dirty="0" err="1"/>
              <a:t>Blu-ray</a:t>
            </a:r>
            <a:r>
              <a:rPr lang="ru-RU" dirty="0"/>
              <a:t> носители </a:t>
            </a:r>
            <a:r>
              <a:rPr lang="ru-RU" dirty="0" err="1"/>
              <a:t>може</a:t>
            </a:r>
            <a:r>
              <a:rPr lang="ru-RU" dirty="0"/>
              <a:t> да се </a:t>
            </a:r>
            <a:r>
              <a:rPr lang="ru-RU" dirty="0" err="1"/>
              <a:t>запише</a:t>
            </a:r>
            <a:r>
              <a:rPr lang="ru-RU" dirty="0"/>
              <a:t> до 15 часа видео с </a:t>
            </a:r>
            <a:r>
              <a:rPr lang="ru-RU" dirty="0" err="1"/>
              <a:t>висока</a:t>
            </a:r>
            <a:r>
              <a:rPr lang="ru-RU" dirty="0"/>
              <a:t> </a:t>
            </a:r>
            <a:r>
              <a:rPr lang="ru-RU" dirty="0" err="1"/>
              <a:t>разделителна</a:t>
            </a:r>
            <a:r>
              <a:rPr lang="ru-RU" dirty="0"/>
              <a:t> </a:t>
            </a:r>
            <a:r>
              <a:rPr lang="ru-RU" dirty="0" err="1"/>
              <a:t>способност</a:t>
            </a:r>
            <a:r>
              <a:rPr lang="ru-RU" dirty="0"/>
              <a:t> или до 23 – 25 часа </a:t>
            </a:r>
            <a:r>
              <a:rPr lang="ru-RU" dirty="0" err="1"/>
              <a:t>със</a:t>
            </a:r>
            <a:r>
              <a:rPr lang="ru-RU" dirty="0"/>
              <a:t> стандартна. </a:t>
            </a:r>
            <a:r>
              <a:rPr lang="ru-RU" dirty="0" err="1"/>
              <a:t>Тези</a:t>
            </a:r>
            <a:r>
              <a:rPr lang="ru-RU" dirty="0"/>
              <a:t> </a:t>
            </a:r>
            <a:r>
              <a:rPr lang="ru-RU" dirty="0" err="1"/>
              <a:t>обеми</a:t>
            </a:r>
            <a:r>
              <a:rPr lang="ru-RU" dirty="0"/>
              <a:t> </a:t>
            </a:r>
            <a:r>
              <a:rPr lang="ru-RU" dirty="0" err="1"/>
              <a:t>са</a:t>
            </a:r>
            <a:r>
              <a:rPr lang="ru-RU" dirty="0"/>
              <a:t> </a:t>
            </a:r>
            <a:r>
              <a:rPr lang="ru-RU" dirty="0" err="1"/>
              <a:t>непосилни</a:t>
            </a:r>
            <a:r>
              <a:rPr lang="ru-RU" dirty="0"/>
              <a:t> за DVD </a:t>
            </a:r>
            <a:r>
              <a:rPr lang="ru-RU" dirty="0" err="1"/>
              <a:t>носителите</a:t>
            </a:r>
            <a:r>
              <a:rPr lang="ru-RU" dirty="0"/>
              <a:t>, </a:t>
            </a:r>
            <a:r>
              <a:rPr lang="ru-RU" dirty="0" err="1"/>
              <a:t>най</a:t>
            </a:r>
            <a:r>
              <a:rPr lang="ru-RU" dirty="0"/>
              <a:t>-вече </a:t>
            </a:r>
            <a:r>
              <a:rPr lang="ru-RU" dirty="0" err="1"/>
              <a:t>когато</a:t>
            </a:r>
            <a:r>
              <a:rPr lang="ru-RU" dirty="0"/>
              <a:t> става </a:t>
            </a:r>
            <a:r>
              <a:rPr lang="ru-RU" dirty="0" err="1"/>
              <a:t>въпрос</a:t>
            </a:r>
            <a:r>
              <a:rPr lang="ru-RU" dirty="0"/>
              <a:t> за </a:t>
            </a:r>
            <a:r>
              <a:rPr lang="ru-RU" dirty="0" err="1"/>
              <a:t>особено</a:t>
            </a:r>
            <a:r>
              <a:rPr lang="ru-RU" dirty="0"/>
              <a:t> </a:t>
            </a:r>
            <a:r>
              <a:rPr lang="ru-RU" dirty="0" err="1"/>
              <a:t>големи</a:t>
            </a:r>
            <a:r>
              <a:rPr lang="ru-RU" dirty="0"/>
              <a:t> </a:t>
            </a:r>
            <a:r>
              <a:rPr lang="ru-RU" dirty="0" err="1"/>
              <a:t>разширения</a:t>
            </a:r>
            <a:r>
              <a:rPr lang="ru-RU" dirty="0"/>
              <a:t> (</a:t>
            </a:r>
            <a:r>
              <a:rPr lang="ru-RU" dirty="0" err="1"/>
              <a:t>повече</a:t>
            </a:r>
            <a:r>
              <a:rPr lang="ru-RU" dirty="0"/>
              <a:t> от 10-20-часова видео информация) на </a:t>
            </a:r>
            <a:r>
              <a:rPr lang="ru-RU" dirty="0" err="1"/>
              <a:t>филмовия</a:t>
            </a:r>
            <a:r>
              <a:rPr lang="ru-RU" dirty="0"/>
              <a:t> материал: бонус </a:t>
            </a:r>
            <a:r>
              <a:rPr lang="ru-RU" dirty="0" err="1"/>
              <a:t>сцени</a:t>
            </a:r>
            <a:r>
              <a:rPr lang="ru-RU" dirty="0"/>
              <a:t> и </a:t>
            </a:r>
            <a:r>
              <a:rPr lang="ru-RU" dirty="0" err="1"/>
              <a:t>материали</a:t>
            </a:r>
            <a:r>
              <a:rPr lang="ru-RU" dirty="0"/>
              <a:t>, </a:t>
            </a:r>
            <a:r>
              <a:rPr lang="ru-RU" dirty="0" err="1"/>
              <a:t>съпътстващи</a:t>
            </a:r>
            <a:r>
              <a:rPr lang="ru-RU" dirty="0"/>
              <a:t> </a:t>
            </a:r>
            <a:r>
              <a:rPr lang="ru-RU" dirty="0" err="1"/>
              <a:t>филмовото</a:t>
            </a:r>
            <a:r>
              <a:rPr lang="ru-RU" dirty="0"/>
              <a:t> заглавие, </a:t>
            </a:r>
            <a:r>
              <a:rPr lang="ru-RU" dirty="0" err="1"/>
              <a:t>докато</a:t>
            </a:r>
            <a:r>
              <a:rPr lang="ru-RU" dirty="0"/>
              <a:t> </a:t>
            </a:r>
            <a:r>
              <a:rPr lang="ru-RU" dirty="0" err="1"/>
              <a:t>допълнителни</a:t>
            </a:r>
            <a:r>
              <a:rPr lang="ru-RU" dirty="0"/>
              <a:t> </a:t>
            </a:r>
            <a:r>
              <a:rPr lang="ru-RU" dirty="0" err="1"/>
              <a:t>субтитри</a:t>
            </a:r>
            <a:r>
              <a:rPr lang="ru-RU" dirty="0"/>
              <a:t> и аудио </a:t>
            </a:r>
            <a:r>
              <a:rPr lang="ru-RU" dirty="0" err="1"/>
              <a:t>дублаж</a:t>
            </a:r>
            <a:r>
              <a:rPr lang="ru-RU" dirty="0"/>
              <a:t> на </a:t>
            </a:r>
            <a:r>
              <a:rPr lang="ru-RU" dirty="0" err="1"/>
              <a:t>различни</a:t>
            </a:r>
            <a:r>
              <a:rPr lang="ru-RU" dirty="0"/>
              <a:t> </a:t>
            </a:r>
            <a:r>
              <a:rPr lang="ru-RU" dirty="0" err="1"/>
              <a:t>езици</a:t>
            </a:r>
            <a:r>
              <a:rPr lang="ru-RU" dirty="0"/>
              <a:t> не </a:t>
            </a:r>
            <a:r>
              <a:rPr lang="ru-RU" dirty="0" err="1"/>
              <a:t>са</a:t>
            </a:r>
            <a:r>
              <a:rPr lang="ru-RU" dirty="0"/>
              <a:t> проблем (</a:t>
            </a:r>
            <a:r>
              <a:rPr lang="ru-RU" dirty="0" err="1"/>
              <a:t>виж</a:t>
            </a:r>
            <a:r>
              <a:rPr lang="ru-RU" dirty="0"/>
              <a:t> DVD-</a:t>
            </a:r>
            <a:r>
              <a:rPr lang="ru-RU" dirty="0" err="1"/>
              <a:t>Video</a:t>
            </a:r>
            <a:r>
              <a:rPr lang="ru-RU" dirty="0"/>
              <a:t>), те </a:t>
            </a:r>
            <a:r>
              <a:rPr lang="ru-RU" dirty="0" err="1"/>
              <a:t>заемат</a:t>
            </a:r>
            <a:r>
              <a:rPr lang="ru-RU" dirty="0"/>
              <a:t> </a:t>
            </a:r>
            <a:r>
              <a:rPr lang="ru-RU" dirty="0" err="1"/>
              <a:t>значително</a:t>
            </a:r>
            <a:r>
              <a:rPr lang="ru-RU" dirty="0"/>
              <a:t> </a:t>
            </a:r>
            <a:r>
              <a:rPr lang="ru-RU" dirty="0" err="1"/>
              <a:t>по-малко</a:t>
            </a:r>
            <a:r>
              <a:rPr lang="ru-RU" dirty="0"/>
              <a:t> </a:t>
            </a:r>
            <a:r>
              <a:rPr lang="ru-RU" dirty="0" err="1"/>
              <a:t>място</a:t>
            </a:r>
            <a:r>
              <a:rPr lang="ru-RU" dirty="0"/>
              <a:t>. </a:t>
            </a:r>
            <a:r>
              <a:rPr lang="ru-RU" dirty="0" err="1"/>
              <a:t>Една</a:t>
            </a:r>
            <a:r>
              <a:rPr lang="ru-RU" dirty="0"/>
              <a:t> от причините за </a:t>
            </a:r>
            <a:r>
              <a:rPr lang="ru-RU" dirty="0" err="1"/>
              <a:t>създаването</a:t>
            </a:r>
            <a:r>
              <a:rPr lang="ru-RU" dirty="0"/>
              <a:t> на формата BD e </a:t>
            </a:r>
            <a:r>
              <a:rPr lang="ru-RU" dirty="0" err="1"/>
              <a:t>по-голямата</a:t>
            </a:r>
            <a:r>
              <a:rPr lang="ru-RU" dirty="0"/>
              <a:t> </a:t>
            </a:r>
            <a:r>
              <a:rPr lang="ru-RU" dirty="0" err="1"/>
              <a:t>интерактивност</a:t>
            </a:r>
            <a:r>
              <a:rPr lang="ru-RU" dirty="0"/>
              <a:t> и </a:t>
            </a:r>
            <a:r>
              <a:rPr lang="ru-RU" dirty="0" err="1"/>
              <a:t>мултимедийност</a:t>
            </a:r>
            <a:r>
              <a:rPr lang="ru-RU" dirty="0"/>
              <a:t> за </a:t>
            </a:r>
            <a:r>
              <a:rPr lang="ru-RU" dirty="0" err="1"/>
              <a:t>крайния</a:t>
            </a:r>
            <a:r>
              <a:rPr lang="ru-RU" dirty="0"/>
              <a:t> </a:t>
            </a:r>
            <a:r>
              <a:rPr lang="ru-RU" dirty="0" err="1"/>
              <a:t>потребител</a:t>
            </a:r>
            <a:r>
              <a:rPr lang="ru-RU" dirty="0"/>
              <a:t>. Друга </a:t>
            </a:r>
            <a:r>
              <a:rPr lang="ru-RU" dirty="0" err="1"/>
              <a:t>като</a:t>
            </a:r>
            <a:r>
              <a:rPr lang="ru-RU" dirty="0"/>
              <a:t> че ли </a:t>
            </a:r>
            <a:r>
              <a:rPr lang="ru-RU" dirty="0" err="1"/>
              <a:t>по-важна</a:t>
            </a:r>
            <a:r>
              <a:rPr lang="ru-RU" dirty="0"/>
              <a:t> причина е </a:t>
            </a:r>
            <a:r>
              <a:rPr lang="ru-RU" dirty="0" err="1"/>
              <a:t>необходимостта</a:t>
            </a:r>
            <a:r>
              <a:rPr lang="ru-RU" dirty="0"/>
              <a:t> от </a:t>
            </a:r>
            <a:r>
              <a:rPr lang="ru-RU" dirty="0" err="1"/>
              <a:t>съхранение</a:t>
            </a:r>
            <a:r>
              <a:rPr lang="ru-RU" dirty="0"/>
              <a:t> на </a:t>
            </a:r>
            <a:r>
              <a:rPr lang="ru-RU" dirty="0" err="1"/>
              <a:t>телевизионни</a:t>
            </a:r>
            <a:r>
              <a:rPr lang="ru-RU" dirty="0"/>
              <a:t> </a:t>
            </a:r>
            <a:r>
              <a:rPr lang="ru-RU" dirty="0" err="1"/>
              <a:t>програми</a:t>
            </a:r>
            <a:r>
              <a:rPr lang="ru-RU" dirty="0"/>
              <a:t> с </a:t>
            </a:r>
            <a:r>
              <a:rPr lang="ru-RU" dirty="0" err="1"/>
              <a:t>висока</a:t>
            </a:r>
            <a:r>
              <a:rPr lang="ru-RU" dirty="0"/>
              <a:t> </a:t>
            </a:r>
            <a:r>
              <a:rPr lang="ru-RU" dirty="0" err="1"/>
              <a:t>разделителна</a:t>
            </a:r>
            <a:r>
              <a:rPr lang="ru-RU" dirty="0"/>
              <a:t> </a:t>
            </a:r>
            <a:r>
              <a:rPr lang="ru-RU" dirty="0" err="1"/>
              <a:t>способност</a:t>
            </a:r>
            <a:r>
              <a:rPr lang="ru-RU" dirty="0"/>
              <a:t> (HDTV).</a:t>
            </a:r>
            <a:endParaRPr lang="bg-BG" dirty="0"/>
          </a:p>
        </p:txBody>
      </p:sp>
    </p:spTree>
    <p:extLst>
      <p:ext uri="{BB962C8B-B14F-4D97-AF65-F5344CB8AC3E}">
        <p14:creationId xmlns:p14="http://schemas.microsoft.com/office/powerpoint/2010/main" val="35539378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Картина 2">
            <a:extLst>
              <a:ext uri="{FF2B5EF4-FFF2-40B4-BE49-F238E27FC236}">
                <a16:creationId xmlns:a16="http://schemas.microsoft.com/office/drawing/2014/main" xmlns="" id="{F2CDD2C6-AE7E-4D39-A8A8-00C2F6CA15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83968" y="9128"/>
            <a:ext cx="5004048" cy="2684463"/>
          </a:xfrm>
          <a:prstGeom prst="rect">
            <a:avLst/>
          </a:prstGeom>
        </p:spPr>
      </p:pic>
      <p:pic>
        <p:nvPicPr>
          <p:cNvPr id="5" name="Картина 4">
            <a:extLst>
              <a:ext uri="{FF2B5EF4-FFF2-40B4-BE49-F238E27FC236}">
                <a16:creationId xmlns:a16="http://schemas.microsoft.com/office/drawing/2014/main" xmlns="" id="{71C2005D-78C8-4AA1-9311-C21AB225AC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560" y="188640"/>
            <a:ext cx="3240360" cy="3240360"/>
          </a:xfrm>
          <a:prstGeom prst="rect">
            <a:avLst/>
          </a:prstGeom>
        </p:spPr>
      </p:pic>
      <p:pic>
        <p:nvPicPr>
          <p:cNvPr id="7" name="Картина 6">
            <a:extLst>
              <a:ext uri="{FF2B5EF4-FFF2-40B4-BE49-F238E27FC236}">
                <a16:creationId xmlns:a16="http://schemas.microsoft.com/office/drawing/2014/main" xmlns="" id="{A1D6F020-7414-4B41-95DD-13253AF7CE1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65920" y="3789040"/>
            <a:ext cx="6012160" cy="2619047"/>
          </a:xfrm>
          <a:prstGeom prst="rect">
            <a:avLst/>
          </a:prstGeom>
        </p:spPr>
      </p:pic>
    </p:spTree>
    <p:extLst>
      <p:ext uri="{BB962C8B-B14F-4D97-AF65-F5344CB8AC3E}">
        <p14:creationId xmlns:p14="http://schemas.microsoft.com/office/powerpoint/2010/main" val="13175025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Контейнер за съдържание 1">
            <a:extLst>
              <a:ext uri="{FF2B5EF4-FFF2-40B4-BE49-F238E27FC236}">
                <a16:creationId xmlns:a16="http://schemas.microsoft.com/office/drawing/2014/main" xmlns="" id="{EEF4BF58-5313-486D-B81A-9DA33AFB814A}"/>
              </a:ext>
            </a:extLst>
          </p:cNvPr>
          <p:cNvSpPr>
            <a:spLocks noGrp="1"/>
          </p:cNvSpPr>
          <p:nvPr>
            <p:ph sz="quarter" idx="13"/>
          </p:nvPr>
        </p:nvSpPr>
        <p:spPr>
          <a:xfrm>
            <a:off x="179512" y="1772816"/>
            <a:ext cx="8568951" cy="4824536"/>
          </a:xfrm>
        </p:spPr>
        <p:txBody>
          <a:bodyPr/>
          <a:lstStyle/>
          <a:p>
            <a:pPr algn="just" fontAlgn="base"/>
            <a:r>
              <a:rPr lang="ru-RU" sz="1800" dirty="0"/>
              <a:t>                                           </a:t>
            </a:r>
            <a:r>
              <a:rPr lang="ru-RU" sz="1800" dirty="0" err="1"/>
              <a:t>Предимства</a:t>
            </a:r>
            <a:r>
              <a:rPr lang="ru-RU" sz="1800" dirty="0"/>
              <a:t> на ЗУОД</a:t>
            </a:r>
          </a:p>
          <a:p>
            <a:pPr algn="just" fontAlgn="base"/>
            <a:r>
              <a:rPr lang="ru-RU" sz="1800" dirty="0" err="1"/>
              <a:t>Информационна</a:t>
            </a:r>
            <a:r>
              <a:rPr lang="ru-RU" sz="1800" dirty="0"/>
              <a:t> </a:t>
            </a:r>
            <a:r>
              <a:rPr lang="ru-RU" sz="1800" dirty="0" err="1"/>
              <a:t>плътност</a:t>
            </a:r>
            <a:r>
              <a:rPr lang="ru-RU" sz="1800" dirty="0"/>
              <a:t>, </a:t>
            </a:r>
            <a:r>
              <a:rPr lang="ru-RU" sz="1800" dirty="0" err="1"/>
              <a:t>еднаква</a:t>
            </a:r>
            <a:r>
              <a:rPr lang="ru-RU" sz="1800" dirty="0"/>
              <a:t> в </a:t>
            </a:r>
            <a:r>
              <a:rPr lang="ru-RU" sz="1800" dirty="0" err="1"/>
              <a:t>напречно</a:t>
            </a:r>
            <a:r>
              <a:rPr lang="ru-RU" sz="1800" dirty="0"/>
              <a:t> и </a:t>
            </a:r>
            <a:r>
              <a:rPr lang="ru-RU" sz="1800" dirty="0" err="1"/>
              <a:t>надлъжно</a:t>
            </a:r>
            <a:r>
              <a:rPr lang="ru-RU" sz="1800" dirty="0"/>
              <a:t> направление, </a:t>
            </a:r>
            <a:r>
              <a:rPr lang="ru-RU" sz="1800" dirty="0" err="1"/>
              <a:t>превишава</a:t>
            </a:r>
            <a:r>
              <a:rPr lang="ru-RU" sz="1800" dirty="0"/>
              <a:t> на </a:t>
            </a:r>
            <a:r>
              <a:rPr lang="ru-RU" sz="1800" dirty="0" err="1"/>
              <a:t>порядък</a:t>
            </a:r>
            <a:r>
              <a:rPr lang="ru-RU" sz="1800" dirty="0"/>
              <a:t> </a:t>
            </a:r>
            <a:r>
              <a:rPr lang="ru-RU" sz="1800" dirty="0" err="1"/>
              <a:t>плътността</a:t>
            </a:r>
            <a:r>
              <a:rPr lang="ru-RU" sz="1800" dirty="0"/>
              <a:t> на </a:t>
            </a:r>
            <a:r>
              <a:rPr lang="ru-RU" sz="1800" dirty="0" err="1"/>
              <a:t>магнитния</a:t>
            </a:r>
            <a:r>
              <a:rPr lang="ru-RU" sz="1800" dirty="0"/>
              <a:t> </a:t>
            </a:r>
            <a:r>
              <a:rPr lang="ru-RU" sz="1800" dirty="0" err="1"/>
              <a:t>запис</a:t>
            </a:r>
            <a:r>
              <a:rPr lang="ru-RU" sz="1800" dirty="0"/>
              <a:t>, </a:t>
            </a:r>
            <a:r>
              <a:rPr lang="ru-RU" sz="1800" dirty="0" err="1"/>
              <a:t>защото</a:t>
            </a:r>
            <a:r>
              <a:rPr lang="ru-RU" sz="1800" dirty="0"/>
              <a:t> при ЗУОД </a:t>
            </a:r>
            <a:r>
              <a:rPr lang="ru-RU" sz="1800" dirty="0" err="1"/>
              <a:t>информационния</a:t>
            </a:r>
            <a:r>
              <a:rPr lang="ru-RU" sz="1800" dirty="0"/>
              <a:t> маркер само </a:t>
            </a:r>
            <a:r>
              <a:rPr lang="ru-RU" sz="1800" dirty="0" err="1"/>
              <a:t>модулира</a:t>
            </a:r>
            <a:r>
              <a:rPr lang="ru-RU" sz="1800" dirty="0"/>
              <a:t> </a:t>
            </a:r>
            <a:r>
              <a:rPr lang="ru-RU" sz="1800" dirty="0" err="1"/>
              <a:t>отразения</a:t>
            </a:r>
            <a:r>
              <a:rPr lang="ru-RU" sz="1800" dirty="0"/>
              <a:t> </a:t>
            </a:r>
            <a:r>
              <a:rPr lang="ru-RU" sz="1800" dirty="0" err="1"/>
              <a:t>лазерен</a:t>
            </a:r>
            <a:r>
              <a:rPr lang="ru-RU" sz="1800" dirty="0"/>
              <a:t> </a:t>
            </a:r>
            <a:r>
              <a:rPr lang="ru-RU" sz="1800" dirty="0" err="1"/>
              <a:t>лъч</a:t>
            </a:r>
            <a:r>
              <a:rPr lang="ru-RU" sz="1800" dirty="0"/>
              <a:t>, </a:t>
            </a:r>
            <a:r>
              <a:rPr lang="ru-RU" sz="1800" dirty="0" err="1"/>
              <a:t>докато</a:t>
            </a:r>
            <a:r>
              <a:rPr lang="ru-RU" sz="1800" dirty="0"/>
              <a:t> при ЗУМД </a:t>
            </a:r>
            <a:r>
              <a:rPr lang="ru-RU" sz="1800" dirty="0" err="1"/>
              <a:t>енергията</a:t>
            </a:r>
            <a:r>
              <a:rPr lang="ru-RU" sz="1800" dirty="0"/>
              <a:t> на </a:t>
            </a:r>
            <a:r>
              <a:rPr lang="ru-RU" sz="1800" dirty="0" err="1"/>
              <a:t>прочетения</a:t>
            </a:r>
            <a:r>
              <a:rPr lang="ru-RU" sz="1800" dirty="0"/>
              <a:t> сигнал се </a:t>
            </a:r>
            <a:r>
              <a:rPr lang="ru-RU" sz="1800" dirty="0" err="1"/>
              <a:t>извлича</a:t>
            </a:r>
            <a:r>
              <a:rPr lang="ru-RU" sz="1800" dirty="0"/>
              <a:t> от </a:t>
            </a:r>
            <a:r>
              <a:rPr lang="ru-RU" sz="1800" dirty="0" err="1"/>
              <a:t>магнитния</a:t>
            </a:r>
            <a:r>
              <a:rPr lang="ru-RU" sz="1800" dirty="0"/>
              <a:t> </a:t>
            </a:r>
            <a:r>
              <a:rPr lang="ru-RU" sz="1800" dirty="0" err="1"/>
              <a:t>носител</a:t>
            </a:r>
            <a:r>
              <a:rPr lang="ru-RU" sz="1800" dirty="0"/>
              <a:t>(необходима е </a:t>
            </a:r>
            <a:r>
              <a:rPr lang="ru-RU" sz="1800" dirty="0" err="1"/>
              <a:t>по-широка</a:t>
            </a:r>
            <a:r>
              <a:rPr lang="ru-RU" sz="1800" dirty="0"/>
              <a:t> </a:t>
            </a:r>
            <a:r>
              <a:rPr lang="ru-RU" sz="1800" dirty="0" err="1"/>
              <a:t>информационна</a:t>
            </a:r>
            <a:r>
              <a:rPr lang="ru-RU" sz="1800" dirty="0"/>
              <a:t> </a:t>
            </a:r>
            <a:r>
              <a:rPr lang="ru-RU" sz="1800" dirty="0" err="1"/>
              <a:t>пътечка</a:t>
            </a:r>
            <a:r>
              <a:rPr lang="ru-RU" sz="1800" dirty="0"/>
              <a:t>).</a:t>
            </a:r>
          </a:p>
          <a:p>
            <a:pPr algn="just" fontAlgn="base"/>
            <a:r>
              <a:rPr lang="ru-RU" sz="1800" dirty="0" err="1"/>
              <a:t>Бърз</a:t>
            </a:r>
            <a:r>
              <a:rPr lang="ru-RU" sz="1800" dirty="0"/>
              <a:t> </a:t>
            </a:r>
            <a:r>
              <a:rPr lang="ru-RU" sz="1800" dirty="0" err="1"/>
              <a:t>достъп</a:t>
            </a:r>
            <a:r>
              <a:rPr lang="ru-RU" sz="1800" dirty="0"/>
              <a:t> – </a:t>
            </a:r>
            <a:r>
              <a:rPr lang="ru-RU" sz="1800" dirty="0" err="1"/>
              <a:t>четящия</a:t>
            </a:r>
            <a:r>
              <a:rPr lang="ru-RU" sz="1800" dirty="0"/>
              <a:t> </a:t>
            </a:r>
            <a:r>
              <a:rPr lang="ru-RU" sz="1800" dirty="0" err="1"/>
              <a:t>лъч</a:t>
            </a:r>
            <a:r>
              <a:rPr lang="ru-RU" sz="1800" dirty="0"/>
              <a:t> е практически </a:t>
            </a:r>
            <a:r>
              <a:rPr lang="ru-RU" sz="1800" dirty="0" err="1"/>
              <a:t>безинерционен</a:t>
            </a:r>
            <a:r>
              <a:rPr lang="ru-RU" sz="1800" dirty="0"/>
              <a:t>, </a:t>
            </a:r>
            <a:r>
              <a:rPr lang="ru-RU" sz="1800" dirty="0" err="1"/>
              <a:t>времето</a:t>
            </a:r>
            <a:r>
              <a:rPr lang="ru-RU" sz="1800" dirty="0"/>
              <a:t> за </a:t>
            </a:r>
            <a:r>
              <a:rPr lang="ru-RU" sz="1800" dirty="0" err="1"/>
              <a:t>преход</a:t>
            </a:r>
            <a:r>
              <a:rPr lang="ru-RU" sz="1800" dirty="0"/>
              <a:t> </a:t>
            </a:r>
            <a:r>
              <a:rPr lang="ru-RU" sz="1800" dirty="0" err="1"/>
              <a:t>през</a:t>
            </a:r>
            <a:r>
              <a:rPr lang="ru-RU" sz="1800" dirty="0"/>
              <a:t> 50 </a:t>
            </a:r>
            <a:r>
              <a:rPr lang="ru-RU" sz="1800" dirty="0" err="1"/>
              <a:t>пътечки</a:t>
            </a:r>
            <a:r>
              <a:rPr lang="ru-RU" sz="1800" dirty="0"/>
              <a:t> е 1 до 5 </a:t>
            </a:r>
            <a:r>
              <a:rPr lang="ru-RU" sz="1800" dirty="0" err="1"/>
              <a:t>ms</a:t>
            </a:r>
            <a:r>
              <a:rPr lang="ru-RU" sz="1800" dirty="0"/>
              <a:t>.</a:t>
            </a:r>
          </a:p>
          <a:p>
            <a:pPr algn="just" fontAlgn="base"/>
            <a:r>
              <a:rPr lang="ru-RU" sz="1800" dirty="0" err="1"/>
              <a:t>Дълготрайност</a:t>
            </a:r>
            <a:r>
              <a:rPr lang="ru-RU" sz="1800" dirty="0"/>
              <a:t> на </a:t>
            </a:r>
            <a:r>
              <a:rPr lang="ru-RU" sz="1800" dirty="0" err="1"/>
              <a:t>информацията</a:t>
            </a:r>
            <a:r>
              <a:rPr lang="ru-RU" sz="1800" dirty="0"/>
              <a:t> – над 10 </a:t>
            </a:r>
            <a:r>
              <a:rPr lang="ru-RU" sz="1800" dirty="0" err="1"/>
              <a:t>години</a:t>
            </a:r>
            <a:r>
              <a:rPr lang="ru-RU" sz="1800" dirty="0"/>
              <a:t>.</a:t>
            </a:r>
          </a:p>
          <a:p>
            <a:pPr algn="just" fontAlgn="base"/>
            <a:r>
              <a:rPr lang="ru-RU" sz="1800" dirty="0" err="1"/>
              <a:t>Сменяемост</a:t>
            </a:r>
            <a:r>
              <a:rPr lang="ru-RU" sz="1800" dirty="0"/>
              <a:t> при </a:t>
            </a:r>
            <a:r>
              <a:rPr lang="ru-RU" sz="1800" dirty="0" err="1"/>
              <a:t>голям</a:t>
            </a:r>
            <a:r>
              <a:rPr lang="ru-RU" sz="1800" dirty="0"/>
              <a:t> </a:t>
            </a:r>
            <a:r>
              <a:rPr lang="ru-RU" sz="1800" dirty="0" err="1"/>
              <a:t>информационен</a:t>
            </a:r>
            <a:r>
              <a:rPr lang="ru-RU" sz="1800" dirty="0"/>
              <a:t> </a:t>
            </a:r>
            <a:r>
              <a:rPr lang="ru-RU" sz="1800" dirty="0" err="1"/>
              <a:t>обем</a:t>
            </a:r>
            <a:r>
              <a:rPr lang="ru-RU" sz="1800" dirty="0"/>
              <a:t> и </a:t>
            </a:r>
            <a:r>
              <a:rPr lang="ru-RU" sz="1800" dirty="0" err="1"/>
              <a:t>тиражиране</a:t>
            </a:r>
            <a:r>
              <a:rPr lang="ru-RU" sz="1800" dirty="0"/>
              <a:t>.</a:t>
            </a:r>
          </a:p>
          <a:p>
            <a:endParaRPr lang="bg-BG" dirty="0"/>
          </a:p>
        </p:txBody>
      </p:sp>
      <p:sp>
        <p:nvSpPr>
          <p:cNvPr id="4" name="Заглавие 3">
            <a:extLst>
              <a:ext uri="{FF2B5EF4-FFF2-40B4-BE49-F238E27FC236}">
                <a16:creationId xmlns:a16="http://schemas.microsoft.com/office/drawing/2014/main" xmlns="" id="{19EF5BC1-458A-4C5F-BCFC-137CE33C8018}"/>
              </a:ext>
            </a:extLst>
          </p:cNvPr>
          <p:cNvSpPr>
            <a:spLocks noGrp="1"/>
          </p:cNvSpPr>
          <p:nvPr>
            <p:ph type="title"/>
          </p:nvPr>
        </p:nvSpPr>
        <p:spPr/>
        <p:txBody>
          <a:bodyPr/>
          <a:lstStyle/>
          <a:p>
            <a:r>
              <a:rPr lang="bg-BG" dirty="0"/>
              <a:t>Съпоставка на </a:t>
            </a:r>
            <a:r>
              <a:rPr lang="bg-BG" dirty="0" err="1"/>
              <a:t>взу</a:t>
            </a:r>
            <a:endParaRPr lang="bg-BG" dirty="0"/>
          </a:p>
        </p:txBody>
      </p:sp>
    </p:spTree>
    <p:extLst>
      <p:ext uri="{BB962C8B-B14F-4D97-AF65-F5344CB8AC3E}">
        <p14:creationId xmlns:p14="http://schemas.microsoft.com/office/powerpoint/2010/main" val="7097422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ово поле 1">
            <a:extLst>
              <a:ext uri="{FF2B5EF4-FFF2-40B4-BE49-F238E27FC236}">
                <a16:creationId xmlns:a16="http://schemas.microsoft.com/office/drawing/2014/main" xmlns="" id="{82A21B59-01CC-4890-9C33-8DAC5831BAAC}"/>
              </a:ext>
            </a:extLst>
          </p:cNvPr>
          <p:cNvSpPr txBox="1"/>
          <p:nvPr/>
        </p:nvSpPr>
        <p:spPr>
          <a:xfrm>
            <a:off x="202226" y="18770"/>
            <a:ext cx="8941774" cy="6463308"/>
          </a:xfrm>
          <a:prstGeom prst="rect">
            <a:avLst/>
          </a:prstGeom>
          <a:noFill/>
        </p:spPr>
        <p:txBody>
          <a:bodyPr wrap="square" rtlCol="0">
            <a:spAutoFit/>
          </a:bodyPr>
          <a:lstStyle/>
          <a:p>
            <a:pPr algn="just"/>
            <a:r>
              <a:rPr lang="bg-BG" dirty="0"/>
              <a:t>                                                     Недостатъци на ЗУОД</a:t>
            </a:r>
          </a:p>
          <a:p>
            <a:pPr algn="just"/>
            <a:r>
              <a:rPr lang="ru-RU" dirty="0" err="1"/>
              <a:t>Необратимост</a:t>
            </a:r>
            <a:r>
              <a:rPr lang="ru-RU" dirty="0"/>
              <a:t> на </a:t>
            </a:r>
            <a:r>
              <a:rPr lang="ru-RU" dirty="0" err="1"/>
              <a:t>процесите</a:t>
            </a:r>
            <a:r>
              <a:rPr lang="ru-RU" dirty="0"/>
              <a:t> при </a:t>
            </a:r>
            <a:r>
              <a:rPr lang="ru-RU" dirty="0" err="1"/>
              <a:t>запис</a:t>
            </a:r>
            <a:r>
              <a:rPr lang="ru-RU" dirty="0"/>
              <a:t> в </a:t>
            </a:r>
            <a:r>
              <a:rPr lang="ru-RU" dirty="0" err="1"/>
              <a:t>повечето</a:t>
            </a:r>
            <a:r>
              <a:rPr lang="ru-RU" dirty="0"/>
              <a:t> </a:t>
            </a:r>
            <a:r>
              <a:rPr lang="ru-RU" dirty="0" err="1"/>
              <a:t>типове</a:t>
            </a:r>
            <a:r>
              <a:rPr lang="ru-RU" dirty="0"/>
              <a:t> </a:t>
            </a:r>
            <a:r>
              <a:rPr lang="ru-RU" dirty="0" err="1"/>
              <a:t>оптични</a:t>
            </a:r>
            <a:r>
              <a:rPr lang="ru-RU" dirty="0"/>
              <a:t> ЗУ;</a:t>
            </a:r>
          </a:p>
          <a:p>
            <a:pPr algn="just"/>
            <a:r>
              <a:rPr lang="ru-RU" dirty="0"/>
              <a:t>много </a:t>
            </a:r>
            <a:r>
              <a:rPr lang="ru-RU" dirty="0" err="1"/>
              <a:t>високи</a:t>
            </a:r>
            <a:r>
              <a:rPr lang="ru-RU" dirty="0"/>
              <a:t> </a:t>
            </a:r>
            <a:r>
              <a:rPr lang="ru-RU" dirty="0" err="1"/>
              <a:t>изисквания</a:t>
            </a:r>
            <a:r>
              <a:rPr lang="ru-RU" dirty="0"/>
              <a:t> </a:t>
            </a:r>
            <a:r>
              <a:rPr lang="ru-RU" dirty="0" err="1"/>
              <a:t>към</a:t>
            </a:r>
            <a:r>
              <a:rPr lang="ru-RU" dirty="0"/>
              <a:t> </a:t>
            </a:r>
            <a:r>
              <a:rPr lang="ru-RU" dirty="0" err="1"/>
              <a:t>качеството</a:t>
            </a:r>
            <a:r>
              <a:rPr lang="ru-RU" dirty="0"/>
              <a:t> на </a:t>
            </a:r>
            <a:r>
              <a:rPr lang="ru-RU" dirty="0" err="1"/>
              <a:t>работната</a:t>
            </a:r>
            <a:r>
              <a:rPr lang="ru-RU" dirty="0"/>
              <a:t> среда - </a:t>
            </a:r>
            <a:r>
              <a:rPr lang="ru-RU" dirty="0" err="1"/>
              <a:t>най</a:t>
            </a:r>
            <a:r>
              <a:rPr lang="ru-RU" dirty="0"/>
              <a:t>-малки </a:t>
            </a:r>
            <a:r>
              <a:rPr lang="ru-RU" dirty="0" err="1"/>
              <a:t>дефекти</a:t>
            </a:r>
            <a:r>
              <a:rPr lang="ru-RU" dirty="0"/>
              <a:t> в </a:t>
            </a:r>
            <a:r>
              <a:rPr lang="ru-RU" dirty="0" err="1"/>
              <a:t>нея</a:t>
            </a:r>
            <a:r>
              <a:rPr lang="ru-RU" dirty="0"/>
              <a:t> водят до загуби на </a:t>
            </a:r>
            <a:r>
              <a:rPr lang="ru-RU" dirty="0" err="1"/>
              <a:t>съществени</a:t>
            </a:r>
            <a:r>
              <a:rPr lang="ru-RU" dirty="0"/>
              <a:t> </a:t>
            </a:r>
            <a:r>
              <a:rPr lang="ru-RU" dirty="0" err="1"/>
              <a:t>обеми</a:t>
            </a:r>
            <a:r>
              <a:rPr lang="ru-RU" dirty="0"/>
              <a:t> информация;</a:t>
            </a:r>
          </a:p>
          <a:p>
            <a:pPr algn="just"/>
            <a:r>
              <a:rPr lang="ru-RU" dirty="0" err="1"/>
              <a:t>сравнително</a:t>
            </a:r>
            <a:r>
              <a:rPr lang="ru-RU" dirty="0"/>
              <a:t> </a:t>
            </a:r>
            <a:r>
              <a:rPr lang="ru-RU" dirty="0" err="1"/>
              <a:t>бавен</a:t>
            </a:r>
            <a:r>
              <a:rPr lang="ru-RU" dirty="0"/>
              <a:t> </a:t>
            </a:r>
            <a:r>
              <a:rPr lang="ru-RU" dirty="0" err="1"/>
              <a:t>запис</a:t>
            </a:r>
            <a:r>
              <a:rPr lang="ru-RU" dirty="0"/>
              <a:t>:</a:t>
            </a:r>
          </a:p>
          <a:p>
            <a:pPr algn="just"/>
            <a:r>
              <a:rPr lang="ru-RU" dirty="0"/>
              <a:t>многофазен - </a:t>
            </a:r>
            <a:r>
              <a:rPr lang="ru-RU" dirty="0" err="1"/>
              <a:t>clear</a:t>
            </a:r>
            <a:r>
              <a:rPr lang="ru-RU" dirty="0"/>
              <a:t>/</a:t>
            </a:r>
            <a:r>
              <a:rPr lang="ru-RU" dirty="0" err="1"/>
              <a:t>write</a:t>
            </a:r>
            <a:r>
              <a:rPr lang="ru-RU" dirty="0"/>
              <a:t>/</a:t>
            </a:r>
            <a:r>
              <a:rPr lang="ru-RU" dirty="0" err="1"/>
              <a:t>verify</a:t>
            </a:r>
            <a:r>
              <a:rPr lang="ru-RU" dirty="0"/>
              <a:t>, а </a:t>
            </a:r>
            <a:r>
              <a:rPr lang="ru-RU" dirty="0" err="1"/>
              <a:t>напоследък</a:t>
            </a:r>
            <a:r>
              <a:rPr lang="ru-RU" dirty="0"/>
              <a:t>(</a:t>
            </a:r>
            <a:r>
              <a:rPr lang="ru-RU" dirty="0" err="1"/>
              <a:t>Panasonic</a:t>
            </a:r>
            <a:r>
              <a:rPr lang="ru-RU" dirty="0"/>
              <a:t>) и </a:t>
            </a:r>
            <a:r>
              <a:rPr lang="ru-RU" dirty="0" err="1"/>
              <a:t>двуфазен</a:t>
            </a:r>
            <a:r>
              <a:rPr lang="ru-RU" dirty="0"/>
              <a:t>(без </a:t>
            </a:r>
            <a:r>
              <a:rPr lang="ru-RU" dirty="0" err="1"/>
              <a:t>clear</a:t>
            </a:r>
            <a:r>
              <a:rPr lang="ru-RU" dirty="0"/>
              <a:t>) - но все пак за </a:t>
            </a:r>
            <a:r>
              <a:rPr lang="ru-RU" dirty="0" err="1"/>
              <a:t>фазата</a:t>
            </a:r>
            <a:r>
              <a:rPr lang="ru-RU" dirty="0"/>
              <a:t> </a:t>
            </a:r>
            <a:r>
              <a:rPr lang="ru-RU" dirty="0" err="1"/>
              <a:t>verify</a:t>
            </a:r>
            <a:r>
              <a:rPr lang="ru-RU" dirty="0"/>
              <a:t> </a:t>
            </a:r>
            <a:r>
              <a:rPr lang="ru-RU" dirty="0" err="1"/>
              <a:t>са</a:t>
            </a:r>
            <a:r>
              <a:rPr lang="ru-RU" dirty="0"/>
              <a:t> </a:t>
            </a:r>
            <a:r>
              <a:rPr lang="ru-RU" dirty="0" err="1"/>
              <a:t>необходими</a:t>
            </a:r>
            <a:r>
              <a:rPr lang="ru-RU" dirty="0"/>
              <a:t> 30% от </a:t>
            </a:r>
            <a:r>
              <a:rPr lang="ru-RU" dirty="0" err="1"/>
              <a:t>общото</a:t>
            </a:r>
            <a:r>
              <a:rPr lang="ru-RU" dirty="0"/>
              <a:t> </a:t>
            </a:r>
            <a:r>
              <a:rPr lang="ru-RU" dirty="0" err="1"/>
              <a:t>време</a:t>
            </a:r>
            <a:r>
              <a:rPr lang="ru-RU" dirty="0"/>
              <a:t> на </a:t>
            </a:r>
            <a:r>
              <a:rPr lang="ru-RU" dirty="0" err="1"/>
              <a:t>запис</a:t>
            </a:r>
            <a:r>
              <a:rPr lang="ru-RU" dirty="0"/>
              <a:t>; известно </a:t>
            </a:r>
            <a:r>
              <a:rPr lang="ru-RU" dirty="0" err="1"/>
              <a:t>подобрение</a:t>
            </a:r>
            <a:r>
              <a:rPr lang="ru-RU" dirty="0"/>
              <a:t> </a:t>
            </a:r>
            <a:r>
              <a:rPr lang="ru-RU" dirty="0" err="1"/>
              <a:t>дава</a:t>
            </a:r>
            <a:r>
              <a:rPr lang="ru-RU" dirty="0"/>
              <a:t> </a:t>
            </a:r>
            <a:r>
              <a:rPr lang="ru-RU" dirty="0" err="1"/>
              <a:t>кеширането</a:t>
            </a:r>
            <a:r>
              <a:rPr lang="ru-RU" dirty="0"/>
              <a:t>(64КВ до 4МВ);(</a:t>
            </a:r>
            <a:r>
              <a:rPr lang="ru-RU" dirty="0" err="1"/>
              <a:t>внм</a:t>
            </a:r>
            <a:r>
              <a:rPr lang="ru-RU" dirty="0"/>
              <a:t>! - </a:t>
            </a:r>
            <a:r>
              <a:rPr lang="ru-RU" dirty="0" err="1"/>
              <a:t>производителите</a:t>
            </a:r>
            <a:r>
              <a:rPr lang="ru-RU" dirty="0"/>
              <a:t> в </a:t>
            </a:r>
            <a:r>
              <a:rPr lang="ru-RU" dirty="0" err="1"/>
              <a:t>повечето</a:t>
            </a:r>
            <a:r>
              <a:rPr lang="ru-RU" dirty="0"/>
              <a:t> случаи </a:t>
            </a:r>
            <a:r>
              <a:rPr lang="ru-RU" dirty="0" err="1"/>
              <a:t>конфигурират</a:t>
            </a:r>
            <a:r>
              <a:rPr lang="ru-RU" dirty="0"/>
              <a:t> </a:t>
            </a:r>
            <a:r>
              <a:rPr lang="ru-RU" dirty="0" err="1"/>
              <a:t>устройствата</a:t>
            </a:r>
            <a:r>
              <a:rPr lang="ru-RU" dirty="0"/>
              <a:t> с </a:t>
            </a:r>
            <a:r>
              <a:rPr lang="ru-RU" dirty="0" err="1"/>
              <a:t>изключена</a:t>
            </a:r>
            <a:r>
              <a:rPr lang="ru-RU" dirty="0"/>
              <a:t> фаза-опция </a:t>
            </a:r>
            <a:r>
              <a:rPr lang="ru-RU" dirty="0" err="1"/>
              <a:t>verify</a:t>
            </a:r>
            <a:r>
              <a:rPr lang="ru-RU" dirty="0"/>
              <a:t>, за да ускорят </a:t>
            </a:r>
            <a:r>
              <a:rPr lang="ru-RU" dirty="0" err="1"/>
              <a:t>процеса</a:t>
            </a:r>
            <a:r>
              <a:rPr lang="ru-RU" dirty="0"/>
              <a:t> на </a:t>
            </a:r>
            <a:r>
              <a:rPr lang="ru-RU" dirty="0" err="1"/>
              <a:t>запис</a:t>
            </a:r>
            <a:r>
              <a:rPr lang="ru-RU" dirty="0"/>
              <a:t>)</a:t>
            </a:r>
          </a:p>
          <a:p>
            <a:pPr algn="just"/>
            <a:r>
              <a:rPr lang="ru-RU" dirty="0" err="1"/>
              <a:t>оптиката</a:t>
            </a:r>
            <a:r>
              <a:rPr lang="ru-RU" dirty="0"/>
              <a:t> и </a:t>
            </a:r>
            <a:r>
              <a:rPr lang="ru-RU" dirty="0" err="1"/>
              <a:t>монтажът</a:t>
            </a:r>
            <a:r>
              <a:rPr lang="ru-RU" dirty="0"/>
              <a:t> на </a:t>
            </a:r>
            <a:r>
              <a:rPr lang="ru-RU" dirty="0" err="1"/>
              <a:t>лазерната</a:t>
            </a:r>
            <a:r>
              <a:rPr lang="ru-RU" dirty="0"/>
              <a:t> глава </a:t>
            </a:r>
            <a:r>
              <a:rPr lang="ru-RU" dirty="0" err="1"/>
              <a:t>са</a:t>
            </a:r>
            <a:r>
              <a:rPr lang="ru-RU" dirty="0"/>
              <a:t> </a:t>
            </a:r>
            <a:r>
              <a:rPr lang="ru-RU" dirty="0" err="1"/>
              <a:t>скъпи</a:t>
            </a:r>
            <a:r>
              <a:rPr lang="ru-RU" dirty="0"/>
              <a:t> - те </a:t>
            </a:r>
            <a:r>
              <a:rPr lang="ru-RU" dirty="0" err="1"/>
              <a:t>са</a:t>
            </a:r>
            <a:r>
              <a:rPr lang="ru-RU" dirty="0"/>
              <a:t> </a:t>
            </a:r>
            <a:r>
              <a:rPr lang="ru-RU" dirty="0" err="1"/>
              <a:t>обикновено</a:t>
            </a:r>
            <a:r>
              <a:rPr lang="ru-RU" dirty="0"/>
              <a:t> </a:t>
            </a:r>
            <a:r>
              <a:rPr lang="ru-RU" dirty="0" err="1"/>
              <a:t>едно</a:t>
            </a:r>
            <a:r>
              <a:rPr lang="ru-RU" dirty="0"/>
              <a:t> </a:t>
            </a:r>
            <a:r>
              <a:rPr lang="ru-RU" dirty="0" err="1"/>
              <a:t>цяло</a:t>
            </a:r>
            <a:r>
              <a:rPr lang="ru-RU" dirty="0"/>
              <a:t> </a:t>
            </a:r>
            <a:r>
              <a:rPr lang="ru-RU" dirty="0" err="1"/>
              <a:t>тяло</a:t>
            </a:r>
            <a:r>
              <a:rPr lang="ru-RU" dirty="0"/>
              <a:t> - </a:t>
            </a:r>
            <a:r>
              <a:rPr lang="ru-RU" dirty="0" err="1"/>
              <a:t>тежко</a:t>
            </a:r>
            <a:r>
              <a:rPr lang="ru-RU" dirty="0"/>
              <a:t> и инертно(не се </a:t>
            </a:r>
            <a:r>
              <a:rPr lang="ru-RU" dirty="0" err="1"/>
              <a:t>практикуват</a:t>
            </a:r>
            <a:r>
              <a:rPr lang="ru-RU" dirty="0"/>
              <a:t> устройства с много </a:t>
            </a:r>
            <a:r>
              <a:rPr lang="ru-RU" dirty="0" err="1"/>
              <a:t>лазерни</a:t>
            </a:r>
            <a:r>
              <a:rPr lang="ru-RU" dirty="0"/>
              <a:t> </a:t>
            </a:r>
            <a:r>
              <a:rPr lang="ru-RU" dirty="0" err="1"/>
              <a:t>глави</a:t>
            </a:r>
            <a:r>
              <a:rPr lang="ru-RU" dirty="0"/>
              <a:t>, </a:t>
            </a:r>
            <a:r>
              <a:rPr lang="ru-RU" dirty="0" err="1"/>
              <a:t>четящи</a:t>
            </a:r>
            <a:r>
              <a:rPr lang="ru-RU" dirty="0"/>
              <a:t> </a:t>
            </a:r>
            <a:r>
              <a:rPr lang="ru-RU" dirty="0" err="1"/>
              <a:t>едновременно</a:t>
            </a:r>
            <a:r>
              <a:rPr lang="ru-RU" dirty="0"/>
              <a:t>, за </a:t>
            </a:r>
            <a:r>
              <a:rPr lang="ru-RU" dirty="0" err="1"/>
              <a:t>ускоряване</a:t>
            </a:r>
            <a:r>
              <a:rPr lang="ru-RU" dirty="0"/>
              <a:t> на </a:t>
            </a:r>
            <a:r>
              <a:rPr lang="ru-RU" dirty="0" err="1"/>
              <a:t>достъпа</a:t>
            </a:r>
            <a:r>
              <a:rPr lang="ru-RU" dirty="0"/>
              <a:t>, </a:t>
            </a:r>
            <a:r>
              <a:rPr lang="ru-RU" dirty="0" err="1"/>
              <a:t>така</a:t>
            </a:r>
            <a:r>
              <a:rPr lang="ru-RU" dirty="0"/>
              <a:t> </a:t>
            </a:r>
            <a:r>
              <a:rPr lang="ru-RU" dirty="0" err="1"/>
              <a:t>както</a:t>
            </a:r>
            <a:r>
              <a:rPr lang="ru-RU" dirty="0"/>
              <a:t> се </a:t>
            </a:r>
            <a:r>
              <a:rPr lang="ru-RU" dirty="0" err="1"/>
              <a:t>прави</a:t>
            </a:r>
            <a:r>
              <a:rPr lang="ru-RU" dirty="0"/>
              <a:t> в </a:t>
            </a:r>
            <a:r>
              <a:rPr lang="ru-RU" dirty="0" err="1"/>
              <a:t>съвременните</a:t>
            </a:r>
            <a:r>
              <a:rPr lang="ru-RU" dirty="0"/>
              <a:t> магнитно-</a:t>
            </a:r>
            <a:r>
              <a:rPr lang="ru-RU" dirty="0" err="1"/>
              <a:t>дискови</a:t>
            </a:r>
            <a:r>
              <a:rPr lang="ru-RU" dirty="0"/>
              <a:t> устройства), </a:t>
            </a:r>
            <a:r>
              <a:rPr lang="ru-RU" dirty="0" err="1"/>
              <a:t>така</a:t>
            </a:r>
            <a:r>
              <a:rPr lang="ru-RU" dirty="0"/>
              <a:t> че </a:t>
            </a:r>
            <a:r>
              <a:rPr lang="ru-RU" dirty="0" err="1"/>
              <a:t>времето</a:t>
            </a:r>
            <a:r>
              <a:rPr lang="ru-RU" dirty="0"/>
              <a:t> за </a:t>
            </a:r>
            <a:r>
              <a:rPr lang="ru-RU" dirty="0" err="1"/>
              <a:t>позициониране</a:t>
            </a:r>
            <a:r>
              <a:rPr lang="ru-RU" dirty="0"/>
              <a:t> е </a:t>
            </a:r>
            <a:r>
              <a:rPr lang="ru-RU" dirty="0" err="1"/>
              <a:t>сравнително</a:t>
            </a:r>
            <a:r>
              <a:rPr lang="ru-RU" dirty="0"/>
              <a:t> </a:t>
            </a:r>
            <a:r>
              <a:rPr lang="ru-RU" dirty="0" err="1"/>
              <a:t>голямо</a:t>
            </a:r>
            <a:r>
              <a:rPr lang="ru-RU" dirty="0"/>
              <a:t>; </a:t>
            </a:r>
            <a:r>
              <a:rPr lang="ru-RU" dirty="0" err="1"/>
              <a:t>напоследък</a:t>
            </a:r>
            <a:r>
              <a:rPr lang="ru-RU" dirty="0"/>
              <a:t> се </a:t>
            </a:r>
            <a:r>
              <a:rPr lang="ru-RU" dirty="0" err="1"/>
              <a:t>практикува</a:t>
            </a:r>
            <a:r>
              <a:rPr lang="ru-RU" dirty="0"/>
              <a:t> </a:t>
            </a:r>
            <a:r>
              <a:rPr lang="ru-RU" dirty="0" err="1"/>
              <a:t>така</a:t>
            </a:r>
            <a:r>
              <a:rPr lang="ru-RU" dirty="0"/>
              <a:t> </a:t>
            </a:r>
            <a:r>
              <a:rPr lang="ru-RU" dirty="0" err="1"/>
              <a:t>наречената</a:t>
            </a:r>
            <a:r>
              <a:rPr lang="ru-RU" dirty="0"/>
              <a:t> </a:t>
            </a:r>
            <a:r>
              <a:rPr lang="ru-RU" dirty="0" err="1"/>
              <a:t>процепна</a:t>
            </a:r>
            <a:r>
              <a:rPr lang="ru-RU" dirty="0"/>
              <a:t> глава, при </a:t>
            </a:r>
            <a:r>
              <a:rPr lang="ru-RU" dirty="0" err="1"/>
              <a:t>която</a:t>
            </a:r>
            <a:r>
              <a:rPr lang="ru-RU" dirty="0"/>
              <a:t> </a:t>
            </a:r>
            <a:r>
              <a:rPr lang="ru-RU" dirty="0" err="1"/>
              <a:t>лазерът</a:t>
            </a:r>
            <a:r>
              <a:rPr lang="ru-RU" dirty="0"/>
              <a:t> </a:t>
            </a:r>
            <a:r>
              <a:rPr lang="ru-RU" dirty="0" err="1"/>
              <a:t>източник</a:t>
            </a:r>
            <a:r>
              <a:rPr lang="ru-RU" dirty="0"/>
              <a:t> </a:t>
            </a:r>
            <a:r>
              <a:rPr lang="ru-RU" dirty="0" err="1"/>
              <a:t>едната</a:t>
            </a:r>
            <a:r>
              <a:rPr lang="ru-RU" dirty="0"/>
              <a:t> призма и </a:t>
            </a:r>
            <a:r>
              <a:rPr lang="ru-RU" dirty="0" err="1"/>
              <a:t>фотосензорът</a:t>
            </a:r>
            <a:r>
              <a:rPr lang="ru-RU" dirty="0"/>
              <a:t> </a:t>
            </a:r>
            <a:r>
              <a:rPr lang="ru-RU" dirty="0" err="1"/>
              <a:t>са</a:t>
            </a:r>
            <a:r>
              <a:rPr lang="ru-RU" dirty="0"/>
              <a:t> </a:t>
            </a:r>
            <a:r>
              <a:rPr lang="ru-RU" dirty="0" err="1"/>
              <a:t>фиксирани</a:t>
            </a:r>
            <a:r>
              <a:rPr lang="ru-RU" dirty="0"/>
              <a:t>, а </a:t>
            </a:r>
            <a:r>
              <a:rPr lang="ru-RU" dirty="0" err="1"/>
              <a:t>втората</a:t>
            </a:r>
            <a:r>
              <a:rPr lang="ru-RU" dirty="0"/>
              <a:t> призма и </a:t>
            </a:r>
            <a:r>
              <a:rPr lang="ru-RU" dirty="0" err="1"/>
              <a:t>лещите</a:t>
            </a:r>
            <a:r>
              <a:rPr lang="ru-RU" dirty="0"/>
              <a:t> </a:t>
            </a:r>
            <a:r>
              <a:rPr lang="ru-RU" dirty="0" err="1"/>
              <a:t>са</a:t>
            </a:r>
            <a:r>
              <a:rPr lang="ru-RU" dirty="0"/>
              <a:t> </a:t>
            </a:r>
            <a:r>
              <a:rPr lang="ru-RU" dirty="0" err="1"/>
              <a:t>подвижни</a:t>
            </a:r>
            <a:r>
              <a:rPr lang="ru-RU" dirty="0"/>
              <a:t> и </a:t>
            </a:r>
            <a:r>
              <a:rPr lang="ru-RU" dirty="0" err="1"/>
              <a:t>позиционират</a:t>
            </a:r>
            <a:r>
              <a:rPr lang="ru-RU" dirty="0"/>
              <a:t> по </a:t>
            </a:r>
            <a:r>
              <a:rPr lang="ru-RU" dirty="0" err="1"/>
              <a:t>пистите</a:t>
            </a:r>
            <a:r>
              <a:rPr lang="ru-RU" dirty="0"/>
              <a:t>;</a:t>
            </a:r>
          </a:p>
          <a:p>
            <a:pPr algn="just"/>
            <a:r>
              <a:rPr lang="ru-RU" dirty="0"/>
              <a:t>Ограничение на </a:t>
            </a:r>
            <a:r>
              <a:rPr lang="ru-RU" dirty="0" err="1"/>
              <a:t>максимално</a:t>
            </a:r>
            <a:r>
              <a:rPr lang="ru-RU" dirty="0"/>
              <a:t> </a:t>
            </a:r>
            <a:r>
              <a:rPr lang="ru-RU" dirty="0" err="1"/>
              <a:t>допустимата</a:t>
            </a:r>
            <a:r>
              <a:rPr lang="ru-RU" dirty="0"/>
              <a:t> </a:t>
            </a:r>
            <a:r>
              <a:rPr lang="ru-RU" dirty="0" err="1"/>
              <a:t>скорост</a:t>
            </a:r>
            <a:r>
              <a:rPr lang="ru-RU" dirty="0"/>
              <a:t> на </a:t>
            </a:r>
            <a:r>
              <a:rPr lang="ru-RU" dirty="0" err="1"/>
              <a:t>запис</a:t>
            </a:r>
            <a:r>
              <a:rPr lang="ru-RU" dirty="0"/>
              <a:t>, </a:t>
            </a:r>
            <a:r>
              <a:rPr lang="ru-RU" dirty="0" err="1"/>
              <a:t>реализиран</a:t>
            </a:r>
            <a:r>
              <a:rPr lang="ru-RU" dirty="0"/>
              <a:t> </a:t>
            </a:r>
            <a:r>
              <a:rPr lang="ru-RU" dirty="0" err="1"/>
              <a:t>обикновено</a:t>
            </a:r>
            <a:r>
              <a:rPr lang="ru-RU" dirty="0"/>
              <a:t> чрез </a:t>
            </a:r>
            <a:r>
              <a:rPr lang="ru-RU" dirty="0" err="1"/>
              <a:t>нагряване</a:t>
            </a:r>
            <a:r>
              <a:rPr lang="ru-RU" dirty="0"/>
              <a:t> в </a:t>
            </a:r>
            <a:r>
              <a:rPr lang="ru-RU" dirty="0" err="1"/>
              <a:t>областта</a:t>
            </a:r>
            <a:r>
              <a:rPr lang="ru-RU" dirty="0"/>
              <a:t> на маркера - един инертен </a:t>
            </a:r>
            <a:r>
              <a:rPr lang="ru-RU" dirty="0" err="1"/>
              <a:t>процес</a:t>
            </a:r>
            <a:r>
              <a:rPr lang="ru-RU" dirty="0"/>
              <a:t>;</a:t>
            </a:r>
          </a:p>
          <a:p>
            <a:pPr algn="just"/>
            <a:r>
              <a:rPr lang="ru-RU" dirty="0" err="1"/>
              <a:t>липсата</a:t>
            </a:r>
            <a:r>
              <a:rPr lang="ru-RU" dirty="0"/>
              <a:t> на </a:t>
            </a:r>
            <a:r>
              <a:rPr lang="ru-RU" dirty="0" err="1"/>
              <a:t>достатъчна</a:t>
            </a:r>
            <a:r>
              <a:rPr lang="ru-RU" dirty="0"/>
              <a:t> стандартизация, </a:t>
            </a:r>
            <a:r>
              <a:rPr lang="ru-RU" dirty="0" err="1"/>
              <a:t>както</a:t>
            </a:r>
            <a:r>
              <a:rPr lang="ru-RU" dirty="0"/>
              <a:t> в размерите на </a:t>
            </a:r>
            <a:r>
              <a:rPr lang="ru-RU" dirty="0" err="1"/>
              <a:t>носителите</a:t>
            </a:r>
            <a:r>
              <a:rPr lang="ru-RU" dirty="0"/>
              <a:t>, </a:t>
            </a:r>
            <a:r>
              <a:rPr lang="ru-RU" dirty="0" err="1"/>
              <a:t>така</a:t>
            </a:r>
            <a:r>
              <a:rPr lang="ru-RU" dirty="0"/>
              <a:t> и </a:t>
            </a:r>
            <a:r>
              <a:rPr lang="ru-RU" dirty="0" err="1"/>
              <a:t>във</a:t>
            </a:r>
            <a:r>
              <a:rPr lang="ru-RU" dirty="0"/>
              <a:t> </a:t>
            </a:r>
            <a:r>
              <a:rPr lang="ru-RU" dirty="0" err="1"/>
              <a:t>форматите</a:t>
            </a:r>
            <a:r>
              <a:rPr lang="ru-RU" dirty="0"/>
              <a:t> на </a:t>
            </a:r>
            <a:r>
              <a:rPr lang="ru-RU" dirty="0" err="1"/>
              <a:t>данните</a:t>
            </a:r>
            <a:r>
              <a:rPr lang="ru-RU" dirty="0"/>
              <a:t>, </a:t>
            </a:r>
            <a:r>
              <a:rPr lang="ru-RU" dirty="0" err="1"/>
              <a:t>интерфейсите</a:t>
            </a:r>
            <a:r>
              <a:rPr lang="ru-RU" dirty="0"/>
              <a:t>, </a:t>
            </a:r>
            <a:r>
              <a:rPr lang="ru-RU" dirty="0" err="1"/>
              <a:t>драйверите</a:t>
            </a:r>
            <a:r>
              <a:rPr lang="ru-RU" dirty="0"/>
              <a:t>, </a:t>
            </a:r>
            <a:r>
              <a:rPr lang="ru-RU" dirty="0" err="1"/>
              <a:t>свързания</a:t>
            </a:r>
            <a:r>
              <a:rPr lang="ru-RU" dirty="0"/>
              <a:t> с </a:t>
            </a:r>
            <a:r>
              <a:rPr lang="ru-RU" dirty="0" err="1"/>
              <a:t>ползуването</a:t>
            </a:r>
            <a:r>
              <a:rPr lang="ru-RU" dirty="0"/>
              <a:t> им </a:t>
            </a:r>
            <a:r>
              <a:rPr lang="ru-RU" dirty="0" err="1"/>
              <a:t>софтуер</a:t>
            </a:r>
            <a:r>
              <a:rPr lang="ru-RU" dirty="0"/>
              <a:t>.</a:t>
            </a:r>
            <a:endParaRPr lang="bg-BG" dirty="0"/>
          </a:p>
          <a:p>
            <a:r>
              <a:rPr lang="bg-BG" dirty="0"/>
              <a:t> </a:t>
            </a:r>
          </a:p>
        </p:txBody>
      </p:sp>
      <p:sp>
        <p:nvSpPr>
          <p:cNvPr id="3" name="Rectangle 1">
            <a:extLst>
              <a:ext uri="{FF2B5EF4-FFF2-40B4-BE49-F238E27FC236}">
                <a16:creationId xmlns:a16="http://schemas.microsoft.com/office/drawing/2014/main" xmlns="" id="{CE2537FC-B37C-44FE-BE00-C94395AD60FC}"/>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bg-BG" altLang="bg-BG"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bg-BG" altLang="bg-BG"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819601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ово поле 1">
            <a:extLst>
              <a:ext uri="{FF2B5EF4-FFF2-40B4-BE49-F238E27FC236}">
                <a16:creationId xmlns:a16="http://schemas.microsoft.com/office/drawing/2014/main" xmlns="" id="{FD1C1CAC-E224-4284-81AF-CF261733D172}"/>
              </a:ext>
            </a:extLst>
          </p:cNvPr>
          <p:cNvSpPr txBox="1"/>
          <p:nvPr/>
        </p:nvSpPr>
        <p:spPr>
          <a:xfrm>
            <a:off x="395536" y="2852936"/>
            <a:ext cx="8352928" cy="2031325"/>
          </a:xfrm>
          <a:prstGeom prst="rect">
            <a:avLst/>
          </a:prstGeom>
          <a:noFill/>
        </p:spPr>
        <p:txBody>
          <a:bodyPr wrap="square" rtlCol="0">
            <a:spAutoFit/>
          </a:bodyPr>
          <a:lstStyle/>
          <a:p>
            <a:pPr algn="just"/>
            <a:r>
              <a:rPr lang="ru-RU" dirty="0" err="1"/>
              <a:t>Същност</a:t>
            </a:r>
            <a:r>
              <a:rPr lang="ru-RU" dirty="0"/>
              <a:t> на </a:t>
            </a:r>
            <a:r>
              <a:rPr lang="ru-RU" dirty="0" err="1"/>
              <a:t>записа</a:t>
            </a:r>
            <a:r>
              <a:rPr lang="ru-RU" dirty="0"/>
              <a:t> - </a:t>
            </a:r>
            <a:r>
              <a:rPr lang="ru-RU" dirty="0" err="1"/>
              <a:t>излъчваната</a:t>
            </a:r>
            <a:r>
              <a:rPr lang="ru-RU" dirty="0"/>
              <a:t> от лазера </a:t>
            </a:r>
            <a:r>
              <a:rPr lang="ru-RU" dirty="0" err="1"/>
              <a:t>еднородна</a:t>
            </a:r>
            <a:r>
              <a:rPr lang="ru-RU" dirty="0"/>
              <a:t> </a:t>
            </a:r>
            <a:r>
              <a:rPr lang="ru-RU" dirty="0" err="1"/>
              <a:t>немодулирана</a:t>
            </a:r>
            <a:r>
              <a:rPr lang="ru-RU" dirty="0"/>
              <a:t> светлина Б се </a:t>
            </a:r>
            <a:r>
              <a:rPr lang="ru-RU" dirty="0" err="1"/>
              <a:t>модулира</a:t>
            </a:r>
            <a:r>
              <a:rPr lang="ru-RU" dirty="0"/>
              <a:t> от </a:t>
            </a:r>
            <a:r>
              <a:rPr lang="ru-RU" dirty="0" err="1"/>
              <a:t>информацията</a:t>
            </a:r>
            <a:r>
              <a:rPr lang="ru-RU" dirty="0"/>
              <a:t> за </a:t>
            </a:r>
            <a:r>
              <a:rPr lang="ru-RU" dirty="0" err="1"/>
              <a:t>запис</a:t>
            </a:r>
            <a:r>
              <a:rPr lang="ru-RU" dirty="0"/>
              <a:t> А и се </a:t>
            </a:r>
            <a:r>
              <a:rPr lang="ru-RU" dirty="0" err="1"/>
              <a:t>превръща</a:t>
            </a:r>
            <a:r>
              <a:rPr lang="ru-RU" dirty="0"/>
              <a:t> в </a:t>
            </a:r>
            <a:r>
              <a:rPr lang="ru-RU" dirty="0" err="1"/>
              <a:t>светлинен</a:t>
            </a:r>
            <a:r>
              <a:rPr lang="ru-RU" dirty="0"/>
              <a:t> поток С, </a:t>
            </a:r>
            <a:r>
              <a:rPr lang="ru-RU" dirty="0" err="1"/>
              <a:t>който</a:t>
            </a:r>
            <a:r>
              <a:rPr lang="ru-RU" dirty="0"/>
              <a:t> се </a:t>
            </a:r>
            <a:r>
              <a:rPr lang="ru-RU" dirty="0" err="1"/>
              <a:t>фокусира</a:t>
            </a:r>
            <a:r>
              <a:rPr lang="ru-RU" dirty="0"/>
              <a:t> за </a:t>
            </a:r>
            <a:r>
              <a:rPr lang="ru-RU" dirty="0" err="1"/>
              <a:t>запис</a:t>
            </a:r>
            <a:r>
              <a:rPr lang="ru-RU" dirty="0"/>
              <a:t> </a:t>
            </a:r>
            <a:r>
              <a:rPr lang="ru-RU" dirty="0" err="1"/>
              <a:t>върху</a:t>
            </a:r>
            <a:r>
              <a:rPr lang="ru-RU" dirty="0"/>
              <a:t> </a:t>
            </a:r>
            <a:r>
              <a:rPr lang="ru-RU" dirty="0" err="1"/>
              <a:t>повърхността</a:t>
            </a:r>
            <a:r>
              <a:rPr lang="ru-RU" dirty="0"/>
              <a:t> на </a:t>
            </a:r>
            <a:r>
              <a:rPr lang="ru-RU" dirty="0" err="1"/>
              <a:t>пистата</a:t>
            </a:r>
            <a:r>
              <a:rPr lang="ru-RU" dirty="0"/>
              <a:t>. </a:t>
            </a:r>
            <a:r>
              <a:rPr lang="ru-RU" dirty="0" err="1"/>
              <a:t>Могат</a:t>
            </a:r>
            <a:r>
              <a:rPr lang="ru-RU" dirty="0"/>
              <a:t> да </a:t>
            </a:r>
            <a:r>
              <a:rPr lang="ru-RU" dirty="0" err="1"/>
              <a:t>бъдат</a:t>
            </a:r>
            <a:r>
              <a:rPr lang="ru-RU" dirty="0"/>
              <a:t> </a:t>
            </a:r>
            <a:r>
              <a:rPr lang="ru-RU" dirty="0" err="1"/>
              <a:t>модулирани</a:t>
            </a:r>
            <a:r>
              <a:rPr lang="ru-RU" dirty="0"/>
              <a:t> </a:t>
            </a:r>
            <a:r>
              <a:rPr lang="ru-RU" dirty="0" err="1"/>
              <a:t>най-различни</a:t>
            </a:r>
            <a:r>
              <a:rPr lang="ru-RU" dirty="0"/>
              <a:t> </a:t>
            </a:r>
            <a:r>
              <a:rPr lang="ru-RU" dirty="0" err="1"/>
              <a:t>параметри</a:t>
            </a:r>
            <a:r>
              <a:rPr lang="ru-RU" dirty="0"/>
              <a:t>: - </a:t>
            </a:r>
            <a:r>
              <a:rPr lang="ru-RU" dirty="0" err="1"/>
              <a:t>интензитет</a:t>
            </a:r>
            <a:r>
              <a:rPr lang="ru-RU" dirty="0"/>
              <a:t>, </a:t>
            </a:r>
            <a:r>
              <a:rPr lang="ru-RU" dirty="0" err="1"/>
              <a:t>периодичност</a:t>
            </a:r>
            <a:r>
              <a:rPr lang="ru-RU" dirty="0"/>
              <a:t>, фаза, поляризация, </a:t>
            </a:r>
            <a:r>
              <a:rPr lang="ru-RU" dirty="0" err="1"/>
              <a:t>обемни</a:t>
            </a:r>
            <a:r>
              <a:rPr lang="ru-RU" dirty="0"/>
              <a:t> </a:t>
            </a:r>
            <a:r>
              <a:rPr lang="ru-RU" dirty="0" err="1"/>
              <a:t>параметри</a:t>
            </a:r>
            <a:r>
              <a:rPr lang="ru-RU" dirty="0"/>
              <a:t>. </a:t>
            </a:r>
            <a:r>
              <a:rPr lang="ru-RU" dirty="0" err="1"/>
              <a:t>Най-съществено</a:t>
            </a:r>
            <a:r>
              <a:rPr lang="ru-RU" dirty="0"/>
              <a:t> при </a:t>
            </a:r>
            <a:r>
              <a:rPr lang="ru-RU" dirty="0" err="1"/>
              <a:t>оптичните</a:t>
            </a:r>
            <a:r>
              <a:rPr lang="ru-RU" dirty="0"/>
              <a:t> </a:t>
            </a:r>
            <a:r>
              <a:rPr lang="ru-RU" dirty="0" err="1"/>
              <a:t>запомнящи</a:t>
            </a:r>
            <a:r>
              <a:rPr lang="ru-RU" dirty="0"/>
              <a:t> среди е </a:t>
            </a:r>
            <a:r>
              <a:rPr lang="ru-RU" dirty="0" err="1"/>
              <a:t>свойството</a:t>
            </a:r>
            <a:r>
              <a:rPr lang="ru-RU" dirty="0"/>
              <a:t> им </a:t>
            </a:r>
            <a:r>
              <a:rPr lang="ru-RU" dirty="0" err="1"/>
              <a:t>надеждно</a:t>
            </a:r>
            <a:r>
              <a:rPr lang="ru-RU" dirty="0"/>
              <a:t> да </a:t>
            </a:r>
            <a:r>
              <a:rPr lang="ru-RU" dirty="0" err="1"/>
              <a:t>регистрират</a:t>
            </a:r>
            <a:r>
              <a:rPr lang="ru-RU" dirty="0"/>
              <a:t> и </a:t>
            </a:r>
            <a:r>
              <a:rPr lang="ru-RU" dirty="0" err="1"/>
              <a:t>съхраняват</a:t>
            </a:r>
            <a:r>
              <a:rPr lang="ru-RU" dirty="0"/>
              <a:t> </a:t>
            </a:r>
            <a:r>
              <a:rPr lang="ru-RU" dirty="0" err="1"/>
              <a:t>резултата</a:t>
            </a:r>
            <a:r>
              <a:rPr lang="ru-RU" dirty="0"/>
              <a:t> от </a:t>
            </a:r>
            <a:r>
              <a:rPr lang="ru-RU" dirty="0" err="1"/>
              <a:t>въздействието</a:t>
            </a:r>
            <a:r>
              <a:rPr lang="ru-RU" dirty="0"/>
              <a:t> на </a:t>
            </a:r>
            <a:r>
              <a:rPr lang="ru-RU" dirty="0" err="1"/>
              <a:t>модулирания</a:t>
            </a:r>
            <a:r>
              <a:rPr lang="ru-RU" dirty="0"/>
              <a:t> </a:t>
            </a:r>
            <a:r>
              <a:rPr lang="ru-RU" dirty="0" err="1"/>
              <a:t>лъч</a:t>
            </a:r>
            <a:r>
              <a:rPr lang="ru-RU" dirty="0"/>
              <a:t> при </a:t>
            </a:r>
            <a:r>
              <a:rPr lang="ru-RU" dirty="0" err="1"/>
              <a:t>записа</a:t>
            </a:r>
            <a:r>
              <a:rPr lang="ru-RU" dirty="0"/>
              <a:t>.</a:t>
            </a:r>
            <a:endParaRPr lang="bg-BG" dirty="0"/>
          </a:p>
        </p:txBody>
      </p:sp>
      <p:sp>
        <p:nvSpPr>
          <p:cNvPr id="3" name="Текстово поле 2">
            <a:extLst>
              <a:ext uri="{FF2B5EF4-FFF2-40B4-BE49-F238E27FC236}">
                <a16:creationId xmlns:a16="http://schemas.microsoft.com/office/drawing/2014/main" xmlns="" id="{8B7583E6-EB2B-4BAF-A4C0-22DCAEFED681}"/>
              </a:ext>
            </a:extLst>
          </p:cNvPr>
          <p:cNvSpPr txBox="1"/>
          <p:nvPr/>
        </p:nvSpPr>
        <p:spPr>
          <a:xfrm>
            <a:off x="2843808" y="1988840"/>
            <a:ext cx="5760640" cy="369332"/>
          </a:xfrm>
          <a:prstGeom prst="rect">
            <a:avLst/>
          </a:prstGeom>
          <a:noFill/>
        </p:spPr>
        <p:txBody>
          <a:bodyPr wrap="square" rtlCol="0">
            <a:spAutoFit/>
          </a:bodyPr>
          <a:lstStyle/>
          <a:p>
            <a:r>
              <a:rPr lang="bg-BG" dirty="0"/>
              <a:t>Основни физични принципи</a:t>
            </a:r>
          </a:p>
        </p:txBody>
      </p:sp>
    </p:spTree>
    <p:extLst>
      <p:ext uri="{BB962C8B-B14F-4D97-AF65-F5344CB8AC3E}">
        <p14:creationId xmlns:p14="http://schemas.microsoft.com/office/powerpoint/2010/main" val="12213922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Контейнер за съдържание 1">
            <a:extLst>
              <a:ext uri="{FF2B5EF4-FFF2-40B4-BE49-F238E27FC236}">
                <a16:creationId xmlns:a16="http://schemas.microsoft.com/office/drawing/2014/main" xmlns="" id="{DE45B814-2078-4808-B321-49F7AC970D27}"/>
              </a:ext>
            </a:extLst>
          </p:cNvPr>
          <p:cNvSpPr>
            <a:spLocks noGrp="1"/>
          </p:cNvSpPr>
          <p:nvPr>
            <p:ph sz="quarter" idx="13"/>
          </p:nvPr>
        </p:nvSpPr>
        <p:spPr>
          <a:xfrm>
            <a:off x="534380" y="1821582"/>
            <a:ext cx="8075239" cy="5040560"/>
          </a:xfrm>
        </p:spPr>
        <p:txBody>
          <a:bodyPr>
            <a:normAutofit/>
          </a:bodyPr>
          <a:lstStyle/>
          <a:p>
            <a:pPr algn="just"/>
            <a:r>
              <a:rPr lang="ru-RU" sz="1800" dirty="0"/>
              <a:t>1-Подходяща фигура на </a:t>
            </a:r>
            <a:r>
              <a:rPr lang="ru-RU" sz="1800" dirty="0" err="1"/>
              <a:t>механизмите</a:t>
            </a:r>
            <a:r>
              <a:rPr lang="ru-RU" sz="1800" dirty="0"/>
              <a:t> за </a:t>
            </a:r>
            <a:r>
              <a:rPr lang="ru-RU" sz="1800" dirty="0" err="1"/>
              <a:t>запис-четене</a:t>
            </a:r>
            <a:r>
              <a:rPr lang="ru-RU" sz="1800" dirty="0"/>
              <a:t> и </a:t>
            </a:r>
            <a:r>
              <a:rPr lang="ru-RU" sz="1800" dirty="0" err="1"/>
              <a:t>позициониране</a:t>
            </a:r>
            <a:r>
              <a:rPr lang="ru-RU" sz="1800" dirty="0"/>
              <a:t>?, фотоприемника?</a:t>
            </a:r>
          </a:p>
          <a:p>
            <a:pPr algn="just"/>
            <a:r>
              <a:rPr lang="ru-RU" sz="1800" dirty="0"/>
              <a:t>2-да се </a:t>
            </a:r>
            <a:r>
              <a:rPr lang="ru-RU" sz="1800" dirty="0" err="1"/>
              <a:t>потърсят</a:t>
            </a:r>
            <a:r>
              <a:rPr lang="ru-RU" sz="1800" dirty="0"/>
              <a:t> </a:t>
            </a:r>
            <a:r>
              <a:rPr lang="ru-RU" sz="1800" dirty="0" err="1"/>
              <a:t>стандартите</a:t>
            </a:r>
            <a:r>
              <a:rPr lang="ru-RU" sz="1800" dirty="0"/>
              <a:t> за CD-ROM - например </a:t>
            </a:r>
            <a:r>
              <a:rPr lang="ru-RU" sz="1800" dirty="0" err="1"/>
              <a:t>във</a:t>
            </a:r>
            <a:r>
              <a:rPr lang="ru-RU" sz="1800" dirty="0"/>
              <a:t> </a:t>
            </a:r>
            <a:r>
              <a:rPr lang="ru-RU" sz="1800" dirty="0" err="1"/>
              <a:t>филипс</a:t>
            </a:r>
            <a:r>
              <a:rPr lang="ru-RU" sz="1800" dirty="0"/>
              <a:t>, Сони и др., - </a:t>
            </a:r>
            <a:r>
              <a:rPr lang="ru-RU" sz="1800" dirty="0" err="1"/>
              <a:t>цветните</a:t>
            </a:r>
            <a:r>
              <a:rPr lang="ru-RU" sz="1800" dirty="0"/>
              <a:t> книги и </a:t>
            </a:r>
            <a:r>
              <a:rPr lang="ru-RU" sz="1800" dirty="0" err="1"/>
              <a:t>подходяща</a:t>
            </a:r>
            <a:r>
              <a:rPr lang="ru-RU" sz="1800" dirty="0"/>
              <a:t> </a:t>
            </a:r>
            <a:r>
              <a:rPr lang="ru-RU" sz="1800" dirty="0" err="1"/>
              <a:t>класификация</a:t>
            </a:r>
            <a:r>
              <a:rPr lang="ru-RU" sz="1800" dirty="0"/>
              <a:t> и генеалогия</a:t>
            </a:r>
          </a:p>
          <a:p>
            <a:pPr algn="just"/>
            <a:r>
              <a:rPr lang="ru-RU" sz="1800" dirty="0"/>
              <a:t>3-Кога е </a:t>
            </a:r>
            <a:r>
              <a:rPr lang="ru-RU" sz="1800" dirty="0" err="1"/>
              <a:t>разработено</a:t>
            </a:r>
            <a:r>
              <a:rPr lang="ru-RU" sz="1800" dirty="0"/>
              <a:t> </a:t>
            </a:r>
            <a:r>
              <a:rPr lang="en-US" sz="1800" dirty="0"/>
              <a:t>DVD?</a:t>
            </a:r>
          </a:p>
          <a:p>
            <a:pPr algn="just"/>
            <a:r>
              <a:rPr lang="en-US" sz="1800" dirty="0"/>
              <a:t>4- </a:t>
            </a:r>
            <a:r>
              <a:rPr lang="bg-BG" sz="1800" dirty="0"/>
              <a:t>Какви са способностите за запис и възпроизвеждане на </a:t>
            </a:r>
            <a:r>
              <a:rPr lang="en-US" sz="1800" dirty="0" err="1"/>
              <a:t>Blueray</a:t>
            </a:r>
            <a:r>
              <a:rPr lang="en-US" sz="1800" dirty="0"/>
              <a:t>?</a:t>
            </a:r>
          </a:p>
          <a:p>
            <a:pPr algn="just"/>
            <a:r>
              <a:rPr lang="en-US" sz="1800" dirty="0"/>
              <a:t>5- </a:t>
            </a:r>
            <a:r>
              <a:rPr lang="bg-BG" sz="1800" dirty="0"/>
              <a:t>Какво представлява оптичен метод на запис/четене?</a:t>
            </a:r>
          </a:p>
          <a:p>
            <a:pPr algn="just"/>
            <a:r>
              <a:rPr lang="bg-BG" sz="1800" dirty="0"/>
              <a:t>6-Определение за ВЗУ</a:t>
            </a:r>
          </a:p>
          <a:p>
            <a:pPr algn="just"/>
            <a:r>
              <a:rPr lang="bg-BG" sz="1800" dirty="0"/>
              <a:t>7-Избройте стандартите на </a:t>
            </a:r>
            <a:r>
              <a:rPr lang="en-US" sz="1800" dirty="0"/>
              <a:t>DVD</a:t>
            </a:r>
          </a:p>
          <a:p>
            <a:pPr algn="just"/>
            <a:r>
              <a:rPr lang="en-US" sz="1800" dirty="0"/>
              <a:t>8- </a:t>
            </a:r>
            <a:r>
              <a:rPr lang="bg-BG" sz="1800" dirty="0"/>
              <a:t>Какви са разликите на </a:t>
            </a:r>
            <a:r>
              <a:rPr lang="en-US" sz="1800" dirty="0"/>
              <a:t>CD-R </a:t>
            </a:r>
            <a:r>
              <a:rPr lang="bg-BG" sz="1800" dirty="0"/>
              <a:t>и </a:t>
            </a:r>
            <a:r>
              <a:rPr lang="en-US" sz="1800" dirty="0"/>
              <a:t>CD-RW</a:t>
            </a:r>
          </a:p>
          <a:p>
            <a:pPr algn="just"/>
            <a:r>
              <a:rPr lang="en-US" sz="1800" dirty="0"/>
              <a:t>9-</a:t>
            </a:r>
            <a:r>
              <a:rPr lang="bg-BG" sz="1800" dirty="0"/>
              <a:t>Определение за </a:t>
            </a:r>
            <a:r>
              <a:rPr lang="en-US" sz="1800" dirty="0"/>
              <a:t>CD-ROM</a:t>
            </a:r>
          </a:p>
          <a:p>
            <a:pPr algn="just"/>
            <a:r>
              <a:rPr lang="en-US" sz="1800" dirty="0"/>
              <a:t>10-</a:t>
            </a:r>
            <a:r>
              <a:rPr lang="bg-BG" sz="1800" dirty="0"/>
              <a:t>Видове интерфейси на оптични ВЗУ</a:t>
            </a:r>
            <a:endParaRPr lang="ru-RU" sz="1800" dirty="0"/>
          </a:p>
        </p:txBody>
      </p:sp>
      <p:sp>
        <p:nvSpPr>
          <p:cNvPr id="4" name="Заглавие 3">
            <a:extLst>
              <a:ext uri="{FF2B5EF4-FFF2-40B4-BE49-F238E27FC236}">
                <a16:creationId xmlns:a16="http://schemas.microsoft.com/office/drawing/2014/main" xmlns="" id="{B6CAD2B3-F37C-478E-B1C6-7D2B6EC75936}"/>
              </a:ext>
            </a:extLst>
          </p:cNvPr>
          <p:cNvSpPr>
            <a:spLocks noGrp="1"/>
          </p:cNvSpPr>
          <p:nvPr>
            <p:ph type="title"/>
          </p:nvPr>
        </p:nvSpPr>
        <p:spPr/>
        <p:txBody>
          <a:bodyPr/>
          <a:lstStyle/>
          <a:p>
            <a:r>
              <a:rPr lang="bg-BG" dirty="0"/>
              <a:t>Въпроси и задачи</a:t>
            </a:r>
          </a:p>
        </p:txBody>
      </p:sp>
    </p:spTree>
    <p:extLst>
      <p:ext uri="{BB962C8B-B14F-4D97-AF65-F5344CB8AC3E}">
        <p14:creationId xmlns:p14="http://schemas.microsoft.com/office/powerpoint/2010/main" val="17515424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Контейнер за съдържание 1">
            <a:extLst>
              <a:ext uri="{FF2B5EF4-FFF2-40B4-BE49-F238E27FC236}">
                <a16:creationId xmlns:a16="http://schemas.microsoft.com/office/drawing/2014/main" xmlns="" id="{CF211754-071F-427A-86FF-15C4CA87C96B}"/>
              </a:ext>
            </a:extLst>
          </p:cNvPr>
          <p:cNvSpPr>
            <a:spLocks noGrp="1"/>
          </p:cNvSpPr>
          <p:nvPr>
            <p:ph sz="quarter" idx="14"/>
          </p:nvPr>
        </p:nvSpPr>
        <p:spPr/>
        <p:txBody>
          <a:bodyPr/>
          <a:lstStyle/>
          <a:p>
            <a:r>
              <a:rPr lang="en-US" dirty="0">
                <a:hlinkClick r:id="rId2"/>
              </a:rPr>
              <a:t>https://zapametqva6tiustroistva.wordpress.com/</a:t>
            </a:r>
            <a:r>
              <a:rPr lang="bg-BG" dirty="0" err="1">
                <a:hlinkClick r:id="rId2"/>
              </a:rPr>
              <a:t>взу</a:t>
            </a:r>
            <a:r>
              <a:rPr lang="bg-BG" dirty="0">
                <a:hlinkClick r:id="rId2"/>
              </a:rPr>
              <a:t>-на-оптичен-носител/</a:t>
            </a:r>
            <a:endParaRPr lang="bg-BG" dirty="0"/>
          </a:p>
          <a:p>
            <a:r>
              <a:rPr lang="en-US" dirty="0">
                <a:hlinkClick r:id="rId3"/>
              </a:rPr>
              <a:t>http://www1.ecs.uni-ruse.bg/kp/less/ext-mem/opticdev/opt-dev-less.html</a:t>
            </a:r>
            <a:endParaRPr lang="bg-BG" dirty="0"/>
          </a:p>
          <a:p>
            <a:r>
              <a:rPr lang="en-US" dirty="0">
                <a:hlinkClick r:id="rId4"/>
              </a:rPr>
              <a:t>https://bg.wikipedia.org/wiki/Blu-ray_</a:t>
            </a:r>
            <a:r>
              <a:rPr lang="bg-BG" dirty="0">
                <a:hlinkClick r:id="rId4"/>
              </a:rPr>
              <a:t>диск</a:t>
            </a:r>
            <a:endParaRPr lang="bg-BG" dirty="0"/>
          </a:p>
          <a:p>
            <a:r>
              <a:rPr lang="en-US" dirty="0">
                <a:hlinkClick r:id="rId5"/>
              </a:rPr>
              <a:t>https://bg.wikipedia.org/wiki/DVD</a:t>
            </a:r>
            <a:endParaRPr lang="bg-BG" dirty="0"/>
          </a:p>
          <a:p>
            <a:r>
              <a:rPr lang="en-US" dirty="0">
                <a:hlinkClick r:id="rId6"/>
              </a:rPr>
              <a:t>https://en.wikipedia.org/wiki/CD-ROM</a:t>
            </a:r>
            <a:endParaRPr lang="bg-BG" dirty="0"/>
          </a:p>
          <a:p>
            <a:r>
              <a:rPr lang="en-US" dirty="0">
                <a:hlinkClick r:id="rId7"/>
              </a:rPr>
              <a:t>https://en.wikipedia.org/wiki/CD-R</a:t>
            </a:r>
            <a:endParaRPr lang="bg-BG" dirty="0"/>
          </a:p>
          <a:p>
            <a:r>
              <a:rPr lang="en-US" dirty="0">
                <a:hlinkClick r:id="rId8"/>
              </a:rPr>
              <a:t>https://en.wikipedia.org/wiki/CD-RW</a:t>
            </a:r>
            <a:endParaRPr lang="bg-BG" dirty="0"/>
          </a:p>
          <a:p>
            <a:endParaRPr lang="bg-BG" dirty="0"/>
          </a:p>
        </p:txBody>
      </p:sp>
      <p:sp>
        <p:nvSpPr>
          <p:cNvPr id="3" name="Текстов контейнер 2">
            <a:extLst>
              <a:ext uri="{FF2B5EF4-FFF2-40B4-BE49-F238E27FC236}">
                <a16:creationId xmlns:a16="http://schemas.microsoft.com/office/drawing/2014/main" xmlns="" id="{99D4E789-78AB-4F1B-8ED4-F94318C44B7E}"/>
              </a:ext>
            </a:extLst>
          </p:cNvPr>
          <p:cNvSpPr>
            <a:spLocks noGrp="1"/>
          </p:cNvSpPr>
          <p:nvPr>
            <p:ph type="body" sz="half" idx="2"/>
          </p:nvPr>
        </p:nvSpPr>
        <p:spPr/>
        <p:txBody>
          <a:bodyPr/>
          <a:lstStyle/>
          <a:p>
            <a:r>
              <a:rPr lang="bg-BG" dirty="0"/>
              <a:t>Изготвил: </a:t>
            </a:r>
            <a:r>
              <a:rPr lang="bg-BG"/>
              <a:t>Виктор Митев 12Д №9</a:t>
            </a:r>
          </a:p>
        </p:txBody>
      </p:sp>
      <p:sp>
        <p:nvSpPr>
          <p:cNvPr id="4" name="Заглавие 3">
            <a:extLst>
              <a:ext uri="{FF2B5EF4-FFF2-40B4-BE49-F238E27FC236}">
                <a16:creationId xmlns:a16="http://schemas.microsoft.com/office/drawing/2014/main" xmlns="" id="{4D46E03D-8811-4404-BEB1-B87C8D736791}"/>
              </a:ext>
            </a:extLst>
          </p:cNvPr>
          <p:cNvSpPr>
            <a:spLocks noGrp="1"/>
          </p:cNvSpPr>
          <p:nvPr>
            <p:ph type="title"/>
          </p:nvPr>
        </p:nvSpPr>
        <p:spPr/>
        <p:txBody>
          <a:bodyPr/>
          <a:lstStyle/>
          <a:p>
            <a:r>
              <a:rPr lang="bg-BG" dirty="0"/>
              <a:t>източници</a:t>
            </a:r>
          </a:p>
        </p:txBody>
      </p:sp>
    </p:spTree>
    <p:extLst>
      <p:ext uri="{BB962C8B-B14F-4D97-AF65-F5344CB8AC3E}">
        <p14:creationId xmlns:p14="http://schemas.microsoft.com/office/powerpoint/2010/main" val="41318053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ackTie">
  <a:themeElements>
    <a:clrScheme name="BlackTie">
      <a:dk1>
        <a:srgbClr val="000000"/>
      </a:dk1>
      <a:lt1>
        <a:srgbClr val="FFFFFF"/>
      </a:lt1>
      <a:dk2>
        <a:srgbClr val="46464A"/>
      </a:dk2>
      <a:lt2>
        <a:srgbClr val="E3DCCF"/>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BlackTie">
      <a:maj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BlackTie">
      <a:fillStyleLst>
        <a:solidFill>
          <a:schemeClr val="phClr"/>
        </a:solidFill>
        <a:gradFill rotWithShape="1">
          <a:gsLst>
            <a:gs pos="0">
              <a:schemeClr val="phClr">
                <a:tint val="45000"/>
                <a:satMod val="220000"/>
              </a:schemeClr>
            </a:gs>
            <a:gs pos="30000">
              <a:schemeClr val="phClr">
                <a:tint val="61000"/>
                <a:satMod val="220000"/>
              </a:schemeClr>
            </a:gs>
            <a:gs pos="45000">
              <a:schemeClr val="phClr">
                <a:tint val="66000"/>
                <a:satMod val="240000"/>
              </a:schemeClr>
            </a:gs>
            <a:gs pos="55000">
              <a:schemeClr val="phClr">
                <a:tint val="66000"/>
                <a:satMod val="220000"/>
              </a:schemeClr>
            </a:gs>
            <a:gs pos="73000">
              <a:schemeClr val="phClr">
                <a:tint val="61000"/>
                <a:satMod val="220000"/>
              </a:schemeClr>
            </a:gs>
            <a:gs pos="100000">
              <a:schemeClr val="phClr">
                <a:tint val="45000"/>
                <a:satMod val="220000"/>
              </a:schemeClr>
            </a:gs>
          </a:gsLst>
          <a:lin ang="950000" scaled="1"/>
        </a:gradFill>
        <a:gradFill rotWithShape="1">
          <a:gsLst>
            <a:gs pos="0">
              <a:schemeClr val="phClr">
                <a:shade val="63000"/>
                <a:satMod val="110000"/>
              </a:schemeClr>
            </a:gs>
            <a:gs pos="30000">
              <a:schemeClr val="phClr">
                <a:shade val="90000"/>
                <a:satMod val="120000"/>
              </a:schemeClr>
            </a:gs>
            <a:gs pos="45000">
              <a:schemeClr val="phClr">
                <a:shade val="100000"/>
                <a:satMod val="128000"/>
              </a:schemeClr>
            </a:gs>
            <a:gs pos="55000">
              <a:schemeClr val="phClr">
                <a:shade val="100000"/>
                <a:satMod val="128000"/>
              </a:schemeClr>
            </a:gs>
            <a:gs pos="73000">
              <a:schemeClr val="phClr">
                <a:shade val="90000"/>
                <a:satMod val="120000"/>
              </a:schemeClr>
            </a:gs>
            <a:gs pos="100000">
              <a:schemeClr val="phClr">
                <a:shade val="63000"/>
                <a:satMod val="110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1909" dir="5400000" rotWithShape="0">
              <a:srgbClr val="000000">
                <a:alpha val="40000"/>
              </a:srgbClr>
            </a:outerShdw>
          </a:effectLst>
        </a:effectStyle>
        <a:effectStyle>
          <a:effectLst>
            <a:outerShdw blurRad="57150" dist="38100" dir="5400000" algn="br" rotWithShape="0">
              <a:srgbClr val="000000">
                <a:alpha val="57000"/>
              </a:srgbClr>
            </a:outerShdw>
          </a:effectLst>
          <a:scene3d>
            <a:camera prst="orthographicFront">
              <a:rot lat="0" lon="0" rev="0"/>
            </a:camera>
            <a:lightRig rig="twoPt" dir="t">
              <a:rot lat="0" lon="0" rev="1800000"/>
            </a:lightRig>
          </a:scene3d>
          <a:sp3d>
            <a:bevelT w="44450" h="31750" prst="coolSlant"/>
          </a:sp3d>
        </a:effectStyle>
      </a:effectStyleLst>
      <a:bgFillStyleLst>
        <a:solidFill>
          <a:schemeClr val="phClr"/>
        </a:solidFill>
        <a:blipFill rotWithShape="1">
          <a:blip xmlns:r="http://schemas.openxmlformats.org/officeDocument/2006/relationships" r:embed="rId1">
            <a:duotone>
              <a:schemeClr val="phClr">
                <a:tint val="95000"/>
              </a:schemeClr>
              <a:schemeClr val="phClr">
                <a:shade val="20000"/>
              </a:schemeClr>
            </a:duotone>
          </a:blip>
          <a:stretch/>
        </a:blipFill>
        <a:gradFill rotWithShape="1">
          <a:gsLst>
            <a:gs pos="0">
              <a:schemeClr val="phClr">
                <a:tint val="40000"/>
                <a:satMod val="350000"/>
              </a:schemeClr>
            </a:gs>
            <a:gs pos="40000">
              <a:schemeClr val="phClr">
                <a:tint val="45000"/>
                <a:shade val="99000"/>
                <a:satMod val="350000"/>
              </a:schemeClr>
            </a:gs>
            <a:gs pos="100000">
              <a:schemeClr val="phClr">
                <a:shade val="30000"/>
                <a:satMod val="255000"/>
              </a:schemeClr>
            </a:gs>
          </a:gsLst>
          <a:path path="circle">
            <a:fillToRect l="50000" t="-80000" r="50000" b="18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Black Tie</Template>
  <TotalTime>96</TotalTime>
  <Words>1841</Words>
  <Application>Microsoft Office PowerPoint</Application>
  <PresentationFormat>On-screen Show (4:3)</PresentationFormat>
  <Paragraphs>84</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BlackTie</vt:lpstr>
      <vt:lpstr>Външни запомнящи устройства с оптичен метод на запис</vt:lpstr>
      <vt:lpstr>Съдържание</vt:lpstr>
      <vt:lpstr>Въведение</vt:lpstr>
      <vt:lpstr>Оптичен запис</vt:lpstr>
      <vt:lpstr>PowerPoint Presentation</vt:lpstr>
      <vt:lpstr>CD ROM</vt:lpstr>
      <vt:lpstr>PowerPoint Presentation</vt:lpstr>
      <vt:lpstr>CD-r</vt:lpstr>
      <vt:lpstr>PowerPoint Presentation</vt:lpstr>
      <vt:lpstr>CD-RW</vt:lpstr>
      <vt:lpstr>PowerPoint Presentation</vt:lpstr>
      <vt:lpstr>PowerPoint Presentation</vt:lpstr>
      <vt:lpstr>DVD</vt:lpstr>
      <vt:lpstr>PowerPoint Presentation</vt:lpstr>
      <vt:lpstr>Стандарти на DVD</vt:lpstr>
      <vt:lpstr>PowerPoint Presentation</vt:lpstr>
      <vt:lpstr>PowerPoint Presentation</vt:lpstr>
      <vt:lpstr>blueray</vt:lpstr>
      <vt:lpstr>PowerPoint Presentation</vt:lpstr>
      <vt:lpstr>PowerPoint Presentation</vt:lpstr>
      <vt:lpstr>Съпоставка на взу</vt:lpstr>
      <vt:lpstr>PowerPoint Presentation</vt:lpstr>
      <vt:lpstr>PowerPoint Presentation</vt:lpstr>
      <vt:lpstr>Въпроси и задачи</vt:lpstr>
      <vt:lpstr>източници</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Външни запомнящи устройства с оптичен метод на запис</dc:title>
  <dc:creator>PC-30</dc:creator>
  <cp:lastModifiedBy>PC-0</cp:lastModifiedBy>
  <cp:revision>10</cp:revision>
  <dcterms:created xsi:type="dcterms:W3CDTF">2022-12-19T07:44:44Z</dcterms:created>
  <dcterms:modified xsi:type="dcterms:W3CDTF">2022-12-20T06:40:28Z</dcterms:modified>
</cp:coreProperties>
</file>