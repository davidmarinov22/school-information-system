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90" r:id="rId35"/>
    <p:sldId id="289" r:id="rId36"/>
    <p:sldId id="291" r:id="rId37"/>
    <p:sldId id="292"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427" autoAdjust="0"/>
    <p:restoredTop sz="94660"/>
  </p:normalViewPr>
  <p:slideViewPr>
    <p:cSldViewPr snapToGrid="0">
      <p:cViewPr>
        <p:scale>
          <a:sx n="81" d="100"/>
          <a:sy n="81" d="100"/>
        </p:scale>
        <p:origin x="-360"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0788C73-A5EB-403B-B42B-BD675099DEDE}" type="datetimeFigureOut">
              <a:rPr lang="bg-BG" smtClean="0"/>
              <a:t>23.12.2022 г.</a:t>
            </a:fld>
            <a:endParaRPr lang="bg-BG"/>
          </a:p>
        </p:txBody>
      </p:sp>
      <p:sp>
        <p:nvSpPr>
          <p:cNvPr id="5" name="Footer Placeholder 4"/>
          <p:cNvSpPr>
            <a:spLocks noGrp="1"/>
          </p:cNvSpPr>
          <p:nvPr>
            <p:ph type="ftr" sz="quarter" idx="11"/>
          </p:nvPr>
        </p:nvSpPr>
        <p:spPr/>
        <p:txBody>
          <a:bodyPr/>
          <a:lstStyle/>
          <a:p>
            <a:endParaRPr lang="bg-BG"/>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3A04010-559F-4404-B332-9D86576DE171}" type="slidenum">
              <a:rPr lang="bg-BG" smtClean="0"/>
              <a:t>‹#›</a:t>
            </a:fld>
            <a:endParaRPr lang="bg-BG"/>
          </a:p>
        </p:txBody>
      </p:sp>
    </p:spTree>
    <p:extLst>
      <p:ext uri="{BB962C8B-B14F-4D97-AF65-F5344CB8AC3E}">
        <p14:creationId xmlns:p14="http://schemas.microsoft.com/office/powerpoint/2010/main" val="4113052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0788C73-A5EB-403B-B42B-BD675099DEDE}" type="datetimeFigureOut">
              <a:rPr lang="bg-BG" smtClean="0"/>
              <a:t>23.12.2022 г.</a:t>
            </a:fld>
            <a:endParaRPr lang="bg-BG"/>
          </a:p>
        </p:txBody>
      </p:sp>
      <p:sp>
        <p:nvSpPr>
          <p:cNvPr id="5" name="Footer Placeholder 4"/>
          <p:cNvSpPr>
            <a:spLocks noGrp="1"/>
          </p:cNvSpPr>
          <p:nvPr>
            <p:ph type="ftr" sz="quarter" idx="11"/>
          </p:nvPr>
        </p:nvSpPr>
        <p:spPr/>
        <p:txBody>
          <a:bodyPr/>
          <a:lstStyle/>
          <a:p>
            <a:endParaRPr lang="bg-B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3A04010-559F-4404-B332-9D86576DE171}" type="slidenum">
              <a:rPr lang="bg-BG" smtClean="0"/>
              <a:t>‹#›</a:t>
            </a:fld>
            <a:endParaRPr lang="bg-BG"/>
          </a:p>
        </p:txBody>
      </p:sp>
    </p:spTree>
    <p:extLst>
      <p:ext uri="{BB962C8B-B14F-4D97-AF65-F5344CB8AC3E}">
        <p14:creationId xmlns:p14="http://schemas.microsoft.com/office/powerpoint/2010/main" val="315686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0788C73-A5EB-403B-B42B-BD675099DEDE}" type="datetimeFigureOut">
              <a:rPr lang="bg-BG" smtClean="0"/>
              <a:t>23.12.2022 г.</a:t>
            </a:fld>
            <a:endParaRPr lang="bg-BG"/>
          </a:p>
        </p:txBody>
      </p:sp>
      <p:sp>
        <p:nvSpPr>
          <p:cNvPr id="5" name="Footer Placeholder 4"/>
          <p:cNvSpPr>
            <a:spLocks noGrp="1"/>
          </p:cNvSpPr>
          <p:nvPr>
            <p:ph type="ftr" sz="quarter" idx="11"/>
          </p:nvPr>
        </p:nvSpPr>
        <p:spPr/>
        <p:txBody>
          <a:bodyPr/>
          <a:lstStyle/>
          <a:p>
            <a:endParaRPr lang="bg-BG"/>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3A04010-559F-4404-B332-9D86576DE171}" type="slidenum">
              <a:rPr lang="bg-BG" smtClean="0"/>
              <a:t>‹#›</a:t>
            </a:fld>
            <a:endParaRPr lang="bg-BG"/>
          </a:p>
        </p:txBody>
      </p:sp>
    </p:spTree>
    <p:extLst>
      <p:ext uri="{BB962C8B-B14F-4D97-AF65-F5344CB8AC3E}">
        <p14:creationId xmlns:p14="http://schemas.microsoft.com/office/powerpoint/2010/main" val="1277524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0788C73-A5EB-403B-B42B-BD675099DEDE}" type="datetimeFigureOut">
              <a:rPr lang="bg-BG" smtClean="0"/>
              <a:t>23.12.2022 г.</a:t>
            </a:fld>
            <a:endParaRPr lang="bg-BG"/>
          </a:p>
        </p:txBody>
      </p:sp>
      <p:sp>
        <p:nvSpPr>
          <p:cNvPr id="6" name="Footer Placeholder 5"/>
          <p:cNvSpPr>
            <a:spLocks noGrp="1"/>
          </p:cNvSpPr>
          <p:nvPr>
            <p:ph type="ftr" sz="quarter" idx="11"/>
          </p:nvPr>
        </p:nvSpPr>
        <p:spPr/>
        <p:txBody>
          <a:bodyPr/>
          <a:lstStyle/>
          <a:p>
            <a:endParaRPr lang="bg-BG"/>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3A04010-559F-4404-B332-9D86576DE171}" type="slidenum">
              <a:rPr lang="bg-BG" smtClean="0"/>
              <a:t>‹#›</a:t>
            </a:fld>
            <a:endParaRPr lang="bg-BG"/>
          </a:p>
        </p:txBody>
      </p:sp>
    </p:spTree>
    <p:extLst>
      <p:ext uri="{BB962C8B-B14F-4D97-AF65-F5344CB8AC3E}">
        <p14:creationId xmlns:p14="http://schemas.microsoft.com/office/powerpoint/2010/main" val="3915642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0788C73-A5EB-403B-B42B-BD675099DEDE}" type="datetimeFigureOut">
              <a:rPr lang="bg-BG" smtClean="0"/>
              <a:t>23.12.2022 г.</a:t>
            </a:fld>
            <a:endParaRPr lang="bg-BG"/>
          </a:p>
        </p:txBody>
      </p:sp>
      <p:sp>
        <p:nvSpPr>
          <p:cNvPr id="8" name="Footer Placeholder 7"/>
          <p:cNvSpPr>
            <a:spLocks noGrp="1"/>
          </p:cNvSpPr>
          <p:nvPr>
            <p:ph type="ftr" sz="quarter" idx="11"/>
          </p:nvPr>
        </p:nvSpPr>
        <p:spPr/>
        <p:txBody>
          <a:bodyPr/>
          <a:lstStyle/>
          <a:p>
            <a:endParaRPr lang="bg-BG"/>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3A04010-559F-4404-B332-9D86576DE171}" type="slidenum">
              <a:rPr lang="bg-BG" smtClean="0"/>
              <a:t>‹#›</a:t>
            </a:fld>
            <a:endParaRPr lang="bg-BG"/>
          </a:p>
        </p:txBody>
      </p:sp>
    </p:spTree>
    <p:extLst>
      <p:ext uri="{BB962C8B-B14F-4D97-AF65-F5344CB8AC3E}">
        <p14:creationId xmlns:p14="http://schemas.microsoft.com/office/powerpoint/2010/main" val="2904576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0788C73-A5EB-403B-B42B-BD675099DEDE}" type="datetimeFigureOut">
              <a:rPr lang="bg-BG" smtClean="0"/>
              <a:t>23.12.2022 г.</a:t>
            </a:fld>
            <a:endParaRPr lang="bg-BG"/>
          </a:p>
        </p:txBody>
      </p:sp>
      <p:sp>
        <p:nvSpPr>
          <p:cNvPr id="4" name="Footer Placeholder 3"/>
          <p:cNvSpPr>
            <a:spLocks noGrp="1"/>
          </p:cNvSpPr>
          <p:nvPr>
            <p:ph type="ftr" sz="quarter" idx="11"/>
          </p:nvPr>
        </p:nvSpPr>
        <p:spPr/>
        <p:txBody>
          <a:bodyPr/>
          <a:lstStyle/>
          <a:p>
            <a:endParaRPr lang="bg-BG"/>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3A04010-559F-4404-B332-9D86576DE171}" type="slidenum">
              <a:rPr lang="bg-BG" smtClean="0"/>
              <a:t>‹#›</a:t>
            </a:fld>
            <a:endParaRPr lang="bg-BG"/>
          </a:p>
        </p:txBody>
      </p:sp>
    </p:spTree>
    <p:extLst>
      <p:ext uri="{BB962C8B-B14F-4D97-AF65-F5344CB8AC3E}">
        <p14:creationId xmlns:p14="http://schemas.microsoft.com/office/powerpoint/2010/main" val="1351985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788C73-A5EB-403B-B42B-BD675099DEDE}" type="datetimeFigureOut">
              <a:rPr lang="bg-BG" smtClean="0"/>
              <a:t>23.12.2022 г.</a:t>
            </a:fld>
            <a:endParaRPr lang="bg-BG"/>
          </a:p>
        </p:txBody>
      </p:sp>
      <p:sp>
        <p:nvSpPr>
          <p:cNvPr id="3" name="Footer Placeholder 2"/>
          <p:cNvSpPr>
            <a:spLocks noGrp="1"/>
          </p:cNvSpPr>
          <p:nvPr>
            <p:ph type="ftr" sz="quarter" idx="11"/>
          </p:nvPr>
        </p:nvSpPr>
        <p:spPr/>
        <p:txBody>
          <a:bodyPr/>
          <a:lstStyle/>
          <a:p>
            <a:endParaRPr lang="bg-BG"/>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3A04010-559F-4404-B332-9D86576DE171}" type="slidenum">
              <a:rPr lang="bg-BG" smtClean="0"/>
              <a:t>‹#›</a:t>
            </a:fld>
            <a:endParaRPr lang="bg-BG"/>
          </a:p>
        </p:txBody>
      </p:sp>
    </p:spTree>
    <p:extLst>
      <p:ext uri="{BB962C8B-B14F-4D97-AF65-F5344CB8AC3E}">
        <p14:creationId xmlns:p14="http://schemas.microsoft.com/office/powerpoint/2010/main" val="848097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0788C73-A5EB-403B-B42B-BD675099DEDE}" type="datetimeFigureOut">
              <a:rPr lang="bg-BG" smtClean="0"/>
              <a:t>23.12.2022 г.</a:t>
            </a:fld>
            <a:endParaRPr lang="bg-BG"/>
          </a:p>
        </p:txBody>
      </p:sp>
      <p:sp>
        <p:nvSpPr>
          <p:cNvPr id="6" name="Footer Placeholder 5"/>
          <p:cNvSpPr>
            <a:spLocks noGrp="1"/>
          </p:cNvSpPr>
          <p:nvPr>
            <p:ph type="ftr" sz="quarter" idx="11"/>
          </p:nvPr>
        </p:nvSpPr>
        <p:spPr/>
        <p:txBody>
          <a:bodyPr/>
          <a:lstStyle/>
          <a:p>
            <a:endParaRPr lang="bg-BG"/>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3A04010-559F-4404-B332-9D86576DE171}" type="slidenum">
              <a:rPr lang="bg-BG" smtClean="0"/>
              <a:t>‹#›</a:t>
            </a:fld>
            <a:endParaRPr lang="bg-BG"/>
          </a:p>
        </p:txBody>
      </p:sp>
    </p:spTree>
    <p:extLst>
      <p:ext uri="{BB962C8B-B14F-4D97-AF65-F5344CB8AC3E}">
        <p14:creationId xmlns:p14="http://schemas.microsoft.com/office/powerpoint/2010/main" val="1379954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0788C73-A5EB-403B-B42B-BD675099DEDE}" type="datetimeFigureOut">
              <a:rPr lang="bg-BG" smtClean="0"/>
              <a:t>23.12.2022 г.</a:t>
            </a:fld>
            <a:endParaRPr lang="bg-BG"/>
          </a:p>
        </p:txBody>
      </p:sp>
      <p:sp>
        <p:nvSpPr>
          <p:cNvPr id="6" name="Footer Placeholder 5"/>
          <p:cNvSpPr>
            <a:spLocks noGrp="1"/>
          </p:cNvSpPr>
          <p:nvPr>
            <p:ph type="ftr" sz="quarter" idx="11"/>
          </p:nvPr>
        </p:nvSpPr>
        <p:spPr/>
        <p:txBody>
          <a:bodyPr/>
          <a:lstStyle/>
          <a:p>
            <a:endParaRPr lang="bg-BG"/>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3A04010-559F-4404-B332-9D86576DE171}" type="slidenum">
              <a:rPr lang="bg-BG" smtClean="0"/>
              <a:t>‹#›</a:t>
            </a:fld>
            <a:endParaRPr lang="bg-BG"/>
          </a:p>
        </p:txBody>
      </p:sp>
    </p:spTree>
    <p:extLst>
      <p:ext uri="{BB962C8B-B14F-4D97-AF65-F5344CB8AC3E}">
        <p14:creationId xmlns:p14="http://schemas.microsoft.com/office/powerpoint/2010/main" val="164880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0788C73-A5EB-403B-B42B-BD675099DEDE}" type="datetimeFigureOut">
              <a:rPr lang="bg-BG" smtClean="0"/>
              <a:t>23.12.2022 г.</a:t>
            </a:fld>
            <a:endParaRPr lang="bg-BG"/>
          </a:p>
        </p:txBody>
      </p:sp>
      <p:sp>
        <p:nvSpPr>
          <p:cNvPr id="5" name="Footer Placeholder 4"/>
          <p:cNvSpPr>
            <a:spLocks noGrp="1"/>
          </p:cNvSpPr>
          <p:nvPr>
            <p:ph type="ftr" sz="quarter" idx="11"/>
          </p:nvPr>
        </p:nvSpPr>
        <p:spPr/>
        <p:txBody>
          <a:bodyPr/>
          <a:lstStyle/>
          <a:p>
            <a:endParaRPr lang="bg-BG"/>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3A04010-559F-4404-B332-9D86576DE171}" type="slidenum">
              <a:rPr lang="bg-BG" smtClean="0"/>
              <a:t>‹#›</a:t>
            </a:fld>
            <a:endParaRPr lang="bg-BG"/>
          </a:p>
        </p:txBody>
      </p:sp>
    </p:spTree>
    <p:extLst>
      <p:ext uri="{BB962C8B-B14F-4D97-AF65-F5344CB8AC3E}">
        <p14:creationId xmlns:p14="http://schemas.microsoft.com/office/powerpoint/2010/main" val="3241001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0788C73-A5EB-403B-B42B-BD675099DEDE}" type="datetimeFigureOut">
              <a:rPr lang="bg-BG" smtClean="0"/>
              <a:t>23.12.2022 г.</a:t>
            </a:fld>
            <a:endParaRPr lang="bg-BG"/>
          </a:p>
        </p:txBody>
      </p:sp>
      <p:sp>
        <p:nvSpPr>
          <p:cNvPr id="5" name="Footer Placeholder 4"/>
          <p:cNvSpPr>
            <a:spLocks noGrp="1"/>
          </p:cNvSpPr>
          <p:nvPr>
            <p:ph type="ftr" sz="quarter" idx="11"/>
          </p:nvPr>
        </p:nvSpPr>
        <p:spPr/>
        <p:txBody>
          <a:bodyPr/>
          <a:lstStyle/>
          <a:p>
            <a:endParaRPr lang="bg-BG"/>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3A04010-559F-4404-B332-9D86576DE171}" type="slidenum">
              <a:rPr lang="bg-BG" smtClean="0"/>
              <a:t>‹#›</a:t>
            </a:fld>
            <a:endParaRPr lang="bg-BG"/>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148726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20788C73-A5EB-403B-B42B-BD675099DEDE}" type="datetimeFigureOut">
              <a:rPr lang="bg-BG" smtClean="0"/>
              <a:t>23.12.2022 г.</a:t>
            </a:fld>
            <a:endParaRPr lang="bg-BG"/>
          </a:p>
        </p:txBody>
      </p:sp>
      <p:sp>
        <p:nvSpPr>
          <p:cNvPr id="6" name="Footer Placeholder 5"/>
          <p:cNvSpPr>
            <a:spLocks noGrp="1"/>
          </p:cNvSpPr>
          <p:nvPr>
            <p:ph type="ftr" sz="quarter" idx="11"/>
          </p:nvPr>
        </p:nvSpPr>
        <p:spPr/>
        <p:txBody>
          <a:bodyPr/>
          <a:lstStyle/>
          <a:p>
            <a:endParaRPr lang="bg-BG"/>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3A04010-559F-4404-B332-9D86576DE171}" type="slidenum">
              <a:rPr lang="bg-BG" smtClean="0"/>
              <a:t>‹#›</a:t>
            </a:fld>
            <a:endParaRPr lang="bg-BG"/>
          </a:p>
        </p:txBody>
      </p:sp>
    </p:spTree>
    <p:extLst>
      <p:ext uri="{BB962C8B-B14F-4D97-AF65-F5344CB8AC3E}">
        <p14:creationId xmlns:p14="http://schemas.microsoft.com/office/powerpoint/2010/main" val="26149052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20788C73-A5EB-403B-B42B-BD675099DEDE}" type="datetimeFigureOut">
              <a:rPr lang="bg-BG" smtClean="0"/>
              <a:t>23.12.2022 г.</a:t>
            </a:fld>
            <a:endParaRPr lang="bg-BG"/>
          </a:p>
        </p:txBody>
      </p:sp>
      <p:sp>
        <p:nvSpPr>
          <p:cNvPr id="6" name="Footer Placeholder 5"/>
          <p:cNvSpPr>
            <a:spLocks noGrp="1"/>
          </p:cNvSpPr>
          <p:nvPr>
            <p:ph type="ftr" sz="quarter" idx="11"/>
          </p:nvPr>
        </p:nvSpPr>
        <p:spPr/>
        <p:txBody>
          <a:bodyPr/>
          <a:lstStyle/>
          <a:p>
            <a:endParaRPr lang="bg-BG"/>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3A04010-559F-4404-B332-9D86576DE171}" type="slidenum">
              <a:rPr lang="bg-BG" smtClean="0"/>
              <a:t>‹#›</a:t>
            </a:fld>
            <a:endParaRPr lang="bg-BG"/>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672667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20788C73-A5EB-403B-B42B-BD675099DEDE}" type="datetimeFigureOut">
              <a:rPr lang="bg-BG" smtClean="0"/>
              <a:t>23.12.2022 г.</a:t>
            </a:fld>
            <a:endParaRPr lang="bg-BG"/>
          </a:p>
        </p:txBody>
      </p:sp>
      <p:sp>
        <p:nvSpPr>
          <p:cNvPr id="6" name="Footer Placeholder 5"/>
          <p:cNvSpPr>
            <a:spLocks noGrp="1"/>
          </p:cNvSpPr>
          <p:nvPr>
            <p:ph type="ftr" sz="quarter" idx="11"/>
          </p:nvPr>
        </p:nvSpPr>
        <p:spPr/>
        <p:txBody>
          <a:bodyPr/>
          <a:lstStyle/>
          <a:p>
            <a:endParaRPr lang="bg-BG"/>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3A04010-559F-4404-B332-9D86576DE171}" type="slidenum">
              <a:rPr lang="bg-BG" smtClean="0"/>
              <a:t>‹#›</a:t>
            </a:fld>
            <a:endParaRPr lang="bg-BG"/>
          </a:p>
        </p:txBody>
      </p:sp>
    </p:spTree>
    <p:extLst>
      <p:ext uri="{BB962C8B-B14F-4D97-AF65-F5344CB8AC3E}">
        <p14:creationId xmlns:p14="http://schemas.microsoft.com/office/powerpoint/2010/main" val="8818163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0788C73-A5EB-403B-B42B-BD675099DEDE}" type="datetimeFigureOut">
              <a:rPr lang="bg-BG" smtClean="0"/>
              <a:t>23.12.2022 г.</a:t>
            </a:fld>
            <a:endParaRPr lang="bg-BG"/>
          </a:p>
        </p:txBody>
      </p:sp>
      <p:sp>
        <p:nvSpPr>
          <p:cNvPr id="5" name="Footer Placeholder 4"/>
          <p:cNvSpPr>
            <a:spLocks noGrp="1"/>
          </p:cNvSpPr>
          <p:nvPr>
            <p:ph type="ftr" sz="quarter" idx="11"/>
          </p:nvPr>
        </p:nvSpPr>
        <p:spPr/>
        <p:txBody>
          <a:bodyPr/>
          <a:lstStyle/>
          <a:p>
            <a:endParaRPr lang="bg-B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3A04010-559F-4404-B332-9D86576DE171}" type="slidenum">
              <a:rPr lang="bg-BG" smtClean="0"/>
              <a:t>‹#›</a:t>
            </a:fld>
            <a:endParaRPr lang="bg-BG"/>
          </a:p>
        </p:txBody>
      </p:sp>
    </p:spTree>
    <p:extLst>
      <p:ext uri="{BB962C8B-B14F-4D97-AF65-F5344CB8AC3E}">
        <p14:creationId xmlns:p14="http://schemas.microsoft.com/office/powerpoint/2010/main" val="7713398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0788C73-A5EB-403B-B42B-BD675099DEDE}" type="datetimeFigureOut">
              <a:rPr lang="bg-BG" smtClean="0"/>
              <a:t>23.12.2022 г.</a:t>
            </a:fld>
            <a:endParaRPr lang="bg-BG"/>
          </a:p>
        </p:txBody>
      </p:sp>
      <p:sp>
        <p:nvSpPr>
          <p:cNvPr id="5" name="Footer Placeholder 4"/>
          <p:cNvSpPr>
            <a:spLocks noGrp="1"/>
          </p:cNvSpPr>
          <p:nvPr>
            <p:ph type="ftr" sz="quarter" idx="11"/>
          </p:nvPr>
        </p:nvSpPr>
        <p:spPr/>
        <p:txBody>
          <a:bodyPr/>
          <a:lstStyle/>
          <a:p>
            <a:endParaRPr lang="bg-B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3A04010-559F-4404-B332-9D86576DE171}" type="slidenum">
              <a:rPr lang="bg-BG" smtClean="0"/>
              <a:t>‹#›</a:t>
            </a:fld>
            <a:endParaRPr lang="bg-BG"/>
          </a:p>
        </p:txBody>
      </p:sp>
    </p:spTree>
    <p:extLst>
      <p:ext uri="{BB962C8B-B14F-4D97-AF65-F5344CB8AC3E}">
        <p14:creationId xmlns:p14="http://schemas.microsoft.com/office/powerpoint/2010/main" val="2399629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0788C73-A5EB-403B-B42B-BD675099DEDE}" type="datetimeFigureOut">
              <a:rPr lang="bg-BG" smtClean="0"/>
              <a:t>23.12.2022 г.</a:t>
            </a:fld>
            <a:endParaRPr lang="bg-BG"/>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bg-BG"/>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3A04010-559F-4404-B332-9D86576DE171}" type="slidenum">
              <a:rPr lang="bg-BG" smtClean="0"/>
              <a:t>‹#›</a:t>
            </a:fld>
            <a:endParaRPr lang="bg-BG"/>
          </a:p>
        </p:txBody>
      </p:sp>
    </p:spTree>
    <p:extLst>
      <p:ext uri="{BB962C8B-B14F-4D97-AF65-F5344CB8AC3E}">
        <p14:creationId xmlns:p14="http://schemas.microsoft.com/office/powerpoint/2010/main" val="38825243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13" Type="http://schemas.openxmlformats.org/officeDocument/2006/relationships/slide" Target="slide27.xml"/><Relationship Id="rId3" Type="http://schemas.openxmlformats.org/officeDocument/2006/relationships/slide" Target="slide4.xml"/><Relationship Id="rId7" Type="http://schemas.openxmlformats.org/officeDocument/2006/relationships/slide" Target="slide10.xml"/><Relationship Id="rId12" Type="http://schemas.openxmlformats.org/officeDocument/2006/relationships/slide" Target="slide25.xml"/><Relationship Id="rId17" Type="http://schemas.openxmlformats.org/officeDocument/2006/relationships/slide" Target="slide33.xml"/><Relationship Id="rId2" Type="http://schemas.openxmlformats.org/officeDocument/2006/relationships/slide" Target="slide3.xml"/><Relationship Id="rId16"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slide" Target="slide8.xml"/><Relationship Id="rId11" Type="http://schemas.openxmlformats.org/officeDocument/2006/relationships/slide" Target="slide22.xml"/><Relationship Id="rId5" Type="http://schemas.openxmlformats.org/officeDocument/2006/relationships/slide" Target="slide6.xml"/><Relationship Id="rId15" Type="http://schemas.openxmlformats.org/officeDocument/2006/relationships/slide" Target="slide30.xml"/><Relationship Id="rId10" Type="http://schemas.openxmlformats.org/officeDocument/2006/relationships/slide" Target="slide18.xml"/><Relationship Id="rId4" Type="http://schemas.openxmlformats.org/officeDocument/2006/relationships/slide" Target="slide5.xml"/><Relationship Id="rId9" Type="http://schemas.openxmlformats.org/officeDocument/2006/relationships/slide" Target="slide14.xml"/><Relationship Id="rId14" Type="http://schemas.openxmlformats.org/officeDocument/2006/relationships/slide" Target="slide28.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3.xml"/><Relationship Id="rId7" Type="http://schemas.openxmlformats.org/officeDocument/2006/relationships/slide" Target="slide4.xml"/><Relationship Id="rId2" Type="http://schemas.openxmlformats.org/officeDocument/2006/relationships/slide" Target="slide9.xml"/><Relationship Id="rId1" Type="http://schemas.openxmlformats.org/officeDocument/2006/relationships/slideLayout" Target="../slideLayouts/slideLayout4.xml"/><Relationship Id="rId6" Type="http://schemas.openxmlformats.org/officeDocument/2006/relationships/slide" Target="slide13.xml"/><Relationship Id="rId5" Type="http://schemas.openxmlformats.org/officeDocument/2006/relationships/slide" Target="slide22.xml"/><Relationship Id="rId10" Type="http://schemas.openxmlformats.org/officeDocument/2006/relationships/slide" Target="slide23.xml"/><Relationship Id="rId4" Type="http://schemas.openxmlformats.org/officeDocument/2006/relationships/slide" Target="slide31.xml"/><Relationship Id="rId9" Type="http://schemas.openxmlformats.org/officeDocument/2006/relationships/slide" Target="slide25.xml"/></Relationships>
</file>

<file path=ppt/slides/_rels/slide37.xml.rels><?xml version="1.0" encoding="UTF-8" standalone="yes"?>
<Relationships xmlns="http://schemas.openxmlformats.org/package/2006/relationships"><Relationship Id="rId3" Type="http://schemas.openxmlformats.org/officeDocument/2006/relationships/hyperlink" Target="http://pgds.org/books/pu/plot.html" TargetMode="External"/><Relationship Id="rId2" Type="http://schemas.openxmlformats.org/officeDocument/2006/relationships/hyperlink" Target="https://bg.wikipedia.org/" TargetMode="External"/><Relationship Id="rId1" Type="http://schemas.openxmlformats.org/officeDocument/2006/relationships/slideLayout" Target="../slideLayouts/slideLayout2.xml"/><Relationship Id="rId4" Type="http://schemas.openxmlformats.org/officeDocument/2006/relationships/hyperlink" Target="https://inputandoutputdevices780909610.wordpress.com/2018/06/25/&#1080;&#1079;&#1093;&#1086;&#1076;&#1085;&#1080;-&#1091;&#1089;&#1090;&#1088;&#1086;&#1081;&#1089;&#1090;&#1074;&#107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31571" y="2728567"/>
            <a:ext cx="9144000" cy="2387600"/>
          </a:xfrm>
        </p:spPr>
        <p:txBody>
          <a:bodyPr>
            <a:normAutofit/>
          </a:bodyPr>
          <a:lstStyle/>
          <a:p>
            <a:r>
              <a:rPr lang="bg-BG" sz="4400" dirty="0" smtClean="0">
                <a:latin typeface="Times New Roman" panose="02020603050405020304" pitchFamily="18" charset="0"/>
                <a:cs typeface="Times New Roman" panose="02020603050405020304" pitchFamily="18" charset="0"/>
              </a:rPr>
              <a:t>Изходни периферни устройства</a:t>
            </a:r>
            <a:endParaRPr lang="bg-BG" sz="44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831571" y="5109847"/>
            <a:ext cx="9144000" cy="1655762"/>
          </a:xfrm>
        </p:spPr>
        <p:txBody>
          <a:bodyPr>
            <a:normAutofit/>
          </a:bodyPr>
          <a:lstStyle/>
          <a:p>
            <a:r>
              <a:rPr lang="bg-BG" sz="2400" dirty="0" smtClean="0">
                <a:latin typeface="Times New Roman" panose="02020603050405020304" pitchFamily="18" charset="0"/>
                <a:cs typeface="Times New Roman" panose="02020603050405020304" pitchFamily="18" charset="0"/>
              </a:rPr>
              <a:t>Принтери и Плотери</a:t>
            </a:r>
            <a:endParaRPr lang="bg-BG" sz="24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rot="352590">
            <a:off x="6808283" y="716253"/>
            <a:ext cx="4324350" cy="3286125"/>
          </a:xfrm>
          <a:prstGeom prst="rect">
            <a:avLst/>
          </a:prstGeom>
        </p:spPr>
      </p:pic>
      <p:pic>
        <p:nvPicPr>
          <p:cNvPr id="8" name="Picture 7"/>
          <p:cNvPicPr>
            <a:picLocks noChangeAspect="1"/>
          </p:cNvPicPr>
          <p:nvPr/>
        </p:nvPicPr>
        <p:blipFill>
          <a:blip r:embed="rId3"/>
          <a:stretch>
            <a:fillRect/>
          </a:stretch>
        </p:blipFill>
        <p:spPr>
          <a:xfrm>
            <a:off x="3836306" y="593441"/>
            <a:ext cx="4514850" cy="3390900"/>
          </a:xfrm>
          <a:prstGeom prst="rect">
            <a:avLst/>
          </a:prstGeom>
        </p:spPr>
      </p:pic>
      <p:pic>
        <p:nvPicPr>
          <p:cNvPr id="9" name="Picture 8"/>
          <p:cNvPicPr>
            <a:picLocks noChangeAspect="1"/>
          </p:cNvPicPr>
          <p:nvPr/>
        </p:nvPicPr>
        <p:blipFill>
          <a:blip r:embed="rId4"/>
          <a:stretch>
            <a:fillRect/>
          </a:stretch>
        </p:blipFill>
        <p:spPr>
          <a:xfrm>
            <a:off x="721391" y="746929"/>
            <a:ext cx="5048250" cy="3352800"/>
          </a:xfrm>
          <a:prstGeom prst="rect">
            <a:avLst/>
          </a:prstGeom>
        </p:spPr>
      </p:pic>
    </p:spTree>
    <p:extLst>
      <p:ext uri="{BB962C8B-B14F-4D97-AF65-F5344CB8AC3E}">
        <p14:creationId xmlns:p14="http://schemas.microsoft.com/office/powerpoint/2010/main" val="183779252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sz="3600" b="1" dirty="0" smtClean="0">
                <a:latin typeface="Times New Roman" panose="02020603050405020304" pitchFamily="18" charset="0"/>
                <a:cs typeface="Times New Roman" panose="02020603050405020304" pitchFamily="18" charset="0"/>
              </a:rPr>
              <a:t>Съдаржание:</a:t>
            </a:r>
            <a:endParaRPr lang="bg-BG"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384367" y="1833938"/>
            <a:ext cx="10515600" cy="4351338"/>
          </a:xfrm>
        </p:spPr>
        <p:txBody>
          <a:bodyPr>
            <a:normAutofit/>
          </a:bodyPr>
          <a:lstStyle/>
          <a:p>
            <a:r>
              <a:rPr lang="bg-BG" b="1" dirty="0" smtClean="0">
                <a:latin typeface="Times New Roman" panose="02020603050405020304" pitchFamily="18" charset="0"/>
                <a:cs typeface="Times New Roman" panose="02020603050405020304" pitchFamily="18" charset="0"/>
                <a:hlinkClick r:id="rId2" action="ppaction://hlinksldjump"/>
              </a:rPr>
              <a:t>Изходни периферни устройства</a:t>
            </a:r>
            <a:r>
              <a:rPr lang="en-US" b="1" dirty="0" smtClean="0">
                <a:latin typeface="Times New Roman" panose="02020603050405020304" pitchFamily="18" charset="0"/>
                <a:cs typeface="Times New Roman" panose="02020603050405020304" pitchFamily="18" charset="0"/>
                <a:hlinkClick r:id="rId2" action="ppaction://hlinksldjump"/>
              </a:rPr>
              <a:t>.</a:t>
            </a:r>
            <a:r>
              <a:rPr lang="bg-BG" b="1" dirty="0" smtClean="0">
                <a:latin typeface="Times New Roman" panose="02020603050405020304" pitchFamily="18" charset="0"/>
                <a:cs typeface="Times New Roman" panose="02020603050405020304" pitchFamily="18" charset="0"/>
              </a:rPr>
              <a:t/>
            </a:r>
            <a:br>
              <a:rPr lang="bg-BG" b="1" dirty="0" smtClean="0">
                <a:latin typeface="Times New Roman" panose="02020603050405020304" pitchFamily="18" charset="0"/>
                <a:cs typeface="Times New Roman" panose="02020603050405020304" pitchFamily="18" charset="0"/>
              </a:rPr>
            </a:br>
            <a:r>
              <a:rPr lang="en-US" sz="1800" dirty="0" smtClean="0">
                <a:latin typeface="Times New Roman" panose="02020603050405020304" pitchFamily="18" charset="0"/>
                <a:cs typeface="Times New Roman" panose="02020603050405020304" pitchFamily="18" charset="0"/>
                <a:hlinkClick r:id="rId3" action="ppaction://hlinksldjump"/>
              </a:rPr>
              <a:t>Softcopy</a:t>
            </a:r>
            <a:r>
              <a:rPr lang="en-US" sz="1800" dirty="0" smtClean="0">
                <a:latin typeface="Times New Roman" panose="02020603050405020304" pitchFamily="18" charset="0"/>
                <a:cs typeface="Times New Roman" panose="02020603050405020304" pitchFamily="18" charset="0"/>
              </a:rPr>
              <a:t>/</a:t>
            </a:r>
            <a:r>
              <a:rPr lang="en-US" sz="1800" dirty="0" smtClean="0">
                <a:latin typeface="Times New Roman" panose="02020603050405020304" pitchFamily="18" charset="0"/>
                <a:cs typeface="Times New Roman" panose="02020603050405020304" pitchFamily="18" charset="0"/>
                <a:hlinkClick r:id="rId4" action="ppaction://hlinksldjump"/>
              </a:rPr>
              <a:t>Hardcopy</a:t>
            </a:r>
            <a:endParaRPr lang="bg-BG" sz="1800" dirty="0" smtClean="0">
              <a:latin typeface="Times New Roman" panose="02020603050405020304" pitchFamily="18" charset="0"/>
              <a:cs typeface="Times New Roman" panose="02020603050405020304" pitchFamily="18" charset="0"/>
            </a:endParaRPr>
          </a:p>
          <a:p>
            <a:r>
              <a:rPr lang="bg-BG" b="1" dirty="0" smtClean="0">
                <a:latin typeface="Times New Roman" panose="02020603050405020304" pitchFamily="18" charset="0"/>
                <a:cs typeface="Times New Roman" panose="02020603050405020304" pitchFamily="18" charset="0"/>
                <a:hlinkClick r:id="rId5" action="ppaction://hlinksldjump"/>
              </a:rPr>
              <a:t>Принтер</a:t>
            </a:r>
            <a:endParaRPr lang="bg-BG" b="1" dirty="0" smtClean="0">
              <a:latin typeface="Times New Roman" panose="02020603050405020304" pitchFamily="18" charset="0"/>
              <a:cs typeface="Times New Roman" panose="02020603050405020304" pitchFamily="18" charset="0"/>
            </a:endParaRPr>
          </a:p>
          <a:p>
            <a:r>
              <a:rPr lang="bg-BG" b="1" dirty="0" smtClean="0">
                <a:latin typeface="Times New Roman" panose="02020603050405020304" pitchFamily="18" charset="0"/>
                <a:cs typeface="Times New Roman" panose="02020603050405020304" pitchFamily="18" charset="0"/>
                <a:hlinkClick r:id="rId6" action="ppaction://hlinksldjump"/>
              </a:rPr>
              <a:t>Видове принтери</a:t>
            </a:r>
            <a:r>
              <a:rPr lang="bg-BG" dirty="0" smtClean="0">
                <a:latin typeface="Times New Roman" panose="02020603050405020304" pitchFamily="18" charset="0"/>
                <a:cs typeface="Times New Roman" panose="02020603050405020304" pitchFamily="18" charset="0"/>
              </a:rPr>
              <a:t/>
            </a:r>
            <a:br>
              <a:rPr lang="bg-BG" dirty="0" smtClean="0">
                <a:latin typeface="Times New Roman" panose="02020603050405020304" pitchFamily="18" charset="0"/>
                <a:cs typeface="Times New Roman" panose="02020603050405020304" pitchFamily="18" charset="0"/>
              </a:rPr>
            </a:br>
            <a:r>
              <a:rPr lang="bg-BG" sz="1600" dirty="0" smtClean="0">
                <a:latin typeface="Times New Roman" panose="02020603050405020304" pitchFamily="18" charset="0"/>
                <a:cs typeface="Times New Roman" panose="02020603050405020304" pitchFamily="18" charset="0"/>
                <a:hlinkClick r:id="rId6" action="ppaction://hlinksldjump"/>
              </a:rPr>
              <a:t>Каретков;</a:t>
            </a:r>
            <a:r>
              <a:rPr lang="bg-BG" sz="1600" dirty="0" smtClean="0">
                <a:latin typeface="Times New Roman" panose="02020603050405020304" pitchFamily="18" charset="0"/>
                <a:cs typeface="Times New Roman" panose="02020603050405020304" pitchFamily="18" charset="0"/>
              </a:rPr>
              <a:t> </a:t>
            </a:r>
            <a:r>
              <a:rPr lang="bg-BG" sz="1600" dirty="0" smtClean="0">
                <a:latin typeface="Times New Roman" panose="02020603050405020304" pitchFamily="18" charset="0"/>
                <a:cs typeface="Times New Roman" panose="02020603050405020304" pitchFamily="18" charset="0"/>
                <a:hlinkClick r:id="rId7" action="ppaction://hlinksldjump"/>
              </a:rPr>
              <a:t>Линеен;</a:t>
            </a:r>
            <a:r>
              <a:rPr lang="bg-BG" sz="1600" dirty="0" smtClean="0">
                <a:latin typeface="Times New Roman" panose="02020603050405020304" pitchFamily="18" charset="0"/>
                <a:cs typeface="Times New Roman" panose="02020603050405020304" pitchFamily="18" charset="0"/>
              </a:rPr>
              <a:t> </a:t>
            </a:r>
            <a:r>
              <a:rPr lang="bg-BG" sz="1600" dirty="0" smtClean="0">
                <a:latin typeface="Times New Roman" panose="02020603050405020304" pitchFamily="18" charset="0"/>
                <a:cs typeface="Times New Roman" panose="02020603050405020304" pitchFamily="18" charset="0"/>
                <a:hlinkClick r:id="rId8" action="ppaction://hlinksldjump"/>
              </a:rPr>
              <a:t>Матричен;</a:t>
            </a:r>
            <a:r>
              <a:rPr lang="bg-BG" sz="1600" dirty="0" smtClean="0">
                <a:latin typeface="Times New Roman" panose="02020603050405020304" pitchFamily="18" charset="0"/>
                <a:cs typeface="Times New Roman" panose="02020603050405020304" pitchFamily="18" charset="0"/>
              </a:rPr>
              <a:t/>
            </a:r>
            <a:br>
              <a:rPr lang="bg-BG" sz="1600" dirty="0" smtClean="0">
                <a:latin typeface="Times New Roman" panose="02020603050405020304" pitchFamily="18" charset="0"/>
                <a:cs typeface="Times New Roman" panose="02020603050405020304" pitchFamily="18" charset="0"/>
              </a:rPr>
            </a:br>
            <a:r>
              <a:rPr lang="bg-BG" sz="1600" dirty="0" smtClean="0">
                <a:latin typeface="Times New Roman" panose="02020603050405020304" pitchFamily="18" charset="0"/>
                <a:cs typeface="Times New Roman" panose="02020603050405020304" pitchFamily="18" charset="0"/>
                <a:hlinkClick r:id="rId9" action="ppaction://hlinksldjump"/>
              </a:rPr>
              <a:t>Лазерен;</a:t>
            </a:r>
            <a:r>
              <a:rPr lang="bg-BG" sz="1600" dirty="0" smtClean="0">
                <a:latin typeface="Times New Roman" panose="02020603050405020304" pitchFamily="18" charset="0"/>
                <a:cs typeface="Times New Roman" panose="02020603050405020304" pitchFamily="18" charset="0"/>
              </a:rPr>
              <a:t> </a:t>
            </a:r>
            <a:r>
              <a:rPr lang="bg-BG" sz="1600" dirty="0" smtClean="0">
                <a:latin typeface="Times New Roman" panose="02020603050405020304" pitchFamily="18" charset="0"/>
                <a:cs typeface="Times New Roman" panose="02020603050405020304" pitchFamily="18" charset="0"/>
                <a:hlinkClick r:id="rId10" action="ppaction://hlinksldjump"/>
              </a:rPr>
              <a:t>Мастиленоструен;</a:t>
            </a:r>
            <a:r>
              <a:rPr lang="bg-BG" sz="1600" dirty="0" smtClean="0">
                <a:latin typeface="Times New Roman" panose="02020603050405020304" pitchFamily="18" charset="0"/>
                <a:cs typeface="Times New Roman" panose="02020603050405020304" pitchFamily="18" charset="0"/>
              </a:rPr>
              <a:t/>
            </a:r>
            <a:br>
              <a:rPr lang="bg-BG" sz="1600" dirty="0" smtClean="0">
                <a:latin typeface="Times New Roman" panose="02020603050405020304" pitchFamily="18" charset="0"/>
                <a:cs typeface="Times New Roman" panose="02020603050405020304" pitchFamily="18" charset="0"/>
              </a:rPr>
            </a:br>
            <a:r>
              <a:rPr lang="bg-BG" sz="1600" dirty="0" smtClean="0">
                <a:latin typeface="Times New Roman" panose="02020603050405020304" pitchFamily="18" charset="0"/>
                <a:cs typeface="Times New Roman" panose="02020603050405020304" pitchFamily="18" charset="0"/>
                <a:hlinkClick r:id="rId11" action="ppaction://hlinksldjump"/>
              </a:rPr>
              <a:t>Термопринтери;</a:t>
            </a:r>
            <a:r>
              <a:rPr lang="bg-BG" sz="1600" dirty="0" smtClean="0">
                <a:latin typeface="Times New Roman" panose="02020603050405020304" pitchFamily="18" charset="0"/>
                <a:cs typeface="Times New Roman" panose="02020603050405020304" pitchFamily="18" charset="0"/>
              </a:rPr>
              <a:t> </a:t>
            </a:r>
            <a:r>
              <a:rPr lang="bg-BG" sz="1600" dirty="0" smtClean="0">
                <a:latin typeface="Times New Roman" panose="02020603050405020304" pitchFamily="18" charset="0"/>
                <a:cs typeface="Times New Roman" panose="02020603050405020304" pitchFamily="18" charset="0"/>
                <a:hlinkClick r:id="rId12" action="ppaction://hlinksldjump"/>
              </a:rPr>
              <a:t>Сублимационен</a:t>
            </a:r>
            <a:endParaRPr lang="bg-BG" sz="1600" dirty="0">
              <a:latin typeface="Times New Roman" panose="02020603050405020304" pitchFamily="18" charset="0"/>
              <a:cs typeface="Times New Roman" panose="02020603050405020304" pitchFamily="18" charset="0"/>
            </a:endParaRPr>
          </a:p>
          <a:p>
            <a:r>
              <a:rPr lang="bg-BG" b="1" dirty="0" smtClean="0">
                <a:latin typeface="Times New Roman" panose="02020603050405020304" pitchFamily="18" charset="0"/>
                <a:cs typeface="Times New Roman" panose="02020603050405020304" pitchFamily="18" charset="0"/>
                <a:hlinkClick r:id="rId13" action="ppaction://hlinksldjump"/>
              </a:rPr>
              <a:t>Плотери</a:t>
            </a:r>
            <a:endParaRPr lang="bg-BG" b="1" dirty="0" smtClean="0">
              <a:latin typeface="Times New Roman" panose="02020603050405020304" pitchFamily="18" charset="0"/>
              <a:cs typeface="Times New Roman" panose="02020603050405020304" pitchFamily="18" charset="0"/>
            </a:endParaRPr>
          </a:p>
          <a:p>
            <a:r>
              <a:rPr lang="bg-BG" b="1" dirty="0" smtClean="0">
                <a:latin typeface="Times New Roman" panose="02020603050405020304" pitchFamily="18" charset="0"/>
                <a:cs typeface="Times New Roman" panose="02020603050405020304" pitchFamily="18" charset="0"/>
                <a:hlinkClick r:id="rId14" action="ppaction://hlinksldjump"/>
              </a:rPr>
              <a:t>Видове плотери</a:t>
            </a:r>
            <a:r>
              <a:rPr lang="bg-BG" dirty="0" smtClean="0">
                <a:latin typeface="Times New Roman" panose="02020603050405020304" pitchFamily="18" charset="0"/>
                <a:cs typeface="Times New Roman" panose="02020603050405020304" pitchFamily="18" charset="0"/>
                <a:hlinkClick r:id="rId14" action="ppaction://hlinksldjump"/>
              </a:rPr>
              <a:t/>
            </a:r>
            <a:br>
              <a:rPr lang="bg-BG" dirty="0" smtClean="0">
                <a:latin typeface="Times New Roman" panose="02020603050405020304" pitchFamily="18" charset="0"/>
                <a:cs typeface="Times New Roman" panose="02020603050405020304" pitchFamily="18" charset="0"/>
                <a:hlinkClick r:id="rId14" action="ppaction://hlinksldjump"/>
              </a:rPr>
            </a:br>
            <a:r>
              <a:rPr lang="bg-BG" sz="1600" dirty="0" smtClean="0">
                <a:latin typeface="Times New Roman" panose="02020603050405020304" pitchFamily="18" charset="0"/>
                <a:cs typeface="Times New Roman" panose="02020603050405020304" pitchFamily="18" charset="0"/>
                <a:hlinkClick r:id="rId15" action="ppaction://hlinksldjump"/>
              </a:rPr>
              <a:t>Барабанни;</a:t>
            </a:r>
            <a:r>
              <a:rPr lang="bg-BG" sz="1600" dirty="0" smtClean="0">
                <a:latin typeface="Times New Roman" panose="02020603050405020304" pitchFamily="18" charset="0"/>
                <a:cs typeface="Times New Roman" panose="02020603050405020304" pitchFamily="18" charset="0"/>
              </a:rPr>
              <a:t> </a:t>
            </a:r>
            <a:r>
              <a:rPr lang="bg-BG" sz="1600" dirty="0" smtClean="0">
                <a:latin typeface="Times New Roman" panose="02020603050405020304" pitchFamily="18" charset="0"/>
                <a:cs typeface="Times New Roman" panose="02020603050405020304" pitchFamily="18" charset="0"/>
                <a:hlinkClick r:id="rId16" action="ppaction://hlinksldjump"/>
              </a:rPr>
              <a:t>Плоски;</a:t>
            </a:r>
            <a:r>
              <a:rPr lang="bg-BG" sz="1600" dirty="0" smtClean="0">
                <a:latin typeface="Times New Roman" panose="02020603050405020304" pitchFamily="18" charset="0"/>
                <a:cs typeface="Times New Roman" panose="02020603050405020304" pitchFamily="18" charset="0"/>
              </a:rPr>
              <a:t> </a:t>
            </a:r>
            <a:r>
              <a:rPr lang="bg-BG" sz="1600" dirty="0" smtClean="0">
                <a:latin typeface="Times New Roman" panose="02020603050405020304" pitchFamily="18" charset="0"/>
                <a:cs typeface="Times New Roman" panose="02020603050405020304" pitchFamily="18" charset="0"/>
                <a:hlinkClick r:id="rId17" action="ppaction://hlinksldjump"/>
              </a:rPr>
              <a:t>Електростатични</a:t>
            </a:r>
            <a:r>
              <a:rPr lang="bg-BG" dirty="0" smtClean="0">
                <a:latin typeface="Times New Roman" panose="02020603050405020304" pitchFamily="18" charset="0"/>
                <a:cs typeface="Times New Roman" panose="02020603050405020304" pitchFamily="18" charset="0"/>
              </a:rPr>
              <a:t/>
            </a:r>
            <a:br>
              <a:rPr lang="bg-BG" dirty="0" smtClean="0">
                <a:latin typeface="Times New Roman" panose="02020603050405020304" pitchFamily="18" charset="0"/>
                <a:cs typeface="Times New Roman" panose="02020603050405020304" pitchFamily="18" charset="0"/>
              </a:rPr>
            </a:br>
            <a:endParaRPr lang="bg-B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0844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sz="3600" dirty="0" smtClean="0">
                <a:latin typeface="Times New Roman" panose="02020603050405020304" pitchFamily="18" charset="0"/>
                <a:cs typeface="Times New Roman" panose="02020603050405020304" pitchFamily="18" charset="0"/>
              </a:rPr>
              <a:t>Изходни периферни устройства:</a:t>
            </a:r>
            <a:endParaRPr lang="bg-BG"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73413"/>
            <a:ext cx="5895109" cy="4351338"/>
          </a:xfrm>
        </p:spPr>
        <p:txBody>
          <a:bodyPr>
            <a:normAutofit/>
          </a:bodyPr>
          <a:lstStyle/>
          <a:p>
            <a:pPr algn="just"/>
            <a:r>
              <a:rPr lang="ru-RU" sz="2400" dirty="0" smtClean="0">
                <a:latin typeface="Times New Roman" panose="02020603050405020304" pitchFamily="18" charset="0"/>
                <a:cs typeface="Times New Roman" panose="02020603050405020304" pitchFamily="18" charset="0"/>
              </a:rPr>
              <a:t>Изходните периферни устройства служат за извеждане на крайните резултати от обработката на данните във вид, удобен за употреба на потребителя. Има два вида изход: временен (softcopy) и дълготраен (hardcopy). </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000502" y="1873413"/>
            <a:ext cx="4853447" cy="311745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87251765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614508"/>
            <a:ext cx="10515600" cy="1325563"/>
          </a:xfrm>
        </p:spPr>
        <p:txBody>
          <a:bodyPr>
            <a:normAutofit/>
          </a:bodyPr>
          <a:lstStyle/>
          <a:p>
            <a:r>
              <a:rPr lang="en-US" sz="3600" dirty="0" smtClean="0">
                <a:latin typeface="Times New Roman" panose="02020603050405020304" pitchFamily="18" charset="0"/>
                <a:cs typeface="Times New Roman" panose="02020603050405020304" pitchFamily="18" charset="0"/>
              </a:rPr>
              <a:t>Softcopy:</a:t>
            </a:r>
            <a:endParaRPr lang="bg-BG"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3015" y="1800687"/>
            <a:ext cx="4797829" cy="4351338"/>
          </a:xfrm>
        </p:spPr>
        <p:txBody>
          <a:bodyPr>
            <a:normAutofit/>
          </a:bodyPr>
          <a:lstStyle/>
          <a:p>
            <a:r>
              <a:rPr lang="ru-RU" sz="2400" dirty="0" smtClean="0">
                <a:latin typeface="Times New Roman" panose="02020603050405020304" pitchFamily="18" charset="0"/>
                <a:cs typeface="Times New Roman" panose="02020603050405020304" pitchFamily="18" charset="0"/>
              </a:rPr>
              <a:t>Устройствата за временен изход са предназначени за извеждане на визуална или звукова информация, която ще се използва от хората само в момента на извеждането или в малък интервал от време след това. Това обикновено са мониторът и високоговорителят на компютъра.</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6542117" y="1427711"/>
            <a:ext cx="4879571" cy="365967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408302143"/>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0789" y="608127"/>
            <a:ext cx="10515600" cy="1325563"/>
          </a:xfrm>
        </p:spPr>
        <p:txBody>
          <a:bodyPr/>
          <a:lstStyle/>
          <a:p>
            <a:r>
              <a:rPr lang="en-US" sz="3600" dirty="0" smtClean="0">
                <a:latin typeface="Times New Roman" panose="02020603050405020304" pitchFamily="18" charset="0"/>
                <a:cs typeface="Times New Roman" panose="02020603050405020304" pitchFamily="18" charset="0"/>
              </a:rPr>
              <a:t>Hardcopy</a:t>
            </a:r>
            <a:r>
              <a:rPr lang="en-US" dirty="0" smtClean="0"/>
              <a:t>:</a:t>
            </a:r>
            <a:endParaRPr lang="bg-BG" dirty="0"/>
          </a:p>
        </p:txBody>
      </p:sp>
      <p:sp>
        <p:nvSpPr>
          <p:cNvPr id="3" name="Content Placeholder 2"/>
          <p:cNvSpPr>
            <a:spLocks noGrp="1"/>
          </p:cNvSpPr>
          <p:nvPr>
            <p:ph idx="1"/>
          </p:nvPr>
        </p:nvSpPr>
        <p:spPr>
          <a:xfrm>
            <a:off x="838200" y="1825625"/>
            <a:ext cx="4448695" cy="4351338"/>
          </a:xfrm>
        </p:spPr>
        <p:txBody>
          <a:bodyPr>
            <a:normAutofit/>
          </a:bodyPr>
          <a:lstStyle/>
          <a:p>
            <a:r>
              <a:rPr lang="ru-RU" sz="2400" dirty="0" smtClean="0">
                <a:latin typeface="Times New Roman" panose="02020603050405020304" pitchFamily="18" charset="0"/>
                <a:cs typeface="Times New Roman" panose="02020603050405020304" pitchFamily="18" charset="0"/>
              </a:rPr>
              <a:t>Устройствата за дълготраен изход извеждат информацията, напечатана на хартия. Това са принтерът и плотерът. За архивиране на графична информация в силно умален вид от 20 до 100 пъти спрямо обикновена печатна страница се използват микрофилм и микрофиш.</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6334299" y="1384676"/>
            <a:ext cx="5153890" cy="386541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424467845"/>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4040" y="624753"/>
            <a:ext cx="10515600" cy="1325563"/>
          </a:xfrm>
        </p:spPr>
        <p:txBody>
          <a:bodyPr>
            <a:normAutofit/>
          </a:bodyPr>
          <a:lstStyle/>
          <a:p>
            <a:r>
              <a:rPr lang="bg-BG" sz="3600" dirty="0" smtClean="0">
                <a:latin typeface="Times New Roman" panose="02020603050405020304" pitchFamily="18" charset="0"/>
                <a:cs typeface="Times New Roman" panose="02020603050405020304" pitchFamily="18" charset="0"/>
              </a:rPr>
              <a:t>Принтер</a:t>
            </a:r>
            <a:endParaRPr lang="bg-BG"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3385" y="1742498"/>
            <a:ext cx="5928360" cy="4351338"/>
          </a:xfrm>
        </p:spPr>
        <p:txBody>
          <a:bodyPr>
            <a:normAutofit fontScale="92500"/>
          </a:bodyPr>
          <a:lstStyle/>
          <a:p>
            <a:pPr algn="just"/>
            <a:r>
              <a:rPr lang="ru-RU" sz="2400" dirty="0" smtClean="0">
                <a:latin typeface="Times New Roman" panose="02020603050405020304" pitchFamily="18" charset="0"/>
                <a:cs typeface="Times New Roman" panose="02020603050405020304" pitchFamily="18" charset="0"/>
              </a:rPr>
              <a:t>Принтерите са компютърни периферни устройства, които служат за печат на хартия (понякога и на други материали) на документи, които могат да включват текст и изображения. Повечето принтери се използват като периферни устройства, прикачени с кабел само към един персонален компютър. Други принтери, известни като мрежови принтери, работят с вграден мрежов интерфейс (обикновено безжичен или Ethernet), като обслужват едновременно много потребители. </a:t>
            </a:r>
            <a:endParaRPr lang="bg-BG" sz="2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7363273" y="1007745"/>
            <a:ext cx="4236714" cy="508609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8715338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278774" y="620279"/>
            <a:ext cx="10515600" cy="4351338"/>
          </a:xfrm>
        </p:spPr>
        <p:txBody>
          <a:bodyPr>
            <a:normAutofit/>
          </a:bodyPr>
          <a:lstStyle/>
          <a:p>
            <a:pPr marL="0" indent="0" algn="ctr">
              <a:buNone/>
            </a:pPr>
            <a:r>
              <a:rPr lang="ru-RU" sz="2400" dirty="0" smtClean="0">
                <a:latin typeface="Times New Roman" panose="02020603050405020304" pitchFamily="18" charset="0"/>
                <a:cs typeface="Times New Roman" panose="02020603050405020304" pitchFamily="18" charset="0"/>
              </a:rPr>
              <a:t>Много съвременни принтери могат директно, от цифровия носител (мултимедийна флаш карта, USB флаш, скенер, цифров фотоапарат или камера), без връзка с компютър, да възпроизвеждат електронни документи. Принтер, комбиниран в едно устройство със скенер, факс и копир се нарича мултифункционално устройство.</a:t>
            </a:r>
            <a:endParaRPr lang="bg-BG" sz="2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2784763" y="2795948"/>
            <a:ext cx="6184669" cy="348803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04113596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3238" y="573578"/>
            <a:ext cx="9641378" cy="753283"/>
          </a:xfrm>
        </p:spPr>
        <p:txBody>
          <a:bodyPr>
            <a:normAutofit fontScale="90000"/>
          </a:bodyPr>
          <a:lstStyle/>
          <a:p>
            <a:r>
              <a:rPr lang="bg-BG" sz="4000" dirty="0">
                <a:latin typeface="Times New Roman" panose="02020603050405020304" pitchFamily="18" charset="0"/>
                <a:cs typeface="Times New Roman" panose="02020603050405020304" pitchFamily="18" charset="0"/>
              </a:rPr>
              <a:t>Видове</a:t>
            </a:r>
            <a:r>
              <a:rPr lang="bg-BG" dirty="0">
                <a:latin typeface="Times New Roman" panose="02020603050405020304" pitchFamily="18" charset="0"/>
                <a:cs typeface="Times New Roman" panose="02020603050405020304" pitchFamily="18" charset="0"/>
              </a:rPr>
              <a:t> </a:t>
            </a:r>
            <a:r>
              <a:rPr lang="bg-BG" sz="4000" dirty="0" smtClean="0">
                <a:latin typeface="Times New Roman" panose="02020603050405020304" pitchFamily="18" charset="0"/>
                <a:cs typeface="Times New Roman" panose="02020603050405020304" pitchFamily="18" charset="0"/>
              </a:rPr>
              <a:t>принтери</a:t>
            </a:r>
            <a:r>
              <a:rPr lang="bg-BG" dirty="0" smtClean="0">
                <a:latin typeface="Times New Roman" panose="02020603050405020304" pitchFamily="18" charset="0"/>
                <a:cs typeface="Times New Roman" panose="02020603050405020304" pitchFamily="18" charset="0"/>
              </a:rPr>
              <a:t>. </a:t>
            </a:r>
            <a:r>
              <a:rPr lang="bg-BG" sz="4000" dirty="0">
                <a:latin typeface="Times New Roman" panose="02020603050405020304" pitchFamily="18" charset="0"/>
                <a:cs typeface="Times New Roman" panose="02020603050405020304" pitchFamily="18" charset="0"/>
              </a:rPr>
              <a:t>Каретков (Маргаритков) принтер</a:t>
            </a:r>
            <a:br>
              <a:rPr lang="bg-BG" sz="4000" dirty="0">
                <a:latin typeface="Times New Roman" panose="02020603050405020304" pitchFamily="18" charset="0"/>
                <a:cs typeface="Times New Roman" panose="02020603050405020304" pitchFamily="18" charset="0"/>
              </a:rPr>
            </a:br>
            <a:r>
              <a:rPr lang="bg-BG" dirty="0">
                <a:latin typeface="Times New Roman" panose="02020603050405020304" pitchFamily="18" charset="0"/>
                <a:cs typeface="Times New Roman" panose="02020603050405020304" pitchFamily="18" charset="0"/>
              </a:rPr>
              <a:t/>
            </a:r>
            <a:br>
              <a:rPr lang="bg-BG" dirty="0">
                <a:latin typeface="Times New Roman" panose="02020603050405020304" pitchFamily="18" charset="0"/>
                <a:cs typeface="Times New Roman" panose="02020603050405020304" pitchFamily="18" charset="0"/>
              </a:rPr>
            </a:br>
            <a:endParaRPr lang="bg-B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663238" y="1958630"/>
            <a:ext cx="5645727" cy="4351338"/>
          </a:xfrm>
        </p:spPr>
        <p:txBody>
          <a:bodyPr>
            <a:normAutofit fontScale="92500" lnSpcReduction="10000"/>
          </a:bodyPr>
          <a:lstStyle/>
          <a:p>
            <a:r>
              <a:rPr lang="ru-RU" sz="2400" dirty="0" smtClean="0">
                <a:latin typeface="Times New Roman" panose="02020603050405020304" pitchFamily="18" charset="0"/>
                <a:cs typeface="Times New Roman" panose="02020603050405020304" pitchFamily="18" charset="0"/>
              </a:rPr>
              <a:t>При тях се използва технология, подобна на ръчните пишещи машини – разположени в полукръг рамена, на чиито върхове са поставени печатащи букви в огледално изображение. Не могат да се използват за печат на нещо различно от текст, тъй като на рамената има само букви и цифри. Останалата част от технологията отново наподобява пишещите машини – при задвижване на всяко рамо, то удря листа хартия през намастилена лента и така се получава отпечатък. </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506345" y="2530880"/>
            <a:ext cx="2095500" cy="20955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29564143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53342" y="603656"/>
            <a:ext cx="10515600" cy="4351338"/>
          </a:xfrm>
        </p:spPr>
        <p:txBody>
          <a:bodyPr>
            <a:normAutofit/>
          </a:bodyPr>
          <a:lstStyle/>
          <a:p>
            <a:pPr marL="0" indent="0" algn="ctr">
              <a:buNone/>
            </a:pPr>
            <a:r>
              <a:rPr lang="ru-RU" sz="2400" dirty="0">
                <a:latin typeface="Times New Roman" panose="02020603050405020304" pitchFamily="18" charset="0"/>
                <a:cs typeface="Times New Roman" panose="02020603050405020304" pitchFamily="18" charset="0"/>
              </a:rPr>
              <a:t>Този вид принтери е сравнително евтин и лесен за поддръжка и се отличава с изключително качество на отпечатаните текстови документи, но неговото приложение е ограничено и той бързо е изместен от мастиленоструйните си събратя. Скоростта му достига до 90 символа в секунда.</a:t>
            </a:r>
            <a:endParaRPr lang="bg-BG" sz="2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4341669" y="2556070"/>
            <a:ext cx="3929495" cy="372064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62280114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614506"/>
            <a:ext cx="10515600" cy="1325563"/>
          </a:xfrm>
        </p:spPr>
        <p:txBody>
          <a:bodyPr/>
          <a:lstStyle/>
          <a:p>
            <a:r>
              <a:rPr lang="bg-BG" sz="3600" dirty="0">
                <a:latin typeface="Times New Roman" panose="02020603050405020304" pitchFamily="18" charset="0"/>
                <a:cs typeface="Times New Roman" panose="02020603050405020304" pitchFamily="18" charset="0"/>
              </a:rPr>
              <a:t>Линеен принтер</a:t>
            </a:r>
            <a:r>
              <a:rPr lang="bg-BG" b="1" dirty="0"/>
              <a:t/>
            </a:r>
            <a:br>
              <a:rPr lang="bg-BG" b="1" dirty="0"/>
            </a:br>
            <a:endParaRPr lang="bg-BG" dirty="0"/>
          </a:p>
        </p:txBody>
      </p:sp>
      <p:sp>
        <p:nvSpPr>
          <p:cNvPr id="3" name="Content Placeholder 2"/>
          <p:cNvSpPr>
            <a:spLocks noGrp="1"/>
          </p:cNvSpPr>
          <p:nvPr>
            <p:ph idx="1"/>
          </p:nvPr>
        </p:nvSpPr>
        <p:spPr>
          <a:xfrm>
            <a:off x="1676400" y="1559618"/>
            <a:ext cx="5753793" cy="4351338"/>
          </a:xfrm>
        </p:spPr>
        <p:txBody>
          <a:bodyPr>
            <a:normAutofit fontScale="77500" lnSpcReduction="20000"/>
          </a:bodyPr>
          <a:lstStyle/>
          <a:p>
            <a:r>
              <a:rPr lang="ru-RU" sz="2600" dirty="0">
                <a:latin typeface="Times New Roman" panose="02020603050405020304" pitchFamily="18" charset="0"/>
                <a:cs typeface="Times New Roman" panose="02020603050405020304" pitchFamily="18" charset="0"/>
              </a:rPr>
              <a:t>Съществуват няколко разновидности линейни принтери, като самото им име ги обобщава относително. Първият тип е т.нар. барабанен, при който символите и цифрите са поставени на въртящи се ролки, събрани в общ барабан. За отпечатването на всеки </a:t>
            </a:r>
            <a:r>
              <a:rPr lang="ru-RU" sz="2600" dirty="0" smtClean="0">
                <a:latin typeface="Times New Roman" panose="02020603050405020304" pitchFamily="18" charset="0"/>
                <a:cs typeface="Times New Roman" panose="02020603050405020304" pitchFamily="18" charset="0"/>
              </a:rPr>
              <a:t>символ</a:t>
            </a:r>
            <a:r>
              <a:rPr lang="ru-RU" sz="2600" dirty="0">
                <a:latin typeface="Times New Roman" panose="02020603050405020304" pitchFamily="18" charset="0"/>
                <a:cs typeface="Times New Roman" panose="02020603050405020304" pitchFamily="18" charset="0"/>
              </a:rPr>
              <a:t> „удря“ специфично чукче, когато символът се пада срещу листа хартия.</a:t>
            </a:r>
          </a:p>
          <a:p>
            <a:r>
              <a:rPr lang="ru-RU" sz="2600" dirty="0">
                <a:latin typeface="Times New Roman" panose="02020603050405020304" pitchFamily="18" charset="0"/>
                <a:cs typeface="Times New Roman" panose="02020603050405020304" pitchFamily="18" charset="0"/>
              </a:rPr>
              <a:t>Вариация на тази тема е верижният линеен принтер. При него символите са подредени в последователен вид, свързани в обща верига. Отново при идването на определен символ чукчето го притиска към листа хартия и през мастилената лента той се отпечатва.</a:t>
            </a:r>
          </a:p>
          <a:p>
            <a:endParaRPr lang="bg-BG" dirty="0"/>
          </a:p>
        </p:txBody>
      </p:sp>
      <p:pic>
        <p:nvPicPr>
          <p:cNvPr id="4" name="Picture 3"/>
          <p:cNvPicPr>
            <a:picLocks noChangeAspect="1"/>
          </p:cNvPicPr>
          <p:nvPr/>
        </p:nvPicPr>
        <p:blipFill>
          <a:blip r:embed="rId2"/>
          <a:stretch>
            <a:fillRect/>
          </a:stretch>
        </p:blipFill>
        <p:spPr>
          <a:xfrm>
            <a:off x="7920817" y="1504301"/>
            <a:ext cx="3855200" cy="38552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00114768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8155" y="686781"/>
            <a:ext cx="10515600" cy="4351338"/>
          </a:xfrm>
        </p:spPr>
        <p:txBody>
          <a:bodyPr/>
          <a:lstStyle/>
          <a:p>
            <a:pPr marL="0" indent="0" algn="ctr">
              <a:buNone/>
            </a:pPr>
            <a:r>
              <a:rPr lang="ru-RU" sz="2400" dirty="0" smtClean="0">
                <a:latin typeface="Times New Roman" panose="02020603050405020304" pitchFamily="18" charset="0"/>
                <a:cs typeface="Times New Roman" panose="02020603050405020304" pitchFamily="18" charset="0"/>
              </a:rPr>
              <a:t>Друга разновидност на линейните принтери е т.нар. лостов линеен принтер. При него символите се намират на отделни лостчета с обща основа, която се движи наляво и надясно, поставяйки желания символ пред чукчето, след което то го притиска към листа.</a:t>
            </a:r>
          </a:p>
          <a:p>
            <a:endParaRPr lang="bg-BG" dirty="0"/>
          </a:p>
        </p:txBody>
      </p:sp>
      <p:pic>
        <p:nvPicPr>
          <p:cNvPr id="4" name="Picture 3"/>
          <p:cNvPicPr>
            <a:picLocks noChangeAspect="1"/>
          </p:cNvPicPr>
          <p:nvPr/>
        </p:nvPicPr>
        <p:blipFill>
          <a:blip r:embed="rId2"/>
          <a:stretch>
            <a:fillRect/>
          </a:stretch>
        </p:blipFill>
        <p:spPr>
          <a:xfrm>
            <a:off x="3923607" y="2952883"/>
            <a:ext cx="4429298" cy="29417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638577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500062"/>
            <a:ext cx="10515600" cy="1325563"/>
          </a:xfrm>
        </p:spPr>
        <p:txBody>
          <a:bodyPr>
            <a:noAutofit/>
          </a:bodyPr>
          <a:lstStyle/>
          <a:p>
            <a:r>
              <a:rPr lang="bg-BG" sz="3600" dirty="0">
                <a:latin typeface="Times New Roman" panose="02020603050405020304" pitchFamily="18" charset="0"/>
                <a:cs typeface="Times New Roman" panose="02020603050405020304" pitchFamily="18" charset="0"/>
              </a:rPr>
              <a:t>Матричен </a:t>
            </a:r>
            <a:r>
              <a:rPr lang="bg-BG" sz="3600" dirty="0" smtClean="0">
                <a:latin typeface="Times New Roman" panose="02020603050405020304" pitchFamily="18" charset="0"/>
                <a:cs typeface="Times New Roman" panose="02020603050405020304" pitchFamily="18" charset="0"/>
              </a:rPr>
              <a:t>принтер. </a:t>
            </a:r>
            <a:br>
              <a:rPr lang="bg-BG" sz="3600" dirty="0" smtClean="0">
                <a:latin typeface="Times New Roman" panose="02020603050405020304" pitchFamily="18" charset="0"/>
                <a:cs typeface="Times New Roman" panose="02020603050405020304" pitchFamily="18" charset="0"/>
              </a:rPr>
            </a:br>
            <a:r>
              <a:rPr lang="bg-BG" sz="3600" dirty="0" smtClean="0">
                <a:latin typeface="Times New Roman" panose="02020603050405020304" pitchFamily="18" charset="0"/>
                <a:cs typeface="Times New Roman" panose="02020603050405020304" pitchFamily="18" charset="0"/>
              </a:rPr>
              <a:t>Принцип на действие</a:t>
            </a:r>
            <a:r>
              <a:rPr lang="bg-BG" sz="3600" b="1" dirty="0"/>
              <a:t/>
            </a:r>
            <a:br>
              <a:rPr lang="bg-BG" sz="3600" b="1" dirty="0"/>
            </a:br>
            <a:endParaRPr lang="bg-BG" sz="3600" dirty="0"/>
          </a:p>
        </p:txBody>
      </p:sp>
      <p:sp>
        <p:nvSpPr>
          <p:cNvPr id="3" name="Content Placeholder 2"/>
          <p:cNvSpPr>
            <a:spLocks noGrp="1"/>
          </p:cNvSpPr>
          <p:nvPr>
            <p:ph idx="1"/>
          </p:nvPr>
        </p:nvSpPr>
        <p:spPr>
          <a:xfrm>
            <a:off x="1676400" y="1825625"/>
            <a:ext cx="4706389" cy="4351338"/>
          </a:xfrm>
        </p:spPr>
        <p:txBody>
          <a:bodyPr>
            <a:normAutofit fontScale="92500" lnSpcReduction="10000"/>
          </a:bodyPr>
          <a:lstStyle/>
          <a:p>
            <a:r>
              <a:rPr lang="ru-RU" sz="2400" dirty="0" smtClean="0">
                <a:latin typeface="Times New Roman" panose="02020603050405020304" pitchFamily="18" charset="0"/>
                <a:cs typeface="Times New Roman" panose="02020603050405020304" pitchFamily="18" charset="0"/>
              </a:rPr>
              <a:t>Принципът на действие е следният – в капсулована глава са поставени игли, задействани по магнитен път. При задействането на соленоида, управляващ съответната игла, тя се изстрелва напред и притиска мастилената лента към листа хартия, отпечатвайки по този начин пиксел. Ниската скорост на отпечатване и големият шум по време на самия процес са едни от главните недостатъци.</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486216" y="1394374"/>
            <a:ext cx="3952875" cy="395287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13918987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8045" y="271252"/>
            <a:ext cx="8911687" cy="1280890"/>
          </a:xfrm>
        </p:spPr>
        <p:txBody>
          <a:bodyPr>
            <a:normAutofit/>
          </a:bodyPr>
          <a:lstStyle/>
          <a:p>
            <a:r>
              <a:rPr lang="ru-RU" sz="3600" dirty="0">
                <a:latin typeface="Times New Roman" panose="02020603050405020304" pitchFamily="18" charset="0"/>
                <a:cs typeface="Times New Roman" panose="02020603050405020304" pitchFamily="18" charset="0"/>
              </a:rPr>
              <a:t>Матричните принтери се делят на 2 </a:t>
            </a:r>
            <a:r>
              <a:rPr lang="ru-RU" sz="3600" dirty="0" smtClean="0">
                <a:latin typeface="Times New Roman" panose="02020603050405020304" pitchFamily="18" charset="0"/>
                <a:cs typeface="Times New Roman" panose="02020603050405020304" pitchFamily="18" charset="0"/>
              </a:rPr>
              <a:t>групи:</a:t>
            </a:r>
            <a:endParaRPr lang="bg-BG"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641543" y="1153566"/>
            <a:ext cx="4313864" cy="3777622"/>
          </a:xfrm>
        </p:spPr>
        <p:txBody>
          <a:bodyPr>
            <a:normAutofit/>
          </a:bodyPr>
          <a:lstStyle/>
          <a:p>
            <a:r>
              <a:rPr lang="ru-RU" sz="2400" dirty="0" smtClean="0">
                <a:latin typeface="Times New Roman" panose="02020603050405020304" pitchFamily="18" charset="0"/>
                <a:cs typeface="Times New Roman" panose="02020603050405020304" pitchFamily="18" charset="0"/>
              </a:rPr>
              <a:t>Серийни – в тях печатащата глава съдържа игли, подредени във вертикала (колонка), и съответно електромагнитен механизъм за изстрелването им. (Броят на иглите може да бъде 1 колонка с 9 игли, 18 игли в 2 колонки или 24 игли в две колонки).</a:t>
            </a:r>
          </a:p>
        </p:txBody>
      </p:sp>
      <p:sp>
        <p:nvSpPr>
          <p:cNvPr id="4" name="Content Placeholder 3"/>
          <p:cNvSpPr>
            <a:spLocks noGrp="1"/>
          </p:cNvSpPr>
          <p:nvPr>
            <p:ph sz="half" idx="2"/>
          </p:nvPr>
        </p:nvSpPr>
        <p:spPr>
          <a:xfrm>
            <a:off x="6097386" y="1153566"/>
            <a:ext cx="5181600" cy="4351338"/>
          </a:xfrm>
        </p:spPr>
        <p:txBody>
          <a:bodyPr>
            <a:noAutofit/>
          </a:bodyPr>
          <a:lstStyle/>
          <a:p>
            <a:r>
              <a:rPr lang="ru-RU" sz="2400" dirty="0" smtClean="0">
                <a:latin typeface="Times New Roman" panose="02020603050405020304" pitchFamily="18" charset="0"/>
                <a:cs typeface="Times New Roman" panose="02020603050405020304" pitchFamily="18" charset="0"/>
              </a:rPr>
              <a:t>Линейни – за разлика от предния модел ползват чукчета вместо игли, които са подредени в хоризонтален ред. По този начин оформят печатащ модул. Той е монтиран върху така наречената совалка, която вибрира в хоризонтално направление. Така всяко чукче печата поредица от точки в хоризонтална линия за едно преминаване на совалката. Скоростта на печат се определя от броя символи за секунда и се измерва с единицата cps.</a:t>
            </a:r>
          </a:p>
          <a:p>
            <a:endParaRPr lang="bg-BG" sz="2400" dirty="0"/>
          </a:p>
        </p:txBody>
      </p:sp>
      <p:pic>
        <p:nvPicPr>
          <p:cNvPr id="5" name="Picture 4"/>
          <p:cNvPicPr>
            <a:picLocks noChangeAspect="1"/>
          </p:cNvPicPr>
          <p:nvPr/>
        </p:nvPicPr>
        <p:blipFill>
          <a:blip r:embed="rId2"/>
          <a:stretch>
            <a:fillRect/>
          </a:stretch>
        </p:blipFill>
        <p:spPr>
          <a:xfrm>
            <a:off x="3798475" y="4769216"/>
            <a:ext cx="1706186" cy="1706186"/>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267182675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9718" y="632423"/>
            <a:ext cx="8911687" cy="1280890"/>
          </a:xfrm>
        </p:spPr>
        <p:txBody>
          <a:bodyPr>
            <a:normAutofit/>
          </a:bodyPr>
          <a:lstStyle/>
          <a:p>
            <a:r>
              <a:rPr lang="bg-BG" sz="3600" dirty="0" smtClean="0">
                <a:latin typeface="Times New Roman" panose="02020603050405020304" pitchFamily="18" charset="0"/>
                <a:cs typeface="Times New Roman" panose="02020603050405020304" pitchFamily="18" charset="0"/>
              </a:rPr>
              <a:t>Лазерен принтер</a:t>
            </a:r>
            <a:r>
              <a:rPr lang="en-US" sz="3600" dirty="0" smtClean="0">
                <a:latin typeface="Times New Roman" panose="02020603050405020304" pitchFamily="18" charset="0"/>
                <a:cs typeface="Times New Roman" panose="02020603050405020304" pitchFamily="18" charset="0"/>
              </a:rPr>
              <a:t>. </a:t>
            </a:r>
            <a:r>
              <a:rPr lang="bg-BG" sz="3600" dirty="0" smtClean="0">
                <a:latin typeface="Times New Roman" panose="02020603050405020304" pitchFamily="18" charset="0"/>
                <a:cs typeface="Times New Roman" panose="02020603050405020304" pitchFamily="18" charset="0"/>
              </a:rPr>
              <a:t>Принцип на действие.</a:t>
            </a:r>
            <a:endParaRPr lang="bg-BG"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869718" y="1742499"/>
            <a:ext cx="5622175" cy="4351338"/>
          </a:xfrm>
        </p:spPr>
        <p:txBody>
          <a:bodyPr>
            <a:normAutofit/>
          </a:bodyPr>
          <a:lstStyle/>
          <a:p>
            <a:r>
              <a:rPr lang="ru-RU" sz="2400" dirty="0" smtClean="0">
                <a:latin typeface="Times New Roman" panose="02020603050405020304" pitchFamily="18" charset="0"/>
                <a:cs typeface="Times New Roman" panose="02020603050405020304" pitchFamily="18" charset="0"/>
              </a:rPr>
              <a:t>Има както черно-бели, така и цветни лазерни принтери. Принципът на действие при всички тях е следният. Специален въртящ се барабан се зарежда с електростатичен заряд, а след това лазерен лъч обрисува върху него текста или изображението, което трябва да се отпечата. На местата, на които лазерът е докоснал барабана, електростатичният заряд обръща своя знак. </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212976" y="1913313"/>
            <a:ext cx="3461826" cy="346182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84460235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02971" y="603655"/>
            <a:ext cx="10515600" cy="4351338"/>
          </a:xfrm>
        </p:spPr>
        <p:txBody>
          <a:bodyPr>
            <a:normAutofit/>
          </a:bodyPr>
          <a:lstStyle/>
          <a:p>
            <a:pPr marL="0" indent="0" algn="ctr">
              <a:buNone/>
            </a:pPr>
            <a:r>
              <a:rPr lang="ru-RU" sz="2400" dirty="0" smtClean="0">
                <a:latin typeface="Times New Roman" panose="02020603050405020304" pitchFamily="18" charset="0"/>
                <a:cs typeface="Times New Roman" panose="02020603050405020304" pitchFamily="18" charset="0"/>
              </a:rPr>
              <a:t>Следващата стъпка е нанасяне на тонера, който представлява фини полимерни прашинки, смесени с оцветител (например графитен прах) и притежаващи собствен електростатичен заряд. Там, където лазерният лъч е обърнал знака на заряда върху барабана, тонерът полепва по барабана, който впоследствие се притиска към листа хартия, пренасяйки тонера на него.</a:t>
            </a:r>
          </a:p>
          <a:p>
            <a:pPr marL="0" indent="0" algn="ctr">
              <a:buNone/>
            </a:pP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4517620" y="3084021"/>
            <a:ext cx="3208713" cy="320871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486525339"/>
      </p:ext>
    </p:extLst>
  </p:cSld>
  <p:clrMapOvr>
    <a:masterClrMapping/>
  </p:clrMapOvr>
  <p:transition spd="slow">
    <p:randomBar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0091" y="520527"/>
            <a:ext cx="10515600" cy="4351338"/>
          </a:xfrm>
        </p:spPr>
        <p:txBody>
          <a:bodyPr>
            <a:normAutofit/>
          </a:bodyPr>
          <a:lstStyle/>
          <a:p>
            <a:pPr marL="0" indent="0" algn="ctr">
              <a:buNone/>
            </a:pPr>
            <a:r>
              <a:rPr lang="ru-RU" sz="2400" dirty="0" smtClean="0">
                <a:latin typeface="Times New Roman" panose="02020603050405020304" pitchFamily="18" charset="0"/>
                <a:cs typeface="Times New Roman" panose="02020603050405020304" pitchFamily="18" charset="0"/>
              </a:rPr>
              <a:t>Следващата стъпка е нагряването на листа, за да се разтопят полимерните частици на тонера, формирайки изображението или текста и прилепяйки го към хартията. Последната стъпка от процеса е автоматичното почистване на барабана от евентуалния остатъчен тонер по него чрез използване на електрически неутрално пластмасово острие. При черно-белите лазерни принтери се използва само касета с черен тонер, а цветните освен черния тонер използват и жълт, червен и син тонер.</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4637115" y="3534208"/>
            <a:ext cx="2675313" cy="267531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04767777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581255"/>
            <a:ext cx="10515600" cy="1325563"/>
          </a:xfrm>
        </p:spPr>
        <p:txBody>
          <a:bodyPr>
            <a:normAutofit/>
          </a:bodyPr>
          <a:lstStyle/>
          <a:p>
            <a:r>
              <a:rPr lang="bg-BG" sz="3600" dirty="0" smtClean="0">
                <a:latin typeface="Times New Roman" panose="02020603050405020304" pitchFamily="18" charset="0"/>
                <a:cs typeface="Times New Roman" panose="02020603050405020304" pitchFamily="18" charset="0"/>
              </a:rPr>
              <a:t>Предимства и недостатаци.</a:t>
            </a:r>
            <a:endParaRPr lang="bg-BG"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52945" y="1649125"/>
            <a:ext cx="6544888" cy="4351338"/>
          </a:xfrm>
        </p:spPr>
        <p:txBody>
          <a:bodyPr>
            <a:normAutofit fontScale="85000" lnSpcReduction="10000"/>
          </a:bodyPr>
          <a:lstStyle/>
          <a:p>
            <a:r>
              <a:rPr lang="ru-RU" sz="2400" dirty="0" smtClean="0">
                <a:latin typeface="Times New Roman" panose="02020603050405020304" pitchFamily="18" charset="0"/>
                <a:cs typeface="Times New Roman" panose="02020603050405020304" pitchFamily="18" charset="0"/>
              </a:rPr>
              <a:t>Предимството на лазерните принтери като технология е изключително високата скорост на печат, комбинирана с превъзходно качество. В същото време цената на всяко копие остава ниска благодарение на факта, че тонерът не представлява технически сложен за изработка продукт. </a:t>
            </a:r>
            <a:br>
              <a:rPr lang="ru-RU" sz="2400" dirty="0" smtClean="0">
                <a:latin typeface="Times New Roman" panose="02020603050405020304" pitchFamily="18" charset="0"/>
                <a:cs typeface="Times New Roman" panose="02020603050405020304" pitchFamily="18" charset="0"/>
              </a:rPr>
            </a:br>
            <a:r>
              <a:rPr lang="ru-RU" sz="2400" dirty="0" smtClean="0">
                <a:latin typeface="Times New Roman" panose="02020603050405020304" pitchFamily="18" charset="0"/>
                <a:cs typeface="Times New Roman" panose="02020603050405020304" pitchFamily="18" charset="0"/>
              </a:rPr>
              <a:t/>
            </a:r>
            <a:br>
              <a:rPr lang="ru-RU" sz="2400" dirty="0" smtClean="0">
                <a:latin typeface="Times New Roman" panose="02020603050405020304" pitchFamily="18" charset="0"/>
                <a:cs typeface="Times New Roman" panose="02020603050405020304" pitchFamily="18" charset="0"/>
              </a:rPr>
            </a:br>
            <a:r>
              <a:rPr lang="ru-RU" sz="2400" dirty="0" smtClean="0">
                <a:latin typeface="Times New Roman" panose="02020603050405020304" pitchFamily="18" charset="0"/>
                <a:cs typeface="Times New Roman" panose="02020603050405020304" pitchFamily="18" charset="0"/>
              </a:rPr>
              <a:t>Недостатъците са високата цена на самите устройства, както и в необходимостта от замяна на отпечатващия барабан след определено време и цикли на работа, както и на тонеркасетите след свършване на тонера в тях, а цените за новите барабани и заредени тонер касети също не са ниски, особено на тези за цветните лазерни принтери.</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136775" y="2211186"/>
            <a:ext cx="3679237" cy="245589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1888116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5974" y="658004"/>
            <a:ext cx="10515600" cy="1325563"/>
          </a:xfrm>
        </p:spPr>
        <p:txBody>
          <a:bodyPr/>
          <a:lstStyle/>
          <a:p>
            <a:r>
              <a:rPr lang="bg-BG" sz="3600" dirty="0" smtClean="0">
                <a:latin typeface="Times New Roman" panose="02020603050405020304" pitchFamily="18" charset="0"/>
                <a:cs typeface="Times New Roman" panose="02020603050405020304" pitchFamily="18" charset="0"/>
              </a:rPr>
              <a:t>Мастиленоструен принтер</a:t>
            </a:r>
            <a:r>
              <a:rPr lang="bg-BG" dirty="0" smtClean="0"/>
              <a:t/>
            </a:r>
            <a:br>
              <a:rPr lang="bg-BG" dirty="0" smtClean="0"/>
            </a:br>
            <a:endParaRPr lang="bg-BG" dirty="0"/>
          </a:p>
        </p:txBody>
      </p:sp>
      <p:sp>
        <p:nvSpPr>
          <p:cNvPr id="3" name="Content Placeholder 2"/>
          <p:cNvSpPr>
            <a:spLocks noGrp="1"/>
          </p:cNvSpPr>
          <p:nvPr>
            <p:ph idx="1"/>
          </p:nvPr>
        </p:nvSpPr>
        <p:spPr>
          <a:xfrm>
            <a:off x="1735974" y="1700934"/>
            <a:ext cx="5529349" cy="4351338"/>
          </a:xfrm>
        </p:spPr>
        <p:txBody>
          <a:bodyPr>
            <a:normAutofit/>
          </a:bodyPr>
          <a:lstStyle/>
          <a:p>
            <a:r>
              <a:rPr lang="ru-RU" sz="2400" dirty="0" smtClean="0">
                <a:latin typeface="Times New Roman" panose="02020603050405020304" pitchFamily="18" charset="0"/>
                <a:cs typeface="Times New Roman" panose="02020603050405020304" pitchFamily="18" charset="0"/>
              </a:rPr>
              <a:t>При него мастилото буквално се изстрелва към листа хартия. Това се извършва от самата глава, където стои и резервоара с мастило.</a:t>
            </a:r>
          </a:p>
          <a:p>
            <a:endParaRPr lang="ru-RU" sz="2400" dirty="0" smtClean="0">
              <a:latin typeface="Times New Roman" panose="02020603050405020304" pitchFamily="18" charset="0"/>
              <a:cs typeface="Times New Roman" panose="02020603050405020304" pitchFamily="18" charset="0"/>
            </a:endParaRPr>
          </a:p>
          <a:p>
            <a:r>
              <a:rPr lang="ru-RU" sz="2400" dirty="0" smtClean="0">
                <a:latin typeface="Times New Roman" panose="02020603050405020304" pitchFamily="18" charset="0"/>
                <a:cs typeface="Times New Roman" panose="02020603050405020304" pitchFamily="18" charset="0"/>
              </a:rPr>
              <a:t>Вариантите за изстрелване на мастилото са два, като основната цел, която трябва да се постигне, е налягане в дюзата, така че мастилото да бъде изтласкано навън. </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278177" y="1446414"/>
            <a:ext cx="3240491" cy="4156364"/>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74686050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54479" y="661842"/>
            <a:ext cx="10213571" cy="4167852"/>
          </a:xfrm>
        </p:spPr>
        <p:txBody>
          <a:bodyPr/>
          <a:lstStyle/>
          <a:p>
            <a:pPr marL="0" indent="0" algn="ctr">
              <a:buNone/>
            </a:pPr>
            <a:r>
              <a:rPr lang="ru-RU" sz="2400" dirty="0" smtClean="0">
                <a:latin typeface="Times New Roman" panose="02020603050405020304" pitchFamily="18" charset="0"/>
                <a:cs typeface="Times New Roman" panose="02020603050405020304" pitchFamily="18" charset="0"/>
              </a:rPr>
              <a:t>При първия, се използва пиезокристал, и когато му бъде подадено напрежение, той осцилира, с което се изтласква мастило извън дюзата и към хартията, отпечатвайки по този начин точка. За отпечатването на цветно изображение е необходимо наличието на три печатащи дюзи, по една за всеки основен цвят. Едно от предимствата на този метод е възможността за използване на по широк кръг мастила, поради факта че в този случай няма нагряване.</a:t>
            </a:r>
          </a:p>
          <a:p>
            <a:endParaRPr lang="bg-BG"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331027" y="3564427"/>
            <a:ext cx="2730038" cy="2730038"/>
          </a:xfrm>
          <a:prstGeom prst="rect">
            <a:avLst/>
          </a:prstGeom>
          <a:ln w="228600" cap="sq" cmpd="thickThin">
            <a:solidFill>
              <a:srgbClr val="000000"/>
            </a:solidFill>
            <a:prstDash val="solid"/>
            <a:miter lim="800000"/>
          </a:ln>
          <a:effectLst>
            <a:innerShdw blurRad="76200">
              <a:srgbClr val="000000"/>
            </a:innerShdw>
          </a:effectLst>
        </p:spPr>
      </p:pic>
      <p:pic>
        <p:nvPicPr>
          <p:cNvPr id="5" name="Picture 4"/>
          <p:cNvPicPr>
            <a:picLocks noChangeAspect="1"/>
          </p:cNvPicPr>
          <p:nvPr/>
        </p:nvPicPr>
        <p:blipFill>
          <a:blip r:embed="rId3"/>
          <a:stretch>
            <a:fillRect/>
          </a:stretch>
        </p:blipFill>
        <p:spPr>
          <a:xfrm>
            <a:off x="8093825" y="3462250"/>
            <a:ext cx="3011978" cy="2734887"/>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73497365"/>
      </p:ext>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4015" y="379208"/>
            <a:ext cx="10515600" cy="4351338"/>
          </a:xfrm>
        </p:spPr>
        <p:txBody>
          <a:bodyPr>
            <a:normAutofit/>
          </a:bodyPr>
          <a:lstStyle/>
          <a:p>
            <a:pPr marL="0" indent="0" algn="ctr">
              <a:buNone/>
            </a:pPr>
            <a:r>
              <a:rPr lang="ru-RU" sz="2400" dirty="0" smtClean="0">
                <a:latin typeface="Times New Roman" panose="02020603050405020304" pitchFamily="18" charset="0"/>
                <a:cs typeface="Times New Roman" panose="02020603050405020304" pitchFamily="18" charset="0"/>
              </a:rPr>
              <a:t>Вторият метод се характеризира с названието термо-мастилена технология. За разлика от първия, за да се изстреля мастилото, то тук се нагрява рязко, предизвиквайки въздушен мехур в точката на нагряване, който изтласква рязко микрокапка мастило с висока скорост извън дюзата към листа хартия. След прекратяване на нагряването, въздушният мехур спада, позволявайки постъпването на нова доза мастило в тръбичката на дюзата, след което процесът се повтаря. </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4025321" y="3312988"/>
            <a:ext cx="4466130" cy="297974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221648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9349" y="665674"/>
            <a:ext cx="8911687" cy="1280890"/>
          </a:xfrm>
        </p:spPr>
        <p:txBody>
          <a:bodyPr>
            <a:normAutofit/>
          </a:bodyPr>
          <a:lstStyle/>
          <a:p>
            <a:r>
              <a:rPr lang="bg-BG" sz="3600" dirty="0" smtClean="0">
                <a:latin typeface="Times New Roman" panose="02020603050405020304" pitchFamily="18" charset="0"/>
                <a:cs typeface="Times New Roman" panose="02020603050405020304" pitchFamily="18" charset="0"/>
              </a:rPr>
              <a:t>Предимства</a:t>
            </a:r>
            <a:r>
              <a:rPr lang="bg-BG" sz="3600" dirty="0" smtClean="0"/>
              <a:t> </a:t>
            </a:r>
            <a:r>
              <a:rPr lang="bg-BG" sz="3600" dirty="0" smtClean="0">
                <a:latin typeface="Times New Roman" panose="02020603050405020304" pitchFamily="18" charset="0"/>
                <a:cs typeface="Times New Roman" panose="02020603050405020304" pitchFamily="18" charset="0"/>
              </a:rPr>
              <a:t>и недостатаци:</a:t>
            </a:r>
            <a:endParaRPr lang="bg-BG"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36716" y="1642745"/>
            <a:ext cx="5687291" cy="4351338"/>
          </a:xfrm>
        </p:spPr>
        <p:txBody>
          <a:bodyPr>
            <a:normAutofit/>
          </a:bodyPr>
          <a:lstStyle/>
          <a:p>
            <a:r>
              <a:rPr lang="ru-RU" sz="2400" dirty="0">
                <a:latin typeface="Times New Roman" panose="02020603050405020304" pitchFamily="18" charset="0"/>
                <a:cs typeface="Times New Roman" panose="02020603050405020304" pitchFamily="18" charset="0"/>
              </a:rPr>
              <a:t>Предимства са ниската цена, малките обем и тегло на мастиленоструйните принтери</a:t>
            </a:r>
            <a:r>
              <a:rPr lang="ru-RU" sz="2400" dirty="0" smtClean="0">
                <a:latin typeface="Times New Roman" panose="02020603050405020304" pitchFamily="18" charset="0"/>
                <a:cs typeface="Times New Roman" panose="02020603050405020304" pitchFamily="18" charset="0"/>
              </a:rPr>
              <a:t>.</a:t>
            </a:r>
          </a:p>
          <a:p>
            <a:r>
              <a:rPr lang="ru-RU" sz="2400" dirty="0">
                <a:latin typeface="Times New Roman" panose="02020603050405020304" pitchFamily="18" charset="0"/>
                <a:cs typeface="Times New Roman" panose="02020603050405020304" pitchFamily="18" charset="0"/>
              </a:rPr>
              <a:t>Мастиленоструйните принтери имат няколко съществени недостатъка. З</a:t>
            </a:r>
            <a:r>
              <a:rPr lang="ru-RU" sz="2400" dirty="0" smtClean="0">
                <a:latin typeface="Times New Roman" panose="02020603050405020304" pitchFamily="18" charset="0"/>
                <a:cs typeface="Times New Roman" panose="02020603050405020304" pitchFamily="18" charset="0"/>
              </a:rPr>
              <a:t>апушването </a:t>
            </a:r>
            <a:r>
              <a:rPr lang="ru-RU" sz="2400" dirty="0">
                <a:latin typeface="Times New Roman" panose="02020603050405020304" pitchFamily="18" charset="0"/>
                <a:cs typeface="Times New Roman" panose="02020603050405020304" pitchFamily="18" charset="0"/>
              </a:rPr>
              <a:t>на печатащата дюза от мастилото, когато принтерът не се използва през по-дълъг период от време</a:t>
            </a:r>
            <a:r>
              <a:rPr lang="ru-RU" sz="2400" dirty="0" smtClean="0">
                <a:latin typeface="Times New Roman" panose="02020603050405020304" pitchFamily="18" charset="0"/>
                <a:cs typeface="Times New Roman" panose="02020603050405020304" pitchFamily="18" charset="0"/>
              </a:rPr>
              <a:t>.</a:t>
            </a:r>
            <a:r>
              <a:rPr lang="ru-RU" sz="2400" dirty="0">
                <a:latin typeface="Times New Roman" panose="02020603050405020304" pitchFamily="18" charset="0"/>
                <a:cs typeface="Times New Roman" panose="02020603050405020304" pitchFamily="18" charset="0"/>
              </a:rPr>
              <a:t> Мастилото в дюзата засъхва и се втвърдява, след което почистването му обикновено е трудно.</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797318" y="2136371"/>
            <a:ext cx="3873577" cy="258032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00482743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4288" y="614507"/>
            <a:ext cx="10515600" cy="1325563"/>
          </a:xfrm>
        </p:spPr>
        <p:txBody>
          <a:bodyPr/>
          <a:lstStyle/>
          <a:p>
            <a:r>
              <a:rPr lang="bg-BG" sz="3600" dirty="0">
                <a:latin typeface="Times New Roman" panose="02020603050405020304" pitchFamily="18" charset="0"/>
                <a:cs typeface="Times New Roman" panose="02020603050405020304" pitchFamily="18" charset="0"/>
              </a:rPr>
              <a:t>Термопринтери</a:t>
            </a:r>
            <a:r>
              <a:rPr lang="bg-BG" b="1" dirty="0"/>
              <a:t/>
            </a:r>
            <a:br>
              <a:rPr lang="bg-BG" b="1" dirty="0"/>
            </a:br>
            <a:endParaRPr lang="bg-BG" dirty="0"/>
          </a:p>
        </p:txBody>
      </p:sp>
      <p:sp>
        <p:nvSpPr>
          <p:cNvPr id="3" name="Content Placeholder 2"/>
          <p:cNvSpPr>
            <a:spLocks noGrp="1"/>
          </p:cNvSpPr>
          <p:nvPr>
            <p:ph idx="1"/>
          </p:nvPr>
        </p:nvSpPr>
        <p:spPr>
          <a:xfrm>
            <a:off x="1744288" y="1784062"/>
            <a:ext cx="4373880" cy="4351338"/>
          </a:xfrm>
        </p:spPr>
        <p:txBody>
          <a:bodyPr>
            <a:normAutofit fontScale="92500"/>
          </a:bodyPr>
          <a:lstStyle/>
          <a:p>
            <a:r>
              <a:rPr lang="ru-RU" sz="2400" dirty="0" smtClean="0">
                <a:latin typeface="Times New Roman" panose="02020603050405020304" pitchFamily="18" charset="0"/>
                <a:cs typeface="Times New Roman" panose="02020603050405020304" pitchFamily="18" charset="0"/>
              </a:rPr>
              <a:t>Термопринтерите биват два основни вида – термодиректни и термотрансферни. Не притежават висока резолюция и печатат едноцветно, но са идеални за етикети и касови бележки, тъй като използват квадратни елементи, от които са съставени баркодовете, което ги прави много по-лесни за разчитане от баркод скенерите. </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002088" y="1189066"/>
            <a:ext cx="4762500" cy="4762500"/>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35470789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1858" y="632423"/>
            <a:ext cx="8911687" cy="1280890"/>
          </a:xfrm>
        </p:spPr>
        <p:txBody>
          <a:bodyPr>
            <a:normAutofit/>
          </a:bodyPr>
          <a:lstStyle/>
          <a:p>
            <a:r>
              <a:rPr lang="bg-BG" sz="3600" dirty="0" smtClean="0">
                <a:latin typeface="Times New Roman" panose="02020603050405020304" pitchFamily="18" charset="0"/>
                <a:cs typeface="Times New Roman" panose="02020603050405020304" pitchFamily="18" charset="0"/>
              </a:rPr>
              <a:t>Принцип на действие</a:t>
            </a:r>
            <a:endParaRPr lang="bg-BG"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051858" y="1592869"/>
            <a:ext cx="4157749" cy="4351338"/>
          </a:xfrm>
        </p:spPr>
        <p:txBody>
          <a:bodyPr>
            <a:normAutofit lnSpcReduction="10000"/>
          </a:bodyPr>
          <a:lstStyle/>
          <a:p>
            <a:r>
              <a:rPr lang="ru-RU" sz="2400" dirty="0">
                <a:latin typeface="Times New Roman" panose="02020603050405020304" pitchFamily="18" charset="0"/>
                <a:cs typeface="Times New Roman" panose="02020603050405020304" pitchFamily="18" charset="0"/>
              </a:rPr>
              <a:t>При термопринтерите няма мастило в самия принтер, вместо това хартията за него е обработена със специален термочувствителен химикал, който при нагряване потъмнява. Освен за етикиращи машини и касови апарати, термопринтери се вграждат във факс апаратите.</a:t>
            </a:r>
            <a:endParaRPr lang="bg-BG" sz="2400" dirty="0">
              <a:latin typeface="Times New Roman" panose="02020603050405020304" pitchFamily="18" charset="0"/>
              <a:cs typeface="Times New Roman" panose="02020603050405020304" pitchFamily="18" charset="0"/>
            </a:endParaRPr>
          </a:p>
          <a:p>
            <a:endParaRPr lang="bg-BG" dirty="0"/>
          </a:p>
        </p:txBody>
      </p:sp>
      <p:pic>
        <p:nvPicPr>
          <p:cNvPr id="4" name="Picture 3"/>
          <p:cNvPicPr>
            <a:picLocks noChangeAspect="1"/>
          </p:cNvPicPr>
          <p:nvPr/>
        </p:nvPicPr>
        <p:blipFill>
          <a:blip r:embed="rId2"/>
          <a:stretch>
            <a:fillRect/>
          </a:stretch>
        </p:blipFill>
        <p:spPr>
          <a:xfrm>
            <a:off x="7107901" y="1652674"/>
            <a:ext cx="4476750" cy="348615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01751047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9597" y="607485"/>
            <a:ext cx="8911687" cy="1280890"/>
          </a:xfrm>
        </p:spPr>
        <p:txBody>
          <a:bodyPr>
            <a:normAutofit/>
          </a:bodyPr>
          <a:lstStyle/>
          <a:p>
            <a:r>
              <a:rPr lang="bg-BG" sz="3600" dirty="0" smtClean="0">
                <a:latin typeface="Times New Roman" panose="02020603050405020304" pitchFamily="18" charset="0"/>
                <a:cs typeface="Times New Roman" panose="02020603050405020304" pitchFamily="18" charset="0"/>
              </a:rPr>
              <a:t>Предимства и недостатаци:</a:t>
            </a:r>
            <a:endParaRPr lang="bg-BG"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619597" y="1742498"/>
            <a:ext cx="5329844" cy="4351338"/>
          </a:xfrm>
        </p:spPr>
        <p:txBody>
          <a:bodyPr>
            <a:noAutofit/>
          </a:bodyPr>
          <a:lstStyle/>
          <a:p>
            <a:r>
              <a:rPr lang="ru-RU" sz="2400" dirty="0" smtClean="0">
                <a:latin typeface="Times New Roman" panose="02020603050405020304" pitchFamily="18" charset="0"/>
                <a:cs typeface="Times New Roman" panose="02020603050405020304" pitchFamily="18" charset="0"/>
              </a:rPr>
              <a:t>Плюсове на термопринтерите:</a:t>
            </a:r>
            <a:r>
              <a:rPr lang="ru-RU" sz="2400" dirty="0">
                <a:latin typeface="Times New Roman" panose="02020603050405020304" pitchFamily="18" charset="0"/>
                <a:cs typeface="Times New Roman" panose="02020603050405020304" pitchFamily="18" charset="0"/>
              </a:rPr>
              <a:t/>
            </a:r>
            <a:br>
              <a:rPr lang="ru-RU" sz="2400" dirty="0">
                <a:latin typeface="Times New Roman" panose="02020603050405020304" pitchFamily="18" charset="0"/>
                <a:cs typeface="Times New Roman" panose="02020603050405020304" pitchFamily="18" charset="0"/>
              </a:rPr>
            </a:br>
            <a:r>
              <a:rPr lang="ru-RU" sz="2400" dirty="0" smtClean="0">
                <a:latin typeface="Times New Roman" panose="02020603050405020304" pitchFamily="18" charset="0"/>
                <a:cs typeface="Times New Roman" panose="02020603050405020304" pitchFamily="18" charset="0"/>
              </a:rPr>
              <a:t>Цената за първоначална инвестиция, поддръжка и резервни части е ниска.</a:t>
            </a:r>
            <a:br>
              <a:rPr lang="ru-RU" sz="2400" dirty="0" smtClean="0">
                <a:latin typeface="Times New Roman" panose="02020603050405020304" pitchFamily="18" charset="0"/>
                <a:cs typeface="Times New Roman" panose="02020603050405020304" pitchFamily="18" charset="0"/>
              </a:rPr>
            </a:br>
            <a:r>
              <a:rPr lang="ru-RU" sz="2400" dirty="0" smtClean="0">
                <a:latin typeface="Times New Roman" panose="02020603050405020304" pitchFamily="18" charset="0"/>
                <a:cs typeface="Times New Roman" panose="02020603050405020304" pitchFamily="18" charset="0"/>
              </a:rPr>
              <a:t>Консумативите са най-евтини, най-разнообразни и най-издръжливи.</a:t>
            </a:r>
          </a:p>
          <a:p>
            <a:r>
              <a:rPr lang="ru-RU" sz="2400" dirty="0" smtClean="0">
                <a:latin typeface="Times New Roman" panose="02020603050405020304" pitchFamily="18" charset="0"/>
                <a:cs typeface="Times New Roman" panose="02020603050405020304" pitchFamily="18" charset="0"/>
              </a:rPr>
              <a:t>Недостатъци:</a:t>
            </a:r>
            <a:br>
              <a:rPr lang="ru-RU" sz="2400" dirty="0" smtClean="0">
                <a:latin typeface="Times New Roman" panose="02020603050405020304" pitchFamily="18" charset="0"/>
                <a:cs typeface="Times New Roman" panose="02020603050405020304" pitchFamily="18" charset="0"/>
              </a:rPr>
            </a:br>
            <a:r>
              <a:rPr lang="ru-RU" sz="2400" dirty="0" smtClean="0">
                <a:latin typeface="Times New Roman" panose="02020603050405020304" pitchFamily="18" charset="0"/>
                <a:cs typeface="Times New Roman" panose="02020603050405020304" pitchFamily="18" charset="0"/>
              </a:rPr>
              <a:t>Нетрайност </a:t>
            </a:r>
            <a:r>
              <a:rPr lang="ru-RU" sz="2400" dirty="0">
                <a:latin typeface="Times New Roman" panose="02020603050405020304" pitchFamily="18" charset="0"/>
                <a:cs typeface="Times New Roman" panose="02020603050405020304" pitchFamily="18" charset="0"/>
              </a:rPr>
              <a:t>на печата – термопечатът изсветлява с времето, както и е чувствителен към висока </a:t>
            </a:r>
            <a:r>
              <a:rPr lang="ru-RU" sz="2400" dirty="0" smtClean="0">
                <a:latin typeface="Times New Roman" panose="02020603050405020304" pitchFamily="18" charset="0"/>
                <a:cs typeface="Times New Roman" panose="02020603050405020304" pitchFamily="18" charset="0"/>
              </a:rPr>
              <a:t>температура.</a:t>
            </a:r>
            <a:br>
              <a:rPr lang="ru-RU" sz="2400" dirty="0" smtClean="0">
                <a:latin typeface="Times New Roman" panose="02020603050405020304" pitchFamily="18" charset="0"/>
                <a:cs typeface="Times New Roman" panose="02020603050405020304" pitchFamily="18" charset="0"/>
              </a:rPr>
            </a:br>
            <a:r>
              <a:rPr lang="ru-RU" sz="2400" dirty="0" smtClean="0">
                <a:latin typeface="Times New Roman" panose="02020603050405020304" pitchFamily="18" charset="0"/>
                <a:cs typeface="Times New Roman" panose="02020603050405020304" pitchFamily="18" charset="0"/>
              </a:rPr>
              <a:t>Не </a:t>
            </a:r>
            <a:r>
              <a:rPr lang="ru-RU" sz="2400" dirty="0">
                <a:latin typeface="Times New Roman" panose="02020603050405020304" pitchFamily="18" charset="0"/>
                <a:cs typeface="Times New Roman" panose="02020603050405020304" pitchFamily="18" charset="0"/>
              </a:rPr>
              <a:t>поддържа цветен </a:t>
            </a:r>
            <a:r>
              <a:rPr lang="ru-RU" sz="2400" dirty="0" smtClean="0">
                <a:latin typeface="Times New Roman" panose="02020603050405020304" pitchFamily="18" charset="0"/>
                <a:cs typeface="Times New Roman" panose="02020603050405020304" pitchFamily="18" charset="0"/>
              </a:rPr>
              <a:t>печат</a:t>
            </a:r>
            <a:r>
              <a:rPr lang="ru-RU" sz="2400" dirty="0">
                <a:latin typeface="Times New Roman" panose="02020603050405020304" pitchFamily="18" charset="0"/>
                <a:cs typeface="Times New Roman" panose="02020603050405020304" pitchFamily="18" charset="0"/>
              </a:rPr>
              <a:t>.</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417724" y="1417320"/>
            <a:ext cx="4572000" cy="45720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4441361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1585" y="641379"/>
            <a:ext cx="10515600" cy="1325563"/>
          </a:xfrm>
        </p:spPr>
        <p:txBody>
          <a:bodyPr/>
          <a:lstStyle/>
          <a:p>
            <a:r>
              <a:rPr lang="bg-BG" sz="3600" dirty="0">
                <a:latin typeface="Times New Roman" panose="02020603050405020304" pitchFamily="18" charset="0"/>
                <a:cs typeface="Times New Roman" panose="02020603050405020304" pitchFamily="18" charset="0"/>
              </a:rPr>
              <a:t>Сублимационен принтер</a:t>
            </a:r>
            <a:r>
              <a:rPr lang="bg-BG" b="1" dirty="0"/>
              <a:t/>
            </a:r>
            <a:br>
              <a:rPr lang="bg-BG" b="1" dirty="0"/>
            </a:br>
            <a:endParaRPr lang="bg-BG" dirty="0"/>
          </a:p>
        </p:txBody>
      </p:sp>
      <p:sp>
        <p:nvSpPr>
          <p:cNvPr id="3" name="Content Placeholder 2"/>
          <p:cNvSpPr>
            <a:spLocks noGrp="1"/>
          </p:cNvSpPr>
          <p:nvPr>
            <p:ph idx="1"/>
          </p:nvPr>
        </p:nvSpPr>
        <p:spPr>
          <a:xfrm>
            <a:off x="1601585" y="1759123"/>
            <a:ext cx="5005647" cy="4351338"/>
          </a:xfrm>
        </p:spPr>
        <p:txBody>
          <a:bodyPr>
            <a:normAutofit/>
          </a:bodyPr>
          <a:lstStyle/>
          <a:p>
            <a:r>
              <a:rPr lang="ru-RU" sz="2400" dirty="0" smtClean="0">
                <a:latin typeface="Times New Roman" panose="02020603050405020304" pitchFamily="18" charset="0"/>
                <a:cs typeface="Times New Roman" panose="02020603050405020304" pitchFamily="18" charset="0"/>
              </a:rPr>
              <a:t>Те спадат към класа на все още развиващите се принтери, които не са толкова популярни и се използват от определен кръг хора. Те са така наречените алтернативни технологии на принтиране. Използват се предимно за отпечтване на снимки от цифрови фотоапарати.</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255575" y="1892127"/>
            <a:ext cx="4645479" cy="344346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92855824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3339" y="640736"/>
            <a:ext cx="8911687" cy="1280890"/>
          </a:xfrm>
        </p:spPr>
        <p:txBody>
          <a:bodyPr>
            <a:normAutofit/>
          </a:bodyPr>
          <a:lstStyle/>
          <a:p>
            <a:r>
              <a:rPr lang="bg-BG" sz="3600" dirty="0" smtClean="0">
                <a:latin typeface="Times New Roman" panose="02020603050405020304" pitchFamily="18" charset="0"/>
                <a:cs typeface="Times New Roman" panose="02020603050405020304" pitchFamily="18" charset="0"/>
              </a:rPr>
              <a:t>Принцип на действие:</a:t>
            </a:r>
            <a:endParaRPr lang="bg-BG"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21077" y="1817312"/>
            <a:ext cx="5870171" cy="4351338"/>
          </a:xfrm>
        </p:spPr>
        <p:txBody>
          <a:bodyPr>
            <a:normAutofit fontScale="92500" lnSpcReduction="10000"/>
          </a:bodyPr>
          <a:lstStyle/>
          <a:p>
            <a:r>
              <a:rPr lang="ru-RU" sz="2400" dirty="0" smtClean="0">
                <a:latin typeface="Times New Roman" panose="02020603050405020304" pitchFamily="18" charset="0"/>
                <a:cs typeface="Times New Roman" panose="02020603050405020304" pitchFamily="18" charset="0"/>
              </a:rPr>
              <a:t>Принципът на действие на сублимационните принтери е следният. Търсеното изображение е обработено от специфичен микропроцесор, който командва нагряващата глава. Отпечатването става чрез разполагане на основата над носителя на мастилото, след което благодарение на рязко нагряване от специфични нагреватели то сублимира, формирайки пиксел от изображението. За отпечатване на изображението се извършват четири цикъла – по един за всеки цвят, или сумарно три, и последен за ламиниране на готовия продукт.</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982779" y="513639"/>
            <a:ext cx="3555082" cy="2237874"/>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2081633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8978" y="516045"/>
            <a:ext cx="8911687" cy="1280890"/>
          </a:xfrm>
        </p:spPr>
        <p:txBody>
          <a:bodyPr>
            <a:normAutofit/>
          </a:bodyPr>
          <a:lstStyle/>
          <a:p>
            <a:r>
              <a:rPr lang="bg-BG" sz="3600" dirty="0" smtClean="0">
                <a:latin typeface="Times New Roman" panose="02020603050405020304" pitchFamily="18" charset="0"/>
                <a:cs typeface="Times New Roman" panose="02020603050405020304" pitchFamily="18" charset="0"/>
              </a:rPr>
              <a:t>Плотери</a:t>
            </a:r>
            <a:endParaRPr lang="bg-BG"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643370" y="1516121"/>
            <a:ext cx="4681451" cy="4351338"/>
          </a:xfrm>
        </p:spPr>
        <p:txBody>
          <a:bodyPr>
            <a:normAutofit/>
          </a:bodyPr>
          <a:lstStyle/>
          <a:p>
            <a:r>
              <a:rPr lang="ru-RU" sz="2400" dirty="0">
                <a:latin typeface="Times New Roman" panose="02020603050405020304" pitchFamily="18" charset="0"/>
                <a:cs typeface="Times New Roman" panose="02020603050405020304" pitchFamily="18" charset="0"/>
              </a:rPr>
              <a:t>Плотерът е изходно периферно устройство, което дава възможност за извеждане на графична информация върху </a:t>
            </a:r>
            <a:r>
              <a:rPr lang="ru-RU" sz="2400" dirty="0" smtClean="0">
                <a:latin typeface="Times New Roman" panose="02020603050405020304" pitchFamily="18" charset="0"/>
                <a:cs typeface="Times New Roman" panose="02020603050405020304" pitchFamily="18" charset="0"/>
              </a:rPr>
              <a:t>хартия, които се използват в различни области : технически дизайн, архитектура, картография, моделиране, подготовката на презентации, реклама.</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074130" y="1722121"/>
            <a:ext cx="4771505" cy="3578629"/>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18165833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7262" y="532670"/>
            <a:ext cx="8911687" cy="1280890"/>
          </a:xfrm>
        </p:spPr>
        <p:txBody>
          <a:bodyPr>
            <a:normAutofit/>
          </a:bodyPr>
          <a:lstStyle/>
          <a:p>
            <a:r>
              <a:rPr lang="bg-BG" sz="3600" dirty="0" smtClean="0">
                <a:latin typeface="Times New Roman" panose="02020603050405020304" pitchFamily="18" charset="0"/>
                <a:cs typeface="Times New Roman" panose="02020603050405020304" pitchFamily="18" charset="0"/>
              </a:rPr>
              <a:t>Видове плотери</a:t>
            </a:r>
            <a:endParaRPr lang="bg-BG"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03217" y="1405371"/>
            <a:ext cx="4772891" cy="4351338"/>
          </a:xfrm>
        </p:spPr>
        <p:txBody>
          <a:bodyPr>
            <a:noAutofit/>
          </a:bodyPr>
          <a:lstStyle/>
          <a:p>
            <a:r>
              <a:rPr lang="ru-RU" sz="2400" dirty="0" smtClean="0">
                <a:latin typeface="Times New Roman" panose="02020603050405020304" pitchFamily="18" charset="0"/>
                <a:cs typeface="Times New Roman" panose="02020603050405020304" pitchFamily="18" charset="0"/>
              </a:rPr>
              <a:t>Те се делят на два основни типа в зависимост от това, дали използват писалки или не. Писалковите плотери биват барабанни и плоски. Те създават отпечатъка чрез движение на химикалка (писалка) през повърхността на хартия. Това означава, че писалковите плотери са по-подходящи за изображения, изградени от линии, отколкото за растерни изображения.</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6966066" y="2045192"/>
            <a:ext cx="4982751" cy="307169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17149627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753283"/>
            <a:ext cx="10515600" cy="4351338"/>
          </a:xfrm>
        </p:spPr>
        <p:txBody>
          <a:bodyPr>
            <a:normAutofit/>
          </a:bodyPr>
          <a:lstStyle/>
          <a:p>
            <a:pPr marL="0" indent="0" algn="ctr">
              <a:buNone/>
            </a:pPr>
            <a:r>
              <a:rPr lang="ru-RU" sz="2400" dirty="0" smtClean="0">
                <a:latin typeface="Times New Roman" panose="02020603050405020304" pitchFamily="18" charset="0"/>
                <a:cs typeface="Times New Roman" panose="02020603050405020304" pitchFamily="18" charset="0"/>
              </a:rPr>
              <a:t>Те могат да възпроизвеждат сложни линейни съчетания, включително текст, но го правят много бавно, поради бавното движение на писалките. Плотерите, които не използват писалки, са електростатични, струйни и лазерни (LED).</a:t>
            </a:r>
            <a:endParaRPr lang="bg-BG"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084394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5604" y="615797"/>
            <a:ext cx="8911687" cy="1280890"/>
          </a:xfrm>
        </p:spPr>
        <p:txBody>
          <a:bodyPr>
            <a:normAutofit/>
          </a:bodyPr>
          <a:lstStyle/>
          <a:p>
            <a:r>
              <a:rPr lang="bg-BG" sz="3600" dirty="0" smtClean="0">
                <a:latin typeface="Times New Roman" panose="02020603050405020304" pitchFamily="18" charset="0"/>
                <a:cs typeface="Times New Roman" panose="02020603050405020304" pitchFamily="18" charset="0"/>
              </a:rPr>
              <a:t>Барабанни плотери. Принцип на действие.</a:t>
            </a:r>
            <a:endParaRPr lang="bg-BG"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94659" y="1692621"/>
            <a:ext cx="5030585" cy="4351338"/>
          </a:xfrm>
        </p:spPr>
        <p:txBody>
          <a:bodyPr>
            <a:normAutofit lnSpcReduction="10000"/>
          </a:bodyPr>
          <a:lstStyle/>
          <a:p>
            <a:r>
              <a:rPr lang="ru-RU" sz="2400" dirty="0" smtClean="0">
                <a:latin typeface="Times New Roman" panose="02020603050405020304" pitchFamily="18" charset="0"/>
                <a:cs typeface="Times New Roman" panose="02020603050405020304" pitchFamily="18" charset="0"/>
              </a:rPr>
              <a:t>При барабанните плотери хартията се поставя на повърхността на барабан и се притиска с водещи гумени ролки, които я движат в едно направление. Писалките се движат от друг механизъм, перпендикулярно на посоката на движение на хартията. Барабанните плотери могат да  използват хартия с формат А4 до А0.</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6998277" y="2061296"/>
            <a:ext cx="4762500" cy="3400425"/>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0986304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5356" y="565921"/>
            <a:ext cx="8911687" cy="1280890"/>
          </a:xfrm>
        </p:spPr>
        <p:txBody>
          <a:bodyPr>
            <a:normAutofit/>
          </a:bodyPr>
          <a:lstStyle/>
          <a:p>
            <a:r>
              <a:rPr lang="bg-BG" sz="3600" dirty="0" smtClean="0">
                <a:latin typeface="Times New Roman" panose="02020603050405020304" pitchFamily="18" charset="0"/>
                <a:cs typeface="Times New Roman" panose="02020603050405020304" pitchFamily="18" charset="0"/>
              </a:rPr>
              <a:t>Плоски плотери. </a:t>
            </a:r>
            <a:br>
              <a:rPr lang="bg-BG" sz="3600" dirty="0" smtClean="0">
                <a:latin typeface="Times New Roman" panose="02020603050405020304" pitchFamily="18" charset="0"/>
                <a:cs typeface="Times New Roman" panose="02020603050405020304" pitchFamily="18" charset="0"/>
              </a:rPr>
            </a:br>
            <a:r>
              <a:rPr lang="bg-BG" sz="3600" dirty="0" smtClean="0">
                <a:latin typeface="Times New Roman" panose="02020603050405020304" pitchFamily="18" charset="0"/>
                <a:cs typeface="Times New Roman" panose="02020603050405020304" pitchFamily="18" charset="0"/>
              </a:rPr>
              <a:t>Принцип на действие.</a:t>
            </a:r>
            <a:endParaRPr lang="bg-BG"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985356" y="1906385"/>
            <a:ext cx="4432069" cy="4351338"/>
          </a:xfrm>
        </p:spPr>
        <p:txBody>
          <a:bodyPr>
            <a:normAutofit/>
          </a:bodyPr>
          <a:lstStyle/>
          <a:p>
            <a:r>
              <a:rPr lang="ru-RU" sz="2400" dirty="0" smtClean="0">
                <a:latin typeface="Times New Roman" panose="02020603050405020304" pitchFamily="18" charset="0"/>
                <a:cs typeface="Times New Roman" panose="02020603050405020304" pitchFamily="18" charset="0"/>
              </a:rPr>
              <a:t>При плоските плотери хартията се поставя в хоризонтално и неподвижно положение. Една или повече писалки се движат хоризонтално и вертикално по повърхността. Тези плотери обикновено ползват по-малки формати – А4 и А3.</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048153" y="1543309"/>
            <a:ext cx="4762500" cy="35718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27730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03218" y="587029"/>
            <a:ext cx="10515600" cy="4351338"/>
          </a:xfrm>
        </p:spPr>
        <p:txBody>
          <a:bodyPr>
            <a:normAutofit/>
          </a:bodyPr>
          <a:lstStyle/>
          <a:p>
            <a:pPr marL="0" indent="0" algn="ctr">
              <a:buNone/>
            </a:pPr>
            <a:r>
              <a:rPr lang="ru-RU" sz="2400" dirty="0" smtClean="0">
                <a:latin typeface="Times New Roman" panose="02020603050405020304" pitchFamily="18" charset="0"/>
                <a:cs typeface="Times New Roman" panose="02020603050405020304" pitchFamily="18" charset="0"/>
              </a:rPr>
              <a:t>Аналогично на принтерите и при плотерите съществуват модели, който ползват мастилено струйната и лазерната технология на печат. Приемливата цена, високото качество и големите възможности са направили тези плотери сериозен конкурент на писалковите устройства. Те намират приложение в издателските системи, в рекламния бизнес, а така също и при автоматизирано проектиране на сложни чертежи с формат А0.</a:t>
            </a:r>
            <a:endParaRPr lang="bg-BG"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2613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3916" y="715550"/>
            <a:ext cx="8911687" cy="1280890"/>
          </a:xfrm>
        </p:spPr>
        <p:txBody>
          <a:bodyPr>
            <a:normAutofit/>
          </a:bodyPr>
          <a:lstStyle/>
          <a:p>
            <a:r>
              <a:rPr lang="bg-BG" sz="3600" dirty="0" smtClean="0">
                <a:latin typeface="Times New Roman" panose="02020603050405020304" pitchFamily="18" charset="0"/>
                <a:cs typeface="Times New Roman" panose="02020603050405020304" pitchFamily="18" charset="0"/>
              </a:rPr>
              <a:t>Електростатични плотери</a:t>
            </a:r>
            <a:endParaRPr lang="bg-BG"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893916" y="1518054"/>
            <a:ext cx="4440382" cy="4351338"/>
          </a:xfrm>
        </p:spPr>
        <p:txBody>
          <a:bodyPr>
            <a:normAutofit/>
          </a:bodyPr>
          <a:lstStyle/>
          <a:p>
            <a:r>
              <a:rPr lang="ru-RU" sz="2400" dirty="0">
                <a:latin typeface="Times New Roman" panose="02020603050405020304" pitchFamily="18" charset="0"/>
                <a:cs typeface="Times New Roman" panose="02020603050405020304" pitchFamily="18" charset="0"/>
              </a:rPr>
              <a:t>И</a:t>
            </a:r>
            <a:r>
              <a:rPr lang="ru-RU" sz="2400" dirty="0" smtClean="0">
                <a:latin typeface="Times New Roman" panose="02020603050405020304" pitchFamily="18" charset="0"/>
                <a:cs typeface="Times New Roman" panose="02020603050405020304" pitchFamily="18" charset="0"/>
              </a:rPr>
              <a:t>зползват електростатични заряди за създаване на изображения, съставени от много малки точки върху специално обработена хартия. Електростатичните плотери са по-бързи от писалковите и имат много по-високо качество на изображението, но са много по-скъпи.</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311067" y="1911926"/>
            <a:ext cx="4563663" cy="342274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971105231"/>
      </p:ext>
    </p:extLst>
  </p:cSld>
  <p:clrMapOvr>
    <a:masterClrMapping/>
  </p:clrMapOvr>
  <p:transition spd="slow">
    <p:push dir="u"/>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6302" y="615797"/>
            <a:ext cx="8911687" cy="1280890"/>
          </a:xfrm>
        </p:spPr>
        <p:txBody>
          <a:bodyPr>
            <a:normAutofit/>
          </a:bodyPr>
          <a:lstStyle/>
          <a:p>
            <a:r>
              <a:rPr lang="bg-BG" sz="3600" dirty="0" smtClean="0">
                <a:latin typeface="Times New Roman" panose="02020603050405020304" pitchFamily="18" charset="0"/>
                <a:cs typeface="Times New Roman" panose="02020603050405020304" pitchFamily="18" charset="0"/>
              </a:rPr>
              <a:t>Принцип на действие.</a:t>
            </a:r>
            <a:endParaRPr lang="bg-BG"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76302" y="1551305"/>
            <a:ext cx="4207625" cy="4351338"/>
          </a:xfrm>
        </p:spPr>
        <p:txBody>
          <a:bodyPr>
            <a:normAutofit/>
          </a:bodyPr>
          <a:lstStyle/>
          <a:p>
            <a:r>
              <a:rPr lang="ru-RU" sz="2400" dirty="0" smtClean="0">
                <a:latin typeface="Times New Roman" panose="02020603050405020304" pitchFamily="18" charset="0"/>
                <a:cs typeface="Times New Roman" panose="02020603050405020304" pitchFamily="18" charset="0"/>
              </a:rPr>
              <a:t>Когато хартията премине през проявяващия възел с намагнетизиран тонер, неговите частички остават на заредените участъци хартия. Пълната цветова гама се получава за четири цикъла през четири проявяващи възела със съответния тонер.</a:t>
            </a:r>
            <a:endParaRPr lang="bg-BG"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456942" y="1896687"/>
            <a:ext cx="4118530" cy="29996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1175141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0709" y="670155"/>
            <a:ext cx="10515600" cy="4351338"/>
          </a:xfrm>
        </p:spPr>
        <p:txBody>
          <a:bodyPr>
            <a:normAutofit/>
          </a:bodyPr>
          <a:lstStyle/>
          <a:p>
            <a:pPr marL="0" indent="0" algn="ctr">
              <a:buNone/>
            </a:pPr>
            <a:r>
              <a:rPr lang="ru-RU" sz="2400" dirty="0" smtClean="0">
                <a:latin typeface="Times New Roman" panose="02020603050405020304" pitchFamily="18" charset="0"/>
                <a:cs typeface="Times New Roman" panose="02020603050405020304" pitchFamily="18" charset="0"/>
              </a:rPr>
              <a:t>Отличителни особености  на този тип плотери е - скорост, надеждност, качество и производителност. Тези скъпи устройства е оправдано да се използват само при много високи изисквания за производителност и качество.</a:t>
            </a:r>
            <a:endParaRPr lang="bg-BG"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252711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7208" y="653204"/>
            <a:ext cx="8911687" cy="1280890"/>
          </a:xfrm>
        </p:spPr>
        <p:txBody>
          <a:bodyPr>
            <a:normAutofit/>
          </a:bodyPr>
          <a:lstStyle/>
          <a:p>
            <a:pPr algn="ctr"/>
            <a:r>
              <a:rPr lang="bg-BG" sz="3600" b="1" dirty="0" smtClean="0">
                <a:latin typeface="Times New Roman" panose="02020603050405020304" pitchFamily="18" charset="0"/>
                <a:cs typeface="Times New Roman" panose="02020603050405020304" pitchFamily="18" charset="0"/>
              </a:rPr>
              <a:t>Тест</a:t>
            </a:r>
            <a:endParaRPr lang="bg-BG" sz="3600" b="1"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1"/>
          </p:nvPr>
        </p:nvSpPr>
        <p:spPr>
          <a:xfrm>
            <a:off x="1915881" y="1934094"/>
            <a:ext cx="4313864" cy="3777622"/>
          </a:xfrm>
        </p:spPr>
        <p:txBody>
          <a:bodyPr>
            <a:normAutofit lnSpcReduction="10000"/>
          </a:bodyPr>
          <a:lstStyle/>
          <a:p>
            <a:r>
              <a:rPr lang="bg-BG" dirty="0" smtClean="0">
                <a:hlinkClick r:id="rId2" action="ppaction://hlinksldjump"/>
              </a:rPr>
              <a:t>1</a:t>
            </a:r>
            <a:r>
              <a:rPr lang="bg-BG" dirty="0" smtClean="0"/>
              <a:t>. </a:t>
            </a:r>
            <a:r>
              <a:rPr lang="bg-BG" dirty="0" smtClean="0">
                <a:latin typeface="Times New Roman" panose="02020603050405020304" pitchFamily="18" charset="0"/>
                <a:cs typeface="Times New Roman" panose="02020603050405020304" pitchFamily="18" charset="0"/>
              </a:rPr>
              <a:t>При кой принтер</a:t>
            </a:r>
            <a:r>
              <a:rPr lang="bg-BG" dirty="0" smtClean="0"/>
              <a:t> </a:t>
            </a:r>
            <a:r>
              <a:rPr lang="ru-RU" dirty="0">
                <a:latin typeface="Times New Roman" panose="02020603050405020304" pitchFamily="18" charset="0"/>
                <a:cs typeface="Times New Roman" panose="02020603050405020304" pitchFamily="18" charset="0"/>
              </a:rPr>
              <a:t>с</a:t>
            </a:r>
            <a:r>
              <a:rPr lang="ru-RU" dirty="0" smtClean="0">
                <a:latin typeface="Times New Roman" panose="02020603050405020304" pitchFamily="18" charset="0"/>
                <a:cs typeface="Times New Roman" panose="02020603050405020304" pitchFamily="18" charset="0"/>
              </a:rPr>
              <a:t>коростта </a:t>
            </a:r>
            <a:r>
              <a:rPr lang="ru-RU" dirty="0">
                <a:latin typeface="Times New Roman" panose="02020603050405020304" pitchFamily="18" charset="0"/>
                <a:cs typeface="Times New Roman" panose="02020603050405020304" pitchFamily="18" charset="0"/>
              </a:rPr>
              <a:t>му достига до 90 символа в </a:t>
            </a:r>
            <a:r>
              <a:rPr lang="ru-RU" dirty="0" smtClean="0">
                <a:latin typeface="Times New Roman" panose="02020603050405020304" pitchFamily="18" charset="0"/>
                <a:cs typeface="Times New Roman" panose="02020603050405020304" pitchFamily="18" charset="0"/>
              </a:rPr>
              <a:t>секунда?</a:t>
            </a:r>
            <a:endParaRPr lang="bg-BG" dirty="0">
              <a:latin typeface="Times New Roman" panose="02020603050405020304" pitchFamily="18" charset="0"/>
              <a:cs typeface="Times New Roman" panose="02020603050405020304" pitchFamily="18" charset="0"/>
            </a:endParaRPr>
          </a:p>
          <a:p>
            <a:r>
              <a:rPr lang="bg-BG" dirty="0" smtClean="0">
                <a:hlinkClick r:id="rId3" action="ppaction://hlinksldjump"/>
              </a:rPr>
              <a:t>2</a:t>
            </a:r>
            <a:r>
              <a:rPr lang="bg-BG" dirty="0" smtClean="0"/>
              <a:t>. </a:t>
            </a:r>
            <a:r>
              <a:rPr lang="bg-BG" dirty="0" smtClean="0">
                <a:latin typeface="Times New Roman" panose="02020603050405020304" pitchFamily="18" charset="0"/>
                <a:cs typeface="Times New Roman" panose="02020603050405020304" pitchFamily="18" charset="0"/>
              </a:rPr>
              <a:t>При кой вид плотер се използват</a:t>
            </a:r>
            <a:r>
              <a:rPr lang="bg-BG" dirty="0" smtClean="0"/>
              <a:t> </a:t>
            </a:r>
            <a:r>
              <a:rPr lang="ru-RU" dirty="0">
                <a:latin typeface="Times New Roman" panose="02020603050405020304" pitchFamily="18" charset="0"/>
                <a:cs typeface="Times New Roman" panose="02020603050405020304" pitchFamily="18" charset="0"/>
              </a:rPr>
              <a:t>заряди за създаване на изображения, съставени от много малки точки върху специално обработена </a:t>
            </a:r>
            <a:r>
              <a:rPr lang="ru-RU" dirty="0" smtClean="0">
                <a:latin typeface="Times New Roman" panose="02020603050405020304" pitchFamily="18" charset="0"/>
                <a:cs typeface="Times New Roman" panose="02020603050405020304" pitchFamily="18" charset="0"/>
              </a:rPr>
              <a:t>хартия</a:t>
            </a:r>
            <a:r>
              <a:rPr lang="ru-RU" dirty="0">
                <a:latin typeface="Times New Roman" panose="02020603050405020304" pitchFamily="18" charset="0"/>
                <a:cs typeface="Times New Roman" panose="02020603050405020304" pitchFamily="18" charset="0"/>
              </a:rPr>
              <a:t>?</a:t>
            </a:r>
            <a:endParaRPr lang="ru-RU" dirty="0" smtClean="0">
              <a:latin typeface="Times New Roman" panose="02020603050405020304" pitchFamily="18" charset="0"/>
              <a:cs typeface="Times New Roman" panose="02020603050405020304" pitchFamily="18" charset="0"/>
            </a:endParaRPr>
          </a:p>
          <a:p>
            <a:r>
              <a:rPr lang="bg-BG" dirty="0" smtClean="0">
                <a:hlinkClick r:id="rId4" action="ppaction://hlinksldjump"/>
              </a:rPr>
              <a:t>3</a:t>
            </a:r>
            <a:r>
              <a:rPr lang="bg-BG" dirty="0" smtClean="0"/>
              <a:t>.</a:t>
            </a:r>
            <a:r>
              <a:rPr lang="ru-RU" dirty="0">
                <a:latin typeface="Times New Roman" panose="02020603050405020304" pitchFamily="18" charset="0"/>
                <a:cs typeface="Times New Roman" panose="02020603050405020304" pitchFamily="18" charset="0"/>
              </a:rPr>
              <a:t> </a:t>
            </a:r>
            <a:r>
              <a:rPr lang="ru-RU" dirty="0" smtClean="0">
                <a:latin typeface="Times New Roman" panose="02020603050405020304" pitchFamily="18" charset="0"/>
                <a:cs typeface="Times New Roman" panose="02020603050405020304" pitchFamily="18" charset="0"/>
              </a:rPr>
              <a:t>Как се поставя хартията при плоските плотери?</a:t>
            </a:r>
          </a:p>
          <a:p>
            <a:r>
              <a:rPr lang="ru-RU" dirty="0" smtClean="0">
                <a:latin typeface="Times New Roman" panose="02020603050405020304" pitchFamily="18" charset="0"/>
                <a:cs typeface="Times New Roman" panose="02020603050405020304" pitchFamily="18" charset="0"/>
                <a:hlinkClick r:id="rId5" action="ppaction://hlinksldjump"/>
              </a:rPr>
              <a:t>4</a:t>
            </a:r>
            <a:r>
              <a:rPr lang="ru-RU" dirty="0" smtClean="0">
                <a:latin typeface="Times New Roman" panose="02020603050405020304" pitchFamily="18" charset="0"/>
                <a:cs typeface="Times New Roman" panose="02020603050405020304" pitchFamily="18" charset="0"/>
              </a:rPr>
              <a:t>. Кои са двата основни вида термопринтери?</a:t>
            </a:r>
          </a:p>
          <a:p>
            <a:r>
              <a:rPr lang="ru-RU" dirty="0" smtClean="0">
                <a:latin typeface="Times New Roman" panose="02020603050405020304" pitchFamily="18" charset="0"/>
                <a:cs typeface="Times New Roman" panose="02020603050405020304" pitchFamily="18" charset="0"/>
                <a:hlinkClick r:id="rId6" action="ppaction://hlinksldjump"/>
              </a:rPr>
              <a:t>5</a:t>
            </a:r>
            <a:r>
              <a:rPr lang="ru-RU" dirty="0" smtClean="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 Матричните принтери се делят на 2 </a:t>
            </a:r>
            <a:r>
              <a:rPr lang="ru-RU" dirty="0" smtClean="0">
                <a:latin typeface="Times New Roman" panose="02020603050405020304" pitchFamily="18" charset="0"/>
                <a:cs typeface="Times New Roman" panose="02020603050405020304" pitchFamily="18" charset="0"/>
              </a:rPr>
              <a:t>групи, кои са те?</a:t>
            </a:r>
            <a:endParaRPr lang="bg-BG" dirty="0"/>
          </a:p>
        </p:txBody>
      </p:sp>
      <p:sp>
        <p:nvSpPr>
          <p:cNvPr id="5" name="Content Placeholder 4"/>
          <p:cNvSpPr>
            <a:spLocks noGrp="1"/>
          </p:cNvSpPr>
          <p:nvPr>
            <p:ph sz="half" idx="2"/>
          </p:nvPr>
        </p:nvSpPr>
        <p:spPr>
          <a:xfrm>
            <a:off x="6575605" y="1934094"/>
            <a:ext cx="4313864" cy="3777622"/>
          </a:xfrm>
        </p:spPr>
        <p:txBody>
          <a:bodyPr>
            <a:normAutofit lnSpcReduction="10000"/>
          </a:bodyPr>
          <a:lstStyle/>
          <a:p>
            <a:r>
              <a:rPr lang="bg-BG" dirty="0" smtClean="0">
                <a:latin typeface="Times New Roman" panose="02020603050405020304" pitchFamily="18" charset="0"/>
                <a:cs typeface="Times New Roman" panose="02020603050405020304" pitchFamily="18" charset="0"/>
                <a:hlinkClick r:id="rId7" action="ppaction://hlinksldjump"/>
              </a:rPr>
              <a:t>6</a:t>
            </a:r>
            <a:r>
              <a:rPr lang="bg-BG" dirty="0" smtClean="0">
                <a:latin typeface="Times New Roman" panose="02020603050405020304" pitchFamily="18" charset="0"/>
                <a:cs typeface="Times New Roman" panose="02020603050405020304" pitchFamily="18" charset="0"/>
              </a:rPr>
              <a:t>. Мониторът спада към </a:t>
            </a:r>
            <a:r>
              <a:rPr lang="en-US" dirty="0" smtClean="0">
                <a:latin typeface="Times New Roman" panose="02020603050405020304" pitchFamily="18" charset="0"/>
                <a:cs typeface="Times New Roman" panose="02020603050405020304" pitchFamily="18" charset="0"/>
              </a:rPr>
              <a:t>Softcopy</a:t>
            </a:r>
            <a:r>
              <a:rPr lang="bg-BG" dirty="0" smtClean="0">
                <a:latin typeface="Times New Roman" panose="02020603050405020304" pitchFamily="18" charset="0"/>
                <a:cs typeface="Times New Roman" panose="02020603050405020304" pitchFamily="18" charset="0"/>
              </a:rPr>
              <a:t> или </a:t>
            </a:r>
            <a:r>
              <a:rPr lang="en-US" dirty="0" smtClean="0">
                <a:latin typeface="Times New Roman" panose="02020603050405020304" pitchFamily="18" charset="0"/>
                <a:cs typeface="Times New Roman" panose="02020603050405020304" pitchFamily="18" charset="0"/>
              </a:rPr>
              <a:t>Hardcopy</a:t>
            </a:r>
            <a:r>
              <a:rPr lang="bg-BG" dirty="0" smtClean="0">
                <a:latin typeface="Times New Roman" panose="02020603050405020304" pitchFamily="18" charset="0"/>
                <a:cs typeface="Times New Roman" panose="02020603050405020304" pitchFamily="18" charset="0"/>
              </a:rPr>
              <a:t>?</a:t>
            </a:r>
          </a:p>
          <a:p>
            <a:r>
              <a:rPr lang="bg-BG" dirty="0" smtClean="0">
                <a:latin typeface="Times New Roman" panose="02020603050405020304" pitchFamily="18" charset="0"/>
                <a:cs typeface="Times New Roman" panose="02020603050405020304" pitchFamily="18" charset="0"/>
                <a:hlinkClick r:id="rId8" action="ppaction://hlinksldjump"/>
              </a:rPr>
              <a:t>7</a:t>
            </a:r>
            <a:r>
              <a:rPr lang="bg-BG" dirty="0" smtClean="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Съществуват няколко разновидности линейни </a:t>
            </a:r>
            <a:r>
              <a:rPr lang="ru-RU" dirty="0" smtClean="0">
                <a:latin typeface="Times New Roman" panose="02020603050405020304" pitchFamily="18" charset="0"/>
                <a:cs typeface="Times New Roman" panose="02020603050405020304" pitchFamily="18" charset="0"/>
              </a:rPr>
              <a:t>принтери, кои са те?</a:t>
            </a:r>
          </a:p>
          <a:p>
            <a:r>
              <a:rPr lang="ru-RU" dirty="0" smtClean="0">
                <a:latin typeface="Times New Roman" panose="02020603050405020304" pitchFamily="18" charset="0"/>
                <a:cs typeface="Times New Roman" panose="02020603050405020304" pitchFamily="18" charset="0"/>
                <a:hlinkClick r:id="rId9" action="ppaction://hlinksldjump"/>
              </a:rPr>
              <a:t>8</a:t>
            </a:r>
            <a:r>
              <a:rPr lang="ru-RU" dirty="0" smtClean="0">
                <a:latin typeface="Times New Roman" panose="02020603050405020304" pitchFamily="18" charset="0"/>
                <a:cs typeface="Times New Roman" panose="02020603050405020304" pitchFamily="18" charset="0"/>
              </a:rPr>
              <a:t>. Кой принтер е наричан ,,алтернатива технология </a:t>
            </a:r>
            <a:r>
              <a:rPr lang="ru-RU" dirty="0">
                <a:latin typeface="Times New Roman" panose="02020603050405020304" pitchFamily="18" charset="0"/>
                <a:cs typeface="Times New Roman" panose="02020603050405020304" pitchFamily="18" charset="0"/>
              </a:rPr>
              <a:t>на </a:t>
            </a:r>
            <a:r>
              <a:rPr lang="ru-RU" dirty="0" smtClean="0">
                <a:latin typeface="Times New Roman" panose="02020603050405020304" pitchFamily="18" charset="0"/>
                <a:cs typeface="Times New Roman" panose="02020603050405020304" pitchFamily="18" charset="0"/>
              </a:rPr>
              <a:t>принтиране’’.</a:t>
            </a:r>
          </a:p>
          <a:p>
            <a:r>
              <a:rPr lang="ru-RU" dirty="0" smtClean="0">
                <a:latin typeface="Times New Roman" panose="02020603050405020304" pitchFamily="18" charset="0"/>
                <a:cs typeface="Times New Roman" panose="02020603050405020304" pitchFamily="18" charset="0"/>
                <a:hlinkClick r:id="rId4" action="ppaction://hlinksldjump"/>
              </a:rPr>
              <a:t>9</a:t>
            </a:r>
            <a:r>
              <a:rPr lang="ru-RU" dirty="0" smtClean="0">
                <a:latin typeface="Times New Roman" panose="02020603050405020304" pitchFamily="18" charset="0"/>
                <a:cs typeface="Times New Roman" panose="02020603050405020304" pitchFamily="18" charset="0"/>
              </a:rPr>
              <a:t>. Кои плотери използват по-малки </a:t>
            </a:r>
            <a:r>
              <a:rPr lang="ru-RU" dirty="0">
                <a:latin typeface="Times New Roman" panose="02020603050405020304" pitchFamily="18" charset="0"/>
                <a:cs typeface="Times New Roman" panose="02020603050405020304" pitchFamily="18" charset="0"/>
              </a:rPr>
              <a:t>формати – А4 и А3.</a:t>
            </a:r>
            <a:endParaRPr lang="bg-BG" dirty="0">
              <a:latin typeface="Times New Roman" panose="02020603050405020304" pitchFamily="18" charset="0"/>
              <a:cs typeface="Times New Roman" panose="02020603050405020304" pitchFamily="18" charset="0"/>
            </a:endParaRPr>
          </a:p>
          <a:p>
            <a:r>
              <a:rPr lang="bg-BG" dirty="0" smtClean="0">
                <a:latin typeface="Times New Roman" panose="02020603050405020304" pitchFamily="18" charset="0"/>
                <a:cs typeface="Times New Roman" panose="02020603050405020304" pitchFamily="18" charset="0"/>
                <a:hlinkClick r:id="rId10" action="ppaction://hlinksldjump"/>
              </a:rPr>
              <a:t>10</a:t>
            </a:r>
            <a:r>
              <a:rPr lang="bg-BG" dirty="0" smtClean="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При </a:t>
            </a:r>
            <a:r>
              <a:rPr lang="ru-RU" dirty="0" smtClean="0">
                <a:latin typeface="Times New Roman" panose="02020603050405020304" pitchFamily="18" charset="0"/>
                <a:cs typeface="Times New Roman" panose="02020603050405020304" pitchFamily="18" charset="0"/>
              </a:rPr>
              <a:t>кой принтер няма </a:t>
            </a:r>
            <a:r>
              <a:rPr lang="ru-RU" dirty="0">
                <a:latin typeface="Times New Roman" panose="02020603050405020304" pitchFamily="18" charset="0"/>
                <a:cs typeface="Times New Roman" panose="02020603050405020304" pitchFamily="18" charset="0"/>
              </a:rPr>
              <a:t>мастило в самия </a:t>
            </a:r>
            <a:r>
              <a:rPr lang="ru-RU" dirty="0" smtClean="0">
                <a:latin typeface="Times New Roman" panose="02020603050405020304" pitchFamily="18" charset="0"/>
                <a:cs typeface="Times New Roman" panose="02020603050405020304" pitchFamily="18" charset="0"/>
              </a:rPr>
              <a:t>принтер</a:t>
            </a:r>
            <a:r>
              <a:rPr lang="ru-RU" dirty="0">
                <a:latin typeface="Times New Roman" panose="02020603050405020304" pitchFamily="18" charset="0"/>
                <a:cs typeface="Times New Roman" panose="02020603050405020304" pitchFamily="18" charset="0"/>
              </a:rPr>
              <a:t>.</a:t>
            </a:r>
            <a:endParaRPr lang="bg-B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177141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2755" y="657361"/>
            <a:ext cx="8911687" cy="1280890"/>
          </a:xfrm>
        </p:spPr>
        <p:txBody>
          <a:bodyPr/>
          <a:lstStyle/>
          <a:p>
            <a:r>
              <a:rPr lang="bg-BG" dirty="0" smtClean="0">
                <a:latin typeface="Times New Roman" panose="02020603050405020304" pitchFamily="18" charset="0"/>
                <a:cs typeface="Times New Roman" panose="02020603050405020304" pitchFamily="18" charset="0"/>
              </a:rPr>
              <a:t>Източници</a:t>
            </a:r>
            <a:endParaRPr lang="bg-BG"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832755" y="1568335"/>
            <a:ext cx="5931333" cy="3777622"/>
          </a:xfrm>
        </p:spPr>
        <p:txBody>
          <a:bodyPr/>
          <a:lstStyle/>
          <a:p>
            <a:r>
              <a:rPr lang="en-US" dirty="0">
                <a:hlinkClick r:id="rId2"/>
              </a:rPr>
              <a:t>https://</a:t>
            </a:r>
            <a:r>
              <a:rPr lang="en-US" dirty="0" smtClean="0">
                <a:hlinkClick r:id="rId2"/>
              </a:rPr>
              <a:t>bg.wikipedia.org</a:t>
            </a:r>
            <a:endParaRPr lang="en-US" dirty="0" smtClean="0"/>
          </a:p>
          <a:p>
            <a:r>
              <a:rPr lang="en-US" dirty="0">
                <a:hlinkClick r:id="rId3"/>
              </a:rPr>
              <a:t>http://</a:t>
            </a:r>
            <a:r>
              <a:rPr lang="en-US" dirty="0" smtClean="0">
                <a:hlinkClick r:id="rId3"/>
              </a:rPr>
              <a:t>pgds.org/books/pu/plot.html</a:t>
            </a:r>
            <a:endParaRPr lang="en-US" dirty="0" smtClean="0"/>
          </a:p>
          <a:p>
            <a:r>
              <a:rPr lang="en-US" dirty="0">
                <a:hlinkClick r:id="rId4"/>
              </a:rPr>
              <a:t>https://inputandoutputdevices780909610.wordpress.com/2018/06/25/</a:t>
            </a:r>
            <a:r>
              <a:rPr lang="bg-BG" dirty="0">
                <a:hlinkClick r:id="rId4"/>
              </a:rPr>
              <a:t>изходни-устройства</a:t>
            </a:r>
            <a:r>
              <a:rPr lang="bg-BG" dirty="0" smtClean="0">
                <a:hlinkClick r:id="rId4"/>
              </a:rPr>
              <a:t>/</a:t>
            </a:r>
            <a:endParaRPr lang="en-US" dirty="0" smtClean="0"/>
          </a:p>
          <a:p>
            <a:endParaRPr lang="bg-BG" dirty="0"/>
          </a:p>
        </p:txBody>
      </p:sp>
      <p:sp>
        <p:nvSpPr>
          <p:cNvPr id="6" name="TextBox 5"/>
          <p:cNvSpPr txBox="1"/>
          <p:nvPr/>
        </p:nvSpPr>
        <p:spPr>
          <a:xfrm>
            <a:off x="10744442" y="6076603"/>
            <a:ext cx="1837112" cy="646331"/>
          </a:xfrm>
          <a:prstGeom prst="rect">
            <a:avLst/>
          </a:prstGeom>
          <a:noFill/>
        </p:spPr>
        <p:txBody>
          <a:bodyPr wrap="square" rtlCol="0">
            <a:spAutoFit/>
          </a:bodyPr>
          <a:lstStyle/>
          <a:p>
            <a:r>
              <a:rPr lang="bg-BG" dirty="0" smtClean="0">
                <a:latin typeface="Times New Roman" panose="02020603050405020304" pitchFamily="18" charset="0"/>
                <a:cs typeface="Times New Roman" panose="02020603050405020304" pitchFamily="18" charset="0"/>
              </a:rPr>
              <a:t>Николай Пейчинов </a:t>
            </a:r>
            <a:endParaRPr lang="bg-B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6263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TM02900722[[fn=Ion Boardroom]]</Template>
  <TotalTime>166</TotalTime>
  <Words>1924</Words>
  <Application>Microsoft Office PowerPoint</Application>
  <PresentationFormat>Custom</PresentationFormat>
  <Paragraphs>86</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Wisp</vt:lpstr>
      <vt:lpstr>Изходни периферни устройства</vt:lpstr>
      <vt:lpstr>Съдаржание:</vt:lpstr>
      <vt:lpstr>Изходни периферни устройства:</vt:lpstr>
      <vt:lpstr>Softcopy:</vt:lpstr>
      <vt:lpstr>Hardcopy:</vt:lpstr>
      <vt:lpstr>Принтер</vt:lpstr>
      <vt:lpstr>PowerPoint Presentation</vt:lpstr>
      <vt:lpstr>Видове принтери. Каретков (Маргаритков) принтер  </vt:lpstr>
      <vt:lpstr>PowerPoint Presentation</vt:lpstr>
      <vt:lpstr>Линеен принтер </vt:lpstr>
      <vt:lpstr>PowerPoint Presentation</vt:lpstr>
      <vt:lpstr>Матричен принтер.  Принцип на действие </vt:lpstr>
      <vt:lpstr>Матричните принтери се делят на 2 групи:</vt:lpstr>
      <vt:lpstr>Лазерен принтер. Принцип на действие.</vt:lpstr>
      <vt:lpstr>PowerPoint Presentation</vt:lpstr>
      <vt:lpstr>PowerPoint Presentation</vt:lpstr>
      <vt:lpstr>Предимства и недостатаци.</vt:lpstr>
      <vt:lpstr>Мастиленоструен принтер </vt:lpstr>
      <vt:lpstr>PowerPoint Presentation</vt:lpstr>
      <vt:lpstr>PowerPoint Presentation</vt:lpstr>
      <vt:lpstr>Предимства и недостатаци:</vt:lpstr>
      <vt:lpstr>Термопринтери </vt:lpstr>
      <vt:lpstr>Принцип на действие</vt:lpstr>
      <vt:lpstr>Предимства и недостатаци:</vt:lpstr>
      <vt:lpstr>Сублимационен принтер </vt:lpstr>
      <vt:lpstr>Принцип на действие:</vt:lpstr>
      <vt:lpstr>Плотери</vt:lpstr>
      <vt:lpstr>Видове плотери</vt:lpstr>
      <vt:lpstr>PowerPoint Presentation</vt:lpstr>
      <vt:lpstr>Барабанни плотери. Принцип на действие.</vt:lpstr>
      <vt:lpstr>Плоски плотери.  Принцип на действие.</vt:lpstr>
      <vt:lpstr>PowerPoint Presentation</vt:lpstr>
      <vt:lpstr>Електростатични плотери</vt:lpstr>
      <vt:lpstr>Принцип на действие.</vt:lpstr>
      <vt:lpstr>PowerPoint Presentation</vt:lpstr>
      <vt:lpstr>Тест</vt:lpstr>
      <vt:lpstr>Източници</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Изходни периферни устройства</dc:title>
  <dc:creator>Win10</dc:creator>
  <cp:lastModifiedBy>PC-0</cp:lastModifiedBy>
  <cp:revision>21</cp:revision>
  <dcterms:created xsi:type="dcterms:W3CDTF">2022-12-22T19:30:19Z</dcterms:created>
  <dcterms:modified xsi:type="dcterms:W3CDTF">2022-12-23T06:26:38Z</dcterms:modified>
</cp:coreProperties>
</file>