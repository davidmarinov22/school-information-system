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224" r:id="rId1"/>
  </p:sldMasterIdLst>
  <p:sldIdLst>
    <p:sldId id="256" r:id="rId2"/>
    <p:sldId id="257" r:id="rId3"/>
    <p:sldId id="260" r:id="rId4"/>
    <p:sldId id="264" r:id="rId5"/>
    <p:sldId id="270" r:id="rId6"/>
    <p:sldId id="269" r:id="rId7"/>
    <p:sldId id="268" r:id="rId8"/>
    <p:sldId id="267" r:id="rId9"/>
    <p:sldId id="271" r:id="rId10"/>
    <p:sldId id="272" r:id="rId11"/>
    <p:sldId id="273" r:id="rId12"/>
    <p:sldId id="274" r:id="rId13"/>
    <p:sldId id="275" r:id="rId14"/>
    <p:sldId id="276" r:id="rId15"/>
    <p:sldId id="277" r:id="rId16"/>
    <p:sldId id="291" r:id="rId17"/>
    <p:sldId id="292" r:id="rId18"/>
    <p:sldId id="293" r:id="rId19"/>
    <p:sldId id="294" r:id="rId20"/>
    <p:sldId id="295" r:id="rId21"/>
    <p:sldId id="296" r:id="rId22"/>
    <p:sldId id="265" r:id="rId23"/>
    <p:sldId id="261" r:id="rId24"/>
    <p:sldId id="278" r:id="rId25"/>
    <p:sldId id="279" r:id="rId26"/>
    <p:sldId id="280" r:id="rId27"/>
    <p:sldId id="262" r:id="rId28"/>
    <p:sldId id="281" r:id="rId29"/>
    <p:sldId id="285" r:id="rId30"/>
    <p:sldId id="282" r:id="rId31"/>
    <p:sldId id="286" r:id="rId32"/>
    <p:sldId id="263" r:id="rId33"/>
    <p:sldId id="283" r:id="rId34"/>
    <p:sldId id="287" r:id="rId35"/>
    <p:sldId id="266" r:id="rId36"/>
    <p:sldId id="289" r:id="rId37"/>
    <p:sldId id="290"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0151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434" autoAdjust="0"/>
  </p:normalViewPr>
  <p:slideViewPr>
    <p:cSldViewPr snapToGrid="0">
      <p:cViewPr>
        <p:scale>
          <a:sx n="81" d="100"/>
          <a:sy n="81" d="100"/>
        </p:scale>
        <p:origin x="-276" y="210"/>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4" name="Group 13"/>
          <p:cNvGrpSpPr/>
          <p:nvPr/>
        </p:nvGrpSpPr>
        <p:grpSpPr>
          <a:xfrm>
            <a:off x="-1588" y="0"/>
            <a:ext cx="12193588" cy="6861555"/>
            <a:chOff x="-1588" y="0"/>
            <a:chExt cx="12193588" cy="6861555"/>
          </a:xfrm>
        </p:grpSpPr>
        <p:sp>
          <p:nvSpPr>
            <p:cNvPr id="9" name="Rectangle 8"/>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a:prstGeom prst="rect">
            <a:avLst/>
          </a:prstGeom>
        </p:spPr>
        <p:txBody>
          <a:bodyPr anchor="b"/>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tx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rot="5400000">
            <a:off x="10158984" y="1792224"/>
            <a:ext cx="990599" cy="304799"/>
          </a:xfrm>
        </p:spPr>
        <p:txBody>
          <a:bodyPr/>
          <a:lstStyle>
            <a:lvl1pPr algn="l">
              <a:defRPr b="0">
                <a:solidFill>
                  <a:schemeClr val="bg1"/>
                </a:solidFill>
              </a:defRPr>
            </a:lvl1pPr>
          </a:lstStyle>
          <a:p>
            <a:fld id="{283EDA90-D657-4D3A-850D-707B34EBD3CF}" type="datetimeFigureOut">
              <a:rPr lang="en-US" smtClean="0"/>
              <a:t>12/19/2022</a:t>
            </a:fld>
            <a:endParaRPr lang="en-US" dirty="0"/>
          </a:p>
        </p:txBody>
      </p:sp>
      <p:sp>
        <p:nvSpPr>
          <p:cNvPr id="5" name="Footer Placeholder 4"/>
          <p:cNvSpPr>
            <a:spLocks noGrp="1"/>
          </p:cNvSpPr>
          <p:nvPr>
            <p:ph type="ftr" sz="quarter" idx="11"/>
          </p:nvPr>
        </p:nvSpPr>
        <p:spPr>
          <a:xfrm rot="5400000">
            <a:off x="8951976" y="3227832"/>
            <a:ext cx="3867912" cy="310896"/>
          </a:xfrm>
        </p:spPr>
        <p:txBody>
          <a:bodyPr/>
          <a:lstStyle>
            <a:lvl1pPr>
              <a:defRPr sz="1000" b="0">
                <a:solidFill>
                  <a:schemeClr val="bg1"/>
                </a:solidFill>
              </a:defRPr>
            </a:lvl1pPr>
          </a:lstStyle>
          <a:p>
            <a:endParaRPr lang="en-US" dirty="0"/>
          </a:p>
        </p:txBody>
      </p:sp>
      <p:sp>
        <p:nvSpPr>
          <p:cNvPr id="8" name="Rectangle 7"/>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1008" y="292608"/>
            <a:ext cx="838199" cy="767687"/>
          </a:xfrm>
        </p:spPr>
        <p:txBody>
          <a:bodyPr/>
          <a:lstStyle>
            <a:lvl1pPr>
              <a:defRPr sz="2800" b="0" i="0">
                <a:latin typeface="+mj-lt"/>
              </a:defRPr>
            </a:lvl1pPr>
          </a:lstStyle>
          <a:p>
            <a:fld id="{3ECE6B57-234B-42DA-BC75-2036738BE9EF}" type="slidenum">
              <a:rPr lang="en-US" smtClean="0"/>
              <a:t>‹#›</a:t>
            </a:fld>
            <a:endParaRPr lang="en-US" dirty="0"/>
          </a:p>
        </p:txBody>
      </p:sp>
    </p:spTree>
    <p:extLst>
      <p:ext uri="{BB962C8B-B14F-4D97-AF65-F5344CB8AC3E}">
        <p14:creationId xmlns:p14="http://schemas.microsoft.com/office/powerpoint/2010/main" val="20445638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9"/>
            <a:ext cx="8825659" cy="706964"/>
          </a:xfrm>
          <a:prstGeom prst="rect">
            <a:avLst/>
          </a:prstGeom>
        </p:spPr>
        <p:txBody>
          <a:bodyPr anchor="ctr"/>
          <a:lstStyle/>
          <a:p>
            <a:r>
              <a:rPr lang="en-US" smtClean="0"/>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83EDA90-D657-4D3A-850D-707B34EBD3CF}" type="datetimeFigureOut">
              <a:rPr lang="en-US" smtClean="0"/>
              <a:t>12/19/2022</a:t>
            </a:fld>
            <a:endParaRPr lang="en-US" dirty="0"/>
          </a:p>
        </p:txBody>
      </p:sp>
      <p:sp>
        <p:nvSpPr>
          <p:cNvPr id="5" name="Footer Placeholder 4"/>
          <p:cNvSpPr>
            <a:spLocks noGrp="1"/>
          </p:cNvSpPr>
          <p:nvPr>
            <p:ph type="ftr" sz="quarter" idx="11"/>
          </p:nvPr>
        </p:nvSpPr>
        <p:spPr/>
        <p:txBody>
          <a:bodyPr/>
          <a:lstStyle>
            <a:lvl1pPr>
              <a:defRPr sz="1000" b="1"/>
            </a:lvl1pPr>
          </a:lstStyle>
          <a:p>
            <a:endParaRPr lang="en-US" dirty="0"/>
          </a:p>
        </p:txBody>
      </p:sp>
      <p:sp>
        <p:nvSpPr>
          <p:cNvPr id="6" name="Slide Number Placeholder 5"/>
          <p:cNvSpPr>
            <a:spLocks noGrp="1"/>
          </p:cNvSpPr>
          <p:nvPr>
            <p:ph type="sldNum" sz="quarter" idx="12"/>
          </p:nvPr>
        </p:nvSpPr>
        <p:spPr/>
        <p:txBody>
          <a:bodyPr/>
          <a:lstStyle/>
          <a:p>
            <a:fld id="{3ECE6B57-234B-42DA-BC75-2036738BE9EF}" type="slidenum">
              <a:rPr lang="en-US" smtClean="0"/>
              <a:t>‹#›</a:t>
            </a:fld>
            <a:endParaRPr lang="en-US" dirty="0"/>
          </a:p>
        </p:txBody>
      </p:sp>
    </p:spTree>
    <p:extLst>
      <p:ext uri="{BB962C8B-B14F-4D97-AF65-F5344CB8AC3E}">
        <p14:creationId xmlns:p14="http://schemas.microsoft.com/office/powerpoint/2010/main" val="31661529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17" name="Group 16"/>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Rectangle 8"/>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679192"/>
            <a:ext cx="4343400" cy="2286000"/>
          </a:xfrm>
          <a:prstGeom prst="rect">
            <a:avLst/>
          </a:prstGeom>
        </p:spPr>
        <p:txBody>
          <a:bodyPr anchor="ctr" anchorCtr="0"/>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94576" y="2679192"/>
            <a:ext cx="3758184" cy="2286000"/>
          </a:xfrm>
        </p:spPr>
        <p:txBody>
          <a:bodyPr anchor="ctr" anchorCtr="0"/>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83EDA90-D657-4D3A-850D-707B34EBD3CF}" type="datetimeFigureOut">
              <a:rPr lang="en-US" smtClean="0"/>
              <a:t>12/19/2022</a:t>
            </a:fld>
            <a:endParaRPr lang="en-US" dirty="0"/>
          </a:p>
        </p:txBody>
      </p:sp>
      <p:sp>
        <p:nvSpPr>
          <p:cNvPr id="5" name="Footer Placeholder 4"/>
          <p:cNvSpPr>
            <a:spLocks noGrp="1"/>
          </p:cNvSpPr>
          <p:nvPr>
            <p:ph type="ftr" sz="quarter" idx="11"/>
          </p:nvPr>
        </p:nvSpPr>
        <p:spPr/>
        <p:txBody>
          <a:bodyPr/>
          <a:lstStyle>
            <a:lvl1pPr>
              <a:defRPr sz="1000" b="1"/>
            </a:lvl1pPr>
          </a:lstStyle>
          <a:p>
            <a:endParaRPr lang="en-US" dirty="0"/>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ECE6B57-234B-42DA-BC75-2036738BE9EF}" type="slidenum">
              <a:rPr lang="en-US" smtClean="0"/>
              <a:t>‹#›</a:t>
            </a:fld>
            <a:endParaRPr lang="en-US" dirty="0"/>
          </a:p>
        </p:txBody>
      </p:sp>
    </p:spTree>
    <p:extLst>
      <p:ext uri="{BB962C8B-B14F-4D97-AF65-F5344CB8AC3E}">
        <p14:creationId xmlns:p14="http://schemas.microsoft.com/office/powerpoint/2010/main" val="37918701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154953" y="969264"/>
            <a:ext cx="8825659" cy="704088"/>
          </a:xfrm>
          <a:prstGeom prst="rect">
            <a:avLst/>
          </a:prstGeo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54954" y="2603500"/>
            <a:ext cx="4828032" cy="3416301"/>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08776" y="2603500"/>
            <a:ext cx="4828032" cy="341630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283EDA90-D657-4D3A-850D-707B34EBD3CF}" type="datetimeFigureOut">
              <a:rPr lang="en-US" smtClean="0"/>
              <a:t>12/19/2022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ECE6B57-234B-42DA-BC75-2036738BE9EF}" type="slidenum">
              <a:rPr lang="en-US" smtClean="0"/>
              <a:t>‹#›</a:t>
            </a:fld>
            <a:endParaRPr lang="en-US" dirty="0"/>
          </a:p>
        </p:txBody>
      </p:sp>
    </p:spTree>
    <p:extLst>
      <p:ext uri="{BB962C8B-B14F-4D97-AF65-F5344CB8AC3E}">
        <p14:creationId xmlns:p14="http://schemas.microsoft.com/office/powerpoint/2010/main" val="36057683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54954" y="969264"/>
            <a:ext cx="8825659" cy="704088"/>
          </a:xfrm>
          <a:prstGeom prst="rect">
            <a:avLst/>
          </a:prstGeom>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6040"/>
            <a:ext cx="4828032"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54954" y="3198448"/>
            <a:ext cx="4828032" cy="2843784"/>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08776" y="2606040"/>
            <a:ext cx="4828032"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08711" y="3187921"/>
            <a:ext cx="4825160" cy="2854311"/>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283EDA90-D657-4D3A-850D-707B34EBD3CF}" type="datetimeFigureOut">
              <a:rPr lang="en-US" smtClean="0"/>
              <a:t>12/19/2022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ECE6B57-234B-42DA-BC75-2036738BE9EF}" type="slidenum">
              <a:rPr lang="en-US" smtClean="0"/>
              <a:t>‹#›</a:t>
            </a:fld>
            <a:endParaRPr lang="en-US" dirty="0"/>
          </a:p>
        </p:txBody>
      </p:sp>
    </p:spTree>
    <p:extLst>
      <p:ext uri="{BB962C8B-B14F-4D97-AF65-F5344CB8AC3E}">
        <p14:creationId xmlns:p14="http://schemas.microsoft.com/office/powerpoint/2010/main" val="37872223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52144" y="969264"/>
            <a:ext cx="8825659" cy="704088"/>
          </a:xfrm>
          <a:prstGeom prst="rect">
            <a:avLst/>
          </a:prstGeo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283EDA90-D657-4D3A-850D-707B34EBD3CF}" type="datetimeFigureOut">
              <a:rPr lang="en-US" smtClean="0"/>
              <a:t>12/19/2022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ECE6B57-234B-42DA-BC75-2036738BE9EF}" type="slidenum">
              <a:rPr lang="en-US" smtClean="0"/>
              <a:t>‹#›</a:t>
            </a:fld>
            <a:endParaRPr lang="en-US" dirty="0"/>
          </a:p>
        </p:txBody>
      </p:sp>
    </p:spTree>
    <p:extLst>
      <p:ext uri="{BB962C8B-B14F-4D97-AF65-F5344CB8AC3E}">
        <p14:creationId xmlns:p14="http://schemas.microsoft.com/office/powerpoint/2010/main" val="28805084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83EDA90-D657-4D3A-850D-707B34EBD3CF}" type="datetimeFigureOut">
              <a:rPr lang="en-US" smtClean="0"/>
              <a:t>12/19/2022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Rectangle 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3ECE6B57-234B-42DA-BC75-2036738BE9EF}" type="slidenum">
              <a:rPr lang="en-US" smtClean="0"/>
              <a:t>‹#›</a:t>
            </a:fld>
            <a:endParaRPr lang="en-US" dirty="0"/>
          </a:p>
        </p:txBody>
      </p:sp>
    </p:spTree>
    <p:extLst>
      <p:ext uri="{BB962C8B-B14F-4D97-AF65-F5344CB8AC3E}">
        <p14:creationId xmlns:p14="http://schemas.microsoft.com/office/powerpoint/2010/main" val="17148332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18" name="Group 17"/>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3" y="1298448"/>
            <a:ext cx="2793159" cy="1597152"/>
          </a:xfrm>
          <a:prstGeom prst="rect">
            <a:avLst/>
          </a:prstGeo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779008" y="1447800"/>
            <a:ext cx="5195997" cy="4572000"/>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bwMode="gray">
          <a:xfrm>
            <a:off x="1154953" y="3129280"/>
            <a:ext cx="2793159" cy="2895599"/>
          </a:xfrm>
        </p:spPr>
        <p:txBody>
          <a:bodyPr/>
          <a:lstStyle>
            <a:lvl1pPr marL="0" indent="0">
              <a:buNone/>
              <a:defRPr sz="14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83EDA90-D657-4D3A-850D-707B34EBD3CF}" type="datetimeFigureOut">
              <a:rPr lang="en-US" smtClean="0"/>
              <a:t>12/19/2022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3ECE6B57-234B-42DA-BC75-2036738BE9EF}" type="slidenum">
              <a:rPr lang="en-US" smtClean="0"/>
              <a:t>‹#›</a:t>
            </a:fld>
            <a:endParaRPr lang="en-US" dirty="0"/>
          </a:p>
        </p:txBody>
      </p:sp>
    </p:spTree>
    <p:extLst>
      <p:ext uri="{BB962C8B-B14F-4D97-AF65-F5344CB8AC3E}">
        <p14:creationId xmlns:p14="http://schemas.microsoft.com/office/powerpoint/2010/main" val="21974560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18" name="Group 17"/>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59" cy="1735668"/>
          </a:xfrm>
          <a:prstGeom prst="rect">
            <a:avLst/>
          </a:prstGeo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smtClean="0"/>
              <a:t>Click icon to add picture</a:t>
            </a:r>
            <a:endParaRPr lang="en-US" dirty="0"/>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0" indent="0">
              <a:buNone/>
              <a:defRPr sz="14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83EDA90-D657-4D3A-850D-707B34EBD3CF}" type="datetimeFigureOut">
              <a:rPr lang="en-US" smtClean="0"/>
              <a:t>12/19/2022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3ECE6B57-234B-42DA-BC75-2036738BE9EF}" type="slidenum">
              <a:rPr lang="en-US" smtClean="0"/>
              <a:t>‹#›</a:t>
            </a:fld>
            <a:endParaRPr lang="en-US" dirty="0"/>
          </a:p>
        </p:txBody>
      </p:sp>
    </p:spTree>
    <p:extLst>
      <p:ext uri="{BB962C8B-B14F-4D97-AF65-F5344CB8AC3E}">
        <p14:creationId xmlns:p14="http://schemas.microsoft.com/office/powerpoint/2010/main" val="36564310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grpSp>
        <p:nvGrpSpPr>
          <p:cNvPr id="17" name="Group 16"/>
          <p:cNvGrpSpPr/>
          <p:nvPr/>
        </p:nvGrpSpPr>
        <p:grpSpPr>
          <a:xfrm>
            <a:off x="-1588" y="0"/>
            <a:ext cx="12193588" cy="6861555"/>
            <a:chOff x="-1588" y="0"/>
            <a:chExt cx="12193588" cy="6861555"/>
          </a:xfrm>
        </p:grpSpPr>
        <p:sp>
          <p:nvSpPr>
            <p:cNvPr id="11" name="Rectangle 10"/>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7" y="4969927"/>
            <a:ext cx="8825657" cy="566738"/>
          </a:xfrm>
          <a:prstGeom prst="rect">
            <a:avLst/>
          </a:prstGeo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smtClean="0"/>
              <a:t>Click icon to add picture</a:t>
            </a:r>
            <a:endParaRPr lang="en-US" dirty="0"/>
          </a:p>
        </p:txBody>
      </p:sp>
      <p:sp>
        <p:nvSpPr>
          <p:cNvPr id="4" name="Text Placeholder 3"/>
          <p:cNvSpPr>
            <a:spLocks noGrp="1"/>
          </p:cNvSpPr>
          <p:nvPr>
            <p:ph type="body" sz="half" idx="2"/>
          </p:nvPr>
        </p:nvSpPr>
        <p:spPr bwMode="gray">
          <a:xfrm>
            <a:off x="1154957" y="5536665"/>
            <a:ext cx="8825656" cy="493712"/>
          </a:xfrm>
        </p:spPr>
        <p:txBody>
          <a:bodyPr>
            <a:normAutofit/>
          </a:bodyPr>
          <a:lstStyle>
            <a:lvl1pPr marL="0" indent="0">
              <a:buNone/>
              <a:defRPr sz="12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83EDA90-D657-4D3A-850D-707B34EBD3CF}" type="datetimeFigureOut">
              <a:rPr lang="en-US" smtClean="0"/>
              <a:t>12/19/2022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2" name="Rectangle 1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3ECE6B57-234B-42DA-BC75-2036738BE9EF}" type="slidenum">
              <a:rPr lang="en-US" smtClean="0"/>
              <a:t>‹#›</a:t>
            </a:fld>
            <a:endParaRPr lang="en-US" dirty="0"/>
          </a:p>
        </p:txBody>
      </p:sp>
    </p:spTree>
    <p:extLst>
      <p:ext uri="{BB962C8B-B14F-4D97-AF65-F5344CB8AC3E}">
        <p14:creationId xmlns:p14="http://schemas.microsoft.com/office/powerpoint/2010/main" val="32672624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16" name="Group 15"/>
          <p:cNvGrpSpPr/>
          <p:nvPr/>
        </p:nvGrpSpPr>
        <p:grpSpPr>
          <a:xfrm>
            <a:off x="-1588" y="0"/>
            <a:ext cx="12193588" cy="6861555"/>
            <a:chOff x="-1588" y="0"/>
            <a:chExt cx="12193588" cy="6861555"/>
          </a:xfrm>
        </p:grpSpPr>
        <p:sp>
          <p:nvSpPr>
            <p:cNvPr id="10" name="Rectangle 9"/>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060704"/>
            <a:ext cx="8833104" cy="1371600"/>
          </a:xfrm>
          <a:prstGeom prst="rect">
            <a:avLst/>
          </a:prstGeom>
        </p:spPr>
        <p:txBody>
          <a:bodyPr anchor="ctr" anchorCtr="0"/>
          <a:lstStyle>
            <a:lvl1pPr>
              <a:defRPr sz="40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2144" y="3547872"/>
            <a:ext cx="8825659" cy="2478024"/>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83EDA90-D657-4D3A-850D-707B34EBD3CF}" type="datetimeFigureOut">
              <a:rPr lang="en-US" smtClean="0"/>
              <a:t>12/19/2022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ECE6B57-234B-42DA-BC75-2036738BE9EF}" type="slidenum">
              <a:rPr lang="en-US" smtClean="0"/>
              <a:t>‹#›</a:t>
            </a:fld>
            <a:endParaRPr lang="en-US" dirty="0"/>
          </a:p>
        </p:txBody>
      </p:sp>
    </p:spTree>
    <p:extLst>
      <p:ext uri="{BB962C8B-B14F-4D97-AF65-F5344CB8AC3E}">
        <p14:creationId xmlns:p14="http://schemas.microsoft.com/office/powerpoint/2010/main" val="17702966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7" name="Group 6"/>
          <p:cNvGrpSpPr/>
          <p:nvPr/>
        </p:nvGrpSpPr>
        <p:grpSpPr>
          <a:xfrm>
            <a:off x="-1588" y="0"/>
            <a:ext cx="12193588" cy="6861555"/>
            <a:chOff x="-1588" y="0"/>
            <a:chExt cx="12193588" cy="6861555"/>
          </a:xfrm>
        </p:grpSpPr>
        <p:sp>
          <p:nvSpPr>
            <p:cNvPr id="16" name="Rectangle 15"/>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Oval 17"/>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7"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2" name="TextBox 11"/>
          <p:cNvSpPr txBox="1"/>
          <p:nvPr/>
        </p:nvSpPr>
        <p:spPr bwMode="gray">
          <a:xfrm>
            <a:off x="898295" y="596767"/>
            <a:ext cx="801912" cy="156966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cs typeface="Arial"/>
              </a:defRPr>
            </a:lvl1pPr>
          </a:lstStyle>
          <a:p>
            <a:pPr lvl="0"/>
            <a:r>
              <a:rPr lang="en-US" sz="9600" dirty="0">
                <a:solidFill>
                  <a:schemeClr val="tx2">
                    <a:lumMod val="40000"/>
                    <a:lumOff val="60000"/>
                  </a:schemeClr>
                </a:solidFill>
              </a:rPr>
              <a:t>“</a:t>
            </a:r>
          </a:p>
        </p:txBody>
      </p:sp>
      <p:sp>
        <p:nvSpPr>
          <p:cNvPr id="15" name="TextBox 14"/>
          <p:cNvSpPr txBox="1"/>
          <p:nvPr/>
        </p:nvSpPr>
        <p:spPr bwMode="gray">
          <a:xfrm>
            <a:off x="9715063" y="2629300"/>
            <a:ext cx="801912" cy="156966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cs typeface="Arial"/>
              </a:defRPr>
            </a:lvl1pPr>
          </a:lstStyle>
          <a:p>
            <a:pPr lvl="0"/>
            <a:r>
              <a:rPr lang="en-US" sz="9600" dirty="0">
                <a:solidFill>
                  <a:schemeClr val="tx2">
                    <a:lumMod val="40000"/>
                    <a:lumOff val="60000"/>
                  </a:schemeClr>
                </a:solidFill>
              </a:rPr>
              <a:t>”</a:t>
            </a:r>
          </a:p>
        </p:txBody>
      </p:sp>
      <p:sp>
        <p:nvSpPr>
          <p:cNvPr id="2" name="Title 1"/>
          <p:cNvSpPr>
            <a:spLocks noGrp="1"/>
          </p:cNvSpPr>
          <p:nvPr>
            <p:ph type="title"/>
          </p:nvPr>
        </p:nvSpPr>
        <p:spPr>
          <a:xfrm>
            <a:off x="1574801" y="980517"/>
            <a:ext cx="8460983" cy="2698249"/>
          </a:xfrm>
          <a:prstGeom prst="rect">
            <a:avLst/>
          </a:prstGeom>
        </p:spPr>
        <p:txBody>
          <a:bodyPr anchor="ctr" anchorCtr="0"/>
          <a:lstStyle>
            <a:lvl1pPr>
              <a:defRPr sz="4000"/>
            </a:lvl1pPr>
          </a:lstStyle>
          <a:p>
            <a:r>
              <a:rPr lang="en-US" smtClean="0"/>
              <a:t>Click to edit Master title style</a:t>
            </a:r>
            <a:endParaRPr lang="en-US" dirty="0"/>
          </a:p>
        </p:txBody>
      </p:sp>
      <p:sp>
        <p:nvSpPr>
          <p:cNvPr id="11" name="Text Placeholder 3"/>
          <p:cNvSpPr>
            <a:spLocks noGrp="1"/>
          </p:cNvSpPr>
          <p:nvPr>
            <p:ph type="body" sz="half" idx="14"/>
          </p:nvPr>
        </p:nvSpPr>
        <p:spPr bwMode="gray">
          <a:xfrm>
            <a:off x="1945945" y="3679987"/>
            <a:ext cx="7725772" cy="342174"/>
          </a:xfrm>
        </p:spPr>
        <p:txBody>
          <a:bodyPr vert="horz" lIns="91440" tIns="45720" rIns="91440" bIns="45720" rtlCol="0" anchor="t">
            <a:normAutofit/>
          </a:bodyPr>
          <a:lstStyle>
            <a:lvl1pPr>
              <a:buNone/>
              <a:defRPr lang="en-US" sz="1400" cap="small" dirty="0">
                <a:solidFill>
                  <a:schemeClr val="tx2">
                    <a:lumMod val="40000"/>
                    <a:lumOff val="60000"/>
                  </a:schemeClr>
                </a:solidFill>
                <a:latin typeface="+mn-lt"/>
              </a:defRPr>
            </a:lvl1pPr>
          </a:lstStyle>
          <a:p>
            <a:pPr marL="0" lvl="0" indent="0">
              <a:buNone/>
            </a:pPr>
            <a:r>
              <a:rPr lang="en-US" smtClean="0"/>
              <a:t>Click to edit Master text styles</a:t>
            </a:r>
          </a:p>
        </p:txBody>
      </p:sp>
      <p:sp>
        <p:nvSpPr>
          <p:cNvPr id="10" name="Text Placeholder 3"/>
          <p:cNvSpPr>
            <a:spLocks noGrp="1"/>
          </p:cNvSpPr>
          <p:nvPr>
            <p:ph type="body" sz="half" idx="2"/>
          </p:nvPr>
        </p:nvSpPr>
        <p:spPr>
          <a:xfrm>
            <a:off x="1154954" y="5029198"/>
            <a:ext cx="8825659" cy="997858"/>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83EDA90-D657-4D3A-850D-707B34EBD3CF}" type="datetimeFigureOut">
              <a:rPr lang="en-US" smtClean="0"/>
              <a:t>12/19/2022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23" name="Rectangle 2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ECE6B57-234B-42DA-BC75-2036738BE9EF}" type="slidenum">
              <a:rPr lang="en-US" smtClean="0"/>
              <a:t>‹#›</a:t>
            </a:fld>
            <a:endParaRPr lang="en-US" dirty="0"/>
          </a:p>
        </p:txBody>
      </p:sp>
    </p:spTree>
    <p:extLst>
      <p:ext uri="{BB962C8B-B14F-4D97-AF65-F5344CB8AC3E}">
        <p14:creationId xmlns:p14="http://schemas.microsoft.com/office/powerpoint/2010/main" val="11202294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16" name="Group 15"/>
          <p:cNvGrpSpPr/>
          <p:nvPr/>
        </p:nvGrpSpPr>
        <p:grpSpPr>
          <a:xfrm>
            <a:off x="-1588" y="0"/>
            <a:ext cx="12193588" cy="6861555"/>
            <a:chOff x="-1588" y="0"/>
            <a:chExt cx="12193588" cy="6861555"/>
          </a:xfrm>
        </p:grpSpPr>
        <p:sp>
          <p:nvSpPr>
            <p:cNvPr id="11" name="Rectangle 10"/>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3525"/>
            <a:ext cx="8865623" cy="1819656"/>
          </a:xfrm>
          <a:prstGeom prst="rect">
            <a:avLst/>
          </a:prstGeo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5029200"/>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83EDA90-D657-4D3A-850D-707B34EBD3CF}" type="datetimeFigureOut">
              <a:rPr lang="en-US" smtClean="0"/>
              <a:t>12/19/2022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ECE6B57-234B-42DA-BC75-2036738BE9EF}" type="slidenum">
              <a:rPr lang="en-US" smtClean="0"/>
              <a:t>‹#›</a:t>
            </a:fld>
            <a:endParaRPr lang="en-US" dirty="0"/>
          </a:p>
        </p:txBody>
      </p:sp>
    </p:spTree>
    <p:extLst>
      <p:ext uri="{BB962C8B-B14F-4D97-AF65-F5344CB8AC3E}">
        <p14:creationId xmlns:p14="http://schemas.microsoft.com/office/powerpoint/2010/main" val="17980626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a:prstGeom prst="rect">
            <a:avLst/>
          </a:prstGeom>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3129168"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1154954" y="3179764"/>
            <a:ext cx="3129168" cy="284729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4512721" y="2603500"/>
            <a:ext cx="3145380"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4512721" y="3179764"/>
            <a:ext cx="3145380" cy="284729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886700" y="2595032"/>
            <a:ext cx="3161029" cy="58473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886700" y="3179764"/>
            <a:ext cx="3161029" cy="284729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4384991" y="2603500"/>
            <a:ext cx="32564" cy="3423554"/>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5824" y="2603500"/>
            <a:ext cx="0" cy="3423554"/>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283EDA90-D657-4D3A-850D-707B34EBD3CF}" type="datetimeFigureOut">
              <a:rPr lang="en-US" smtClean="0"/>
              <a:t>12/19/2022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ECE6B57-234B-42DA-BC75-2036738BE9EF}" type="slidenum">
              <a:rPr lang="en-US" smtClean="0"/>
              <a:t>‹#›</a:t>
            </a:fld>
            <a:endParaRPr lang="en-US" dirty="0"/>
          </a:p>
        </p:txBody>
      </p:sp>
    </p:spTree>
    <p:extLst>
      <p:ext uri="{BB962C8B-B14F-4D97-AF65-F5344CB8AC3E}">
        <p14:creationId xmlns:p14="http://schemas.microsoft.com/office/powerpoint/2010/main" val="33279807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a:prstGeom prst="rect">
            <a:avLst/>
          </a:prstGeom>
        </p:spPr>
        <p:txBody>
          <a:bodyPr anchor="ctr" anchorCtr="0"/>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4532845"/>
            <a:ext cx="3050438" cy="576260"/>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9" name="Picture Placeholder 2"/>
          <p:cNvSpPr>
            <a:spLocks noGrp="1" noChangeAspect="1"/>
          </p:cNvSpPr>
          <p:nvPr>
            <p:ph type="pic" idx="15"/>
          </p:nvPr>
        </p:nvSpPr>
        <p:spPr>
          <a:xfrm>
            <a:off x="1334552" y="2610916"/>
            <a:ext cx="2691242" cy="1584094"/>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smtClean="0"/>
              <a:t>Click icon to add picture</a:t>
            </a:r>
            <a:endParaRPr lang="en-US" dirty="0"/>
          </a:p>
        </p:txBody>
      </p:sp>
      <p:sp>
        <p:nvSpPr>
          <p:cNvPr id="22" name="Text Placeholder 3"/>
          <p:cNvSpPr>
            <a:spLocks noGrp="1"/>
          </p:cNvSpPr>
          <p:nvPr>
            <p:ph type="body" sz="half" idx="18"/>
          </p:nvPr>
        </p:nvSpPr>
        <p:spPr>
          <a:xfrm>
            <a:off x="1154954" y="5109107"/>
            <a:ext cx="3050438"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4568865" y="4532842"/>
            <a:ext cx="30504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0" name="Picture Placeholder 2"/>
          <p:cNvSpPr>
            <a:spLocks noGrp="1" noChangeAspect="1"/>
          </p:cNvSpPr>
          <p:nvPr>
            <p:ph type="pic" idx="21"/>
          </p:nvPr>
        </p:nvSpPr>
        <p:spPr>
          <a:xfrm>
            <a:off x="474846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smtClean="0"/>
              <a:t>Click icon to add picture</a:t>
            </a:r>
            <a:endParaRPr lang="en-US" dirty="0"/>
          </a:p>
        </p:txBody>
      </p:sp>
      <p:sp>
        <p:nvSpPr>
          <p:cNvPr id="23" name="Text Placeholder 3"/>
          <p:cNvSpPr>
            <a:spLocks noGrp="1"/>
          </p:cNvSpPr>
          <p:nvPr>
            <p:ph type="body" sz="half" idx="19"/>
          </p:nvPr>
        </p:nvSpPr>
        <p:spPr>
          <a:xfrm>
            <a:off x="4568865" y="5109108"/>
            <a:ext cx="3050438" cy="91257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983433" y="4532842"/>
            <a:ext cx="30504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1"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smtClean="0"/>
              <a:t>Click icon to add picture</a:t>
            </a:r>
            <a:endParaRPr lang="en-US" dirty="0"/>
          </a:p>
        </p:txBody>
      </p:sp>
      <p:sp>
        <p:nvSpPr>
          <p:cNvPr id="24" name="Text Placeholder 3"/>
          <p:cNvSpPr>
            <a:spLocks noGrp="1"/>
          </p:cNvSpPr>
          <p:nvPr>
            <p:ph type="body" sz="half" idx="20"/>
          </p:nvPr>
        </p:nvSpPr>
        <p:spPr>
          <a:xfrm>
            <a:off x="7983433" y="5109107"/>
            <a:ext cx="3050438" cy="91794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4384245" y="2603500"/>
            <a:ext cx="1" cy="3461811"/>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807352" y="2603500"/>
            <a:ext cx="0" cy="3461811"/>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283EDA90-D657-4D3A-850D-707B34EBD3CF}" type="datetimeFigureOut">
              <a:rPr lang="en-US" smtClean="0"/>
              <a:t>12/19/2022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ECE6B57-234B-42DA-BC75-2036738BE9EF}" type="slidenum">
              <a:rPr lang="en-US" smtClean="0"/>
              <a:t>‹#›</a:t>
            </a:fld>
            <a:endParaRPr lang="en-US" dirty="0"/>
          </a:p>
        </p:txBody>
      </p:sp>
    </p:spTree>
    <p:extLst>
      <p:ext uri="{BB962C8B-B14F-4D97-AF65-F5344CB8AC3E}">
        <p14:creationId xmlns:p14="http://schemas.microsoft.com/office/powerpoint/2010/main" val="35373700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a:prstGeom prst="rect">
            <a:avLst/>
          </a:prstGeo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2595033"/>
            <a:ext cx="8825659" cy="3424768"/>
          </a:xfrm>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83EDA90-D657-4D3A-850D-707B34EBD3CF}" type="datetimeFigureOut">
              <a:rPr lang="en-US" smtClean="0"/>
              <a:t>12/19/2022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ECE6B57-234B-42DA-BC75-2036738BE9EF}" type="slidenum">
              <a:rPr lang="en-US" smtClean="0"/>
              <a:t>‹#›</a:t>
            </a:fld>
            <a:endParaRPr lang="en-US" dirty="0"/>
          </a:p>
        </p:txBody>
      </p:sp>
    </p:spTree>
    <p:extLst>
      <p:ext uri="{BB962C8B-B14F-4D97-AF65-F5344CB8AC3E}">
        <p14:creationId xmlns:p14="http://schemas.microsoft.com/office/powerpoint/2010/main" val="21502853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8" name="Group 7"/>
          <p:cNvGrpSpPr/>
          <p:nvPr/>
        </p:nvGrpSpPr>
        <p:grpSpPr>
          <a:xfrm>
            <a:off x="-1588" y="0"/>
            <a:ext cx="12193588" cy="6861555"/>
            <a:chOff x="-1588" y="0"/>
            <a:chExt cx="12193588" cy="6861555"/>
          </a:xfrm>
        </p:grpSpPr>
        <p:sp>
          <p:nvSpPr>
            <p:cNvPr id="15" name="Rectangle 14"/>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Rectangle 12"/>
            <p:cNvSpPr/>
            <p:nvPr/>
          </p:nvSpPr>
          <p:spPr>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6"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76756" y="1278466"/>
            <a:ext cx="1441567" cy="4748591"/>
          </a:xfrm>
          <a:prstGeom prst="rect">
            <a:avLst/>
          </a:prstGeo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1278465"/>
            <a:ext cx="6256025" cy="474859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83EDA90-D657-4D3A-850D-707B34EBD3CF}" type="datetimeFigureOut">
              <a:rPr lang="en-US" smtClean="0"/>
              <a:t>12/19/2022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20" name="Rectangle 1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ECE6B57-234B-42DA-BC75-2036738BE9EF}" type="slidenum">
              <a:rPr lang="en-US" smtClean="0"/>
              <a:t>‹#›</a:t>
            </a:fld>
            <a:endParaRPr lang="en-US" dirty="0"/>
          </a:p>
        </p:txBody>
      </p:sp>
    </p:spTree>
    <p:extLst>
      <p:ext uri="{BB962C8B-B14F-4D97-AF65-F5344CB8AC3E}">
        <p14:creationId xmlns:p14="http://schemas.microsoft.com/office/powerpoint/2010/main" val="18443348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1"/>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19">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Oval 20"/>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4"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7"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2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30"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652760" y="6391656"/>
            <a:ext cx="990599" cy="304799"/>
          </a:xfrm>
          <a:prstGeom prst="rect">
            <a:avLst/>
          </a:prstGeom>
        </p:spPr>
        <p:txBody>
          <a:bodyPr vert="horz" lIns="91440" tIns="45720" rIns="91440" bIns="45720" rtlCol="0" anchor="ctr" anchorCtr="0"/>
          <a:lstStyle>
            <a:lvl1pPr algn="r">
              <a:defRPr sz="1000" b="1" i="0">
                <a:solidFill>
                  <a:schemeClr val="accent1"/>
                </a:solidFill>
              </a:defRPr>
            </a:lvl1pPr>
          </a:lstStyle>
          <a:p>
            <a:fld id="{283EDA90-D657-4D3A-850D-707B34EBD3CF}" type="datetimeFigureOut">
              <a:rPr lang="en-US" smtClean="0"/>
              <a:t>12/19/2022</a:t>
            </a:fld>
            <a:endParaRPr lang="en-US" dirty="0"/>
          </a:p>
        </p:txBody>
      </p:sp>
      <p:sp>
        <p:nvSpPr>
          <p:cNvPr id="5" name="Footer Placeholder 4"/>
          <p:cNvSpPr>
            <a:spLocks noGrp="1"/>
          </p:cNvSpPr>
          <p:nvPr>
            <p:ph type="ftr" sz="quarter" idx="3"/>
          </p:nvPr>
        </p:nvSpPr>
        <p:spPr>
          <a:xfrm>
            <a:off x="557784" y="6391656"/>
            <a:ext cx="3867912" cy="310896"/>
          </a:xfrm>
          <a:prstGeom prst="rect">
            <a:avLst/>
          </a:prstGeom>
        </p:spPr>
        <p:txBody>
          <a:bodyPr vert="horz" lIns="91440" tIns="45720" rIns="91440" bIns="45720" rtlCol="0" anchor="ctr" anchorCtr="0"/>
          <a:lstStyle>
            <a:lvl1pPr algn="l">
              <a:defRPr sz="1000" b="1" i="0">
                <a:solidFill>
                  <a:schemeClr val="accent1"/>
                </a:solidFill>
              </a:defRPr>
            </a:lvl1pPr>
          </a:lstStyle>
          <a:p>
            <a:endParaRPr lang="en-US" dirty="0"/>
          </a:p>
        </p:txBody>
      </p:sp>
      <p:sp>
        <p:nvSpPr>
          <p:cNvPr id="29" name="Rectangle 2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3ECE6B57-234B-42DA-BC75-2036738BE9EF}" type="slidenum">
              <a:rPr lang="en-US" smtClean="0"/>
              <a:t>‹#›</a:t>
            </a:fld>
            <a:endParaRPr lang="en-US" dirty="0"/>
          </a:p>
        </p:txBody>
      </p:sp>
    </p:spTree>
    <p:extLst>
      <p:ext uri="{BB962C8B-B14F-4D97-AF65-F5344CB8AC3E}">
        <p14:creationId xmlns:p14="http://schemas.microsoft.com/office/powerpoint/2010/main" val="3771007133"/>
      </p:ext>
    </p:extLst>
  </p:cSld>
  <p:clrMap bg1="lt1" tx1="dk1" bg2="lt2" tx2="dk2" accent1="accent1" accent2="accent2" accent3="accent3" accent4="accent4" accent5="accent5" accent6="accent6" hlink="hlink" folHlink="folHlink"/>
  <p:sldLayoutIdLst>
    <p:sldLayoutId id="2147484225" r:id="rId1"/>
    <p:sldLayoutId id="2147484226" r:id="rId2"/>
    <p:sldLayoutId id="2147484227" r:id="rId3"/>
    <p:sldLayoutId id="2147484228" r:id="rId4"/>
    <p:sldLayoutId id="2147484229" r:id="rId5"/>
    <p:sldLayoutId id="2147484230" r:id="rId6"/>
    <p:sldLayoutId id="2147484231" r:id="rId7"/>
    <p:sldLayoutId id="2147484232" r:id="rId8"/>
    <p:sldLayoutId id="2147484233" r:id="rId9"/>
    <p:sldLayoutId id="2147484234" r:id="rId10"/>
    <p:sldLayoutId id="2147484235" r:id="rId11"/>
    <p:sldLayoutId id="2147484236" r:id="rId12"/>
    <p:sldLayoutId id="2147484237" r:id="rId13"/>
    <p:sldLayoutId id="2147484238" r:id="rId14"/>
    <p:sldLayoutId id="2147484239" r:id="rId15"/>
    <p:sldLayoutId id="2147484240" r:id="rId16"/>
    <p:sldLayoutId id="2147484241"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slide" Target="slide3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 Target="slide3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slide" Target="slide37.xml"/><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slide" Target="slide37.xml"/><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slide" Target="slide12.xml"/><Relationship Id="rId2" Type="http://schemas.openxmlformats.org/officeDocument/2006/relationships/slide" Target="slide3.xml"/><Relationship Id="rId1" Type="http://schemas.openxmlformats.org/officeDocument/2006/relationships/slideLayout" Target="../slideLayouts/slideLayout2.xml"/><Relationship Id="rId5" Type="http://schemas.openxmlformats.org/officeDocument/2006/relationships/slide" Target="slide25.xml"/><Relationship Id="rId4" Type="http://schemas.openxmlformats.org/officeDocument/2006/relationships/slide" Target="slide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bg-BG" dirty="0" smtClean="0">
                <a:latin typeface="Times New Roman" panose="02020603050405020304" pitchFamily="18" charset="0"/>
                <a:cs typeface="Times New Roman" panose="02020603050405020304" pitchFamily="18" charset="0"/>
              </a:rPr>
              <a:t>Изходни периферни устройства</a:t>
            </a:r>
            <a:endParaRPr lang="en-US"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p:txBody>
          <a:bodyPr/>
          <a:lstStyle/>
          <a:p>
            <a:r>
              <a:rPr lang="bg-BG" smtClean="0"/>
              <a:t>Румен димитров – 10г</a:t>
            </a:r>
            <a:endParaRPr lang="en-US" dirty="0"/>
          </a:p>
        </p:txBody>
      </p:sp>
    </p:spTree>
    <p:extLst>
      <p:ext uri="{BB962C8B-B14F-4D97-AF65-F5344CB8AC3E}">
        <p14:creationId xmlns:p14="http://schemas.microsoft.com/office/powerpoint/2010/main" val="356734094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latin typeface="Times New Roman" panose="02020603050405020304" pitchFamily="18" charset="0"/>
                <a:cs typeface="Times New Roman" panose="02020603050405020304" pitchFamily="18" charset="0"/>
              </a:rPr>
              <a:t>Съдържание</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2497540"/>
            <a:ext cx="12192000" cy="4360460"/>
          </a:xfrm>
        </p:spPr>
        <p:txBody>
          <a:bodyPr>
            <a:noAutofit/>
          </a:bodyPr>
          <a:lstStyle/>
          <a:p>
            <a:r>
              <a:rPr lang="ru-RU" sz="2400" dirty="0" smtClean="0">
                <a:latin typeface="Times New Roman" panose="02020603050405020304" pitchFamily="18" charset="0"/>
                <a:cs typeface="Times New Roman" panose="02020603050405020304" pitchFamily="18" charset="0"/>
              </a:rPr>
              <a:t>Видеодисплей </a:t>
            </a:r>
            <a:r>
              <a:rPr lang="ru-RU" sz="2400" i="1" dirty="0">
                <a:latin typeface="Times New Roman" panose="02020603050405020304" pitchFamily="18" charset="0"/>
                <a:cs typeface="Times New Roman" panose="02020603050405020304" pitchFamily="18" charset="0"/>
              </a:rPr>
              <a:t>/монитор</a:t>
            </a:r>
            <a:r>
              <a:rPr lang="ru-RU" sz="2400" i="1" dirty="0" smtClean="0">
                <a:latin typeface="Times New Roman" panose="02020603050405020304" pitchFamily="18" charset="0"/>
                <a:cs typeface="Times New Roman" panose="02020603050405020304" pitchFamily="18" charset="0"/>
              </a:rPr>
              <a:t>/</a:t>
            </a:r>
            <a:r>
              <a:rPr lang="ru-RU" sz="2400" dirty="0" smtClean="0">
                <a:latin typeface="Times New Roman" panose="02020603050405020304" pitchFamily="18" charset="0"/>
                <a:cs typeface="Times New Roman" panose="02020603050405020304" pitchFamily="18" charset="0"/>
              </a:rPr>
              <a:t>.</a:t>
            </a:r>
            <a:endParaRPr lang="ru-RU" sz="2400" dirty="0">
              <a:latin typeface="Times New Roman" panose="02020603050405020304" pitchFamily="18" charset="0"/>
              <a:cs typeface="Times New Roman" panose="02020603050405020304" pitchFamily="18" charset="0"/>
            </a:endParaRPr>
          </a:p>
          <a:p>
            <a:pPr marL="0" indent="0">
              <a:buNone/>
            </a:pPr>
            <a:r>
              <a:rPr lang="ru-RU" sz="2400" dirty="0">
                <a:latin typeface="Times New Roman" panose="02020603050405020304" pitchFamily="18" charset="0"/>
                <a:cs typeface="Times New Roman" panose="02020603050405020304" pitchFamily="18" charset="0"/>
              </a:rPr>
              <a:t>А/ Видове</a:t>
            </a:r>
            <a:r>
              <a:rPr lang="ru-RU" sz="2400" dirty="0" smtClean="0">
                <a:latin typeface="Times New Roman" panose="02020603050405020304" pitchFamily="18" charset="0"/>
                <a:cs typeface="Times New Roman" panose="02020603050405020304" pitchFamily="18" charset="0"/>
              </a:rPr>
              <a:t>: -  С </a:t>
            </a:r>
            <a:r>
              <a:rPr lang="ru-RU" sz="2400" dirty="0">
                <a:latin typeface="Times New Roman" panose="02020603050405020304" pitchFamily="18" charset="0"/>
                <a:cs typeface="Times New Roman" panose="02020603050405020304" pitchFamily="18" charset="0"/>
              </a:rPr>
              <a:t>електронно-лъчева тръба</a:t>
            </a:r>
            <a:r>
              <a:rPr lang="ru-RU" sz="2400" dirty="0" smtClean="0">
                <a:latin typeface="Times New Roman" panose="02020603050405020304" pitchFamily="18" charset="0"/>
                <a:cs typeface="Times New Roman" panose="02020603050405020304" pitchFamily="18" charset="0"/>
              </a:rPr>
              <a:t>; - </a:t>
            </a:r>
            <a:r>
              <a:rPr lang="en-US" sz="2400" dirty="0" smtClean="0">
                <a:latin typeface="Times New Roman" panose="02020603050405020304" pitchFamily="18" charset="0"/>
                <a:cs typeface="Times New Roman" panose="02020603050405020304" pitchFamily="18" charset="0"/>
              </a:rPr>
              <a:t> </a:t>
            </a:r>
            <a:r>
              <a:rPr lang="bg-BG" sz="2400" dirty="0" smtClean="0">
                <a:latin typeface="Times New Roman" panose="02020603050405020304" pitchFamily="18" charset="0"/>
                <a:cs typeface="Times New Roman" panose="02020603050405020304" pitchFamily="18" charset="0"/>
              </a:rPr>
              <a:t>И</a:t>
            </a:r>
            <a:r>
              <a:rPr lang="ru-RU" sz="2400" dirty="0" smtClean="0">
                <a:latin typeface="Times New Roman" panose="02020603050405020304" pitchFamily="18" charset="0"/>
                <a:cs typeface="Times New Roman" panose="02020603050405020304" pitchFamily="18" charset="0"/>
              </a:rPr>
              <a:t>зградени </a:t>
            </a:r>
            <a:r>
              <a:rPr lang="ru-RU" sz="2400" dirty="0">
                <a:latin typeface="Times New Roman" panose="02020603050405020304" pitchFamily="18" charset="0"/>
                <a:cs typeface="Times New Roman" panose="02020603050405020304" pitchFamily="18" charset="0"/>
              </a:rPr>
              <a:t>с течни </a:t>
            </a:r>
            <a:r>
              <a:rPr lang="ru-RU" sz="2400" dirty="0" smtClean="0">
                <a:latin typeface="Times New Roman" panose="02020603050405020304" pitchFamily="18" charset="0"/>
                <a:cs typeface="Times New Roman" panose="02020603050405020304" pitchFamily="18" charset="0"/>
              </a:rPr>
              <a:t>кристали.</a:t>
            </a:r>
            <a:r>
              <a:rPr lang="en-US" sz="2400" dirty="0" smtClean="0">
                <a:latin typeface="Times New Roman" panose="02020603050405020304" pitchFamily="18" charset="0"/>
                <a:cs typeface="Times New Roman" panose="02020603050405020304" pitchFamily="18" charset="0"/>
              </a:rPr>
              <a:t>;</a:t>
            </a:r>
            <a:r>
              <a:rPr lang="bg-BG" sz="2400" dirty="0" smtClean="0">
                <a:latin typeface="Times New Roman" panose="02020603050405020304" pitchFamily="18" charset="0"/>
                <a:cs typeface="Times New Roman" panose="02020603050405020304" pitchFamily="18" charset="0"/>
              </a:rPr>
              <a:t> -  Плазмен монитор</a:t>
            </a:r>
            <a:r>
              <a:rPr lang="en-US" sz="2400" dirty="0" smtClean="0">
                <a:latin typeface="Times New Roman" panose="02020603050405020304" pitchFamily="18" charset="0"/>
                <a:cs typeface="Times New Roman" panose="02020603050405020304" pitchFamily="18" charset="0"/>
              </a:rPr>
              <a:t>;</a:t>
            </a:r>
            <a:r>
              <a:rPr lang="bg-BG" sz="2400" dirty="0">
                <a:latin typeface="Times New Roman" panose="02020603050405020304" pitchFamily="18" charset="0"/>
                <a:cs typeface="Times New Roman" panose="02020603050405020304" pitchFamily="18" charset="0"/>
              </a:rPr>
              <a:t> -  Монитор с органични </a:t>
            </a:r>
            <a:r>
              <a:rPr lang="bg-BG" sz="2400" dirty="0" smtClean="0">
                <a:latin typeface="Times New Roman" panose="02020603050405020304" pitchFamily="18" charset="0"/>
                <a:cs typeface="Times New Roman" panose="02020603050405020304" pitchFamily="18" charset="0"/>
              </a:rPr>
              <a:t>светодиоди</a:t>
            </a:r>
            <a:r>
              <a:rPr lang="en-US" sz="2400" dirty="0" smtClean="0">
                <a:latin typeface="Times New Roman" panose="02020603050405020304" pitchFamily="18" charset="0"/>
                <a:cs typeface="Times New Roman" panose="02020603050405020304" pitchFamily="18" charset="0"/>
              </a:rPr>
              <a:t>;</a:t>
            </a:r>
            <a:r>
              <a:rPr lang="bg-BG" sz="2400" dirty="0">
                <a:latin typeface="Times New Roman" panose="02020603050405020304" pitchFamily="18" charset="0"/>
                <a:cs typeface="Times New Roman" panose="02020603050405020304" pitchFamily="18" charset="0"/>
              </a:rPr>
              <a:t> </a:t>
            </a:r>
            <a:endParaRPr lang="ru-RU" sz="2400" dirty="0">
              <a:latin typeface="Times New Roman" panose="02020603050405020304" pitchFamily="18" charset="0"/>
              <a:cs typeface="Times New Roman" panose="02020603050405020304" pitchFamily="18" charset="0"/>
            </a:endParaRPr>
          </a:p>
          <a:p>
            <a:r>
              <a:rPr lang="ru-RU" sz="2400" dirty="0" smtClean="0">
                <a:latin typeface="Times New Roman" panose="02020603050405020304" pitchFamily="18" charset="0"/>
                <a:cs typeface="Times New Roman" panose="02020603050405020304" pitchFamily="18" charset="0"/>
              </a:rPr>
              <a:t>Принтер </a:t>
            </a:r>
            <a:r>
              <a:rPr lang="ru-RU" sz="2400" i="1" dirty="0">
                <a:latin typeface="Times New Roman" panose="02020603050405020304" pitchFamily="18" charset="0"/>
                <a:cs typeface="Times New Roman" panose="02020603050405020304" pitchFamily="18" charset="0"/>
              </a:rPr>
              <a:t>/Печатащо устройство</a:t>
            </a:r>
            <a:r>
              <a:rPr lang="ru-RU" sz="2400" i="1" dirty="0" smtClean="0">
                <a:latin typeface="Times New Roman" panose="02020603050405020304" pitchFamily="18" charset="0"/>
                <a:cs typeface="Times New Roman" panose="02020603050405020304" pitchFamily="18" charset="0"/>
              </a:rPr>
              <a:t>/</a:t>
            </a:r>
            <a:r>
              <a:rPr lang="ru-RU" sz="2400" dirty="0" smtClean="0">
                <a:latin typeface="Times New Roman" panose="02020603050405020304" pitchFamily="18" charset="0"/>
                <a:cs typeface="Times New Roman" panose="02020603050405020304" pitchFamily="18" charset="0"/>
              </a:rPr>
              <a:t>.</a:t>
            </a:r>
            <a:endParaRPr lang="ru-RU" sz="2400" dirty="0">
              <a:latin typeface="Times New Roman" panose="02020603050405020304" pitchFamily="18" charset="0"/>
              <a:cs typeface="Times New Roman" panose="02020603050405020304" pitchFamily="18" charset="0"/>
            </a:endParaRPr>
          </a:p>
          <a:p>
            <a:pPr marL="0" indent="0">
              <a:buNone/>
            </a:pPr>
            <a:r>
              <a:rPr lang="ru-RU" sz="2400" dirty="0">
                <a:latin typeface="Times New Roman" panose="02020603050405020304" pitchFamily="18" charset="0"/>
                <a:cs typeface="Times New Roman" panose="02020603050405020304" pitchFamily="18" charset="0"/>
              </a:rPr>
              <a:t>А/ Видове</a:t>
            </a:r>
            <a:r>
              <a:rPr lang="ru-RU" sz="2400" dirty="0" smtClean="0">
                <a:latin typeface="Times New Roman" panose="02020603050405020304" pitchFamily="18" charset="0"/>
                <a:cs typeface="Times New Roman" panose="02020603050405020304" pitchFamily="18" charset="0"/>
              </a:rPr>
              <a:t>: - Матрични</a:t>
            </a:r>
            <a:r>
              <a:rPr lang="ru-RU" sz="2400" i="1" dirty="0" smtClean="0">
                <a:latin typeface="Times New Roman" panose="02020603050405020304" pitchFamily="18" charset="0"/>
                <a:cs typeface="Times New Roman" panose="02020603050405020304" pitchFamily="18" charset="0"/>
              </a:rPr>
              <a:t>; </a:t>
            </a:r>
            <a:r>
              <a:rPr lang="ru-RU" sz="2400" dirty="0" smtClean="0">
                <a:latin typeface="Times New Roman" panose="02020603050405020304" pitchFamily="18" charset="0"/>
                <a:cs typeface="Times New Roman" panose="02020603050405020304" pitchFamily="18" charset="0"/>
              </a:rPr>
              <a:t>- </a:t>
            </a:r>
            <a:r>
              <a:rPr lang="ru-RU" sz="2400" dirty="0">
                <a:latin typeface="Times New Roman" panose="02020603050405020304" pitchFamily="18" charset="0"/>
                <a:cs typeface="Times New Roman" panose="02020603050405020304" pitchFamily="18" charset="0"/>
              </a:rPr>
              <a:t>Мастилено-струйни</a:t>
            </a:r>
            <a:r>
              <a:rPr lang="ru-RU" sz="2400" dirty="0" smtClean="0">
                <a:latin typeface="Times New Roman" panose="02020603050405020304" pitchFamily="18" charset="0"/>
                <a:cs typeface="Times New Roman" panose="02020603050405020304" pitchFamily="18" charset="0"/>
              </a:rPr>
              <a:t>; - </a:t>
            </a:r>
            <a:r>
              <a:rPr lang="ru-RU" sz="2400" dirty="0">
                <a:latin typeface="Times New Roman" panose="02020603050405020304" pitchFamily="18" charset="0"/>
                <a:cs typeface="Times New Roman" panose="02020603050405020304" pitchFamily="18" charset="0"/>
              </a:rPr>
              <a:t>Лазерни</a:t>
            </a:r>
            <a:r>
              <a:rPr lang="ru-RU" sz="2400" dirty="0" smtClean="0">
                <a:latin typeface="Times New Roman" panose="02020603050405020304" pitchFamily="18" charset="0"/>
                <a:cs typeface="Times New Roman" panose="02020603050405020304" pitchFamily="18" charset="0"/>
              </a:rPr>
              <a:t>.</a:t>
            </a:r>
            <a:endParaRPr lang="ru-RU" sz="2400" dirty="0">
              <a:latin typeface="Times New Roman" panose="02020603050405020304" pitchFamily="18" charset="0"/>
              <a:cs typeface="Times New Roman" panose="02020603050405020304" pitchFamily="18" charset="0"/>
            </a:endParaRPr>
          </a:p>
          <a:p>
            <a:r>
              <a:rPr lang="ru-RU" sz="2400" dirty="0" smtClean="0">
                <a:latin typeface="Times New Roman" panose="02020603050405020304" pitchFamily="18" charset="0"/>
                <a:cs typeface="Times New Roman" panose="02020603050405020304" pitchFamily="18" charset="0"/>
              </a:rPr>
              <a:t>Мултимедиен проектор.</a:t>
            </a:r>
            <a:endParaRPr lang="ru-RU" sz="2400" dirty="0">
              <a:latin typeface="Times New Roman" panose="02020603050405020304" pitchFamily="18" charset="0"/>
              <a:cs typeface="Times New Roman" panose="02020603050405020304" pitchFamily="18" charset="0"/>
            </a:endParaRPr>
          </a:p>
          <a:p>
            <a:r>
              <a:rPr lang="ru-RU" sz="2400" dirty="0" smtClean="0">
                <a:latin typeface="Times New Roman" panose="02020603050405020304" pitchFamily="18" charset="0"/>
                <a:cs typeface="Times New Roman" panose="02020603050405020304" pitchFamily="18" charset="0"/>
              </a:rPr>
              <a:t>Плотер.</a:t>
            </a:r>
            <a:endParaRPr lang="ru-RU" sz="2400" dirty="0">
              <a:latin typeface="Times New Roman" panose="02020603050405020304" pitchFamily="18" charset="0"/>
              <a:cs typeface="Times New Roman" panose="02020603050405020304" pitchFamily="18" charset="0"/>
            </a:endParaRPr>
          </a:p>
          <a:p>
            <a:r>
              <a:rPr lang="ru-RU" sz="2400" dirty="0" smtClean="0">
                <a:latin typeface="Times New Roman" panose="02020603050405020304" pitchFamily="18" charset="0"/>
                <a:cs typeface="Times New Roman" panose="02020603050405020304" pitchFamily="18" charset="0"/>
              </a:rPr>
              <a:t>Слушалки и Тонколони.</a:t>
            </a:r>
            <a:endParaRPr lang="bg-BG" sz="24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3751467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z="4000" dirty="0">
                <a:latin typeface="Times New Roman" panose="02020603050405020304" pitchFamily="18" charset="0"/>
                <a:cs typeface="Times New Roman" panose="02020603050405020304" pitchFamily="18" charset="0"/>
              </a:rPr>
              <a:t>Видеодисплей </a:t>
            </a:r>
            <a:r>
              <a:rPr lang="ru-RU" sz="4000" i="1" dirty="0">
                <a:latin typeface="Times New Roman" panose="02020603050405020304" pitchFamily="18" charset="0"/>
                <a:cs typeface="Times New Roman" panose="02020603050405020304" pitchFamily="18" charset="0"/>
              </a:rPr>
              <a:t>/монитор</a:t>
            </a:r>
            <a:r>
              <a:rPr lang="ru-RU" sz="4000" i="1" dirty="0" smtClean="0">
                <a:latin typeface="Times New Roman" panose="02020603050405020304" pitchFamily="18" charset="0"/>
                <a:cs typeface="Times New Roman" panose="02020603050405020304" pitchFamily="18" charset="0"/>
              </a:rPr>
              <a:t>/</a:t>
            </a:r>
            <a:r>
              <a:rPr lang="ru-RU" sz="4000" dirty="0" smtClean="0">
                <a:latin typeface="Times New Roman" panose="02020603050405020304" pitchFamily="18" charset="0"/>
                <a:cs typeface="Times New Roman" panose="02020603050405020304" pitchFamily="18" charset="0"/>
              </a:rPr>
              <a:t>.</a:t>
            </a:r>
            <a:endParaRPr lang="en-US" sz="4000" dirty="0"/>
          </a:p>
        </p:txBody>
      </p:sp>
      <p:sp>
        <p:nvSpPr>
          <p:cNvPr id="3" name="Content Placeholder 2"/>
          <p:cNvSpPr>
            <a:spLocks noGrp="1"/>
          </p:cNvSpPr>
          <p:nvPr>
            <p:ph idx="1"/>
          </p:nvPr>
        </p:nvSpPr>
        <p:spPr>
          <a:xfrm>
            <a:off x="1" y="2298036"/>
            <a:ext cx="8497448" cy="4559964"/>
          </a:xfrm>
        </p:spPr>
        <p:txBody>
          <a:bodyPr>
            <a:noAutofit/>
          </a:bodyPr>
          <a:lstStyle/>
          <a:p>
            <a:r>
              <a:rPr lang="bg-BG" sz="2400" dirty="0" smtClean="0">
                <a:latin typeface="Times New Roman" panose="02020603050405020304" pitchFamily="18" charset="0"/>
                <a:cs typeface="Times New Roman" panose="02020603050405020304" pitchFamily="18" charset="0"/>
              </a:rPr>
              <a:t>Определение:</a:t>
            </a:r>
          </a:p>
          <a:p>
            <a:pPr>
              <a:buFont typeface="Arial" panose="020B0604020202020204" pitchFamily="34" charset="0"/>
              <a:buChar char="•"/>
            </a:pPr>
            <a:r>
              <a:rPr lang="ru-RU" sz="2400" dirty="0" smtClean="0">
                <a:latin typeface="Times New Roman" panose="02020603050405020304" pitchFamily="18" charset="0"/>
                <a:cs typeface="Times New Roman" panose="02020603050405020304" pitchFamily="18" charset="0"/>
              </a:rPr>
              <a:t>Преобразува </a:t>
            </a:r>
            <a:r>
              <a:rPr lang="ru-RU" sz="2400" dirty="0">
                <a:latin typeface="Times New Roman" panose="02020603050405020304" pitchFamily="18" charset="0"/>
                <a:cs typeface="Times New Roman" panose="02020603050405020304" pitchFamily="18" charset="0"/>
              </a:rPr>
              <a:t>цифрова </a:t>
            </a:r>
            <a:r>
              <a:rPr lang="ru-RU" sz="2400" dirty="0" smtClean="0">
                <a:latin typeface="Times New Roman" panose="02020603050405020304" pitchFamily="18" charset="0"/>
                <a:cs typeface="Times New Roman" panose="02020603050405020304" pitchFamily="18" charset="0"/>
              </a:rPr>
              <a:t>или </a:t>
            </a:r>
            <a:r>
              <a:rPr lang="ru-RU" sz="2400" dirty="0">
                <a:latin typeface="Times New Roman" panose="02020603050405020304" pitchFamily="18" charset="0"/>
                <a:cs typeface="Times New Roman" panose="02020603050405020304" pitchFamily="18" charset="0"/>
              </a:rPr>
              <a:t>аналогова информация във видео </a:t>
            </a:r>
            <a:r>
              <a:rPr lang="ru-RU" sz="2400" dirty="0" smtClean="0">
                <a:latin typeface="Times New Roman" panose="02020603050405020304" pitchFamily="18" charset="0"/>
                <a:cs typeface="Times New Roman" panose="02020603050405020304" pitchFamily="18" charset="0"/>
              </a:rPr>
              <a:t>изображение - </a:t>
            </a:r>
            <a:r>
              <a:rPr lang="ru-RU" sz="2400" dirty="0">
                <a:latin typeface="Times New Roman" panose="02020603050405020304" pitchFamily="18" charset="0"/>
                <a:cs typeface="Times New Roman" panose="02020603050405020304" pitchFamily="18" charset="0"/>
              </a:rPr>
              <a:t>графична и буквено-цифрова информация за потребителя</a:t>
            </a:r>
            <a:r>
              <a:rPr lang="ru-RU" sz="2400" dirty="0" smtClean="0">
                <a:latin typeface="Times New Roman" panose="02020603050405020304" pitchFamily="18" charset="0"/>
                <a:cs typeface="Times New Roman" panose="02020603050405020304" pitchFamily="18" charset="0"/>
              </a:rPr>
              <a:t>.</a:t>
            </a:r>
            <a:endParaRPr lang="en-US" sz="2400" dirty="0" smtClean="0">
              <a:latin typeface="Times New Roman" panose="02020603050405020304" pitchFamily="18" charset="0"/>
              <a:cs typeface="Times New Roman" panose="02020603050405020304" pitchFamily="18" charset="0"/>
            </a:endParaRPr>
          </a:p>
          <a:p>
            <a:endParaRPr lang="en-US" sz="2400" dirty="0" smtClean="0">
              <a:latin typeface="Times New Roman" panose="02020603050405020304" pitchFamily="18" charset="0"/>
              <a:cs typeface="Times New Roman" panose="02020603050405020304" pitchFamily="18" charset="0"/>
            </a:endParaRPr>
          </a:p>
          <a:p>
            <a:r>
              <a:rPr lang="bg-BG" sz="2400" dirty="0" smtClean="0">
                <a:latin typeface="Times New Roman" panose="02020603050405020304" pitchFamily="18" charset="0"/>
                <a:cs typeface="Times New Roman" panose="02020603050405020304" pitchFamily="18" charset="0"/>
              </a:rPr>
              <a:t>История</a:t>
            </a:r>
            <a:endParaRPr lang="en-US" sz="2400" dirty="0" smtClean="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През 1981 г. IBM представя Color Graphics Adapter(CGA), който е способен да възпроизведе четири цвята, и постига максимална резолюция от 320 пиксела хоризонтално по 200 пиксела вертикално(320х200).</a:t>
            </a:r>
            <a:endParaRPr lang="en-US"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rotWithShape="1">
          <a:blip r:embed="rId2"/>
          <a:srcRect l="19303" t="2427" r="23841" b="10312"/>
          <a:stretch/>
        </p:blipFill>
        <p:spPr>
          <a:xfrm>
            <a:off x="8789158" y="2298036"/>
            <a:ext cx="2101754" cy="2140675"/>
          </a:xfrm>
          <a:prstGeom prst="rect">
            <a:avLst/>
          </a:prstGeom>
        </p:spPr>
      </p:pic>
      <p:pic>
        <p:nvPicPr>
          <p:cNvPr id="5" name="Picture 4"/>
          <p:cNvPicPr>
            <a:picLocks noChangeAspect="1"/>
          </p:cNvPicPr>
          <p:nvPr/>
        </p:nvPicPr>
        <p:blipFill>
          <a:blip r:embed="rId3"/>
          <a:stretch>
            <a:fillRect/>
          </a:stretch>
        </p:blipFill>
        <p:spPr>
          <a:xfrm>
            <a:off x="8497448" y="4558353"/>
            <a:ext cx="2393464" cy="2299647"/>
          </a:xfrm>
          <a:prstGeom prst="rect">
            <a:avLst/>
          </a:prstGeom>
        </p:spPr>
      </p:pic>
      <p:sp>
        <p:nvSpPr>
          <p:cNvPr id="6" name="TextBox 5"/>
          <p:cNvSpPr txBox="1"/>
          <p:nvPr/>
        </p:nvSpPr>
        <p:spPr>
          <a:xfrm>
            <a:off x="10890912" y="5338844"/>
            <a:ext cx="682388" cy="369332"/>
          </a:xfrm>
          <a:prstGeom prst="rect">
            <a:avLst/>
          </a:prstGeom>
          <a:noFill/>
        </p:spPr>
        <p:txBody>
          <a:bodyPr wrap="square" rtlCol="0">
            <a:spAutoFit/>
          </a:bodyPr>
          <a:lstStyle/>
          <a:p>
            <a:r>
              <a:rPr lang="en-US" dirty="0" smtClean="0"/>
              <a:t>CRT</a:t>
            </a:r>
            <a:endParaRPr lang="en-US" dirty="0"/>
          </a:p>
        </p:txBody>
      </p:sp>
      <p:sp>
        <p:nvSpPr>
          <p:cNvPr id="7" name="TextBox 6"/>
          <p:cNvSpPr txBox="1"/>
          <p:nvPr/>
        </p:nvSpPr>
        <p:spPr>
          <a:xfrm>
            <a:off x="10781731" y="3002507"/>
            <a:ext cx="791569" cy="369332"/>
          </a:xfrm>
          <a:prstGeom prst="rect">
            <a:avLst/>
          </a:prstGeom>
          <a:noFill/>
        </p:spPr>
        <p:txBody>
          <a:bodyPr wrap="square" rtlCol="0">
            <a:spAutoFit/>
          </a:bodyPr>
          <a:lstStyle/>
          <a:p>
            <a:r>
              <a:rPr lang="en-US" dirty="0" smtClean="0"/>
              <a:t>LCD</a:t>
            </a:r>
            <a:endParaRPr lang="en-US" dirty="0"/>
          </a:p>
        </p:txBody>
      </p:sp>
      <p:sp>
        <p:nvSpPr>
          <p:cNvPr id="8" name="TextBox 7"/>
          <p:cNvSpPr txBox="1"/>
          <p:nvPr/>
        </p:nvSpPr>
        <p:spPr>
          <a:xfrm>
            <a:off x="8364314" y="110970"/>
            <a:ext cx="3232597" cy="369332"/>
          </a:xfrm>
          <a:prstGeom prst="rect">
            <a:avLst/>
          </a:prstGeom>
          <a:noFill/>
        </p:spPr>
        <p:txBody>
          <a:bodyPr wrap="square" rtlCol="0">
            <a:spAutoFit/>
          </a:bodyPr>
          <a:lstStyle/>
          <a:p>
            <a:r>
              <a:rPr lang="bg-BG" dirty="0" smtClean="0">
                <a:latin typeface="Times New Roman" panose="02020603050405020304" pitchFamily="18" charset="0"/>
                <a:cs typeface="Times New Roman" panose="02020603050405020304" pitchFamily="18" charset="0"/>
                <a:hlinkClick r:id="rId4" action="ppaction://hlinksldjump"/>
              </a:rPr>
              <a:t>Обратно към теста</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521032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latin typeface="Times New Roman" panose="02020603050405020304" pitchFamily="18" charset="0"/>
                <a:cs typeface="Times New Roman" panose="02020603050405020304" pitchFamily="18" charset="0"/>
              </a:rPr>
              <a:t>1.</a:t>
            </a:r>
            <a:r>
              <a:rPr lang="en-US" dirty="0" smtClean="0">
                <a:latin typeface="Times New Roman" panose="02020603050405020304" pitchFamily="18" charset="0"/>
                <a:cs typeface="Times New Roman" panose="02020603050405020304" pitchFamily="18" charset="0"/>
              </a:rPr>
              <a:t>)</a:t>
            </a:r>
            <a:r>
              <a:rPr lang="bg-BG" dirty="0" smtClean="0">
                <a:latin typeface="Times New Roman" panose="02020603050405020304" pitchFamily="18" charset="0"/>
                <a:cs typeface="Times New Roman" panose="02020603050405020304" pitchFamily="18" charset="0"/>
              </a:rPr>
              <a:t>Видове</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2238233"/>
            <a:ext cx="8434317" cy="4619767"/>
          </a:xfrm>
        </p:spPr>
        <p:txBody>
          <a:bodyPr>
            <a:noAutofit/>
          </a:bodyPr>
          <a:lstStyle/>
          <a:p>
            <a:r>
              <a:rPr lang="en-US" sz="2400" b="1" dirty="0" smtClean="0">
                <a:latin typeface="Times New Roman" panose="02020603050405020304" pitchFamily="18" charset="0"/>
                <a:cs typeface="Times New Roman" panose="02020603050405020304" pitchFamily="18" charset="0"/>
              </a:rPr>
              <a:t>1.1)</a:t>
            </a:r>
            <a:r>
              <a:rPr lang="bg-BG" sz="2400" b="1" dirty="0" smtClean="0">
                <a:latin typeface="Times New Roman" panose="02020603050405020304" pitchFamily="18" charset="0"/>
                <a:cs typeface="Times New Roman" panose="02020603050405020304" pitchFamily="18" charset="0"/>
              </a:rPr>
              <a:t>С </a:t>
            </a:r>
            <a:r>
              <a:rPr lang="bg-BG" sz="2400" b="1" dirty="0">
                <a:latin typeface="Times New Roman" panose="02020603050405020304" pitchFamily="18" charset="0"/>
                <a:cs typeface="Times New Roman" panose="02020603050405020304" pitchFamily="18" charset="0"/>
              </a:rPr>
              <a:t>електронно-лъчева </a:t>
            </a:r>
            <a:r>
              <a:rPr lang="bg-BG" sz="2400" b="1" dirty="0" smtClean="0">
                <a:latin typeface="Times New Roman" panose="02020603050405020304" pitchFamily="18" charset="0"/>
                <a:cs typeface="Times New Roman" panose="02020603050405020304" pitchFamily="18" charset="0"/>
              </a:rPr>
              <a:t>тръба</a:t>
            </a:r>
          </a:p>
          <a:p>
            <a:pPr algn="just">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Технологията, по която се произвеждат телевизорите и мониторите е на 100 години. Произходът на електронно-лъчева тръба (или CRT Cathode-Ray Tube, катодно-лъчева тръба) никога не е бил много ясен. По-голямата част от компютърното общество смята, че германският учен Карл Фердинанд Браун е създал първия контролируем модел на CRT през 1887 г. Днешните CRT, които се използват при компютърните монитори са претърпели модификации с цел подобряване на качеството на картината те все още работят на същия основен принцип. </a:t>
            </a:r>
          </a:p>
          <a:p>
            <a:endParaRPr lang="bg-BG" sz="2400" dirty="0" smtClean="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rotWithShape="1">
          <a:blip r:embed="rId2"/>
          <a:srcRect l="2629" t="2765" r="3762" b="5069"/>
          <a:stretch/>
        </p:blipFill>
        <p:spPr>
          <a:xfrm>
            <a:off x="8611738" y="2415654"/>
            <a:ext cx="3429955" cy="4217158"/>
          </a:xfrm>
          <a:prstGeom prst="rect">
            <a:avLst/>
          </a:prstGeom>
        </p:spPr>
      </p:pic>
    </p:spTree>
    <p:extLst>
      <p:ext uri="{BB962C8B-B14F-4D97-AF65-F5344CB8AC3E}">
        <p14:creationId xmlns:p14="http://schemas.microsoft.com/office/powerpoint/2010/main" val="343457483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a:latin typeface="Times New Roman" panose="02020603050405020304" pitchFamily="18" charset="0"/>
                <a:cs typeface="Times New Roman" panose="02020603050405020304" pitchFamily="18" charset="0"/>
              </a:rPr>
              <a:t>Основни параметри</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2361063"/>
            <a:ext cx="9180393" cy="4496937"/>
          </a:xfrm>
        </p:spPr>
        <p:txBody>
          <a:bodyPr>
            <a:noAutofit/>
          </a:bodyPr>
          <a:lstStyle/>
          <a:p>
            <a:pPr algn="just"/>
            <a:r>
              <a:rPr lang="ru-RU" sz="2400" dirty="0" smtClean="0">
                <a:latin typeface="Times New Roman" panose="02020603050405020304" pitchFamily="18" charset="0"/>
                <a:cs typeface="Times New Roman" panose="02020603050405020304" pitchFamily="18" charset="0"/>
              </a:rPr>
              <a:t>Стандартната </a:t>
            </a:r>
            <a:r>
              <a:rPr lang="ru-RU" sz="2400" dirty="0">
                <a:latin typeface="Times New Roman" panose="02020603050405020304" pitchFamily="18" charset="0"/>
                <a:cs typeface="Times New Roman" panose="02020603050405020304" pitchFamily="18" charset="0"/>
              </a:rPr>
              <a:t>VGA резолюция е 640x480 пиксела. Тази резолюция се оказва остаряла в началото на новото хилядолетие, когато средностатистическите разделителни способности на CRT монитори за SVGA и XGA съответно са 800x600 и 1024x768 пиксела.</a:t>
            </a:r>
          </a:p>
          <a:p>
            <a:pPr algn="just"/>
            <a:r>
              <a:rPr lang="ru-RU" sz="2400" dirty="0">
                <a:latin typeface="Times New Roman" panose="02020603050405020304" pitchFamily="18" charset="0"/>
                <a:cs typeface="Times New Roman" panose="02020603050405020304" pitchFamily="18" charset="0"/>
              </a:rPr>
              <a:t>Скоростта на „освежаване” или refresh rate се измерва в херци(Hz) и представя броя на кадри, които се възпроизвеждат на екрана за една секунда. Ако този брой е малък, човешкото око ще е в състояние да забележи интервала между тези кадри, което ще доведе до ефекта на „примигване” на изображението. Европейският стандарт за скоростта на освежаване на CRT монитора е 85 Hz. </a:t>
            </a:r>
            <a:endParaRPr lang="ru-RU" sz="2400" dirty="0" smtClean="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9180393" y="3434058"/>
            <a:ext cx="2884227" cy="2350946"/>
          </a:xfrm>
          <a:prstGeom prst="rect">
            <a:avLst/>
          </a:prstGeom>
        </p:spPr>
      </p:pic>
    </p:spTree>
    <p:extLst>
      <p:ext uri="{BB962C8B-B14F-4D97-AF65-F5344CB8AC3E}">
        <p14:creationId xmlns:p14="http://schemas.microsoft.com/office/powerpoint/2010/main" val="231027714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a:latin typeface="Times New Roman" panose="02020603050405020304" pitchFamily="18" charset="0"/>
                <a:cs typeface="Times New Roman" panose="02020603050405020304" pitchFamily="18" charset="0"/>
              </a:rPr>
              <a:t>Устройство и действие</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2306472"/>
            <a:ext cx="12192000" cy="4551528"/>
          </a:xfrm>
        </p:spPr>
        <p:txBody>
          <a:bodyPr>
            <a:normAutofit lnSpcReduction="10000"/>
          </a:bodyPr>
          <a:lstStyle/>
          <a:p>
            <a:pPr algn="just"/>
            <a:r>
              <a:rPr lang="ru-RU" sz="2400" dirty="0" smtClean="0">
                <a:latin typeface="Times New Roman" panose="02020603050405020304" pitchFamily="18" charset="0"/>
                <a:cs typeface="Times New Roman" panose="02020603050405020304" pitchFamily="18" charset="0"/>
              </a:rPr>
              <a:t>CRT </a:t>
            </a:r>
            <a:r>
              <a:rPr lang="ru-RU" sz="2400" dirty="0">
                <a:latin typeface="Times New Roman" panose="02020603050405020304" pitchFamily="18" charset="0"/>
                <a:cs typeface="Times New Roman" panose="02020603050405020304" pitchFamily="18" charset="0"/>
              </a:rPr>
              <a:t>започва с тънка част и постепенно се разширява до голяма основа. Тази основа е компютърният екран и от вътрешната си страна е покрита с хиляди малки луминифорни точици. Луминифорите са вещества, които излъчват светлина, когато се „активират” от поток от електрони. При този процес различните луминифори излъчват светлина с различен цвят. Всяка точка се състои от три частици оцветен луминифор – червена, зелена и синя. </a:t>
            </a:r>
          </a:p>
          <a:p>
            <a:pPr algn="just"/>
            <a:r>
              <a:rPr lang="ru-RU" sz="2400" dirty="0">
                <a:latin typeface="Times New Roman" panose="02020603050405020304" pitchFamily="18" charset="0"/>
                <a:cs typeface="Times New Roman" panose="02020603050405020304" pitchFamily="18" charset="0"/>
              </a:rPr>
              <a:t>В по-тънката част на CRT се намира електронната „пушка”, съставена от катод, топлинен източник и фокусиращи елементи. Цветните монитори имат три отделни електронни „пушки”, като всяка една отговаря за различните луминифорни цветове. Изображенията се съставят, когато електроните, изстреляни от електронните „пушки” попаднат върху съответните луминифорни капки. </a:t>
            </a:r>
            <a:r>
              <a:rPr lang="ru-RU" sz="2400" dirty="0" smtClean="0">
                <a:latin typeface="Times New Roman" panose="02020603050405020304" pitchFamily="18" charset="0"/>
                <a:cs typeface="Times New Roman" panose="02020603050405020304" pitchFamily="18" charset="0"/>
              </a:rPr>
              <a:t>Работят </a:t>
            </a:r>
            <a:r>
              <a:rPr lang="ru-RU" sz="2400" dirty="0">
                <a:latin typeface="Times New Roman" panose="02020603050405020304" pitchFamily="18" charset="0"/>
                <a:cs typeface="Times New Roman" panose="02020603050405020304" pitchFamily="18" charset="0"/>
              </a:rPr>
              <a:t>на принципа на добавъчното оцветяване, като комбинациите от различни интензитети на червените, зелените и сините луминифори създават илюзията за наличието на милиони цветове.</a:t>
            </a:r>
          </a:p>
          <a:p>
            <a:endParaRPr lang="en-US" dirty="0"/>
          </a:p>
        </p:txBody>
      </p:sp>
    </p:spTree>
    <p:extLst>
      <p:ext uri="{BB962C8B-B14F-4D97-AF65-F5344CB8AC3E}">
        <p14:creationId xmlns:p14="http://schemas.microsoft.com/office/powerpoint/2010/main" val="382383005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a:latin typeface="Times New Roman" panose="02020603050405020304" pitchFamily="18" charset="0"/>
                <a:cs typeface="Times New Roman" panose="02020603050405020304" pitchFamily="18" charset="0"/>
              </a:rPr>
              <a:t>Недостатъците им </a:t>
            </a:r>
            <a:r>
              <a:rPr lang="bg-BG" dirty="0" smtClean="0">
                <a:latin typeface="Times New Roman" panose="02020603050405020304" pitchFamily="18" charset="0"/>
                <a:cs typeface="Times New Roman" panose="02020603050405020304" pitchFamily="18" charset="0"/>
              </a:rPr>
              <a:t>са</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2142699"/>
            <a:ext cx="12192000" cy="4715301"/>
          </a:xfrm>
        </p:spPr>
        <p:txBody>
          <a:bodyPr>
            <a:noAutofit/>
          </a:bodyPr>
          <a:lstStyle/>
          <a:p>
            <a:pPr algn="just">
              <a:buFont typeface="Arial" panose="020B0604020202020204" pitchFamily="34" charset="0"/>
              <a:buChar char="•"/>
            </a:pPr>
            <a:r>
              <a:rPr lang="ru-RU" sz="2400" dirty="0" smtClean="0">
                <a:latin typeface="Times New Roman" panose="02020603050405020304" pitchFamily="18" charset="0"/>
                <a:cs typeface="Times New Roman" panose="02020603050405020304" pitchFamily="18" charset="0"/>
              </a:rPr>
              <a:t>тежки </a:t>
            </a:r>
            <a:r>
              <a:rPr lang="ru-RU" sz="2400" dirty="0">
                <a:latin typeface="Times New Roman" panose="02020603050405020304" pitchFamily="18" charset="0"/>
                <a:cs typeface="Times New Roman" panose="02020603050405020304" pitchFamily="18" charset="0"/>
              </a:rPr>
              <a:t>и заемат доста място</a:t>
            </a:r>
          </a:p>
          <a:p>
            <a:pPr algn="just">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„гладни” са за електрическа енергия – обикновено за 17-инчов монитор са нужни 150 W</a:t>
            </a:r>
          </a:p>
          <a:p>
            <a:pPr algn="just">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работят с високо напрежение, около 16000 V, поради което излъчва рентгенови </a:t>
            </a:r>
            <a:r>
              <a:rPr lang="ru-RU" sz="2400" dirty="0" smtClean="0">
                <a:latin typeface="Times New Roman" panose="02020603050405020304" pitchFamily="18" charset="0"/>
                <a:cs typeface="Times New Roman" panose="02020603050405020304" pitchFamily="18" charset="0"/>
              </a:rPr>
              <a:t>лъчи.Освен </a:t>
            </a:r>
            <a:r>
              <a:rPr lang="ru-RU" sz="2400" dirty="0">
                <a:latin typeface="Times New Roman" panose="02020603050405020304" pitchFamily="18" charset="0"/>
                <a:cs typeface="Times New Roman" panose="02020603050405020304" pitchFamily="18" charset="0"/>
              </a:rPr>
              <a:t>рентгенови лъчи, CRT излъчват и ниско-честотните магнитни полета, които са доказано вредни за хората.</a:t>
            </a:r>
          </a:p>
          <a:p>
            <a:pPr algn="just">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технологията на сканиране, която те използват прави трептенето на образа неизбежно, което води до напрежение в очите и умора.</a:t>
            </a:r>
          </a:p>
          <a:p>
            <a:pPr algn="just">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тяхната възприемчивост откъм електромагнитни полета ги прави уязвими във военни условия.</a:t>
            </a:r>
          </a:p>
          <a:p>
            <a:pPr algn="just">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тъй като тяхната повърхност е или сферична или цилиндрична, това води </a:t>
            </a:r>
            <a:r>
              <a:rPr lang="ru-RU" sz="2400" dirty="0" smtClean="0">
                <a:latin typeface="Times New Roman" panose="02020603050405020304" pitchFamily="18" charset="0"/>
                <a:cs typeface="Times New Roman" panose="02020603050405020304" pitchFamily="18" charset="0"/>
              </a:rPr>
              <a:t>до неправилното </a:t>
            </a:r>
            <a:r>
              <a:rPr lang="ru-RU" sz="2400" dirty="0">
                <a:latin typeface="Times New Roman" panose="02020603050405020304" pitchFamily="18" charset="0"/>
                <a:cs typeface="Times New Roman" panose="02020603050405020304" pitchFamily="18" charset="0"/>
              </a:rPr>
              <a:t>изобразяване на прави линии около краищата на монитора.</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1027609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dirty="0" smtClean="0">
                <a:latin typeface="Times New Roman" panose="02020603050405020304" pitchFamily="18" charset="0"/>
                <a:cs typeface="Times New Roman" panose="02020603050405020304" pitchFamily="18" charset="0"/>
              </a:rPr>
              <a:t>1.2</a:t>
            </a:r>
            <a:r>
              <a:rPr lang="en-US" dirty="0" smtClean="0">
                <a:latin typeface="Times New Roman" panose="02020603050405020304" pitchFamily="18" charset="0"/>
                <a:cs typeface="Times New Roman" panose="02020603050405020304" pitchFamily="18" charset="0"/>
              </a:rPr>
              <a:t>)</a:t>
            </a:r>
            <a:r>
              <a:rPr lang="ru-RU" dirty="0" smtClean="0">
                <a:latin typeface="Times New Roman" panose="02020603050405020304" pitchFamily="18" charset="0"/>
                <a:cs typeface="Times New Roman" panose="02020603050405020304" pitchFamily="18" charset="0"/>
              </a:rPr>
              <a:t>Монитори</a:t>
            </a:r>
            <a:r>
              <a:rPr lang="ru-RU" dirty="0">
                <a:latin typeface="Times New Roman" panose="02020603050405020304" pitchFamily="18" charset="0"/>
                <a:cs typeface="Times New Roman" panose="02020603050405020304" pitchFamily="18" charset="0"/>
              </a:rPr>
              <a:t>, изградени с течни </a:t>
            </a:r>
            <a:r>
              <a:rPr lang="ru-RU" dirty="0" smtClean="0">
                <a:latin typeface="Times New Roman" panose="02020603050405020304" pitchFamily="18" charset="0"/>
                <a:cs typeface="Times New Roman" panose="02020603050405020304" pitchFamily="18" charset="0"/>
              </a:rPr>
              <a:t>кристали</a:t>
            </a:r>
            <a:endParaRPr lang="en-US" dirty="0"/>
          </a:p>
        </p:txBody>
      </p:sp>
      <p:sp>
        <p:nvSpPr>
          <p:cNvPr id="3" name="Content Placeholder 2"/>
          <p:cNvSpPr>
            <a:spLocks noGrp="1"/>
          </p:cNvSpPr>
          <p:nvPr>
            <p:ph idx="1"/>
          </p:nvPr>
        </p:nvSpPr>
        <p:spPr>
          <a:xfrm>
            <a:off x="0" y="2415654"/>
            <a:ext cx="8475260" cy="4442346"/>
          </a:xfrm>
        </p:spPr>
        <p:txBody>
          <a:bodyPr>
            <a:noAutofit/>
          </a:bodyPr>
          <a:lstStyle/>
          <a:p>
            <a:pPr algn="just">
              <a:buFont typeface="Arial" panose="020B0604020202020204" pitchFamily="34" charset="0"/>
              <a:buChar char="•"/>
            </a:pPr>
            <a:r>
              <a:rPr lang="ru-RU" sz="2400" dirty="0" smtClean="0">
                <a:latin typeface="Times New Roman" panose="02020603050405020304" pitchFamily="18" charset="0"/>
                <a:cs typeface="Times New Roman" panose="02020603050405020304" pitchFamily="18" charset="0"/>
              </a:rPr>
              <a:t>Това </a:t>
            </a:r>
            <a:r>
              <a:rPr lang="ru-RU" sz="2400" dirty="0">
                <a:latin typeface="Times New Roman" panose="02020603050405020304" pitchFamily="18" charset="0"/>
                <a:cs typeface="Times New Roman" panose="02020603050405020304" pitchFamily="18" charset="0"/>
              </a:rPr>
              <a:t>е вид монитор, който се използва при дигиталните часовници и много портативни компютри.</a:t>
            </a:r>
          </a:p>
          <a:p>
            <a:pPr algn="just">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LCD дисплеите използват два листа поляризиран материал с разтвор от течни кристали, намиращ се между тях. Електричните потоци, преминали през течността предизвикват подравняване на кристалите, такова че светлината да не може да премине през тях. Следователно всеки кристал представлява капак, който или позволява на светлината да премине през него или я блокира</a:t>
            </a:r>
            <a:r>
              <a:rPr lang="ru-RU" sz="2400" dirty="0" smtClean="0">
                <a:latin typeface="Times New Roman" panose="02020603050405020304" pitchFamily="18" charset="0"/>
                <a:cs typeface="Times New Roman" panose="02020603050405020304" pitchFamily="18" charset="0"/>
              </a:rPr>
              <a:t>.</a:t>
            </a:r>
            <a:endParaRPr lang="ru-RU"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8364704" y="2593074"/>
            <a:ext cx="3827296" cy="3780429"/>
          </a:xfrm>
          <a:prstGeom prst="rect">
            <a:avLst/>
          </a:prstGeom>
        </p:spPr>
      </p:pic>
    </p:spTree>
    <p:extLst>
      <p:ext uri="{BB962C8B-B14F-4D97-AF65-F5344CB8AC3E}">
        <p14:creationId xmlns:p14="http://schemas.microsoft.com/office/powerpoint/2010/main" val="203036629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latin typeface="Times New Roman" panose="02020603050405020304" pitchFamily="18" charset="0"/>
                <a:cs typeface="Times New Roman" panose="02020603050405020304" pitchFamily="18" charset="0"/>
              </a:rPr>
              <a:t>Устройство и действие</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2183642"/>
            <a:ext cx="12192000" cy="4674358"/>
          </a:xfrm>
        </p:spPr>
        <p:txBody>
          <a:bodyPr>
            <a:noAutofit/>
          </a:bodyPr>
          <a:lstStyle/>
          <a:p>
            <a:pPr algn="just"/>
            <a:r>
              <a:rPr lang="ru-RU" sz="2400" dirty="0" smtClean="0">
                <a:latin typeface="Times New Roman" panose="02020603050405020304" pitchFamily="18" charset="0"/>
                <a:cs typeface="Times New Roman" panose="02020603050405020304" pitchFamily="18" charset="0"/>
              </a:rPr>
              <a:t>Конструкцията </a:t>
            </a:r>
            <a:r>
              <a:rPr lang="ru-RU" sz="2400" dirty="0">
                <a:latin typeface="Times New Roman" panose="02020603050405020304" pitchFamily="18" charset="0"/>
                <a:cs typeface="Times New Roman" panose="02020603050405020304" pitchFamily="18" charset="0"/>
              </a:rPr>
              <a:t>характеризира разположението на слоевете в LCD </a:t>
            </a:r>
            <a:r>
              <a:rPr lang="ru-RU" sz="2400" dirty="0" smtClean="0">
                <a:latin typeface="Times New Roman" panose="02020603050405020304" pitchFamily="18" charset="0"/>
                <a:cs typeface="Times New Roman" panose="02020603050405020304" pitchFamily="18" charset="0"/>
              </a:rPr>
              <a:t>и </a:t>
            </a:r>
            <a:r>
              <a:rPr lang="ru-RU" sz="2400" dirty="0">
                <a:latin typeface="Times New Roman" panose="02020603050405020304" pitchFamily="18" charset="0"/>
                <a:cs typeface="Times New Roman" panose="02020603050405020304" pitchFamily="18" charset="0"/>
              </a:rPr>
              <a:t>има най-голямо значение за качеството на изображението на екрана при слънчева светлина. За сега се използват три основни конструкции на цветните LCD: </a:t>
            </a:r>
            <a:r>
              <a:rPr lang="ru-RU" sz="2400" dirty="0" smtClean="0">
                <a:latin typeface="Times New Roman" panose="02020603050405020304" pitchFamily="18" charset="0"/>
                <a:cs typeface="Times New Roman" panose="02020603050405020304" pitchFamily="18" charset="0"/>
              </a:rPr>
              <a:t>пропускваща, полупрозрачна </a:t>
            </a:r>
            <a:r>
              <a:rPr lang="ru-RU" sz="2400" dirty="0">
                <a:latin typeface="Times New Roman" panose="02020603050405020304" pitchFamily="18" charset="0"/>
                <a:cs typeface="Times New Roman" panose="02020603050405020304" pitchFamily="18" charset="0"/>
              </a:rPr>
              <a:t>и </a:t>
            </a:r>
            <a:r>
              <a:rPr lang="ru-RU" sz="2400" dirty="0" smtClean="0">
                <a:latin typeface="Times New Roman" panose="02020603050405020304" pitchFamily="18" charset="0"/>
                <a:cs typeface="Times New Roman" panose="02020603050405020304" pitchFamily="18" charset="0"/>
              </a:rPr>
              <a:t>отражаваща.</a:t>
            </a:r>
            <a:endParaRPr lang="ru-RU" sz="2400" dirty="0">
              <a:latin typeface="Times New Roman" panose="02020603050405020304" pitchFamily="18" charset="0"/>
              <a:cs typeface="Times New Roman" panose="02020603050405020304" pitchFamily="18" charset="0"/>
            </a:endParaRPr>
          </a:p>
          <a:p>
            <a:pPr algn="just"/>
            <a:r>
              <a:rPr lang="ru-RU" sz="2400" dirty="0" smtClean="0">
                <a:latin typeface="Times New Roman" panose="02020603050405020304" pitchFamily="18" charset="0"/>
                <a:cs typeface="Times New Roman" panose="02020603050405020304" pitchFamily="18" charset="0"/>
              </a:rPr>
              <a:t>Transmissive </a:t>
            </a:r>
            <a:r>
              <a:rPr lang="ru-RU" sz="2400" dirty="0">
                <a:latin typeface="Times New Roman" panose="02020603050405020304" pitchFamily="18" charset="0"/>
                <a:cs typeface="Times New Roman" panose="02020603050405020304" pitchFamily="18" charset="0"/>
              </a:rPr>
              <a:t>LCD имат високо качество на изображението в помещения и обикновено много ниско (черен екран) при слънчева светлина</a:t>
            </a:r>
            <a:r>
              <a:rPr lang="ru-RU" sz="2400" dirty="0" smtClean="0">
                <a:latin typeface="Times New Roman" panose="02020603050405020304" pitchFamily="18" charset="0"/>
                <a:cs typeface="Times New Roman" panose="02020603050405020304" pitchFamily="18" charset="0"/>
              </a:rPr>
              <a:t>. </a:t>
            </a:r>
            <a:r>
              <a:rPr lang="ru-RU" sz="2400" dirty="0">
                <a:latin typeface="Times New Roman" panose="02020603050405020304" pitchFamily="18" charset="0"/>
                <a:cs typeface="Times New Roman" panose="02020603050405020304" pitchFamily="18" charset="0"/>
              </a:rPr>
              <a:t>Слънчевото осветление е хиляда пъти по-силно от осветяващата лампа и затова отразените от повърхността на екрана слънчеви лъчи напълно поглъщат светлината, излъчвана от LCD. Все пак някои производители са успели да разработят transmissive LCD, с които може да се работи даже при пряко попадане на слънчевите лъчи върху дисплея. На този етап съществуват два способа за постигане на това: увеличение яркостта на задното осветление и намаляване на количеството на отразената слънчева светлина.</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288893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a:xfrm>
            <a:off x="0" y="2347415"/>
            <a:ext cx="12192000" cy="4510585"/>
          </a:xfrm>
        </p:spPr>
        <p:txBody>
          <a:bodyPr>
            <a:normAutofit fontScale="85000" lnSpcReduction="20000"/>
          </a:bodyPr>
          <a:lstStyle/>
          <a:p>
            <a:pPr algn="just"/>
            <a:r>
              <a:rPr lang="ru-RU" sz="2600" dirty="0">
                <a:latin typeface="Times New Roman" panose="02020603050405020304" pitchFamily="18" charset="0"/>
                <a:cs typeface="Times New Roman" panose="02020603050405020304" pitchFamily="18" charset="0"/>
              </a:rPr>
              <a:t>В произвежданите днес LCD броят точки на инч (dpi) се колебае от 70 (за 5,7" монитори) до 150 (за 6,7" SVGA). Най-разпространените дисплеи са с dpi от 90 до 125. По-ниски от стандартните стойности на разделителната способност се използват в компютри, PDA и телефони. </a:t>
            </a:r>
          </a:p>
          <a:p>
            <a:pPr algn="just"/>
            <a:r>
              <a:rPr lang="ru-RU" sz="2600" dirty="0">
                <a:latin typeface="Times New Roman" panose="02020603050405020304" pitchFamily="18" charset="0"/>
                <a:cs typeface="Times New Roman" panose="02020603050405020304" pitchFamily="18" charset="0"/>
              </a:rPr>
              <a:t>Стандартите за разделителна способност са</a:t>
            </a:r>
            <a:r>
              <a:rPr lang="ru-RU" sz="2600" dirty="0" smtClean="0">
                <a:latin typeface="Times New Roman" panose="02020603050405020304" pitchFamily="18" charset="0"/>
                <a:cs typeface="Times New Roman" panose="02020603050405020304" pitchFamily="18" charset="0"/>
              </a:rPr>
              <a:t>:</a:t>
            </a:r>
            <a:endParaRPr lang="ru-RU" sz="26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ru-RU" sz="2600" dirty="0">
                <a:latin typeface="Times New Roman" panose="02020603050405020304" pitchFamily="18" charset="0"/>
                <a:cs typeface="Times New Roman" panose="02020603050405020304" pitchFamily="18" charset="0"/>
              </a:rPr>
              <a:t>VGA – исторически остаряла резолюция </a:t>
            </a:r>
            <a:r>
              <a:rPr lang="ru-RU" sz="2600" dirty="0" smtClean="0">
                <a:latin typeface="Times New Roman" panose="02020603050405020304" pitchFamily="18" charset="0"/>
                <a:cs typeface="Times New Roman" panose="02020603050405020304" pitchFamily="18" charset="0"/>
              </a:rPr>
              <a:t>за </a:t>
            </a:r>
            <a:r>
              <a:rPr lang="ru-RU" sz="2600" dirty="0">
                <a:latin typeface="Times New Roman" panose="02020603050405020304" pitchFamily="18" charset="0"/>
                <a:cs typeface="Times New Roman" panose="02020603050405020304" pitchFamily="18" charset="0"/>
              </a:rPr>
              <a:t>PC и представлява 640*480 точки;</a:t>
            </a:r>
          </a:p>
          <a:p>
            <a:pPr algn="just">
              <a:buFont typeface="Arial" panose="020B0604020202020204" pitchFamily="34" charset="0"/>
              <a:buChar char="•"/>
            </a:pPr>
            <a:r>
              <a:rPr lang="ru-RU" sz="2600" dirty="0">
                <a:latin typeface="Times New Roman" panose="02020603050405020304" pitchFamily="18" charset="0"/>
                <a:cs typeface="Times New Roman" panose="02020603050405020304" pitchFamily="18" charset="0"/>
              </a:rPr>
              <a:t>1/4 VGA – 240*320 или 320*240 точки;</a:t>
            </a:r>
          </a:p>
          <a:p>
            <a:pPr algn="just">
              <a:buFont typeface="Arial" panose="020B0604020202020204" pitchFamily="34" charset="0"/>
              <a:buChar char="•"/>
            </a:pPr>
            <a:r>
              <a:rPr lang="ru-RU" sz="2600" dirty="0">
                <a:latin typeface="Times New Roman" panose="02020603050405020304" pitchFamily="18" charset="0"/>
                <a:cs typeface="Times New Roman" panose="02020603050405020304" pitchFamily="18" charset="0"/>
              </a:rPr>
              <a:t>1/2 VGA – 640*240 точки;</a:t>
            </a:r>
          </a:p>
          <a:p>
            <a:pPr algn="just">
              <a:buFont typeface="Arial" panose="020B0604020202020204" pitchFamily="34" charset="0"/>
              <a:buChar char="•"/>
            </a:pPr>
            <a:r>
              <a:rPr lang="ru-RU" sz="2600" dirty="0">
                <a:latin typeface="Times New Roman" panose="02020603050405020304" pitchFamily="18" charset="0"/>
                <a:cs typeface="Times New Roman" panose="02020603050405020304" pitchFamily="18" charset="0"/>
              </a:rPr>
              <a:t>SVGA – Super VGA – 800*600 точки;</a:t>
            </a:r>
          </a:p>
          <a:p>
            <a:pPr algn="just">
              <a:buFont typeface="Arial" panose="020B0604020202020204" pitchFamily="34" charset="0"/>
              <a:buChar char="•"/>
            </a:pPr>
            <a:r>
              <a:rPr lang="ru-RU" sz="2600" dirty="0">
                <a:latin typeface="Times New Roman" panose="02020603050405020304" pitchFamily="18" charset="0"/>
                <a:cs typeface="Times New Roman" panose="02020603050405020304" pitchFamily="18" charset="0"/>
              </a:rPr>
              <a:t>XGA – Extended VGA – 1024*768 точки;</a:t>
            </a:r>
          </a:p>
          <a:p>
            <a:pPr algn="just">
              <a:buFont typeface="Arial" panose="020B0604020202020204" pitchFamily="34" charset="0"/>
              <a:buChar char="•"/>
            </a:pPr>
            <a:r>
              <a:rPr lang="ru-RU" sz="2600" dirty="0">
                <a:latin typeface="Times New Roman" panose="02020603050405020304" pitchFamily="18" charset="0"/>
                <a:cs typeface="Times New Roman" panose="02020603050405020304" pitchFamily="18" charset="0"/>
              </a:rPr>
              <a:t>SXGA – Super XGA – 1280*1024 точки;</a:t>
            </a:r>
          </a:p>
          <a:p>
            <a:pPr algn="just">
              <a:buFont typeface="Arial" panose="020B0604020202020204" pitchFamily="34" charset="0"/>
              <a:buChar char="•"/>
            </a:pPr>
            <a:r>
              <a:rPr lang="ru-RU" sz="2600" dirty="0">
                <a:latin typeface="Times New Roman" panose="02020603050405020304" pitchFamily="18" charset="0"/>
                <a:cs typeface="Times New Roman" panose="02020603050405020304" pitchFamily="18" charset="0"/>
              </a:rPr>
              <a:t>SXGA+ – Super XGA Plus – 1400*1050 точки;</a:t>
            </a:r>
          </a:p>
          <a:p>
            <a:pPr algn="just">
              <a:buFont typeface="Arial" panose="020B0604020202020204" pitchFamily="34" charset="0"/>
              <a:buChar char="•"/>
            </a:pPr>
            <a:r>
              <a:rPr lang="ru-RU" sz="2600" dirty="0">
                <a:latin typeface="Times New Roman" panose="02020603050405020304" pitchFamily="18" charset="0"/>
                <a:cs typeface="Times New Roman" panose="02020603050405020304" pitchFamily="18" charset="0"/>
              </a:rPr>
              <a:t>UXGA – Ultra XGA – 1600*1200 точки.</a:t>
            </a:r>
          </a:p>
          <a:p>
            <a:pPr algn="just"/>
            <a:endParaRPr lang="en-US" dirty="0"/>
          </a:p>
        </p:txBody>
      </p:sp>
      <p:pic>
        <p:nvPicPr>
          <p:cNvPr id="4" name="Picture 3"/>
          <p:cNvPicPr>
            <a:picLocks noChangeAspect="1"/>
          </p:cNvPicPr>
          <p:nvPr/>
        </p:nvPicPr>
        <p:blipFill>
          <a:blip r:embed="rId2"/>
          <a:stretch>
            <a:fillRect/>
          </a:stretch>
        </p:blipFill>
        <p:spPr>
          <a:xfrm>
            <a:off x="9980613" y="3753489"/>
            <a:ext cx="2009775" cy="2981325"/>
          </a:xfrm>
          <a:prstGeom prst="rect">
            <a:avLst/>
          </a:prstGeom>
        </p:spPr>
      </p:pic>
    </p:spTree>
    <p:extLst>
      <p:ext uri="{BB962C8B-B14F-4D97-AF65-F5344CB8AC3E}">
        <p14:creationId xmlns:p14="http://schemas.microsoft.com/office/powerpoint/2010/main" val="42673341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latin typeface="Times New Roman" panose="02020603050405020304" pitchFamily="18" charset="0"/>
                <a:cs typeface="Times New Roman" panose="02020603050405020304" pitchFamily="18" charset="0"/>
              </a:rPr>
              <a:t>1.3 Плазмен монитор</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 y="2371488"/>
            <a:ext cx="9107156" cy="4486512"/>
          </a:xfrm>
        </p:spPr>
        <p:txBody>
          <a:bodyPr/>
          <a:lstStyle/>
          <a:p>
            <a:pPr algn="just"/>
            <a:r>
              <a:rPr lang="bg-BG" sz="2400" dirty="0" smtClean="0">
                <a:latin typeface="Times New Roman" panose="02020603050405020304" pitchFamily="18" charset="0"/>
                <a:cs typeface="Times New Roman" panose="02020603050405020304" pitchFamily="18" charset="0"/>
              </a:rPr>
              <a:t>Истроия</a:t>
            </a:r>
            <a:endParaRPr lang="bg-BG"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Първият прототип на такъв продукт е създаден през 1964 г. в САЩ., като е представлявал матрица от 4х4 пиксела, излъчващи монохромна синя светлина. През 1967 г. матрицата нараства до 16х16 пиксела и светлината вече е бледочервена. Разбира се, от новата технология се заинтересуват гигантите IBM, NEC, Fujitsu и Matsushita. Липсата на пазари за такава продукция обаче замразява развитието на технологията за дълго време. </a:t>
            </a:r>
            <a:endParaRPr lang="en-US" dirty="0"/>
          </a:p>
        </p:txBody>
      </p:sp>
      <p:pic>
        <p:nvPicPr>
          <p:cNvPr id="4" name="Picture 3"/>
          <p:cNvPicPr>
            <a:picLocks noChangeAspect="1"/>
          </p:cNvPicPr>
          <p:nvPr/>
        </p:nvPicPr>
        <p:blipFill rotWithShape="1">
          <a:blip r:embed="rId2"/>
          <a:srcRect l="224" t="4216" r="50373" b="21903"/>
          <a:stretch/>
        </p:blipFill>
        <p:spPr>
          <a:xfrm>
            <a:off x="9107156" y="2953697"/>
            <a:ext cx="3011606" cy="2251881"/>
          </a:xfrm>
          <a:prstGeom prst="rect">
            <a:avLst/>
          </a:prstGeom>
        </p:spPr>
      </p:pic>
    </p:spTree>
    <p:extLst>
      <p:ext uri="{BB962C8B-B14F-4D97-AF65-F5344CB8AC3E}">
        <p14:creationId xmlns:p14="http://schemas.microsoft.com/office/powerpoint/2010/main" val="182281132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latin typeface="Times New Roman" panose="02020603050405020304" pitchFamily="18" charset="0"/>
                <a:cs typeface="Times New Roman" panose="02020603050405020304" pitchFamily="18" charset="0"/>
              </a:rPr>
              <a:t>Принцип на действие</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2306472"/>
            <a:ext cx="12192000" cy="4551528"/>
          </a:xfrm>
        </p:spPr>
        <p:txBody>
          <a:bodyPr>
            <a:noAutofit/>
          </a:bodyPr>
          <a:lstStyle/>
          <a:p>
            <a:pPr algn="just">
              <a:buFont typeface="Arial" panose="020B0604020202020204" pitchFamily="34" charset="0"/>
              <a:buChar char="•"/>
            </a:pPr>
            <a:r>
              <a:rPr lang="ru-RU" sz="2400" dirty="0" smtClean="0">
                <a:latin typeface="Times New Roman" panose="02020603050405020304" pitchFamily="18" charset="0"/>
                <a:cs typeface="Times New Roman" panose="02020603050405020304" pitchFamily="18" charset="0"/>
              </a:rPr>
              <a:t>При плазмените екрани се използва благороден газ, затворен в определен обем. На всеки от краищата на това тяло има електроди, посредством които се подава високо напрежение . Така газът преминава в плазмено състояние, т.е. налични са еднакъв брой свободни електрони и положителни йони. В резултат на приложеното напрежение се формира поток на електроните към положителния електрод и на йоните към отрицателния. При сблъскването на атомите последните получават енергия, благодарение на която електроните им преминават на по-високо енергийно ниво. При връщане към стандартните им орбити се отделят фотони или светлина.</a:t>
            </a:r>
          </a:p>
          <a:p>
            <a:pPr algn="just">
              <a:buFont typeface="Arial" panose="020B0604020202020204" pitchFamily="34" charset="0"/>
              <a:buChar char="•"/>
            </a:pPr>
            <a:r>
              <a:rPr lang="ru-RU" sz="2400" dirty="0" smtClean="0">
                <a:latin typeface="Times New Roman" panose="02020603050405020304" pitchFamily="18" charset="0"/>
                <a:cs typeface="Times New Roman" panose="02020603050405020304" pitchFamily="18" charset="0"/>
              </a:rPr>
              <a:t>Светлината</a:t>
            </a:r>
            <a:r>
              <a:rPr lang="ru-RU" sz="2400" dirty="0">
                <a:latin typeface="Times New Roman" panose="02020603050405020304" pitchFamily="18" charset="0"/>
                <a:cs typeface="Times New Roman" panose="02020603050405020304" pitchFamily="18" charset="0"/>
              </a:rPr>
              <a:t>, резултат от движението на плазмата под въздействието на силно електрическо поле не е видима, а ултравиолетова. Стените на телата, в които е затворена плазмата, се покриват със </a:t>
            </a:r>
            <a:r>
              <a:rPr lang="ru-RU" sz="2400" dirty="0" smtClean="0">
                <a:latin typeface="Times New Roman" panose="02020603050405020304" pitchFamily="18" charset="0"/>
                <a:cs typeface="Times New Roman" panose="02020603050405020304" pitchFamily="18" charset="0"/>
              </a:rPr>
              <a:t>фосфор, </a:t>
            </a:r>
            <a:r>
              <a:rPr lang="ru-RU" sz="2400" dirty="0">
                <a:latin typeface="Times New Roman" panose="02020603050405020304" pitchFamily="18" charset="0"/>
                <a:cs typeface="Times New Roman" panose="02020603050405020304" pitchFamily="18" charset="0"/>
              </a:rPr>
              <a:t>който реагира на ултравиолетови лъчи и на свой ред излъчва бяла светлина. </a:t>
            </a:r>
            <a:endParaRPr lang="ru-RU" dirty="0"/>
          </a:p>
          <a:p>
            <a:pPr>
              <a:buFont typeface="Arial" panose="020B0604020202020204" pitchFamily="34" charset="0"/>
              <a:buChar char="•"/>
            </a:pPr>
            <a:endParaRPr lang="en-US" dirty="0"/>
          </a:p>
        </p:txBody>
      </p:sp>
      <p:sp>
        <p:nvSpPr>
          <p:cNvPr id="4" name="TextBox 3"/>
          <p:cNvSpPr txBox="1"/>
          <p:nvPr/>
        </p:nvSpPr>
        <p:spPr>
          <a:xfrm>
            <a:off x="8435662" y="106752"/>
            <a:ext cx="2794716" cy="369332"/>
          </a:xfrm>
          <a:prstGeom prst="rect">
            <a:avLst/>
          </a:prstGeom>
          <a:noFill/>
        </p:spPr>
        <p:txBody>
          <a:bodyPr wrap="square" rtlCol="0">
            <a:spAutoFit/>
          </a:bodyPr>
          <a:lstStyle/>
          <a:p>
            <a:r>
              <a:rPr lang="bg-BG" dirty="0" smtClean="0">
                <a:latin typeface="Times New Roman" panose="02020603050405020304" pitchFamily="18" charset="0"/>
                <a:cs typeface="Times New Roman" panose="02020603050405020304" pitchFamily="18" charset="0"/>
                <a:hlinkClick r:id="rId2" action="ppaction://hlinksldjump"/>
              </a:rPr>
              <a:t>Обратно към теста</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0505260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latin typeface="Times New Roman" panose="02020603050405020304" pitchFamily="18" charset="0"/>
                <a:cs typeface="Times New Roman" panose="02020603050405020304" pitchFamily="18" charset="0"/>
              </a:rPr>
              <a:t>Недостатъци</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2442948"/>
            <a:ext cx="12192000" cy="4415051"/>
          </a:xfrm>
        </p:spPr>
        <p:txBody>
          <a:bodyPr>
            <a:noAutofit/>
          </a:bodyPr>
          <a:lstStyle/>
          <a:p>
            <a:pPr algn="just">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Сред недостатъците на плазмените дисплеи са големите по размери пиксели - на практика е проблем да бъде постигнат размер, по-малък от 0.5-0.6 мм. Минималният размер на един такъв екран е 32" или 82 см и единственият начин за увеличаване на резолюцията е чрез увеличаване на диагонала. </a:t>
            </a:r>
            <a:r>
              <a:rPr lang="ru-RU" sz="2400" dirty="0" smtClean="0">
                <a:latin typeface="Times New Roman" panose="02020603050405020304" pitchFamily="18" charset="0"/>
                <a:cs typeface="Times New Roman" panose="02020603050405020304" pitchFamily="18" charset="0"/>
              </a:rPr>
              <a:t>При </a:t>
            </a:r>
            <a:r>
              <a:rPr lang="ru-RU" sz="2400" dirty="0">
                <a:latin typeface="Times New Roman" panose="02020603050405020304" pitchFamily="18" charset="0"/>
                <a:cs typeface="Times New Roman" panose="02020603050405020304" pitchFamily="18" charset="0"/>
              </a:rPr>
              <a:t>определени обстоятелства плазмените дисплеи могат да "прогарят" подобно на CRT мониторите, на които дълго време е било показвано едно и също изображение. Тези дисплеи стареят с времето и имат относително малко </a:t>
            </a:r>
            <a:r>
              <a:rPr lang="ru-RU" sz="2400" dirty="0" smtClean="0">
                <a:latin typeface="Times New Roman" panose="02020603050405020304" pitchFamily="18" charset="0"/>
                <a:cs typeface="Times New Roman" panose="02020603050405020304" pitchFamily="18" charset="0"/>
              </a:rPr>
              <a:t>време </a:t>
            </a:r>
            <a:r>
              <a:rPr lang="ru-RU" sz="2400" dirty="0">
                <a:latin typeface="Times New Roman" panose="02020603050405020304" pitchFamily="18" charset="0"/>
                <a:cs typeface="Times New Roman" panose="02020603050405020304" pitchFamily="18" charset="0"/>
              </a:rPr>
              <a:t>на живот на пикселите - между 5 и 10 години при няколко часа на ден употреба и постепенно губят качествата си. </a:t>
            </a:r>
            <a:endParaRPr lang="ru-RU" sz="2400"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ru-RU" sz="2400" dirty="0" smtClean="0">
                <a:latin typeface="Times New Roman" panose="02020603050405020304" pitchFamily="18" charset="0"/>
                <a:cs typeface="Times New Roman" panose="02020603050405020304" pitchFamily="18" charset="0"/>
              </a:rPr>
              <a:t>Оптичните </a:t>
            </a:r>
            <a:r>
              <a:rPr lang="ru-RU" sz="2400" dirty="0">
                <a:latin typeface="Times New Roman" panose="02020603050405020304" pitchFamily="18" charset="0"/>
                <a:cs typeface="Times New Roman" panose="02020603050405020304" pitchFamily="18" charset="0"/>
              </a:rPr>
              <a:t>свойства на пикселите след този период се влошават и изображението става бледо и неконтрастно. Освен това поради използването на високо напрежение консумацията им е доста висока - от порядъка на 250W за 42-инчов модел.</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008172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a:latin typeface="Times New Roman" panose="02020603050405020304" pitchFamily="18" charset="0"/>
                <a:cs typeface="Times New Roman" panose="02020603050405020304" pitchFamily="18" charset="0"/>
              </a:rPr>
              <a:t>Монитор с органични светодиоди</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2429300"/>
            <a:ext cx="8611737" cy="4428699"/>
          </a:xfrm>
        </p:spPr>
        <p:txBody>
          <a:bodyPr>
            <a:normAutofit/>
          </a:bodyPr>
          <a:lstStyle/>
          <a:p>
            <a:pPr algn="just"/>
            <a:r>
              <a:rPr lang="ru-RU" sz="2400" dirty="0">
                <a:latin typeface="Times New Roman" panose="02020603050405020304" pitchFamily="18" charset="0"/>
                <a:cs typeface="Times New Roman" panose="02020603050405020304" pitchFamily="18" charset="0"/>
              </a:rPr>
              <a:t>Технологията OLED, макар и да повтаря пътя на развитие, изминат от LCD (пасивни и активни матрици), има две много съществени отличия от LCD, които се виждат и от заглавието и - това са използваният материал (органични съединения), и принцип на изобразяване (автономно излъчване на светлина). Предимството на тази технология се състои в това, че не са необходими лампи, осветяващи матрицата отзад, а всеки пиксел сам излъчва светлина под управлението на OLED диоди, които, всъщност, представляват отделните пиксели. Яркостта на светене се определя от тока, които се подава на диода.</a:t>
            </a:r>
            <a:endParaRPr lang="en-US"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8470262" y="3098042"/>
            <a:ext cx="3575714" cy="2681785"/>
          </a:xfrm>
          <a:prstGeom prst="rect">
            <a:avLst/>
          </a:prstGeom>
        </p:spPr>
      </p:pic>
    </p:spTree>
    <p:extLst>
      <p:ext uri="{BB962C8B-B14F-4D97-AF65-F5344CB8AC3E}">
        <p14:creationId xmlns:p14="http://schemas.microsoft.com/office/powerpoint/2010/main" val="128023863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latin typeface="Times New Roman" panose="02020603050405020304" pitchFamily="18" charset="0"/>
                <a:cs typeface="Times New Roman" panose="02020603050405020304" pitchFamily="18" charset="0"/>
              </a:rPr>
              <a:t>Недостатъци</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2412430"/>
            <a:ext cx="12192000" cy="4445569"/>
          </a:xfrm>
        </p:spPr>
        <p:txBody>
          <a:bodyPr/>
          <a:lstStyle/>
          <a:p>
            <a:pPr algn="just"/>
            <a:r>
              <a:rPr lang="ru-RU" sz="2400" dirty="0">
                <a:latin typeface="Times New Roman" panose="02020603050405020304" pitchFamily="18" charset="0"/>
                <a:cs typeface="Times New Roman" panose="02020603050405020304" pitchFamily="18" charset="0"/>
              </a:rPr>
              <a:t>OLED </a:t>
            </a:r>
            <a:r>
              <a:rPr lang="ru-RU" sz="2400" dirty="0" smtClean="0">
                <a:latin typeface="Times New Roman" panose="02020603050405020304" pitchFamily="18" charset="0"/>
                <a:cs typeface="Times New Roman" panose="02020603050405020304" pitchFamily="18" charset="0"/>
              </a:rPr>
              <a:t>технологията </a:t>
            </a:r>
            <a:r>
              <a:rPr lang="ru-RU" sz="2400" dirty="0">
                <a:latin typeface="Times New Roman" panose="02020603050405020304" pitchFamily="18" charset="0"/>
                <a:cs typeface="Times New Roman" panose="02020603050405020304" pitchFamily="18" charset="0"/>
              </a:rPr>
              <a:t>има и проблеми. Един от тях е, че органическите молекулярни и полимерни светоизлъчващи материали бързо се разрушават под въздействието на съдържащият се във въздуха кислород и водни пари, затова е необходима пълна херметизация на дисплейните панели. Друг актуален проблем е деградацията на свето излъчващите материали.</a:t>
            </a:r>
          </a:p>
          <a:p>
            <a:endParaRPr lang="en-US" dirty="0"/>
          </a:p>
        </p:txBody>
      </p:sp>
      <p:pic>
        <p:nvPicPr>
          <p:cNvPr id="4" name="Picture 3"/>
          <p:cNvPicPr>
            <a:picLocks noChangeAspect="1"/>
          </p:cNvPicPr>
          <p:nvPr/>
        </p:nvPicPr>
        <p:blipFill>
          <a:blip r:embed="rId2"/>
          <a:stretch>
            <a:fillRect/>
          </a:stretch>
        </p:blipFill>
        <p:spPr>
          <a:xfrm>
            <a:off x="3981392" y="4080680"/>
            <a:ext cx="6701213" cy="2565780"/>
          </a:xfrm>
          <a:prstGeom prst="rect">
            <a:avLst/>
          </a:prstGeom>
        </p:spPr>
      </p:pic>
      <p:sp>
        <p:nvSpPr>
          <p:cNvPr id="5" name="TextBox 4"/>
          <p:cNvSpPr txBox="1"/>
          <p:nvPr/>
        </p:nvSpPr>
        <p:spPr>
          <a:xfrm>
            <a:off x="8384146" y="57206"/>
            <a:ext cx="2575774" cy="369332"/>
          </a:xfrm>
          <a:prstGeom prst="rect">
            <a:avLst/>
          </a:prstGeom>
          <a:noFill/>
        </p:spPr>
        <p:txBody>
          <a:bodyPr wrap="square" rtlCol="0">
            <a:spAutoFit/>
          </a:bodyPr>
          <a:lstStyle/>
          <a:p>
            <a:r>
              <a:rPr lang="bg-BG" dirty="0" smtClean="0">
                <a:latin typeface="Times New Roman" panose="02020603050405020304" pitchFamily="18" charset="0"/>
                <a:cs typeface="Times New Roman" panose="02020603050405020304" pitchFamily="18" charset="0"/>
                <a:hlinkClick r:id="rId3" action="ppaction://hlinksldjump"/>
              </a:rPr>
              <a:t>Обратно към теста</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7613100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dirty="0"/>
              <a:t>LEP - Монитор от светещи полимери</a:t>
            </a:r>
            <a:endParaRPr lang="en-US" dirty="0"/>
          </a:p>
        </p:txBody>
      </p:sp>
      <p:sp>
        <p:nvSpPr>
          <p:cNvPr id="3" name="Content Placeholder 2"/>
          <p:cNvSpPr>
            <a:spLocks noGrp="1"/>
          </p:cNvSpPr>
          <p:nvPr>
            <p:ph idx="1"/>
          </p:nvPr>
        </p:nvSpPr>
        <p:spPr>
          <a:xfrm>
            <a:off x="0" y="2575775"/>
            <a:ext cx="12192000" cy="4282224"/>
          </a:xfrm>
        </p:spPr>
        <p:txBody>
          <a:bodyPr>
            <a:noAutofit/>
          </a:bodyPr>
          <a:lstStyle/>
          <a:p>
            <a:pPr algn="just"/>
            <a:r>
              <a:rPr lang="ru-RU" sz="2400" dirty="0">
                <a:latin typeface="Times New Roman" panose="02020603050405020304" pitchFamily="18" charset="0"/>
                <a:cs typeface="Times New Roman" panose="02020603050405020304" pitchFamily="18" charset="0"/>
              </a:rPr>
              <a:t>Технологията </a:t>
            </a:r>
            <a:r>
              <a:rPr lang="ru-RU" sz="2400" dirty="0" smtClean="0">
                <a:latin typeface="Times New Roman" panose="02020603050405020304" pitchFamily="18" charset="0"/>
                <a:cs typeface="Times New Roman" panose="02020603050405020304" pitchFamily="18" charset="0"/>
              </a:rPr>
              <a:t>LEP, </a:t>
            </a:r>
            <a:r>
              <a:rPr lang="ru-RU" sz="2400" dirty="0">
                <a:latin typeface="Times New Roman" panose="02020603050405020304" pitchFamily="18" charset="0"/>
                <a:cs typeface="Times New Roman" panose="02020603050405020304" pitchFamily="18" charset="0"/>
              </a:rPr>
              <a:t>разработена от английската фирма Cambridge Display Technology(CDT) преди около 5 години, на практика представлява едно от многото стъпала към постепенното подобряване на технологията на светещите полимери, в случая пластик, която се очаква да навлезне в ежедневието ни след няколко години, заменяйки сега масовата TFT.</a:t>
            </a:r>
          </a:p>
          <a:p>
            <a:pPr algn="just"/>
            <a:r>
              <a:rPr lang="ru-RU" sz="2400" dirty="0">
                <a:latin typeface="Times New Roman" panose="02020603050405020304" pitchFamily="18" charset="0"/>
                <a:cs typeface="Times New Roman" panose="02020603050405020304" pitchFamily="18" charset="0"/>
              </a:rPr>
              <a:t>Първите модели на </a:t>
            </a:r>
            <a:r>
              <a:rPr lang="ru-RU" sz="2400" dirty="0" smtClean="0">
                <a:latin typeface="Times New Roman" panose="02020603050405020304" pitchFamily="18" charset="0"/>
                <a:cs typeface="Times New Roman" panose="02020603050405020304" pitchFamily="18" charset="0"/>
              </a:rPr>
              <a:t>свето</a:t>
            </a:r>
            <a:r>
              <a:rPr lang="en-US" sz="2400" dirty="0" smtClean="0">
                <a:latin typeface="Times New Roman" panose="02020603050405020304" pitchFamily="18" charset="0"/>
                <a:cs typeface="Times New Roman" panose="02020603050405020304" pitchFamily="18" charset="0"/>
              </a:rPr>
              <a:t>-</a:t>
            </a:r>
            <a:r>
              <a:rPr lang="ru-RU" sz="2400" dirty="0" smtClean="0">
                <a:latin typeface="Times New Roman" panose="02020603050405020304" pitchFamily="18" charset="0"/>
                <a:cs typeface="Times New Roman" panose="02020603050405020304" pitchFamily="18" charset="0"/>
              </a:rPr>
              <a:t>излъчващите </a:t>
            </a:r>
            <a:r>
              <a:rPr lang="ru-RU" sz="2400" dirty="0">
                <a:latin typeface="Times New Roman" panose="02020603050405020304" pitchFamily="18" charset="0"/>
                <a:cs typeface="Times New Roman" panose="02020603050405020304" pitchFamily="18" charset="0"/>
              </a:rPr>
              <a:t>полимери </a:t>
            </a:r>
            <a:r>
              <a:rPr lang="ru-RU" sz="2400" dirty="0" smtClean="0">
                <a:latin typeface="Times New Roman" panose="02020603050405020304" pitchFamily="18" charset="0"/>
                <a:cs typeface="Times New Roman" panose="02020603050405020304" pitchFamily="18" charset="0"/>
              </a:rPr>
              <a:t>са </a:t>
            </a:r>
            <a:r>
              <a:rPr lang="ru-RU" sz="2400" dirty="0">
                <a:latin typeface="Times New Roman" panose="02020603050405020304" pitchFamily="18" charset="0"/>
                <a:cs typeface="Times New Roman" panose="02020603050405020304" pitchFamily="18" charset="0"/>
              </a:rPr>
              <a:t>имали много ниска ефективност (0,01%), но в процеса на работа учените успяват да постигнат ефективност 5%, което съответства на параметрите на полупроводниковия светодиод.</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3843963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0" y="2524259"/>
            <a:ext cx="6272011" cy="4333741"/>
          </a:xfrm>
        </p:spPr>
        <p:txBody>
          <a:bodyPr>
            <a:normAutofit/>
          </a:bodyPr>
          <a:lstStyle/>
          <a:p>
            <a:pPr algn="just"/>
            <a:r>
              <a:rPr lang="ru-RU" sz="2400" dirty="0">
                <a:latin typeface="Times New Roman" panose="02020603050405020304" pitchFamily="18" charset="0"/>
                <a:cs typeface="Times New Roman" panose="02020603050405020304" pitchFamily="18" charset="0"/>
              </a:rPr>
              <a:t>На тънка стъклена или пластмасова подложка с прозрачни електроди се нанася слой от полимерни материали, а конструкцията завършват металните електроди. Прозрачните и металните електроди, разположени взаимно перпендикулярно образуват ортогонална решетка. При възникване на електрическо поле между електродите, участъкът от полимера, разположен в тяхната точката на пресичане започва да свети</a:t>
            </a:r>
            <a:r>
              <a:rPr lang="ru-RU" sz="2400" dirty="0" smtClean="0">
                <a:latin typeface="Times New Roman" panose="02020603050405020304" pitchFamily="18" charset="0"/>
                <a:cs typeface="Times New Roman" panose="02020603050405020304" pitchFamily="18" charset="0"/>
              </a:rPr>
              <a:t>.</a:t>
            </a:r>
            <a:endParaRPr lang="ru-RU" sz="2400" dirty="0">
              <a:latin typeface="Times New Roman" panose="02020603050405020304" pitchFamily="18" charset="0"/>
              <a:cs typeface="Times New Roman" panose="02020603050405020304" pitchFamily="18" charset="0"/>
            </a:endParaRPr>
          </a:p>
          <a:p>
            <a:endParaRPr lang="en-US" dirty="0"/>
          </a:p>
        </p:txBody>
      </p:sp>
      <p:pic>
        <p:nvPicPr>
          <p:cNvPr id="4" name="Picture 3"/>
          <p:cNvPicPr>
            <a:picLocks noChangeAspect="1"/>
          </p:cNvPicPr>
          <p:nvPr/>
        </p:nvPicPr>
        <p:blipFill>
          <a:blip r:embed="rId2"/>
          <a:stretch>
            <a:fillRect/>
          </a:stretch>
        </p:blipFill>
        <p:spPr>
          <a:xfrm>
            <a:off x="6272011" y="3427121"/>
            <a:ext cx="5880383" cy="2528015"/>
          </a:xfrm>
          <a:prstGeom prst="rect">
            <a:avLst/>
          </a:prstGeom>
        </p:spPr>
      </p:pic>
    </p:spTree>
    <p:extLst>
      <p:ext uri="{BB962C8B-B14F-4D97-AF65-F5344CB8AC3E}">
        <p14:creationId xmlns:p14="http://schemas.microsoft.com/office/powerpoint/2010/main" val="234270936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0" y="2603500"/>
            <a:ext cx="5563673" cy="4254500"/>
          </a:xfrm>
        </p:spPr>
        <p:txBody>
          <a:bodyPr>
            <a:normAutofit/>
          </a:bodyPr>
          <a:lstStyle/>
          <a:p>
            <a:pPr algn="just"/>
            <a:r>
              <a:rPr lang="ru-RU" sz="2400" dirty="0">
                <a:latin typeface="Times New Roman" panose="02020603050405020304" pitchFamily="18" charset="0"/>
                <a:cs typeface="Times New Roman" panose="02020603050405020304" pitchFamily="18" charset="0"/>
              </a:rPr>
              <a:t>Със съвместни усилия на японската корпорация Seiko EPSON и Cambridge Display Technology (CDT) се създава уникална технология за нанасяне на свето излъчващите материали и прозрачни проводници, базиращи се на принципа на струйния </a:t>
            </a:r>
            <a:r>
              <a:rPr lang="ru-RU" sz="2400" dirty="0" smtClean="0">
                <a:latin typeface="Times New Roman" panose="02020603050405020304" pitchFamily="18" charset="0"/>
                <a:cs typeface="Times New Roman" panose="02020603050405020304" pitchFamily="18" charset="0"/>
              </a:rPr>
              <a:t>печат.</a:t>
            </a:r>
            <a:r>
              <a:rPr lang="en-US" sz="2400" dirty="0" smtClean="0">
                <a:latin typeface="Times New Roman" panose="02020603050405020304" pitchFamily="18" charset="0"/>
                <a:cs typeface="Times New Roman" panose="02020603050405020304" pitchFamily="18" charset="0"/>
              </a:rPr>
              <a:t> </a:t>
            </a:r>
            <a:r>
              <a:rPr lang="ru-RU" sz="2400" dirty="0" smtClean="0">
                <a:latin typeface="Times New Roman" panose="02020603050405020304" pitchFamily="18" charset="0"/>
                <a:cs typeface="Times New Roman" panose="02020603050405020304" pitchFamily="18" charset="0"/>
              </a:rPr>
              <a:t>LEP </a:t>
            </a:r>
            <a:r>
              <a:rPr lang="ru-RU" sz="2400" dirty="0">
                <a:latin typeface="Times New Roman" panose="02020603050405020304" pitchFamily="18" charset="0"/>
                <a:cs typeface="Times New Roman" panose="02020603050405020304" pitchFamily="18" charset="0"/>
              </a:rPr>
              <a:t>дисплеите са така тънки, че осигуряват, както по-добро изображение, така и защита от външни въздействия.</a:t>
            </a:r>
            <a:endParaRPr lang="en-US"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6761409" y="2854035"/>
            <a:ext cx="3670480" cy="3753429"/>
          </a:xfrm>
          <a:prstGeom prst="rect">
            <a:avLst/>
          </a:prstGeom>
        </p:spPr>
      </p:pic>
    </p:spTree>
    <p:extLst>
      <p:ext uri="{BB962C8B-B14F-4D97-AF65-F5344CB8AC3E}">
        <p14:creationId xmlns:p14="http://schemas.microsoft.com/office/powerpoint/2010/main" val="175774745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dirty="0">
                <a:latin typeface="Times New Roman" panose="02020603050405020304" pitchFamily="18" charset="0"/>
                <a:cs typeface="Times New Roman" panose="02020603050405020304" pitchFamily="18" charset="0"/>
              </a:rPr>
              <a:t>FED - Монитор с “емисионно поле” </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2253803"/>
            <a:ext cx="12192000" cy="4604197"/>
          </a:xfrm>
        </p:spPr>
        <p:txBody>
          <a:bodyPr>
            <a:normAutofit lnSpcReduction="10000"/>
          </a:bodyPr>
          <a:lstStyle/>
          <a:p>
            <a:pPr algn="just"/>
            <a:r>
              <a:rPr lang="ru-RU" sz="2400" dirty="0">
                <a:latin typeface="Times New Roman" panose="02020603050405020304" pitchFamily="18" charset="0"/>
                <a:cs typeface="Times New Roman" panose="02020603050405020304" pitchFamily="18" charset="0"/>
              </a:rPr>
              <a:t>Технологията FED донякъде наподобява процесите на обикновените CRT монитори, тъй-като и при двата типа дисплеи се използва луминофор, частиците на който светят под въздействието на електронния лъч. За разлика от обикновения кинескоп, обаче, в който се използват три пушки, бомбардиращи с електрони луминофора, в FED дисплеите огромно количесто малки източници на електрони са разположени зад всеки един условен пиксел на екрана, заемайки значително по-малко място в пространството, особено в дълбочина.</a:t>
            </a:r>
          </a:p>
          <a:p>
            <a:r>
              <a:rPr lang="ru-RU" sz="2400" dirty="0">
                <a:latin typeface="Times New Roman" panose="02020603050405020304" pitchFamily="18" charset="0"/>
                <a:cs typeface="Times New Roman" panose="02020603050405020304" pitchFamily="18" charset="0"/>
              </a:rPr>
              <a:t>Най-голям е напредъкът при технологията "емисионно поле" SED (Surface conduction electron emitter display или повръхностно-проводников електронно емитиращ дисплей), съвместна разработка на японските електронни гиганти "Канон" и "Тошиба". Тази технология може най-лесно да се представи като комбинация от кинескопи и течни кристали.</a:t>
            </a:r>
          </a:p>
          <a:p>
            <a:endParaRPr lang="en-US" dirty="0"/>
          </a:p>
        </p:txBody>
      </p:sp>
    </p:spTree>
    <p:extLst>
      <p:ext uri="{BB962C8B-B14F-4D97-AF65-F5344CB8AC3E}">
        <p14:creationId xmlns:p14="http://schemas.microsoft.com/office/powerpoint/2010/main" val="83665718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a:latin typeface="Times New Roman" panose="02020603050405020304" pitchFamily="18" charset="0"/>
                <a:cs typeface="Times New Roman" panose="02020603050405020304" pitchFamily="18" charset="0"/>
              </a:rPr>
              <a:t>Портативни пространствени дисплеи.</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2215166"/>
            <a:ext cx="12192000" cy="4642834"/>
          </a:xfrm>
        </p:spPr>
        <p:txBody>
          <a:bodyPr>
            <a:normAutofit/>
          </a:bodyPr>
          <a:lstStyle/>
          <a:p>
            <a:pPr algn="just"/>
            <a:r>
              <a:rPr lang="ru-RU" sz="2400" dirty="0">
                <a:latin typeface="Times New Roman" panose="02020603050405020304" pitchFamily="18" charset="0"/>
                <a:cs typeface="Times New Roman" panose="02020603050405020304" pitchFamily="18" charset="0"/>
              </a:rPr>
              <a:t>Основният недостатък на всички съвременни дисплеи е тяхната ограниченост, на първо място физическата. Въздухът е среда с определени характеристики, промяната на които може да формира изображение. Физиката на атмосферни явления като северното сияние или дъждовната дъга е известна. Калифорнийската компания IO2 Tehnology разработи устройството Helodisplay, който проектира изображение направо във въздуха. Може да се нарече виртуален или пространствен дисплей, защото потребителят може да се разхожда около него и дори да преминава през него.</a:t>
            </a:r>
          </a:p>
          <a:p>
            <a:pPr algn="just"/>
            <a:r>
              <a:rPr lang="ru-RU" sz="2400" dirty="0">
                <a:latin typeface="Times New Roman" panose="02020603050405020304" pitchFamily="18" charset="0"/>
                <a:cs typeface="Times New Roman" panose="02020603050405020304" pitchFamily="18" charset="0"/>
              </a:rPr>
              <a:t>Проекторът създава изображение, модифицирайки характеристиките на обикновения въздух посредством излъчваните фотони. </a:t>
            </a:r>
            <a:r>
              <a:rPr lang="ru-RU" sz="2400" dirty="0" smtClean="0">
                <a:latin typeface="Times New Roman" panose="02020603050405020304" pitchFamily="18" charset="0"/>
                <a:cs typeface="Times New Roman" panose="02020603050405020304" pitchFamily="18" charset="0"/>
              </a:rPr>
              <a:t>Изображението </a:t>
            </a:r>
            <a:r>
              <a:rPr lang="ru-RU" sz="2400" dirty="0">
                <a:latin typeface="Times New Roman" panose="02020603050405020304" pitchFamily="18" charset="0"/>
                <a:cs typeface="Times New Roman" panose="02020603050405020304" pitchFamily="18" charset="0"/>
              </a:rPr>
              <a:t>е с диагонал 27 инча, което компанията планира да разшири до 150 инча. Изображението е двумерно, но на разстояние, за сметка на дълбочината се създава триизмерен ефект. </a:t>
            </a:r>
            <a:endParaRPr lang="ru-RU" dirty="0"/>
          </a:p>
          <a:p>
            <a:endParaRPr lang="en-US" dirty="0"/>
          </a:p>
        </p:txBody>
      </p:sp>
    </p:spTree>
    <p:extLst>
      <p:ext uri="{BB962C8B-B14F-4D97-AF65-F5344CB8AC3E}">
        <p14:creationId xmlns:p14="http://schemas.microsoft.com/office/powerpoint/2010/main" val="347814490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0" y="2228045"/>
            <a:ext cx="11848563" cy="4629955"/>
          </a:xfrm>
        </p:spPr>
        <p:txBody>
          <a:bodyPr>
            <a:noAutofit/>
          </a:bodyPr>
          <a:lstStyle/>
          <a:p>
            <a:pPr algn="just"/>
            <a:r>
              <a:rPr lang="ru-RU" sz="2400" dirty="0">
                <a:latin typeface="Times New Roman" panose="02020603050405020304" pitchFamily="18" charset="0"/>
                <a:cs typeface="Times New Roman" panose="02020603050405020304" pitchFamily="18" charset="0"/>
              </a:rPr>
              <a:t>Изображението не е холограма, но позволява манипулирането с обектите на дисплея подобно на сензорния дисплей. Съществува възможност за манипулиране с дисплея от няколко потребителя едновременно – който първи “хване” обекта, той го </a:t>
            </a:r>
            <a:r>
              <a:rPr lang="ru-RU" sz="2400" dirty="0" smtClean="0">
                <a:latin typeface="Times New Roman" panose="02020603050405020304" pitchFamily="18" charset="0"/>
                <a:cs typeface="Times New Roman" panose="02020603050405020304" pitchFamily="18" charset="0"/>
              </a:rPr>
              <a:t>управлява</a:t>
            </a:r>
            <a:r>
              <a:rPr lang="en-US" sz="2400" dirty="0" smtClean="0">
                <a:latin typeface="Times New Roman" panose="02020603050405020304" pitchFamily="18" charset="0"/>
                <a:cs typeface="Times New Roman" panose="02020603050405020304" pitchFamily="18" charset="0"/>
              </a:rPr>
              <a:t>.</a:t>
            </a:r>
            <a:endParaRPr lang="ru-RU" sz="2400" dirty="0">
              <a:latin typeface="Times New Roman" panose="02020603050405020304" pitchFamily="18" charset="0"/>
              <a:cs typeface="Times New Roman" panose="02020603050405020304" pitchFamily="18" charset="0"/>
            </a:endParaRPr>
          </a:p>
          <a:p>
            <a:pPr algn="just"/>
            <a:r>
              <a:rPr lang="ru-RU" sz="2400" dirty="0">
                <a:latin typeface="Times New Roman" panose="02020603050405020304" pitchFamily="18" charset="0"/>
                <a:cs typeface="Times New Roman" panose="02020603050405020304" pitchFamily="18" charset="0"/>
              </a:rPr>
              <a:t>Цената на 27-инчов Helodisplay е висока, но с масовото производство ще стане съпоставима с плазмените дисплеи. Параметрите на изображението превишават аналогичните показатели за болшинството съвременни мобилни устройства – изображение 16.7 млн. цвята при разделителна способност от 640 х 480 до 1024 х 768 пиксела. </a:t>
            </a:r>
            <a:r>
              <a:rPr lang="ru-RU" sz="2400" dirty="0" smtClean="0">
                <a:latin typeface="Times New Roman" panose="02020603050405020304" pitchFamily="18" charset="0"/>
                <a:cs typeface="Times New Roman" panose="02020603050405020304" pitchFamily="18" charset="0"/>
              </a:rPr>
              <a:t>Друго </a:t>
            </a:r>
            <a:r>
              <a:rPr lang="ru-RU" sz="2400" dirty="0">
                <a:latin typeface="Times New Roman" panose="02020603050405020304" pitchFamily="18" charset="0"/>
                <a:cs typeface="Times New Roman" panose="02020603050405020304" pitchFamily="18" charset="0"/>
              </a:rPr>
              <a:t>предимство на пространствените дисплеи е ниската взискателност към апаратните ресурси на компютъра, дори при реализирането на интерактивни функции: процесорната мощност се използва минимално, а видеоподсистема не е необходима по </a:t>
            </a:r>
            <a:r>
              <a:rPr lang="ru-RU" sz="2400" dirty="0" smtClean="0">
                <a:latin typeface="Times New Roman" panose="02020603050405020304" pitchFamily="18" charset="0"/>
                <a:cs typeface="Times New Roman" panose="02020603050405020304" pitchFamily="18" charset="0"/>
              </a:rPr>
              <a:t>принцип.</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49673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a:latin typeface="Times New Roman" panose="02020603050405020304" pitchFamily="18" charset="0"/>
                <a:cs typeface="Times New Roman" panose="02020603050405020304" pitchFamily="18" charset="0"/>
              </a:rPr>
              <a:t>Принтер /</a:t>
            </a:r>
            <a:r>
              <a:rPr lang="bg-BG" i="1" dirty="0">
                <a:latin typeface="Times New Roman" panose="02020603050405020304" pitchFamily="18" charset="0"/>
                <a:cs typeface="Times New Roman" panose="02020603050405020304" pitchFamily="18" charset="0"/>
              </a:rPr>
              <a:t>Печатащо устройство</a:t>
            </a:r>
            <a:r>
              <a:rPr lang="bg-BG"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 y="2686748"/>
            <a:ext cx="5349922" cy="4171251"/>
          </a:xfrm>
        </p:spPr>
        <p:txBody>
          <a:bodyPr>
            <a:normAutofit/>
          </a:bodyPr>
          <a:lstStyle/>
          <a:p>
            <a:pPr algn="just"/>
            <a:r>
              <a:rPr lang="ru-RU" sz="2400" dirty="0" smtClean="0">
                <a:latin typeface="Times New Roman" panose="02020603050405020304" pitchFamily="18" charset="0"/>
                <a:cs typeface="Times New Roman" panose="02020603050405020304" pitchFamily="18" charset="0"/>
              </a:rPr>
              <a:t>Първият </a:t>
            </a:r>
            <a:r>
              <a:rPr lang="ru-RU" sz="2400" dirty="0">
                <a:latin typeface="Times New Roman" panose="02020603050405020304" pitchFamily="18" charset="0"/>
                <a:cs typeface="Times New Roman" panose="02020603050405020304" pitchFamily="18" charset="0"/>
              </a:rPr>
              <a:t>лазерен принтер наречен EARS е разработен в Пало Алто, Калифорния в изследователския център на Xerox в началото на 1969. Работата по този модел завършва през ноември 1971.</a:t>
            </a:r>
          </a:p>
          <a:p>
            <a:endParaRPr lang="en-US" dirty="0"/>
          </a:p>
        </p:txBody>
      </p:sp>
      <p:pic>
        <p:nvPicPr>
          <p:cNvPr id="4" name="Picture 3"/>
          <p:cNvPicPr>
            <a:picLocks noChangeAspect="1"/>
          </p:cNvPicPr>
          <p:nvPr/>
        </p:nvPicPr>
        <p:blipFill>
          <a:blip r:embed="rId2"/>
          <a:stretch>
            <a:fillRect/>
          </a:stretch>
        </p:blipFill>
        <p:spPr>
          <a:xfrm>
            <a:off x="6328993" y="2686748"/>
            <a:ext cx="3651620" cy="3249801"/>
          </a:xfrm>
          <a:prstGeom prst="rect">
            <a:avLst/>
          </a:prstGeom>
        </p:spPr>
      </p:pic>
    </p:spTree>
    <p:extLst>
      <p:ext uri="{BB962C8B-B14F-4D97-AF65-F5344CB8AC3E}">
        <p14:creationId xmlns:p14="http://schemas.microsoft.com/office/powerpoint/2010/main" val="179670235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Видове</a:t>
            </a:r>
            <a:endParaRPr lang="en-US" dirty="0"/>
          </a:p>
        </p:txBody>
      </p:sp>
      <p:sp>
        <p:nvSpPr>
          <p:cNvPr id="3" name="Content Placeholder 2"/>
          <p:cNvSpPr>
            <a:spLocks noGrp="1"/>
          </p:cNvSpPr>
          <p:nvPr>
            <p:ph idx="1"/>
          </p:nvPr>
        </p:nvSpPr>
        <p:spPr>
          <a:xfrm>
            <a:off x="0" y="2361063"/>
            <a:ext cx="12192000" cy="4496938"/>
          </a:xfrm>
        </p:spPr>
        <p:txBody>
          <a:bodyPr>
            <a:normAutofit lnSpcReduction="10000"/>
          </a:bodyPr>
          <a:lstStyle/>
          <a:p>
            <a:r>
              <a:rPr lang="bg-BG" sz="2800" b="1" dirty="0" smtClean="0">
                <a:latin typeface="Times New Roman" panose="02020603050405020304" pitchFamily="18" charset="0"/>
                <a:cs typeface="Times New Roman" panose="02020603050405020304" pitchFamily="18" charset="0"/>
              </a:rPr>
              <a:t>2.1</a:t>
            </a:r>
            <a:r>
              <a:rPr lang="en-US" sz="2800" b="1" dirty="0" smtClean="0">
                <a:latin typeface="Times New Roman" panose="02020603050405020304" pitchFamily="18" charset="0"/>
                <a:cs typeface="Times New Roman" panose="02020603050405020304" pitchFamily="18" charset="0"/>
              </a:rPr>
              <a:t>)</a:t>
            </a:r>
            <a:r>
              <a:rPr lang="bg-BG" sz="2800" b="1" dirty="0" smtClean="0">
                <a:latin typeface="Times New Roman" panose="02020603050405020304" pitchFamily="18" charset="0"/>
                <a:cs typeface="Times New Roman" panose="02020603050405020304" pitchFamily="18" charset="0"/>
              </a:rPr>
              <a:t> Матрични</a:t>
            </a:r>
          </a:p>
          <a:p>
            <a:pPr algn="just">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В капсулована глава са поставени игли, задействани по магнитен път. При задействането на соленоида, управляващ съответната игла, тя се изстрелва напред и притиска мастилената лента към листа хартия, отпечатвайки по този начин пиксел</a:t>
            </a:r>
            <a:r>
              <a:rPr lang="ru-RU" sz="2400" dirty="0" smtClean="0">
                <a:latin typeface="Times New Roman" panose="02020603050405020304" pitchFamily="18" charset="0"/>
                <a:cs typeface="Times New Roman" panose="02020603050405020304" pitchFamily="18" charset="0"/>
              </a:rPr>
              <a:t>.</a:t>
            </a:r>
            <a:endParaRPr lang="bg-BG" sz="2400"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В </a:t>
            </a:r>
            <a:r>
              <a:rPr lang="ru-RU" sz="2400" dirty="0" smtClean="0">
                <a:latin typeface="Times New Roman" panose="02020603050405020304" pitchFamily="18" charset="0"/>
                <a:cs typeface="Times New Roman" panose="02020603050405020304" pitchFamily="18" charset="0"/>
              </a:rPr>
              <a:t>матричните </a:t>
            </a:r>
            <a:r>
              <a:rPr lang="ru-RU" sz="2400" dirty="0">
                <a:latin typeface="Times New Roman" panose="02020603050405020304" pitchFamily="18" charset="0"/>
                <a:cs typeface="Times New Roman" panose="02020603050405020304" pitchFamily="18" charset="0"/>
              </a:rPr>
              <a:t>принтери знаците се отпечатват от печатащата глава при хоризонталното и движение. Печатащата глава има определен брой печатащи игли подредени така, че до оформят вертикална колона в предния край на главата. При движение на главата по ширината на листа, печатащите игли се задействат избирателно за да отпечатват съответните символи. Масово използваните глави имат 9 игли подредени в една колона или 24 игли подредени в две колони за по-добро качество на печат. В някои принтери предназначени за работа с високо натоварване се използват 18 иглени глави с две колони по 9 игли, позволяващи високоскоростен-печат .</a:t>
            </a:r>
          </a:p>
          <a:p>
            <a:pPr algn="just">
              <a:buFont typeface="Arial" panose="020B0604020202020204" pitchFamily="34" charset="0"/>
              <a:buChar char="•"/>
            </a:pPr>
            <a:endParaRPr lang="en-US" dirty="0"/>
          </a:p>
        </p:txBody>
      </p:sp>
    </p:spTree>
    <p:extLst>
      <p:ext uri="{BB962C8B-B14F-4D97-AF65-F5344CB8AC3E}">
        <p14:creationId xmlns:p14="http://schemas.microsoft.com/office/powerpoint/2010/main" val="77133573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bg-BG" dirty="0" smtClean="0"/>
              <a:t>Матричните принтери се делят два вида</a:t>
            </a:r>
            <a:endParaRPr lang="en-US" dirty="0"/>
          </a:p>
        </p:txBody>
      </p:sp>
      <p:sp>
        <p:nvSpPr>
          <p:cNvPr id="3" name="Content Placeholder 2"/>
          <p:cNvSpPr>
            <a:spLocks noGrp="1"/>
          </p:cNvSpPr>
          <p:nvPr>
            <p:ph idx="1"/>
          </p:nvPr>
        </p:nvSpPr>
        <p:spPr>
          <a:xfrm>
            <a:off x="0" y="2292824"/>
            <a:ext cx="8802806" cy="4565176"/>
          </a:xfrm>
        </p:spPr>
        <p:txBody>
          <a:bodyPr>
            <a:normAutofit/>
          </a:bodyPr>
          <a:lstStyle/>
          <a:p>
            <a:pPr algn="just"/>
            <a:r>
              <a:rPr lang="ru-RU" sz="2400" dirty="0">
                <a:latin typeface="Times New Roman" panose="02020603050405020304" pitchFamily="18" charset="0"/>
                <a:cs typeface="Times New Roman" panose="02020603050405020304" pitchFamily="18" charset="0"/>
              </a:rPr>
              <a:t>Серийни – в тях печатащата глава съдържа игли подредени във вертикала </a:t>
            </a:r>
            <a:r>
              <a:rPr lang="ru-RU" sz="2400" dirty="0" smtClean="0">
                <a:latin typeface="Times New Roman" panose="02020603050405020304" pitchFamily="18" charset="0"/>
                <a:cs typeface="Times New Roman" panose="02020603050405020304" pitchFamily="18" charset="0"/>
              </a:rPr>
              <a:t>колона </a:t>
            </a:r>
            <a:r>
              <a:rPr lang="ru-RU" sz="2400" dirty="0">
                <a:latin typeface="Times New Roman" panose="02020603050405020304" pitchFamily="18" charset="0"/>
                <a:cs typeface="Times New Roman" panose="02020603050405020304" pitchFamily="18" charset="0"/>
              </a:rPr>
              <a:t>и съответно електромагнитен механизъм за изстрелването им. (броя на иглите може да бъде 1 </a:t>
            </a:r>
            <a:r>
              <a:rPr lang="ru-RU" sz="2400" dirty="0" smtClean="0">
                <a:latin typeface="Times New Roman" panose="02020603050405020304" pitchFamily="18" charset="0"/>
                <a:cs typeface="Times New Roman" panose="02020603050405020304" pitchFamily="18" charset="0"/>
              </a:rPr>
              <a:t>колона </a:t>
            </a:r>
            <a:r>
              <a:rPr lang="ru-RU" sz="2400" dirty="0">
                <a:latin typeface="Times New Roman" panose="02020603050405020304" pitchFamily="18" charset="0"/>
                <a:cs typeface="Times New Roman" panose="02020603050405020304" pitchFamily="18" charset="0"/>
              </a:rPr>
              <a:t>9 игли 18 игли в 2 колонки или 24 игли в две </a:t>
            </a:r>
            <a:r>
              <a:rPr lang="ru-RU" sz="2400" dirty="0" smtClean="0">
                <a:latin typeface="Times New Roman" panose="02020603050405020304" pitchFamily="18" charset="0"/>
                <a:cs typeface="Times New Roman" panose="02020603050405020304" pitchFamily="18" charset="0"/>
              </a:rPr>
              <a:t>колони).</a:t>
            </a:r>
            <a:endParaRPr lang="ru-RU" sz="2400" dirty="0">
              <a:latin typeface="Times New Roman" panose="02020603050405020304" pitchFamily="18" charset="0"/>
              <a:cs typeface="Times New Roman" panose="02020603050405020304" pitchFamily="18" charset="0"/>
            </a:endParaRPr>
          </a:p>
          <a:p>
            <a:pPr algn="just"/>
            <a:r>
              <a:rPr lang="ru-RU" sz="2400" dirty="0">
                <a:latin typeface="Times New Roman" panose="02020603050405020304" pitchFamily="18" charset="0"/>
                <a:cs typeface="Times New Roman" panose="02020603050405020304" pitchFamily="18" charset="0"/>
              </a:rPr>
              <a:t>Линейни – за разлика от предния модел ползват чукчета вместо игли , който са подредени в хоризонтален ред. По този начин оформят печатащ модул. Той е монтиран върху така наречената совалка, която вибрира в хоризонтално направление. Така всяко чукче печата поредица от точки в хоризонтална линия за 1 преминаване на совалката. Скорост на печат определя се от броя символи за секунда и се измерва с единицата cps.</a:t>
            </a:r>
          </a:p>
          <a:p>
            <a:endParaRPr lang="ru-RU" dirty="0"/>
          </a:p>
          <a:p>
            <a:endParaRPr lang="ru-RU" dirty="0"/>
          </a:p>
          <a:p>
            <a:endParaRPr lang="ru-RU" dirty="0"/>
          </a:p>
          <a:p>
            <a:endParaRPr lang="en-US" dirty="0"/>
          </a:p>
        </p:txBody>
      </p:sp>
      <p:pic>
        <p:nvPicPr>
          <p:cNvPr id="4" name="Picture 3"/>
          <p:cNvPicPr>
            <a:picLocks noChangeAspect="1"/>
          </p:cNvPicPr>
          <p:nvPr/>
        </p:nvPicPr>
        <p:blipFill rotWithShape="1">
          <a:blip r:embed="rId2"/>
          <a:srcRect t="15169" b="11665"/>
          <a:stretch/>
        </p:blipFill>
        <p:spPr>
          <a:xfrm>
            <a:off x="8802806" y="4450879"/>
            <a:ext cx="3094084" cy="2263820"/>
          </a:xfrm>
          <a:prstGeom prst="rect">
            <a:avLst/>
          </a:prstGeom>
        </p:spPr>
      </p:pic>
      <p:pic>
        <p:nvPicPr>
          <p:cNvPr id="5" name="Picture 4"/>
          <p:cNvPicPr>
            <a:picLocks noChangeAspect="1"/>
          </p:cNvPicPr>
          <p:nvPr/>
        </p:nvPicPr>
        <p:blipFill rotWithShape="1">
          <a:blip r:embed="rId3"/>
          <a:srcRect l="3406" t="9293" b="13368"/>
          <a:stretch/>
        </p:blipFill>
        <p:spPr>
          <a:xfrm>
            <a:off x="8995307" y="2429301"/>
            <a:ext cx="2709081" cy="1624084"/>
          </a:xfrm>
          <a:prstGeom prst="rect">
            <a:avLst/>
          </a:prstGeom>
        </p:spPr>
      </p:pic>
    </p:spTree>
    <p:extLst>
      <p:ext uri="{BB962C8B-B14F-4D97-AF65-F5344CB8AC3E}">
        <p14:creationId xmlns:p14="http://schemas.microsoft.com/office/powerpoint/2010/main" val="133053392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2.2</a:t>
            </a:r>
            <a:r>
              <a:rPr lang="en-US" dirty="0" smtClean="0"/>
              <a:t>)</a:t>
            </a:r>
            <a:r>
              <a:rPr lang="bg-BG" dirty="0" smtClean="0"/>
              <a:t> Мастиленоструйни</a:t>
            </a:r>
            <a:endParaRPr lang="en-US" dirty="0"/>
          </a:p>
        </p:txBody>
      </p:sp>
      <p:sp>
        <p:nvSpPr>
          <p:cNvPr id="3" name="Content Placeholder 2"/>
          <p:cNvSpPr>
            <a:spLocks noGrp="1"/>
          </p:cNvSpPr>
          <p:nvPr>
            <p:ph idx="1"/>
          </p:nvPr>
        </p:nvSpPr>
        <p:spPr>
          <a:xfrm>
            <a:off x="1" y="2603500"/>
            <a:ext cx="8024884" cy="4254500"/>
          </a:xfrm>
        </p:spPr>
        <p:txBody>
          <a:bodyPr>
            <a:normAutofit/>
          </a:bodyPr>
          <a:lstStyle/>
          <a:p>
            <a:pPr algn="just"/>
            <a:r>
              <a:rPr lang="ru-RU" sz="2400" dirty="0">
                <a:latin typeface="Times New Roman" panose="02020603050405020304" pitchFamily="18" charset="0"/>
                <a:cs typeface="Times New Roman" panose="02020603050405020304" pitchFamily="18" charset="0"/>
              </a:rPr>
              <a:t>При мастиленоструйните принтери отпечатването става чрез на впръскване на множество от малки капки мастило върху хартия. Това се извършва от самата глава, където стои и резервоара с мастило</a:t>
            </a:r>
            <a:r>
              <a:rPr lang="ru-RU" sz="2400" dirty="0" smtClean="0">
                <a:latin typeface="Times New Roman" panose="02020603050405020304" pitchFamily="18" charset="0"/>
                <a:cs typeface="Times New Roman" panose="02020603050405020304" pitchFamily="18" charset="0"/>
              </a:rPr>
              <a:t>.</a:t>
            </a:r>
            <a:endParaRPr lang="ru-RU" sz="2400" dirty="0">
              <a:latin typeface="Times New Roman" panose="02020603050405020304" pitchFamily="18" charset="0"/>
              <a:cs typeface="Times New Roman" panose="02020603050405020304" pitchFamily="18" charset="0"/>
            </a:endParaRPr>
          </a:p>
          <a:p>
            <a:pPr algn="just"/>
            <a:r>
              <a:rPr lang="ru-RU" sz="2400" dirty="0">
                <a:latin typeface="Times New Roman" panose="02020603050405020304" pitchFamily="18" charset="0"/>
                <a:cs typeface="Times New Roman" panose="02020603050405020304" pitchFamily="18" charset="0"/>
              </a:rPr>
              <a:t>Поради бързодействието, ниския шум, високото качество на печат и възможността за отпечатване на цветни изображения мастиленоструйните принтери са най-разпространени за нуждите на домашните потребители или малки офиси. Търсенето им също така се определя и от ниската цена и достъпните консумативи.</a:t>
            </a:r>
            <a:endParaRPr lang="en-US"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8043307" y="3002507"/>
            <a:ext cx="3940904" cy="3284087"/>
          </a:xfrm>
          <a:prstGeom prst="rect">
            <a:avLst/>
          </a:prstGeom>
        </p:spPr>
      </p:pic>
      <p:sp>
        <p:nvSpPr>
          <p:cNvPr id="5" name="TextBox 4"/>
          <p:cNvSpPr txBox="1"/>
          <p:nvPr/>
        </p:nvSpPr>
        <p:spPr>
          <a:xfrm>
            <a:off x="8043307" y="50802"/>
            <a:ext cx="3187071" cy="369332"/>
          </a:xfrm>
          <a:prstGeom prst="rect">
            <a:avLst/>
          </a:prstGeom>
          <a:noFill/>
        </p:spPr>
        <p:txBody>
          <a:bodyPr wrap="square" rtlCol="0">
            <a:spAutoFit/>
          </a:bodyPr>
          <a:lstStyle/>
          <a:p>
            <a:r>
              <a:rPr lang="bg-BG" dirty="0" smtClean="0">
                <a:solidFill>
                  <a:schemeClr val="tx2"/>
                </a:solidFill>
                <a:hlinkClick r:id="rId3" action="ppaction://hlinksldjump"/>
              </a:rPr>
              <a:t>Обратно към теста</a:t>
            </a:r>
            <a:endParaRPr lang="en-US" dirty="0">
              <a:solidFill>
                <a:schemeClr val="tx2"/>
              </a:solidFill>
            </a:endParaRPr>
          </a:p>
        </p:txBody>
      </p:sp>
    </p:spTree>
    <p:extLst>
      <p:ext uri="{BB962C8B-B14F-4D97-AF65-F5344CB8AC3E}">
        <p14:creationId xmlns:p14="http://schemas.microsoft.com/office/powerpoint/2010/main" val="336701575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latin typeface="Times New Roman" panose="02020603050405020304" pitchFamily="18" charset="0"/>
                <a:cs typeface="Times New Roman" panose="02020603050405020304" pitchFamily="18" charset="0"/>
              </a:rPr>
              <a:t>Лазерни принтери</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2320119"/>
            <a:ext cx="8079475" cy="4537881"/>
          </a:xfrm>
        </p:spPr>
        <p:txBody>
          <a:bodyPr>
            <a:normAutofit/>
          </a:bodyPr>
          <a:lstStyle/>
          <a:p>
            <a:pPr algn="just"/>
            <a:r>
              <a:rPr lang="ru-RU" sz="2400" dirty="0">
                <a:latin typeface="Times New Roman" panose="02020603050405020304" pitchFamily="18" charset="0"/>
                <a:cs typeface="Times New Roman" panose="02020603050405020304" pitchFamily="18" charset="0"/>
              </a:rPr>
              <a:t>Лазерните </a:t>
            </a:r>
            <a:r>
              <a:rPr lang="ru-RU" sz="2400" dirty="0" smtClean="0">
                <a:latin typeface="Times New Roman" panose="02020603050405020304" pitchFamily="18" charset="0"/>
                <a:cs typeface="Times New Roman" panose="02020603050405020304" pitchFamily="18" charset="0"/>
              </a:rPr>
              <a:t>принтери са </a:t>
            </a:r>
            <a:r>
              <a:rPr lang="ru-RU" sz="2400" dirty="0">
                <a:latin typeface="Times New Roman" panose="02020603050405020304" pitchFamily="18" charset="0"/>
                <a:cs typeface="Times New Roman" panose="02020603050405020304" pitchFamily="18" charset="0"/>
              </a:rPr>
              <a:t>базирани на </a:t>
            </a:r>
            <a:r>
              <a:rPr lang="ru-RU" sz="2400" dirty="0" smtClean="0">
                <a:latin typeface="Times New Roman" panose="02020603050405020304" pitchFamily="18" charset="0"/>
                <a:cs typeface="Times New Roman" panose="02020603050405020304" pitchFamily="18" charset="0"/>
              </a:rPr>
              <a:t>технологията </a:t>
            </a:r>
            <a:r>
              <a:rPr lang="ru-RU" sz="2400" dirty="0">
                <a:latin typeface="Times New Roman" panose="02020603050405020304" pitchFamily="18" charset="0"/>
                <a:cs typeface="Times New Roman" panose="02020603050405020304" pitchFamily="18" charset="0"/>
              </a:rPr>
              <a:t>използвана за </a:t>
            </a:r>
            <a:r>
              <a:rPr lang="ru-RU" sz="2400" dirty="0" smtClean="0">
                <a:latin typeface="Times New Roman" panose="02020603050405020304" pitchFamily="18" charset="0"/>
                <a:cs typeface="Times New Roman" panose="02020603050405020304" pitchFamily="18" charset="0"/>
              </a:rPr>
              <a:t>първи </a:t>
            </a:r>
            <a:r>
              <a:rPr lang="ru-RU" sz="2400" dirty="0">
                <a:latin typeface="Times New Roman" panose="02020603050405020304" pitchFamily="18" charset="0"/>
                <a:cs typeface="Times New Roman" panose="02020603050405020304" pitchFamily="18" charset="0"/>
              </a:rPr>
              <a:t>път при копирните машини. Този процес известен като електро </a:t>
            </a:r>
            <a:r>
              <a:rPr lang="ru-RU" sz="2400" dirty="0" smtClean="0">
                <a:latin typeface="Times New Roman" panose="02020603050405020304" pitchFamily="18" charset="0"/>
                <a:cs typeface="Times New Roman" panose="02020603050405020304" pitchFamily="18" charset="0"/>
              </a:rPr>
              <a:t>фотография е </a:t>
            </a:r>
            <a:r>
              <a:rPr lang="ru-RU" sz="2400" dirty="0">
                <a:latin typeface="Times New Roman" panose="02020603050405020304" pitchFamily="18" charset="0"/>
                <a:cs typeface="Times New Roman" panose="02020603050405020304" pitchFamily="18" charset="0"/>
              </a:rPr>
              <a:t>изобретен през 1938 и разработен от Xerox и Canon в края на 80те. Има както черно-бели, така и цветни лазерни принтери.</a:t>
            </a:r>
          </a:p>
          <a:p>
            <a:pPr algn="just"/>
            <a:r>
              <a:rPr lang="ru-RU" sz="2400" dirty="0">
                <a:latin typeface="Times New Roman" panose="02020603050405020304" pitchFamily="18" charset="0"/>
                <a:cs typeface="Times New Roman" panose="02020603050405020304" pitchFamily="18" charset="0"/>
              </a:rPr>
              <a:t>Предимствата – високата скорост на печат, комбинирана с превъзходно качество, ниска цената на всяко копие.</a:t>
            </a:r>
          </a:p>
          <a:p>
            <a:pPr algn="just"/>
            <a:r>
              <a:rPr lang="ru-RU" sz="2400" dirty="0">
                <a:latin typeface="Times New Roman" panose="02020603050405020304" pitchFamily="18" charset="0"/>
                <a:cs typeface="Times New Roman" panose="02020603050405020304" pitchFamily="18" charset="0"/>
              </a:rPr>
              <a:t>Недостатъците – високата цена на самите устройства, необходимостта от замяна на отпечатващия барабан след определено време и цикли на работа, както и на тонер касетите след свършване на тонера в тях, които са скъпи.</a:t>
            </a:r>
          </a:p>
          <a:p>
            <a:pPr algn="just"/>
            <a:endParaRPr lang="ru-RU" dirty="0"/>
          </a:p>
          <a:p>
            <a:endParaRPr lang="ru-RU" dirty="0"/>
          </a:p>
          <a:p>
            <a:endParaRPr lang="ru-RU" dirty="0"/>
          </a:p>
          <a:p>
            <a:endParaRPr lang="en-US" dirty="0"/>
          </a:p>
        </p:txBody>
      </p:sp>
      <p:pic>
        <p:nvPicPr>
          <p:cNvPr id="4" name="Picture 3"/>
          <p:cNvPicPr>
            <a:picLocks noChangeAspect="1"/>
          </p:cNvPicPr>
          <p:nvPr/>
        </p:nvPicPr>
        <p:blipFill>
          <a:blip r:embed="rId2"/>
          <a:stretch>
            <a:fillRect/>
          </a:stretch>
        </p:blipFill>
        <p:spPr>
          <a:xfrm>
            <a:off x="8290814" y="2819151"/>
            <a:ext cx="3651936" cy="3539815"/>
          </a:xfrm>
          <a:prstGeom prst="rect">
            <a:avLst/>
          </a:prstGeom>
        </p:spPr>
      </p:pic>
    </p:spTree>
    <p:extLst>
      <p:ext uri="{BB962C8B-B14F-4D97-AF65-F5344CB8AC3E}">
        <p14:creationId xmlns:p14="http://schemas.microsoft.com/office/powerpoint/2010/main" val="128201238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dirty="0">
                <a:latin typeface="Times New Roman" panose="02020603050405020304" pitchFamily="18" charset="0"/>
                <a:cs typeface="Times New Roman" panose="02020603050405020304" pitchFamily="18" charset="0"/>
              </a:rPr>
              <a:t>Мултимедиен </a:t>
            </a:r>
            <a:r>
              <a:rPr lang="ru-RU" dirty="0" smtClean="0">
                <a:latin typeface="Times New Roman" panose="02020603050405020304" pitchFamily="18" charset="0"/>
                <a:cs typeface="Times New Roman" panose="02020603050405020304" pitchFamily="18" charset="0"/>
              </a:rPr>
              <a:t>проектор</a:t>
            </a:r>
            <a:endParaRPr lang="en-US" dirty="0"/>
          </a:p>
        </p:txBody>
      </p:sp>
      <p:sp>
        <p:nvSpPr>
          <p:cNvPr id="3" name="Content Placeholder 2"/>
          <p:cNvSpPr>
            <a:spLocks noGrp="1"/>
          </p:cNvSpPr>
          <p:nvPr>
            <p:ph idx="1"/>
          </p:nvPr>
        </p:nvSpPr>
        <p:spPr>
          <a:xfrm>
            <a:off x="0" y="2524836"/>
            <a:ext cx="7847463" cy="4333164"/>
          </a:xfrm>
        </p:spPr>
        <p:txBody>
          <a:bodyPr>
            <a:normAutofit/>
          </a:bodyPr>
          <a:lstStyle/>
          <a:p>
            <a:pPr algn="just"/>
            <a:r>
              <a:rPr lang="ru-RU" sz="2400" dirty="0">
                <a:latin typeface="Times New Roman" panose="02020603050405020304" pitchFamily="18" charset="0"/>
                <a:cs typeface="Times New Roman" panose="02020603050405020304" pitchFamily="18" charset="0"/>
              </a:rPr>
              <a:t>Работата на всеки мултимедиен проектор, неговите характеристики и особености, предимства и недостатъци, обичайно се свързват с неговия дизайн, т.е с технологията по която е произведен и начина на преобразуване на бялата светлина от лампата на проектора в цветно изображения</a:t>
            </a:r>
            <a:r>
              <a:rPr lang="ru-RU" sz="2400" dirty="0" smtClean="0">
                <a:latin typeface="Times New Roman" panose="02020603050405020304" pitchFamily="18" charset="0"/>
                <a:cs typeface="Times New Roman" panose="02020603050405020304" pitchFamily="18" charset="0"/>
              </a:rPr>
              <a:t>.</a:t>
            </a:r>
          </a:p>
          <a:p>
            <a:pPr algn="just"/>
            <a:r>
              <a:rPr lang="ru-RU" sz="2400" dirty="0" smtClean="0">
                <a:latin typeface="Times New Roman" panose="02020603050405020304" pitchFamily="18" charset="0"/>
                <a:cs typeface="Times New Roman" panose="02020603050405020304" pitchFamily="18" charset="0"/>
              </a:rPr>
              <a:t>Има два вида проектори</a:t>
            </a:r>
            <a:r>
              <a:rPr lang="bg-BG" sz="2400" dirty="0" smtClean="0">
                <a:latin typeface="Times New Roman" panose="02020603050405020304" pitchFamily="18" charset="0"/>
                <a:cs typeface="Times New Roman" panose="02020603050405020304" pitchFamily="18" charset="0"/>
              </a:rPr>
              <a:t>:</a:t>
            </a:r>
          </a:p>
          <a:p>
            <a:pPr algn="just">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LCD</a:t>
            </a:r>
            <a:endParaRPr lang="bg-BG" sz="2400"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DLP</a:t>
            </a:r>
            <a:endParaRPr lang="ru-RU" sz="2400" dirty="0">
              <a:latin typeface="Times New Roman" panose="02020603050405020304" pitchFamily="18" charset="0"/>
              <a:cs typeface="Times New Roman" panose="02020603050405020304" pitchFamily="18" charset="0"/>
            </a:endParaRPr>
          </a:p>
          <a:p>
            <a:endParaRPr lang="ru-RU" dirty="0"/>
          </a:p>
          <a:p>
            <a:endParaRPr lang="en-US" dirty="0"/>
          </a:p>
        </p:txBody>
      </p:sp>
    </p:spTree>
    <p:extLst>
      <p:ext uri="{BB962C8B-B14F-4D97-AF65-F5344CB8AC3E}">
        <p14:creationId xmlns:p14="http://schemas.microsoft.com/office/powerpoint/2010/main" val="414364096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LCD</a:t>
            </a:r>
            <a:r>
              <a:rPr lang="bg-BG" dirty="0" smtClean="0">
                <a:latin typeface="Times New Roman" panose="02020603050405020304" pitchFamily="18" charset="0"/>
                <a:cs typeface="Times New Roman" panose="02020603050405020304" pitchFamily="18" charset="0"/>
              </a:rPr>
              <a:t> проектор</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2330544"/>
            <a:ext cx="12192000" cy="4527455"/>
          </a:xfrm>
        </p:spPr>
        <p:txBody>
          <a:bodyPr>
            <a:normAutofit/>
          </a:bodyPr>
          <a:lstStyle/>
          <a:p>
            <a:pPr algn="just"/>
            <a:r>
              <a:rPr lang="ru-RU" sz="2400" dirty="0">
                <a:latin typeface="Times New Roman" panose="02020603050405020304" pitchFamily="18" charset="0"/>
                <a:cs typeface="Times New Roman" panose="02020603050405020304" pitchFamily="18" charset="0"/>
              </a:rPr>
              <a:t>Бялата светлина от лампата на проектора преминава през оптични филтри, наречени "двуцветни огледала", които я разлагат на основните цветове. Те позволяват само конкретна </a:t>
            </a:r>
            <a:r>
              <a:rPr lang="ru-RU" sz="2400" dirty="0" smtClean="0">
                <a:latin typeface="Times New Roman" panose="02020603050405020304" pitchFamily="18" charset="0"/>
                <a:cs typeface="Times New Roman" panose="02020603050405020304" pitchFamily="18" charset="0"/>
              </a:rPr>
              <a:t>светлина </a:t>
            </a:r>
            <a:r>
              <a:rPr lang="ru-RU" sz="2400" dirty="0">
                <a:latin typeface="Times New Roman" panose="02020603050405020304" pitchFamily="18" charset="0"/>
                <a:cs typeface="Times New Roman" panose="02020603050405020304" pitchFamily="18" charset="0"/>
              </a:rPr>
              <a:t>с определен </a:t>
            </a:r>
            <a:r>
              <a:rPr lang="ru-RU" sz="2400" dirty="0" smtClean="0">
                <a:latin typeface="Times New Roman" panose="02020603050405020304" pitchFamily="18" charset="0"/>
                <a:cs typeface="Times New Roman" panose="02020603050405020304" pitchFamily="18" charset="0"/>
              </a:rPr>
              <a:t>цвят </a:t>
            </a:r>
            <a:r>
              <a:rPr lang="ru-RU" sz="2400" dirty="0">
                <a:latin typeface="Times New Roman" panose="02020603050405020304" pitchFamily="18" charset="0"/>
                <a:cs typeface="Times New Roman" panose="02020603050405020304" pitchFamily="18" charset="0"/>
              </a:rPr>
              <a:t>да преминава през всяко огледало, като същевременно </a:t>
            </a:r>
            <a:r>
              <a:rPr lang="ru-RU" sz="2400" dirty="0" smtClean="0">
                <a:latin typeface="Times New Roman" panose="02020603050405020304" pitchFamily="18" charset="0"/>
                <a:cs typeface="Times New Roman" panose="02020603050405020304" pitchFamily="18" charset="0"/>
              </a:rPr>
              <a:t>другите цветове се </a:t>
            </a:r>
            <a:r>
              <a:rPr lang="ru-RU" sz="2400" dirty="0">
                <a:latin typeface="Times New Roman" panose="02020603050405020304" pitchFamily="18" charset="0"/>
                <a:cs typeface="Times New Roman" panose="02020603050405020304" pitchFamily="18" charset="0"/>
              </a:rPr>
              <a:t>отразяват. По този начин бялата светлина от лампата на проектора се разделя на червен, зелен и син цвят, които се насочват към LCD панели. LCD проекторите използват три малки течнокристални панела, които съдържат хиляди (или милиони) течни кристали, предназначени да пропускат, а не да отразяват светлината. Трите панела обикновено се използват по един за основните цветове, като всеки е натоварен със задачата да създаде едноцветно изображение.</a:t>
            </a:r>
          </a:p>
          <a:p>
            <a:pPr algn="just"/>
            <a:endParaRPr lang="ru-RU" dirty="0"/>
          </a:p>
          <a:p>
            <a:pPr algn="just"/>
            <a:endParaRPr lang="en-US" dirty="0"/>
          </a:p>
        </p:txBody>
      </p:sp>
    </p:spTree>
    <p:extLst>
      <p:ext uri="{BB962C8B-B14F-4D97-AF65-F5344CB8AC3E}">
        <p14:creationId xmlns:p14="http://schemas.microsoft.com/office/powerpoint/2010/main" val="231999124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160060" y="0"/>
            <a:ext cx="10010483" cy="6858000"/>
          </a:xfrm>
          <a:prstGeom prst="rect">
            <a:avLst/>
          </a:prstGeom>
        </p:spPr>
      </p:pic>
    </p:spTree>
    <p:extLst>
      <p:ext uri="{BB962C8B-B14F-4D97-AF65-F5344CB8AC3E}">
        <p14:creationId xmlns:p14="http://schemas.microsoft.com/office/powerpoint/2010/main" val="186721423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DLP</a:t>
            </a:r>
            <a:r>
              <a:rPr lang="bg-BG" dirty="0" smtClean="0">
                <a:latin typeface="Times New Roman" panose="02020603050405020304" pitchFamily="18" charset="0"/>
                <a:cs typeface="Times New Roman" panose="02020603050405020304" pitchFamily="18" charset="0"/>
              </a:rPr>
              <a:t> проектор</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2361063"/>
            <a:ext cx="12192000" cy="4496937"/>
          </a:xfrm>
        </p:spPr>
        <p:txBody>
          <a:bodyPr>
            <a:normAutofit/>
          </a:bodyPr>
          <a:lstStyle/>
          <a:p>
            <a:pPr algn="just"/>
            <a:r>
              <a:rPr lang="ru-RU" sz="2400" dirty="0">
                <a:latin typeface="Times New Roman" panose="02020603050405020304" pitchFamily="18" charset="0"/>
                <a:cs typeface="Times New Roman" panose="02020603050405020304" pitchFamily="18" charset="0"/>
              </a:rPr>
              <a:t>DLP </a:t>
            </a:r>
            <a:r>
              <a:rPr lang="ru-RU" sz="2400" dirty="0" smtClean="0">
                <a:latin typeface="Times New Roman" panose="02020603050405020304" pitchFamily="18" charset="0"/>
                <a:cs typeface="Times New Roman" panose="02020603050405020304" pitchFamily="18" charset="0"/>
              </a:rPr>
              <a:t>е </a:t>
            </a:r>
            <a:r>
              <a:rPr lang="ru-RU" sz="2400" dirty="0">
                <a:latin typeface="Times New Roman" panose="02020603050405020304" pitchFamily="18" charset="0"/>
                <a:cs typeface="Times New Roman" panose="02020603050405020304" pitchFamily="18" charset="0"/>
              </a:rPr>
              <a:t>съкращение от цифрова обработка на светлината. DLP технологията е продукт на най-великите умове на американската компания Texas Instruments. Базирана е на използването на </a:t>
            </a:r>
            <a:r>
              <a:rPr lang="ru-RU" sz="2400" dirty="0" smtClean="0">
                <a:latin typeface="Times New Roman" panose="02020603050405020304" pitchFamily="18" charset="0"/>
                <a:cs typeface="Times New Roman" panose="02020603050405020304" pitchFamily="18" charset="0"/>
              </a:rPr>
              <a:t>DMD </a:t>
            </a:r>
            <a:r>
              <a:rPr lang="ru-RU" sz="2400" dirty="0">
                <a:latin typeface="Times New Roman" panose="02020603050405020304" pitchFamily="18" charset="0"/>
                <a:cs typeface="Times New Roman" panose="02020603050405020304" pitchFamily="18" charset="0"/>
              </a:rPr>
              <a:t>чип, разработен от д-р Лари Хорнбек през 1987 г. Първият DLP базиран проектор е въведен от Digital Projection Ltd през 1997 г., като двете компании получават наградата "Еми" за изключителни постижения </a:t>
            </a:r>
            <a:r>
              <a:rPr lang="ru-RU" sz="2400" dirty="0" smtClean="0">
                <a:latin typeface="Times New Roman" panose="02020603050405020304" pitchFamily="18" charset="0"/>
                <a:cs typeface="Times New Roman" panose="02020603050405020304" pitchFamily="18" charset="0"/>
              </a:rPr>
              <a:t>през </a:t>
            </a:r>
            <a:r>
              <a:rPr lang="ru-RU" sz="2400" dirty="0">
                <a:latin typeface="Times New Roman" panose="02020603050405020304" pitchFamily="18" charset="0"/>
                <a:cs typeface="Times New Roman" panose="02020603050405020304" pitchFamily="18" charset="0"/>
              </a:rPr>
              <a:t>1998 г. DLP се използва от традиционните дисплеи до медицински приложения, в сигурността, за промишлени цели и понастоящем д-р Хорнбек има 34 патента в тази област. Благодарение на DLP технологията се появяват: първото цифрово кино, първият портативен проектор, първите 720p и 1080 телевизори и проектори, първите 3D цифрово кино, 3D телевизия и 3D проектор, първият пико проектор и проектор с 40,000 лумена, първият интерактивен проектор, първият интегриран в мобилен телефон проектор и т.н.</a:t>
            </a:r>
          </a:p>
          <a:p>
            <a:endParaRPr lang="ru-RU" dirty="0"/>
          </a:p>
          <a:p>
            <a:endParaRPr lang="en-US" dirty="0"/>
          </a:p>
        </p:txBody>
      </p:sp>
    </p:spTree>
    <p:extLst>
      <p:ext uri="{BB962C8B-B14F-4D97-AF65-F5344CB8AC3E}">
        <p14:creationId xmlns:p14="http://schemas.microsoft.com/office/powerpoint/2010/main" val="297995109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64525" y="0"/>
            <a:ext cx="10099344" cy="6858000"/>
          </a:xfrm>
          <a:prstGeom prst="rect">
            <a:avLst/>
          </a:prstGeom>
        </p:spPr>
      </p:pic>
    </p:spTree>
    <p:extLst>
      <p:ext uri="{BB962C8B-B14F-4D97-AF65-F5344CB8AC3E}">
        <p14:creationId xmlns:p14="http://schemas.microsoft.com/office/powerpoint/2010/main" val="203078937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latin typeface="Times New Roman" panose="02020603050405020304" pitchFamily="18" charset="0"/>
                <a:cs typeface="Times New Roman" panose="02020603050405020304" pitchFamily="18" charset="0"/>
              </a:rPr>
              <a:t>Плотер</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2267688"/>
            <a:ext cx="12192000" cy="4590312"/>
          </a:xfrm>
        </p:spPr>
        <p:txBody>
          <a:bodyPr>
            <a:noAutofit/>
          </a:bodyPr>
          <a:lstStyle/>
          <a:p>
            <a:pPr algn="just"/>
            <a:r>
              <a:rPr lang="bg-BG" sz="2400" dirty="0" smtClean="0">
                <a:latin typeface="Times New Roman" panose="02020603050405020304" pitchFamily="18" charset="0"/>
                <a:cs typeface="Times New Roman" panose="02020603050405020304" pitchFamily="18" charset="0"/>
              </a:rPr>
              <a:t>У</a:t>
            </a:r>
            <a:r>
              <a:rPr lang="ru-RU" sz="2400" dirty="0" smtClean="0">
                <a:latin typeface="Times New Roman" panose="02020603050405020304" pitchFamily="18" charset="0"/>
                <a:cs typeface="Times New Roman" panose="02020603050405020304" pitchFamily="18" charset="0"/>
              </a:rPr>
              <a:t>стройство </a:t>
            </a:r>
            <a:r>
              <a:rPr lang="ru-RU" sz="2400" dirty="0">
                <a:latin typeface="Times New Roman" panose="02020603050405020304" pitchFamily="18" charset="0"/>
                <a:cs typeface="Times New Roman" panose="02020603050405020304" pitchFamily="18" charset="0"/>
              </a:rPr>
              <a:t>за автоматично чертане с висока прецизност на чертежи, диаграми, сложни чертежи, карти и друга графична информация на хартия до размер А0 или проследяваща </a:t>
            </a:r>
            <a:r>
              <a:rPr lang="ru-RU" sz="2400" dirty="0" smtClean="0">
                <a:latin typeface="Times New Roman" panose="02020603050405020304" pitchFamily="18" charset="0"/>
                <a:cs typeface="Times New Roman" panose="02020603050405020304" pitchFamily="18" charset="0"/>
              </a:rPr>
              <a:t>хартия. Плотерите </a:t>
            </a:r>
            <a:r>
              <a:rPr lang="ru-RU" sz="2400" dirty="0">
                <a:latin typeface="Times New Roman" panose="02020603050405020304" pitchFamily="18" charset="0"/>
                <a:cs typeface="Times New Roman" panose="02020603050405020304" pitchFamily="18" charset="0"/>
              </a:rPr>
              <a:t>обикновено комуникират с компютър чрез сериен, паралелен или SCSI интерфейс. Някои модели плотери имат вграден </a:t>
            </a:r>
            <a:r>
              <a:rPr lang="ru-RU" sz="2400" dirty="0" smtClean="0">
                <a:latin typeface="Times New Roman" panose="02020603050405020304" pitchFamily="18" charset="0"/>
                <a:cs typeface="Times New Roman" panose="02020603050405020304" pitchFamily="18" charset="0"/>
              </a:rPr>
              <a:t>буфер.</a:t>
            </a:r>
            <a:endParaRPr lang="ru-RU" sz="2400" dirty="0">
              <a:latin typeface="Times New Roman" panose="02020603050405020304" pitchFamily="18" charset="0"/>
              <a:cs typeface="Times New Roman" panose="02020603050405020304" pitchFamily="18" charset="0"/>
            </a:endParaRPr>
          </a:p>
          <a:p>
            <a:pPr algn="just"/>
            <a:r>
              <a:rPr lang="ru-RU" sz="2400" dirty="0">
                <a:latin typeface="Times New Roman" panose="02020603050405020304" pitchFamily="18" charset="0"/>
                <a:cs typeface="Times New Roman" panose="02020603050405020304" pitchFamily="18" charset="0"/>
              </a:rPr>
              <a:t>Първите плотери </a:t>
            </a:r>
            <a:r>
              <a:rPr lang="ru-RU" sz="2400" dirty="0" smtClean="0">
                <a:latin typeface="Times New Roman" panose="02020603050405020304" pitchFamily="18" charset="0"/>
                <a:cs typeface="Times New Roman" panose="02020603050405020304" pitchFamily="18" charset="0"/>
              </a:rPr>
              <a:t>от </a:t>
            </a:r>
            <a:r>
              <a:rPr lang="ru-RU" sz="2400" dirty="0">
                <a:latin typeface="Times New Roman" panose="02020603050405020304" pitchFamily="18" charset="0"/>
                <a:cs typeface="Times New Roman" panose="02020603050405020304" pitchFamily="18" charset="0"/>
              </a:rPr>
              <a:t>1959 </a:t>
            </a:r>
            <a:r>
              <a:rPr lang="ru-RU" sz="2400" dirty="0" smtClean="0">
                <a:latin typeface="Times New Roman" panose="02020603050405020304" pitchFamily="18" charset="0"/>
                <a:cs typeface="Times New Roman" panose="02020603050405020304" pitchFamily="18" charset="0"/>
              </a:rPr>
              <a:t>г. са </a:t>
            </a:r>
            <a:r>
              <a:rPr lang="ru-RU" sz="2400" dirty="0">
                <a:latin typeface="Times New Roman" panose="02020603050405020304" pitchFamily="18" charset="0"/>
                <a:cs typeface="Times New Roman" panose="02020603050405020304" pitchFamily="18" charset="0"/>
              </a:rPr>
              <a:t>работили на принципа на преместване на хартията с ролка, като по този начин осигуряват координатата X и координатата Y, осигурена от движението на писалката. Друг подход </a:t>
            </a:r>
            <a:r>
              <a:rPr lang="ru-RU" sz="2400" dirty="0" smtClean="0">
                <a:latin typeface="Times New Roman" panose="02020603050405020304" pitchFamily="18" charset="0"/>
                <a:cs typeface="Times New Roman" panose="02020603050405020304" pitchFamily="18" charset="0"/>
              </a:rPr>
              <a:t>е </a:t>
            </a:r>
            <a:r>
              <a:rPr lang="ru-RU" sz="2400" dirty="0">
                <a:latin typeface="Times New Roman" panose="02020603050405020304" pitchFamily="18" charset="0"/>
                <a:cs typeface="Times New Roman" panose="02020603050405020304" pitchFamily="18" charset="0"/>
              </a:rPr>
              <a:t>модернизиран компютърно управляван пантограф с химикалка като чертожен елемент. Недостатъкът на този метод беше, че той изискваше пространство, което да отговаря на чертаната зона. Но предимството на този метод, произтичащо от неговия недостатък, е лесно повишената точност на позициониране на писалката и съответно точността на самия чертеж, нанесен върху хартията. </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22918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latin typeface="Times New Roman" panose="02020603050405020304" pitchFamily="18" charset="0"/>
                <a:cs typeface="Times New Roman" panose="02020603050405020304" pitchFamily="18" charset="0"/>
              </a:rPr>
              <a:t>Има два вида плотери</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2240924"/>
            <a:ext cx="12192000" cy="4617076"/>
          </a:xfrm>
        </p:spPr>
        <p:txBody>
          <a:bodyPr>
            <a:noAutofit/>
          </a:bodyPr>
          <a:lstStyle/>
          <a:p>
            <a:pPr algn="just"/>
            <a:r>
              <a:rPr lang="bg-BG" sz="2000" dirty="0">
                <a:latin typeface="Times New Roman" panose="02020603050405020304" pitchFamily="18" charset="0"/>
                <a:cs typeface="Times New Roman" panose="02020603050405020304" pitchFamily="18" charset="0"/>
              </a:rPr>
              <a:t>Таблетни </a:t>
            </a:r>
            <a:r>
              <a:rPr lang="bg-BG" sz="2000" dirty="0" smtClean="0">
                <a:latin typeface="Times New Roman" panose="02020603050405020304" pitchFamily="18" charset="0"/>
                <a:cs typeface="Times New Roman" panose="02020603050405020304" pitchFamily="18" charset="0"/>
              </a:rPr>
              <a:t>плотери</a:t>
            </a:r>
          </a:p>
          <a:p>
            <a:pPr algn="just">
              <a:buFont typeface="Arial" panose="020B0604020202020204" pitchFamily="34" charset="0"/>
              <a:buChar char="•"/>
            </a:pPr>
            <a:r>
              <a:rPr lang="ru-RU" sz="2000" dirty="0">
                <a:latin typeface="Times New Roman" panose="02020603050405020304" pitchFamily="18" charset="0"/>
                <a:cs typeface="Times New Roman" panose="02020603050405020304" pitchFamily="18" charset="0"/>
              </a:rPr>
              <a:t>В плоските плотери носителят е фиксиран към плоска маса. Закрепването е или електростатично, вакуумно или механично чрез привличане на плочи за задържане на хартия към (електро) магнитите, монтирани на повърхността на масата. Не се изисква специална хартия. Главата се движи в две перпендикулярни посоки. Размерът на носителя е ограничен от размера на таблета</a:t>
            </a:r>
            <a:r>
              <a:rPr lang="ru-RU" sz="2000" dirty="0" smtClean="0">
                <a:latin typeface="Times New Roman" panose="02020603050405020304" pitchFamily="18" charset="0"/>
                <a:cs typeface="Times New Roman" panose="02020603050405020304" pitchFamily="18" charset="0"/>
              </a:rPr>
              <a:t>.</a:t>
            </a:r>
            <a:endParaRPr lang="bg-BG" sz="2000" dirty="0">
              <a:latin typeface="Times New Roman" panose="02020603050405020304" pitchFamily="18" charset="0"/>
              <a:cs typeface="Times New Roman" panose="02020603050405020304" pitchFamily="18" charset="0"/>
            </a:endParaRPr>
          </a:p>
          <a:p>
            <a:pPr algn="just"/>
            <a:r>
              <a:rPr lang="bg-BG" sz="2000" dirty="0">
                <a:latin typeface="Times New Roman" panose="02020603050405020304" pitchFamily="18" charset="0"/>
                <a:cs typeface="Times New Roman" panose="02020603050405020304" pitchFamily="18" charset="0"/>
              </a:rPr>
              <a:t>Електростатични плотери</a:t>
            </a:r>
          </a:p>
          <a:p>
            <a:pPr algn="just">
              <a:buFont typeface="Arial" panose="020B0604020202020204" pitchFamily="34" charset="0"/>
              <a:buChar char="•"/>
            </a:pPr>
            <a:r>
              <a:rPr lang="ru-RU" sz="2000" dirty="0">
                <a:latin typeface="Times New Roman" panose="02020603050405020304" pitchFamily="18" charset="0"/>
                <a:cs typeface="Times New Roman" panose="02020603050405020304" pitchFamily="18" charset="0"/>
              </a:rPr>
              <a:t>Електростатичните плотери работят на безшоков електрографски растер принцип. Специална диелектрична хартия се движи под електростатична глава, съдържаща игли с плътност 40-100 на см. Към иглите се прилага отрицателно напрежение, в резултат на което диелектричната хартия се зарежда и върху нея се създава латентно изображение. След това хартията преминава през кутия, където върху нея се напръсква положително зареден тонер. Заредените зони привличат частици тонер. В цветовите системи този процес се повтаря за всеки от основните субтрактивни цветове - циан, пурпурен и жълт, както и черен</a:t>
            </a:r>
            <a:r>
              <a:rPr lang="ru-RU" sz="2000" dirty="0" smtClean="0">
                <a:latin typeface="Times New Roman" panose="02020603050405020304" pitchFamily="18" charset="0"/>
                <a:cs typeface="Times New Roman" panose="02020603050405020304" pitchFamily="18" charset="0"/>
              </a:rPr>
              <a:t>.</a:t>
            </a:r>
            <a:endParaRPr lang="ru-RU"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6774924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Text Placeholder 2"/>
          <p:cNvSpPr>
            <a:spLocks noGrp="1"/>
          </p:cNvSpPr>
          <p:nvPr>
            <p:ph type="body" idx="1"/>
          </p:nvPr>
        </p:nvSpPr>
        <p:spPr/>
        <p:txBody>
          <a:bodyPr/>
          <a:lstStyle/>
          <a:p>
            <a:pPr algn="ctr"/>
            <a:r>
              <a:rPr lang="bg-BG" dirty="0" smtClean="0">
                <a:solidFill>
                  <a:schemeClr val="tx1"/>
                </a:solidFill>
              </a:rPr>
              <a:t>Таблетен плотер</a:t>
            </a:r>
            <a:endParaRPr lang="en-US" dirty="0">
              <a:solidFill>
                <a:schemeClr val="tx1"/>
              </a:solidFill>
            </a:endParaRPr>
          </a:p>
        </p:txBody>
      </p:sp>
      <p:pic>
        <p:nvPicPr>
          <p:cNvPr id="7" name="Content Placeholder 6"/>
          <p:cNvPicPr>
            <a:picLocks noGrp="1" noChangeAspect="1"/>
          </p:cNvPicPr>
          <p:nvPr>
            <p:ph sz="half" idx="2"/>
          </p:nvPr>
        </p:nvPicPr>
        <p:blipFill rotWithShape="1">
          <a:blip r:embed="rId2"/>
          <a:srcRect t="7016"/>
          <a:stretch/>
        </p:blipFill>
        <p:spPr>
          <a:xfrm>
            <a:off x="1989408" y="3182302"/>
            <a:ext cx="3159124" cy="2643732"/>
          </a:xfrm>
          <a:prstGeom prst="rect">
            <a:avLst/>
          </a:prstGeom>
        </p:spPr>
      </p:pic>
      <p:sp>
        <p:nvSpPr>
          <p:cNvPr id="5" name="Text Placeholder 4"/>
          <p:cNvSpPr>
            <a:spLocks noGrp="1"/>
          </p:cNvSpPr>
          <p:nvPr>
            <p:ph type="body" sz="quarter" idx="3"/>
          </p:nvPr>
        </p:nvSpPr>
        <p:spPr/>
        <p:txBody>
          <a:bodyPr/>
          <a:lstStyle/>
          <a:p>
            <a:pPr algn="ctr"/>
            <a:r>
              <a:rPr lang="bg-BG" dirty="0" smtClean="0">
                <a:solidFill>
                  <a:schemeClr val="tx1"/>
                </a:solidFill>
              </a:rPr>
              <a:t>Електростатичен плотер</a:t>
            </a:r>
            <a:endParaRPr lang="bg-BG" dirty="0">
              <a:solidFill>
                <a:schemeClr val="tx1"/>
              </a:solidFill>
            </a:endParaRPr>
          </a:p>
        </p:txBody>
      </p:sp>
      <p:pic>
        <p:nvPicPr>
          <p:cNvPr id="8" name="Content Placeholder 7"/>
          <p:cNvPicPr>
            <a:picLocks noGrp="1" noChangeAspect="1"/>
          </p:cNvPicPr>
          <p:nvPr>
            <p:ph sz="quarter" idx="4"/>
          </p:nvPr>
        </p:nvPicPr>
        <p:blipFill>
          <a:blip r:embed="rId3"/>
          <a:stretch>
            <a:fillRect/>
          </a:stretch>
        </p:blipFill>
        <p:spPr>
          <a:xfrm>
            <a:off x="6718036" y="3187700"/>
            <a:ext cx="3805766" cy="2854325"/>
          </a:xfrm>
          <a:prstGeom prst="rect">
            <a:avLst/>
          </a:prstGeom>
        </p:spPr>
      </p:pic>
    </p:spTree>
    <p:extLst>
      <p:ext uri="{BB962C8B-B14F-4D97-AF65-F5344CB8AC3E}">
        <p14:creationId xmlns:p14="http://schemas.microsoft.com/office/powerpoint/2010/main" val="251844354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latin typeface="Times New Roman" panose="02020603050405020304" pitchFamily="18" charset="0"/>
                <a:cs typeface="Times New Roman" panose="02020603050405020304" pitchFamily="18" charset="0"/>
              </a:rPr>
              <a:t>Слушалки </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2388358"/>
            <a:ext cx="12192000" cy="4469641"/>
          </a:xfrm>
        </p:spPr>
        <p:txBody>
          <a:bodyPr>
            <a:normAutofit fontScale="92500" lnSpcReduction="20000"/>
          </a:bodyPr>
          <a:lstStyle/>
          <a:p>
            <a:pPr algn="just"/>
            <a:r>
              <a:rPr lang="el-GR" sz="2600" dirty="0">
                <a:latin typeface="Times New Roman" panose="02020603050405020304" pitchFamily="18" charset="0"/>
                <a:cs typeface="Times New Roman" panose="02020603050405020304" pitchFamily="18" charset="0"/>
              </a:rPr>
              <a:t>Π</a:t>
            </a:r>
            <a:r>
              <a:rPr lang="en-US" sz="2600" dirty="0">
                <a:latin typeface="Times New Roman" panose="02020603050405020304" pitchFamily="18" charset="0"/>
                <a:cs typeface="Times New Roman" panose="02020603050405020304" pitchFamily="18" charset="0"/>
              </a:rPr>
              <a:t>pe</a:t>
            </a:r>
            <a:r>
              <a:rPr lang="bg-BG" sz="2600" dirty="0">
                <a:latin typeface="Times New Roman" panose="02020603050405020304" pitchFamily="18" charset="0"/>
                <a:cs typeface="Times New Roman" panose="02020603050405020304" pitchFamily="18" charset="0"/>
              </a:rPr>
              <a:t>з 1891 г. ф</a:t>
            </a:r>
            <a:r>
              <a:rPr lang="en-US" sz="2600" dirty="0">
                <a:latin typeface="Times New Roman" panose="02020603050405020304" pitchFamily="18" charset="0"/>
                <a:cs typeface="Times New Roman" panose="02020603050405020304" pitchFamily="18" charset="0"/>
              </a:rPr>
              <a:t>pe</a:t>
            </a:r>
            <a:r>
              <a:rPr lang="bg-BG" sz="2600" dirty="0">
                <a:latin typeface="Times New Roman" panose="02020603050405020304" pitchFamily="18" charset="0"/>
                <a:cs typeface="Times New Roman" panose="02020603050405020304" pitchFamily="18" charset="0"/>
              </a:rPr>
              <a:t>н</a:t>
            </a:r>
            <a:r>
              <a:rPr lang="en-US" sz="2600" dirty="0">
                <a:latin typeface="Times New Roman" panose="02020603050405020304" pitchFamily="18" charset="0"/>
                <a:cs typeface="Times New Roman" panose="02020603050405020304" pitchFamily="18" charset="0"/>
              </a:rPr>
              <a:t>cĸ</a:t>
            </a:r>
            <a:r>
              <a:rPr lang="bg-BG" sz="2600" dirty="0">
                <a:latin typeface="Times New Roman" panose="02020603050405020304" pitchFamily="18" charset="0"/>
                <a:cs typeface="Times New Roman" panose="02020603050405020304" pitchFamily="18" charset="0"/>
              </a:rPr>
              <a:t>ият инж</a:t>
            </a:r>
            <a:r>
              <a:rPr lang="en-US" sz="2600" dirty="0">
                <a:latin typeface="Times New Roman" panose="02020603050405020304" pitchFamily="18" charset="0"/>
                <a:cs typeface="Times New Roman" panose="02020603050405020304" pitchFamily="18" charset="0"/>
              </a:rPr>
              <a:t>e</a:t>
            </a:r>
            <a:r>
              <a:rPr lang="bg-BG" sz="2600" dirty="0">
                <a:latin typeface="Times New Roman" panose="02020603050405020304" pitchFamily="18" charset="0"/>
                <a:cs typeface="Times New Roman" panose="02020603050405020304" pitchFamily="18" charset="0"/>
              </a:rPr>
              <a:t>н</a:t>
            </a:r>
            <a:r>
              <a:rPr lang="en-US" sz="2600" dirty="0">
                <a:latin typeface="Times New Roman" panose="02020603050405020304" pitchFamily="18" charset="0"/>
                <a:cs typeface="Times New Roman" panose="02020603050405020304" pitchFamily="18" charset="0"/>
              </a:rPr>
              <a:t>ep </a:t>
            </a:r>
            <a:r>
              <a:rPr lang="bg-BG" sz="2600" dirty="0">
                <a:latin typeface="Times New Roman" panose="02020603050405020304" pitchFamily="18" charset="0"/>
                <a:cs typeface="Times New Roman" panose="02020603050405020304" pitchFamily="18" charset="0"/>
              </a:rPr>
              <a:t>Ъ</a:t>
            </a:r>
            <a:r>
              <a:rPr lang="en-US" sz="2600" dirty="0">
                <a:latin typeface="Times New Roman" panose="02020603050405020304" pitchFamily="18" charset="0"/>
                <a:cs typeface="Times New Roman" panose="02020603050405020304" pitchFamily="18" charset="0"/>
              </a:rPr>
              <a:t>p</a:t>
            </a:r>
            <a:r>
              <a:rPr lang="bg-BG" sz="2600" dirty="0">
                <a:latin typeface="Times New Roman" panose="02020603050405020304" pitchFamily="18" charset="0"/>
                <a:cs typeface="Times New Roman" panose="02020603050405020304" pitchFamily="18" charset="0"/>
              </a:rPr>
              <a:t>н</a:t>
            </a:r>
            <a:r>
              <a:rPr lang="en-US" sz="2600" dirty="0">
                <a:latin typeface="Times New Roman" panose="02020603050405020304" pitchFamily="18" charset="0"/>
                <a:cs typeface="Times New Roman" panose="02020603050405020304" pitchFamily="18" charset="0"/>
              </a:rPr>
              <a:t>ec</a:t>
            </a:r>
            <a:r>
              <a:rPr lang="bg-BG" sz="2600" dirty="0">
                <a:latin typeface="Times New Roman" panose="02020603050405020304" pitchFamily="18" charset="0"/>
                <a:cs typeface="Times New Roman" panose="02020603050405020304" pitchFamily="18" charset="0"/>
              </a:rPr>
              <a:t>т </a:t>
            </a:r>
            <a:r>
              <a:rPr lang="en-US" sz="2600" dirty="0" err="1">
                <a:latin typeface="Times New Roman" panose="02020603050405020304" pitchFamily="18" charset="0"/>
                <a:cs typeface="Times New Roman" panose="02020603050405020304" pitchFamily="18" charset="0"/>
              </a:rPr>
              <a:t>Mepĸa</a:t>
            </a:r>
            <a:r>
              <a:rPr lang="bg-BG" sz="2600" dirty="0">
                <a:latin typeface="Times New Roman" panose="02020603050405020304" pitchFamily="18" charset="0"/>
                <a:cs typeface="Times New Roman" panose="02020603050405020304" pitchFamily="18" charset="0"/>
              </a:rPr>
              <a:t>ди</a:t>
            </a:r>
            <a:r>
              <a:rPr lang="en-US" sz="2600" dirty="0" smtClean="0">
                <a:latin typeface="Times New Roman" panose="02020603050405020304" pitchFamily="18" charset="0"/>
                <a:cs typeface="Times New Roman" panose="02020603050405020304" pitchFamily="18" charset="0"/>
              </a:rPr>
              <a:t>ep </a:t>
            </a:r>
            <a:r>
              <a:rPr lang="bg-BG" sz="2600" dirty="0">
                <a:latin typeface="Times New Roman" panose="02020603050405020304" pitchFamily="18" charset="0"/>
                <a:cs typeface="Times New Roman" panose="02020603050405020304" pitchFamily="18" charset="0"/>
              </a:rPr>
              <a:t>п</a:t>
            </a:r>
            <a:r>
              <a:rPr lang="en-US" sz="2600" dirty="0">
                <a:latin typeface="Times New Roman" panose="02020603050405020304" pitchFamily="18" charset="0"/>
                <a:cs typeface="Times New Roman" panose="02020603050405020304" pitchFamily="18" charset="0"/>
              </a:rPr>
              <a:t>a</a:t>
            </a:r>
            <a:r>
              <a:rPr lang="bg-BG" sz="2600" dirty="0">
                <a:latin typeface="Times New Roman" panose="02020603050405020304" pitchFamily="18" charset="0"/>
                <a:cs typeface="Times New Roman" panose="02020603050405020304" pitchFamily="18" charset="0"/>
              </a:rPr>
              <a:t>т</a:t>
            </a:r>
            <a:r>
              <a:rPr lang="en-US" sz="2600" dirty="0">
                <a:latin typeface="Times New Roman" panose="02020603050405020304" pitchFamily="18" charset="0"/>
                <a:cs typeface="Times New Roman" panose="02020603050405020304" pitchFamily="18" charset="0"/>
              </a:rPr>
              <a:t>e</a:t>
            </a:r>
            <a:r>
              <a:rPr lang="bg-BG" sz="2600" dirty="0">
                <a:latin typeface="Times New Roman" panose="02020603050405020304" pitchFamily="18" charset="0"/>
                <a:cs typeface="Times New Roman" panose="02020603050405020304" pitchFamily="18" charset="0"/>
              </a:rPr>
              <a:t>нт</a:t>
            </a:r>
            <a:r>
              <a:rPr lang="en-US" sz="2600" dirty="0">
                <a:latin typeface="Times New Roman" panose="02020603050405020304" pitchFamily="18" charset="0"/>
                <a:cs typeface="Times New Roman" panose="02020603050405020304" pitchFamily="18" charset="0"/>
              </a:rPr>
              <a:t>o</a:t>
            </a:r>
            <a:r>
              <a:rPr lang="bg-BG" sz="2600" dirty="0">
                <a:latin typeface="Times New Roman" panose="02020603050405020304" pitchFamily="18" charset="0"/>
                <a:cs typeface="Times New Roman" panose="02020603050405020304" pitchFamily="18" charset="0"/>
              </a:rPr>
              <a:t>в</a:t>
            </a:r>
            <a:r>
              <a:rPr lang="en-US" sz="2600" dirty="0">
                <a:latin typeface="Times New Roman" panose="02020603050405020304" pitchFamily="18" charset="0"/>
                <a:cs typeface="Times New Roman" panose="02020603050405020304" pitchFamily="18" charset="0"/>
              </a:rPr>
              <a:t>a </a:t>
            </a:r>
            <a:r>
              <a:rPr lang="bg-BG" sz="2600" dirty="0">
                <a:latin typeface="Times New Roman" panose="02020603050405020304" pitchFamily="18" charset="0"/>
                <a:cs typeface="Times New Roman" panose="02020603050405020304" pitchFamily="18" charset="0"/>
              </a:rPr>
              <a:t>н</a:t>
            </a:r>
            <a:r>
              <a:rPr lang="en-US" sz="2600" dirty="0">
                <a:latin typeface="Times New Roman" panose="02020603050405020304" pitchFamily="18" charset="0"/>
                <a:cs typeface="Times New Roman" panose="02020603050405020304" pitchFamily="18" charset="0"/>
              </a:rPr>
              <a:t>a</a:t>
            </a:r>
            <a:r>
              <a:rPr lang="bg-BG" sz="2600" dirty="0">
                <a:latin typeface="Times New Roman" panose="02020603050405020304" pitchFamily="18" charset="0"/>
                <a:cs typeface="Times New Roman" panose="02020603050405020304" pitchFamily="18" charset="0"/>
              </a:rPr>
              <a:t>б</a:t>
            </a:r>
            <a:r>
              <a:rPr lang="en-US" sz="2600" dirty="0">
                <a:latin typeface="Times New Roman" panose="02020603050405020304" pitchFamily="18" charset="0"/>
                <a:cs typeface="Times New Roman" panose="02020603050405020304" pitchFamily="18" charset="0"/>
              </a:rPr>
              <a:t>op o</a:t>
            </a:r>
            <a:r>
              <a:rPr lang="bg-BG" sz="2600" dirty="0">
                <a:latin typeface="Times New Roman" panose="02020603050405020304" pitchFamily="18" charset="0"/>
                <a:cs typeface="Times New Roman" panose="02020603050405020304" pitchFamily="18" charset="0"/>
              </a:rPr>
              <a:t>т </a:t>
            </a:r>
            <a:r>
              <a:rPr lang="en-US" sz="2600" dirty="0">
                <a:latin typeface="Times New Roman" panose="02020603050405020304" pitchFamily="18" charset="0"/>
                <a:cs typeface="Times New Roman" panose="02020603050405020304" pitchFamily="18" charset="0"/>
              </a:rPr>
              <a:t>c</a:t>
            </a:r>
            <a:r>
              <a:rPr lang="bg-BG" sz="2600" dirty="0">
                <a:latin typeface="Times New Roman" panose="02020603050405020304" pitchFamily="18" charset="0"/>
                <a:cs typeface="Times New Roman" panose="02020603050405020304" pitchFamily="18" charset="0"/>
              </a:rPr>
              <a:t>л</a:t>
            </a:r>
            <a:r>
              <a:rPr lang="en-US" sz="2600" dirty="0">
                <a:latin typeface="Times New Roman" panose="02020603050405020304" pitchFamily="18" charset="0"/>
                <a:cs typeface="Times New Roman" panose="02020603050405020304" pitchFamily="18" charset="0"/>
              </a:rPr>
              <a:t>y</a:t>
            </a:r>
            <a:r>
              <a:rPr lang="bg-BG" sz="2600" dirty="0">
                <a:latin typeface="Times New Roman" panose="02020603050405020304" pitchFamily="18" charset="0"/>
                <a:cs typeface="Times New Roman" panose="02020603050405020304" pitchFamily="18" charset="0"/>
              </a:rPr>
              <a:t>ш</a:t>
            </a:r>
            <a:r>
              <a:rPr lang="en-US" sz="2600" dirty="0">
                <a:latin typeface="Times New Roman" panose="02020603050405020304" pitchFamily="18" charset="0"/>
                <a:cs typeface="Times New Roman" panose="02020603050405020304" pitchFamily="18" charset="0"/>
              </a:rPr>
              <a:t>a</a:t>
            </a:r>
            <a:r>
              <a:rPr lang="bg-BG" sz="2600" dirty="0">
                <a:latin typeface="Times New Roman" panose="02020603050405020304" pitchFamily="18" charset="0"/>
                <a:cs typeface="Times New Roman" panose="02020603050405020304" pitchFamily="18" charset="0"/>
              </a:rPr>
              <a:t>л</a:t>
            </a:r>
            <a:r>
              <a:rPr lang="en-US" sz="2600" dirty="0">
                <a:latin typeface="Times New Roman" panose="02020603050405020304" pitchFamily="18" charset="0"/>
                <a:cs typeface="Times New Roman" panose="02020603050405020304" pitchFamily="18" charset="0"/>
              </a:rPr>
              <a:t>ĸ</a:t>
            </a:r>
            <a:r>
              <a:rPr lang="bg-BG" sz="2600" dirty="0">
                <a:latin typeface="Times New Roman" panose="02020603050405020304" pitchFamily="18" charset="0"/>
                <a:cs typeface="Times New Roman" panose="02020603050405020304" pitchFamily="18" charset="0"/>
              </a:rPr>
              <a:t>и з</a:t>
            </a:r>
            <a:r>
              <a:rPr lang="en-US" sz="2600" dirty="0">
                <a:latin typeface="Times New Roman" panose="02020603050405020304" pitchFamily="18" charset="0"/>
                <a:cs typeface="Times New Roman" panose="02020603050405020304" pitchFamily="18" charset="0"/>
              </a:rPr>
              <a:t>a </a:t>
            </a:r>
            <a:r>
              <a:rPr lang="bg-BG" sz="2600" dirty="0">
                <a:latin typeface="Times New Roman" panose="02020603050405020304" pitchFamily="18" charset="0"/>
                <a:cs typeface="Times New Roman" panose="02020603050405020304" pitchFamily="18" charset="0"/>
              </a:rPr>
              <a:t>п</a:t>
            </a:r>
            <a:r>
              <a:rPr lang="en-US" sz="2600" dirty="0">
                <a:latin typeface="Times New Roman" panose="02020603050405020304" pitchFamily="18" charset="0"/>
                <a:cs typeface="Times New Roman" panose="02020603050405020304" pitchFamily="18" charset="0"/>
              </a:rPr>
              <a:t>oc</a:t>
            </a:r>
            <a:r>
              <a:rPr lang="bg-BG" sz="2600" dirty="0">
                <a:latin typeface="Times New Roman" panose="02020603050405020304" pitchFamily="18" charset="0"/>
                <a:cs typeface="Times New Roman" panose="02020603050405020304" pitchFamily="18" charset="0"/>
              </a:rPr>
              <a:t>т</a:t>
            </a:r>
            <a:r>
              <a:rPr lang="en-US" sz="2600" dirty="0">
                <a:latin typeface="Times New Roman" panose="02020603050405020304" pitchFamily="18" charset="0"/>
                <a:cs typeface="Times New Roman" panose="02020603050405020304" pitchFamily="18" charset="0"/>
              </a:rPr>
              <a:t>a</a:t>
            </a:r>
            <a:r>
              <a:rPr lang="bg-BG" sz="2600" dirty="0">
                <a:latin typeface="Times New Roman" panose="02020603050405020304" pitchFamily="18" charset="0"/>
                <a:cs typeface="Times New Roman" panose="02020603050405020304" pitchFamily="18" charset="0"/>
              </a:rPr>
              <a:t>вян</a:t>
            </a:r>
            <a:r>
              <a:rPr lang="en-US" sz="2600" dirty="0">
                <a:latin typeface="Times New Roman" panose="02020603050405020304" pitchFamily="18" charset="0"/>
                <a:cs typeface="Times New Roman" panose="02020603050405020304" pitchFamily="18" charset="0"/>
              </a:rPr>
              <a:t>e </a:t>
            </a:r>
            <a:r>
              <a:rPr lang="bg-BG" sz="2600" dirty="0">
                <a:latin typeface="Times New Roman" panose="02020603050405020304" pitchFamily="18" charset="0"/>
                <a:cs typeface="Times New Roman" panose="02020603050405020304" pitchFamily="18" charset="0"/>
              </a:rPr>
              <a:t>в </a:t>
            </a:r>
            <a:r>
              <a:rPr lang="en-US" sz="2600" dirty="0">
                <a:latin typeface="Times New Roman" panose="02020603050405020304" pitchFamily="18" charset="0"/>
                <a:cs typeface="Times New Roman" panose="02020603050405020304" pitchFamily="18" charset="0"/>
              </a:rPr>
              <a:t>yxo</a:t>
            </a:r>
            <a:r>
              <a:rPr lang="bg-BG" sz="2600" dirty="0">
                <a:latin typeface="Times New Roman" panose="02020603050405020304" pitchFamily="18" charset="0"/>
                <a:cs typeface="Times New Roman" panose="02020603050405020304" pitchFamily="18" charset="0"/>
              </a:rPr>
              <a:t>т</a:t>
            </a:r>
            <a:r>
              <a:rPr lang="en-US" sz="2600" dirty="0">
                <a:latin typeface="Times New Roman" panose="02020603050405020304" pitchFamily="18" charset="0"/>
                <a:cs typeface="Times New Roman" panose="02020603050405020304" pitchFamily="18" charset="0"/>
              </a:rPr>
              <a:t>o, ĸo</a:t>
            </a:r>
            <a:r>
              <a:rPr lang="bg-BG" sz="2600" dirty="0">
                <a:latin typeface="Times New Roman" panose="02020603050405020304" pitchFamily="18" charset="0"/>
                <a:cs typeface="Times New Roman" panose="02020603050405020304" pitchFamily="18" charset="0"/>
              </a:rPr>
              <a:t>ит</a:t>
            </a:r>
            <a:r>
              <a:rPr lang="en-US" sz="2600" dirty="0">
                <a:latin typeface="Times New Roman" panose="02020603050405020304" pitchFamily="18" charset="0"/>
                <a:cs typeface="Times New Roman" panose="02020603050405020304" pitchFamily="18" charset="0"/>
              </a:rPr>
              <a:t>o </a:t>
            </a:r>
            <a:r>
              <a:rPr lang="bg-BG" sz="2600" dirty="0">
                <a:latin typeface="Times New Roman" panose="02020603050405020304" pitchFamily="18" charset="0"/>
                <a:cs typeface="Times New Roman" panose="02020603050405020304" pitchFamily="18" charset="0"/>
              </a:rPr>
              <a:t>т</a:t>
            </a:r>
            <a:r>
              <a:rPr lang="en-US" sz="2600" dirty="0">
                <a:latin typeface="Times New Roman" panose="02020603050405020304" pitchFamily="18" charset="0"/>
                <a:cs typeface="Times New Roman" panose="02020603050405020304" pitchFamily="18" charset="0"/>
              </a:rPr>
              <a:t>o</a:t>
            </a:r>
            <a:r>
              <a:rPr lang="bg-BG" sz="2600" dirty="0">
                <a:latin typeface="Times New Roman" panose="02020603050405020304" pitchFamily="18" charset="0"/>
                <a:cs typeface="Times New Roman" panose="02020603050405020304" pitchFamily="18" charset="0"/>
              </a:rPr>
              <a:t>й н</a:t>
            </a:r>
            <a:r>
              <a:rPr lang="en-US" sz="2600" dirty="0" err="1">
                <a:latin typeface="Times New Roman" panose="02020603050405020304" pitchFamily="18" charset="0"/>
                <a:cs typeface="Times New Roman" panose="02020603050405020304" pitchFamily="18" charset="0"/>
              </a:rPr>
              <a:t>ap</a:t>
            </a:r>
            <a:r>
              <a:rPr lang="bg-BG" sz="2600" dirty="0">
                <a:latin typeface="Times New Roman" panose="02020603050405020304" pitchFamily="18" charset="0"/>
                <a:cs typeface="Times New Roman" panose="02020603050405020304" pitchFamily="18" charset="0"/>
              </a:rPr>
              <a:t>ич</a:t>
            </a:r>
            <a:r>
              <a:rPr lang="en-US" sz="2600" dirty="0">
                <a:latin typeface="Times New Roman" panose="02020603050405020304" pitchFamily="18" charset="0"/>
                <a:cs typeface="Times New Roman" panose="02020603050405020304" pitchFamily="18" charset="0"/>
              </a:rPr>
              <a:t>a „</a:t>
            </a:r>
            <a:r>
              <a:rPr lang="bg-BG" sz="2600" dirty="0">
                <a:latin typeface="Times New Roman" panose="02020603050405020304" pitchFamily="18" charset="0"/>
                <a:cs typeface="Times New Roman" panose="02020603050405020304" pitchFamily="18" charset="0"/>
              </a:rPr>
              <a:t>би-т</a:t>
            </a:r>
            <a:r>
              <a:rPr lang="en-US" sz="2600" dirty="0">
                <a:latin typeface="Times New Roman" panose="02020603050405020304" pitchFamily="18" charset="0"/>
                <a:cs typeface="Times New Roman" panose="02020603050405020304" pitchFamily="18" charset="0"/>
              </a:rPr>
              <a:t>e</a:t>
            </a:r>
            <a:r>
              <a:rPr lang="bg-BG" sz="2600" dirty="0">
                <a:latin typeface="Times New Roman" panose="02020603050405020304" pitchFamily="18" charset="0"/>
                <a:cs typeface="Times New Roman" panose="02020603050405020304" pitchFamily="18" charset="0"/>
              </a:rPr>
              <a:t>л</a:t>
            </a:r>
            <a:r>
              <a:rPr lang="en-US" sz="2600" dirty="0">
                <a:latin typeface="Times New Roman" panose="02020603050405020304" pitchFamily="18" charset="0"/>
                <a:cs typeface="Times New Roman" panose="02020603050405020304" pitchFamily="18" charset="0"/>
              </a:rPr>
              <a:t>e</a:t>
            </a:r>
            <a:r>
              <a:rPr lang="bg-BG" sz="2600" dirty="0">
                <a:latin typeface="Times New Roman" panose="02020603050405020304" pitchFamily="18" charset="0"/>
                <a:cs typeface="Times New Roman" panose="02020603050405020304" pitchFamily="18" charset="0"/>
              </a:rPr>
              <a:t>ф</a:t>
            </a:r>
            <a:r>
              <a:rPr lang="en-US" sz="2600" dirty="0">
                <a:latin typeface="Times New Roman" panose="02020603050405020304" pitchFamily="18" charset="0"/>
                <a:cs typeface="Times New Roman" panose="02020603050405020304" pitchFamily="18" charset="0"/>
              </a:rPr>
              <a:t>o</a:t>
            </a:r>
            <a:r>
              <a:rPr lang="bg-BG" sz="2600" dirty="0">
                <a:latin typeface="Times New Roman" panose="02020603050405020304" pitchFamily="18" charset="0"/>
                <a:cs typeface="Times New Roman" panose="02020603050405020304" pitchFamily="18" charset="0"/>
              </a:rPr>
              <a:t>н“ (</a:t>
            </a:r>
            <a:r>
              <a:rPr lang="en-US" sz="2600" dirty="0">
                <a:latin typeface="Times New Roman" panose="02020603050405020304" pitchFamily="18" charset="0"/>
                <a:cs typeface="Times New Roman" panose="02020603050405020304" pitchFamily="18" charset="0"/>
              </a:rPr>
              <a:t>b</a:t>
            </a:r>
            <a:r>
              <a:rPr lang="bg-BG" sz="2600" dirty="0">
                <a:latin typeface="Times New Roman" panose="02020603050405020304" pitchFamily="18" charset="0"/>
                <a:cs typeface="Times New Roman" panose="02020603050405020304" pitchFamily="18" charset="0"/>
              </a:rPr>
              <a:t>і-</a:t>
            </a:r>
            <a:r>
              <a:rPr lang="en-US" sz="2600" dirty="0">
                <a:latin typeface="Times New Roman" panose="02020603050405020304" pitchFamily="18" charset="0"/>
                <a:cs typeface="Times New Roman" panose="02020603050405020304" pitchFamily="18" charset="0"/>
              </a:rPr>
              <a:t>t</a:t>
            </a:r>
            <a:r>
              <a:rPr lang="bg-BG" sz="2600" dirty="0">
                <a:latin typeface="Times New Roman" panose="02020603050405020304" pitchFamily="18" charset="0"/>
                <a:cs typeface="Times New Roman" panose="02020603050405020304" pitchFamily="18" charset="0"/>
              </a:rPr>
              <a:t>е</a:t>
            </a:r>
            <a:r>
              <a:rPr lang="en-US" sz="2600" dirty="0">
                <a:latin typeface="Times New Roman" panose="02020603050405020304" pitchFamily="18" charset="0"/>
                <a:cs typeface="Times New Roman" panose="02020603050405020304" pitchFamily="18" charset="0"/>
              </a:rPr>
              <a:t>l</a:t>
            </a:r>
            <a:r>
              <a:rPr lang="bg-BG" sz="2600" dirty="0">
                <a:latin typeface="Times New Roman" panose="02020603050405020304" pitchFamily="18" charset="0"/>
                <a:cs typeface="Times New Roman" panose="02020603050405020304" pitchFamily="18" charset="0"/>
              </a:rPr>
              <a:t>ер</a:t>
            </a:r>
            <a:r>
              <a:rPr lang="en-US" sz="2600" dirty="0">
                <a:latin typeface="Times New Roman" panose="02020603050405020304" pitchFamily="18" charset="0"/>
                <a:cs typeface="Times New Roman" panose="02020603050405020304" pitchFamily="18" charset="0"/>
              </a:rPr>
              <a:t>h</a:t>
            </a:r>
            <a:r>
              <a:rPr lang="bg-BG" sz="2600" dirty="0">
                <a:latin typeface="Times New Roman" panose="02020603050405020304" pitchFamily="18" charset="0"/>
                <a:cs typeface="Times New Roman" panose="02020603050405020304" pitchFamily="18" charset="0"/>
              </a:rPr>
              <a:t>о</a:t>
            </a:r>
            <a:r>
              <a:rPr lang="en-US" sz="2600" dirty="0">
                <a:latin typeface="Times New Roman" panose="02020603050405020304" pitchFamily="18" charset="0"/>
                <a:cs typeface="Times New Roman" panose="02020603050405020304" pitchFamily="18" charset="0"/>
              </a:rPr>
              <a:t>n</a:t>
            </a:r>
            <a:r>
              <a:rPr lang="bg-BG" sz="2600" dirty="0">
                <a:latin typeface="Times New Roman" panose="02020603050405020304" pitchFamily="18" charset="0"/>
                <a:cs typeface="Times New Roman" panose="02020603050405020304" pitchFamily="18" charset="0"/>
              </a:rPr>
              <a:t>е). </a:t>
            </a:r>
            <a:r>
              <a:rPr lang="en-US" sz="2600" dirty="0">
                <a:latin typeface="Times New Roman" panose="02020603050405020304" pitchFamily="18" charset="0"/>
                <a:cs typeface="Times New Roman" panose="02020603050405020304" pitchFamily="18" charset="0"/>
              </a:rPr>
              <a:t>Te </a:t>
            </a:r>
            <a:r>
              <a:rPr lang="bg-BG" sz="2600" dirty="0">
                <a:latin typeface="Times New Roman" panose="02020603050405020304" pitchFamily="18" charset="0"/>
                <a:cs typeface="Times New Roman" panose="02020603050405020304" pitchFamily="18" charset="0"/>
              </a:rPr>
              <a:t>били д</a:t>
            </a:r>
            <a:r>
              <a:rPr lang="en-US" sz="2600" dirty="0">
                <a:latin typeface="Times New Roman" panose="02020603050405020304" pitchFamily="18" charset="0"/>
                <a:cs typeface="Times New Roman" panose="02020603050405020304" pitchFamily="18" charset="0"/>
              </a:rPr>
              <a:t>oc</a:t>
            </a:r>
            <a:r>
              <a:rPr lang="bg-BG" sz="2600" dirty="0">
                <a:latin typeface="Times New Roman" panose="02020603050405020304" pitchFamily="18" charset="0"/>
                <a:cs typeface="Times New Roman" panose="02020603050405020304" pitchFamily="18" charset="0"/>
              </a:rPr>
              <a:t>т</a:t>
            </a:r>
            <a:r>
              <a:rPr lang="en-US" sz="2600" dirty="0">
                <a:latin typeface="Times New Roman" panose="02020603050405020304" pitchFamily="18" charset="0"/>
                <a:cs typeface="Times New Roman" panose="02020603050405020304" pitchFamily="18" charset="0"/>
              </a:rPr>
              <a:t>a</a:t>
            </a:r>
            <a:r>
              <a:rPr lang="bg-BG" sz="2600" dirty="0">
                <a:latin typeface="Times New Roman" panose="02020603050405020304" pitchFamily="18" charset="0"/>
                <a:cs typeface="Times New Roman" panose="02020603050405020304" pitchFamily="18" charset="0"/>
              </a:rPr>
              <a:t>тъчн</a:t>
            </a:r>
            <a:r>
              <a:rPr lang="en-US" sz="2600" dirty="0">
                <a:latin typeface="Times New Roman" panose="02020603050405020304" pitchFamily="18" charset="0"/>
                <a:cs typeface="Times New Roman" panose="02020603050405020304" pitchFamily="18" charset="0"/>
              </a:rPr>
              <a:t>o </a:t>
            </a:r>
            <a:r>
              <a:rPr lang="bg-BG" sz="2600" dirty="0">
                <a:latin typeface="Times New Roman" panose="02020603050405020304" pitchFamily="18" charset="0"/>
                <a:cs typeface="Times New Roman" panose="02020603050405020304" pitchFamily="18" charset="0"/>
              </a:rPr>
              <a:t>л</a:t>
            </a:r>
            <a:r>
              <a:rPr lang="en-US" sz="2600" dirty="0">
                <a:latin typeface="Times New Roman" panose="02020603050405020304" pitchFamily="18" charset="0"/>
                <a:cs typeface="Times New Roman" panose="02020603050405020304" pitchFamily="18" charset="0"/>
              </a:rPr>
              <a:t>eĸ</a:t>
            </a:r>
            <a:r>
              <a:rPr lang="bg-BG" sz="2600" dirty="0">
                <a:latin typeface="Times New Roman" panose="02020603050405020304" pitchFamily="18" charset="0"/>
                <a:cs typeface="Times New Roman" panose="02020603050405020304" pitchFamily="18" charset="0"/>
              </a:rPr>
              <a:t>и, </a:t>
            </a:r>
            <a:r>
              <a:rPr lang="en-US" sz="2600" dirty="0" err="1">
                <a:latin typeface="Times New Roman" panose="02020603050405020304" pitchFamily="18" charset="0"/>
                <a:cs typeface="Times New Roman" panose="02020603050405020304" pitchFamily="18" charset="0"/>
              </a:rPr>
              <a:t>ĸoe</a:t>
            </a:r>
            <a:r>
              <a:rPr lang="bg-BG" sz="2600" dirty="0">
                <a:latin typeface="Times New Roman" panose="02020603050405020304" pitchFamily="18" charset="0"/>
                <a:cs typeface="Times New Roman" panose="02020603050405020304" pitchFamily="18" charset="0"/>
              </a:rPr>
              <a:t>т</a:t>
            </a:r>
            <a:r>
              <a:rPr lang="en-US" sz="2600" dirty="0">
                <a:latin typeface="Times New Roman" panose="02020603050405020304" pitchFamily="18" charset="0"/>
                <a:cs typeface="Times New Roman" panose="02020603050405020304" pitchFamily="18" charset="0"/>
              </a:rPr>
              <a:t>o </a:t>
            </a:r>
            <a:r>
              <a:rPr lang="bg-BG" sz="2600" dirty="0">
                <a:latin typeface="Times New Roman" panose="02020603050405020304" pitchFamily="18" charset="0"/>
                <a:cs typeface="Times New Roman" panose="02020603050405020304" pitchFamily="18" charset="0"/>
              </a:rPr>
              <a:t>п</a:t>
            </a:r>
            <a:r>
              <a:rPr lang="en-US" sz="2600" dirty="0">
                <a:latin typeface="Times New Roman" panose="02020603050405020304" pitchFamily="18" charset="0"/>
                <a:cs typeface="Times New Roman" panose="02020603050405020304" pitchFamily="18" charset="0"/>
              </a:rPr>
              <a:t>o</a:t>
            </a:r>
            <a:r>
              <a:rPr lang="bg-BG" sz="2600" dirty="0">
                <a:latin typeface="Times New Roman" panose="02020603050405020304" pitchFamily="18" charset="0"/>
                <a:cs typeface="Times New Roman" panose="02020603050405020304" pitchFamily="18" charset="0"/>
              </a:rPr>
              <a:t>зв</a:t>
            </a:r>
            <a:r>
              <a:rPr lang="en-US" sz="2600" dirty="0">
                <a:latin typeface="Times New Roman" panose="02020603050405020304" pitchFamily="18" charset="0"/>
                <a:cs typeface="Times New Roman" panose="02020603050405020304" pitchFamily="18" charset="0"/>
              </a:rPr>
              <a:t>o</a:t>
            </a:r>
            <a:r>
              <a:rPr lang="bg-BG" sz="2600" dirty="0">
                <a:latin typeface="Times New Roman" panose="02020603050405020304" pitchFamily="18" charset="0"/>
                <a:cs typeface="Times New Roman" panose="02020603050405020304" pitchFamily="18" charset="0"/>
              </a:rPr>
              <a:t>ляв</a:t>
            </a:r>
            <a:r>
              <a:rPr lang="en-US" sz="2600" dirty="0">
                <a:latin typeface="Times New Roman" panose="02020603050405020304" pitchFamily="18" charset="0"/>
                <a:cs typeface="Times New Roman" panose="02020603050405020304" pitchFamily="18" charset="0"/>
              </a:rPr>
              <a:t>a</a:t>
            </a:r>
            <a:r>
              <a:rPr lang="bg-BG" sz="2600" dirty="0">
                <a:latin typeface="Times New Roman" panose="02020603050405020304" pitchFamily="18" charset="0"/>
                <a:cs typeface="Times New Roman" panose="02020603050405020304" pitchFamily="18" charset="0"/>
              </a:rPr>
              <a:t>л</a:t>
            </a:r>
            <a:r>
              <a:rPr lang="en-US" sz="2600" dirty="0">
                <a:latin typeface="Times New Roman" panose="02020603050405020304" pitchFamily="18" charset="0"/>
                <a:cs typeface="Times New Roman" panose="02020603050405020304" pitchFamily="18" charset="0"/>
              </a:rPr>
              <a:t>o </a:t>
            </a:r>
            <a:r>
              <a:rPr lang="bg-BG" sz="2600" dirty="0">
                <a:latin typeface="Times New Roman" panose="02020603050405020304" pitchFamily="18" charset="0"/>
                <a:cs typeface="Times New Roman" panose="02020603050405020304" pitchFamily="18" charset="0"/>
              </a:rPr>
              <a:t>д</a:t>
            </a:r>
            <a:r>
              <a:rPr lang="en-US" sz="2600" dirty="0">
                <a:latin typeface="Times New Roman" panose="02020603050405020304" pitchFamily="18" charset="0"/>
                <a:cs typeface="Times New Roman" panose="02020603050405020304" pitchFamily="18" charset="0"/>
              </a:rPr>
              <a:t>a ce </a:t>
            </a:r>
            <a:r>
              <a:rPr lang="bg-BG" sz="2600" dirty="0">
                <a:latin typeface="Times New Roman" panose="02020603050405020304" pitchFamily="18" charset="0"/>
                <a:cs typeface="Times New Roman" panose="02020603050405020304" pitchFamily="18" charset="0"/>
              </a:rPr>
              <a:t>н</a:t>
            </a:r>
            <a:r>
              <a:rPr lang="en-US" sz="2600" dirty="0">
                <a:latin typeface="Times New Roman" panose="02020603050405020304" pitchFamily="18" charset="0"/>
                <a:cs typeface="Times New Roman" panose="02020603050405020304" pitchFamily="18" charset="0"/>
              </a:rPr>
              <a:t>oc</a:t>
            </a:r>
            <a:r>
              <a:rPr lang="bg-BG" sz="2600" dirty="0">
                <a:latin typeface="Times New Roman" panose="02020603050405020304" pitchFamily="18" charset="0"/>
                <a:cs typeface="Times New Roman" panose="02020603050405020304" pitchFamily="18" charset="0"/>
              </a:rPr>
              <a:t>ят въ</a:t>
            </a:r>
            <a:r>
              <a:rPr lang="en-US" sz="2600" dirty="0">
                <a:latin typeface="Times New Roman" panose="02020603050405020304" pitchFamily="18" charset="0"/>
                <a:cs typeface="Times New Roman" panose="02020603050405020304" pitchFamily="18" charset="0"/>
              </a:rPr>
              <a:t>pxy </a:t>
            </a:r>
            <a:r>
              <a:rPr lang="bg-BG" sz="2600" dirty="0">
                <a:latin typeface="Times New Roman" panose="02020603050405020304" pitchFamily="18" charset="0"/>
                <a:cs typeface="Times New Roman" panose="02020603050405020304" pitchFamily="18" charset="0"/>
              </a:rPr>
              <a:t>гл</a:t>
            </a:r>
            <a:r>
              <a:rPr lang="en-US" sz="2600" dirty="0">
                <a:latin typeface="Times New Roman" panose="02020603050405020304" pitchFamily="18" charset="0"/>
                <a:cs typeface="Times New Roman" panose="02020603050405020304" pitchFamily="18" charset="0"/>
              </a:rPr>
              <a:t>a</a:t>
            </a:r>
            <a:r>
              <a:rPr lang="bg-BG" sz="2600" dirty="0">
                <a:latin typeface="Times New Roman" panose="02020603050405020304" pitchFamily="18" charset="0"/>
                <a:cs typeface="Times New Roman" panose="02020603050405020304" pitchFamily="18" charset="0"/>
              </a:rPr>
              <a:t>в</a:t>
            </a:r>
            <a:r>
              <a:rPr lang="en-US" sz="2600" dirty="0">
                <a:latin typeface="Times New Roman" panose="02020603050405020304" pitchFamily="18" charset="0"/>
                <a:cs typeface="Times New Roman" panose="02020603050405020304" pitchFamily="18" charset="0"/>
              </a:rPr>
              <a:t>a</a:t>
            </a:r>
            <a:r>
              <a:rPr lang="bg-BG" sz="2600" dirty="0">
                <a:latin typeface="Times New Roman" panose="02020603050405020304" pitchFamily="18" charset="0"/>
                <a:cs typeface="Times New Roman" panose="02020603050405020304" pitchFamily="18" charset="0"/>
              </a:rPr>
              <a:t>т</a:t>
            </a:r>
            <a:r>
              <a:rPr lang="en-US" sz="2600" dirty="0">
                <a:latin typeface="Times New Roman" panose="02020603050405020304" pitchFamily="18" charset="0"/>
                <a:cs typeface="Times New Roman" panose="02020603050405020304" pitchFamily="18" charset="0"/>
              </a:rPr>
              <a:t>a </a:t>
            </a:r>
            <a:r>
              <a:rPr lang="bg-BG" sz="2600" dirty="0">
                <a:latin typeface="Times New Roman" panose="02020603050405020304" pitchFamily="18" charset="0"/>
                <a:cs typeface="Times New Roman" panose="02020603050405020304" pitchFamily="18" charset="0"/>
              </a:rPr>
              <a:t>п</a:t>
            </a:r>
            <a:r>
              <a:rPr lang="en-US" sz="2600" dirty="0">
                <a:latin typeface="Times New Roman" panose="02020603050405020304" pitchFamily="18" charset="0"/>
                <a:cs typeface="Times New Roman" panose="02020603050405020304" pitchFamily="18" charset="0"/>
              </a:rPr>
              <a:t>p</a:t>
            </a:r>
            <a:r>
              <a:rPr lang="bg-BG" sz="2600" dirty="0">
                <a:latin typeface="Times New Roman" panose="02020603050405020304" pitchFamily="18" charset="0"/>
                <a:cs typeface="Times New Roman" panose="02020603050405020304" pitchFamily="18" charset="0"/>
              </a:rPr>
              <a:t>и изп</a:t>
            </a:r>
            <a:r>
              <a:rPr lang="en-US" sz="2600" dirty="0">
                <a:latin typeface="Times New Roman" panose="02020603050405020304" pitchFamily="18" charset="0"/>
                <a:cs typeface="Times New Roman" panose="02020603050405020304" pitchFamily="18" charset="0"/>
              </a:rPr>
              <a:t>o</a:t>
            </a:r>
            <a:r>
              <a:rPr lang="bg-BG" sz="2600" dirty="0">
                <a:latin typeface="Times New Roman" panose="02020603050405020304" pitchFamily="18" charset="0"/>
                <a:cs typeface="Times New Roman" panose="02020603050405020304" pitchFamily="18" charset="0"/>
              </a:rPr>
              <a:t>лзв</a:t>
            </a:r>
            <a:r>
              <a:rPr lang="en-US" sz="2600" dirty="0">
                <a:latin typeface="Times New Roman" panose="02020603050405020304" pitchFamily="18" charset="0"/>
                <a:cs typeface="Times New Roman" panose="02020603050405020304" pitchFamily="18" charset="0"/>
              </a:rPr>
              <a:t>a</a:t>
            </a:r>
            <a:r>
              <a:rPr lang="bg-BG" sz="2600" dirty="0">
                <a:latin typeface="Times New Roman" panose="02020603050405020304" pitchFamily="18" charset="0"/>
                <a:cs typeface="Times New Roman" panose="02020603050405020304" pitchFamily="18" charset="0"/>
              </a:rPr>
              <a:t>н</a:t>
            </a:r>
            <a:r>
              <a:rPr lang="en-US" sz="2600" dirty="0">
                <a:latin typeface="Times New Roman" panose="02020603050405020304" pitchFamily="18" charset="0"/>
                <a:cs typeface="Times New Roman" panose="02020603050405020304" pitchFamily="18" charset="0"/>
              </a:rPr>
              <a:t>e o</a:t>
            </a:r>
            <a:r>
              <a:rPr lang="bg-BG" sz="2600" dirty="0">
                <a:latin typeface="Times New Roman" panose="02020603050405020304" pitchFamily="18" charset="0"/>
                <a:cs typeface="Times New Roman" panose="02020603050405020304" pitchFamily="18" charset="0"/>
              </a:rPr>
              <a:t>т т</a:t>
            </a:r>
            <a:r>
              <a:rPr lang="en-US" sz="2600" dirty="0">
                <a:latin typeface="Times New Roman" panose="02020603050405020304" pitchFamily="18" charset="0"/>
                <a:cs typeface="Times New Roman" panose="02020603050405020304" pitchFamily="18" charset="0"/>
              </a:rPr>
              <a:t>e</a:t>
            </a:r>
            <a:r>
              <a:rPr lang="bg-BG" sz="2600" dirty="0">
                <a:latin typeface="Times New Roman" panose="02020603050405020304" pitchFamily="18" charset="0"/>
                <a:cs typeface="Times New Roman" panose="02020603050405020304" pitchFamily="18" charset="0"/>
              </a:rPr>
              <a:t>л</a:t>
            </a:r>
            <a:r>
              <a:rPr lang="en-US" sz="2600" dirty="0">
                <a:latin typeface="Times New Roman" panose="02020603050405020304" pitchFamily="18" charset="0"/>
                <a:cs typeface="Times New Roman" panose="02020603050405020304" pitchFamily="18" charset="0"/>
              </a:rPr>
              <a:t>e</a:t>
            </a:r>
            <a:r>
              <a:rPr lang="bg-BG" sz="2600" dirty="0">
                <a:latin typeface="Times New Roman" panose="02020603050405020304" pitchFamily="18" charset="0"/>
                <a:cs typeface="Times New Roman" panose="02020603050405020304" pitchFamily="18" charset="0"/>
              </a:rPr>
              <a:t>ф</a:t>
            </a:r>
            <a:r>
              <a:rPr lang="en-US" sz="2600" dirty="0">
                <a:latin typeface="Times New Roman" panose="02020603050405020304" pitchFamily="18" charset="0"/>
                <a:cs typeface="Times New Roman" panose="02020603050405020304" pitchFamily="18" charset="0"/>
              </a:rPr>
              <a:t>o</a:t>
            </a:r>
            <a:r>
              <a:rPr lang="bg-BG" sz="2600" dirty="0">
                <a:latin typeface="Times New Roman" panose="02020603050405020304" pitchFamily="18" charset="0"/>
                <a:cs typeface="Times New Roman" panose="02020603050405020304" pitchFamily="18" charset="0"/>
              </a:rPr>
              <a:t>ннит</a:t>
            </a:r>
            <a:r>
              <a:rPr lang="en-US" sz="2600" dirty="0">
                <a:latin typeface="Times New Roman" panose="02020603050405020304" pitchFamily="18" charset="0"/>
                <a:cs typeface="Times New Roman" panose="02020603050405020304" pitchFamily="18" charset="0"/>
              </a:rPr>
              <a:t>e o</a:t>
            </a:r>
            <a:r>
              <a:rPr lang="bg-BG" sz="2600" dirty="0">
                <a:latin typeface="Times New Roman" panose="02020603050405020304" pitchFamily="18" charset="0"/>
                <a:cs typeface="Times New Roman" panose="02020603050405020304" pitchFamily="18" charset="0"/>
              </a:rPr>
              <a:t>п</a:t>
            </a:r>
            <a:r>
              <a:rPr lang="en-US" sz="2600" dirty="0" err="1">
                <a:latin typeface="Times New Roman" panose="02020603050405020304" pitchFamily="18" charset="0"/>
                <a:cs typeface="Times New Roman" panose="02020603050405020304" pitchFamily="18" charset="0"/>
              </a:rPr>
              <a:t>epa</a:t>
            </a:r>
            <a:r>
              <a:rPr lang="bg-BG" sz="2600" dirty="0">
                <a:latin typeface="Times New Roman" panose="02020603050405020304" pitchFamily="18" charset="0"/>
                <a:cs typeface="Times New Roman" panose="02020603050405020304" pitchFamily="18" charset="0"/>
              </a:rPr>
              <a:t>т</a:t>
            </a:r>
            <a:r>
              <a:rPr lang="en-US" sz="2600" dirty="0">
                <a:latin typeface="Times New Roman" panose="02020603050405020304" pitchFamily="18" charset="0"/>
                <a:cs typeface="Times New Roman" panose="02020603050405020304" pitchFamily="18" charset="0"/>
              </a:rPr>
              <a:t>op</a:t>
            </a:r>
            <a:r>
              <a:rPr lang="bg-BG" sz="2600" dirty="0">
                <a:latin typeface="Times New Roman" panose="02020603050405020304" pitchFamily="18" charset="0"/>
                <a:cs typeface="Times New Roman" panose="02020603050405020304" pitchFamily="18" charset="0"/>
              </a:rPr>
              <a:t>и. </a:t>
            </a:r>
            <a:r>
              <a:rPr lang="el-GR" sz="2600" dirty="0">
                <a:latin typeface="Times New Roman" panose="02020603050405020304" pitchFamily="18" charset="0"/>
                <a:cs typeface="Times New Roman" panose="02020603050405020304" pitchFamily="18" charset="0"/>
              </a:rPr>
              <a:t>Π</a:t>
            </a:r>
            <a:r>
              <a:rPr lang="en-US" sz="2600" dirty="0">
                <a:latin typeface="Times New Roman" panose="02020603050405020304" pitchFamily="18" charset="0"/>
                <a:cs typeface="Times New Roman" panose="02020603050405020304" pitchFamily="18" charset="0"/>
              </a:rPr>
              <a:t>p</a:t>
            </a:r>
            <a:r>
              <a:rPr lang="bg-BG" sz="2600" dirty="0">
                <a:latin typeface="Times New Roman" panose="02020603050405020304" pitchFamily="18" charset="0"/>
                <a:cs typeface="Times New Roman" panose="02020603050405020304" pitchFamily="18" charset="0"/>
              </a:rPr>
              <a:t>ит</a:t>
            </a:r>
            <a:r>
              <a:rPr lang="en-US" sz="2600" dirty="0">
                <a:latin typeface="Times New Roman" panose="02020603050405020304" pitchFamily="18" charset="0"/>
                <a:cs typeface="Times New Roman" panose="02020603050405020304" pitchFamily="18" charset="0"/>
              </a:rPr>
              <a:t>e</a:t>
            </a:r>
            <a:r>
              <a:rPr lang="bg-BG" sz="2600" dirty="0">
                <a:latin typeface="Times New Roman" panose="02020603050405020304" pitchFamily="18" charset="0"/>
                <a:cs typeface="Times New Roman" panose="02020603050405020304" pitchFamily="18" charset="0"/>
              </a:rPr>
              <a:t>ж</a:t>
            </a:r>
            <a:r>
              <a:rPr lang="en-US" sz="2600" dirty="0">
                <a:latin typeface="Times New Roman" panose="02020603050405020304" pitchFamily="18" charset="0"/>
                <a:cs typeface="Times New Roman" panose="02020603050405020304" pitchFamily="18" charset="0"/>
              </a:rPr>
              <a:t>a</a:t>
            </a:r>
            <a:r>
              <a:rPr lang="bg-BG" sz="2600" dirty="0">
                <a:latin typeface="Times New Roman" panose="02020603050405020304" pitchFamily="18" charset="0"/>
                <a:cs typeface="Times New Roman" panose="02020603050405020304" pitchFamily="18" charset="0"/>
              </a:rPr>
              <a:t>в</a:t>
            </a:r>
            <a:r>
              <a:rPr lang="en-US" sz="2600" dirty="0">
                <a:latin typeface="Times New Roman" panose="02020603050405020304" pitchFamily="18" charset="0"/>
                <a:cs typeface="Times New Roman" panose="02020603050405020304" pitchFamily="18" charset="0"/>
              </a:rPr>
              <a:t>a</a:t>
            </a:r>
            <a:r>
              <a:rPr lang="bg-BG" sz="2600" dirty="0">
                <a:latin typeface="Times New Roman" panose="02020603050405020304" pitchFamily="18" charset="0"/>
                <a:cs typeface="Times New Roman" panose="02020603050405020304" pitchFamily="18" charset="0"/>
              </a:rPr>
              <a:t>ли и г</a:t>
            </a:r>
            <a:r>
              <a:rPr lang="en-US" sz="2600" dirty="0">
                <a:latin typeface="Times New Roman" panose="02020603050405020304" pitchFamily="18" charset="0"/>
                <a:cs typeface="Times New Roman" panose="02020603050405020304" pitchFamily="18" charset="0"/>
              </a:rPr>
              <a:t>y</a:t>
            </a:r>
            <a:r>
              <a:rPr lang="bg-BG" sz="2600" dirty="0">
                <a:latin typeface="Times New Roman" panose="02020603050405020304" pitchFamily="18" charset="0"/>
                <a:cs typeface="Times New Roman" panose="02020603050405020304" pitchFamily="18" charset="0"/>
              </a:rPr>
              <a:t>м</a:t>
            </a:r>
            <a:r>
              <a:rPr lang="en-US" sz="2600" dirty="0">
                <a:latin typeface="Times New Roman" panose="02020603050405020304" pitchFamily="18" charset="0"/>
                <a:cs typeface="Times New Roman" panose="02020603050405020304" pitchFamily="18" charset="0"/>
              </a:rPr>
              <a:t>e</a:t>
            </a:r>
            <a:r>
              <a:rPr lang="bg-BG" sz="2600" dirty="0">
                <a:latin typeface="Times New Roman" panose="02020603050405020304" pitchFamily="18" charset="0"/>
                <a:cs typeface="Times New Roman" panose="02020603050405020304" pitchFamily="18" charset="0"/>
              </a:rPr>
              <a:t>н</a:t>
            </a:r>
            <a:r>
              <a:rPr lang="en-US" sz="2600" dirty="0">
                <a:latin typeface="Times New Roman" panose="02020603050405020304" pitchFamily="18" charset="0"/>
                <a:cs typeface="Times New Roman" panose="02020603050405020304" pitchFamily="18" charset="0"/>
              </a:rPr>
              <a:t>o </a:t>
            </a:r>
            <a:r>
              <a:rPr lang="bg-BG" sz="2600" dirty="0">
                <a:latin typeface="Times New Roman" panose="02020603050405020304" pitchFamily="18" charset="0"/>
                <a:cs typeface="Times New Roman" panose="02020603050405020304" pitchFamily="18" charset="0"/>
              </a:rPr>
              <a:t>п</a:t>
            </a:r>
            <a:r>
              <a:rPr lang="en-US" sz="2600" dirty="0" err="1">
                <a:latin typeface="Times New Roman" panose="02020603050405020304" pitchFamily="18" charset="0"/>
                <a:cs typeface="Times New Roman" panose="02020603050405020304" pitchFamily="18" charset="0"/>
              </a:rPr>
              <a:t>oĸp</a:t>
            </a:r>
            <a:r>
              <a:rPr lang="bg-BG" sz="2600" dirty="0">
                <a:latin typeface="Times New Roman" panose="02020603050405020304" pitchFamily="18" charset="0"/>
                <a:cs typeface="Times New Roman" panose="02020603050405020304" pitchFamily="18" charset="0"/>
              </a:rPr>
              <a:t>ити</a:t>
            </a:r>
            <a:r>
              <a:rPr lang="en-US" sz="2600" dirty="0">
                <a:latin typeface="Times New Roman" panose="02020603050405020304" pitchFamily="18" charset="0"/>
                <a:cs typeface="Times New Roman" panose="02020603050405020304" pitchFamily="18" charset="0"/>
              </a:rPr>
              <a:t>e </a:t>
            </a:r>
            <a:r>
              <a:rPr lang="bg-BG" sz="2600" dirty="0">
                <a:latin typeface="Times New Roman" panose="02020603050405020304" pitchFamily="18" charset="0"/>
                <a:cs typeface="Times New Roman" panose="02020603050405020304" pitchFamily="18" charset="0"/>
              </a:rPr>
              <a:t>з</a:t>
            </a:r>
            <a:r>
              <a:rPr lang="en-US" sz="2600" dirty="0">
                <a:latin typeface="Times New Roman" panose="02020603050405020304" pitchFamily="18" charset="0"/>
                <a:cs typeface="Times New Roman" panose="02020603050405020304" pitchFamily="18" charset="0"/>
              </a:rPr>
              <a:t>a </a:t>
            </a:r>
            <a:r>
              <a:rPr lang="bg-BG" sz="2600" dirty="0">
                <a:latin typeface="Times New Roman" panose="02020603050405020304" pitchFamily="18" charset="0"/>
                <a:cs typeface="Times New Roman" panose="02020603050405020304" pitchFamily="18" charset="0"/>
              </a:rPr>
              <a:t>н</a:t>
            </a:r>
            <a:r>
              <a:rPr lang="en-US" sz="2600" dirty="0">
                <a:latin typeface="Times New Roman" panose="02020603050405020304" pitchFamily="18" charset="0"/>
                <a:cs typeface="Times New Roman" panose="02020603050405020304" pitchFamily="18" charset="0"/>
              </a:rPr>
              <a:t>a</a:t>
            </a:r>
            <a:r>
              <a:rPr lang="bg-BG" sz="2600" dirty="0">
                <a:latin typeface="Times New Roman" panose="02020603050405020304" pitchFamily="18" charset="0"/>
                <a:cs typeface="Times New Roman" panose="02020603050405020304" pitchFamily="18" charset="0"/>
              </a:rPr>
              <a:t>м</a:t>
            </a:r>
            <a:r>
              <a:rPr lang="en-US" sz="2600" dirty="0">
                <a:latin typeface="Times New Roman" panose="02020603050405020304" pitchFamily="18" charset="0"/>
                <a:cs typeface="Times New Roman" panose="02020603050405020304" pitchFamily="18" charset="0"/>
              </a:rPr>
              <a:t>a</a:t>
            </a:r>
            <a:r>
              <a:rPr lang="bg-BG" sz="2600" dirty="0">
                <a:latin typeface="Times New Roman" panose="02020603050405020304" pitchFamily="18" charset="0"/>
                <a:cs typeface="Times New Roman" panose="02020603050405020304" pitchFamily="18" charset="0"/>
              </a:rPr>
              <a:t>ляв</a:t>
            </a:r>
            <a:r>
              <a:rPr lang="en-US" sz="2600" dirty="0">
                <a:latin typeface="Times New Roman" panose="02020603050405020304" pitchFamily="18" charset="0"/>
                <a:cs typeface="Times New Roman" panose="02020603050405020304" pitchFamily="18" charset="0"/>
              </a:rPr>
              <a:t>a</a:t>
            </a:r>
            <a:r>
              <a:rPr lang="bg-BG" sz="2600" dirty="0">
                <a:latin typeface="Times New Roman" panose="02020603050405020304" pitchFamily="18" charset="0"/>
                <a:cs typeface="Times New Roman" panose="02020603050405020304" pitchFamily="18" charset="0"/>
              </a:rPr>
              <a:t>н</a:t>
            </a:r>
            <a:r>
              <a:rPr lang="en-US" sz="2600" dirty="0">
                <a:latin typeface="Times New Roman" panose="02020603050405020304" pitchFamily="18" charset="0"/>
                <a:cs typeface="Times New Roman" panose="02020603050405020304" pitchFamily="18" charset="0"/>
              </a:rPr>
              <a:t>e </a:t>
            </a:r>
            <a:r>
              <a:rPr lang="bg-BG" sz="2600" dirty="0">
                <a:latin typeface="Times New Roman" panose="02020603050405020304" pitchFamily="18" charset="0"/>
                <a:cs typeface="Times New Roman" panose="02020603050405020304" pitchFamily="18" charset="0"/>
              </a:rPr>
              <a:t>н</a:t>
            </a:r>
            <a:r>
              <a:rPr lang="en-US" sz="2600" dirty="0">
                <a:latin typeface="Times New Roman" panose="02020603050405020304" pitchFamily="18" charset="0"/>
                <a:cs typeface="Times New Roman" panose="02020603050405020304" pitchFamily="18" charset="0"/>
              </a:rPr>
              <a:t>a </a:t>
            </a:r>
            <a:r>
              <a:rPr lang="bg-BG" sz="2600" dirty="0">
                <a:latin typeface="Times New Roman" panose="02020603050405020304" pitchFamily="18" charset="0"/>
                <a:cs typeface="Times New Roman" panose="02020603050405020304" pitchFamily="18" charset="0"/>
              </a:rPr>
              <a:t>външнит</a:t>
            </a:r>
            <a:r>
              <a:rPr lang="en-US" sz="2600" dirty="0">
                <a:latin typeface="Times New Roman" panose="02020603050405020304" pitchFamily="18" charset="0"/>
                <a:cs typeface="Times New Roman" panose="02020603050405020304" pitchFamily="18" charset="0"/>
              </a:rPr>
              <a:t>e </a:t>
            </a:r>
            <a:r>
              <a:rPr lang="bg-BG" sz="2600" dirty="0">
                <a:latin typeface="Times New Roman" panose="02020603050405020304" pitchFamily="18" charset="0"/>
                <a:cs typeface="Times New Roman" panose="02020603050405020304" pitchFamily="18" charset="0"/>
              </a:rPr>
              <a:t>зв</a:t>
            </a:r>
            <a:r>
              <a:rPr lang="en-US" sz="2600" dirty="0">
                <a:latin typeface="Times New Roman" panose="02020603050405020304" pitchFamily="18" charset="0"/>
                <a:cs typeface="Times New Roman" panose="02020603050405020304" pitchFamily="18" charset="0"/>
              </a:rPr>
              <a:t>y</a:t>
            </a:r>
            <a:r>
              <a:rPr lang="bg-BG" sz="2600" dirty="0">
                <a:latin typeface="Times New Roman" panose="02020603050405020304" pitchFamily="18" charset="0"/>
                <a:cs typeface="Times New Roman" panose="02020603050405020304" pitchFamily="18" charset="0"/>
              </a:rPr>
              <a:t>ци. </a:t>
            </a:r>
            <a:r>
              <a:rPr lang="en-US" sz="2600" dirty="0">
                <a:latin typeface="Times New Roman" panose="02020603050405020304" pitchFamily="18" charset="0"/>
                <a:cs typeface="Times New Roman" panose="02020603050405020304" pitchFamily="18" charset="0"/>
              </a:rPr>
              <a:t>He</a:t>
            </a:r>
            <a:r>
              <a:rPr lang="bg-BG" sz="2600" dirty="0">
                <a:latin typeface="Times New Roman" panose="02020603050405020304" pitchFamily="18" charset="0"/>
                <a:cs typeface="Times New Roman" panose="02020603050405020304" pitchFamily="18" charset="0"/>
              </a:rPr>
              <a:t>г</a:t>
            </a:r>
            <a:r>
              <a:rPr lang="en-US" sz="2600" dirty="0">
                <a:latin typeface="Times New Roman" panose="02020603050405020304" pitchFamily="18" charset="0"/>
                <a:cs typeface="Times New Roman" panose="02020603050405020304" pitchFamily="18" charset="0"/>
              </a:rPr>
              <a:t>o</a:t>
            </a:r>
            <a:r>
              <a:rPr lang="bg-BG" sz="2600" dirty="0">
                <a:latin typeface="Times New Roman" panose="02020603050405020304" pitchFamily="18" charset="0"/>
                <a:cs typeface="Times New Roman" panose="02020603050405020304" pitchFamily="18" charset="0"/>
              </a:rPr>
              <a:t>вият диз</a:t>
            </a:r>
            <a:r>
              <a:rPr lang="en-US" sz="2600" dirty="0">
                <a:latin typeface="Times New Roman" panose="02020603050405020304" pitchFamily="18" charset="0"/>
                <a:cs typeface="Times New Roman" panose="02020603050405020304" pitchFamily="18" charset="0"/>
              </a:rPr>
              <a:t>a</a:t>
            </a:r>
            <a:r>
              <a:rPr lang="bg-BG" sz="2600" dirty="0">
                <a:latin typeface="Times New Roman" panose="02020603050405020304" pitchFamily="18" charset="0"/>
                <a:cs typeface="Times New Roman" panose="02020603050405020304" pitchFamily="18" charset="0"/>
              </a:rPr>
              <a:t>йн </a:t>
            </a:r>
            <a:r>
              <a:rPr lang="en-US" sz="2600" dirty="0">
                <a:latin typeface="Times New Roman" panose="02020603050405020304" pitchFamily="18" charset="0"/>
                <a:cs typeface="Times New Roman" panose="02020603050405020304" pitchFamily="18" charset="0"/>
              </a:rPr>
              <a:t>e </a:t>
            </a:r>
            <a:r>
              <a:rPr lang="bg-BG" sz="2600" dirty="0">
                <a:latin typeface="Times New Roman" panose="02020603050405020304" pitchFamily="18" charset="0"/>
                <a:cs typeface="Times New Roman" panose="02020603050405020304" pitchFamily="18" charset="0"/>
              </a:rPr>
              <a:t>н</a:t>
            </a:r>
            <a:r>
              <a:rPr lang="en-US" sz="2600" dirty="0">
                <a:latin typeface="Times New Roman" panose="02020603050405020304" pitchFamily="18" charset="0"/>
                <a:cs typeface="Times New Roman" panose="02020603050405020304" pitchFamily="18" charset="0"/>
              </a:rPr>
              <a:t>e</a:t>
            </a:r>
            <a:r>
              <a:rPr lang="bg-BG" sz="2600" dirty="0">
                <a:latin typeface="Times New Roman" panose="02020603050405020304" pitchFamily="18" charset="0"/>
                <a:cs typeface="Times New Roman" panose="02020603050405020304" pitchFamily="18" charset="0"/>
              </a:rPr>
              <a:t>в</a:t>
            </a:r>
            <a:r>
              <a:rPr lang="en-US" sz="2600" dirty="0" err="1">
                <a:latin typeface="Times New Roman" panose="02020603050405020304" pitchFamily="18" charset="0"/>
                <a:cs typeface="Times New Roman" panose="02020603050405020304" pitchFamily="18" charset="0"/>
              </a:rPr>
              <a:t>epo</a:t>
            </a:r>
            <a:r>
              <a:rPr lang="bg-BG" sz="2600" dirty="0">
                <a:latin typeface="Times New Roman" panose="02020603050405020304" pitchFamily="18" charset="0"/>
                <a:cs typeface="Times New Roman" panose="02020603050405020304" pitchFamily="18" charset="0"/>
              </a:rPr>
              <a:t>ятн</a:t>
            </a:r>
            <a:r>
              <a:rPr lang="en-US" sz="2600" dirty="0">
                <a:latin typeface="Times New Roman" panose="02020603050405020304" pitchFamily="18" charset="0"/>
                <a:cs typeface="Times New Roman" panose="02020603050405020304" pitchFamily="18" charset="0"/>
              </a:rPr>
              <a:t>o y</a:t>
            </a:r>
            <a:r>
              <a:rPr lang="bg-BG" sz="2600" dirty="0">
                <a:latin typeface="Times New Roman" panose="02020603050405020304" pitchFamily="18" charset="0"/>
                <a:cs typeface="Times New Roman" panose="02020603050405020304" pitchFamily="18" charset="0"/>
              </a:rPr>
              <a:t>м</a:t>
            </a:r>
            <a:r>
              <a:rPr lang="en-US" sz="2600" dirty="0">
                <a:latin typeface="Times New Roman" panose="02020603050405020304" pitchFamily="18" charset="0"/>
                <a:cs typeface="Times New Roman" panose="02020603050405020304" pitchFamily="18" charset="0"/>
              </a:rPr>
              <a:t>e</a:t>
            </a:r>
            <a:r>
              <a:rPr lang="bg-BG" sz="2600" dirty="0">
                <a:latin typeface="Times New Roman" panose="02020603050405020304" pitchFamily="18" charset="0"/>
                <a:cs typeface="Times New Roman" panose="02020603050405020304" pitchFamily="18" charset="0"/>
              </a:rPr>
              <a:t>л</a:t>
            </a:r>
            <a:r>
              <a:rPr lang="en-US" sz="2600" dirty="0">
                <a:latin typeface="Times New Roman" panose="02020603050405020304" pitchFamily="18" charset="0"/>
                <a:cs typeface="Times New Roman" panose="02020603050405020304" pitchFamily="18" charset="0"/>
              </a:rPr>
              <a:t>a pa</a:t>
            </a:r>
            <a:r>
              <a:rPr lang="bg-BG" sz="2600" dirty="0">
                <a:latin typeface="Times New Roman" panose="02020603050405020304" pitchFamily="18" charset="0"/>
                <a:cs typeface="Times New Roman" panose="02020603050405020304" pitchFamily="18" charset="0"/>
              </a:rPr>
              <a:t>б</a:t>
            </a:r>
            <a:r>
              <a:rPr lang="en-US" sz="2600" dirty="0">
                <a:latin typeface="Times New Roman" panose="02020603050405020304" pitchFamily="18" charset="0"/>
                <a:cs typeface="Times New Roman" panose="02020603050405020304" pitchFamily="18" charset="0"/>
              </a:rPr>
              <a:t>o</a:t>
            </a:r>
            <a:r>
              <a:rPr lang="bg-BG" sz="2600" dirty="0">
                <a:latin typeface="Times New Roman" panose="02020603050405020304" pitchFamily="18" charset="0"/>
                <a:cs typeface="Times New Roman" panose="02020603050405020304" pitchFamily="18" charset="0"/>
              </a:rPr>
              <a:t>т</a:t>
            </a:r>
            <a:r>
              <a:rPr lang="en-US" sz="2600" dirty="0">
                <a:latin typeface="Times New Roman" panose="02020603050405020304" pitchFamily="18" charset="0"/>
                <a:cs typeface="Times New Roman" panose="02020603050405020304" pitchFamily="18" charset="0"/>
              </a:rPr>
              <a:t>a </a:t>
            </a:r>
            <a:r>
              <a:rPr lang="bg-BG" sz="2600" dirty="0">
                <a:latin typeface="Times New Roman" panose="02020603050405020304" pitchFamily="18" charset="0"/>
                <a:cs typeface="Times New Roman" panose="02020603050405020304" pitchFamily="18" charset="0"/>
              </a:rPr>
              <a:t>п</a:t>
            </a:r>
            <a:r>
              <a:rPr lang="en-US" sz="2600" dirty="0">
                <a:latin typeface="Times New Roman" panose="02020603050405020304" pitchFamily="18" charset="0"/>
                <a:cs typeface="Times New Roman" panose="02020603050405020304" pitchFamily="18" charset="0"/>
              </a:rPr>
              <a:t>o </a:t>
            </a:r>
            <a:r>
              <a:rPr lang="bg-BG" sz="2600" dirty="0">
                <a:latin typeface="Times New Roman" panose="02020603050405020304" pitchFamily="18" charset="0"/>
                <a:cs typeface="Times New Roman" panose="02020603050405020304" pitchFamily="18" charset="0"/>
              </a:rPr>
              <a:t>мини</a:t>
            </a:r>
            <a:r>
              <a:rPr lang="en-US" sz="2600" dirty="0">
                <a:latin typeface="Times New Roman" panose="02020603050405020304" pitchFamily="18" charset="0"/>
                <a:cs typeface="Times New Roman" panose="02020603050405020304" pitchFamily="18" charset="0"/>
              </a:rPr>
              <a:t>a</a:t>
            </a:r>
            <a:r>
              <a:rPr lang="bg-BG" sz="2600" dirty="0">
                <a:latin typeface="Times New Roman" panose="02020603050405020304" pitchFamily="18" charset="0"/>
                <a:cs typeface="Times New Roman" panose="02020603050405020304" pitchFamily="18" charset="0"/>
              </a:rPr>
              <a:t>тю</a:t>
            </a:r>
            <a:r>
              <a:rPr lang="en-US" sz="2600" dirty="0">
                <a:latin typeface="Times New Roman" panose="02020603050405020304" pitchFamily="18" charset="0"/>
                <a:cs typeface="Times New Roman" panose="02020603050405020304" pitchFamily="18" charset="0"/>
              </a:rPr>
              <a:t>p</a:t>
            </a:r>
            <a:r>
              <a:rPr lang="bg-BG" sz="2600" dirty="0">
                <a:latin typeface="Times New Roman" panose="02020603050405020304" pitchFamily="18" charset="0"/>
                <a:cs typeface="Times New Roman" panose="02020603050405020304" pitchFamily="18" charset="0"/>
              </a:rPr>
              <a:t>из</a:t>
            </a:r>
            <a:r>
              <a:rPr lang="en-US" sz="2600" dirty="0">
                <a:latin typeface="Times New Roman" panose="02020603050405020304" pitchFamily="18" charset="0"/>
                <a:cs typeface="Times New Roman" panose="02020603050405020304" pitchFamily="18" charset="0"/>
              </a:rPr>
              <a:t>a</a:t>
            </a:r>
            <a:r>
              <a:rPr lang="bg-BG" sz="2600" dirty="0">
                <a:latin typeface="Times New Roman" panose="02020603050405020304" pitchFamily="18" charset="0"/>
                <a:cs typeface="Times New Roman" panose="02020603050405020304" pitchFamily="18" charset="0"/>
              </a:rPr>
              <a:t>ция и </a:t>
            </a:r>
            <a:r>
              <a:rPr lang="en-US" sz="2600" dirty="0">
                <a:latin typeface="Times New Roman" panose="02020603050405020304" pitchFamily="18" charset="0"/>
                <a:cs typeface="Times New Roman" panose="02020603050405020304" pitchFamily="18" charset="0"/>
              </a:rPr>
              <a:t>e </a:t>
            </a:r>
            <a:r>
              <a:rPr lang="bg-BG" sz="2600" dirty="0">
                <a:latin typeface="Times New Roman" panose="02020603050405020304" pitchFamily="18" charset="0"/>
                <a:cs typeface="Times New Roman" panose="02020603050405020304" pitchFamily="18" charset="0"/>
              </a:rPr>
              <a:t>п</a:t>
            </a:r>
            <a:r>
              <a:rPr lang="en-US" sz="2600" dirty="0">
                <a:latin typeface="Times New Roman" panose="02020603050405020304" pitchFamily="18" charset="0"/>
                <a:cs typeface="Times New Roman" panose="02020603050405020304" pitchFamily="18" charset="0"/>
              </a:rPr>
              <a:t>o</a:t>
            </a:r>
            <a:r>
              <a:rPr lang="bg-BG" sz="2600" dirty="0">
                <a:latin typeface="Times New Roman" panose="02020603050405020304" pitchFamily="18" charset="0"/>
                <a:cs typeface="Times New Roman" panose="02020603050405020304" pitchFamily="18" charset="0"/>
              </a:rPr>
              <a:t>д</a:t>
            </a:r>
            <a:r>
              <a:rPr lang="en-US" sz="2600" dirty="0">
                <a:latin typeface="Times New Roman" panose="02020603050405020304" pitchFamily="18" charset="0"/>
                <a:cs typeface="Times New Roman" panose="02020603050405020304" pitchFamily="18" charset="0"/>
              </a:rPr>
              <a:t>o</a:t>
            </a:r>
            <a:r>
              <a:rPr lang="bg-BG" sz="2600" dirty="0">
                <a:latin typeface="Times New Roman" panose="02020603050405020304" pitchFamily="18" charset="0"/>
                <a:cs typeface="Times New Roman" panose="02020603050405020304" pitchFamily="18" charset="0"/>
              </a:rPr>
              <a:t>б</a:t>
            </a:r>
            <a:r>
              <a:rPr lang="en-US" sz="2600" dirty="0">
                <a:latin typeface="Times New Roman" panose="02020603050405020304" pitchFamily="18" charset="0"/>
                <a:cs typeface="Times New Roman" panose="02020603050405020304" pitchFamily="18" charset="0"/>
              </a:rPr>
              <a:t>e</a:t>
            </a:r>
            <a:r>
              <a:rPr lang="bg-BG" sz="2600" dirty="0">
                <a:latin typeface="Times New Roman" panose="02020603050405020304" pitchFamily="18" charset="0"/>
                <a:cs typeface="Times New Roman" panose="02020603050405020304" pitchFamily="18" charset="0"/>
              </a:rPr>
              <a:t>н н</a:t>
            </a:r>
            <a:r>
              <a:rPr lang="en-US" sz="2600" dirty="0">
                <a:latin typeface="Times New Roman" panose="02020603050405020304" pitchFamily="18" charset="0"/>
                <a:cs typeface="Times New Roman" panose="02020603050405020304" pitchFamily="18" charset="0"/>
              </a:rPr>
              <a:t>a c</a:t>
            </a:r>
            <a:r>
              <a:rPr lang="bg-BG" sz="2600" dirty="0">
                <a:latin typeface="Times New Roman" panose="02020603050405020304" pitchFamily="18" charset="0"/>
                <a:cs typeface="Times New Roman" panose="02020603050405020304" pitchFamily="18" charset="0"/>
              </a:rPr>
              <a:t>ъв</a:t>
            </a:r>
            <a:r>
              <a:rPr lang="en-US" sz="2600" dirty="0">
                <a:latin typeface="Times New Roman" panose="02020603050405020304" pitchFamily="18" charset="0"/>
                <a:cs typeface="Times New Roman" panose="02020603050405020304" pitchFamily="18" charset="0"/>
              </a:rPr>
              <a:t>pe</a:t>
            </a:r>
            <a:r>
              <a:rPr lang="bg-BG" sz="2600" dirty="0">
                <a:latin typeface="Times New Roman" panose="02020603050405020304" pitchFamily="18" charset="0"/>
                <a:cs typeface="Times New Roman" panose="02020603050405020304" pitchFamily="18" charset="0"/>
              </a:rPr>
              <a:t>м</a:t>
            </a:r>
            <a:r>
              <a:rPr lang="en-US" sz="2600" dirty="0">
                <a:latin typeface="Times New Roman" panose="02020603050405020304" pitchFamily="18" charset="0"/>
                <a:cs typeface="Times New Roman" panose="02020603050405020304" pitchFamily="18" charset="0"/>
              </a:rPr>
              <a:t>e</a:t>
            </a:r>
            <a:r>
              <a:rPr lang="bg-BG" sz="2600" dirty="0">
                <a:latin typeface="Times New Roman" panose="02020603050405020304" pitchFamily="18" charset="0"/>
                <a:cs typeface="Times New Roman" panose="02020603050405020304" pitchFamily="18" charset="0"/>
              </a:rPr>
              <a:t>ннит</a:t>
            </a:r>
            <a:r>
              <a:rPr lang="en-US" sz="2600" dirty="0">
                <a:latin typeface="Times New Roman" panose="02020603050405020304" pitchFamily="18" charset="0"/>
                <a:cs typeface="Times New Roman" panose="02020603050405020304" pitchFamily="18" charset="0"/>
              </a:rPr>
              <a:t>e c</a:t>
            </a:r>
            <a:r>
              <a:rPr lang="bg-BG" sz="2600" dirty="0">
                <a:latin typeface="Times New Roman" panose="02020603050405020304" pitchFamily="18" charset="0"/>
                <a:cs typeface="Times New Roman" panose="02020603050405020304" pitchFamily="18" charset="0"/>
              </a:rPr>
              <a:t>л</a:t>
            </a:r>
            <a:r>
              <a:rPr lang="en-US" sz="2600" dirty="0">
                <a:latin typeface="Times New Roman" panose="02020603050405020304" pitchFamily="18" charset="0"/>
                <a:cs typeface="Times New Roman" panose="02020603050405020304" pitchFamily="18" charset="0"/>
              </a:rPr>
              <a:t>y</a:t>
            </a:r>
            <a:r>
              <a:rPr lang="bg-BG" sz="2600" dirty="0">
                <a:latin typeface="Times New Roman" panose="02020603050405020304" pitchFamily="18" charset="0"/>
                <a:cs typeface="Times New Roman" panose="02020603050405020304" pitchFamily="18" charset="0"/>
              </a:rPr>
              <a:t>ш</a:t>
            </a:r>
            <a:r>
              <a:rPr lang="en-US" sz="2600" dirty="0">
                <a:latin typeface="Times New Roman" panose="02020603050405020304" pitchFamily="18" charset="0"/>
                <a:cs typeface="Times New Roman" panose="02020603050405020304" pitchFamily="18" charset="0"/>
              </a:rPr>
              <a:t>a</a:t>
            </a:r>
            <a:r>
              <a:rPr lang="bg-BG" sz="2600" dirty="0">
                <a:latin typeface="Times New Roman" panose="02020603050405020304" pitchFamily="18" charset="0"/>
                <a:cs typeface="Times New Roman" panose="02020603050405020304" pitchFamily="18" charset="0"/>
              </a:rPr>
              <a:t>л</a:t>
            </a:r>
            <a:r>
              <a:rPr lang="en-US" sz="2600" dirty="0">
                <a:latin typeface="Times New Roman" panose="02020603050405020304" pitchFamily="18" charset="0"/>
                <a:cs typeface="Times New Roman" panose="02020603050405020304" pitchFamily="18" charset="0"/>
              </a:rPr>
              <a:t>ĸ</a:t>
            </a:r>
            <a:r>
              <a:rPr lang="bg-BG" sz="2600" dirty="0">
                <a:latin typeface="Times New Roman" panose="02020603050405020304" pitchFamily="18" charset="0"/>
                <a:cs typeface="Times New Roman" panose="02020603050405020304" pitchFamily="18" charset="0"/>
              </a:rPr>
              <a:t>и з</a:t>
            </a:r>
            <a:r>
              <a:rPr lang="en-US" sz="2600" dirty="0">
                <a:latin typeface="Times New Roman" panose="02020603050405020304" pitchFamily="18" charset="0"/>
                <a:cs typeface="Times New Roman" panose="02020603050405020304" pitchFamily="18" charset="0"/>
              </a:rPr>
              <a:t>a </a:t>
            </a:r>
            <a:r>
              <a:rPr lang="bg-BG" sz="2600" dirty="0">
                <a:latin typeface="Times New Roman" panose="02020603050405020304" pitchFamily="18" charset="0"/>
                <a:cs typeface="Times New Roman" panose="02020603050405020304" pitchFamily="18" charset="0"/>
              </a:rPr>
              <a:t>п</a:t>
            </a:r>
            <a:r>
              <a:rPr lang="en-US" sz="2600" dirty="0">
                <a:latin typeface="Times New Roman" panose="02020603050405020304" pitchFamily="18" charset="0"/>
                <a:cs typeface="Times New Roman" panose="02020603050405020304" pitchFamily="18" charset="0"/>
              </a:rPr>
              <a:t>oc</a:t>
            </a:r>
            <a:r>
              <a:rPr lang="bg-BG" sz="2600" dirty="0">
                <a:latin typeface="Times New Roman" panose="02020603050405020304" pitchFamily="18" charset="0"/>
                <a:cs typeface="Times New Roman" panose="02020603050405020304" pitchFamily="18" charset="0"/>
              </a:rPr>
              <a:t>т</a:t>
            </a:r>
            <a:r>
              <a:rPr lang="en-US" sz="2600" dirty="0">
                <a:latin typeface="Times New Roman" panose="02020603050405020304" pitchFamily="18" charset="0"/>
                <a:cs typeface="Times New Roman" panose="02020603050405020304" pitchFamily="18" charset="0"/>
              </a:rPr>
              <a:t>a</a:t>
            </a:r>
            <a:r>
              <a:rPr lang="bg-BG" sz="2600" dirty="0">
                <a:latin typeface="Times New Roman" panose="02020603050405020304" pitchFamily="18" charset="0"/>
                <a:cs typeface="Times New Roman" panose="02020603050405020304" pitchFamily="18" charset="0"/>
              </a:rPr>
              <a:t>вян</a:t>
            </a:r>
            <a:r>
              <a:rPr lang="en-US" sz="2600" dirty="0">
                <a:latin typeface="Times New Roman" panose="02020603050405020304" pitchFamily="18" charset="0"/>
                <a:cs typeface="Times New Roman" panose="02020603050405020304" pitchFamily="18" charset="0"/>
              </a:rPr>
              <a:t>e </a:t>
            </a:r>
            <a:r>
              <a:rPr lang="bg-BG" sz="2600" dirty="0">
                <a:latin typeface="Times New Roman" panose="02020603050405020304" pitchFamily="18" charset="0"/>
                <a:cs typeface="Times New Roman" panose="02020603050405020304" pitchFamily="18" charset="0"/>
              </a:rPr>
              <a:t>в </a:t>
            </a:r>
            <a:r>
              <a:rPr lang="en-US" sz="2600" dirty="0">
                <a:latin typeface="Times New Roman" panose="02020603050405020304" pitchFamily="18" charset="0"/>
                <a:cs typeface="Times New Roman" panose="02020603050405020304" pitchFamily="18" charset="0"/>
              </a:rPr>
              <a:t>y</a:t>
            </a:r>
            <a:r>
              <a:rPr lang="bg-BG" sz="2600" dirty="0">
                <a:latin typeface="Times New Roman" panose="02020603050405020304" pitchFamily="18" charset="0"/>
                <a:cs typeface="Times New Roman" panose="02020603050405020304" pitchFamily="18" charset="0"/>
              </a:rPr>
              <a:t>шит</a:t>
            </a:r>
            <a:r>
              <a:rPr lang="en-US" sz="2600" dirty="0" smtClean="0">
                <a:latin typeface="Times New Roman" panose="02020603050405020304" pitchFamily="18" charset="0"/>
                <a:cs typeface="Times New Roman" panose="02020603050405020304" pitchFamily="18" charset="0"/>
              </a:rPr>
              <a:t>e.</a:t>
            </a:r>
            <a:endParaRPr lang="en-US" sz="2600" dirty="0">
              <a:latin typeface="Times New Roman" panose="02020603050405020304" pitchFamily="18" charset="0"/>
              <a:cs typeface="Times New Roman" panose="02020603050405020304" pitchFamily="18" charset="0"/>
            </a:endParaRPr>
          </a:p>
          <a:p>
            <a:pPr algn="just"/>
            <a:r>
              <a:rPr lang="ru-RU" sz="2600" dirty="0">
                <a:latin typeface="Times New Roman" panose="02020603050405020304" pitchFamily="18" charset="0"/>
                <a:cs typeface="Times New Roman" panose="02020603050405020304" pitchFamily="18" charset="0"/>
              </a:rPr>
              <a:t>Акцента в развитието на слушалките днес е върху няколко основни точки</a:t>
            </a:r>
            <a:r>
              <a:rPr lang="ru-RU" sz="2600" dirty="0" smtClean="0">
                <a:latin typeface="Times New Roman" panose="02020603050405020304" pitchFamily="18" charset="0"/>
                <a:cs typeface="Times New Roman" panose="02020603050405020304" pitchFamily="18" charset="0"/>
              </a:rPr>
              <a:t>:</a:t>
            </a:r>
            <a:endParaRPr lang="ru-RU" sz="26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ru-RU" sz="2600" dirty="0">
                <a:latin typeface="Times New Roman" panose="02020603050405020304" pitchFamily="18" charset="0"/>
                <a:cs typeface="Times New Roman" panose="02020603050405020304" pitchFamily="18" charset="0"/>
              </a:rPr>
              <a:t>-По-добро шумоподтискане</a:t>
            </a:r>
            <a:r>
              <a:rPr lang="ru-RU" sz="2600" dirty="0" smtClean="0">
                <a:latin typeface="Times New Roman" panose="02020603050405020304" pitchFamily="18" charset="0"/>
                <a:cs typeface="Times New Roman" panose="02020603050405020304" pitchFamily="18" charset="0"/>
              </a:rPr>
              <a:t>;</a:t>
            </a:r>
          </a:p>
          <a:p>
            <a:pPr algn="just">
              <a:buFont typeface="Arial" panose="020B0604020202020204" pitchFamily="34" charset="0"/>
              <a:buChar char="•"/>
            </a:pPr>
            <a:r>
              <a:rPr lang="ru-RU" sz="2600" dirty="0" smtClean="0">
                <a:latin typeface="Times New Roman" panose="02020603050405020304" pitchFamily="18" charset="0"/>
                <a:cs typeface="Times New Roman" panose="02020603050405020304" pitchFamily="18" charset="0"/>
              </a:rPr>
              <a:t>-</a:t>
            </a:r>
            <a:r>
              <a:rPr lang="ru-RU" sz="2600" dirty="0">
                <a:latin typeface="Times New Roman" panose="02020603050405020304" pitchFamily="18" charset="0"/>
                <a:cs typeface="Times New Roman" panose="02020603050405020304" pitchFamily="18" charset="0"/>
              </a:rPr>
              <a:t>По-добро качество на звука</a:t>
            </a:r>
            <a:r>
              <a:rPr lang="ru-RU" sz="2600" dirty="0" smtClean="0">
                <a:latin typeface="Times New Roman" panose="02020603050405020304" pitchFamily="18" charset="0"/>
                <a:cs typeface="Times New Roman" panose="02020603050405020304" pitchFamily="18" charset="0"/>
              </a:rPr>
              <a:t>;</a:t>
            </a:r>
            <a:endParaRPr lang="ru-RU" sz="26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ru-RU" sz="2600" dirty="0">
                <a:latin typeface="Times New Roman" panose="02020603050405020304" pitchFamily="18" charset="0"/>
                <a:cs typeface="Times New Roman" panose="02020603050405020304" pitchFamily="18" charset="0"/>
              </a:rPr>
              <a:t>-</a:t>
            </a:r>
            <a:r>
              <a:rPr lang="ru-RU" sz="2600" dirty="0" smtClean="0">
                <a:latin typeface="Times New Roman" panose="02020603050405020304" pitchFamily="18" charset="0"/>
                <a:cs typeface="Times New Roman" panose="02020603050405020304" pitchFamily="18" charset="0"/>
              </a:rPr>
              <a:t>По-добра </a:t>
            </a:r>
            <a:r>
              <a:rPr lang="ru-RU" sz="2600" dirty="0">
                <a:latin typeface="Times New Roman" panose="02020603050405020304" pitchFamily="18" charset="0"/>
                <a:cs typeface="Times New Roman" panose="02020603050405020304" pitchFamily="18" charset="0"/>
              </a:rPr>
              <a:t>скорост на достъп до гласови асистенти</a:t>
            </a:r>
            <a:r>
              <a:rPr lang="ru-RU" sz="2600" dirty="0" smtClean="0">
                <a:latin typeface="Times New Roman" panose="02020603050405020304" pitchFamily="18" charset="0"/>
                <a:cs typeface="Times New Roman" panose="02020603050405020304" pitchFamily="18" charset="0"/>
              </a:rPr>
              <a:t>;</a:t>
            </a:r>
            <a:endParaRPr lang="ru-RU" sz="26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ru-RU" sz="2600" dirty="0">
                <a:latin typeface="Times New Roman" panose="02020603050405020304" pitchFamily="18" charset="0"/>
                <a:cs typeface="Times New Roman" panose="02020603050405020304" pitchFamily="18" charset="0"/>
              </a:rPr>
              <a:t>-Максимален активен живот на батерията, както и минималното забавяне на звука от източника на звук до полученото устройство.</a:t>
            </a:r>
            <a:endParaRPr lang="en-US" sz="2600" dirty="0">
              <a:latin typeface="Times New Roman" panose="02020603050405020304" pitchFamily="18" charset="0"/>
              <a:cs typeface="Times New Roman" panose="02020603050405020304" pitchFamily="18" charset="0"/>
            </a:endParaRPr>
          </a:p>
          <a:p>
            <a:endParaRPr lang="bg-BG" sz="2400" dirty="0">
              <a:latin typeface="Times New Roman" panose="02020603050405020304" pitchFamily="18" charset="0"/>
              <a:cs typeface="Times New Roman" panose="02020603050405020304" pitchFamily="18" charset="0"/>
            </a:endParaRPr>
          </a:p>
          <a:p>
            <a:endParaRPr lang="bg-BG" dirty="0"/>
          </a:p>
        </p:txBody>
      </p:sp>
    </p:spTree>
    <p:extLst>
      <p:ext uri="{BB962C8B-B14F-4D97-AF65-F5344CB8AC3E}">
        <p14:creationId xmlns:p14="http://schemas.microsoft.com/office/powerpoint/2010/main" val="279774271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latin typeface="Times New Roman" panose="02020603050405020304" pitchFamily="18" charset="0"/>
                <a:cs typeface="Times New Roman" panose="02020603050405020304" pitchFamily="18" charset="0"/>
              </a:rPr>
              <a:t>Тонколони</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2429301"/>
            <a:ext cx="6660108" cy="4428699"/>
          </a:xfrm>
        </p:spPr>
        <p:txBody>
          <a:bodyPr>
            <a:normAutofit/>
          </a:bodyPr>
          <a:lstStyle/>
          <a:p>
            <a:endParaRPr lang="ru-RU" dirty="0"/>
          </a:p>
          <a:p>
            <a:r>
              <a:rPr lang="ru-RU" sz="2400" dirty="0" smtClean="0">
                <a:latin typeface="Times New Roman" panose="02020603050405020304" pitchFamily="18" charset="0"/>
                <a:cs typeface="Times New Roman" panose="02020603050405020304" pitchFamily="18" charset="0"/>
              </a:rPr>
              <a:t>Те са </a:t>
            </a:r>
            <a:r>
              <a:rPr lang="ru-RU" sz="2400" dirty="0">
                <a:latin typeface="Times New Roman" panose="02020603050405020304" pitchFamily="18" charset="0"/>
                <a:cs typeface="Times New Roman" panose="02020603050405020304" pitchFamily="18" charset="0"/>
              </a:rPr>
              <a:t>озвучително тяло, групов линеен излъчвател.Наричани още озвучителни тела,които работят на принципа на преобразуването на електрическия сигнал в акустичен.</a:t>
            </a:r>
            <a:br>
              <a:rPr lang="ru-RU" sz="2400" dirty="0">
                <a:latin typeface="Times New Roman" panose="02020603050405020304" pitchFamily="18" charset="0"/>
                <a:cs typeface="Times New Roman" panose="02020603050405020304" pitchFamily="18" charset="0"/>
              </a:rPr>
            </a:br>
            <a:r>
              <a:rPr lang="ru-RU" sz="2400" dirty="0">
                <a:latin typeface="Times New Roman" panose="02020603050405020304" pitchFamily="18" charset="0"/>
                <a:cs typeface="Times New Roman" panose="02020603050405020304" pitchFamily="18" charset="0"/>
              </a:rPr>
              <a:t>Колоните могат да бъдат  </a:t>
            </a:r>
            <a:r>
              <a:rPr lang="ru-RU" sz="2400" dirty="0" smtClean="0">
                <a:latin typeface="Times New Roman" panose="02020603050405020304" pitchFamily="18" charset="0"/>
                <a:cs typeface="Times New Roman" panose="02020603050405020304" pitchFamily="18" charset="0"/>
              </a:rPr>
              <a:t>едно, дву</a:t>
            </a:r>
            <a:r>
              <a:rPr lang="ru-RU" sz="2400" dirty="0">
                <a:latin typeface="Times New Roman" panose="02020603050405020304" pitchFamily="18" charset="0"/>
                <a:cs typeface="Times New Roman" panose="02020603050405020304" pitchFamily="18" charset="0"/>
              </a:rPr>
              <a:t>  или трилентови, а според предназначението си - фронтални, съраунд, централни, субуфери, колони за вграждане и др.</a:t>
            </a:r>
          </a:p>
          <a:p>
            <a:endParaRPr lang="en-US" dirty="0"/>
          </a:p>
        </p:txBody>
      </p:sp>
      <p:pic>
        <p:nvPicPr>
          <p:cNvPr id="4" name="Picture 3"/>
          <p:cNvPicPr>
            <a:picLocks noChangeAspect="1"/>
          </p:cNvPicPr>
          <p:nvPr/>
        </p:nvPicPr>
        <p:blipFill>
          <a:blip r:embed="rId2"/>
          <a:stretch>
            <a:fillRect/>
          </a:stretch>
        </p:blipFill>
        <p:spPr>
          <a:xfrm>
            <a:off x="7020636" y="2429301"/>
            <a:ext cx="4102290" cy="4102290"/>
          </a:xfrm>
          <a:prstGeom prst="rect">
            <a:avLst/>
          </a:prstGeom>
        </p:spPr>
      </p:pic>
    </p:spTree>
    <p:extLst>
      <p:ext uri="{BB962C8B-B14F-4D97-AF65-F5344CB8AC3E}">
        <p14:creationId xmlns:p14="http://schemas.microsoft.com/office/powerpoint/2010/main" val="11008373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latin typeface="Times New Roman" panose="02020603050405020304" pitchFamily="18" charset="0"/>
                <a:cs typeface="Times New Roman" panose="02020603050405020304" pitchFamily="18" charset="0"/>
              </a:rPr>
              <a:t>Тест</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40914" y="2305318"/>
            <a:ext cx="11651086" cy="4417454"/>
          </a:xfrm>
        </p:spPr>
        <p:txBody>
          <a:bodyPr>
            <a:normAutofit/>
          </a:bodyPr>
          <a:lstStyle/>
          <a:p>
            <a:pPr marL="0" indent="0">
              <a:buNone/>
            </a:pPr>
            <a:r>
              <a:rPr lang="en-US" sz="2400" dirty="0" smtClean="0">
                <a:latin typeface="Times New Roman" panose="02020603050405020304" pitchFamily="18" charset="0"/>
                <a:cs typeface="Times New Roman" panose="02020603050405020304" pitchFamily="18" charset="0"/>
              </a:rPr>
              <a:t>1. </a:t>
            </a:r>
            <a:r>
              <a:rPr lang="bg-BG" sz="2400" dirty="0" smtClean="0">
                <a:latin typeface="Times New Roman" panose="02020603050405020304" pitchFamily="18" charset="0"/>
                <a:cs typeface="Times New Roman" panose="02020603050405020304" pitchFamily="18" charset="0"/>
              </a:rPr>
              <a:t>Какво представлява монитора?</a:t>
            </a:r>
            <a:endParaRPr lang="en-US" sz="2400" dirty="0" smtClean="0">
              <a:latin typeface="Times New Roman" panose="02020603050405020304" pitchFamily="18" charset="0"/>
              <a:cs typeface="Times New Roman" panose="02020603050405020304" pitchFamily="18" charset="0"/>
            </a:endParaRPr>
          </a:p>
          <a:p>
            <a:pPr marL="0" indent="0">
              <a:buNone/>
            </a:pPr>
            <a:r>
              <a:rPr lang="bg-BG" sz="2400" dirty="0" smtClean="0">
                <a:latin typeface="Times New Roman" panose="02020603050405020304" pitchFamily="18" charset="0"/>
                <a:cs typeface="Times New Roman" panose="02020603050405020304" pitchFamily="18" charset="0"/>
                <a:hlinkClick r:id="rId2" action="ppaction://hlinksldjump"/>
              </a:rPr>
              <a:t>Отговор</a:t>
            </a:r>
            <a:endParaRPr lang="en-US" sz="2400" dirty="0" smtClean="0">
              <a:latin typeface="Times New Roman" panose="02020603050405020304" pitchFamily="18" charset="0"/>
              <a:cs typeface="Times New Roman" panose="02020603050405020304" pitchFamily="18" charset="0"/>
            </a:endParaRPr>
          </a:p>
          <a:p>
            <a:pPr marL="0" indent="0">
              <a:buNone/>
            </a:pPr>
            <a:r>
              <a:rPr lang="bg-BG" sz="2400" dirty="0" smtClean="0">
                <a:latin typeface="Times New Roman" panose="02020603050405020304" pitchFamily="18" charset="0"/>
                <a:cs typeface="Times New Roman" panose="02020603050405020304" pitchFamily="18" charset="0"/>
              </a:rPr>
              <a:t>2. Какъв е принципа на действи на плазмения монитор?</a:t>
            </a:r>
          </a:p>
          <a:p>
            <a:pPr marL="0" indent="0">
              <a:buNone/>
            </a:pPr>
            <a:r>
              <a:rPr lang="bg-BG" sz="2400" dirty="0" smtClean="0">
                <a:latin typeface="Times New Roman" panose="02020603050405020304" pitchFamily="18" charset="0"/>
                <a:cs typeface="Times New Roman" panose="02020603050405020304" pitchFamily="18" charset="0"/>
                <a:hlinkClick r:id="rId3" action="ppaction://hlinksldjump"/>
              </a:rPr>
              <a:t>Отговор</a:t>
            </a:r>
            <a:endParaRPr lang="bg-BG" sz="2400" dirty="0" smtClean="0">
              <a:latin typeface="Times New Roman" panose="02020603050405020304" pitchFamily="18" charset="0"/>
              <a:cs typeface="Times New Roman" panose="02020603050405020304" pitchFamily="18" charset="0"/>
            </a:endParaRPr>
          </a:p>
          <a:p>
            <a:pPr marL="0" indent="0">
              <a:buNone/>
            </a:pPr>
            <a:r>
              <a:rPr lang="bg-BG" sz="2400" dirty="0" smtClean="0">
                <a:latin typeface="Times New Roman" panose="02020603050405020304" pitchFamily="18" charset="0"/>
                <a:cs typeface="Times New Roman" panose="02020603050405020304" pitchFamily="18" charset="0"/>
              </a:rPr>
              <a:t>3. Какви са недостатъците на </a:t>
            </a:r>
            <a:r>
              <a:rPr lang="en-US" sz="2400" dirty="0" smtClean="0">
                <a:latin typeface="Times New Roman" panose="02020603050405020304" pitchFamily="18" charset="0"/>
                <a:cs typeface="Times New Roman" panose="02020603050405020304" pitchFamily="18" charset="0"/>
              </a:rPr>
              <a:t>OLED</a:t>
            </a:r>
            <a:r>
              <a:rPr lang="bg-BG" sz="2400" dirty="0" smtClean="0">
                <a:latin typeface="Times New Roman" panose="02020603050405020304" pitchFamily="18" charset="0"/>
                <a:cs typeface="Times New Roman" panose="02020603050405020304" pitchFamily="18" charset="0"/>
              </a:rPr>
              <a:t> мониторите?</a:t>
            </a:r>
          </a:p>
          <a:p>
            <a:pPr marL="0" indent="0">
              <a:buNone/>
            </a:pPr>
            <a:r>
              <a:rPr lang="bg-BG" sz="2400" dirty="0" smtClean="0">
                <a:latin typeface="Times New Roman" panose="02020603050405020304" pitchFamily="18" charset="0"/>
                <a:cs typeface="Times New Roman" panose="02020603050405020304" pitchFamily="18" charset="0"/>
                <a:hlinkClick r:id="rId4" action="ppaction://hlinksldjump"/>
              </a:rPr>
              <a:t>Отговор</a:t>
            </a:r>
            <a:endParaRPr lang="bg-BG" sz="2400" dirty="0" smtClean="0">
              <a:latin typeface="Times New Roman" panose="02020603050405020304" pitchFamily="18" charset="0"/>
              <a:cs typeface="Times New Roman" panose="02020603050405020304" pitchFamily="18" charset="0"/>
            </a:endParaRPr>
          </a:p>
          <a:p>
            <a:pPr marL="0" indent="0">
              <a:buNone/>
            </a:pPr>
            <a:r>
              <a:rPr lang="bg-BG" sz="2400" dirty="0" smtClean="0">
                <a:latin typeface="Times New Roman" panose="02020603050405020304" pitchFamily="18" charset="0"/>
                <a:cs typeface="Times New Roman" panose="02020603050405020304" pitchFamily="18" charset="0"/>
              </a:rPr>
              <a:t>4. Как работят </a:t>
            </a:r>
            <a:r>
              <a:rPr lang="ru-RU" sz="2400" dirty="0">
                <a:latin typeface="Times New Roman" panose="02020603050405020304" pitchFamily="18" charset="0"/>
                <a:cs typeface="Times New Roman" panose="02020603050405020304" pitchFamily="18" charset="0"/>
              </a:rPr>
              <a:t>мастиленоструйните </a:t>
            </a:r>
            <a:r>
              <a:rPr lang="ru-RU" sz="2400" dirty="0" smtClean="0">
                <a:latin typeface="Times New Roman" panose="02020603050405020304" pitchFamily="18" charset="0"/>
                <a:cs typeface="Times New Roman" panose="02020603050405020304" pitchFamily="18" charset="0"/>
              </a:rPr>
              <a:t>принтери?</a:t>
            </a:r>
          </a:p>
          <a:p>
            <a:pPr marL="0" indent="0">
              <a:buNone/>
            </a:pPr>
            <a:r>
              <a:rPr lang="ru-RU" sz="2400" dirty="0" smtClean="0">
                <a:latin typeface="Times New Roman" panose="02020603050405020304" pitchFamily="18" charset="0"/>
                <a:cs typeface="Times New Roman" panose="02020603050405020304" pitchFamily="18" charset="0"/>
                <a:hlinkClick r:id="rId5" action="ppaction://hlinksldjump"/>
              </a:rPr>
              <a:t>Отговор</a:t>
            </a:r>
            <a:endParaRPr lang="ru-RU" sz="2400" dirty="0" smtClean="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endParaRPr lang="bg-BG"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33790325"/>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FFCB"/>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 xmlns:thm15="http://schemas.microsoft.com/office/thememl/2012/main" name="Ion Boardroom" id="{FC33163D-4339-46B1-8EED-24C834239D99}" vid="{EC7F02AD-9687-440F-A9DF-FAA6F22270D7}"/>
    </a:ext>
  </a:extLst>
</a:theme>
</file>

<file path=docProps/app.xml><?xml version="1.0" encoding="utf-8"?>
<Properties xmlns="http://schemas.openxmlformats.org/officeDocument/2006/extended-properties" xmlns:vt="http://schemas.openxmlformats.org/officeDocument/2006/docPropsVTypes">
  <Template>Ion Boardroom</Template>
  <TotalTime>890</TotalTime>
  <Words>3607</Words>
  <Application>Microsoft Office PowerPoint</Application>
  <PresentationFormat>Custom</PresentationFormat>
  <Paragraphs>138</Paragraphs>
  <Slides>37</Slides>
  <Notes>0</Notes>
  <HiddenSlides>0</HiddenSlides>
  <MMClips>0</MMClip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Ion Boardroom</vt:lpstr>
      <vt:lpstr>Изходни периферни устройства</vt:lpstr>
      <vt:lpstr>Съдържание</vt:lpstr>
      <vt:lpstr>Видеодисплей /монитор/.</vt:lpstr>
      <vt:lpstr>1.)Видове</vt:lpstr>
      <vt:lpstr>Основни параметри</vt:lpstr>
      <vt:lpstr>Устройство и действие</vt:lpstr>
      <vt:lpstr>Недостатъците им са</vt:lpstr>
      <vt:lpstr>1.2)Монитори, изградени с течни кристали</vt:lpstr>
      <vt:lpstr>Устройство и действие</vt:lpstr>
      <vt:lpstr>PowerPoint Presentation</vt:lpstr>
      <vt:lpstr>1.3 Плазмен монитор</vt:lpstr>
      <vt:lpstr>Принцип на действие</vt:lpstr>
      <vt:lpstr>Недостатъци</vt:lpstr>
      <vt:lpstr>Монитор с органични светодиоди</vt:lpstr>
      <vt:lpstr>Недостатъци</vt:lpstr>
      <vt:lpstr>LEP - Монитор от светещи полимери</vt:lpstr>
      <vt:lpstr>PowerPoint Presentation</vt:lpstr>
      <vt:lpstr>PowerPoint Presentation</vt:lpstr>
      <vt:lpstr>FED - Монитор с “емисионно поле” </vt:lpstr>
      <vt:lpstr>Портативни пространствени дисплеи.</vt:lpstr>
      <vt:lpstr>PowerPoint Presentation</vt:lpstr>
      <vt:lpstr>Принтер /Печатащо устройство/.</vt:lpstr>
      <vt:lpstr>Видове</vt:lpstr>
      <vt:lpstr>Матричните принтери се делят два вида</vt:lpstr>
      <vt:lpstr>2.2) Мастиленоструйни</vt:lpstr>
      <vt:lpstr>Лазерни принтери</vt:lpstr>
      <vt:lpstr>Мултимедиен проектор</vt:lpstr>
      <vt:lpstr>LCD проектор</vt:lpstr>
      <vt:lpstr>PowerPoint Presentation</vt:lpstr>
      <vt:lpstr>DLP проектор</vt:lpstr>
      <vt:lpstr>PowerPoint Presentation</vt:lpstr>
      <vt:lpstr>Плотер</vt:lpstr>
      <vt:lpstr>Има два вида плотери</vt:lpstr>
      <vt:lpstr>PowerPoint Presentation</vt:lpstr>
      <vt:lpstr>Слушалки </vt:lpstr>
      <vt:lpstr>Тонколони</vt:lpstr>
      <vt:lpstr>Тест</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Изходни периферни устройства</dc:title>
  <dc:creator>Microsoft account</dc:creator>
  <cp:lastModifiedBy>PC-0</cp:lastModifiedBy>
  <cp:revision>72</cp:revision>
  <dcterms:created xsi:type="dcterms:W3CDTF">2022-11-30T20:06:06Z</dcterms:created>
  <dcterms:modified xsi:type="dcterms:W3CDTF">2022-12-19T12:08:28Z</dcterms:modified>
</cp:coreProperties>
</file>