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6" r:id="rId1"/>
  </p:sldMasterIdLst>
  <p:sldIdLst>
    <p:sldId id="256" r:id="rId2"/>
    <p:sldId id="257" r:id="rId3"/>
    <p:sldId id="286" r:id="rId4"/>
    <p:sldId id="259" r:id="rId5"/>
    <p:sldId id="260" r:id="rId6"/>
    <p:sldId id="261" r:id="rId7"/>
    <p:sldId id="283" r:id="rId8"/>
    <p:sldId id="287" r:id="rId9"/>
    <p:sldId id="263" r:id="rId10"/>
    <p:sldId id="264" r:id="rId11"/>
    <p:sldId id="265" r:id="rId12"/>
    <p:sldId id="266" r:id="rId13"/>
    <p:sldId id="267" r:id="rId14"/>
    <p:sldId id="284" r:id="rId15"/>
    <p:sldId id="28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85" r:id="rId25"/>
    <p:sldId id="279" r:id="rId26"/>
    <p:sldId id="280" r:id="rId27"/>
    <p:sldId id="282" r:id="rId28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>
        <p:scale>
          <a:sx n="51" d="100"/>
          <a:sy n="51" d="100"/>
        </p:scale>
        <p:origin x="-462" y="-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5CD60141-EEBD-4EC1-8E34-0344C16A18A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5318308" y="0"/>
            <a:ext cx="6873692" cy="6858000"/>
          </a:xfrm>
          <a:custGeom>
            <a:avLst/>
            <a:gdLst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0 w 12192000"/>
              <a:gd name="connsiteY6" fmla="*/ 0 h 6858000"/>
              <a:gd name="connsiteX7" fmla="*/ 6700 w 12192000"/>
              <a:gd name="connsiteY7" fmla="*/ 0 h 6858000"/>
              <a:gd name="connsiteX8" fmla="*/ 6700 w 12192000"/>
              <a:gd name="connsiteY8" fmla="*/ 6858000 h 6858000"/>
              <a:gd name="connsiteX9" fmla="*/ 0 w 12192000"/>
              <a:gd name="connsiteY9" fmla="*/ 6858000 h 6858000"/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11328900 w 12192000"/>
              <a:gd name="connsiteY6" fmla="*/ 0 h 6858000"/>
              <a:gd name="connsiteX7" fmla="*/ 0 w 12192000"/>
              <a:gd name="connsiteY7" fmla="*/ 6858000 h 6858000"/>
              <a:gd name="connsiteX8" fmla="*/ 6700 w 12192000"/>
              <a:gd name="connsiteY8" fmla="*/ 0 h 6858000"/>
              <a:gd name="connsiteX9" fmla="*/ 6700 w 12192000"/>
              <a:gd name="connsiteY9" fmla="*/ 6858000 h 6858000"/>
              <a:gd name="connsiteX10" fmla="*/ 0 w 12192000"/>
              <a:gd name="connsiteY10" fmla="*/ 6858000 h 6858000"/>
              <a:gd name="connsiteX0" fmla="*/ 11322200 w 12185300"/>
              <a:gd name="connsiteY0" fmla="*/ 0 h 6858000"/>
              <a:gd name="connsiteX1" fmla="*/ 12185300 w 12185300"/>
              <a:gd name="connsiteY1" fmla="*/ 0 h 6858000"/>
              <a:gd name="connsiteX2" fmla="*/ 12185300 w 12185300"/>
              <a:gd name="connsiteY2" fmla="*/ 6858000 h 6858000"/>
              <a:gd name="connsiteX3" fmla="*/ 5311608 w 12185300"/>
              <a:gd name="connsiteY3" fmla="*/ 6858000 h 6858000"/>
              <a:gd name="connsiteX4" fmla="*/ 11322197 w 12185300"/>
              <a:gd name="connsiteY4" fmla="*/ 4 h 6858000"/>
              <a:gd name="connsiteX5" fmla="*/ 11322198 w 12185300"/>
              <a:gd name="connsiteY5" fmla="*/ 2 h 6858000"/>
              <a:gd name="connsiteX6" fmla="*/ 11322200 w 12185300"/>
              <a:gd name="connsiteY6" fmla="*/ 0 h 6858000"/>
              <a:gd name="connsiteX7" fmla="*/ 0 w 12185300"/>
              <a:gd name="connsiteY7" fmla="*/ 6858000 h 6858000"/>
              <a:gd name="connsiteX8" fmla="*/ 0 w 12185300"/>
              <a:gd name="connsiteY8" fmla="*/ 0 h 6858000"/>
              <a:gd name="connsiteX9" fmla="*/ 0 w 12185300"/>
              <a:gd name="connsiteY9" fmla="*/ 6858000 h 6858000"/>
              <a:gd name="connsiteX0" fmla="*/ 6010592 w 6873692"/>
              <a:gd name="connsiteY0" fmla="*/ 0 h 6858000"/>
              <a:gd name="connsiteX1" fmla="*/ 6873692 w 6873692"/>
              <a:gd name="connsiteY1" fmla="*/ 0 h 6858000"/>
              <a:gd name="connsiteX2" fmla="*/ 6873692 w 6873692"/>
              <a:gd name="connsiteY2" fmla="*/ 6858000 h 6858000"/>
              <a:gd name="connsiteX3" fmla="*/ 0 w 6873692"/>
              <a:gd name="connsiteY3" fmla="*/ 6858000 h 6858000"/>
              <a:gd name="connsiteX4" fmla="*/ 6010589 w 6873692"/>
              <a:gd name="connsiteY4" fmla="*/ 4 h 6858000"/>
              <a:gd name="connsiteX5" fmla="*/ 6010590 w 6873692"/>
              <a:gd name="connsiteY5" fmla="*/ 2 h 6858000"/>
              <a:gd name="connsiteX6" fmla="*/ 6010592 w 6873692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73692" h="6858000">
                <a:moveTo>
                  <a:pt x="6010592" y="0"/>
                </a:moveTo>
                <a:lnTo>
                  <a:pt x="6873692" y="0"/>
                </a:lnTo>
                <a:lnTo>
                  <a:pt x="687369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lnTo>
                  <a:pt x="6010592" y="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5FCBBA-905A-4FD1-BFBA-F3EE6DA26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81098"/>
            <a:ext cx="8986580" cy="2832404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48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3DD287E-F1C8-463F-8429-D1B5B15825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463522"/>
            <a:ext cx="8986580" cy="650311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81F44ED-7973-4A99-B2CA-A8962BCE0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8DF96F2-D6BE-49AC-A605-5AE87C3F2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817FC50-B13C-4B63-AE64-F71A6EDE6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4C75A547-BCD1-42BE-966E-53CA0AB93165}"/>
              </a:ext>
            </a:extLst>
          </p:cNvPr>
          <p:cNvCxnSpPr>
            <a:cxnSpLocks/>
          </p:cNvCxnSpPr>
          <p:nvPr/>
        </p:nvCxnSpPr>
        <p:spPr>
          <a:xfrm>
            <a:off x="1188357" y="5151666"/>
            <a:ext cx="98225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1452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ECD6F3-88F1-4195-8395-57AA096BB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ED8D06C-EB08-40B3-AFB3-A62F44112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103962F-B413-4C4C-A490-724DDB9E7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2871813-4E87-4C04-835D-76246010B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A922BA3-033C-491E-A045-F0052AC19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944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FE19AD-2EDD-4B4F-9F9E-46A444184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709738"/>
            <a:ext cx="8520952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0EE5927-21D5-4EBA-A112-CAD1BD38B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4589466"/>
            <a:ext cx="8520952" cy="81326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CEF0D16-9D87-4D76-A5A5-534E24B7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965F387-5AAC-45D0-ABCE-B1CF4BC7E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98AF6FE-0006-4F40-A7FB-E0FDBADF7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37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5E8AADE-587E-4574-B21B-7ABDE5A23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E2F9DA5-4DFB-4211-A58A-FFD842C27A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0" y="2339501"/>
            <a:ext cx="4798979" cy="35505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AA99F26-66AF-4614-91CE-C93A24BAC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0020" y="2339501"/>
            <a:ext cx="4798980" cy="355059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F8F678E-59B5-4DF9-ABCB-506B9CB70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8B50A53-317B-444A-9BA2-F69CDBF5D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0B269A1-B0FB-4C8F-B6AA-0718C9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953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12BBBF-42B2-4A5D-B145-46983A530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133272"/>
            <a:ext cx="9905999" cy="84630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804BE44-5271-4B5D-B649-35E3AF20B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2999" y="2067127"/>
            <a:ext cx="4798980" cy="710119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4D7891E-0C0A-4688-97DD-C0715E322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3001" y="2864795"/>
            <a:ext cx="4798978" cy="30253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875EAF30-3412-49B0-93D1-596CC2695B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018" y="2067127"/>
            <a:ext cx="4798981" cy="710119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F707B9B7-F41C-4314-9F0C-BB84547FB8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019" y="2864795"/>
            <a:ext cx="4798982" cy="30253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8421587F-6AFC-4906-86EB-6B0A86EE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354BE2C5-583B-49BC-9864-B01EEF798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B39B236-45F5-4CC6-8D53-A6903A1CC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979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C36B206-0678-4577-B79F-760526A5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300" y="1322615"/>
            <a:ext cx="8175171" cy="42127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6D5FCB8-AFD3-4801-BBD6-9548F4CF7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0F6DACF8-CBC0-416B-B28E-EE18C4238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70C7421-FF49-4CE9-87D0-2B4FFE0E3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16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D19CBFE-15AA-4447-9F9C-D8B0BEB24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6B48227-EC1E-4063-9682-891A2DB1A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22C6A63-C3F4-4563-A542-9A41AC946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334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86900C1-FE18-461C-801C-8626C7759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00200"/>
            <a:ext cx="3932237" cy="1964986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B14CFF3-3406-49E3-9D5A-1BE90FFA5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7451" y="987425"/>
            <a:ext cx="542154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33D14FF-9082-4BBA-BC7A-F4C5B7859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3662464"/>
            <a:ext cx="3932237" cy="2206523"/>
          </a:xfrm>
        </p:spPr>
        <p:txBody>
          <a:bodyPr/>
          <a:lstStyle>
            <a:lvl1pPr marL="0" indent="0">
              <a:buNone/>
              <a:defRPr sz="16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D5A2726-EB8E-4DF7-9A1B-F03BD8C71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D9929BE-611C-4FE6-B0A5-E0FF9DF9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7B90B32-1D0E-4BCD-8850-59EA235F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23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1CA1460E-1069-4FCA-B04E-28F77C861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13614" y="987425"/>
            <a:ext cx="55353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6138C1E-867B-4FE9-8783-9B1246AEB7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3657601"/>
            <a:ext cx="3932236" cy="2211388"/>
          </a:xfrm>
        </p:spPr>
        <p:txBody>
          <a:bodyPr/>
          <a:lstStyle>
            <a:lvl1pPr marL="0" indent="0">
              <a:buNone/>
              <a:defRPr sz="16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0721568-4870-46F2-9F7E-F41070201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BB3CC65-0E73-45A1-9D4F-3F4559B3B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58C58CD-9BC3-431E-A7B4-D596A7F06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68F756-D171-474C-8B1A-C818032F6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00201"/>
            <a:ext cx="3932236" cy="1959428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1227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5A3BF2-BCE9-47D7-B1C0-1F0E4936B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92722E9-C3E4-48AF-996A-495AE659F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9C9E516-382B-4845-93BF-20C16EE0D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AB96E16-F168-442A-843C-5D490D54B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9A61BEA-A969-437A-BD8B-CB1B709AD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594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66528449-3E11-45FF-BF3A-651867603E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572500" y="870625"/>
            <a:ext cx="2476499" cy="50292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FC0EAB0-2DFA-4CBA-86B1-1826EF523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43000" y="870625"/>
            <a:ext cx="7324928" cy="50292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FA22F89-E1F5-45D7-945A-8A2886C4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37E7E82-5FB8-4289-AD0C-0BA788E14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45A4046-1A2C-41F5-A177-1C3919C20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91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91C2F78B-DEE8-4195-A196-DFC51BDADFF9}"/>
              </a:ext>
            </a:extLst>
          </p:cNvPr>
          <p:cNvSpPr/>
          <p:nvPr/>
        </p:nvSpPr>
        <p:spPr>
          <a:xfrm>
            <a:off x="9749268" y="4070878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A1D79D08-4BE8-4799-BE09-5078DFEE2256}"/>
              </a:ext>
            </a:extLst>
          </p:cNvPr>
          <p:cNvSpPr/>
          <p:nvPr/>
        </p:nvSpPr>
        <p:spPr>
          <a:xfrm rot="10800000">
            <a:off x="0" y="0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C95D65A1-16CB-407F-993F-2A6D59BCC0C8}"/>
              </a:ext>
            </a:extLst>
          </p:cNvPr>
          <p:cNvCxnSpPr>
            <a:cxnSpLocks/>
          </p:cNvCxnSpPr>
          <p:nvPr/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0BA018A2-815D-41B0-A189-FDF7A5E88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72935"/>
            <a:ext cx="9905999" cy="1360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6DFAE63-1276-4C7C-BFF5-F5DF1CDB2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332026"/>
            <a:ext cx="9905999" cy="35671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5380268-2D73-487C-843B-51648AE18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8157" y="6356350"/>
            <a:ext cx="30933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3CADBD16-5BFB-4D9F-9646-C75D1B53BBB6}" type="datetimeFigureOut">
              <a:rPr lang="en-US" smtClean="0"/>
              <a:pPr/>
              <a:t>11/29/2022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9F61E6D-D51F-4BD7-B59D-19AF179177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000" y="6356350"/>
            <a:ext cx="39591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27701B1-1C93-41C2-AEE1-815DEA51B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23186" y="6356350"/>
            <a:ext cx="6258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6843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69" r:id="rId6"/>
    <p:sldLayoutId id="2147483765" r:id="rId7"/>
    <p:sldLayoutId id="2147483766" r:id="rId8"/>
    <p:sldLayoutId id="2147483767" r:id="rId9"/>
    <p:sldLayoutId id="2147483768" r:id="rId10"/>
    <p:sldLayoutId id="214748377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029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microsoft.com/office/2007/relationships/hdphoto" Target="../media/hdphoto4.wdp"/><Relationship Id="rId7" Type="http://schemas.microsoft.com/office/2007/relationships/hdphoto" Target="../media/hdphoto6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microsoft.com/office/2007/relationships/hdphoto" Target="../media/hdphoto5.wdp"/><Relationship Id="rId4" Type="http://schemas.openxmlformats.org/officeDocument/2006/relationships/image" Target="../media/image12.png"/><Relationship Id="rId9" Type="http://schemas.microsoft.com/office/2007/relationships/hdphoto" Target="../media/hdphoto7.wd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-fairy.com/what-is-the-meaning-of-the-different-usb-port-colors-blue-teal-blue-yellow-red-black/" TargetMode="External"/><Relationship Id="rId2" Type="http://schemas.openxmlformats.org/officeDocument/2006/relationships/hyperlink" Target="https://sites.google.com/site/thehighflyers/sceners?tmpl=/system/app/templates/print/&amp;showPrintDialog=1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xmlns="" id="{C3B0A228-9EA3-4009-A82E-9402BBC726A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1734D6AB-DFFB-44C4-BC27-F06C28C7AC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81101"/>
            <a:ext cx="5202381" cy="1998517"/>
          </a:xfrm>
        </p:spPr>
        <p:txBody>
          <a:bodyPr>
            <a:normAutofit fontScale="90000"/>
          </a:bodyPr>
          <a:lstStyle/>
          <a:p>
            <a:r>
              <a:rPr lang="bg-BG" dirty="0"/>
              <a:t>Входни периферни устройства </a:t>
            </a:r>
          </a:p>
        </p:txBody>
      </p:sp>
      <p:pic>
        <p:nvPicPr>
          <p:cNvPr id="44" name="Picture 3" descr="Neon geometric shapes">
            <a:extLst>
              <a:ext uri="{FF2B5EF4-FFF2-40B4-BE49-F238E27FC236}">
                <a16:creationId xmlns:a16="http://schemas.microsoft.com/office/drawing/2014/main" xmlns="" id="{160E5697-534A-4F25-9BD6-10F7DD5AA9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2027"/>
          <a:stretch/>
        </p:blipFill>
        <p:spPr>
          <a:xfrm>
            <a:off x="2685473" y="10"/>
            <a:ext cx="9506528" cy="6857990"/>
          </a:xfrm>
          <a:custGeom>
            <a:avLst/>
            <a:gdLst/>
            <a:ahLst/>
            <a:cxnLst/>
            <a:rect l="l" t="t" r="r" b="b"/>
            <a:pathLst>
              <a:path w="9506528" h="6858000">
                <a:moveTo>
                  <a:pt x="6427633" y="0"/>
                </a:moveTo>
                <a:lnTo>
                  <a:pt x="9506528" y="0"/>
                </a:lnTo>
                <a:lnTo>
                  <a:pt x="9506528" y="1557082"/>
                </a:lnTo>
                <a:lnTo>
                  <a:pt x="4860617" y="6858000"/>
                </a:lnTo>
                <a:lnTo>
                  <a:pt x="417041" y="6858000"/>
                </a:lnTo>
                <a:close/>
                <a:moveTo>
                  <a:pt x="0" y="0"/>
                </a:moveTo>
                <a:lnTo>
                  <a:pt x="6427633" y="0"/>
                </a:lnTo>
                <a:lnTo>
                  <a:pt x="0" y="1"/>
                </a:lnTo>
                <a:close/>
              </a:path>
            </a:pathLst>
          </a:custGeom>
        </p:spPr>
      </p:pic>
      <p:sp>
        <p:nvSpPr>
          <p:cNvPr id="26" name="Freeform: Shape 25">
            <a:extLst>
              <a:ext uri="{FF2B5EF4-FFF2-40B4-BE49-F238E27FC236}">
                <a16:creationId xmlns:a16="http://schemas.microsoft.com/office/drawing/2014/main" xmlns="" id="{48D8C03A-D73E-4E89-A17E-452429264DE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523854" y="1549822"/>
            <a:ext cx="4676439" cy="5313651"/>
          </a:xfrm>
          <a:custGeom>
            <a:avLst/>
            <a:gdLst>
              <a:gd name="connsiteX0" fmla="*/ 6846874 w 6846874"/>
              <a:gd name="connsiteY0" fmla="*/ 3021586 h 3021586"/>
              <a:gd name="connsiteX1" fmla="*/ 0 w 6846874"/>
              <a:gd name="connsiteY1" fmla="*/ 3021585 h 3021586"/>
              <a:gd name="connsiteX2" fmla="*/ 3399286 w 6846874"/>
              <a:gd name="connsiteY2" fmla="*/ 0 h 3021586"/>
              <a:gd name="connsiteX0" fmla="*/ 6846874 w 6846874"/>
              <a:gd name="connsiteY0" fmla="*/ 3016405 h 3016405"/>
              <a:gd name="connsiteX1" fmla="*/ 0 w 6846874"/>
              <a:gd name="connsiteY1" fmla="*/ 3016404 h 3016405"/>
              <a:gd name="connsiteX2" fmla="*/ 3425190 w 6846874"/>
              <a:gd name="connsiteY2" fmla="*/ 0 h 3016405"/>
              <a:gd name="connsiteX3" fmla="*/ 6846874 w 6846874"/>
              <a:gd name="connsiteY3" fmla="*/ 3016405 h 3016405"/>
              <a:gd name="connsiteX0" fmla="*/ 6846874 w 6846874"/>
              <a:gd name="connsiteY0" fmla="*/ 3055286 h 3055286"/>
              <a:gd name="connsiteX1" fmla="*/ 0 w 6846874"/>
              <a:gd name="connsiteY1" fmla="*/ 3055285 h 3055286"/>
              <a:gd name="connsiteX2" fmla="*/ 3425190 w 6846874"/>
              <a:gd name="connsiteY2" fmla="*/ 0 h 3055286"/>
              <a:gd name="connsiteX3" fmla="*/ 6846874 w 6846874"/>
              <a:gd name="connsiteY3" fmla="*/ 3055286 h 3055286"/>
              <a:gd name="connsiteX0" fmla="*/ 6846874 w 6846874"/>
              <a:gd name="connsiteY0" fmla="*/ 5422604 h 5422604"/>
              <a:gd name="connsiteX1" fmla="*/ 0 w 6846874"/>
              <a:gd name="connsiteY1" fmla="*/ 5422603 h 5422604"/>
              <a:gd name="connsiteX2" fmla="*/ 6839561 w 6846874"/>
              <a:gd name="connsiteY2" fmla="*/ 0 h 5422604"/>
              <a:gd name="connsiteX3" fmla="*/ 6846874 w 6846874"/>
              <a:gd name="connsiteY3" fmla="*/ 5422604 h 5422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6874" h="5422604">
                <a:moveTo>
                  <a:pt x="6846874" y="5422604"/>
                </a:moveTo>
                <a:lnTo>
                  <a:pt x="0" y="5422603"/>
                </a:lnTo>
                <a:lnTo>
                  <a:pt x="6839561" y="0"/>
                </a:lnTo>
                <a:cubicBezTo>
                  <a:pt x="6841999" y="1807535"/>
                  <a:pt x="6844436" y="3615069"/>
                  <a:pt x="6846874" y="5422604"/>
                </a:cubicBez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574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19FF4312-95C1-4C14-B20D-2DF307228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979" y="0"/>
            <a:ext cx="9905999" cy="882383"/>
          </a:xfrm>
        </p:spPr>
        <p:txBody>
          <a:bodyPr/>
          <a:lstStyle/>
          <a:p>
            <a:r>
              <a:rPr lang="en-US" sz="3200" dirty="0"/>
              <a:t>                                            </a:t>
            </a:r>
            <a:r>
              <a:rPr lang="bg-BG" sz="3200" dirty="0"/>
              <a:t>Съдържание</a:t>
            </a:r>
            <a:r>
              <a:rPr lang="bg-BG" dirty="0"/>
              <a:t> 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592DFF70-E4E9-48E1-B09A-15AB5CDC4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378" y="958856"/>
            <a:ext cx="4459706" cy="4247317"/>
          </a:xfrm>
        </p:spPr>
        <p:txBody>
          <a:bodyPr>
            <a:normAutofit/>
          </a:bodyPr>
          <a:lstStyle/>
          <a:p>
            <a:r>
              <a:rPr lang="bg-BG" sz="1800" dirty="0"/>
              <a:t>1.Клавиатури </a:t>
            </a:r>
          </a:p>
          <a:p>
            <a:r>
              <a:rPr lang="bg-BG" sz="1800" dirty="0"/>
              <a:t>1.ИСТОРИЯ</a:t>
            </a:r>
          </a:p>
          <a:p>
            <a:r>
              <a:rPr lang="bg-BG" sz="1800" dirty="0"/>
              <a:t>1.1 СЪЩНОСТ</a:t>
            </a:r>
          </a:p>
          <a:p>
            <a:r>
              <a:rPr lang="bg-BG" sz="1800" dirty="0"/>
              <a:t>1.2 </a:t>
            </a:r>
            <a:r>
              <a:rPr lang="bg-BG" sz="1800" b="0" i="0" u="none" strike="noStrike" cap="all" dirty="0">
                <a:solidFill>
                  <a:srgbClr val="FFFFFF"/>
                </a:solidFill>
                <a:effectLst/>
                <a:latin typeface="Times New Roman" panose="02020603050405020304" pitchFamily="18" charset="0"/>
              </a:rPr>
              <a:t>ЧАСТИ НА КЛАВИАТУРАТА</a:t>
            </a:r>
            <a:r>
              <a:rPr lang="bg-BG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en-US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bg-BG" sz="1800" dirty="0"/>
              <a:t>1.3 РЕЖИМИ НА РАБОТА </a:t>
            </a:r>
            <a:endParaRPr lang="en-US" sz="1800" dirty="0"/>
          </a:p>
          <a:p>
            <a:r>
              <a:rPr lang="en-US" sz="1800" dirty="0"/>
              <a:t>1.4 </a:t>
            </a:r>
            <a:r>
              <a:rPr lang="bg-BG" sz="1800" dirty="0"/>
              <a:t>ИНТЕРФЕЙСИ</a:t>
            </a:r>
          </a:p>
          <a:p>
            <a:pPr marL="0" indent="0">
              <a:buNone/>
            </a:pPr>
            <a:endParaRPr lang="bg-BG" dirty="0"/>
          </a:p>
          <a:p>
            <a:endParaRPr lang="bg-BG" dirty="0"/>
          </a:p>
        </p:txBody>
      </p:sp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xmlns="" id="{6B61966E-2BC0-4B28-9052-7E243A7A589F}"/>
              </a:ext>
            </a:extLst>
          </p:cNvPr>
          <p:cNvSpPr txBox="1"/>
          <p:nvPr/>
        </p:nvSpPr>
        <p:spPr>
          <a:xfrm>
            <a:off x="4604084" y="1031046"/>
            <a:ext cx="358541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bg-BG" dirty="0"/>
              <a:t>2.Мишки</a:t>
            </a:r>
          </a:p>
          <a:p>
            <a:pPr marL="0" indent="0">
              <a:buNone/>
            </a:pPr>
            <a:r>
              <a:rPr lang="bg-BG" dirty="0"/>
              <a:t>2. ИСОТРИЯ</a:t>
            </a:r>
          </a:p>
          <a:p>
            <a:pPr marL="0" indent="0">
              <a:buNone/>
            </a:pPr>
            <a:endParaRPr lang="bg-BG" dirty="0"/>
          </a:p>
          <a:p>
            <a:pPr marL="0" indent="0">
              <a:buNone/>
            </a:pPr>
            <a:r>
              <a:rPr lang="bg-BG" dirty="0"/>
              <a:t>2.1</a:t>
            </a:r>
            <a:r>
              <a:rPr lang="bg-BG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СЪЩНОСТ</a:t>
            </a:r>
          </a:p>
          <a:p>
            <a:pPr marL="0" indent="0">
              <a:buNone/>
            </a:pPr>
            <a:endParaRPr lang="bg-B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bg-BG" dirty="0"/>
              <a:t>2.2 ВИДОВЕ МИШКИ СПРЯМО КОНСТРУКЦИЯТА</a:t>
            </a:r>
          </a:p>
          <a:p>
            <a:endParaRPr lang="bg-B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bg-BG" dirty="0"/>
              <a:t>2.3 ВИДОВЕ МИШКИ СПЯМО</a:t>
            </a:r>
            <a:r>
              <a:rPr lang="en-US" dirty="0"/>
              <a:t> </a:t>
            </a:r>
            <a:r>
              <a:rPr lang="bg-BG" dirty="0"/>
              <a:t>ПРИНЦИПА НА ДЕЙСТВИЕ </a:t>
            </a:r>
          </a:p>
          <a:p>
            <a:pPr marL="0" indent="0">
              <a:buNone/>
            </a:pPr>
            <a:r>
              <a:rPr lang="bg-BG" dirty="0"/>
              <a:t> - МЕХАНИЧНИ МИШКИ</a:t>
            </a:r>
          </a:p>
          <a:p>
            <a:pPr>
              <a:buFontTx/>
              <a:buChar char="-"/>
            </a:pPr>
            <a:r>
              <a:rPr lang="bg-BG" dirty="0"/>
              <a:t>ОПТИЧНИ МИШКИ</a:t>
            </a:r>
          </a:p>
          <a:p>
            <a:pPr>
              <a:buFontTx/>
              <a:buChar char="-"/>
            </a:pPr>
            <a:r>
              <a:rPr lang="bg-BG" dirty="0"/>
              <a:t> ЛАЗЕРНИ МИШКИ</a:t>
            </a:r>
          </a:p>
          <a:p>
            <a:pPr>
              <a:buFontTx/>
              <a:buChar char="-"/>
            </a:pPr>
            <a:endParaRPr lang="bg-B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bg-BG" dirty="0"/>
              <a:t>2.4 ИНТЕРФЕЙСИ</a:t>
            </a:r>
          </a:p>
          <a:p>
            <a:endParaRPr lang="bg-BG" sz="2000" dirty="0"/>
          </a:p>
        </p:txBody>
      </p:sp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xmlns="" id="{B50DF2AA-5C0D-4600-AA3A-DF96522825F5}"/>
              </a:ext>
            </a:extLst>
          </p:cNvPr>
          <p:cNvSpPr txBox="1"/>
          <p:nvPr/>
        </p:nvSpPr>
        <p:spPr>
          <a:xfrm>
            <a:off x="8959250" y="958856"/>
            <a:ext cx="2831429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600" dirty="0"/>
              <a:t>Скенери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sz="1600" dirty="0"/>
              <a:t>3. ИСТОРИЯ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bg-BG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sz="1600" dirty="0"/>
              <a:t>3.1 СЪЩНОСТ</a:t>
            </a:r>
          </a:p>
          <a:p>
            <a:endParaRPr lang="bg-BG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sz="1600" dirty="0"/>
              <a:t>3.2 ПРИНЦИП НА ДЕЙСТВИЕ </a:t>
            </a:r>
          </a:p>
          <a:p>
            <a:endParaRPr lang="bg-BG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sz="1600" dirty="0"/>
              <a:t>3.3 </a:t>
            </a:r>
            <a:r>
              <a:rPr lang="en-US" sz="1600" dirty="0"/>
              <a:t>CCD </a:t>
            </a:r>
            <a:r>
              <a:rPr lang="bg-BG" sz="1600" dirty="0"/>
              <a:t>МАТРИЦА </a:t>
            </a:r>
          </a:p>
          <a:p>
            <a:endParaRPr lang="bg-BG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sz="1600" dirty="0"/>
              <a:t>3.4 </a:t>
            </a:r>
            <a:r>
              <a:rPr lang="en-US" sz="1600" dirty="0"/>
              <a:t>CIS </a:t>
            </a:r>
            <a:r>
              <a:rPr lang="bg-BG" sz="1600" dirty="0"/>
              <a:t>МАТРИЦА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sz="1600" dirty="0"/>
              <a:t>3.5 ЕДНОПАЦОВИ И ДВУПАСОВИ СКЕНЕРИ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sz="1600" dirty="0"/>
              <a:t>3.6 ПО КОНСТРУКТИВНО ИЗПЪЛНЕНИЕ</a:t>
            </a:r>
          </a:p>
          <a:p>
            <a:r>
              <a:rPr lang="bg-BG" sz="1600" dirty="0"/>
              <a:t>*БАРАБАНИ</a:t>
            </a:r>
          </a:p>
          <a:p>
            <a:r>
              <a:rPr lang="bg-BG" sz="1600" dirty="0"/>
              <a:t>*ПЛОСКИ </a:t>
            </a:r>
          </a:p>
          <a:p>
            <a:r>
              <a:rPr lang="bg-BG" sz="1600" dirty="0"/>
              <a:t>*РЪЧНИ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sz="1600" dirty="0"/>
              <a:t>3.7 ИНТЕРФЕЙСИ</a:t>
            </a:r>
          </a:p>
          <a:p>
            <a:r>
              <a:rPr lang="bg-BG" sz="1600" dirty="0"/>
              <a:t> </a:t>
            </a:r>
          </a:p>
          <a:p>
            <a:r>
              <a:rPr lang="bg-BG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069469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xmlns="" id="{5CD60141-EEBD-4EC1-8E34-0344C16A18A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318308" y="0"/>
            <a:ext cx="6873692" cy="6858000"/>
          </a:xfrm>
          <a:custGeom>
            <a:avLst/>
            <a:gdLst/>
            <a:ahLst/>
            <a:cxnLst/>
            <a:rect l="l" t="t" r="r" b="b"/>
            <a:pathLst>
              <a:path w="6873692" h="6858000">
                <a:moveTo>
                  <a:pt x="6010592" y="0"/>
                </a:moveTo>
                <a:lnTo>
                  <a:pt x="6873692" y="0"/>
                </a:lnTo>
                <a:lnTo>
                  <a:pt x="687369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lnTo>
                  <a:pt x="6010592" y="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4C75A547-BCD1-42BE-966E-53CA0AB9316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188357" y="5151666"/>
            <a:ext cx="98225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xmlns="" id="{00C04237-153A-4A4F-A7E9-6926B66F849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Контейнер за съдържание 5">
            <a:extLst>
              <a:ext uri="{FF2B5EF4-FFF2-40B4-BE49-F238E27FC236}">
                <a16:creationId xmlns:a16="http://schemas.microsoft.com/office/drawing/2014/main" xmlns="" id="{B67B2B9E-D99D-4189-95BB-E2B0FE7E73D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292"/>
          <a:stretch/>
        </p:blipFill>
        <p:spPr>
          <a:xfrm>
            <a:off x="20" y="-3"/>
            <a:ext cx="12191980" cy="6858001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xmlns="" id="{D19975AA-D532-4570-9193-6482D3F2233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 flipH="1" flipV="1">
            <a:off x="2235450" y="-2235450"/>
            <a:ext cx="6858000" cy="11328901"/>
          </a:xfrm>
          <a:custGeom>
            <a:avLst/>
            <a:gdLst>
              <a:gd name="connsiteX0" fmla="*/ 0 w 6858000"/>
              <a:gd name="connsiteY0" fmla="*/ 2229335 h 11328901"/>
              <a:gd name="connsiteX1" fmla="*/ 0 w 6858000"/>
              <a:gd name="connsiteY1" fmla="*/ 0 h 11328901"/>
              <a:gd name="connsiteX2" fmla="*/ 6858000 w 6858000"/>
              <a:gd name="connsiteY2" fmla="*/ 6010593 h 11328901"/>
              <a:gd name="connsiteX3" fmla="*/ 6858000 w 6858000"/>
              <a:gd name="connsiteY3" fmla="*/ 6052915 h 11328901"/>
              <a:gd name="connsiteX4" fmla="*/ 6858000 w 6858000"/>
              <a:gd name="connsiteY4" fmla="*/ 6052915 h 11328901"/>
              <a:gd name="connsiteX5" fmla="*/ 6858000 w 6858000"/>
              <a:gd name="connsiteY5" fmla="*/ 9053844 h 11328901"/>
              <a:gd name="connsiteX6" fmla="*/ 6858000 w 6858000"/>
              <a:gd name="connsiteY6" fmla="*/ 11328901 h 11328901"/>
              <a:gd name="connsiteX7" fmla="*/ 1 w 6858000"/>
              <a:gd name="connsiteY7" fmla="*/ 11328901 h 11328901"/>
              <a:gd name="connsiteX8" fmla="*/ 1 w 6858000"/>
              <a:gd name="connsiteY8" fmla="*/ 9359065 h 11328901"/>
              <a:gd name="connsiteX9" fmla="*/ 0 w 6858000"/>
              <a:gd name="connsiteY9" fmla="*/ 9359065 h 11328901"/>
              <a:gd name="connsiteX10" fmla="*/ 0 w 6858000"/>
              <a:gd name="connsiteY10" fmla="*/ 6535740 h 11328901"/>
              <a:gd name="connsiteX11" fmla="*/ 1 w 6858000"/>
              <a:gd name="connsiteY11" fmla="*/ 6535740 h 11328901"/>
              <a:gd name="connsiteX12" fmla="*/ 1 w 6858000"/>
              <a:gd name="connsiteY12" fmla="*/ 2229336 h 11328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11328901">
                <a:moveTo>
                  <a:pt x="0" y="2229335"/>
                </a:moveTo>
                <a:lnTo>
                  <a:pt x="0" y="0"/>
                </a:lnTo>
                <a:lnTo>
                  <a:pt x="6858000" y="6010593"/>
                </a:lnTo>
                <a:lnTo>
                  <a:pt x="6858000" y="6052915"/>
                </a:lnTo>
                <a:lnTo>
                  <a:pt x="6858000" y="6052915"/>
                </a:lnTo>
                <a:lnTo>
                  <a:pt x="6858000" y="9053844"/>
                </a:lnTo>
                <a:lnTo>
                  <a:pt x="6858000" y="11328901"/>
                </a:lnTo>
                <a:lnTo>
                  <a:pt x="1" y="11328901"/>
                </a:lnTo>
                <a:lnTo>
                  <a:pt x="1" y="9359065"/>
                </a:lnTo>
                <a:lnTo>
                  <a:pt x="0" y="9359065"/>
                </a:lnTo>
                <a:lnTo>
                  <a:pt x="0" y="6535740"/>
                </a:lnTo>
                <a:lnTo>
                  <a:pt x="1" y="6535740"/>
                </a:lnTo>
                <a:lnTo>
                  <a:pt x="1" y="2229336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xmlns="" id="{D7CA8974-7BA7-4828-89E2-6DAD7353BC0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523854" y="1544347"/>
            <a:ext cx="4676439" cy="5313651"/>
          </a:xfrm>
          <a:custGeom>
            <a:avLst/>
            <a:gdLst>
              <a:gd name="connsiteX0" fmla="*/ 6846874 w 6846874"/>
              <a:gd name="connsiteY0" fmla="*/ 3021586 h 3021586"/>
              <a:gd name="connsiteX1" fmla="*/ 0 w 6846874"/>
              <a:gd name="connsiteY1" fmla="*/ 3021585 h 3021586"/>
              <a:gd name="connsiteX2" fmla="*/ 3399286 w 6846874"/>
              <a:gd name="connsiteY2" fmla="*/ 0 h 3021586"/>
              <a:gd name="connsiteX0" fmla="*/ 6846874 w 6846874"/>
              <a:gd name="connsiteY0" fmla="*/ 3016405 h 3016405"/>
              <a:gd name="connsiteX1" fmla="*/ 0 w 6846874"/>
              <a:gd name="connsiteY1" fmla="*/ 3016404 h 3016405"/>
              <a:gd name="connsiteX2" fmla="*/ 3425190 w 6846874"/>
              <a:gd name="connsiteY2" fmla="*/ 0 h 3016405"/>
              <a:gd name="connsiteX3" fmla="*/ 6846874 w 6846874"/>
              <a:gd name="connsiteY3" fmla="*/ 3016405 h 3016405"/>
              <a:gd name="connsiteX0" fmla="*/ 6846874 w 6846874"/>
              <a:gd name="connsiteY0" fmla="*/ 3055286 h 3055286"/>
              <a:gd name="connsiteX1" fmla="*/ 0 w 6846874"/>
              <a:gd name="connsiteY1" fmla="*/ 3055285 h 3055286"/>
              <a:gd name="connsiteX2" fmla="*/ 3425190 w 6846874"/>
              <a:gd name="connsiteY2" fmla="*/ 0 h 3055286"/>
              <a:gd name="connsiteX3" fmla="*/ 6846874 w 6846874"/>
              <a:gd name="connsiteY3" fmla="*/ 3055286 h 3055286"/>
              <a:gd name="connsiteX0" fmla="*/ 6846874 w 6846874"/>
              <a:gd name="connsiteY0" fmla="*/ 5422604 h 5422604"/>
              <a:gd name="connsiteX1" fmla="*/ 0 w 6846874"/>
              <a:gd name="connsiteY1" fmla="*/ 5422603 h 5422604"/>
              <a:gd name="connsiteX2" fmla="*/ 6839561 w 6846874"/>
              <a:gd name="connsiteY2" fmla="*/ 0 h 5422604"/>
              <a:gd name="connsiteX3" fmla="*/ 6846874 w 6846874"/>
              <a:gd name="connsiteY3" fmla="*/ 5422604 h 5422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6874" h="5422604">
                <a:moveTo>
                  <a:pt x="6846874" y="5422604"/>
                </a:moveTo>
                <a:lnTo>
                  <a:pt x="0" y="5422603"/>
                </a:lnTo>
                <a:lnTo>
                  <a:pt x="6839561" y="0"/>
                </a:lnTo>
                <a:cubicBezTo>
                  <a:pt x="6841999" y="1807535"/>
                  <a:pt x="6844436" y="3615069"/>
                  <a:pt x="6846874" y="5422604"/>
                </a:cubicBezTo>
                <a:close/>
              </a:path>
            </a:pathLst>
          </a:custGeom>
          <a:solidFill>
            <a:schemeClr val="bg2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622562CB-9B1F-4C57-89AA-F87110D75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181101"/>
            <a:ext cx="6657108" cy="283240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cap="all" spc="300" dirty="0">
                <a:solidFill>
                  <a:srgbClr val="FFFFFF"/>
                </a:solidFill>
              </a:rPr>
              <a:t>1. ИСТОРИЯ НА КЛАВИ</a:t>
            </a:r>
            <a:r>
              <a:rPr lang="bg-BG" sz="3200" cap="all" spc="300" dirty="0">
                <a:solidFill>
                  <a:srgbClr val="FFFFFF"/>
                </a:solidFill>
              </a:rPr>
              <a:t>А</a:t>
            </a:r>
            <a:r>
              <a:rPr lang="en-US" sz="3200" cap="all" spc="300" dirty="0">
                <a:solidFill>
                  <a:srgbClr val="FFFFFF"/>
                </a:solidFill>
              </a:rPr>
              <a:t>ТУРАТА 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22FF7054-8331-4142-BA28-EAF76AABC4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5115" y="2306320"/>
            <a:ext cx="4831079" cy="134112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 err="1">
                <a:solidFill>
                  <a:srgbClr val="FFFFFF"/>
                </a:solidFill>
              </a:rPr>
              <a:t>Всичко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започва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през</a:t>
            </a:r>
            <a:r>
              <a:rPr lang="en-US" dirty="0">
                <a:solidFill>
                  <a:srgbClr val="FFFFFF"/>
                </a:solidFill>
              </a:rPr>
              <a:t> 1867г. , </a:t>
            </a:r>
            <a:r>
              <a:rPr lang="en-US" dirty="0" err="1">
                <a:solidFill>
                  <a:srgbClr val="FFFFFF"/>
                </a:solidFill>
              </a:rPr>
              <a:t>когато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Кристофор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Шолс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патентова</a:t>
            </a:r>
            <a:r>
              <a:rPr lang="en-US" dirty="0">
                <a:solidFill>
                  <a:srgbClr val="FFFFFF"/>
                </a:solidFill>
              </a:rPr>
              <a:t> QWERTY </a:t>
            </a:r>
            <a:r>
              <a:rPr lang="en-US" dirty="0" err="1">
                <a:solidFill>
                  <a:srgbClr val="FFFFFF"/>
                </a:solidFill>
              </a:rPr>
              <a:t>подредбата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за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пишещи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машини</a:t>
            </a:r>
            <a:r>
              <a:rPr lang="en-US" dirty="0">
                <a:solidFill>
                  <a:srgbClr val="FFFFFF"/>
                </a:solidFill>
              </a:rPr>
              <a:t>. </a:t>
            </a:r>
          </a:p>
        </p:txBody>
      </p:sp>
      <p:sp>
        <p:nvSpPr>
          <p:cNvPr id="7" name="Текстово поле 6">
            <a:extLst>
              <a:ext uri="{FF2B5EF4-FFF2-40B4-BE49-F238E27FC236}">
                <a16:creationId xmlns:a16="http://schemas.microsoft.com/office/drawing/2014/main" xmlns="" id="{B91FAC71-078E-4B7A-8D7F-4D9A0C9588D9}"/>
              </a:ext>
            </a:extLst>
          </p:cNvPr>
          <p:cNvSpPr txBox="1"/>
          <p:nvPr/>
        </p:nvSpPr>
        <p:spPr>
          <a:xfrm>
            <a:off x="815115" y="4013505"/>
            <a:ext cx="4937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/>
              <a:t>След появата на компютъра се използват </a:t>
            </a:r>
          </a:p>
          <a:p>
            <a:r>
              <a:rPr lang="bg-BG" dirty="0"/>
              <a:t>преработени </a:t>
            </a:r>
            <a:r>
              <a:rPr lang="bg-BG" dirty="0" err="1"/>
              <a:t>телепринтери</a:t>
            </a:r>
            <a:r>
              <a:rPr lang="bg-BG" dirty="0"/>
              <a:t> за управление.</a:t>
            </a:r>
          </a:p>
        </p:txBody>
      </p:sp>
      <p:sp>
        <p:nvSpPr>
          <p:cNvPr id="8" name="Текстово поле 7">
            <a:extLst>
              <a:ext uri="{FF2B5EF4-FFF2-40B4-BE49-F238E27FC236}">
                <a16:creationId xmlns:a16="http://schemas.microsoft.com/office/drawing/2014/main" xmlns="" id="{D78D9C6C-B886-4EBD-AABE-BC43908A2A1F}"/>
              </a:ext>
            </a:extLst>
          </p:cNvPr>
          <p:cNvSpPr txBox="1"/>
          <p:nvPr/>
        </p:nvSpPr>
        <p:spPr>
          <a:xfrm>
            <a:off x="815116" y="5405120"/>
            <a:ext cx="5143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/>
              <a:t>И през 1980-1990г. Почват да се продават мембрани и механични клавиатури</a:t>
            </a:r>
          </a:p>
        </p:txBody>
      </p:sp>
    </p:spTree>
    <p:extLst>
      <p:ext uri="{BB962C8B-B14F-4D97-AF65-F5344CB8AC3E}">
        <p14:creationId xmlns:p14="http://schemas.microsoft.com/office/powerpoint/2010/main" val="3274882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Freeform: Shape 70">
            <a:extLst>
              <a:ext uri="{FF2B5EF4-FFF2-40B4-BE49-F238E27FC236}">
                <a16:creationId xmlns:a16="http://schemas.microsoft.com/office/drawing/2014/main" xmlns="" id="{91C2F78B-DEE8-4195-A196-DFC51BDADFF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49268" y="4070878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29" name="Freeform: Shape 72">
            <a:extLst>
              <a:ext uri="{FF2B5EF4-FFF2-40B4-BE49-F238E27FC236}">
                <a16:creationId xmlns:a16="http://schemas.microsoft.com/office/drawing/2014/main" xmlns="" id="{A1D79D08-4BE8-4799-BE09-5078DFEE22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0" y="0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030" name="Straight Connector 74">
            <a:extLst>
              <a:ext uri="{FF2B5EF4-FFF2-40B4-BE49-F238E27FC236}">
                <a16:creationId xmlns:a16="http://schemas.microsoft.com/office/drawing/2014/main" xmlns="" id="{C95D65A1-16CB-407F-993F-2A6D59BCC0C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31" name="Rectangle 76">
            <a:extLst>
              <a:ext uri="{FF2B5EF4-FFF2-40B4-BE49-F238E27FC236}">
                <a16:creationId xmlns:a16="http://schemas.microsoft.com/office/drawing/2014/main" xmlns="" id="{20CC10FC-6518-423B-A972-3E4F7A4A82F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Freeform: Shape 78">
            <a:extLst>
              <a:ext uri="{FF2B5EF4-FFF2-40B4-BE49-F238E27FC236}">
                <a16:creationId xmlns:a16="http://schemas.microsoft.com/office/drawing/2014/main" xmlns="" id="{A8FC12C0-26A5-495A-9358-36220BD535C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6255" y="0"/>
            <a:ext cx="6873692" cy="6858000"/>
          </a:xfrm>
          <a:custGeom>
            <a:avLst/>
            <a:gdLst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0 w 12192000"/>
              <a:gd name="connsiteY6" fmla="*/ 0 h 6858000"/>
              <a:gd name="connsiteX7" fmla="*/ 6700 w 12192000"/>
              <a:gd name="connsiteY7" fmla="*/ 0 h 6858000"/>
              <a:gd name="connsiteX8" fmla="*/ 6700 w 12192000"/>
              <a:gd name="connsiteY8" fmla="*/ 6858000 h 6858000"/>
              <a:gd name="connsiteX9" fmla="*/ 0 w 12192000"/>
              <a:gd name="connsiteY9" fmla="*/ 6858000 h 6858000"/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11328900 w 12192000"/>
              <a:gd name="connsiteY6" fmla="*/ 0 h 6858000"/>
              <a:gd name="connsiteX7" fmla="*/ 0 w 12192000"/>
              <a:gd name="connsiteY7" fmla="*/ 6858000 h 6858000"/>
              <a:gd name="connsiteX8" fmla="*/ 6700 w 12192000"/>
              <a:gd name="connsiteY8" fmla="*/ 0 h 6858000"/>
              <a:gd name="connsiteX9" fmla="*/ 6700 w 12192000"/>
              <a:gd name="connsiteY9" fmla="*/ 6858000 h 6858000"/>
              <a:gd name="connsiteX10" fmla="*/ 0 w 12192000"/>
              <a:gd name="connsiteY10" fmla="*/ 6858000 h 6858000"/>
              <a:gd name="connsiteX0" fmla="*/ 11322200 w 12185300"/>
              <a:gd name="connsiteY0" fmla="*/ 0 h 6858000"/>
              <a:gd name="connsiteX1" fmla="*/ 12185300 w 12185300"/>
              <a:gd name="connsiteY1" fmla="*/ 0 h 6858000"/>
              <a:gd name="connsiteX2" fmla="*/ 12185300 w 12185300"/>
              <a:gd name="connsiteY2" fmla="*/ 6858000 h 6858000"/>
              <a:gd name="connsiteX3" fmla="*/ 5311608 w 12185300"/>
              <a:gd name="connsiteY3" fmla="*/ 6858000 h 6858000"/>
              <a:gd name="connsiteX4" fmla="*/ 11322197 w 12185300"/>
              <a:gd name="connsiteY4" fmla="*/ 4 h 6858000"/>
              <a:gd name="connsiteX5" fmla="*/ 11322198 w 12185300"/>
              <a:gd name="connsiteY5" fmla="*/ 2 h 6858000"/>
              <a:gd name="connsiteX6" fmla="*/ 11322200 w 12185300"/>
              <a:gd name="connsiteY6" fmla="*/ 0 h 6858000"/>
              <a:gd name="connsiteX7" fmla="*/ 0 w 12185300"/>
              <a:gd name="connsiteY7" fmla="*/ 6858000 h 6858000"/>
              <a:gd name="connsiteX8" fmla="*/ 0 w 12185300"/>
              <a:gd name="connsiteY8" fmla="*/ 0 h 6858000"/>
              <a:gd name="connsiteX9" fmla="*/ 0 w 12185300"/>
              <a:gd name="connsiteY9" fmla="*/ 6858000 h 6858000"/>
              <a:gd name="connsiteX0" fmla="*/ 6010592 w 6873692"/>
              <a:gd name="connsiteY0" fmla="*/ 0 h 6858000"/>
              <a:gd name="connsiteX1" fmla="*/ 6873692 w 6873692"/>
              <a:gd name="connsiteY1" fmla="*/ 0 h 6858000"/>
              <a:gd name="connsiteX2" fmla="*/ 6873692 w 6873692"/>
              <a:gd name="connsiteY2" fmla="*/ 6858000 h 6858000"/>
              <a:gd name="connsiteX3" fmla="*/ 0 w 6873692"/>
              <a:gd name="connsiteY3" fmla="*/ 6858000 h 6858000"/>
              <a:gd name="connsiteX4" fmla="*/ 6010589 w 6873692"/>
              <a:gd name="connsiteY4" fmla="*/ 4 h 6858000"/>
              <a:gd name="connsiteX5" fmla="*/ 6010590 w 6873692"/>
              <a:gd name="connsiteY5" fmla="*/ 2 h 6858000"/>
              <a:gd name="connsiteX6" fmla="*/ 6010592 w 6873692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73692" h="6858000">
                <a:moveTo>
                  <a:pt x="6010592" y="0"/>
                </a:moveTo>
                <a:lnTo>
                  <a:pt x="6873692" y="0"/>
                </a:lnTo>
                <a:lnTo>
                  <a:pt x="687369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lnTo>
                  <a:pt x="6010592" y="0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6" name="Picture 2" descr="Безжична клавиатура Apple Magic Keyboard - Int. английски">
            <a:extLst>
              <a:ext uri="{FF2B5EF4-FFF2-40B4-BE49-F238E27FC236}">
                <a16:creationId xmlns:a16="http://schemas.microsoft.com/office/drawing/2014/main" xmlns="" id="{639B2A68-2063-4283-B29E-DC33EB06376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396"/>
          <a:stretch/>
        </p:blipFill>
        <p:spPr bwMode="auto">
          <a:xfrm>
            <a:off x="1" y="10"/>
            <a:ext cx="6885325" cy="6857990"/>
          </a:xfrm>
          <a:custGeom>
            <a:avLst/>
            <a:gdLst/>
            <a:ahLst/>
            <a:cxnLst/>
            <a:rect l="l" t="t" r="r" b="b"/>
            <a:pathLst>
              <a:path w="6885325" h="6858000">
                <a:moveTo>
                  <a:pt x="6885325" y="0"/>
                </a:moveTo>
                <a:lnTo>
                  <a:pt x="874733" y="6858000"/>
                </a:lnTo>
                <a:lnTo>
                  <a:pt x="0" y="6858000"/>
                </a:lnTo>
                <a:lnTo>
                  <a:pt x="0" y="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50A75C7A-1D9A-4269-8E3F-A50AA94E7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507" y="414392"/>
            <a:ext cx="3497580" cy="19583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1.1</a:t>
            </a:r>
            <a:r>
              <a:rPr lang="bg-BG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СЪЩНОСТ</a:t>
            </a:r>
            <a:endParaRPr lang="en-US" sz="32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88548599-4BBF-4FA2-83F1-B95696FE4F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24784" y="673844"/>
            <a:ext cx="6013702" cy="4226560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b="0" i="0" u="none" strike="noStrike" dirty="0" err="1">
                <a:effectLst/>
              </a:rPr>
              <a:t>Клавиатурите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са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входни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периферни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устройства</a:t>
            </a:r>
            <a:r>
              <a:rPr lang="en-US" b="0" i="0" u="none" strike="noStrike" dirty="0">
                <a:effectLst/>
              </a:rPr>
              <a:t>. </a:t>
            </a:r>
            <a:r>
              <a:rPr lang="en-US" b="0" i="0" u="none" strike="noStrike" dirty="0" err="1">
                <a:effectLst/>
              </a:rPr>
              <a:t>Те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са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най-важните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периферни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устройства</a:t>
            </a:r>
            <a:r>
              <a:rPr lang="en-US" b="0" i="0" u="none" strike="noStrike" dirty="0">
                <a:effectLst/>
              </a:rPr>
              <a:t>(</a:t>
            </a:r>
            <a:r>
              <a:rPr lang="en-US" b="0" i="0" u="none" strike="noStrike" dirty="0" err="1">
                <a:effectLst/>
              </a:rPr>
              <a:t>без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тях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не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може</a:t>
            </a:r>
            <a:r>
              <a:rPr lang="en-US" b="0" i="0" u="none" strike="noStrike" dirty="0">
                <a:effectLst/>
              </a:rPr>
              <a:t>). </a:t>
            </a:r>
            <a:r>
              <a:rPr lang="en-US" b="0" i="0" u="none" strike="noStrike" dirty="0" err="1">
                <a:effectLst/>
              </a:rPr>
              <a:t>Използват</a:t>
            </a:r>
            <a:r>
              <a:rPr lang="en-US" b="0" i="0" u="none" strike="noStrike" dirty="0">
                <a:effectLst/>
              </a:rPr>
              <a:t> 5V </a:t>
            </a:r>
            <a:r>
              <a:rPr lang="en-US" b="0" i="0" u="none" strike="noStrike" dirty="0" err="1">
                <a:effectLst/>
              </a:rPr>
              <a:t>за</a:t>
            </a:r>
            <a:r>
              <a:rPr lang="bg-BG" b="0" i="0" u="none" strike="noStrike" dirty="0">
                <a:effectLst/>
              </a:rPr>
              <a:t>х</a:t>
            </a:r>
            <a:r>
              <a:rPr lang="en-US" b="0" i="0" u="none" strike="noStrike" dirty="0" err="1">
                <a:effectLst/>
              </a:rPr>
              <a:t>ранване</a:t>
            </a:r>
            <a:r>
              <a:rPr lang="en-US" b="0" i="0" u="none" strike="noStrike" dirty="0">
                <a:effectLst/>
              </a:rPr>
              <a:t>. </a:t>
            </a:r>
            <a:r>
              <a:rPr lang="en-US" b="0" i="0" u="none" strike="noStrike" dirty="0" err="1">
                <a:effectLst/>
              </a:rPr>
              <a:t>Предназначени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са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за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управление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на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компютъра</a:t>
            </a:r>
            <a:r>
              <a:rPr lang="en-US" b="0" i="0" u="none" strike="noStrike" dirty="0">
                <a:effectLst/>
              </a:rPr>
              <a:t> и </a:t>
            </a:r>
            <a:r>
              <a:rPr lang="en-US" b="0" i="0" u="none" strike="noStrike" dirty="0" err="1">
                <a:effectLst/>
              </a:rPr>
              <a:t>управление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на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информацията</a:t>
            </a:r>
            <a:r>
              <a:rPr lang="en-US" b="0" i="0" u="none" strike="noStrike" dirty="0">
                <a:effectLst/>
              </a:rPr>
              <a:t>. </a:t>
            </a:r>
            <a:r>
              <a:rPr lang="en-US" b="0" i="0" u="none" strike="noStrike" dirty="0" err="1">
                <a:effectLst/>
              </a:rPr>
              <a:t>Изградени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са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на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матричен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принцип</a:t>
            </a:r>
            <a:r>
              <a:rPr lang="en-US" b="0" i="0" u="none" strike="noStrike" dirty="0">
                <a:effectLst/>
              </a:rPr>
              <a:t>, в </a:t>
            </a:r>
            <a:r>
              <a:rPr lang="en-US" b="0" i="0" u="none" strike="noStrike" dirty="0" err="1">
                <a:effectLst/>
              </a:rPr>
              <a:t>редове</a:t>
            </a:r>
            <a:r>
              <a:rPr lang="en-US" b="0" i="0" u="none" strike="noStrike" dirty="0">
                <a:effectLst/>
              </a:rPr>
              <a:t> и </a:t>
            </a:r>
            <a:r>
              <a:rPr lang="en-US" b="0" i="0" u="none" strike="noStrike" dirty="0" err="1">
                <a:effectLst/>
              </a:rPr>
              <a:t>колони</a:t>
            </a:r>
            <a:r>
              <a:rPr lang="en-US" b="0" i="0" u="none" strike="noStrike" dirty="0">
                <a:effectLst/>
              </a:rPr>
              <a:t>. </a:t>
            </a:r>
            <a:r>
              <a:rPr lang="en-US" b="0" i="0" u="none" strike="noStrike" dirty="0" err="1">
                <a:effectLst/>
              </a:rPr>
              <a:t>Като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така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се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формира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функционалния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ред</a:t>
            </a:r>
            <a:r>
              <a:rPr lang="en-US" b="0" i="0" u="none" strike="noStrike" dirty="0">
                <a:effectLst/>
              </a:rPr>
              <a:t>, </a:t>
            </a:r>
            <a:r>
              <a:rPr lang="en-US" b="0" i="0" u="none" strike="noStrike" dirty="0" err="1">
                <a:effectLst/>
              </a:rPr>
              <a:t>буквено-цифров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блок</a:t>
            </a:r>
            <a:r>
              <a:rPr lang="en-US" b="0" i="0" u="none" strike="noStrike" dirty="0">
                <a:effectLst/>
              </a:rPr>
              <a:t>, </a:t>
            </a:r>
            <a:r>
              <a:rPr lang="en-US" b="0" i="0" u="none" strike="noStrike" dirty="0" err="1">
                <a:effectLst/>
              </a:rPr>
              <a:t>само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цифров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блок</a:t>
            </a:r>
            <a:r>
              <a:rPr lang="en-US" b="0" i="0" u="none" strike="noStrike" dirty="0">
                <a:effectLst/>
              </a:rPr>
              <a:t> и </a:t>
            </a:r>
            <a:r>
              <a:rPr lang="en-US" b="0" i="0" u="none" strike="noStrike" dirty="0" err="1">
                <a:effectLst/>
              </a:rPr>
              <a:t>специализирани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клавиши</a:t>
            </a:r>
            <a:r>
              <a:rPr lang="en-US" b="0" i="0" u="none" strike="noStrike" dirty="0">
                <a:effectLst/>
              </a:rPr>
              <a:t>. </a:t>
            </a:r>
            <a:r>
              <a:rPr lang="en-US" b="0" i="0" dirty="0">
                <a:effectLst/>
              </a:rPr>
              <a:t>​</a:t>
            </a:r>
            <a:endParaRPr lang="en-US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xmlns="" id="{25F94957-FA6A-49F1-B474-9B199C91C39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7121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Freeform: Shape 134">
            <a:extLst>
              <a:ext uri="{FF2B5EF4-FFF2-40B4-BE49-F238E27FC236}">
                <a16:creationId xmlns:a16="http://schemas.microsoft.com/office/drawing/2014/main" xmlns="" id="{91C2F78B-DEE8-4195-A196-DFC51BDADFF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49268" y="4070878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xmlns="" id="{A1D79D08-4BE8-4799-BE09-5078DFEE22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0" y="0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xmlns="" id="{C95D65A1-16CB-407F-993F-2A6D59BCC0C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1" name="Rectangle 140">
            <a:extLst>
              <a:ext uri="{FF2B5EF4-FFF2-40B4-BE49-F238E27FC236}">
                <a16:creationId xmlns:a16="http://schemas.microsoft.com/office/drawing/2014/main" xmlns="" id="{AB20E7A4-EC2C-47C8-BE55-65771E3F2ED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Freeform: Shape 142">
            <a:extLst>
              <a:ext uri="{FF2B5EF4-FFF2-40B4-BE49-F238E27FC236}">
                <a16:creationId xmlns:a16="http://schemas.microsoft.com/office/drawing/2014/main" xmlns="" id="{1CF23DDA-0D09-4FE5-AE88-EBBE5E02467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0" y="0"/>
            <a:ext cx="6885325" cy="6858000"/>
          </a:xfrm>
          <a:custGeom>
            <a:avLst/>
            <a:gdLst>
              <a:gd name="connsiteX0" fmla="*/ 4456883 w 6885325"/>
              <a:gd name="connsiteY0" fmla="*/ 6858000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4070876 h 6858000"/>
              <a:gd name="connsiteX8" fmla="*/ 6885325 w 6885325"/>
              <a:gd name="connsiteY8" fmla="*/ 6857999 h 6858000"/>
              <a:gd name="connsiteX9" fmla="*/ 4456884 w 6885325"/>
              <a:gd name="connsiteY9" fmla="*/ 6857999 h 6858000"/>
              <a:gd name="connsiteX0" fmla="*/ 4456884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4070876 h 6858000"/>
              <a:gd name="connsiteX8" fmla="*/ 6885325 w 6885325"/>
              <a:gd name="connsiteY8" fmla="*/ 6857999 h 6858000"/>
              <a:gd name="connsiteX9" fmla="*/ 4456884 w 6885325"/>
              <a:gd name="connsiteY9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4070876 h 6858000"/>
              <a:gd name="connsiteX8" fmla="*/ 6885325 w 6885325"/>
              <a:gd name="connsiteY8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5 w 6885325"/>
              <a:gd name="connsiteY6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5 w 6885325"/>
              <a:gd name="connsiteY5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6857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85325" h="6858000">
                <a:moveTo>
                  <a:pt x="6885325" y="6857999"/>
                </a:moveTo>
                <a:lnTo>
                  <a:pt x="0" y="6858000"/>
                </a:lnTo>
                <a:lnTo>
                  <a:pt x="6010592" y="0"/>
                </a:lnTo>
                <a:lnTo>
                  <a:pt x="6885325" y="0"/>
                </a:lnTo>
                <a:lnTo>
                  <a:pt x="6885325" y="6857999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566B911A-8906-446C-9A28-3500D6F92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440" y="210941"/>
            <a:ext cx="3894412" cy="191677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1.2 </a:t>
            </a:r>
            <a:r>
              <a:rPr lang="en-US" sz="3200" b="0" i="0" u="none" strike="noStrike" kern="1200" cap="all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ЧАСТИ НА КЛАВИАТУРАТА</a:t>
            </a:r>
            <a:r>
              <a:rPr lang="en-US" sz="32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​</a:t>
            </a:r>
            <a:r>
              <a:rPr lang="en-US" sz="22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/>
            </a:r>
            <a:br>
              <a:rPr lang="en-US" sz="22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2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050" name="Picture 2" descr="TeacherIT">
            <a:extLst>
              <a:ext uri="{FF2B5EF4-FFF2-40B4-BE49-F238E27FC236}">
                <a16:creationId xmlns:a16="http://schemas.microsoft.com/office/drawing/2014/main" xmlns="" id="{8C5D9ED6-66FC-44D9-913C-F611FCDAD92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4271" y="2139485"/>
            <a:ext cx="4642135" cy="2442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C6F1D725-4522-46C8-AEFA-277A7FA755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06676" y="365761"/>
            <a:ext cx="6285884" cy="55778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 fontAlgn="base">
              <a:lnSpc>
                <a:spcPct val="110000"/>
              </a:lnSpc>
              <a:buNone/>
            </a:pPr>
            <a:r>
              <a:rPr lang="en-US" sz="2400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Функционална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част</a:t>
            </a:r>
            <a:r>
              <a:rPr lang="en-US" b="0" i="0" u="none" strike="noStrike" dirty="0">
                <a:effectLst/>
              </a:rPr>
              <a:t>- esc, F1,-F12, pause break, </a:t>
            </a:r>
            <a:r>
              <a:rPr lang="en-US" b="0" i="0" u="none" strike="noStrike" dirty="0" err="1">
                <a:effectLst/>
              </a:rPr>
              <a:t>prtSc</a:t>
            </a:r>
            <a:r>
              <a:rPr lang="en-US" b="0" i="0" u="none" strike="noStrike" dirty="0">
                <a:effectLst/>
              </a:rPr>
              <a:t>, scroll lock, insert, home page up, page down, delete, end</a:t>
            </a:r>
            <a:r>
              <a:rPr lang="en-US" b="0" i="0" dirty="0">
                <a:effectLst/>
              </a:rPr>
              <a:t>​</a:t>
            </a:r>
          </a:p>
          <a:p>
            <a:pPr fontAlgn="base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Символна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част</a:t>
            </a:r>
            <a:r>
              <a:rPr lang="en-US" b="0" i="0" u="none" strike="noStrike" dirty="0">
                <a:effectLst/>
              </a:rPr>
              <a:t>- </a:t>
            </a:r>
            <a:r>
              <a:rPr lang="en-US" b="0" i="0" u="none" strike="noStrike" dirty="0" err="1">
                <a:effectLst/>
              </a:rPr>
              <a:t>обхваща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всички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символи</a:t>
            </a:r>
            <a:r>
              <a:rPr lang="en-US" b="0" i="0" u="none" strike="noStrike" dirty="0">
                <a:effectLst/>
              </a:rPr>
              <a:t>: !, @,№, $, %, €, §, *, (, ), _, &lt;, &gt;, ?, /, ,+, ., space, enter, alt, caps lock, tab... </a:t>
            </a:r>
            <a:r>
              <a:rPr lang="en-US" b="0" i="0" dirty="0">
                <a:effectLst/>
              </a:rPr>
              <a:t>​</a:t>
            </a:r>
          </a:p>
          <a:p>
            <a:pPr fontAlgn="base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Навигационна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част</a:t>
            </a:r>
            <a:r>
              <a:rPr lang="en-US" b="0" i="0" u="none" strike="noStrike" dirty="0">
                <a:effectLst/>
              </a:rPr>
              <a:t>- </a:t>
            </a:r>
            <a:r>
              <a:rPr lang="en-US" b="0" i="0" u="none" strike="noStrike" dirty="0" err="1">
                <a:effectLst/>
              </a:rPr>
              <a:t>включва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клавишите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за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придвижване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на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маркера</a:t>
            </a:r>
            <a:r>
              <a:rPr lang="en-US" b="0" i="0" u="none" strike="noStrike" dirty="0">
                <a:effectLst/>
              </a:rPr>
              <a:t> -&gt;, &lt;-, delete, insert</a:t>
            </a:r>
            <a:r>
              <a:rPr lang="en-US" b="0" i="0" dirty="0">
                <a:effectLst/>
              </a:rPr>
              <a:t>​</a:t>
            </a:r>
          </a:p>
          <a:p>
            <a:pPr fontAlgn="base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Цифрова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част</a:t>
            </a:r>
            <a:r>
              <a:rPr lang="en-US" b="0" i="0" u="none" strike="noStrike" dirty="0">
                <a:effectLst/>
              </a:rPr>
              <a:t>- </a:t>
            </a:r>
            <a:r>
              <a:rPr lang="en-US" b="0" i="0" u="none" strike="noStrike" dirty="0" err="1">
                <a:effectLst/>
              </a:rPr>
              <a:t>работи</a:t>
            </a:r>
            <a:r>
              <a:rPr lang="en-US" b="0" i="0" u="none" strike="noStrike" dirty="0">
                <a:effectLst/>
              </a:rPr>
              <a:t> в 2 </a:t>
            </a:r>
            <a:r>
              <a:rPr lang="en-US" b="0" i="0" u="none" strike="noStrike" dirty="0" err="1">
                <a:effectLst/>
              </a:rPr>
              <a:t>режима</a:t>
            </a:r>
            <a:r>
              <a:rPr lang="en-US" b="0" i="0" u="none" strike="noStrike" dirty="0">
                <a:effectLst/>
              </a:rPr>
              <a:t>- Num lock, /, *, -, +, enter, 1, 2, 3, 4, 5, 6, 7, 8, 9</a:t>
            </a:r>
            <a:r>
              <a:rPr lang="en-US" b="0" i="0" dirty="0">
                <a:effectLst/>
              </a:rPr>
              <a:t>​</a:t>
            </a:r>
          </a:p>
          <a:p>
            <a:pPr algn="r">
              <a:lnSpc>
                <a:spcPct val="110000"/>
              </a:lnSpc>
            </a:pPr>
            <a:endParaRPr lang="en-US" sz="1300" dirty="0"/>
          </a:p>
        </p:txBody>
      </p: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xmlns="" id="{1766FD2F-248A-4AA1-8078-E26D6E690BB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2735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reeform: Shape 70">
            <a:extLst>
              <a:ext uri="{FF2B5EF4-FFF2-40B4-BE49-F238E27FC236}">
                <a16:creationId xmlns:a16="http://schemas.microsoft.com/office/drawing/2014/main" xmlns="" id="{91C2F78B-DEE8-4195-A196-DFC51BDADFF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49268" y="4070878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xmlns="" id="{A1D79D08-4BE8-4799-BE09-5078DFEE22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0" y="0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xmlns="" id="{C95D65A1-16CB-407F-993F-2A6D59BCC0C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xmlns="" id="{327AB4C5-0719-4E35-87CD-199EB59E3EE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xmlns="" id="{3F51EE1E-6258-4F09-963A-853315C6FBC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 flipH="1" flipV="1">
            <a:off x="1127553" y="-1127553"/>
            <a:ext cx="6858000" cy="9113106"/>
          </a:xfrm>
          <a:custGeom>
            <a:avLst/>
            <a:gdLst>
              <a:gd name="connsiteX0" fmla="*/ 0 w 6858000"/>
              <a:gd name="connsiteY0" fmla="*/ 7143270 h 9113106"/>
              <a:gd name="connsiteX1" fmla="*/ 0 w 6858000"/>
              <a:gd name="connsiteY1" fmla="*/ 6878623 h 9113106"/>
              <a:gd name="connsiteX2" fmla="*/ 1 w 6858000"/>
              <a:gd name="connsiteY2" fmla="*/ 6878623 h 9113106"/>
              <a:gd name="connsiteX3" fmla="*/ 0 w 6858000"/>
              <a:gd name="connsiteY3" fmla="*/ 4319945 h 9113106"/>
              <a:gd name="connsiteX4" fmla="*/ 1 w 6858000"/>
              <a:gd name="connsiteY4" fmla="*/ 4319945 h 9113106"/>
              <a:gd name="connsiteX5" fmla="*/ 1 w 6858000"/>
              <a:gd name="connsiteY5" fmla="*/ 13542 h 9113106"/>
              <a:gd name="connsiteX6" fmla="*/ 0 w 6858000"/>
              <a:gd name="connsiteY6" fmla="*/ 13540 h 9113106"/>
              <a:gd name="connsiteX7" fmla="*/ 0 w 6858000"/>
              <a:gd name="connsiteY7" fmla="*/ 0 h 9113106"/>
              <a:gd name="connsiteX8" fmla="*/ 6858000 w 6858000"/>
              <a:gd name="connsiteY8" fmla="*/ 6010591 h 9113106"/>
              <a:gd name="connsiteX9" fmla="*/ 6858000 w 6858000"/>
              <a:gd name="connsiteY9" fmla="*/ 3794798 h 9113106"/>
              <a:gd name="connsiteX10" fmla="*/ 6858000 w 6858000"/>
              <a:gd name="connsiteY10" fmla="*/ 3794798 h 9113106"/>
              <a:gd name="connsiteX11" fmla="*/ 6858000 w 6858000"/>
              <a:gd name="connsiteY11" fmla="*/ 3837120 h 9113106"/>
              <a:gd name="connsiteX12" fmla="*/ 6858000 w 6858000"/>
              <a:gd name="connsiteY12" fmla="*/ 6838049 h 9113106"/>
              <a:gd name="connsiteX13" fmla="*/ 6858000 w 6858000"/>
              <a:gd name="connsiteY13" fmla="*/ 9113106 h 9113106"/>
              <a:gd name="connsiteX14" fmla="*/ 1 w 6858000"/>
              <a:gd name="connsiteY14" fmla="*/ 9113106 h 9113106"/>
              <a:gd name="connsiteX15" fmla="*/ 1 w 6858000"/>
              <a:gd name="connsiteY15" fmla="*/ 7143270 h 9113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8000" h="9113106">
                <a:moveTo>
                  <a:pt x="0" y="7143270"/>
                </a:moveTo>
                <a:lnTo>
                  <a:pt x="0" y="6878623"/>
                </a:lnTo>
                <a:lnTo>
                  <a:pt x="1" y="6878623"/>
                </a:lnTo>
                <a:lnTo>
                  <a:pt x="0" y="4319945"/>
                </a:lnTo>
                <a:lnTo>
                  <a:pt x="1" y="4319945"/>
                </a:lnTo>
                <a:lnTo>
                  <a:pt x="1" y="13542"/>
                </a:lnTo>
                <a:lnTo>
                  <a:pt x="0" y="13540"/>
                </a:lnTo>
                <a:lnTo>
                  <a:pt x="0" y="0"/>
                </a:lnTo>
                <a:lnTo>
                  <a:pt x="6858000" y="6010591"/>
                </a:lnTo>
                <a:lnTo>
                  <a:pt x="6858000" y="3794798"/>
                </a:lnTo>
                <a:lnTo>
                  <a:pt x="6858000" y="3794798"/>
                </a:lnTo>
                <a:lnTo>
                  <a:pt x="6858000" y="3837120"/>
                </a:lnTo>
                <a:lnTo>
                  <a:pt x="6858000" y="6838049"/>
                </a:lnTo>
                <a:lnTo>
                  <a:pt x="6858000" y="9113106"/>
                </a:lnTo>
                <a:lnTo>
                  <a:pt x="1" y="9113106"/>
                </a:lnTo>
                <a:lnTo>
                  <a:pt x="1" y="714327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34704154-BAF1-4BEA-9DA5-8DE6AB251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1" y="529389"/>
            <a:ext cx="5963920" cy="1116838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1.3 РЕЖИМИ НА РАБОТА 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/>
            </a:r>
            <a:b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EBCC4A31-B6CD-4E23-8517-3D290096AD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4160" y="1646226"/>
            <a:ext cx="5831841" cy="425291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0" i="0" u="none" strike="noStrike" dirty="0" err="1">
                <a:effectLst/>
              </a:rPr>
              <a:t>Работят</a:t>
            </a:r>
            <a:r>
              <a:rPr lang="en-US" b="0" i="0" u="none" strike="noStrike" dirty="0">
                <a:effectLst/>
              </a:rPr>
              <a:t> в </a:t>
            </a:r>
            <a:r>
              <a:rPr lang="en-US" b="0" i="0" u="none" strike="noStrike" dirty="0" err="1">
                <a:effectLst/>
              </a:rPr>
              <a:t>два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режима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на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работа</a:t>
            </a:r>
            <a:r>
              <a:rPr lang="en-US" b="0" i="0" u="none" strike="noStrike" dirty="0">
                <a:effectLst/>
              </a:rPr>
              <a:t>, </a:t>
            </a:r>
            <a:r>
              <a:rPr lang="en-US" b="0" i="0" u="none" strike="noStrike" dirty="0" err="1">
                <a:effectLst/>
              </a:rPr>
              <a:t>на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натиснат</a:t>
            </a:r>
            <a:r>
              <a:rPr lang="en-US" b="0" i="0" u="none" strike="noStrike" dirty="0">
                <a:effectLst/>
              </a:rPr>
              <a:t> и </a:t>
            </a:r>
            <a:r>
              <a:rPr lang="en-US" b="0" i="0" u="none" strike="noStrike" dirty="0" err="1">
                <a:effectLst/>
              </a:rPr>
              <a:t>отпуснат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клавиш</a:t>
            </a:r>
            <a:r>
              <a:rPr lang="en-US" b="0" i="0" u="none" strike="noStrike" dirty="0">
                <a:effectLst/>
              </a:rPr>
              <a:t>. </a:t>
            </a:r>
            <a:r>
              <a:rPr lang="en-US" b="0" i="0" u="none" strike="noStrike" dirty="0" err="1">
                <a:effectLst/>
              </a:rPr>
              <a:t>На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всеки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клавиш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от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клавиатурата</a:t>
            </a:r>
            <a:r>
              <a:rPr lang="en-US" b="0" i="0" u="none" strike="noStrike" dirty="0">
                <a:effectLst/>
              </a:rPr>
              <a:t> е </a:t>
            </a:r>
            <a:r>
              <a:rPr lang="en-US" b="0" i="0" u="none" strike="noStrike" dirty="0" err="1">
                <a:effectLst/>
              </a:rPr>
              <a:t>присвоен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така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наречения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позиционен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код</a:t>
            </a:r>
            <a:r>
              <a:rPr lang="en-US" b="0" i="0" u="none" strike="noStrike" dirty="0">
                <a:effectLst/>
              </a:rPr>
              <a:t>. </a:t>
            </a:r>
            <a:r>
              <a:rPr lang="en-US" b="0" i="0" u="none" strike="noStrike" dirty="0" err="1">
                <a:effectLst/>
              </a:rPr>
              <a:t>Този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код</a:t>
            </a:r>
            <a:r>
              <a:rPr lang="en-US" b="0" i="0" u="none" strike="noStrike" dirty="0">
                <a:effectLst/>
              </a:rPr>
              <a:t> е </a:t>
            </a:r>
            <a:r>
              <a:rPr lang="en-US" b="0" i="0" u="none" strike="noStrike" dirty="0" err="1">
                <a:effectLst/>
              </a:rPr>
              <a:t>число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от</a:t>
            </a:r>
            <a:r>
              <a:rPr lang="en-US" b="0" i="0" u="none" strike="noStrike" dirty="0">
                <a:effectLst/>
              </a:rPr>
              <a:t> 1 </a:t>
            </a:r>
            <a:r>
              <a:rPr lang="en-US" b="0" i="0" u="none" strike="noStrike" dirty="0" err="1">
                <a:effectLst/>
              </a:rPr>
              <a:t>до</a:t>
            </a:r>
            <a:r>
              <a:rPr lang="en-US" b="0" i="0" u="none" strike="noStrike" dirty="0">
                <a:effectLst/>
              </a:rPr>
              <a:t> 101 и </a:t>
            </a:r>
            <a:r>
              <a:rPr lang="en-US" b="0" i="0" u="none" strike="noStrike" dirty="0" err="1">
                <a:effectLst/>
              </a:rPr>
              <a:t>се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субира</a:t>
            </a:r>
            <a:r>
              <a:rPr lang="en-US" b="0" i="0" u="none" strike="noStrike" dirty="0">
                <a:effectLst/>
              </a:rPr>
              <a:t> в 7 </a:t>
            </a:r>
            <a:r>
              <a:rPr lang="en-US" b="0" i="0" u="none" strike="noStrike" dirty="0" err="1">
                <a:effectLst/>
              </a:rPr>
              <a:t>бита</a:t>
            </a:r>
            <a:r>
              <a:rPr lang="en-US" b="0" i="0" u="none" strike="noStrike" dirty="0">
                <a:effectLst/>
              </a:rPr>
              <a:t>. </a:t>
            </a:r>
            <a:r>
              <a:rPr lang="en-US" b="0" i="0" u="none" strike="noStrike" dirty="0" err="1">
                <a:effectLst/>
              </a:rPr>
              <a:t>При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всяко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натискане</a:t>
            </a:r>
            <a:r>
              <a:rPr lang="en-US" b="0" i="0" u="none" strike="noStrike" dirty="0">
                <a:effectLst/>
              </a:rPr>
              <a:t> и </a:t>
            </a:r>
            <a:r>
              <a:rPr lang="en-US" b="0" i="0" u="none" strike="noStrike" dirty="0" err="1">
                <a:effectLst/>
              </a:rPr>
              <a:t>отпускане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на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клавиатурата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се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подава</a:t>
            </a:r>
            <a:r>
              <a:rPr lang="en-US" b="0" i="0" u="none" strike="noStrike" dirty="0">
                <a:effectLst/>
              </a:rPr>
              <a:t> и 0 </a:t>
            </a:r>
            <a:r>
              <a:rPr lang="en-US" b="0" i="0" u="none" strike="noStrike" dirty="0" err="1">
                <a:effectLst/>
              </a:rPr>
              <a:t>или</a:t>
            </a:r>
            <a:r>
              <a:rPr lang="en-US" b="0" i="0" u="none" strike="noStrike" dirty="0">
                <a:effectLst/>
              </a:rPr>
              <a:t> 1 </a:t>
            </a:r>
            <a:r>
              <a:rPr lang="en-US" b="0" i="0" u="none" strike="noStrike" dirty="0" err="1">
                <a:effectLst/>
              </a:rPr>
              <a:t>към</a:t>
            </a:r>
            <a:r>
              <a:rPr lang="en-US" b="0" i="0" u="none" strike="noStrike" dirty="0">
                <a:effectLst/>
              </a:rPr>
              <a:t> CPU. </a:t>
            </a:r>
            <a:r>
              <a:rPr lang="en-US" b="0" i="0" u="none" strike="noStrike" dirty="0" err="1">
                <a:effectLst/>
              </a:rPr>
              <a:t>Към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седемте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бита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се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добавя</a:t>
            </a:r>
            <a:r>
              <a:rPr lang="en-US" b="0" i="0" u="none" strike="noStrike" dirty="0">
                <a:effectLst/>
              </a:rPr>
              <a:t> 0 </a:t>
            </a:r>
            <a:r>
              <a:rPr lang="en-US" b="0" i="0" u="none" strike="noStrike" dirty="0" err="1">
                <a:effectLst/>
              </a:rPr>
              <a:t>при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натиснат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или</a:t>
            </a:r>
            <a:r>
              <a:rPr lang="en-US" b="0" i="0" u="none" strike="noStrike" dirty="0">
                <a:effectLst/>
              </a:rPr>
              <a:t> 1 </a:t>
            </a:r>
            <a:r>
              <a:rPr lang="en-US" b="0" i="0" u="none" strike="noStrike" dirty="0" err="1">
                <a:effectLst/>
              </a:rPr>
              <a:t>за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отпуснат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клавиш</a:t>
            </a:r>
            <a:r>
              <a:rPr lang="en-US" b="0" i="0" u="none" strike="noStrike" dirty="0">
                <a:effectLst/>
              </a:rPr>
              <a:t>.</a:t>
            </a:r>
            <a:r>
              <a:rPr lang="en-US" b="0" i="0" dirty="0">
                <a:effectLst/>
              </a:rPr>
              <a:t>​</a:t>
            </a: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4841FF04-25C1-4DA2-A0C2-4016A243EF8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43225" y="1596345"/>
            <a:ext cx="4953122" cy="3665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xmlns="" id="{7FA07B03-7E5B-4F33-A494-D72BC5BEB0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3363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3524F4A4-0BDA-4FA0-B5AB-6B9A2F66E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/>
              <a:t>1.4 ИНТЕРФЕЙСИ ЗА КЛАВЯТУРА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6645BCD3-95C9-47CE-BB72-784F52C0434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bg-BG" dirty="0"/>
              <a:t>-Дин куплунг</a:t>
            </a:r>
          </a:p>
          <a:p>
            <a:r>
              <a:rPr lang="bg-BG" dirty="0"/>
              <a:t>-</a:t>
            </a:r>
            <a:r>
              <a:rPr lang="en-US" dirty="0"/>
              <a:t>PS/2</a:t>
            </a:r>
          </a:p>
          <a:p>
            <a:r>
              <a:rPr lang="en-US" dirty="0"/>
              <a:t>-USB 1.0</a:t>
            </a:r>
          </a:p>
          <a:p>
            <a:r>
              <a:rPr lang="en-US" dirty="0"/>
              <a:t>-USB 2.0</a:t>
            </a:r>
          </a:p>
          <a:p>
            <a:r>
              <a:rPr lang="en-US" dirty="0"/>
              <a:t>-USB 3.0</a:t>
            </a:r>
          </a:p>
          <a:p>
            <a:r>
              <a:rPr lang="en-US" dirty="0"/>
              <a:t>-USB 3.1 (4.0)</a:t>
            </a:r>
          </a:p>
          <a:p>
            <a:r>
              <a:rPr lang="en-US" dirty="0"/>
              <a:t>-</a:t>
            </a:r>
            <a:r>
              <a:rPr lang="bg-BG" dirty="0"/>
              <a:t>Безжичен</a:t>
            </a:r>
          </a:p>
        </p:txBody>
      </p:sp>
      <p:pic>
        <p:nvPicPr>
          <p:cNvPr id="2050" name="Picture 2" descr="USB 1.1: Speed, Cables, Connectors and More">
            <a:extLst>
              <a:ext uri="{FF2B5EF4-FFF2-40B4-BE49-F238E27FC236}">
                <a16:creationId xmlns:a16="http://schemas.microsoft.com/office/drawing/2014/main" xmlns="" id="{194B9124-A26A-480D-8868-E8A0E5CD17A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357" b="89881" l="9699" r="89967">
                        <a14:foregroundMark x1="69900" y1="54762" x2="69900" y2="54762"/>
                        <a14:foregroundMark x1="79599" y1="5357" x2="79599" y2="53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1885" y="0"/>
            <a:ext cx="4482528" cy="2518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tartech 6in PS/2 Keyboard Mouse Splitter Cable Green, Techinn">
            <a:extLst>
              <a:ext uri="{FF2B5EF4-FFF2-40B4-BE49-F238E27FC236}">
                <a16:creationId xmlns:a16="http://schemas.microsoft.com/office/drawing/2014/main" xmlns="" id="{7BA3A537-C612-4A99-81CC-B9F596741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778" b="89778" l="8889" r="93778">
                        <a14:foregroundMark x1="9778" y1="33778" x2="9778" y2="33778"/>
                        <a14:foregroundMark x1="92000" y1="51556" x2="92000" y2="51556"/>
                        <a14:foregroundMark x1="93778" y1="48889" x2="93778" y2="48889"/>
                        <a14:foregroundMark x1="13333" y1="48889" x2="13333" y2="48889"/>
                        <a14:foregroundMark x1="10222" y1="42222" x2="10222" y2="42222"/>
                        <a14:foregroundMark x1="8889" y1="40000" x2="8889" y2="40000"/>
                        <a14:foregroundMark x1="88444" y1="56000" x2="88444" y2="56000"/>
                        <a14:foregroundMark x1="28000" y1="70222" x2="28000" y2="70222"/>
                        <a14:foregroundMark x1="27556" y1="71111" x2="27556" y2="71111"/>
                        <a14:foregroundMark x1="23556" y1="75111" x2="23556" y2="75111"/>
                        <a14:foregroundMark x1="23556" y1="77778" x2="23556" y2="77778"/>
                        <a14:foregroundMark x1="22222" y1="77778" x2="22222" y2="77778"/>
                        <a14:foregroundMark x1="24000" y1="78667" x2="24000" y2="78667"/>
                        <a14:foregroundMark x1="24000" y1="80000" x2="24000" y2="80000"/>
                        <a14:foregroundMark x1="29778" y1="79556" x2="29778" y2="79556"/>
                        <a14:foregroundMark x1="29778" y1="80000" x2="29778" y2="80000"/>
                        <a14:foregroundMark x1="29333" y1="80889" x2="29333" y2="80889"/>
                        <a14:foregroundMark x1="32889" y1="80444" x2="32889" y2="80444"/>
                        <a14:backgroundMark x1="10667" y1="64000" x2="10667" y2="64000"/>
                        <a14:backgroundMark x1="11111" y1="63111" x2="11111" y2="63111"/>
                        <a14:backgroundMark x1="12000" y1="60444" x2="12000" y2="60444"/>
                        <a14:backgroundMark x1="14222" y1="56444" x2="14222" y2="56444"/>
                        <a14:backgroundMark x1="12000" y1="51111" x2="12000" y2="51111"/>
                        <a14:backgroundMark x1="10222" y1="48444" x2="10222" y2="48444"/>
                        <a14:backgroundMark x1="9778" y1="44000" x2="9778" y2="44000"/>
                        <a14:backgroundMark x1="7111" y1="39556" x2="7111" y2="39556"/>
                        <a14:backgroundMark x1="8889" y1="40889" x2="8889" y2="40889"/>
                        <a14:backgroundMark x1="8444" y1="38667" x2="8444" y2="38667"/>
                        <a14:backgroundMark x1="7111" y1="35556" x2="7111" y2="35556"/>
                        <a14:backgroundMark x1="10222" y1="28000" x2="10222" y2="28000"/>
                        <a14:backgroundMark x1="16889" y1="76889" x2="16889" y2="76889"/>
                        <a14:backgroundMark x1="14222" y1="72444" x2="14222" y2="72444"/>
                        <a14:backgroundMark x1="18667" y1="76889" x2="18667" y2="76889"/>
                        <a14:backgroundMark x1="37333" y1="72000" x2="37333" y2="72000"/>
                        <a14:backgroundMark x1="37333" y1="71111" x2="37333" y2="71111"/>
                        <a14:backgroundMark x1="39111" y1="72000" x2="39111" y2="72000"/>
                        <a14:backgroundMark x1="41778" y1="72444" x2="41778" y2="72444"/>
                        <a14:backgroundMark x1="68000" y1="46222" x2="68000" y2="46222"/>
                        <a14:backgroundMark x1="50222" y1="32444" x2="50222" y2="32444"/>
                        <a14:backgroundMark x1="48444" y1="30667" x2="48444" y2="30667"/>
                        <a14:backgroundMark x1="85778" y1="56889" x2="85778" y2="56889"/>
                        <a14:backgroundMark x1="12000" y1="48000" x2="12000" y2="4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6506" y="3746973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DNC-007 КУПЛУНГ 7p DIN | TetShop">
            <a:extLst>
              <a:ext uri="{FF2B5EF4-FFF2-40B4-BE49-F238E27FC236}">
                <a16:creationId xmlns:a16="http://schemas.microsoft.com/office/drawing/2014/main" xmlns="" id="{0E7A8410-8AF2-4C05-AF43-307869164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778" b="96000" l="3182" r="96818">
                        <a14:foregroundMark x1="7273" y1="74889" x2="7273" y2="74889"/>
                        <a14:foregroundMark x1="8182" y1="74889" x2="8182" y2="74889"/>
                        <a14:foregroundMark x1="8182" y1="74889" x2="8182" y2="74889"/>
                        <a14:foregroundMark x1="9318" y1="72444" x2="9318" y2="72444"/>
                        <a14:foregroundMark x1="10455" y1="72222" x2="10455" y2="72222"/>
                        <a14:foregroundMark x1="10682" y1="72000" x2="10682" y2="72000"/>
                        <a14:foregroundMark x1="12955" y1="69111" x2="12955" y2="69111"/>
                        <a14:foregroundMark x1="13409" y1="68889" x2="18182" y2="63111"/>
                        <a14:foregroundMark x1="37045" y1="77333" x2="33409" y2="83778"/>
                        <a14:foregroundMark x1="31136" y1="86000" x2="26364" y2="91556"/>
                        <a14:foregroundMark x1="25682" y1="93556" x2="25000" y2="96222"/>
                        <a14:foregroundMark x1="12727" y1="88000" x2="12955" y2="87556"/>
                        <a14:foregroundMark x1="16136" y1="80000" x2="16136" y2="80000"/>
                        <a14:foregroundMark x1="7045" y1="77333" x2="7045" y2="77333"/>
                        <a14:foregroundMark x1="5682" y1="76667" x2="5682" y2="76667"/>
                        <a14:foregroundMark x1="5455" y1="76444" x2="5455" y2="76444"/>
                        <a14:foregroundMark x1="5227" y1="77111" x2="5227" y2="77111"/>
                        <a14:foregroundMark x1="3864" y1="78444" x2="3864" y2="78444"/>
                        <a14:foregroundMark x1="3636" y1="79778" x2="3636" y2="79778"/>
                        <a14:foregroundMark x1="4318" y1="82889" x2="4318" y2="82889"/>
                        <a14:foregroundMark x1="3409" y1="81778" x2="3409" y2="81778"/>
                        <a14:foregroundMark x1="17045" y1="77778" x2="17045" y2="77778"/>
                        <a14:foregroundMark x1="15455" y1="80889" x2="15455" y2="80889"/>
                        <a14:foregroundMark x1="17273" y1="80667" x2="17273" y2="80667"/>
                        <a14:foregroundMark x1="13636" y1="65778" x2="8636" y2="73778"/>
                        <a14:foregroundMark x1="15455" y1="64889" x2="4318" y2="77333"/>
                        <a14:foregroundMark x1="84773" y1="8667" x2="84773" y2="8667"/>
                        <a14:foregroundMark x1="89318" y1="3778" x2="89318" y2="3778"/>
                        <a14:foregroundMark x1="93636" y1="9556" x2="93636" y2="9556"/>
                        <a14:foregroundMark x1="96818" y1="13111" x2="96818" y2="13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1829" y="3504819"/>
            <a:ext cx="2400300" cy="2454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1002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reeform: Shape 70">
            <a:extLst>
              <a:ext uri="{FF2B5EF4-FFF2-40B4-BE49-F238E27FC236}">
                <a16:creationId xmlns:a16="http://schemas.microsoft.com/office/drawing/2014/main" xmlns="" id="{91C2F78B-DEE8-4195-A196-DFC51BDADFF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49268" y="4070878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xmlns="" id="{A1D79D08-4BE8-4799-BE09-5078DFEE22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0" y="0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xmlns="" id="{C95D65A1-16CB-407F-993F-2A6D59BCC0C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xmlns="" id="{5D3B97D3-3894-4963-90C5-4EAA6613193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AAAD604F-1218-40A7-B81D-CEE65C46A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7113" y="713113"/>
            <a:ext cx="5798126" cy="136089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2. ИСТОРИЯ НА МИШКАТА </a:t>
            </a:r>
          </a:p>
        </p:txBody>
      </p:sp>
      <p:pic>
        <p:nvPicPr>
          <p:cNvPr id="6146" name="Picture 2" descr="Първата компютърна мишка в света - BenchTalks.com">
            <a:extLst>
              <a:ext uri="{FF2B5EF4-FFF2-40B4-BE49-F238E27FC236}">
                <a16:creationId xmlns:a16="http://schemas.microsoft.com/office/drawing/2014/main" xmlns="" id="{B29D230D-EA94-4111-999F-EE980D78551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" y="2152040"/>
            <a:ext cx="4053840" cy="2553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A68B1861-97EA-4A78-AD3D-558D689D3D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47113" y="2464537"/>
            <a:ext cx="5798126" cy="384017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 err="1"/>
              <a:t>Първата</a:t>
            </a:r>
            <a:r>
              <a:rPr lang="en-US" dirty="0"/>
              <a:t> </a:t>
            </a:r>
            <a:r>
              <a:rPr lang="en-US" dirty="0" err="1"/>
              <a:t>мишка</a:t>
            </a:r>
            <a:r>
              <a:rPr lang="en-US" dirty="0"/>
              <a:t> е </a:t>
            </a:r>
            <a:r>
              <a:rPr lang="en-US" dirty="0" err="1"/>
              <a:t>създадена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Дъглас</a:t>
            </a:r>
            <a:r>
              <a:rPr lang="en-US" dirty="0"/>
              <a:t> </a:t>
            </a:r>
            <a:r>
              <a:rPr lang="en-US" dirty="0" err="1"/>
              <a:t>Енгълбарт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Станфордския</a:t>
            </a:r>
            <a:r>
              <a:rPr lang="en-US" dirty="0"/>
              <a:t> </a:t>
            </a:r>
            <a:r>
              <a:rPr lang="en-US" dirty="0" err="1"/>
              <a:t>изследователски</a:t>
            </a:r>
            <a:r>
              <a:rPr lang="en-US" dirty="0"/>
              <a:t> </a:t>
            </a:r>
            <a:r>
              <a:rPr lang="en-US" dirty="0" err="1"/>
              <a:t>институт</a:t>
            </a:r>
            <a:r>
              <a:rPr lang="en-US" dirty="0"/>
              <a:t> </a:t>
            </a:r>
            <a:r>
              <a:rPr lang="en-US" dirty="0" err="1"/>
              <a:t>през</a:t>
            </a:r>
            <a:r>
              <a:rPr lang="en-US" dirty="0"/>
              <a:t> 1968г. </a:t>
            </a:r>
            <a:r>
              <a:rPr lang="en-US" dirty="0" err="1"/>
              <a:t>Създадена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удобство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потребителя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8137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reeform: Shape 70">
            <a:extLst>
              <a:ext uri="{FF2B5EF4-FFF2-40B4-BE49-F238E27FC236}">
                <a16:creationId xmlns:a16="http://schemas.microsoft.com/office/drawing/2014/main" xmlns="" id="{91C2F78B-DEE8-4195-A196-DFC51BDADFF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49268" y="4070878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xmlns="" id="{A1D79D08-4BE8-4799-BE09-5078DFEE22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0" y="0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xmlns="" id="{C95D65A1-16CB-407F-993F-2A6D59BCC0C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xmlns="" id="{327AB4C5-0719-4E35-87CD-199EB59E3EE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xmlns="" id="{A556136B-F847-4828-9D7C-3A2F2118B65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78203" y="-4"/>
            <a:ext cx="8239927" cy="6858000"/>
          </a:xfrm>
          <a:custGeom>
            <a:avLst/>
            <a:gdLst>
              <a:gd name="connsiteX0" fmla="*/ 6010593 w 8239927"/>
              <a:gd name="connsiteY0" fmla="*/ 0 h 6858000"/>
              <a:gd name="connsiteX1" fmla="*/ 8239927 w 8239927"/>
              <a:gd name="connsiteY1" fmla="*/ 0 h 6858000"/>
              <a:gd name="connsiteX2" fmla="*/ 2229335 w 8239927"/>
              <a:gd name="connsiteY2" fmla="*/ 6858000 h 6858000"/>
              <a:gd name="connsiteX3" fmla="*/ 0 w 823992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9927" h="6858000">
                <a:moveTo>
                  <a:pt x="6010593" y="0"/>
                </a:moveTo>
                <a:lnTo>
                  <a:pt x="8239927" y="0"/>
                </a:lnTo>
                <a:lnTo>
                  <a:pt x="22293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FB715CB4-3B2B-45E0-9672-B312F0E8A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181099"/>
            <a:ext cx="3965840" cy="14559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2.1 СЪЩНОСТ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xmlns="" id="{F27BE4AB-55F2-4058-987F-2376554E936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23809" y="685799"/>
            <a:ext cx="6199438" cy="2312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7B8F64B1-0C1A-41E7-987F-7498B40390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8203" y="3119127"/>
            <a:ext cx="10170797" cy="2595874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110000"/>
              </a:lnSpc>
            </a:pPr>
            <a:r>
              <a:rPr lang="en-US" b="0" i="0" u="none" strike="noStrike" dirty="0" err="1">
                <a:effectLst/>
              </a:rPr>
              <a:t>Компютърната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мишка</a:t>
            </a:r>
            <a:r>
              <a:rPr lang="en-US" b="0" i="0" u="none" strike="noStrike" dirty="0">
                <a:effectLst/>
              </a:rPr>
              <a:t> е </a:t>
            </a:r>
            <a:r>
              <a:rPr lang="en-US" b="0" i="0" u="none" strike="noStrike" dirty="0" err="1">
                <a:effectLst/>
              </a:rPr>
              <a:t>входно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периферно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устройство</a:t>
            </a:r>
            <a:r>
              <a:rPr lang="en-US" b="0" i="0" u="none" strike="noStrike" dirty="0">
                <a:effectLst/>
              </a:rPr>
              <a:t>. </a:t>
            </a:r>
            <a:r>
              <a:rPr lang="en-US" b="0" i="0" u="none" strike="noStrike" dirty="0" err="1">
                <a:effectLst/>
              </a:rPr>
              <a:t>Появява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се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по-късно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от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клавиатурата</a:t>
            </a:r>
            <a:r>
              <a:rPr lang="en-US" b="0" i="0" u="none" strike="noStrike" dirty="0">
                <a:effectLst/>
              </a:rPr>
              <a:t>, и </a:t>
            </a:r>
            <a:r>
              <a:rPr lang="en-US" b="0" i="0" u="none" strike="noStrike" dirty="0" err="1">
                <a:effectLst/>
              </a:rPr>
              <a:t>се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добавя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за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удобство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на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потребителя</a:t>
            </a:r>
            <a:r>
              <a:rPr lang="en-US" b="0" i="0" u="none" strike="noStrike" dirty="0">
                <a:effectLst/>
              </a:rPr>
              <a:t>. </a:t>
            </a:r>
            <a:r>
              <a:rPr lang="en-US" b="0" i="0" u="none" strike="noStrike" dirty="0" err="1">
                <a:effectLst/>
              </a:rPr>
              <a:t>Задвижват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се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от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ръката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на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потребителя</a:t>
            </a:r>
            <a:r>
              <a:rPr lang="en-US" b="0" i="0" u="none" strike="noStrike" dirty="0">
                <a:effectLst/>
              </a:rPr>
              <a:t>. </a:t>
            </a:r>
            <a:r>
              <a:rPr lang="en-US" b="0" i="0" u="none" strike="noStrike" dirty="0" err="1">
                <a:effectLst/>
              </a:rPr>
              <a:t>Мишката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се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движи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по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въображаема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координатна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система</a:t>
            </a:r>
            <a:r>
              <a:rPr lang="en-US" b="0" i="0" u="none" strike="noStrike" dirty="0">
                <a:effectLst/>
              </a:rPr>
              <a:t> /</a:t>
            </a:r>
            <a:r>
              <a:rPr lang="en-US" b="0" i="0" u="none" strike="noStrike" dirty="0" err="1">
                <a:effectLst/>
              </a:rPr>
              <a:t>върху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повърхността</a:t>
            </a:r>
            <a:r>
              <a:rPr lang="en-US" b="0" i="0" u="none" strike="noStrike" dirty="0">
                <a:effectLst/>
              </a:rPr>
              <a:t>, </a:t>
            </a:r>
            <a:r>
              <a:rPr lang="en-US" b="0" i="0" u="none" strike="noStrike" dirty="0" err="1">
                <a:effectLst/>
              </a:rPr>
              <a:t>по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която</a:t>
            </a:r>
            <a:r>
              <a:rPr lang="en-US" b="0" i="0" u="none" strike="noStrike" dirty="0">
                <a:effectLst/>
              </a:rPr>
              <a:t> я </a:t>
            </a:r>
            <a:r>
              <a:rPr lang="en-US" b="0" i="0" u="none" strike="noStrike" dirty="0" err="1">
                <a:effectLst/>
              </a:rPr>
              <a:t>движим</a:t>
            </a:r>
            <a:r>
              <a:rPr lang="en-US" b="0" i="0" u="none" strike="noStrike" dirty="0">
                <a:effectLst/>
              </a:rPr>
              <a:t>/ </a:t>
            </a:r>
            <a:r>
              <a:rPr lang="en-US" b="0" i="0" u="none" strike="noStrike" dirty="0" err="1">
                <a:effectLst/>
              </a:rPr>
              <a:t>по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осите</a:t>
            </a:r>
            <a:r>
              <a:rPr lang="en-US" b="0" i="0" u="none" strike="noStrike" dirty="0">
                <a:effectLst/>
              </a:rPr>
              <a:t> Х и У с </a:t>
            </a:r>
            <a:r>
              <a:rPr lang="en-US" b="0" i="0" u="none" strike="noStrike" dirty="0" err="1">
                <a:effectLst/>
              </a:rPr>
              <a:t>цел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засичане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на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движенията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на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курсора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върху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дисплея</a:t>
            </a:r>
            <a:r>
              <a:rPr lang="en-US" b="0" i="0" u="none" strike="noStrike" dirty="0">
                <a:effectLst/>
              </a:rPr>
              <a:t>.</a:t>
            </a:r>
            <a:r>
              <a:rPr lang="en-US" b="0" i="0" dirty="0">
                <a:effectLst/>
              </a:rPr>
              <a:t>​</a:t>
            </a:r>
            <a:endParaRPr lang="en-US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xmlns="" id="{8D997AC9-EE0E-4715-BB2E-3B72C08A9D2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8440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A6D4204D-7A71-40D2-BF29-4156CCE59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043" y="249038"/>
            <a:ext cx="9905999" cy="1360898"/>
          </a:xfrm>
        </p:spPr>
        <p:txBody>
          <a:bodyPr>
            <a:normAutofit/>
          </a:bodyPr>
          <a:lstStyle/>
          <a:p>
            <a:r>
              <a:rPr lang="bg-BG" sz="3200" dirty="0"/>
              <a:t>2.2 ВИДОВЕ МИШКИ СПРЯМО КОНСТРУКЦИЯТА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9F3ECC13-D736-4B37-8C46-E58FD57F6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538" y="2332026"/>
            <a:ext cx="2995863" cy="3567118"/>
          </a:xfrm>
        </p:spPr>
        <p:txBody>
          <a:bodyPr>
            <a:normAutofit/>
          </a:bodyPr>
          <a:lstStyle/>
          <a:p>
            <a:pPr algn="ctr"/>
            <a:r>
              <a:rPr lang="bg-BG" sz="1400" dirty="0"/>
              <a:t>КАРУЧКОВ МЕХАНИЗЪМ</a:t>
            </a:r>
          </a:p>
        </p:txBody>
      </p:sp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xmlns="" id="{DEAE6256-48AC-4860-8721-8D0E5B63C604}"/>
              </a:ext>
            </a:extLst>
          </p:cNvPr>
          <p:cNvSpPr txBox="1"/>
          <p:nvPr/>
        </p:nvSpPr>
        <p:spPr>
          <a:xfrm>
            <a:off x="2938380" y="2375538"/>
            <a:ext cx="29958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bg-BG" sz="1400" dirty="0"/>
              <a:t>МИШКА С ДВА БУТОНА </a:t>
            </a:r>
          </a:p>
        </p:txBody>
      </p:sp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xmlns="" id="{68233719-5B25-4B0E-9C8D-BAF5BA8C95B1}"/>
              </a:ext>
            </a:extLst>
          </p:cNvPr>
          <p:cNvSpPr txBox="1"/>
          <p:nvPr/>
        </p:nvSpPr>
        <p:spPr>
          <a:xfrm>
            <a:off x="5934243" y="2368566"/>
            <a:ext cx="2763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bg-BG" sz="1400" dirty="0"/>
              <a:t>С ТРИ БУТОНА </a:t>
            </a:r>
          </a:p>
        </p:txBody>
      </p:sp>
      <p:sp>
        <p:nvSpPr>
          <p:cNvPr id="6" name="Текстово поле 5">
            <a:extLst>
              <a:ext uri="{FF2B5EF4-FFF2-40B4-BE49-F238E27FC236}">
                <a16:creationId xmlns:a16="http://schemas.microsoft.com/office/drawing/2014/main" xmlns="" id="{680A960C-F512-44D3-8D12-C37B047F430D}"/>
              </a:ext>
            </a:extLst>
          </p:cNvPr>
          <p:cNvSpPr txBox="1"/>
          <p:nvPr/>
        </p:nvSpPr>
        <p:spPr>
          <a:xfrm>
            <a:off x="8991600" y="2332026"/>
            <a:ext cx="25728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bg-BG" sz="1400" dirty="0"/>
              <a:t>С ДВА БУТОНА И СКРОЛ </a:t>
            </a:r>
          </a:p>
        </p:txBody>
      </p:sp>
      <p:pic>
        <p:nvPicPr>
          <p:cNvPr id="5124" name="Picture 4" descr="chapter5 -----&gt;Fun With the mouse - kids computer world">
            <a:extLst>
              <a:ext uri="{FF2B5EF4-FFF2-40B4-BE49-F238E27FC236}">
                <a16:creationId xmlns:a16="http://schemas.microsoft.com/office/drawing/2014/main" xmlns="" id="{95103F05-F8AD-45A4-81C3-2E746AD1B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26122" y1="19903" x2="26122" y2="19903"/>
                        <a14:foregroundMark x1="27347" y1="20874" x2="27347" y2="20874"/>
                        <a14:foregroundMark x1="28571" y1="24272" x2="28571" y2="24272"/>
                        <a14:foregroundMark x1="30204" y1="25728" x2="30204" y2="25728"/>
                        <a14:foregroundMark x1="30612" y1="27670" x2="30612" y2="27670"/>
                        <a14:foregroundMark x1="32245" y1="28641" x2="32245" y2="28641"/>
                        <a14:foregroundMark x1="25306" y1="19417" x2="25306" y2="19417"/>
                        <a14:foregroundMark x1="25306" y1="18932" x2="25306" y2="18932"/>
                        <a14:foregroundMark x1="24490" y1="16990" x2="24490" y2="16990"/>
                        <a14:foregroundMark x1="24490" y1="16990" x2="24490" y2="16990"/>
                        <a14:foregroundMark x1="23265" y1="16505" x2="23265" y2="16505"/>
                        <a14:backgroundMark x1="40408" y1="64078" x2="40408" y2="64078"/>
                        <a14:backgroundMark x1="54286" y1="79126" x2="54286" y2="79126"/>
                        <a14:backgroundMark x1="61224" y1="79126" x2="61224" y2="79126"/>
                        <a14:backgroundMark x1="71429" y1="75728" x2="71429" y2="7572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7358" y="3260558"/>
            <a:ext cx="2333625" cy="2241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What is a good optical mouse, with 3 real mouse buttons? I.e. I don't want  the scroll wheel to be the middle button, I want a real button there. -  Quora">
            <a:extLst>
              <a:ext uri="{FF2B5EF4-FFF2-40B4-BE49-F238E27FC236}">
                <a16:creationId xmlns:a16="http://schemas.microsoft.com/office/drawing/2014/main" xmlns="" id="{04F984C7-4C5B-4081-9530-7A3E66654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639" b="92169" l="3630" r="96040">
                        <a14:foregroundMark x1="48515" y1="13855" x2="48515" y2="13855"/>
                        <a14:foregroundMark x1="91089" y1="38554" x2="91089" y2="38554"/>
                        <a14:foregroundMark x1="87459" y1="40964" x2="87459" y2="40964"/>
                        <a14:foregroundMark x1="96040" y1="46386" x2="96040" y2="46386"/>
                        <a14:foregroundMark x1="37954" y1="92771" x2="37954" y2="92771"/>
                        <a14:foregroundMark x1="11551" y1="51205" x2="11551" y2="51205"/>
                        <a14:foregroundMark x1="8911" y1="81325" x2="8911" y2="81325"/>
                        <a14:foregroundMark x1="3630" y1="83133" x2="3630" y2="83133"/>
                        <a14:backgroundMark x1="18482" y1="78916" x2="18482" y2="789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3590925"/>
            <a:ext cx="2886075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Използване на Bluetooth мишка на Microsoft">
            <a:extLst>
              <a:ext uri="{FF2B5EF4-FFF2-40B4-BE49-F238E27FC236}">
                <a16:creationId xmlns:a16="http://schemas.microsoft.com/office/drawing/2014/main" xmlns="" id="{513ACC84-04A8-472F-AA72-2156637113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7143" b="89881" l="9699" r="89967">
                        <a14:foregroundMark x1="32776" y1="31548" x2="32776" y2="31548"/>
                        <a14:foregroundMark x1="33110" y1="33929" x2="33110" y2="33929"/>
                        <a14:foregroundMark x1="50836" y1="7143" x2="50836" y2="71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5992" y="3558339"/>
            <a:ext cx="2847975" cy="1600200"/>
          </a:xfrm>
          <a:prstGeom prst="rect">
            <a:avLst/>
          </a:prstGeom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The Evolution of the Apple Mouse Through the Years">
            <a:extLst>
              <a:ext uri="{FF2B5EF4-FFF2-40B4-BE49-F238E27FC236}">
                <a16:creationId xmlns:a16="http://schemas.microsoft.com/office/drawing/2014/main" xmlns="" id="{B421734B-2FD9-4528-88FD-11D0CCC9F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2151" b="96237" l="8118" r="92251">
                        <a14:foregroundMark x1="28413" y1="91398" x2="28413" y2="91398"/>
                        <a14:foregroundMark x1="25461" y1="91398" x2="25461" y2="91398"/>
                        <a14:foregroundMark x1="23616" y1="96237" x2="23616" y2="96237"/>
                        <a14:foregroundMark x1="18819" y1="37097" x2="18819" y2="37097"/>
                        <a14:foregroundMark x1="9225" y1="66129" x2="9225" y2="66129"/>
                        <a14:foregroundMark x1="26937" y1="5914" x2="26937" y2="5914"/>
                        <a14:foregroundMark x1="26937" y1="4301" x2="26937" y2="4301"/>
                        <a14:foregroundMark x1="26568" y1="2151" x2="26568" y2="2151"/>
                        <a14:foregroundMark x1="13284" y1="38710" x2="13284" y2="38710"/>
                        <a14:foregroundMark x1="80443" y1="27957" x2="80443" y2="27957"/>
                        <a14:foregroundMark x1="77491" y1="41398" x2="77491" y2="41398"/>
                        <a14:foregroundMark x1="79705" y1="50000" x2="79705" y2="50000"/>
                        <a14:foregroundMark x1="92251" y1="49462" x2="92251" y2="49462"/>
                        <a14:foregroundMark x1="62362" y1="81720" x2="62362" y2="81720"/>
                        <a14:foregroundMark x1="66421" y1="87097" x2="66421" y2="87097"/>
                        <a14:foregroundMark x1="66052" y1="87634" x2="66052" y2="87634"/>
                        <a14:foregroundMark x1="64576" y1="85484" x2="64576" y2="85484"/>
                        <a14:foregroundMark x1="77122" y1="3226" x2="77122" y2="3226"/>
                        <a14:foregroundMark x1="75277" y1="12366" x2="75277" y2="12366"/>
                        <a14:foregroundMark x1="75646" y1="8065" x2="75646" y2="8065"/>
                        <a14:foregroundMark x1="76015" y1="4301" x2="76015" y2="430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043" y="3405404"/>
            <a:ext cx="2581275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5072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CD65FB7B-A296-4449-A666-31384FF0E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284" y="0"/>
            <a:ext cx="10559715" cy="1690821"/>
          </a:xfrm>
        </p:spPr>
        <p:txBody>
          <a:bodyPr>
            <a:normAutofit/>
          </a:bodyPr>
          <a:lstStyle/>
          <a:p>
            <a:r>
              <a:rPr lang="bg-BG" sz="3200" dirty="0"/>
              <a:t>2.3 ВИДОВЕ МИШКИ СПЯМО</a:t>
            </a:r>
            <a:r>
              <a:rPr lang="en-US" sz="3200" dirty="0"/>
              <a:t> </a:t>
            </a:r>
            <a:r>
              <a:rPr lang="bg-BG" sz="3200" dirty="0"/>
              <a:t>ПРИНЦИПА НА ДЕЙСТВИЕ </a:t>
            </a:r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xmlns="" id="{38A11DAB-D7E0-480E-A73F-C4736D703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9284" y="1430136"/>
            <a:ext cx="5452695" cy="521369"/>
          </a:xfrm>
        </p:spPr>
        <p:txBody>
          <a:bodyPr/>
          <a:lstStyle/>
          <a:p>
            <a:r>
              <a:rPr lang="bg-BG" dirty="0"/>
              <a:t>*2.3.1 МЕХАНИЧНИ МИШКИ</a:t>
            </a:r>
          </a:p>
        </p:txBody>
      </p:sp>
      <p:sp>
        <p:nvSpPr>
          <p:cNvPr id="4" name="Контейнер за съдържание 3">
            <a:extLst>
              <a:ext uri="{FF2B5EF4-FFF2-40B4-BE49-F238E27FC236}">
                <a16:creationId xmlns:a16="http://schemas.microsoft.com/office/drawing/2014/main" xmlns="" id="{80E2D04E-64D3-439A-9A7B-7121FD67F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4640" y="2296160"/>
            <a:ext cx="6878321" cy="4273081"/>
          </a:xfrm>
        </p:spPr>
        <p:txBody>
          <a:bodyPr>
            <a:noAutofit/>
          </a:bodyPr>
          <a:lstStyle/>
          <a:p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Използва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свободно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търкалящо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се топче,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което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при движение на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мишката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завърта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две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ролки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.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Едната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се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движи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по X ,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другата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по Y.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Двете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ролки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се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държат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на обща ос и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имат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по един диск с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процепи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. Те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са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разположени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по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окръжност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лъчеобразно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.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Предназначението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им е да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прекъсват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два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светлинни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лъча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,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които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се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създават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от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светодиоди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. По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този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начин се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определя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посоката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на движение и дали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ще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се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движи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по X или Y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зависи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от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това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, коя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ролка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се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задвижи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първа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.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Основен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недоостатък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е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честото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зацепване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на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ролките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, а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това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води до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замръзване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на курсора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върху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екрана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.</a:t>
            </a:r>
            <a:r>
              <a:rPr lang="ru-RU" b="0" i="0" dirty="0">
                <a:effectLst/>
                <a:latin typeface="Times New Roman" panose="02020603050405020304" pitchFamily="18" charset="0"/>
              </a:rPr>
              <a:t>​</a:t>
            </a:r>
            <a:endParaRPr lang="bg-BG" dirty="0"/>
          </a:p>
        </p:txBody>
      </p:sp>
      <p:pic>
        <p:nvPicPr>
          <p:cNvPr id="6146" name="Picture 2" descr="Computer Mouse Retroold Mechanical Mouse Close Stock Photo (Edit Now)  387705013">
            <a:extLst>
              <a:ext uri="{FF2B5EF4-FFF2-40B4-BE49-F238E27FC236}">
                <a16:creationId xmlns:a16="http://schemas.microsoft.com/office/drawing/2014/main" xmlns="" id="{DD277A66-6FF8-4499-9040-5B661145AB56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2384191"/>
            <a:ext cx="4100037" cy="2939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3712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EEBEEA13-6A05-48F2-AFEF-FBED9A786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4160"/>
            <a:ext cx="10182725" cy="1025609"/>
          </a:xfrm>
        </p:spPr>
        <p:txBody>
          <a:bodyPr>
            <a:noAutofit/>
          </a:bodyPr>
          <a:lstStyle/>
          <a:p>
            <a:r>
              <a:rPr lang="bg-BG" sz="3200" dirty="0"/>
              <a:t>2.3 ВИДОВЕ МИШКИ СПЯМО</a:t>
            </a:r>
            <a:r>
              <a:rPr lang="en-US" sz="3200" dirty="0"/>
              <a:t> </a:t>
            </a:r>
            <a:r>
              <a:rPr lang="bg-BG" sz="3200" dirty="0"/>
              <a:t>ПРИНЦИПА НА ДЕЙСТВИЕ </a:t>
            </a:r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xmlns="" id="{CC19B8AE-62EF-480F-83B7-A318113D6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3926" y="1481591"/>
            <a:ext cx="4798980" cy="710119"/>
          </a:xfrm>
        </p:spPr>
        <p:txBody>
          <a:bodyPr/>
          <a:lstStyle/>
          <a:p>
            <a:r>
              <a:rPr lang="bg-BG" dirty="0"/>
              <a:t>*2.3.2 ОПТИЧНИ МИШКИ</a:t>
            </a:r>
          </a:p>
        </p:txBody>
      </p:sp>
      <p:sp>
        <p:nvSpPr>
          <p:cNvPr id="4" name="Контейнер за съдържание 3">
            <a:extLst>
              <a:ext uri="{FF2B5EF4-FFF2-40B4-BE49-F238E27FC236}">
                <a16:creationId xmlns:a16="http://schemas.microsoft.com/office/drawing/2014/main" xmlns="" id="{79A09307-1BCC-4626-9224-E4A8254180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3926" y="2383532"/>
            <a:ext cx="5787190" cy="3346146"/>
          </a:xfrm>
        </p:spPr>
        <p:txBody>
          <a:bodyPr>
            <a:noAutofit/>
          </a:bodyPr>
          <a:lstStyle/>
          <a:p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Използва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светодиоди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и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фотодиоди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за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засичане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движението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на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мишката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спрямо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повърхността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.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Съвременните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оптични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мишки, независимо от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подлежащата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повърхност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използват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опто-електронен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сензор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,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който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улавя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последователни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изобважения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на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повърхността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, по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която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мишката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се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движи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. Много от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оптичните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мишки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използват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LED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диоди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за да осветят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повърхността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, по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която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се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движат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.</a:t>
            </a:r>
            <a:r>
              <a:rPr lang="ru-RU" b="0" i="0" dirty="0">
                <a:effectLst/>
                <a:latin typeface="Times New Roman" panose="02020603050405020304" pitchFamily="18" charset="0"/>
              </a:rPr>
              <a:t>​</a:t>
            </a:r>
            <a:endParaRPr lang="bg-BG" dirty="0"/>
          </a:p>
        </p:txBody>
      </p:sp>
      <p:pic>
        <p:nvPicPr>
          <p:cNvPr id="7170" name="Picture 2" descr="What is an Optical Mouse? (with pictures)">
            <a:extLst>
              <a:ext uri="{FF2B5EF4-FFF2-40B4-BE49-F238E27FC236}">
                <a16:creationId xmlns:a16="http://schemas.microsoft.com/office/drawing/2014/main" xmlns="" id="{B98884A9-6AF9-405E-9ED3-9BD787DFF69E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524" b="89418" l="5263" r="95489">
                        <a14:foregroundMark x1="46241" y1="10053" x2="46241" y2="10053"/>
                        <a14:foregroundMark x1="66541" y1="9524" x2="66541" y2="9524"/>
                        <a14:foregroundMark x1="71805" y1="11640" x2="71805" y2="11640"/>
                        <a14:foregroundMark x1="68045" y1="9524" x2="68045" y2="9524"/>
                        <a14:foregroundMark x1="75940" y1="12698" x2="75940" y2="12698"/>
                        <a14:foregroundMark x1="81955" y1="15873" x2="82707" y2="16402"/>
                        <a14:foregroundMark x1="83083" y1="16402" x2="83083" y2="16402"/>
                        <a14:foregroundMark x1="83083" y1="20106" x2="83083" y2="20106"/>
                        <a14:foregroundMark x1="91353" y1="25397" x2="91353" y2="25397"/>
                        <a14:foregroundMark x1="91729" y1="31746" x2="91729" y2="32804"/>
                        <a14:foregroundMark x1="95113" y1="32804" x2="95113" y2="32804"/>
                        <a14:foregroundMark x1="95113" y1="46561" x2="95113" y2="46561"/>
                        <a14:foregroundMark x1="95489" y1="50794" x2="95489" y2="50794"/>
                        <a14:foregroundMark x1="13158" y1="48677" x2="13158" y2="48677"/>
                        <a14:foregroundMark x1="8271" y1="58730" x2="8271" y2="58730"/>
                        <a14:foregroundMark x1="30075" y1="89947" x2="30075" y2="89947"/>
                        <a14:foregroundMark x1="15414" y1="87831" x2="15414" y2="87831"/>
                        <a14:foregroundMark x1="5263" y1="49735" x2="5263" y2="4973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566" y="2529840"/>
            <a:ext cx="3971508" cy="2821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3154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14723947-D103-42C1-8C54-9AB026036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074" y="278432"/>
            <a:ext cx="10218821" cy="1171073"/>
          </a:xfrm>
        </p:spPr>
        <p:txBody>
          <a:bodyPr>
            <a:normAutofit/>
          </a:bodyPr>
          <a:lstStyle/>
          <a:p>
            <a:r>
              <a:rPr lang="bg-BG" sz="3200" dirty="0"/>
              <a:t>2.3 ВИДОВЕ МИШКИ СПЯМО</a:t>
            </a:r>
            <a:r>
              <a:rPr lang="en-US" sz="3200" dirty="0"/>
              <a:t> </a:t>
            </a:r>
            <a:r>
              <a:rPr lang="bg-BG" sz="3200" dirty="0"/>
              <a:t>ПРИНЦИПА НА ДЕЙСТВИЕ </a:t>
            </a:r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xmlns="" id="{6EB419F5-BE20-4CD5-BF7C-3179D0539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9074" y="1505655"/>
            <a:ext cx="4798980" cy="427420"/>
          </a:xfrm>
        </p:spPr>
        <p:txBody>
          <a:bodyPr>
            <a:normAutofit lnSpcReduction="10000"/>
          </a:bodyPr>
          <a:lstStyle/>
          <a:p>
            <a:r>
              <a:rPr lang="bg-BG" dirty="0"/>
              <a:t>*2.3.3 ЛАЗЕРНИ МИШКИ</a:t>
            </a:r>
          </a:p>
        </p:txBody>
      </p:sp>
      <p:sp>
        <p:nvSpPr>
          <p:cNvPr id="4" name="Контейнер за съдържание 3">
            <a:extLst>
              <a:ext uri="{FF2B5EF4-FFF2-40B4-BE49-F238E27FC236}">
                <a16:creationId xmlns:a16="http://schemas.microsoft.com/office/drawing/2014/main" xmlns="" id="{1F4CDF29-B86A-43A4-A85B-D7C67D2253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9074" y="2346959"/>
            <a:ext cx="5532905" cy="3543139"/>
          </a:xfrm>
        </p:spPr>
        <p:txBody>
          <a:bodyPr/>
          <a:lstStyle/>
          <a:p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При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тях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се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използва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малък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инфрачервен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лазер, вместо LED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диоди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и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така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резолюцията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на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действията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с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мишката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се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увеличава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.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Това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води до около 2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пъти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по-голяма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повърхностна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способност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на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мишката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.</a:t>
            </a:r>
            <a:r>
              <a:rPr lang="ru-RU" b="0" i="0" dirty="0">
                <a:effectLst/>
                <a:latin typeface="Times New Roman" panose="02020603050405020304" pitchFamily="18" charset="0"/>
              </a:rPr>
              <a:t>​</a:t>
            </a:r>
            <a:endParaRPr lang="bg-BG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xmlns="" id="{C13A40AC-6976-4C13-A13C-9B6E0E9D7C54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091" b="88843" l="7647" r="97059">
                        <a14:foregroundMark x1="92353" y1="62397" x2="92353" y2="62397"/>
                        <a14:foregroundMark x1="95882" y1="73554" x2="95882" y2="73554"/>
                        <a14:foregroundMark x1="97059" y1="51653" x2="97059" y2="51653"/>
                        <a14:foregroundMark x1="97059" y1="70661" x2="97059" y2="70661"/>
                        <a14:foregroundMark x1="7647" y1="72314" x2="7647" y2="72314"/>
                        <a14:foregroundMark x1="25882" y1="77273" x2="25882" y2="77273"/>
                        <a14:foregroundMark x1="42647" y1="74380" x2="42647" y2="74380"/>
                        <a14:foregroundMark x1="42353" y1="74380" x2="42353" y2="74380"/>
                        <a14:backgroundMark x1="42647" y1="74380" x2="42647" y2="74380"/>
                        <a14:backgroundMark x1="27647" y1="77686" x2="27647" y2="77686"/>
                        <a14:backgroundMark x1="24118" y1="78099" x2="24118" y2="78099"/>
                        <a14:backgroundMark x1="26176" y1="77686" x2="26176" y2="77686"/>
                        <a14:backgroundMark x1="25588" y1="77686" x2="25588" y2="77686"/>
                        <a14:backgroundMark x1="25294" y1="77686" x2="25294" y2="77686"/>
                        <a14:backgroundMark x1="33529" y1="76860" x2="33529" y2="76860"/>
                        <a14:backgroundMark x1="32353" y1="76860" x2="31176" y2="78512"/>
                        <a14:backgroundMark x1="31176" y1="78512" x2="31176" y2="785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3239" y="1933075"/>
            <a:ext cx="4752800" cy="3382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714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reeform: Shape 70">
            <a:extLst>
              <a:ext uri="{FF2B5EF4-FFF2-40B4-BE49-F238E27FC236}">
                <a16:creationId xmlns:a16="http://schemas.microsoft.com/office/drawing/2014/main" xmlns="" id="{91C2F78B-DEE8-4195-A196-DFC51BDADFF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49268" y="4070878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xmlns="" id="{A1D79D08-4BE8-4799-BE09-5078DFEE22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0" y="0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xmlns="" id="{C95D65A1-16CB-407F-993F-2A6D59BCC0C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xmlns="" id="{685B57F6-59DE-4274-A37C-F47FE4E42EE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Малка безжична мишка TeckNet EWM01107 2.4G Wireless Mouse. за Mac и PC,  Черна - eMAG.bg">
            <a:extLst>
              <a:ext uri="{FF2B5EF4-FFF2-40B4-BE49-F238E27FC236}">
                <a16:creationId xmlns:a16="http://schemas.microsoft.com/office/drawing/2014/main" xmlns="" id="{F8ECF8B2-D027-44C2-9556-B40F707A52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25067" y1="78933" x2="25067" y2="78933"/>
                        <a14:foregroundMark x1="23333" y1="74533" x2="23333" y2="74533"/>
                        <a14:foregroundMark x1="23333" y1="74533" x2="23333" y2="74533"/>
                        <a14:foregroundMark x1="23600" y1="75667" x2="23600" y2="75667"/>
                        <a14:foregroundMark x1="23600" y1="75667" x2="23600" y2="75667"/>
                        <a14:foregroundMark x1="24267" y1="76000" x2="25000" y2="77067"/>
                        <a14:foregroundMark x1="19733" y1="74733" x2="24733" y2="73467"/>
                        <a14:foregroundMark x1="25333" y1="72733" x2="28333" y2="75800"/>
                        <a14:foregroundMark x1="59933" y1="20333" x2="59933" y2="20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403" r="1" b="15225"/>
          <a:stretch/>
        </p:blipFill>
        <p:spPr bwMode="auto">
          <a:xfrm>
            <a:off x="3093268" y="10"/>
            <a:ext cx="9098732" cy="6857990"/>
          </a:xfrm>
          <a:custGeom>
            <a:avLst/>
            <a:gdLst/>
            <a:ahLst/>
            <a:cxnLst/>
            <a:rect l="l" t="t" r="r" b="b"/>
            <a:pathLst>
              <a:path w="9098732" h="6858000">
                <a:moveTo>
                  <a:pt x="6010592" y="0"/>
                </a:moveTo>
                <a:lnTo>
                  <a:pt x="8235629" y="4"/>
                </a:lnTo>
                <a:cubicBezTo>
                  <a:pt x="8235629" y="3"/>
                  <a:pt x="8235630" y="3"/>
                  <a:pt x="8235630" y="2"/>
                </a:cubicBezTo>
                <a:lnTo>
                  <a:pt x="9098732" y="0"/>
                </a:lnTo>
                <a:lnTo>
                  <a:pt x="909873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" name="Freeform: Shape 78">
            <a:extLst>
              <a:ext uri="{FF2B5EF4-FFF2-40B4-BE49-F238E27FC236}">
                <a16:creationId xmlns:a16="http://schemas.microsoft.com/office/drawing/2014/main" xmlns="" id="{C8C63406-9171-4282-BAAB-2DDC6831F0E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90295" y="-2"/>
            <a:ext cx="8239927" cy="6858000"/>
          </a:xfrm>
          <a:custGeom>
            <a:avLst/>
            <a:gdLst>
              <a:gd name="connsiteX0" fmla="*/ 6010593 w 8239927"/>
              <a:gd name="connsiteY0" fmla="*/ 0 h 6858000"/>
              <a:gd name="connsiteX1" fmla="*/ 8239927 w 8239927"/>
              <a:gd name="connsiteY1" fmla="*/ 0 h 6858000"/>
              <a:gd name="connsiteX2" fmla="*/ 2229335 w 8239927"/>
              <a:gd name="connsiteY2" fmla="*/ 6858000 h 6858000"/>
              <a:gd name="connsiteX3" fmla="*/ 0 w 823992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9927" h="6858000">
                <a:moveTo>
                  <a:pt x="6010593" y="0"/>
                </a:moveTo>
                <a:lnTo>
                  <a:pt x="8239927" y="0"/>
                </a:lnTo>
                <a:lnTo>
                  <a:pt x="22293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D2B8AACA-27D6-4D76-97A6-1EF6C5D40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872937"/>
            <a:ext cx="5920740" cy="136089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2.4 ИНТЕРФЕЙСИ ЗА МИШКИ</a:t>
            </a:r>
          </a:p>
        </p:txBody>
      </p:sp>
      <p:sp>
        <p:nvSpPr>
          <p:cNvPr id="4102" name="Контейнер за съдържание 2">
            <a:extLst>
              <a:ext uri="{FF2B5EF4-FFF2-40B4-BE49-F238E27FC236}">
                <a16:creationId xmlns:a16="http://schemas.microsoft.com/office/drawing/2014/main" xmlns="" id="{92C48EED-4F11-45E4-9D38-3FD690E507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2" y="2332029"/>
            <a:ext cx="4118906" cy="384017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/>
              <a:t>-RS-232-C</a:t>
            </a:r>
          </a:p>
          <a:p>
            <a:pPr marL="0" indent="0">
              <a:buNone/>
            </a:pPr>
            <a:r>
              <a:rPr lang="en-US"/>
              <a:t>-PS/2</a:t>
            </a:r>
          </a:p>
          <a:p>
            <a:pPr marL="0" indent="0">
              <a:buNone/>
            </a:pPr>
            <a:r>
              <a:rPr lang="en-US"/>
              <a:t>-USB 1.0 / 2.0 / 3.0 / 3.1</a:t>
            </a:r>
          </a:p>
          <a:p>
            <a:pPr marL="0" indent="0">
              <a:buNone/>
            </a:pPr>
            <a:r>
              <a:rPr lang="en-US"/>
              <a:t>-Безжичен</a:t>
            </a:r>
          </a:p>
        </p:txBody>
      </p:sp>
    </p:spTree>
    <p:extLst>
      <p:ext uri="{BB962C8B-B14F-4D97-AF65-F5344CB8AC3E}">
        <p14:creationId xmlns:p14="http://schemas.microsoft.com/office/powerpoint/2010/main" val="3079606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xmlns="" id="{91C2F78B-DEE8-4195-A196-DFC51BDADFF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49268" y="4070878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xmlns="" id="{A1D79D08-4BE8-4799-BE09-5078DFEE22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0" y="0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C95D65A1-16CB-407F-993F-2A6D59BCC0C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xmlns="" id="{5D3B97D3-3894-4963-90C5-4EAA6613193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63275C6E-319A-470B-94DA-40701FF99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873" y="872935"/>
            <a:ext cx="5798126" cy="136089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3.ИСТОРИЯ НА СКЕНЕРИТЕ</a:t>
            </a:r>
          </a:p>
        </p:txBody>
      </p:sp>
      <p:pic>
        <p:nvPicPr>
          <p:cNvPr id="6" name="Контейнер за съдържание 5">
            <a:extLst>
              <a:ext uri="{FF2B5EF4-FFF2-40B4-BE49-F238E27FC236}">
                <a16:creationId xmlns:a16="http://schemas.microsoft.com/office/drawing/2014/main" xmlns="" id="{0EE68059-3290-4406-8024-D29E5100A29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43001" y="1799621"/>
            <a:ext cx="3591559" cy="3151776"/>
          </a:xfrm>
          <a:prstGeom prst="rect">
            <a:avLst/>
          </a:prstGeom>
        </p:spPr>
      </p:pic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FDAEC9D6-FE87-4061-93AC-B37223C76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0873" y="2332026"/>
            <a:ext cx="5798126" cy="384017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Първият скенер е създаден през 1957г. от Ръсел Кърш и неговия екип. Той е бил барабанен. Първата сканирана снимка била 5х5 </a:t>
            </a:r>
            <a:r>
              <a:rPr lang="en-US" dirty="0"/>
              <a:t>cm</a:t>
            </a:r>
            <a:r>
              <a:rPr lang="en-US"/>
              <a:t> и имала разделителна способност от 176 пиксела.</a:t>
            </a:r>
          </a:p>
        </p:txBody>
      </p:sp>
    </p:spTree>
    <p:extLst>
      <p:ext uri="{BB962C8B-B14F-4D97-AF65-F5344CB8AC3E}">
        <p14:creationId xmlns:p14="http://schemas.microsoft.com/office/powerpoint/2010/main" val="10755353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reeform: Shape 70">
            <a:extLst>
              <a:ext uri="{FF2B5EF4-FFF2-40B4-BE49-F238E27FC236}">
                <a16:creationId xmlns:a16="http://schemas.microsoft.com/office/drawing/2014/main" xmlns="" id="{91C2F78B-DEE8-4195-A196-DFC51BDADFF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49268" y="4070878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xmlns="" id="{A1D79D08-4BE8-4799-BE09-5078DFEE22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0" y="0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xmlns="" id="{C95D65A1-16CB-407F-993F-2A6D59BCC0C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xmlns="" id="{20CC10FC-6518-423B-A972-3E4F7A4A82F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xmlns="" id="{95D2D844-708E-4EAC-BF72-D7CE20B99B3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88972" y="0"/>
            <a:ext cx="9103027" cy="6858000"/>
          </a:xfrm>
          <a:custGeom>
            <a:avLst/>
            <a:gdLst>
              <a:gd name="connsiteX0" fmla="*/ 6311486 w 9403920"/>
              <a:gd name="connsiteY0" fmla="*/ 0 h 6858000"/>
              <a:gd name="connsiteX1" fmla="*/ 8540820 w 9403920"/>
              <a:gd name="connsiteY1" fmla="*/ 0 h 6858000"/>
              <a:gd name="connsiteX2" fmla="*/ 8540819 w 9403920"/>
              <a:gd name="connsiteY2" fmla="*/ 1 h 6858000"/>
              <a:gd name="connsiteX3" fmla="*/ 8968550 w 9403920"/>
              <a:gd name="connsiteY3" fmla="*/ 1 h 6858000"/>
              <a:gd name="connsiteX4" fmla="*/ 9403920 w 9403920"/>
              <a:gd name="connsiteY4" fmla="*/ 1 h 6858000"/>
              <a:gd name="connsiteX5" fmla="*/ 9403920 w 9403920"/>
              <a:gd name="connsiteY5" fmla="*/ 6858000 h 6858000"/>
              <a:gd name="connsiteX6" fmla="*/ 6787053 w 9403920"/>
              <a:gd name="connsiteY6" fmla="*/ 6858000 h 6858000"/>
              <a:gd name="connsiteX7" fmla="*/ 6787053 w 9403920"/>
              <a:gd name="connsiteY7" fmla="*/ 6857999 h 6858000"/>
              <a:gd name="connsiteX8" fmla="*/ 2530229 w 9403920"/>
              <a:gd name="connsiteY8" fmla="*/ 6857999 h 6858000"/>
              <a:gd name="connsiteX9" fmla="*/ 2530228 w 9403920"/>
              <a:gd name="connsiteY9" fmla="*/ 6858000 h 6858000"/>
              <a:gd name="connsiteX10" fmla="*/ 300893 w 9403920"/>
              <a:gd name="connsiteY10" fmla="*/ 6858000 h 6858000"/>
              <a:gd name="connsiteX11" fmla="*/ 300894 w 9403920"/>
              <a:gd name="connsiteY11" fmla="*/ 6857999 h 6858000"/>
              <a:gd name="connsiteX12" fmla="*/ 0 w 9403920"/>
              <a:gd name="connsiteY12" fmla="*/ 6857999 h 6858000"/>
              <a:gd name="connsiteX13" fmla="*/ 300896 w 9403920"/>
              <a:gd name="connsiteY13" fmla="*/ 6857997 h 6858000"/>
              <a:gd name="connsiteX14" fmla="*/ 4740458 w 9403920"/>
              <a:gd name="connsiteY14" fmla="*/ 1792521 h 6858000"/>
              <a:gd name="connsiteX15" fmla="*/ 6304967 w 9403920"/>
              <a:gd name="connsiteY15" fmla="*/ 1 h 6858000"/>
              <a:gd name="connsiteX16" fmla="*/ 6311485 w 9403920"/>
              <a:gd name="connsiteY16" fmla="*/ 1 h 6858000"/>
              <a:gd name="connsiteX0" fmla="*/ 6311486 w 9403920"/>
              <a:gd name="connsiteY0" fmla="*/ 0 h 6858000"/>
              <a:gd name="connsiteX1" fmla="*/ 8540820 w 9403920"/>
              <a:gd name="connsiteY1" fmla="*/ 0 h 6858000"/>
              <a:gd name="connsiteX2" fmla="*/ 8968550 w 9403920"/>
              <a:gd name="connsiteY2" fmla="*/ 1 h 6858000"/>
              <a:gd name="connsiteX3" fmla="*/ 9403920 w 9403920"/>
              <a:gd name="connsiteY3" fmla="*/ 1 h 6858000"/>
              <a:gd name="connsiteX4" fmla="*/ 9403920 w 9403920"/>
              <a:gd name="connsiteY4" fmla="*/ 6858000 h 6858000"/>
              <a:gd name="connsiteX5" fmla="*/ 6787053 w 9403920"/>
              <a:gd name="connsiteY5" fmla="*/ 6858000 h 6858000"/>
              <a:gd name="connsiteX6" fmla="*/ 6787053 w 9403920"/>
              <a:gd name="connsiteY6" fmla="*/ 6857999 h 6858000"/>
              <a:gd name="connsiteX7" fmla="*/ 2530229 w 9403920"/>
              <a:gd name="connsiteY7" fmla="*/ 6857999 h 6858000"/>
              <a:gd name="connsiteX8" fmla="*/ 2530228 w 9403920"/>
              <a:gd name="connsiteY8" fmla="*/ 6858000 h 6858000"/>
              <a:gd name="connsiteX9" fmla="*/ 300893 w 9403920"/>
              <a:gd name="connsiteY9" fmla="*/ 6858000 h 6858000"/>
              <a:gd name="connsiteX10" fmla="*/ 300894 w 9403920"/>
              <a:gd name="connsiteY10" fmla="*/ 6857999 h 6858000"/>
              <a:gd name="connsiteX11" fmla="*/ 0 w 9403920"/>
              <a:gd name="connsiteY11" fmla="*/ 6857999 h 6858000"/>
              <a:gd name="connsiteX12" fmla="*/ 300896 w 9403920"/>
              <a:gd name="connsiteY12" fmla="*/ 6857997 h 6858000"/>
              <a:gd name="connsiteX13" fmla="*/ 4740458 w 9403920"/>
              <a:gd name="connsiteY13" fmla="*/ 1792521 h 6858000"/>
              <a:gd name="connsiteX14" fmla="*/ 6304967 w 9403920"/>
              <a:gd name="connsiteY14" fmla="*/ 1 h 6858000"/>
              <a:gd name="connsiteX15" fmla="*/ 6311485 w 9403920"/>
              <a:gd name="connsiteY15" fmla="*/ 1 h 6858000"/>
              <a:gd name="connsiteX16" fmla="*/ 6311486 w 9403920"/>
              <a:gd name="connsiteY16" fmla="*/ 0 h 6858000"/>
              <a:gd name="connsiteX0" fmla="*/ 6311486 w 9403920"/>
              <a:gd name="connsiteY0" fmla="*/ 0 h 6858000"/>
              <a:gd name="connsiteX1" fmla="*/ 8540820 w 9403920"/>
              <a:gd name="connsiteY1" fmla="*/ 0 h 6858000"/>
              <a:gd name="connsiteX2" fmla="*/ 9403920 w 9403920"/>
              <a:gd name="connsiteY2" fmla="*/ 1 h 6858000"/>
              <a:gd name="connsiteX3" fmla="*/ 9403920 w 9403920"/>
              <a:gd name="connsiteY3" fmla="*/ 6858000 h 6858000"/>
              <a:gd name="connsiteX4" fmla="*/ 6787053 w 9403920"/>
              <a:gd name="connsiteY4" fmla="*/ 6858000 h 6858000"/>
              <a:gd name="connsiteX5" fmla="*/ 6787053 w 9403920"/>
              <a:gd name="connsiteY5" fmla="*/ 6857999 h 6858000"/>
              <a:gd name="connsiteX6" fmla="*/ 2530229 w 9403920"/>
              <a:gd name="connsiteY6" fmla="*/ 6857999 h 6858000"/>
              <a:gd name="connsiteX7" fmla="*/ 2530228 w 9403920"/>
              <a:gd name="connsiteY7" fmla="*/ 6858000 h 6858000"/>
              <a:gd name="connsiteX8" fmla="*/ 300893 w 9403920"/>
              <a:gd name="connsiteY8" fmla="*/ 6858000 h 6858000"/>
              <a:gd name="connsiteX9" fmla="*/ 300894 w 9403920"/>
              <a:gd name="connsiteY9" fmla="*/ 6857999 h 6858000"/>
              <a:gd name="connsiteX10" fmla="*/ 0 w 9403920"/>
              <a:gd name="connsiteY10" fmla="*/ 6857999 h 6858000"/>
              <a:gd name="connsiteX11" fmla="*/ 300896 w 9403920"/>
              <a:gd name="connsiteY11" fmla="*/ 6857997 h 6858000"/>
              <a:gd name="connsiteX12" fmla="*/ 4740458 w 9403920"/>
              <a:gd name="connsiteY12" fmla="*/ 1792521 h 6858000"/>
              <a:gd name="connsiteX13" fmla="*/ 6304967 w 9403920"/>
              <a:gd name="connsiteY13" fmla="*/ 1 h 6858000"/>
              <a:gd name="connsiteX14" fmla="*/ 6311485 w 9403920"/>
              <a:gd name="connsiteY14" fmla="*/ 1 h 6858000"/>
              <a:gd name="connsiteX15" fmla="*/ 6311486 w 9403920"/>
              <a:gd name="connsiteY15" fmla="*/ 0 h 6858000"/>
              <a:gd name="connsiteX0" fmla="*/ 6311486 w 9403920"/>
              <a:gd name="connsiteY0" fmla="*/ 0 h 6858000"/>
              <a:gd name="connsiteX1" fmla="*/ 9403920 w 9403920"/>
              <a:gd name="connsiteY1" fmla="*/ 1 h 6858000"/>
              <a:gd name="connsiteX2" fmla="*/ 9403920 w 9403920"/>
              <a:gd name="connsiteY2" fmla="*/ 6858000 h 6858000"/>
              <a:gd name="connsiteX3" fmla="*/ 6787053 w 9403920"/>
              <a:gd name="connsiteY3" fmla="*/ 6858000 h 6858000"/>
              <a:gd name="connsiteX4" fmla="*/ 6787053 w 9403920"/>
              <a:gd name="connsiteY4" fmla="*/ 6857999 h 6858000"/>
              <a:gd name="connsiteX5" fmla="*/ 2530229 w 9403920"/>
              <a:gd name="connsiteY5" fmla="*/ 6857999 h 6858000"/>
              <a:gd name="connsiteX6" fmla="*/ 2530228 w 9403920"/>
              <a:gd name="connsiteY6" fmla="*/ 6858000 h 6858000"/>
              <a:gd name="connsiteX7" fmla="*/ 300893 w 9403920"/>
              <a:gd name="connsiteY7" fmla="*/ 6858000 h 6858000"/>
              <a:gd name="connsiteX8" fmla="*/ 300894 w 9403920"/>
              <a:gd name="connsiteY8" fmla="*/ 6857999 h 6858000"/>
              <a:gd name="connsiteX9" fmla="*/ 0 w 9403920"/>
              <a:gd name="connsiteY9" fmla="*/ 6857999 h 6858000"/>
              <a:gd name="connsiteX10" fmla="*/ 300896 w 9403920"/>
              <a:gd name="connsiteY10" fmla="*/ 6857997 h 6858000"/>
              <a:gd name="connsiteX11" fmla="*/ 4740458 w 9403920"/>
              <a:gd name="connsiteY11" fmla="*/ 1792521 h 6858000"/>
              <a:gd name="connsiteX12" fmla="*/ 6304967 w 9403920"/>
              <a:gd name="connsiteY12" fmla="*/ 1 h 6858000"/>
              <a:gd name="connsiteX13" fmla="*/ 6311485 w 9403920"/>
              <a:gd name="connsiteY13" fmla="*/ 1 h 6858000"/>
              <a:gd name="connsiteX14" fmla="*/ 6311486 w 9403920"/>
              <a:gd name="connsiteY14" fmla="*/ 0 h 6858000"/>
              <a:gd name="connsiteX0" fmla="*/ 6311486 w 9403920"/>
              <a:gd name="connsiteY0" fmla="*/ 0 h 6858000"/>
              <a:gd name="connsiteX1" fmla="*/ 9403920 w 9403920"/>
              <a:gd name="connsiteY1" fmla="*/ 1 h 6858000"/>
              <a:gd name="connsiteX2" fmla="*/ 9403920 w 9403920"/>
              <a:gd name="connsiteY2" fmla="*/ 6858000 h 6858000"/>
              <a:gd name="connsiteX3" fmla="*/ 6787053 w 9403920"/>
              <a:gd name="connsiteY3" fmla="*/ 6858000 h 6858000"/>
              <a:gd name="connsiteX4" fmla="*/ 6787053 w 9403920"/>
              <a:gd name="connsiteY4" fmla="*/ 6857999 h 6858000"/>
              <a:gd name="connsiteX5" fmla="*/ 2530229 w 9403920"/>
              <a:gd name="connsiteY5" fmla="*/ 6857999 h 6858000"/>
              <a:gd name="connsiteX6" fmla="*/ 2530228 w 9403920"/>
              <a:gd name="connsiteY6" fmla="*/ 6858000 h 6858000"/>
              <a:gd name="connsiteX7" fmla="*/ 300893 w 9403920"/>
              <a:gd name="connsiteY7" fmla="*/ 6858000 h 6858000"/>
              <a:gd name="connsiteX8" fmla="*/ 300894 w 9403920"/>
              <a:gd name="connsiteY8" fmla="*/ 6857999 h 6858000"/>
              <a:gd name="connsiteX9" fmla="*/ 0 w 9403920"/>
              <a:gd name="connsiteY9" fmla="*/ 6857999 h 6858000"/>
              <a:gd name="connsiteX10" fmla="*/ 300896 w 9403920"/>
              <a:gd name="connsiteY10" fmla="*/ 6857997 h 6858000"/>
              <a:gd name="connsiteX11" fmla="*/ 6304967 w 9403920"/>
              <a:gd name="connsiteY11" fmla="*/ 1 h 6858000"/>
              <a:gd name="connsiteX12" fmla="*/ 6311485 w 9403920"/>
              <a:gd name="connsiteY12" fmla="*/ 1 h 6858000"/>
              <a:gd name="connsiteX13" fmla="*/ 6311486 w 9403920"/>
              <a:gd name="connsiteY13" fmla="*/ 0 h 6858000"/>
              <a:gd name="connsiteX0" fmla="*/ 6010593 w 9103027"/>
              <a:gd name="connsiteY0" fmla="*/ 0 h 6858000"/>
              <a:gd name="connsiteX1" fmla="*/ 9103027 w 9103027"/>
              <a:gd name="connsiteY1" fmla="*/ 1 h 6858000"/>
              <a:gd name="connsiteX2" fmla="*/ 9103027 w 9103027"/>
              <a:gd name="connsiteY2" fmla="*/ 6858000 h 6858000"/>
              <a:gd name="connsiteX3" fmla="*/ 6486160 w 9103027"/>
              <a:gd name="connsiteY3" fmla="*/ 6858000 h 6858000"/>
              <a:gd name="connsiteX4" fmla="*/ 6486160 w 9103027"/>
              <a:gd name="connsiteY4" fmla="*/ 6857999 h 6858000"/>
              <a:gd name="connsiteX5" fmla="*/ 2229336 w 9103027"/>
              <a:gd name="connsiteY5" fmla="*/ 6857999 h 6858000"/>
              <a:gd name="connsiteX6" fmla="*/ 2229335 w 9103027"/>
              <a:gd name="connsiteY6" fmla="*/ 6858000 h 6858000"/>
              <a:gd name="connsiteX7" fmla="*/ 0 w 9103027"/>
              <a:gd name="connsiteY7" fmla="*/ 6858000 h 6858000"/>
              <a:gd name="connsiteX8" fmla="*/ 1 w 9103027"/>
              <a:gd name="connsiteY8" fmla="*/ 6857999 h 6858000"/>
              <a:gd name="connsiteX9" fmla="*/ 3 w 9103027"/>
              <a:gd name="connsiteY9" fmla="*/ 6857997 h 6858000"/>
              <a:gd name="connsiteX10" fmla="*/ 6004074 w 9103027"/>
              <a:gd name="connsiteY10" fmla="*/ 1 h 6858000"/>
              <a:gd name="connsiteX11" fmla="*/ 6010592 w 9103027"/>
              <a:gd name="connsiteY11" fmla="*/ 1 h 6858000"/>
              <a:gd name="connsiteX12" fmla="*/ 6010593 w 9103027"/>
              <a:gd name="connsiteY12" fmla="*/ 0 h 6858000"/>
              <a:gd name="connsiteX0" fmla="*/ 6010593 w 9103027"/>
              <a:gd name="connsiteY0" fmla="*/ 0 h 6858000"/>
              <a:gd name="connsiteX1" fmla="*/ 9103027 w 9103027"/>
              <a:gd name="connsiteY1" fmla="*/ 1 h 6858000"/>
              <a:gd name="connsiteX2" fmla="*/ 9103027 w 9103027"/>
              <a:gd name="connsiteY2" fmla="*/ 6858000 h 6858000"/>
              <a:gd name="connsiteX3" fmla="*/ 6486160 w 9103027"/>
              <a:gd name="connsiteY3" fmla="*/ 6858000 h 6858000"/>
              <a:gd name="connsiteX4" fmla="*/ 6486160 w 9103027"/>
              <a:gd name="connsiteY4" fmla="*/ 6857999 h 6858000"/>
              <a:gd name="connsiteX5" fmla="*/ 2229336 w 9103027"/>
              <a:gd name="connsiteY5" fmla="*/ 6857999 h 6858000"/>
              <a:gd name="connsiteX6" fmla="*/ 0 w 9103027"/>
              <a:gd name="connsiteY6" fmla="*/ 6858000 h 6858000"/>
              <a:gd name="connsiteX7" fmla="*/ 1 w 9103027"/>
              <a:gd name="connsiteY7" fmla="*/ 6857999 h 6858000"/>
              <a:gd name="connsiteX8" fmla="*/ 3 w 9103027"/>
              <a:gd name="connsiteY8" fmla="*/ 6857997 h 6858000"/>
              <a:gd name="connsiteX9" fmla="*/ 6004074 w 9103027"/>
              <a:gd name="connsiteY9" fmla="*/ 1 h 6858000"/>
              <a:gd name="connsiteX10" fmla="*/ 6010592 w 9103027"/>
              <a:gd name="connsiteY10" fmla="*/ 1 h 6858000"/>
              <a:gd name="connsiteX11" fmla="*/ 6010593 w 9103027"/>
              <a:gd name="connsiteY11" fmla="*/ 0 h 6858000"/>
              <a:gd name="connsiteX0" fmla="*/ 6010593 w 9103027"/>
              <a:gd name="connsiteY0" fmla="*/ 0 h 6858000"/>
              <a:gd name="connsiteX1" fmla="*/ 9103027 w 9103027"/>
              <a:gd name="connsiteY1" fmla="*/ 1 h 6858000"/>
              <a:gd name="connsiteX2" fmla="*/ 9103027 w 9103027"/>
              <a:gd name="connsiteY2" fmla="*/ 6858000 h 6858000"/>
              <a:gd name="connsiteX3" fmla="*/ 6486160 w 9103027"/>
              <a:gd name="connsiteY3" fmla="*/ 6858000 h 6858000"/>
              <a:gd name="connsiteX4" fmla="*/ 2229336 w 9103027"/>
              <a:gd name="connsiteY4" fmla="*/ 6857999 h 6858000"/>
              <a:gd name="connsiteX5" fmla="*/ 0 w 9103027"/>
              <a:gd name="connsiteY5" fmla="*/ 6858000 h 6858000"/>
              <a:gd name="connsiteX6" fmla="*/ 1 w 9103027"/>
              <a:gd name="connsiteY6" fmla="*/ 6857999 h 6858000"/>
              <a:gd name="connsiteX7" fmla="*/ 3 w 9103027"/>
              <a:gd name="connsiteY7" fmla="*/ 6857997 h 6858000"/>
              <a:gd name="connsiteX8" fmla="*/ 6004074 w 9103027"/>
              <a:gd name="connsiteY8" fmla="*/ 1 h 6858000"/>
              <a:gd name="connsiteX9" fmla="*/ 6010592 w 9103027"/>
              <a:gd name="connsiteY9" fmla="*/ 1 h 6858000"/>
              <a:gd name="connsiteX10" fmla="*/ 6010593 w 9103027"/>
              <a:gd name="connsiteY10" fmla="*/ 0 h 6858000"/>
              <a:gd name="connsiteX0" fmla="*/ 6010593 w 9103027"/>
              <a:gd name="connsiteY0" fmla="*/ 0 h 6858000"/>
              <a:gd name="connsiteX1" fmla="*/ 9103027 w 9103027"/>
              <a:gd name="connsiteY1" fmla="*/ 1 h 6858000"/>
              <a:gd name="connsiteX2" fmla="*/ 9103027 w 9103027"/>
              <a:gd name="connsiteY2" fmla="*/ 6858000 h 6858000"/>
              <a:gd name="connsiteX3" fmla="*/ 2229336 w 9103027"/>
              <a:gd name="connsiteY3" fmla="*/ 6857999 h 6858000"/>
              <a:gd name="connsiteX4" fmla="*/ 0 w 9103027"/>
              <a:gd name="connsiteY4" fmla="*/ 6858000 h 6858000"/>
              <a:gd name="connsiteX5" fmla="*/ 1 w 9103027"/>
              <a:gd name="connsiteY5" fmla="*/ 6857999 h 6858000"/>
              <a:gd name="connsiteX6" fmla="*/ 3 w 9103027"/>
              <a:gd name="connsiteY6" fmla="*/ 6857997 h 6858000"/>
              <a:gd name="connsiteX7" fmla="*/ 6004074 w 9103027"/>
              <a:gd name="connsiteY7" fmla="*/ 1 h 6858000"/>
              <a:gd name="connsiteX8" fmla="*/ 6010592 w 9103027"/>
              <a:gd name="connsiteY8" fmla="*/ 1 h 6858000"/>
              <a:gd name="connsiteX9" fmla="*/ 6010593 w 9103027"/>
              <a:gd name="connsiteY9" fmla="*/ 0 h 6858000"/>
              <a:gd name="connsiteX0" fmla="*/ 6010593 w 9103027"/>
              <a:gd name="connsiteY0" fmla="*/ 0 h 6858000"/>
              <a:gd name="connsiteX1" fmla="*/ 9103027 w 9103027"/>
              <a:gd name="connsiteY1" fmla="*/ 1 h 6858000"/>
              <a:gd name="connsiteX2" fmla="*/ 9103027 w 9103027"/>
              <a:gd name="connsiteY2" fmla="*/ 6858000 h 6858000"/>
              <a:gd name="connsiteX3" fmla="*/ 0 w 9103027"/>
              <a:gd name="connsiteY3" fmla="*/ 6858000 h 6858000"/>
              <a:gd name="connsiteX4" fmla="*/ 1 w 9103027"/>
              <a:gd name="connsiteY4" fmla="*/ 6857999 h 6858000"/>
              <a:gd name="connsiteX5" fmla="*/ 3 w 9103027"/>
              <a:gd name="connsiteY5" fmla="*/ 6857997 h 6858000"/>
              <a:gd name="connsiteX6" fmla="*/ 6004074 w 9103027"/>
              <a:gd name="connsiteY6" fmla="*/ 1 h 6858000"/>
              <a:gd name="connsiteX7" fmla="*/ 6010592 w 9103027"/>
              <a:gd name="connsiteY7" fmla="*/ 1 h 6858000"/>
              <a:gd name="connsiteX8" fmla="*/ 6010593 w 9103027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03027" h="6858000">
                <a:moveTo>
                  <a:pt x="6010593" y="0"/>
                </a:moveTo>
                <a:lnTo>
                  <a:pt x="9103027" y="1"/>
                </a:lnTo>
                <a:lnTo>
                  <a:pt x="9103027" y="6858000"/>
                </a:lnTo>
                <a:lnTo>
                  <a:pt x="0" y="6858000"/>
                </a:lnTo>
                <a:lnTo>
                  <a:pt x="1" y="6857999"/>
                </a:lnTo>
                <a:lnTo>
                  <a:pt x="3" y="6857997"/>
                </a:lnTo>
                <a:lnTo>
                  <a:pt x="6004074" y="1"/>
                </a:lnTo>
                <a:lnTo>
                  <a:pt x="6010592" y="1"/>
                </a:lnTo>
                <a:lnTo>
                  <a:pt x="6010593" y="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9218" name="Picture 2" descr="Скенер Must Bear Paw 2448F - eMAG.bg">
            <a:extLst>
              <a:ext uri="{FF2B5EF4-FFF2-40B4-BE49-F238E27FC236}">
                <a16:creationId xmlns:a16="http://schemas.microsoft.com/office/drawing/2014/main" xmlns="" id="{732F1BA5-3A71-468D-BE63-9D233517C0D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64" r="-1" b="12493"/>
          <a:stretch/>
        </p:blipFill>
        <p:spPr bwMode="auto">
          <a:xfrm>
            <a:off x="20" y="10"/>
            <a:ext cx="9102514" cy="6857990"/>
          </a:xfrm>
          <a:custGeom>
            <a:avLst/>
            <a:gdLst/>
            <a:ahLst/>
            <a:cxnLst/>
            <a:rect l="l" t="t" r="r" b="b"/>
            <a:pathLst>
              <a:path w="9102534" h="6858000">
                <a:moveTo>
                  <a:pt x="0" y="0"/>
                </a:moveTo>
                <a:lnTo>
                  <a:pt x="9102534" y="0"/>
                </a:lnTo>
                <a:lnTo>
                  <a:pt x="9102532" y="2"/>
                </a:lnTo>
                <a:cubicBezTo>
                  <a:pt x="9102532" y="3"/>
                  <a:pt x="9102531" y="3"/>
                  <a:pt x="9102531" y="4"/>
                </a:cubicBezTo>
                <a:lnTo>
                  <a:pt x="3091942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" name="Freeform: Shape 80">
            <a:extLst>
              <a:ext uri="{FF2B5EF4-FFF2-40B4-BE49-F238E27FC236}">
                <a16:creationId xmlns:a16="http://schemas.microsoft.com/office/drawing/2014/main" xmlns="" id="{BFB227E1-F100-4CF9-9797-1E2001BBE2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0" y="0"/>
            <a:ext cx="6885325" cy="6858000"/>
          </a:xfrm>
          <a:custGeom>
            <a:avLst/>
            <a:gdLst>
              <a:gd name="connsiteX0" fmla="*/ 4456883 w 6885325"/>
              <a:gd name="connsiteY0" fmla="*/ 6858000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4070876 h 6858000"/>
              <a:gd name="connsiteX8" fmla="*/ 6885325 w 6885325"/>
              <a:gd name="connsiteY8" fmla="*/ 6857999 h 6858000"/>
              <a:gd name="connsiteX9" fmla="*/ 4456884 w 6885325"/>
              <a:gd name="connsiteY9" fmla="*/ 6857999 h 6858000"/>
              <a:gd name="connsiteX0" fmla="*/ 4456884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4070876 h 6858000"/>
              <a:gd name="connsiteX8" fmla="*/ 6885325 w 6885325"/>
              <a:gd name="connsiteY8" fmla="*/ 6857999 h 6858000"/>
              <a:gd name="connsiteX9" fmla="*/ 4456884 w 6885325"/>
              <a:gd name="connsiteY9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4070876 h 6858000"/>
              <a:gd name="connsiteX8" fmla="*/ 6885325 w 6885325"/>
              <a:gd name="connsiteY8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5 w 6885325"/>
              <a:gd name="connsiteY6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5 w 6885325"/>
              <a:gd name="connsiteY5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6857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85325" h="6858000">
                <a:moveTo>
                  <a:pt x="6885325" y="6857999"/>
                </a:moveTo>
                <a:lnTo>
                  <a:pt x="0" y="6858000"/>
                </a:lnTo>
                <a:lnTo>
                  <a:pt x="6010592" y="0"/>
                </a:lnTo>
                <a:lnTo>
                  <a:pt x="6885325" y="0"/>
                </a:lnTo>
                <a:lnTo>
                  <a:pt x="6885325" y="6857999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73CE300B-204F-4189-A36D-6D41FFF00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203866"/>
            <a:ext cx="3813888" cy="19583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3.1 СЪЩНОСТ 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C906FA58-009A-43C7-AA8A-A4F0CE781D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82692" y="2365143"/>
            <a:ext cx="5709308" cy="247101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0" i="0" u="none" strike="noStrike" dirty="0" err="1">
                <a:effectLst/>
              </a:rPr>
              <a:t>Входно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периферно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устройство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което</a:t>
            </a:r>
            <a:r>
              <a:rPr lang="en-US" b="0" i="0" u="none" strike="noStrike" dirty="0">
                <a:effectLst/>
              </a:rPr>
              <a:t> е </a:t>
            </a:r>
            <a:r>
              <a:rPr lang="en-US" b="0" i="0" u="none" strike="noStrike" dirty="0" err="1">
                <a:effectLst/>
              </a:rPr>
              <a:t>предназначено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да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дигитализира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изображение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от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хартие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носител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или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фолио</a:t>
            </a:r>
            <a:r>
              <a:rPr lang="en-US" b="0" i="0" u="none" strike="noStrike" dirty="0">
                <a:effectLst/>
              </a:rPr>
              <a:t> и </a:t>
            </a:r>
            <a:r>
              <a:rPr lang="en-US" b="0" i="0" u="none" strike="noStrike" dirty="0" err="1">
                <a:effectLst/>
              </a:rPr>
              <a:t>да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ги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конвертира</a:t>
            </a:r>
            <a:r>
              <a:rPr lang="en-US" b="0" i="0" u="none" strike="noStrike" dirty="0">
                <a:effectLst/>
              </a:rPr>
              <a:t> в </a:t>
            </a:r>
            <a:r>
              <a:rPr lang="en-US" b="0" i="0" u="none" strike="noStrike" dirty="0" err="1">
                <a:effectLst/>
              </a:rPr>
              <a:t>електронен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файл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към</a:t>
            </a:r>
            <a:r>
              <a:rPr lang="en-US" b="0" i="0" u="none" strike="noStrike" dirty="0">
                <a:effectLst/>
              </a:rPr>
              <a:t> PC. </a:t>
            </a:r>
            <a:r>
              <a:rPr lang="en-US" b="0" i="0" dirty="0">
                <a:effectLst/>
              </a:rPr>
              <a:t>​</a:t>
            </a:r>
            <a:endParaRPr lang="en-US" dirty="0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xmlns="" id="{A06758A3-C4A6-479A-8755-3BEC6314294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80315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Freeform: Shape 134">
            <a:extLst>
              <a:ext uri="{FF2B5EF4-FFF2-40B4-BE49-F238E27FC236}">
                <a16:creationId xmlns:a16="http://schemas.microsoft.com/office/drawing/2014/main" xmlns="" id="{91C2F78B-DEE8-4195-A196-DFC51BDADFF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49268" y="4070878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xmlns="" id="{A1D79D08-4BE8-4799-BE09-5078DFEE22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0" y="0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xmlns="" id="{C95D65A1-16CB-407F-993F-2A6D59BCC0C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1" name="Rectangle 140">
            <a:extLst>
              <a:ext uri="{FF2B5EF4-FFF2-40B4-BE49-F238E27FC236}">
                <a16:creationId xmlns:a16="http://schemas.microsoft.com/office/drawing/2014/main" xmlns="" id="{327AB4C5-0719-4E35-87CD-199EB59E3EE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Freeform: Shape 142">
            <a:extLst>
              <a:ext uri="{FF2B5EF4-FFF2-40B4-BE49-F238E27FC236}">
                <a16:creationId xmlns:a16="http://schemas.microsoft.com/office/drawing/2014/main" xmlns="" id="{6AD2284B-B8B7-4BE1-A9DE-32E5FCF7BBF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 flipH="1" flipV="1">
            <a:off x="1127553" y="-1127553"/>
            <a:ext cx="6858000" cy="9113106"/>
          </a:xfrm>
          <a:custGeom>
            <a:avLst/>
            <a:gdLst>
              <a:gd name="connsiteX0" fmla="*/ 0 w 6858000"/>
              <a:gd name="connsiteY0" fmla="*/ 7143270 h 9113106"/>
              <a:gd name="connsiteX1" fmla="*/ 0 w 6858000"/>
              <a:gd name="connsiteY1" fmla="*/ 6878623 h 9113106"/>
              <a:gd name="connsiteX2" fmla="*/ 1 w 6858000"/>
              <a:gd name="connsiteY2" fmla="*/ 6878623 h 9113106"/>
              <a:gd name="connsiteX3" fmla="*/ 0 w 6858000"/>
              <a:gd name="connsiteY3" fmla="*/ 4319945 h 9113106"/>
              <a:gd name="connsiteX4" fmla="*/ 1 w 6858000"/>
              <a:gd name="connsiteY4" fmla="*/ 4319945 h 9113106"/>
              <a:gd name="connsiteX5" fmla="*/ 1 w 6858000"/>
              <a:gd name="connsiteY5" fmla="*/ 13542 h 9113106"/>
              <a:gd name="connsiteX6" fmla="*/ 0 w 6858000"/>
              <a:gd name="connsiteY6" fmla="*/ 13540 h 9113106"/>
              <a:gd name="connsiteX7" fmla="*/ 0 w 6858000"/>
              <a:gd name="connsiteY7" fmla="*/ 0 h 9113106"/>
              <a:gd name="connsiteX8" fmla="*/ 6858000 w 6858000"/>
              <a:gd name="connsiteY8" fmla="*/ 6010591 h 9113106"/>
              <a:gd name="connsiteX9" fmla="*/ 6858000 w 6858000"/>
              <a:gd name="connsiteY9" fmla="*/ 3794798 h 9113106"/>
              <a:gd name="connsiteX10" fmla="*/ 6858000 w 6858000"/>
              <a:gd name="connsiteY10" fmla="*/ 3794798 h 9113106"/>
              <a:gd name="connsiteX11" fmla="*/ 6858000 w 6858000"/>
              <a:gd name="connsiteY11" fmla="*/ 3837120 h 9113106"/>
              <a:gd name="connsiteX12" fmla="*/ 6858000 w 6858000"/>
              <a:gd name="connsiteY12" fmla="*/ 6838049 h 9113106"/>
              <a:gd name="connsiteX13" fmla="*/ 6858000 w 6858000"/>
              <a:gd name="connsiteY13" fmla="*/ 9113106 h 9113106"/>
              <a:gd name="connsiteX14" fmla="*/ 1 w 6858000"/>
              <a:gd name="connsiteY14" fmla="*/ 9113106 h 9113106"/>
              <a:gd name="connsiteX15" fmla="*/ 1 w 6858000"/>
              <a:gd name="connsiteY15" fmla="*/ 7143270 h 9113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8000" h="9113106">
                <a:moveTo>
                  <a:pt x="0" y="7143270"/>
                </a:moveTo>
                <a:lnTo>
                  <a:pt x="0" y="6878623"/>
                </a:lnTo>
                <a:lnTo>
                  <a:pt x="1" y="6878623"/>
                </a:lnTo>
                <a:lnTo>
                  <a:pt x="0" y="4319945"/>
                </a:lnTo>
                <a:lnTo>
                  <a:pt x="1" y="4319945"/>
                </a:lnTo>
                <a:lnTo>
                  <a:pt x="1" y="13542"/>
                </a:lnTo>
                <a:lnTo>
                  <a:pt x="0" y="13540"/>
                </a:lnTo>
                <a:lnTo>
                  <a:pt x="0" y="0"/>
                </a:lnTo>
                <a:lnTo>
                  <a:pt x="6858000" y="6010591"/>
                </a:lnTo>
                <a:lnTo>
                  <a:pt x="6858000" y="3794798"/>
                </a:lnTo>
                <a:lnTo>
                  <a:pt x="6858000" y="3794798"/>
                </a:lnTo>
                <a:lnTo>
                  <a:pt x="6858000" y="3837120"/>
                </a:lnTo>
                <a:lnTo>
                  <a:pt x="6858000" y="6838049"/>
                </a:lnTo>
                <a:lnTo>
                  <a:pt x="6858000" y="9113106"/>
                </a:lnTo>
                <a:lnTo>
                  <a:pt x="1" y="9113106"/>
                </a:lnTo>
                <a:lnTo>
                  <a:pt x="1" y="714327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86C65437-D070-4677-897C-C41EC33F2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2281" y="5411595"/>
            <a:ext cx="5946841" cy="102834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3.2 ПРИНЦП НА ДЕЙСТВИЕ </a:t>
            </a:r>
          </a:p>
        </p:txBody>
      </p:sp>
      <p:pic>
        <p:nvPicPr>
          <p:cNvPr id="10242" name="Picture 2" descr="ТУ София 2013г.">
            <a:extLst>
              <a:ext uri="{FF2B5EF4-FFF2-40B4-BE49-F238E27FC236}">
                <a16:creationId xmlns:a16="http://schemas.microsoft.com/office/drawing/2014/main" xmlns="" id="{8F94D637-9D55-46B2-B778-AC3B0F980A4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0033" y="1613881"/>
            <a:ext cx="4636744" cy="1798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41BE8CD6-0F9A-4953-87E9-74201CDF9F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19618" y="1526238"/>
            <a:ext cx="4326424" cy="404780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b="0" i="0" u="none" strike="noStrike" dirty="0" err="1">
                <a:effectLst/>
              </a:rPr>
              <a:t>Работят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на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принципа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не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оптическо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заснемане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на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изображеението</a:t>
            </a:r>
            <a:r>
              <a:rPr lang="en-US" b="0" i="0" u="none" strike="noStrike" dirty="0">
                <a:effectLst/>
              </a:rPr>
              <a:t>. </a:t>
            </a:r>
            <a:r>
              <a:rPr lang="en-US" b="0" i="0" u="none" strike="noStrike" dirty="0" err="1">
                <a:effectLst/>
              </a:rPr>
              <a:t>Независимо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от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технологията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всички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имат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сканираща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глава</a:t>
            </a:r>
            <a:r>
              <a:rPr lang="en-US" b="0" i="0" u="none" strike="noStrike" dirty="0">
                <a:effectLst/>
              </a:rPr>
              <a:t>, </a:t>
            </a:r>
            <a:r>
              <a:rPr lang="en-US" b="0" i="0" u="none" strike="noStrike" dirty="0" err="1">
                <a:effectLst/>
              </a:rPr>
              <a:t>обхождаща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всяка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точка</a:t>
            </a:r>
            <a:r>
              <a:rPr lang="en-US" b="0" i="0" u="none" strike="noStrike" dirty="0">
                <a:effectLst/>
              </a:rPr>
              <a:t>, </a:t>
            </a:r>
            <a:r>
              <a:rPr lang="en-US" b="0" i="0" u="none" strike="noStrike" dirty="0" err="1">
                <a:effectLst/>
              </a:rPr>
              <a:t>като</a:t>
            </a:r>
            <a:r>
              <a:rPr lang="en-US" b="0" i="0" u="none" strike="noStrike" dirty="0">
                <a:effectLst/>
              </a:rPr>
              <a:t> код0ра </a:t>
            </a:r>
            <a:r>
              <a:rPr lang="en-US" b="0" i="0" u="none" strike="noStrike" dirty="0" err="1">
                <a:effectLst/>
              </a:rPr>
              <a:t>цвета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на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точката</a:t>
            </a:r>
            <a:r>
              <a:rPr lang="en-US" b="0" i="0" u="none" strike="noStrike" dirty="0">
                <a:effectLst/>
              </a:rPr>
              <a:t> в </a:t>
            </a:r>
            <a:r>
              <a:rPr lang="en-US" b="0" i="0" u="none" strike="noStrike" dirty="0" err="1">
                <a:effectLst/>
              </a:rPr>
              <a:t>число</a:t>
            </a:r>
            <a:r>
              <a:rPr lang="en-US" b="0" i="0" u="none" strike="noStrike" dirty="0">
                <a:effectLst/>
              </a:rPr>
              <a:t>. </a:t>
            </a:r>
            <a:r>
              <a:rPr lang="en-US" b="0" i="0" u="none" strike="noStrike" dirty="0" err="1">
                <a:effectLst/>
              </a:rPr>
              <a:t>Скенерите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се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делят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на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чернобели</a:t>
            </a:r>
            <a:r>
              <a:rPr lang="en-US" b="0" i="0" u="none" strike="noStrike" dirty="0">
                <a:effectLst/>
              </a:rPr>
              <a:t> и </a:t>
            </a:r>
            <a:r>
              <a:rPr lang="en-US" b="0" i="0" u="none" strike="noStrike" dirty="0" err="1">
                <a:effectLst/>
              </a:rPr>
              <a:t>цветни</a:t>
            </a:r>
            <a:r>
              <a:rPr lang="en-US" b="0" i="0" u="none" strike="noStrike" dirty="0">
                <a:effectLst/>
              </a:rPr>
              <a:t>. </a:t>
            </a:r>
            <a:r>
              <a:rPr lang="en-US" b="0" i="0" u="none" strike="noStrike" dirty="0" err="1">
                <a:effectLst/>
              </a:rPr>
              <a:t>Всеки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скенер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се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оправлява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от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специалена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интерфейсна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платка</a:t>
            </a:r>
            <a:r>
              <a:rPr lang="en-US" b="0" i="0" u="none" strike="noStrike" dirty="0">
                <a:effectLst/>
              </a:rPr>
              <a:t> – CIS </a:t>
            </a:r>
            <a:r>
              <a:rPr lang="en-US" b="0" i="0" u="none" strike="noStrike" dirty="0" err="1">
                <a:effectLst/>
              </a:rPr>
              <a:t>или</a:t>
            </a:r>
            <a:r>
              <a:rPr lang="en-US" b="0" i="0" u="none" strike="noStrike" dirty="0">
                <a:effectLst/>
              </a:rPr>
              <a:t> CCD </a:t>
            </a:r>
            <a:r>
              <a:rPr lang="en-US" b="0" i="0" u="none" strike="noStrike" dirty="0" err="1">
                <a:effectLst/>
              </a:rPr>
              <a:t>матрица</a:t>
            </a:r>
            <a:r>
              <a:rPr lang="en-US" sz="1400" b="0" i="0" u="none" strike="noStrike" dirty="0">
                <a:effectLst/>
              </a:rPr>
              <a:t>.</a:t>
            </a:r>
            <a:r>
              <a:rPr lang="en-US" sz="1400" b="0" i="0" dirty="0">
                <a:effectLst/>
              </a:rPr>
              <a:t>​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063442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5C3A23EF-A83C-4990-BEAC-C6C2333F9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720" y="456375"/>
            <a:ext cx="9905999" cy="1360898"/>
          </a:xfrm>
        </p:spPr>
        <p:txBody>
          <a:bodyPr/>
          <a:lstStyle/>
          <a:p>
            <a:r>
              <a:rPr lang="bg-BG" sz="3200" dirty="0"/>
              <a:t>3.3 </a:t>
            </a:r>
            <a:r>
              <a:rPr lang="en-US" sz="3200" dirty="0"/>
              <a:t>CCD </a:t>
            </a:r>
            <a:r>
              <a:rPr lang="bg-BG" sz="3200" dirty="0"/>
              <a:t>МАТРИЦА </a:t>
            </a:r>
            <a:r>
              <a:rPr lang="bg-BG" dirty="0"/>
              <a:t/>
            </a:r>
            <a:br>
              <a:rPr lang="bg-BG" dirty="0"/>
            </a:b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3EF08109-05CD-405B-A745-CDF562F404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8757" y="1604211"/>
            <a:ext cx="6641431" cy="4483768"/>
          </a:xfrm>
        </p:spPr>
        <p:txBody>
          <a:bodyPr>
            <a:normAutofit lnSpcReduction="10000"/>
          </a:bodyPr>
          <a:lstStyle/>
          <a:p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По-сложна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от CIS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матрицата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,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състои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се от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източник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на светлина,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оптична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система от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огледала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и лещи и аналогово-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цифров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преобразувател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.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Осветяването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на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изображението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се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осъществява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от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флоуросцентна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лампа.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Отразената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светлина се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насочва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от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оптична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система и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достига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до CCD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матрицата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.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Тя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е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изградена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от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фоточувствителни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елементи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,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подредени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в колони и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редове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и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преобразува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попадналата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светлина в отражение.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Различните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степени на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светлината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дават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различен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интензитет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на цвета. След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като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отразената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светлина е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преобразувана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в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напрежение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се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предава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в аналогово-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цифров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преобразувател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,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който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ще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я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преобразува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в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двоичен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код.​</a:t>
            </a:r>
            <a:endParaRPr lang="bg-BG" dirty="0"/>
          </a:p>
        </p:txBody>
      </p:sp>
      <p:pic>
        <p:nvPicPr>
          <p:cNvPr id="11268" name="Picture 4" descr="Charge-coupled device - Wikipedia">
            <a:extLst>
              <a:ext uri="{FF2B5EF4-FFF2-40B4-BE49-F238E27FC236}">
                <a16:creationId xmlns:a16="http://schemas.microsoft.com/office/drawing/2014/main" xmlns="" id="{2717280A-B835-404E-861D-CCA9EBBFFC0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2226" y="1939193"/>
            <a:ext cx="3642173" cy="3316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68735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reeform: Shape 70">
            <a:extLst>
              <a:ext uri="{FF2B5EF4-FFF2-40B4-BE49-F238E27FC236}">
                <a16:creationId xmlns:a16="http://schemas.microsoft.com/office/drawing/2014/main" xmlns="" id="{91C2F78B-DEE8-4195-A196-DFC51BDADFF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49268" y="4070878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xmlns="" id="{A1D79D08-4BE8-4799-BE09-5078DFEE22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0" y="0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xmlns="" id="{C95D65A1-16CB-407F-993F-2A6D59BCC0C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xmlns="" id="{327AB4C5-0719-4E35-87CD-199EB59E3EE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xmlns="" id="{A556136B-F847-4828-9D7C-3A2F2118B65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78203" y="-4"/>
            <a:ext cx="8239927" cy="6858000"/>
          </a:xfrm>
          <a:custGeom>
            <a:avLst/>
            <a:gdLst>
              <a:gd name="connsiteX0" fmla="*/ 6010593 w 8239927"/>
              <a:gd name="connsiteY0" fmla="*/ 0 h 6858000"/>
              <a:gd name="connsiteX1" fmla="*/ 8239927 w 8239927"/>
              <a:gd name="connsiteY1" fmla="*/ 0 h 6858000"/>
              <a:gd name="connsiteX2" fmla="*/ 2229335 w 8239927"/>
              <a:gd name="connsiteY2" fmla="*/ 6858000 h 6858000"/>
              <a:gd name="connsiteX3" fmla="*/ 0 w 823992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9927" h="6858000">
                <a:moveTo>
                  <a:pt x="6010593" y="0"/>
                </a:moveTo>
                <a:lnTo>
                  <a:pt x="8239927" y="0"/>
                </a:lnTo>
                <a:lnTo>
                  <a:pt x="22293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BA774679-7003-4F20-9171-DD5B99852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181099"/>
            <a:ext cx="3965840" cy="14559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3.4 CIS МАТРИЦА </a:t>
            </a:r>
            <a:r>
              <a:rPr 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/>
            </a:r>
            <a:br>
              <a:rPr 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7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xmlns="" id="{BDF01A87-17DA-478B-B41A-559EE366F50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48" b="89529" l="6250" r="90417">
                        <a14:foregroundMark x1="6250" y1="33508" x2="6250" y2="33508"/>
                        <a14:foregroundMark x1="20625" y1="53927" x2="20625" y2="53927"/>
                        <a14:foregroundMark x1="22500" y1="61257" x2="22500" y2="61257"/>
                        <a14:foregroundMark x1="23125" y1="59162" x2="23125" y2="59162"/>
                        <a14:foregroundMark x1="23125" y1="59162" x2="23125" y2="59162"/>
                        <a14:foregroundMark x1="27500" y1="59686" x2="27500" y2="59686"/>
                        <a14:foregroundMark x1="27500" y1="59686" x2="27500" y2="59686"/>
                        <a14:foregroundMark x1="35417" y1="59686" x2="35417" y2="59686"/>
                        <a14:foregroundMark x1="35417" y1="59686" x2="35417" y2="59686"/>
                        <a14:foregroundMark x1="39167" y1="59686" x2="39167" y2="59686"/>
                        <a14:foregroundMark x1="18958" y1="57068" x2="18958" y2="57068"/>
                        <a14:foregroundMark x1="16667" y1="59162" x2="16667" y2="59162"/>
                        <a14:foregroundMark x1="12083" y1="59162" x2="12083" y2="59162"/>
                        <a14:foregroundMark x1="10833" y1="65969" x2="10833" y2="65969"/>
                        <a14:foregroundMark x1="90417" y1="33508" x2="90417" y2="33508"/>
                        <a14:foregroundMark x1="23958" y1="34031" x2="23958" y2="34031"/>
                        <a14:foregroundMark x1="24375" y1="34031" x2="24375" y2="34031"/>
                        <a14:foregroundMark x1="24167" y1="43979" x2="24167" y2="43979"/>
                        <a14:foregroundMark x1="24792" y1="36126" x2="24792" y2="36126"/>
                        <a14:foregroundMark x1="24792" y1="35079" x2="24792" y2="35079"/>
                        <a14:foregroundMark x1="24375" y1="35079" x2="24375" y2="35079"/>
                        <a14:foregroundMark x1="24375" y1="33508" x2="24375" y2="33508"/>
                        <a14:foregroundMark x1="24375" y1="33508" x2="24375" y2="33508"/>
                        <a14:foregroundMark x1="23958" y1="33508" x2="23958" y2="33508"/>
                        <a14:foregroundMark x1="23958" y1="36649" x2="23958" y2="36649"/>
                        <a14:foregroundMark x1="24375" y1="38743" x2="24375" y2="38743"/>
                        <a14:foregroundMark x1="24792" y1="45550" x2="24792" y2="45550"/>
                        <a14:foregroundMark x1="73333" y1="53927" x2="73333" y2="53927"/>
                        <a14:foregroundMark x1="78125" y1="51832" x2="78125" y2="51832"/>
                        <a14:foregroundMark x1="81875" y1="52880" x2="81875" y2="52880"/>
                        <a14:foregroundMark x1="11250" y1="57068" x2="11250" y2="57068"/>
                        <a14:foregroundMark x1="82917" y1="53927" x2="82917" y2="53927"/>
                        <a14:foregroundMark x1="71458" y1="18848" x2="82292" y2="21990"/>
                        <a14:foregroundMark x1="81875" y1="19895" x2="82708" y2="24084"/>
                        <a14:foregroundMark x1="71042" y1="23037" x2="81875" y2="24084"/>
                        <a14:foregroundMark x1="71250" y1="22513" x2="80208" y2="17801"/>
                        <a14:foregroundMark x1="80208" y1="17801" x2="81875" y2="18325"/>
                        <a14:foregroundMark x1="83333" y1="18325" x2="83333" y2="18325"/>
                        <a14:foregroundMark x1="82292" y1="16230" x2="82292" y2="16230"/>
                        <a14:foregroundMark x1="79792" y1="17277" x2="79792" y2="17277"/>
                        <a14:foregroundMark x1="76250" y1="16230" x2="76250" y2="16230"/>
                        <a14:foregroundMark x1="73750" y1="17277" x2="73750" y2="17277"/>
                        <a14:foregroundMark x1="72292" y1="17277" x2="72292" y2="17277"/>
                        <a14:foregroundMark x1="71250" y1="16230" x2="71250" y2="16230"/>
                        <a14:foregroundMark x1="83125" y1="16230" x2="83125" y2="16230"/>
                        <a14:foregroundMark x1="71250" y1="20419" x2="71250" y2="20419"/>
                        <a14:foregroundMark x1="35000" y1="50785" x2="35000" y2="50785"/>
                        <a14:foregroundMark x1="35000" y1="50785" x2="35000" y2="50785"/>
                        <a14:foregroundMark x1="35000" y1="50785" x2="35000" y2="50785"/>
                        <a14:foregroundMark x1="29167" y1="50262" x2="29167" y2="50262"/>
                        <a14:foregroundMark x1="23750" y1="51309" x2="23750" y2="51309"/>
                        <a14:foregroundMark x1="31875" y1="68586" x2="20625" y2="84293"/>
                        <a14:foregroundMark x1="20625" y1="84293" x2="15833" y2="69634"/>
                        <a14:foregroundMark x1="30208" y1="79058" x2="30208" y2="79058"/>
                        <a14:foregroundMark x1="30625" y1="80628" x2="30625" y2="80628"/>
                        <a14:foregroundMark x1="30208" y1="83770" x2="30208" y2="83770"/>
                        <a14:foregroundMark x1="28333" y1="82723" x2="28333" y2="82723"/>
                        <a14:foregroundMark x1="25833" y1="81152" x2="25833" y2="81152"/>
                        <a14:foregroundMark x1="18542" y1="84293" x2="18542" y2="84293"/>
                        <a14:foregroundMark x1="17292" y1="81152" x2="17292" y2="81152"/>
                        <a14:foregroundMark x1="16458" y1="80628" x2="16458" y2="80628"/>
                        <a14:foregroundMark x1="15625" y1="77487" x2="15625" y2="77487"/>
                        <a14:foregroundMark x1="16875" y1="82199" x2="16875" y2="82199"/>
                        <a14:foregroundMark x1="15833" y1="82723" x2="15833" y2="82723"/>
                        <a14:foregroundMark x1="15833" y1="82723" x2="15833" y2="82723"/>
                        <a14:foregroundMark x1="31250" y1="75916" x2="31250" y2="75916"/>
                        <a14:foregroundMark x1="31875" y1="79058" x2="31875" y2="79058"/>
                        <a14:foregroundMark x1="10625" y1="60733" x2="10625" y2="60733"/>
                        <a14:foregroundMark x1="12708" y1="49215" x2="12708" y2="4921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7786" y="2787124"/>
            <a:ext cx="5356270" cy="212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0141E6D4-35DD-4A1D-AFB6-027406F0FC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0" y="850236"/>
            <a:ext cx="5648214" cy="508320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en-US" b="0" i="0" dirty="0" err="1">
                <a:effectLst/>
              </a:rPr>
              <a:t>При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нея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сложната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оптична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система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се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заменя</a:t>
            </a:r>
            <a:r>
              <a:rPr lang="en-US" b="0" i="0" dirty="0">
                <a:effectLst/>
              </a:rPr>
              <a:t> с </a:t>
            </a:r>
            <a:r>
              <a:rPr lang="en-US" b="0" i="0" dirty="0" err="1">
                <a:effectLst/>
              </a:rPr>
              <a:t>един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ред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сензори</a:t>
            </a:r>
            <a:r>
              <a:rPr lang="en-US" b="0" i="0" dirty="0">
                <a:effectLst/>
              </a:rPr>
              <a:t>, </a:t>
            </a:r>
            <a:r>
              <a:rPr lang="en-US" b="0" i="0" dirty="0" err="1">
                <a:effectLst/>
              </a:rPr>
              <a:t>които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се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намират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на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няколко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милиметра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под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стъклената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основа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на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сканиране</a:t>
            </a:r>
            <a:r>
              <a:rPr lang="en-US" b="0" i="0" dirty="0">
                <a:effectLst/>
              </a:rPr>
              <a:t>. </a:t>
            </a:r>
            <a:r>
              <a:rPr lang="en-US" b="0" i="0" dirty="0" err="1">
                <a:effectLst/>
              </a:rPr>
              <a:t>Осветяването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се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осъществява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от</a:t>
            </a:r>
            <a:r>
              <a:rPr lang="en-US" b="0" i="0" dirty="0">
                <a:effectLst/>
              </a:rPr>
              <a:t> RGB </a:t>
            </a:r>
            <a:r>
              <a:rPr lang="en-US" b="0" i="0" dirty="0" err="1">
                <a:effectLst/>
              </a:rPr>
              <a:t>светодиоди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които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се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разполагат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един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до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друг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за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да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формират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бялата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светлина</a:t>
            </a:r>
            <a:r>
              <a:rPr lang="en-US" b="0" i="0" dirty="0">
                <a:effectLst/>
              </a:rPr>
              <a:t>. </a:t>
            </a:r>
            <a:r>
              <a:rPr lang="en-US" b="0" i="0" dirty="0" err="1">
                <a:effectLst/>
              </a:rPr>
              <a:t>Отразената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от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изображението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светлина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попада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върху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фоточувствителните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елементи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на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сензора</a:t>
            </a:r>
            <a:r>
              <a:rPr lang="en-US" b="0" i="0" dirty="0">
                <a:effectLst/>
              </a:rPr>
              <a:t>. С </a:t>
            </a:r>
            <a:r>
              <a:rPr lang="en-US" b="0" i="0" dirty="0" err="1">
                <a:effectLst/>
              </a:rPr>
              <a:t>помощта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на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филтри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светлината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се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разделя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на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трите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основни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цвята</a:t>
            </a:r>
            <a:r>
              <a:rPr lang="en-US" b="0" i="0" dirty="0">
                <a:effectLst/>
              </a:rPr>
              <a:t>-RGB. </a:t>
            </a:r>
            <a:r>
              <a:rPr lang="en-US" b="0" i="0" dirty="0" err="1">
                <a:effectLst/>
              </a:rPr>
              <a:t>Вграденият</a:t>
            </a:r>
            <a:r>
              <a:rPr lang="en-US" b="0" i="0" dirty="0">
                <a:effectLst/>
              </a:rPr>
              <a:t> в </a:t>
            </a:r>
            <a:r>
              <a:rPr lang="en-US" b="0" i="0" dirty="0" err="1">
                <a:effectLst/>
              </a:rPr>
              <a:t>чипа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аналогово-цифров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преобразувател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конвертира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информацията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от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сензора</a:t>
            </a:r>
            <a:r>
              <a:rPr lang="en-US" b="0" i="0" dirty="0">
                <a:effectLst/>
              </a:rPr>
              <a:t> в </a:t>
            </a:r>
            <a:r>
              <a:rPr lang="en-US" b="0" i="0" dirty="0" err="1">
                <a:effectLst/>
              </a:rPr>
              <a:t>двоичен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код</a:t>
            </a:r>
            <a:r>
              <a:rPr lang="en-US" b="0" i="0" dirty="0">
                <a:effectLst/>
              </a:rPr>
              <a:t>.​</a:t>
            </a:r>
          </a:p>
          <a:p>
            <a:pPr algn="r">
              <a:lnSpc>
                <a:spcPct val="110000"/>
              </a:lnSpc>
            </a:pPr>
            <a:endParaRPr lang="en-US" sz="1100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xmlns="" id="{8D997AC9-EE0E-4715-BB2E-3B72C08A9D2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8974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4996AA00-C8CE-4C13-8869-F31A30444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47819"/>
            <a:ext cx="9905999" cy="1360898"/>
          </a:xfrm>
        </p:spPr>
        <p:txBody>
          <a:bodyPr>
            <a:normAutofit fontScale="90000"/>
          </a:bodyPr>
          <a:lstStyle/>
          <a:p>
            <a:r>
              <a:rPr lang="bg-BG" dirty="0"/>
              <a:t>3.5 ЕДНОПАЦОВИ И ДВУПАСОВИ СКЕНЕРИ </a:t>
            </a:r>
            <a:br>
              <a:rPr lang="bg-BG" dirty="0"/>
            </a:b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5BF1F0A8-0C72-4857-9F02-12E1D37D3A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bg-BG" b="0" i="0" u="none" strike="noStrike" dirty="0" err="1">
                <a:effectLst/>
                <a:latin typeface="Times New Roman" panose="02020603050405020304" pitchFamily="18" charset="0"/>
              </a:rPr>
              <a:t>Еднопасови</a:t>
            </a:r>
            <a:r>
              <a:rPr lang="en-US" b="0" i="0" dirty="0">
                <a:effectLst/>
                <a:latin typeface="Times New Roman" panose="02020603050405020304" pitchFamily="18" charset="0"/>
              </a:rPr>
              <a:t>​</a:t>
            </a:r>
            <a:endParaRPr lang="en-US" b="0" i="0" dirty="0"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bg-BG" b="0" i="0" u="none" strike="noStrike" dirty="0">
                <a:effectLst/>
                <a:latin typeface="Times New Roman" panose="02020603050405020304" pitchFamily="18" charset="0"/>
              </a:rPr>
              <a:t>На прав пас се дигитализира изображението на обратен пас се генерира в </a:t>
            </a:r>
            <a:r>
              <a:rPr lang="bg-BG" b="0" i="0" u="none" strike="noStrike" dirty="0" err="1">
                <a:effectLst/>
                <a:latin typeface="Times New Roman" panose="02020603050405020304" pitchFamily="18" charset="0"/>
              </a:rPr>
              <a:t>двуйчно</a:t>
            </a:r>
            <a:r>
              <a:rPr lang="bg-BG" b="0" i="0" u="none" strike="noStrike" dirty="0">
                <a:effectLst/>
                <a:latin typeface="Times New Roman" panose="02020603050405020304" pitchFamily="18" charset="0"/>
              </a:rPr>
              <a:t> число.</a:t>
            </a:r>
            <a:r>
              <a:rPr lang="en-US" b="0" i="0" dirty="0">
                <a:effectLst/>
                <a:latin typeface="Times New Roman" panose="02020603050405020304" pitchFamily="18" charset="0"/>
              </a:rPr>
              <a:t>​</a:t>
            </a:r>
            <a:r>
              <a:rPr lang="bg-BG" b="0" i="0" dirty="0">
                <a:effectLst/>
                <a:latin typeface="Times New Roman" panose="02020603050405020304" pitchFamily="18" charset="0"/>
              </a:rPr>
              <a:t> </a:t>
            </a:r>
            <a:endParaRPr lang="en-US" b="0" i="0" dirty="0">
              <a:effectLst/>
              <a:latin typeface="Arial" panose="020B0604020202020204" pitchFamily="34" charset="0"/>
            </a:endParaRPr>
          </a:p>
          <a:p>
            <a:endParaRPr lang="bg-BG" dirty="0"/>
          </a:p>
        </p:txBody>
      </p:sp>
      <p:sp>
        <p:nvSpPr>
          <p:cNvPr id="4" name="Контейнер за съдържание 3">
            <a:extLst>
              <a:ext uri="{FF2B5EF4-FFF2-40B4-BE49-F238E27FC236}">
                <a16:creationId xmlns:a16="http://schemas.microsoft.com/office/drawing/2014/main" xmlns="" id="{7C9E8BC5-F7B9-4CAE-BBD7-35E11323CBB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bg-BG" b="0" i="0" u="none" strike="noStrike" dirty="0" err="1">
                <a:effectLst/>
                <a:latin typeface="Times New Roman" panose="02020603050405020304" pitchFamily="18" charset="0"/>
              </a:rPr>
              <a:t>Двупасови</a:t>
            </a:r>
            <a:r>
              <a:rPr lang="en-US" b="0" i="0" dirty="0">
                <a:effectLst/>
                <a:latin typeface="Times New Roman" panose="02020603050405020304" pitchFamily="18" charset="0"/>
              </a:rPr>
              <a:t>​</a:t>
            </a:r>
            <a:endParaRPr lang="en-US" b="0" i="0" dirty="0"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bg-BG" b="0" i="0" u="none" strike="noStrike" dirty="0">
                <a:effectLst/>
                <a:latin typeface="Times New Roman" panose="02020603050405020304" pitchFamily="18" charset="0"/>
              </a:rPr>
              <a:t>Два паса (прав и обратен) за дигитализация и 2 паса за конвертиране.</a:t>
            </a:r>
            <a:r>
              <a:rPr lang="en-US" b="0" i="0" dirty="0">
                <a:effectLst/>
                <a:latin typeface="Times New Roman" panose="02020603050405020304" pitchFamily="18" charset="0"/>
              </a:rPr>
              <a:t>​</a:t>
            </a:r>
            <a:endParaRPr lang="en-US" b="0" i="0" dirty="0">
              <a:effectLst/>
              <a:latin typeface="Arial" panose="020B0604020202020204" pitchFamily="34" charset="0"/>
            </a:endParaRP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6261219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xmlns="" id="{F95EFE27-86F6-4B48-BF2A-51D85E76A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5116" y="1257343"/>
            <a:ext cx="4798980" cy="1026694"/>
          </a:xfrm>
        </p:spPr>
        <p:txBody>
          <a:bodyPr/>
          <a:lstStyle/>
          <a:p>
            <a:r>
              <a:rPr lang="bg-BG" dirty="0"/>
              <a:t>*РЪЧНИ  </a:t>
            </a:r>
          </a:p>
          <a:p>
            <a:endParaRPr lang="bg-BG" dirty="0"/>
          </a:p>
        </p:txBody>
      </p:sp>
      <p:sp>
        <p:nvSpPr>
          <p:cNvPr id="4" name="Контейнер за съдържание 3">
            <a:extLst>
              <a:ext uri="{FF2B5EF4-FFF2-40B4-BE49-F238E27FC236}">
                <a16:creationId xmlns:a16="http://schemas.microsoft.com/office/drawing/2014/main" xmlns="" id="{E26E53F2-7A15-4DD2-B0D7-A17F1F7ED6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5116" y="1933074"/>
            <a:ext cx="5516863" cy="3957025"/>
          </a:xfrm>
        </p:spPr>
        <p:txBody>
          <a:bodyPr>
            <a:noAutofit/>
          </a:bodyPr>
          <a:lstStyle/>
          <a:p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При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тях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операторът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сам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движи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скенера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по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изображението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, на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което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трябва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да се получи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електронно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копие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.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Използва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се за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сканиране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на малки изображения.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Качеството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зависи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от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стабилността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на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човешката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ръка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и за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това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се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използват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когато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не е нужно да е перфектно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изображението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.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Ако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се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сканират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големи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листове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се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снимат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на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няколко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пъти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и се “залепят’’ с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графичен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редактор.​</a:t>
            </a:r>
            <a:endParaRPr lang="bg-BG" dirty="0"/>
          </a:p>
        </p:txBody>
      </p:sp>
      <p:pic>
        <p:nvPicPr>
          <p:cNvPr id="13314" name="Picture 2" descr="Ръчен линеен баркод скенер LI2208 - BCS Bulgaria - Баркод Системи България  ООД">
            <a:extLst>
              <a:ext uri="{FF2B5EF4-FFF2-40B4-BE49-F238E27FC236}">
                <a16:creationId xmlns:a16="http://schemas.microsoft.com/office/drawing/2014/main" xmlns="" id="{2C4C9599-CC0C-4969-A1B0-B198A8A6BA0A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333" b="89778" l="9778" r="89778">
                        <a14:foregroundMark x1="41333" y1="9333" x2="41333" y2="9333"/>
                        <a14:foregroundMark x1="40889" y1="88444" x2="40889" y2="88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931" y="1997243"/>
            <a:ext cx="3451852" cy="3451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xmlns="" id="{A4CA1D8C-88B3-4FAC-9900-5547BE18E9AA}"/>
              </a:ext>
            </a:extLst>
          </p:cNvPr>
          <p:cNvSpPr txBox="1"/>
          <p:nvPr/>
        </p:nvSpPr>
        <p:spPr>
          <a:xfrm>
            <a:off x="425116" y="457201"/>
            <a:ext cx="75774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3200" dirty="0"/>
              <a:t>3.6 ПО КОНСТРУКТИВНО ИЗПЪЛНЕНИЕ</a:t>
            </a:r>
          </a:p>
        </p:txBody>
      </p:sp>
    </p:spTree>
    <p:extLst>
      <p:ext uri="{BB962C8B-B14F-4D97-AF65-F5344CB8AC3E}">
        <p14:creationId xmlns:p14="http://schemas.microsoft.com/office/powerpoint/2010/main" val="36576024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xmlns="" id="{EDDDE8DE-06B5-4A70-88B9-D7E526225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2926" y="874295"/>
            <a:ext cx="5589053" cy="970547"/>
          </a:xfrm>
        </p:spPr>
        <p:txBody>
          <a:bodyPr/>
          <a:lstStyle/>
          <a:p>
            <a:r>
              <a:rPr lang="bg-BG" dirty="0"/>
              <a:t>*БАРАБАНИ</a:t>
            </a:r>
          </a:p>
          <a:p>
            <a:endParaRPr lang="bg-BG" dirty="0"/>
          </a:p>
        </p:txBody>
      </p:sp>
      <p:sp>
        <p:nvSpPr>
          <p:cNvPr id="4" name="Контейнер за съдържание 3">
            <a:extLst>
              <a:ext uri="{FF2B5EF4-FFF2-40B4-BE49-F238E27FC236}">
                <a16:creationId xmlns:a16="http://schemas.microsoft.com/office/drawing/2014/main" xmlns="" id="{14F60D0B-2839-4286-8EAF-702DE63335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2926" y="1620253"/>
            <a:ext cx="5589053" cy="4269846"/>
          </a:xfrm>
        </p:spPr>
        <p:txBody>
          <a:bodyPr>
            <a:normAutofit/>
          </a:bodyPr>
          <a:lstStyle/>
          <a:p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При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тях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оригиналът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се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монтира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върху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барабан. При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едновременно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линейно движение на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оптичен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сензор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и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въртене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на барабана се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снема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информация за цвета и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оптичната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плътност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на всяка точка от оригинала.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Копието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е с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изключително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качество и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висока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цена,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затова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се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използват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в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професионалната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издателска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дейност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.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Последните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години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не се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използва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много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защото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вместо да се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минава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през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цялата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тази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операция,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оригиналът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се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снима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с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професионален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фотоапарат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.​</a:t>
            </a:r>
            <a:endParaRPr lang="bg-BG" dirty="0"/>
          </a:p>
        </p:txBody>
      </p:sp>
      <p:pic>
        <p:nvPicPr>
          <p:cNvPr id="14338" name="Picture 2" descr="Класификация на скенерите::.">
            <a:extLst>
              <a:ext uri="{FF2B5EF4-FFF2-40B4-BE49-F238E27FC236}">
                <a16:creationId xmlns:a16="http://schemas.microsoft.com/office/drawing/2014/main" xmlns="" id="{5C43F1D2-BA7E-4434-814F-44790B3BC46A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483" b="95025" l="2000" r="95600">
                        <a14:foregroundMark x1="22000" y1="22886" x2="22000" y2="22886"/>
                        <a14:foregroundMark x1="18800" y1="15920" x2="18800" y2="15920"/>
                        <a14:foregroundMark x1="6400" y1="11443" x2="6400" y2="11443"/>
                        <a14:foregroundMark x1="14000" y1="9950" x2="14000" y2="9950"/>
                        <a14:foregroundMark x1="20800" y1="8955" x2="20800" y2="8955"/>
                        <a14:foregroundMark x1="26800" y1="7960" x2="27600" y2="7960"/>
                        <a14:foregroundMark x1="35600" y1="7960" x2="35600" y2="7960"/>
                        <a14:foregroundMark x1="55600" y1="8955" x2="56800" y2="8458"/>
                        <a14:foregroundMark x1="74000" y1="9950" x2="74000" y2="9950"/>
                        <a14:foregroundMark x1="78400" y1="8955" x2="78400" y2="8955"/>
                        <a14:foregroundMark x1="79600" y1="11940" x2="79600" y2="11940"/>
                        <a14:foregroundMark x1="79600" y1="11940" x2="79600" y2="11940"/>
                        <a14:foregroundMark x1="79600" y1="11940" x2="80000" y2="14428"/>
                        <a14:foregroundMark x1="82000" y1="18408" x2="82000" y2="18408"/>
                        <a14:foregroundMark x1="82000" y1="18408" x2="82000" y2="18408"/>
                        <a14:foregroundMark x1="85200" y1="20398" x2="85200" y2="20398"/>
                        <a14:foregroundMark x1="78400" y1="25871" x2="78400" y2="25871"/>
                        <a14:foregroundMark x1="81600" y1="27861" x2="81600" y2="27861"/>
                        <a14:foregroundMark x1="87600" y1="28856" x2="87600" y2="28856"/>
                        <a14:foregroundMark x1="90800" y1="16418" x2="90800" y2="16418"/>
                        <a14:foregroundMark x1="90800" y1="23881" x2="90800" y2="23881"/>
                        <a14:foregroundMark x1="94800" y1="21891" x2="94800" y2="21891"/>
                        <a14:foregroundMark x1="95600" y1="16915" x2="95600" y2="16915"/>
                        <a14:foregroundMark x1="92400" y1="12935" x2="92400" y2="12935"/>
                        <a14:foregroundMark x1="91600" y1="10448" x2="91600" y2="10448"/>
                        <a14:foregroundMark x1="83600" y1="3980" x2="83600" y2="3980"/>
                        <a14:foregroundMark x1="83600" y1="3980" x2="83600" y2="3980"/>
                        <a14:foregroundMark x1="14000" y1="14428" x2="14000" y2="14428"/>
                        <a14:foregroundMark x1="7200" y1="18408" x2="7200" y2="18408"/>
                        <a14:foregroundMark x1="9600" y1="33831" x2="9600" y2="33831"/>
                        <a14:foregroundMark x1="10000" y1="33831" x2="10000" y2="33831"/>
                        <a14:foregroundMark x1="13200" y1="49254" x2="13200" y2="49254"/>
                        <a14:foregroundMark x1="13200" y1="50746" x2="13200" y2="50746"/>
                        <a14:foregroundMark x1="13200" y1="50746" x2="13200" y2="50746"/>
                        <a14:foregroundMark x1="13600" y1="59204" x2="13600" y2="59204"/>
                        <a14:foregroundMark x1="12400" y1="62189" x2="18000" y2="49751"/>
                        <a14:foregroundMark x1="14400" y1="71642" x2="36000" y2="83085"/>
                        <a14:foregroundMark x1="20800" y1="94030" x2="36400" y2="95522"/>
                        <a14:foregroundMark x1="2000" y1="13433" x2="4000" y2="18905"/>
                        <a14:backgroundMark x1="36400" y1="95522" x2="36400" y2="95522"/>
                        <a14:backgroundMark x1="35600" y1="96020" x2="35600" y2="96020"/>
                        <a14:backgroundMark x1="34800" y1="95522" x2="34800" y2="95522"/>
                        <a14:backgroundMark x1="35600" y1="95522" x2="35600" y2="95522"/>
                        <a14:backgroundMark x1="34000" y1="96020" x2="34000" y2="9602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6679" y="2133601"/>
            <a:ext cx="3981585" cy="3201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xmlns="" id="{2A27C7AB-5AE6-4282-A734-03A4B3099873}"/>
              </a:ext>
            </a:extLst>
          </p:cNvPr>
          <p:cNvSpPr txBox="1"/>
          <p:nvPr/>
        </p:nvSpPr>
        <p:spPr>
          <a:xfrm>
            <a:off x="352926" y="289520"/>
            <a:ext cx="75774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3200" dirty="0"/>
              <a:t>3.6 ПО КОНСТРУКТИВНО ИЗПЪЛНЕНИЕ</a:t>
            </a:r>
          </a:p>
        </p:txBody>
      </p:sp>
    </p:spTree>
    <p:extLst>
      <p:ext uri="{BB962C8B-B14F-4D97-AF65-F5344CB8AC3E}">
        <p14:creationId xmlns:p14="http://schemas.microsoft.com/office/powerpoint/2010/main" val="10775826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xmlns="" id="{ECEBAE5F-E142-4C1E-AD8E-EBB8CA905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9441" y="1050758"/>
            <a:ext cx="4798980" cy="844173"/>
          </a:xfrm>
        </p:spPr>
        <p:txBody>
          <a:bodyPr/>
          <a:lstStyle/>
          <a:p>
            <a:r>
              <a:rPr lang="bg-BG" dirty="0"/>
              <a:t>*ПЛОСКИ </a:t>
            </a:r>
          </a:p>
          <a:p>
            <a:endParaRPr lang="bg-BG" dirty="0"/>
          </a:p>
        </p:txBody>
      </p:sp>
      <p:sp>
        <p:nvSpPr>
          <p:cNvPr id="4" name="Контейнер за съдържание 3">
            <a:extLst>
              <a:ext uri="{FF2B5EF4-FFF2-40B4-BE49-F238E27FC236}">
                <a16:creationId xmlns:a16="http://schemas.microsoft.com/office/drawing/2014/main" xmlns="" id="{212EEE5F-A8D1-4C99-A184-C7CF75B41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9441" y="1548063"/>
            <a:ext cx="5392538" cy="4342037"/>
          </a:xfrm>
        </p:spPr>
        <p:txBody>
          <a:bodyPr>
            <a:normAutofit/>
          </a:bodyPr>
          <a:lstStyle/>
          <a:p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Плоските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(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легенчеви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)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са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най-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разпространените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в момента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скенери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. Те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наподобяват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копирни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апарати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.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Документът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,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който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ще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се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сканира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се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поставя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върху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плоска равнина и се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затиска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с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капака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на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скенера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, за да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прилепне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възможно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най-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плътно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към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работната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повърхност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.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Това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е необходимо, за да се получи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оптично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вярно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копие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без деформации.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Недостатък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е че трудно се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снимат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дебели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 книги и </a:t>
            </a:r>
            <a:r>
              <a:rPr lang="ru-RU" b="0" i="0" dirty="0" err="1">
                <a:solidFill>
                  <a:srgbClr val="DCDDDE"/>
                </a:solidFill>
                <a:effectLst/>
                <a:latin typeface="Whitney"/>
              </a:rPr>
              <a:t>документи</a:t>
            </a:r>
            <a:r>
              <a:rPr lang="ru-RU" b="0" i="0" dirty="0">
                <a:solidFill>
                  <a:srgbClr val="DCDDDE"/>
                </a:solidFill>
                <a:effectLst/>
                <a:latin typeface="Whitney"/>
              </a:rPr>
              <a:t>.​</a:t>
            </a:r>
            <a:endParaRPr lang="bg-BG" dirty="0"/>
          </a:p>
        </p:txBody>
      </p:sp>
      <p:pic>
        <p:nvPicPr>
          <p:cNvPr id="15362" name="Picture 2" descr="Плосък скенер за документи Canon CanoScan LiDE 220 • 30233 ⋙ Цена | Plasico  IT Superstore">
            <a:extLst>
              <a:ext uri="{FF2B5EF4-FFF2-40B4-BE49-F238E27FC236}">
                <a16:creationId xmlns:a16="http://schemas.microsoft.com/office/drawing/2014/main" xmlns="" id="{2FFEBBDE-581D-49BB-978B-CC60B145F554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3642" l="3093" r="98625">
                        <a14:foregroundMark x1="29553" y1="31792" x2="29553" y2="31792"/>
                        <a14:foregroundMark x1="29553" y1="31792" x2="39175" y2="43931"/>
                        <a14:foregroundMark x1="39175" y1="43931" x2="52921" y2="52601"/>
                        <a14:foregroundMark x1="52921" y1="52601" x2="53265" y2="52601"/>
                        <a14:foregroundMark x1="50515" y1="20231" x2="75601" y2="54913"/>
                        <a14:foregroundMark x1="81443" y1="7514" x2="94845" y2="82659"/>
                        <a14:foregroundMark x1="70447" y1="15029" x2="33677" y2="13873"/>
                        <a14:foregroundMark x1="18557" y1="10405" x2="16151" y2="57803"/>
                        <a14:foregroundMark x1="32302" y1="2312" x2="32302" y2="2312"/>
                        <a14:foregroundMark x1="30928" y1="2312" x2="30928" y2="2312"/>
                        <a14:foregroundMark x1="3093" y1="72254" x2="3093" y2="72254"/>
                        <a14:foregroundMark x1="4467" y1="82659" x2="4467" y2="82659"/>
                        <a14:foregroundMark x1="6186" y1="85549" x2="6186" y2="85549"/>
                        <a14:foregroundMark x1="9966" y1="88439" x2="9966" y2="88439"/>
                        <a14:foregroundMark x1="10997" y1="88439" x2="12371" y2="89017"/>
                        <a14:foregroundMark x1="13058" y1="89595" x2="14777" y2="90751"/>
                        <a14:foregroundMark x1="15464" y1="91329" x2="15464" y2="91329"/>
                        <a14:foregroundMark x1="19244" y1="93642" x2="19244" y2="93642"/>
                        <a14:foregroundMark x1="30584" y1="89595" x2="30584" y2="89595"/>
                        <a14:foregroundMark x1="47423" y1="92486" x2="47423" y2="92486"/>
                        <a14:foregroundMark x1="69072" y1="91908" x2="69072" y2="91908"/>
                        <a14:foregroundMark x1="98625" y1="79769" x2="98625" y2="797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6463" y="2353601"/>
            <a:ext cx="4593696" cy="2730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xmlns="" id="{B4506BC3-E409-4DAE-816B-7FFFECCE9AD7}"/>
              </a:ext>
            </a:extLst>
          </p:cNvPr>
          <p:cNvSpPr txBox="1"/>
          <p:nvPr/>
        </p:nvSpPr>
        <p:spPr>
          <a:xfrm>
            <a:off x="549441" y="383125"/>
            <a:ext cx="75774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3200" dirty="0"/>
              <a:t>3.6 ПО КОНСТРУКТИВНО ИЗПЪЛНЕНИЕ</a:t>
            </a:r>
          </a:p>
        </p:txBody>
      </p:sp>
    </p:spTree>
    <p:extLst>
      <p:ext uri="{BB962C8B-B14F-4D97-AF65-F5344CB8AC3E}">
        <p14:creationId xmlns:p14="http://schemas.microsoft.com/office/powerpoint/2010/main" val="2986915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reeform: Shape 70">
            <a:extLst>
              <a:ext uri="{FF2B5EF4-FFF2-40B4-BE49-F238E27FC236}">
                <a16:creationId xmlns:a16="http://schemas.microsoft.com/office/drawing/2014/main" xmlns="" id="{91C2F78B-DEE8-4195-A196-DFC51BDADFF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749268" y="4070878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xmlns="" id="{A1D79D08-4BE8-4799-BE09-5078DFEE22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0" y="0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xmlns="" id="{C95D65A1-16CB-407F-993F-2A6D59BCC0C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xmlns="" id="{685B57F6-59DE-4274-A37C-F47FE4E42EE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xmlns="" id="{C8C63406-9171-4282-BAAB-2DDC6831F0E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73870" y="-2"/>
            <a:ext cx="8239927" cy="6858000"/>
          </a:xfrm>
          <a:custGeom>
            <a:avLst/>
            <a:gdLst>
              <a:gd name="connsiteX0" fmla="*/ 6010593 w 8239927"/>
              <a:gd name="connsiteY0" fmla="*/ 0 h 6858000"/>
              <a:gd name="connsiteX1" fmla="*/ 8239927 w 8239927"/>
              <a:gd name="connsiteY1" fmla="*/ 0 h 6858000"/>
              <a:gd name="connsiteX2" fmla="*/ 2229335 w 8239927"/>
              <a:gd name="connsiteY2" fmla="*/ 6858000 h 6858000"/>
              <a:gd name="connsiteX3" fmla="*/ 0 w 823992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9927" h="6858000">
                <a:moveTo>
                  <a:pt x="6010593" y="0"/>
                </a:moveTo>
                <a:lnTo>
                  <a:pt x="8239927" y="0"/>
                </a:lnTo>
                <a:lnTo>
                  <a:pt x="22293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7EF85547-CF57-46B2-A30E-D6F16EC95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872937"/>
            <a:ext cx="5920740" cy="136089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3.7 ИНТЕРФЕЙСИ ЗА СКЕНЕРИ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3987BFEC-8457-46B7-9460-55996A718C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0" y="2332028"/>
            <a:ext cx="3769468" cy="384017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dirty="0"/>
              <a:t>-RS-232-C</a:t>
            </a:r>
          </a:p>
          <a:p>
            <a:pPr marL="0" indent="0">
              <a:buNone/>
            </a:pPr>
            <a:r>
              <a:rPr lang="en-US" dirty="0"/>
              <a:t>-USB</a:t>
            </a:r>
          </a:p>
          <a:p>
            <a:pPr marL="0" indent="0">
              <a:buNone/>
            </a:pPr>
            <a:r>
              <a:rPr lang="en-US" dirty="0"/>
              <a:t>-IEEE 1394</a:t>
            </a:r>
          </a:p>
        </p:txBody>
      </p:sp>
      <p:pic>
        <p:nvPicPr>
          <p:cNvPr id="3074" name="Picture 2" descr="Скенер Mustek S 2400 Plus, А3, 7сек., 2400 x 2400, USB2.0">
            <a:extLst>
              <a:ext uri="{FF2B5EF4-FFF2-40B4-BE49-F238E27FC236}">
                <a16:creationId xmlns:a16="http://schemas.microsoft.com/office/drawing/2014/main" xmlns="" id="{12A7A030-49B4-4766-B241-57BEC4DEBA5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556" b="89778" l="9778" r="89778">
                        <a14:foregroundMark x1="16444" y1="7556" x2="16444" y2="75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778"/>
          <a:stretch/>
        </p:blipFill>
        <p:spPr bwMode="auto">
          <a:xfrm>
            <a:off x="5435599" y="10"/>
            <a:ext cx="6756401" cy="6857990"/>
          </a:xfrm>
          <a:custGeom>
            <a:avLst/>
            <a:gdLst/>
            <a:ahLst/>
            <a:cxnLst/>
            <a:rect l="l" t="t" r="r" b="b"/>
            <a:pathLst>
              <a:path w="6911808" h="6858000">
                <a:moveTo>
                  <a:pt x="6001291" y="0"/>
                </a:moveTo>
                <a:lnTo>
                  <a:pt x="6010593" y="0"/>
                </a:lnTo>
                <a:lnTo>
                  <a:pt x="6911808" y="0"/>
                </a:lnTo>
                <a:lnTo>
                  <a:pt x="6911808" y="6858000"/>
                </a:lnTo>
                <a:lnTo>
                  <a:pt x="6094479" y="6858000"/>
                </a:lnTo>
                <a:lnTo>
                  <a:pt x="6001291" y="6858000"/>
                </a:lnTo>
                <a:lnTo>
                  <a:pt x="2229335" y="6858000"/>
                </a:lnTo>
                <a:lnTo>
                  <a:pt x="1633138" y="6858000"/>
                </a:lnTo>
                <a:lnTo>
                  <a:pt x="0" y="6858000"/>
                </a:lnTo>
                <a:lnTo>
                  <a:pt x="6001291" y="10614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96687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B13C86ED-E065-44A0-A907-BAF1638A8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/>
              <a:t>ИЗТОЧНИЦИ </a:t>
            </a:r>
            <a:br>
              <a:rPr lang="bg-BG" sz="3200" dirty="0"/>
            </a:br>
            <a:endParaRPr lang="bg-BG" sz="3200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B700CFF5-4370-43A7-852C-B2ECB44E9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bg-BG" dirty="0"/>
              <a:t>Записки по „Компютърни системи“ от 9 клас</a:t>
            </a:r>
          </a:p>
          <a:p>
            <a:r>
              <a:rPr lang="bg-BG" dirty="0"/>
              <a:t>Презентация за „Входни периферни устройства“</a:t>
            </a:r>
          </a:p>
          <a:p>
            <a:r>
              <a:rPr lang="en-US" dirty="0">
                <a:hlinkClick r:id="rId2"/>
              </a:rPr>
              <a:t>https://sites.google.com/site/thehighflyers/sceners?tmpl=%2Fsystem%2Fapp%2Ftemplates%2Fprint%2F&amp;showPrintDialog=1</a:t>
            </a:r>
            <a:endParaRPr lang="bg-BG" dirty="0"/>
          </a:p>
          <a:p>
            <a:r>
              <a:rPr lang="en-US" b="0" i="0" u="sng" strike="noStrike" dirty="0">
                <a:solidFill>
                  <a:srgbClr val="828282"/>
                </a:solidFill>
                <a:effectLst/>
                <a:latin typeface="Times New Roman" panose="02020603050405020304" pitchFamily="18" charset="0"/>
                <a:hlinkClick r:id="rId3"/>
              </a:rPr>
              <a:t>https://tech-fairy.com/what-is-the-meaning-of-the-different-usb-port-colors-blue-teal-blue-yellow-red-black/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bg-BG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endParaRPr lang="bg-BG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bg-BG" dirty="0"/>
              <a:t>                                                                                                                                 Калоян Рео </a:t>
            </a:r>
            <a:r>
              <a:rPr lang="en-US" dirty="0"/>
              <a:t>N12</a:t>
            </a:r>
            <a:r>
              <a:rPr lang="bg-BG" dirty="0"/>
              <a:t> 9г 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0332440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12FB0A7B-22BD-484F-86CF-C7358A04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390" y="272717"/>
            <a:ext cx="10519610" cy="1403684"/>
          </a:xfrm>
        </p:spPr>
        <p:txBody>
          <a:bodyPr>
            <a:normAutofit/>
          </a:bodyPr>
          <a:lstStyle/>
          <a:p>
            <a:r>
              <a:rPr lang="bg-BG" sz="3200"/>
              <a:t>Тест</a:t>
            </a:r>
            <a:endParaRPr lang="bg-BG" sz="3200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3FE6B350-A583-4630-A05D-34E7E7FB7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390" y="1604211"/>
            <a:ext cx="10519610" cy="4451684"/>
          </a:xfrm>
        </p:spPr>
        <p:txBody>
          <a:bodyPr>
            <a:normAutofit fontScale="92500" lnSpcReduction="20000"/>
          </a:bodyPr>
          <a:lstStyle/>
          <a:p>
            <a:r>
              <a:rPr lang="bg-BG" sz="2200" dirty="0"/>
              <a:t>1. Колко волта захранване ползват клавиатурите?</a:t>
            </a:r>
          </a:p>
          <a:p>
            <a:r>
              <a:rPr lang="bg-BG" sz="2200" dirty="0"/>
              <a:t>2.От колко части е изградена клавиатурата?</a:t>
            </a:r>
          </a:p>
          <a:p>
            <a:r>
              <a:rPr lang="bg-BG" sz="2200" dirty="0"/>
              <a:t>3. В колко режима на работа работят клавиатурите?</a:t>
            </a:r>
          </a:p>
          <a:p>
            <a:r>
              <a:rPr lang="bg-BG" sz="2200" dirty="0"/>
              <a:t>4.За какво първоначално е добавена мишката?</a:t>
            </a:r>
          </a:p>
          <a:p>
            <a:r>
              <a:rPr lang="bg-BG" sz="2200" dirty="0"/>
              <a:t>5.Колко видове мишки спрямо конструкцията има?</a:t>
            </a:r>
          </a:p>
          <a:p>
            <a:r>
              <a:rPr lang="bg-BG" sz="2200" dirty="0"/>
              <a:t>6.Колко видове мишки спрямо принципа на действие?</a:t>
            </a:r>
          </a:p>
          <a:p>
            <a:r>
              <a:rPr lang="bg-BG" sz="2200" dirty="0"/>
              <a:t>7.Каква е разликата между лазерната и оптичната мишка?</a:t>
            </a:r>
          </a:p>
          <a:p>
            <a:r>
              <a:rPr lang="bg-BG" sz="2200" dirty="0"/>
              <a:t>8. Колко вида скенери има?</a:t>
            </a:r>
          </a:p>
          <a:p>
            <a:r>
              <a:rPr lang="bg-BG" sz="2200" dirty="0"/>
              <a:t>9.Колко вида матрици за скенери има? </a:t>
            </a:r>
          </a:p>
          <a:p>
            <a:r>
              <a:rPr lang="bg-BG" sz="2200" dirty="0"/>
              <a:t>10.</a:t>
            </a:r>
            <a:r>
              <a:rPr lang="en-US" sz="2200" dirty="0"/>
              <a:t> </a:t>
            </a:r>
            <a:r>
              <a:rPr lang="bg-BG" sz="2200" dirty="0"/>
              <a:t>Какво е другото наименование на плоските </a:t>
            </a:r>
            <a:r>
              <a:rPr lang="bg-BG" sz="2200" dirty="0" err="1"/>
              <a:t>скененри</a:t>
            </a:r>
            <a:r>
              <a:rPr lang="bg-BG" sz="2200" dirty="0"/>
              <a:t>?</a:t>
            </a:r>
          </a:p>
          <a:p>
            <a:pPr marL="0" indent="0">
              <a:buNone/>
            </a:pPr>
            <a:endParaRPr lang="bg-BG" sz="2200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6568296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135FCB1F-F89A-4000-A954-8908FDC3F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278407"/>
            <a:ext cx="9905999" cy="1360898"/>
          </a:xfrm>
        </p:spPr>
        <p:txBody>
          <a:bodyPr>
            <a:normAutofit/>
          </a:bodyPr>
          <a:lstStyle/>
          <a:p>
            <a:r>
              <a:rPr lang="bg-BG" sz="3200" dirty="0"/>
              <a:t>Отговори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5E076471-19F7-4D93-8D03-C4F5996B4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242" y="1796716"/>
            <a:ext cx="11189369" cy="4331368"/>
          </a:xfrm>
        </p:spPr>
        <p:txBody>
          <a:bodyPr>
            <a:noAutofit/>
          </a:bodyPr>
          <a:lstStyle/>
          <a:p>
            <a:r>
              <a:rPr lang="bg-BG" sz="1600" dirty="0"/>
              <a:t>1. Използват захранване от 5</a:t>
            </a:r>
            <a:r>
              <a:rPr lang="en-US" sz="1600" dirty="0"/>
              <a:t>V.</a:t>
            </a:r>
            <a:endParaRPr lang="bg-BG" sz="1600" dirty="0"/>
          </a:p>
          <a:p>
            <a:r>
              <a:rPr lang="bg-BG" sz="1600" dirty="0"/>
              <a:t>2.</a:t>
            </a:r>
            <a:r>
              <a:rPr lang="en-US" sz="1600" dirty="0"/>
              <a:t> </a:t>
            </a:r>
            <a:r>
              <a:rPr lang="bg-BG" sz="1600" dirty="0"/>
              <a:t>От четири: ф</a:t>
            </a:r>
            <a:r>
              <a:rPr lang="en-US" sz="1600" b="0" i="0" u="none" strike="noStrike" dirty="0" err="1">
                <a:effectLst/>
              </a:rPr>
              <a:t>ункционална</a:t>
            </a:r>
            <a:r>
              <a:rPr lang="en-US" sz="1600" b="0" i="0" u="none" strike="noStrike" dirty="0">
                <a:effectLst/>
              </a:rPr>
              <a:t> </a:t>
            </a:r>
            <a:r>
              <a:rPr lang="en-US" sz="1600" b="0" i="0" u="none" strike="noStrike" dirty="0" err="1">
                <a:effectLst/>
              </a:rPr>
              <a:t>част</a:t>
            </a:r>
            <a:r>
              <a:rPr lang="bg-BG" sz="1600" b="0" i="0" u="none" strike="noStrike" dirty="0">
                <a:effectLst/>
              </a:rPr>
              <a:t>, </a:t>
            </a:r>
            <a:r>
              <a:rPr lang="bg-BG" sz="1600" dirty="0"/>
              <a:t>с</a:t>
            </a:r>
            <a:r>
              <a:rPr lang="en-US" sz="1600" b="0" i="0" u="none" strike="noStrike" dirty="0" err="1">
                <a:effectLst/>
              </a:rPr>
              <a:t>имволна</a:t>
            </a:r>
            <a:r>
              <a:rPr lang="en-US" sz="1600" b="0" i="0" u="none" strike="noStrike" dirty="0">
                <a:effectLst/>
              </a:rPr>
              <a:t> </a:t>
            </a:r>
            <a:r>
              <a:rPr lang="en-US" sz="1600" b="0" i="0" u="none" strike="noStrike" dirty="0" err="1">
                <a:effectLst/>
              </a:rPr>
              <a:t>част</a:t>
            </a:r>
            <a:r>
              <a:rPr lang="bg-BG" sz="1600" b="0" i="0" u="none" strike="noStrike" dirty="0">
                <a:effectLst/>
              </a:rPr>
              <a:t>, </a:t>
            </a:r>
            <a:r>
              <a:rPr lang="bg-BG" sz="1600" dirty="0"/>
              <a:t>н</a:t>
            </a:r>
            <a:r>
              <a:rPr lang="en-US" sz="1600" b="0" i="0" u="none" strike="noStrike" dirty="0" err="1">
                <a:effectLst/>
              </a:rPr>
              <a:t>авигационна</a:t>
            </a:r>
            <a:r>
              <a:rPr lang="en-US" sz="1600" b="0" i="0" u="none" strike="noStrike" dirty="0">
                <a:effectLst/>
              </a:rPr>
              <a:t> </a:t>
            </a:r>
            <a:r>
              <a:rPr lang="en-US" sz="1600" b="0" i="0" u="none" strike="noStrike" dirty="0" err="1">
                <a:effectLst/>
              </a:rPr>
              <a:t>част</a:t>
            </a:r>
            <a:r>
              <a:rPr lang="bg-BG" sz="1600" dirty="0"/>
              <a:t> и цифрова част.</a:t>
            </a:r>
          </a:p>
          <a:p>
            <a:r>
              <a:rPr lang="bg-BG" sz="1600" dirty="0"/>
              <a:t>3. </a:t>
            </a:r>
            <a:r>
              <a:rPr lang="en-US" sz="1600" b="0" i="0" u="none" strike="noStrike" dirty="0">
                <a:effectLst/>
              </a:rPr>
              <a:t> </a:t>
            </a:r>
            <a:r>
              <a:rPr lang="bg-BG" sz="1600" b="0" i="0" u="none" strike="noStrike" dirty="0">
                <a:effectLst/>
              </a:rPr>
              <a:t>В два режима, при натиснат и отпуснат клавиш.</a:t>
            </a:r>
            <a:endParaRPr lang="bg-BG" sz="1600" dirty="0"/>
          </a:p>
          <a:p>
            <a:r>
              <a:rPr lang="bg-BG" sz="1600" dirty="0"/>
              <a:t>4. За удобство на потребителя. </a:t>
            </a:r>
          </a:p>
          <a:p>
            <a:r>
              <a:rPr lang="bg-BG" sz="1600" dirty="0"/>
              <a:t>5. Има четири вида: с </a:t>
            </a:r>
            <a:r>
              <a:rPr lang="bg-BG" sz="1600" dirty="0" err="1"/>
              <a:t>каручков</a:t>
            </a:r>
            <a:r>
              <a:rPr lang="bg-BG" sz="1600" dirty="0"/>
              <a:t> механизъм, с два бутона, с три бутона и с два бутона и </a:t>
            </a:r>
            <a:r>
              <a:rPr lang="bg-BG" sz="1600" dirty="0" err="1"/>
              <a:t>скрол</a:t>
            </a:r>
            <a:r>
              <a:rPr lang="bg-BG" sz="1600" dirty="0"/>
              <a:t>.</a:t>
            </a:r>
          </a:p>
          <a:p>
            <a:r>
              <a:rPr lang="bg-BG" sz="1600" dirty="0"/>
              <a:t>6. Има три вида: механична, оптична и лазерна мишка.</a:t>
            </a:r>
          </a:p>
          <a:p>
            <a:r>
              <a:rPr lang="bg-BG" sz="1600" dirty="0"/>
              <a:t>7. Че при лазерната се </a:t>
            </a:r>
            <a:r>
              <a:rPr lang="ru-RU" sz="1600" b="0" i="0" u="none" strike="noStrike" dirty="0" err="1">
                <a:effectLst/>
                <a:latin typeface="Times New Roman" panose="02020603050405020304" pitchFamily="18" charset="0"/>
              </a:rPr>
              <a:t>използва</a:t>
            </a:r>
            <a:r>
              <a:rPr lang="ru-RU" sz="1600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sz="1600" b="0" i="0" u="none" strike="noStrike" dirty="0" err="1">
                <a:effectLst/>
                <a:latin typeface="Times New Roman" panose="02020603050405020304" pitchFamily="18" charset="0"/>
              </a:rPr>
              <a:t>малък</a:t>
            </a:r>
            <a:r>
              <a:rPr lang="ru-RU" sz="1600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sz="1600" b="0" i="0" u="none" strike="noStrike" dirty="0" err="1">
                <a:effectLst/>
                <a:latin typeface="Times New Roman" panose="02020603050405020304" pitchFamily="18" charset="0"/>
              </a:rPr>
              <a:t>инфрачервен</a:t>
            </a:r>
            <a:r>
              <a:rPr lang="ru-RU" sz="1600" b="0" i="0" u="none" strike="noStrike" dirty="0">
                <a:effectLst/>
                <a:latin typeface="Times New Roman" panose="02020603050405020304" pitchFamily="18" charset="0"/>
              </a:rPr>
              <a:t> лазер, а не </a:t>
            </a:r>
            <a:r>
              <a:rPr lang="ru-RU" sz="1600" b="0" i="0" u="none" strike="noStrike" dirty="0" err="1">
                <a:effectLst/>
                <a:latin typeface="Times New Roman" panose="02020603050405020304" pitchFamily="18" charset="0"/>
              </a:rPr>
              <a:t>като</a:t>
            </a:r>
            <a:r>
              <a:rPr lang="ru-RU" sz="1600" b="0" i="0" u="none" strike="noStrike" dirty="0">
                <a:effectLst/>
                <a:latin typeface="Times New Roman" panose="02020603050405020304" pitchFamily="18" charset="0"/>
              </a:rPr>
              <a:t> при </a:t>
            </a:r>
            <a:r>
              <a:rPr lang="ru-RU" sz="1600" b="0" i="0" u="none" strike="noStrike" dirty="0" err="1">
                <a:effectLst/>
                <a:latin typeface="Times New Roman" panose="02020603050405020304" pitchFamily="18" charset="0"/>
              </a:rPr>
              <a:t>оптичната</a:t>
            </a:r>
            <a:r>
              <a:rPr lang="ru-RU" sz="1600" b="0" i="0" u="none" strike="noStrike" dirty="0">
                <a:effectLst/>
                <a:latin typeface="Times New Roman" panose="02020603050405020304" pitchFamily="18" charset="0"/>
              </a:rPr>
              <a:t> светодиоде</a:t>
            </a:r>
            <a:r>
              <a:rPr lang="ru-RU" sz="1600" dirty="0">
                <a:latin typeface="Times New Roman" panose="02020603050405020304" pitchFamily="18" charset="0"/>
              </a:rPr>
              <a:t> или </a:t>
            </a:r>
            <a:r>
              <a:rPr lang="ru-RU" sz="1600" dirty="0" err="1">
                <a:latin typeface="Times New Roman" panose="02020603050405020304" pitchFamily="18" charset="0"/>
              </a:rPr>
              <a:t>фотодиоди</a:t>
            </a:r>
            <a:r>
              <a:rPr lang="ru-RU" sz="1600" dirty="0">
                <a:latin typeface="Times New Roman" panose="02020603050405020304" pitchFamily="18" charset="0"/>
              </a:rPr>
              <a:t>.</a:t>
            </a:r>
            <a:endParaRPr lang="bg-BG" sz="1600" dirty="0"/>
          </a:p>
          <a:p>
            <a:r>
              <a:rPr lang="bg-BG" sz="1600" dirty="0"/>
              <a:t>8.  Има три вида: ръчни, </a:t>
            </a:r>
            <a:r>
              <a:rPr lang="bg-BG" sz="1600" dirty="0" err="1"/>
              <a:t>барабанови</a:t>
            </a:r>
            <a:r>
              <a:rPr lang="bg-BG" sz="1600" dirty="0"/>
              <a:t> и плоски.</a:t>
            </a:r>
          </a:p>
          <a:p>
            <a:r>
              <a:rPr lang="bg-BG" sz="1600" dirty="0"/>
              <a:t>9. Има два вида: </a:t>
            </a:r>
            <a:r>
              <a:rPr lang="en-US" sz="1600" dirty="0"/>
              <a:t>CCD </a:t>
            </a:r>
            <a:r>
              <a:rPr lang="bg-BG" sz="1600" dirty="0"/>
              <a:t>и </a:t>
            </a:r>
            <a:r>
              <a:rPr lang="en-US" sz="1600" dirty="0"/>
              <a:t>CIS </a:t>
            </a:r>
            <a:r>
              <a:rPr lang="bg-BG" sz="1600" dirty="0"/>
              <a:t>матрица.</a:t>
            </a:r>
          </a:p>
          <a:p>
            <a:r>
              <a:rPr lang="bg-BG" sz="1600" dirty="0"/>
              <a:t>10. </a:t>
            </a:r>
            <a:r>
              <a:rPr lang="bg-BG" sz="1600" dirty="0" err="1"/>
              <a:t>Легенчеви</a:t>
            </a:r>
            <a:r>
              <a:rPr lang="bg-BG" sz="1600" dirty="0"/>
              <a:t> скенери.</a:t>
            </a:r>
          </a:p>
          <a:p>
            <a:endParaRPr lang="bg-BG" sz="1600" dirty="0"/>
          </a:p>
        </p:txBody>
      </p:sp>
    </p:spTree>
    <p:extLst>
      <p:ext uri="{BB962C8B-B14F-4D97-AF65-F5344CB8AC3E}">
        <p14:creationId xmlns:p14="http://schemas.microsoft.com/office/powerpoint/2010/main" val="1400222370"/>
      </p:ext>
    </p:extLst>
  </p:cSld>
  <p:clrMapOvr>
    <a:masterClrMapping/>
  </p:clrMapOvr>
</p:sld>
</file>

<file path=ppt/theme/theme1.xml><?xml version="1.0" encoding="utf-8"?>
<a:theme xmlns:a="http://schemas.openxmlformats.org/drawingml/2006/main" name="RegattaVTI">
  <a:themeElements>
    <a:clrScheme name="AnalogousFromRegularSeedRightStep">
      <a:dk1>
        <a:srgbClr val="000000"/>
      </a:dk1>
      <a:lt1>
        <a:srgbClr val="FFFFFF"/>
      </a:lt1>
      <a:dk2>
        <a:srgbClr val="1F2239"/>
      </a:dk2>
      <a:lt2>
        <a:srgbClr val="E8E4E2"/>
      </a:lt2>
      <a:accent1>
        <a:srgbClr val="29A4E7"/>
      </a:accent1>
      <a:accent2>
        <a:srgbClr val="1743D5"/>
      </a:accent2>
      <a:accent3>
        <a:srgbClr val="4C29E7"/>
      </a:accent3>
      <a:accent4>
        <a:srgbClr val="8917D5"/>
      </a:accent4>
      <a:accent5>
        <a:srgbClr val="E729E3"/>
      </a:accent5>
      <a:accent6>
        <a:srgbClr val="D51782"/>
      </a:accent6>
      <a:hlink>
        <a:srgbClr val="BF6C3F"/>
      </a:hlink>
      <a:folHlink>
        <a:srgbClr val="7F7F7F"/>
      </a:folHlink>
    </a:clrScheme>
    <a:fontScheme name="Walbaum Display">
      <a:majorFont>
        <a:latin typeface="Walbaum Display"/>
        <a:ea typeface=""/>
        <a:cs typeface=""/>
      </a:majorFont>
      <a:minorFont>
        <a:latin typeface="Walbaum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RegattaVTI" id="{FFC3BCE5-6357-41D1-8E67-3F85B69D7E86}" vid="{893A6374-FE17-48E5-8B62-678C1B11AA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891</Words>
  <Application>Microsoft Office PowerPoint</Application>
  <PresentationFormat>Custom</PresentationFormat>
  <Paragraphs>147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RegattaVTI</vt:lpstr>
      <vt:lpstr>Входни периферни устройства </vt:lpstr>
      <vt:lpstr>                                            Съдържание </vt:lpstr>
      <vt:lpstr>1. ИСТОРИЯ НА КЛАВИАТУРАТА </vt:lpstr>
      <vt:lpstr>1.1 СЪЩНОСТ</vt:lpstr>
      <vt:lpstr>1.2 ЧАСТИ НА КЛАВИАТУРАТА​ </vt:lpstr>
      <vt:lpstr>1.3 РЕЖИМИ НА РАБОТА  </vt:lpstr>
      <vt:lpstr>1.4 ИНТЕРФЕЙСИ ЗА КЛАВЯТУРА</vt:lpstr>
      <vt:lpstr>2. ИСТОРИЯ НА МИШКАТА </vt:lpstr>
      <vt:lpstr>2.1 СЪЩНОСТ</vt:lpstr>
      <vt:lpstr>2.2 ВИДОВЕ МИШКИ СПРЯМО КОНСТРУКЦИЯТА</vt:lpstr>
      <vt:lpstr>2.3 ВИДОВЕ МИШКИ СПЯМО ПРИНЦИПА НА ДЕЙСТВИЕ </vt:lpstr>
      <vt:lpstr>2.3 ВИДОВЕ МИШКИ СПЯМО ПРИНЦИПА НА ДЕЙСТВИЕ </vt:lpstr>
      <vt:lpstr>2.3 ВИДОВЕ МИШКИ СПЯМО ПРИНЦИПА НА ДЕЙСТВИЕ </vt:lpstr>
      <vt:lpstr>2.4 ИНТЕРФЕЙСИ ЗА МИШКИ</vt:lpstr>
      <vt:lpstr>3.ИСТОРИЯ НА СКЕНЕРИТЕ</vt:lpstr>
      <vt:lpstr>3.1 СЪЩНОСТ </vt:lpstr>
      <vt:lpstr>3.2 ПРИНЦП НА ДЕЙСТВИЕ </vt:lpstr>
      <vt:lpstr>3.3 CCD МАТРИЦА  </vt:lpstr>
      <vt:lpstr>3.4 CIS МАТРИЦА  </vt:lpstr>
      <vt:lpstr>3.5 ЕДНОПАЦОВИ И ДВУПАСОВИ СКЕНЕРИ  </vt:lpstr>
      <vt:lpstr>PowerPoint Presentation</vt:lpstr>
      <vt:lpstr>PowerPoint Presentation</vt:lpstr>
      <vt:lpstr>PowerPoint Presentation</vt:lpstr>
      <vt:lpstr>3.7 ИНТЕРФЕЙСИ ЗА СКЕНЕРИ</vt:lpstr>
      <vt:lpstr>ИЗТОЧНИЦИ  </vt:lpstr>
      <vt:lpstr>Тест</vt:lpstr>
      <vt:lpstr>Отговори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Входни периферни устройства</dc:title>
  <dc:creator>Калоян Луи Етиен Рео</dc:creator>
  <cp:lastModifiedBy>PC-0</cp:lastModifiedBy>
  <cp:revision>3</cp:revision>
  <dcterms:created xsi:type="dcterms:W3CDTF">2022-02-13T15:48:01Z</dcterms:created>
  <dcterms:modified xsi:type="dcterms:W3CDTF">2022-11-29T09:51:46Z</dcterms:modified>
</cp:coreProperties>
</file>