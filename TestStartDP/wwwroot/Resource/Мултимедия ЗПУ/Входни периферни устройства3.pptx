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notesMasterIdLst>
    <p:notesMasterId r:id="rId27"/>
  </p:notesMasterIdLst>
  <p:handoutMasterIdLst>
    <p:handoutMasterId r:id="rId28"/>
  </p:handoutMasterIdLst>
  <p:sldIdLst>
    <p:sldId id="295" r:id="rId2"/>
    <p:sldId id="290" r:id="rId3"/>
    <p:sldId id="317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18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C48"/>
    <a:srgbClr val="2C2D39"/>
    <a:srgbClr val="242630"/>
    <a:srgbClr val="2A1F43"/>
    <a:srgbClr val="0C1B43"/>
    <a:srgbClr val="000000"/>
    <a:srgbClr val="1D2225"/>
    <a:srgbClr val="F8F8F8"/>
    <a:srgbClr val="363C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58" autoAdjust="0"/>
    <p:restoredTop sz="90551" autoAdjust="0"/>
  </p:normalViewPr>
  <p:slideViewPr>
    <p:cSldViewPr snapToGrid="0" snapToObjects="1">
      <p:cViewPr varScale="1">
        <p:scale>
          <a:sx n="165" d="100"/>
          <a:sy n="165" d="100"/>
        </p:scale>
        <p:origin x="31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2416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5A2E05-2C6E-484E-9BB1-366C90717B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043844-B7FE-EC43-89AA-8831B859F9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138B2-18CD-1D41-89B0-ADB5F3BA92A3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C2EDC-03FB-D147-9BAA-37FCFF988C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8E195D-E935-D746-A5D1-61E2EBF7EF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7D167-9BB5-2048-9DDA-7DF8E5D94D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12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7A355-8776-CB43-838E-ED9EE2F8390B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03FA8-A3F3-7640-B13D-36C73B3E55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178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124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2CB9073-1A97-EF48-93BC-E626B884D7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9249" y="-4352"/>
            <a:ext cx="12201250" cy="6862352"/>
          </a:xfrm>
          <a:custGeom>
            <a:avLst/>
            <a:gdLst>
              <a:gd name="connsiteX0" fmla="*/ 0 w 12201250"/>
              <a:gd name="connsiteY0" fmla="*/ 0 h 6862352"/>
              <a:gd name="connsiteX1" fmla="*/ 11376796 w 12201250"/>
              <a:gd name="connsiteY1" fmla="*/ 0 h 6862352"/>
              <a:gd name="connsiteX2" fmla="*/ 12201249 w 12201250"/>
              <a:gd name="connsiteY2" fmla="*/ 824452 h 6862352"/>
              <a:gd name="connsiteX3" fmla="*/ 12201249 w 12201250"/>
              <a:gd name="connsiteY3" fmla="*/ 0 h 6862352"/>
              <a:gd name="connsiteX4" fmla="*/ 12201250 w 12201250"/>
              <a:gd name="connsiteY4" fmla="*/ 0 h 6862352"/>
              <a:gd name="connsiteX5" fmla="*/ 12201250 w 12201250"/>
              <a:gd name="connsiteY5" fmla="*/ 6862352 h 6862352"/>
              <a:gd name="connsiteX6" fmla="*/ 839512 w 12201250"/>
              <a:gd name="connsiteY6" fmla="*/ 6862352 h 6862352"/>
              <a:gd name="connsiteX7" fmla="*/ 9249 w 12201250"/>
              <a:gd name="connsiteY7" fmla="*/ 6032090 h 6862352"/>
              <a:gd name="connsiteX8" fmla="*/ 9249 w 12201250"/>
              <a:gd name="connsiteY8" fmla="*/ 6862352 h 6862352"/>
              <a:gd name="connsiteX9" fmla="*/ 0 w 12201250"/>
              <a:gd name="connsiteY9" fmla="*/ 6862352 h 6862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250" h="6862352">
                <a:moveTo>
                  <a:pt x="0" y="0"/>
                </a:moveTo>
                <a:lnTo>
                  <a:pt x="11376796" y="0"/>
                </a:lnTo>
                <a:lnTo>
                  <a:pt x="12201249" y="824452"/>
                </a:lnTo>
                <a:lnTo>
                  <a:pt x="12201249" y="0"/>
                </a:lnTo>
                <a:lnTo>
                  <a:pt x="12201250" y="0"/>
                </a:lnTo>
                <a:lnTo>
                  <a:pt x="12201250" y="6862352"/>
                </a:lnTo>
                <a:lnTo>
                  <a:pt x="839512" y="6862352"/>
                </a:lnTo>
                <a:lnTo>
                  <a:pt x="9249" y="6032090"/>
                </a:lnTo>
                <a:lnTo>
                  <a:pt x="9249" y="6862352"/>
                </a:lnTo>
                <a:lnTo>
                  <a:pt x="0" y="6862352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3A7554C-2E3E-454F-9E07-C38195D4CF3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4561873"/>
            <a:ext cx="10515600" cy="703135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1" i="0" cap="all" spc="600" baseline="0">
                <a:solidFill>
                  <a:schemeClr val="bg1"/>
                </a:solidFill>
                <a:latin typeface="MingLiU" panose="02020509000000000000" pitchFamily="49" charset="-120"/>
                <a:ea typeface="MingLiU" panose="02020509000000000000" pitchFamily="49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Subtitle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3ED0903-C4AC-F843-878E-D66CB7BFB0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373294"/>
            <a:ext cx="7709488" cy="1927810"/>
          </a:xfrm>
        </p:spPr>
        <p:txBody>
          <a:bodyPr lIns="91440" rIns="91440">
            <a:noAutofit/>
          </a:bodyPr>
          <a:lstStyle>
            <a:lvl1pPr algn="l">
              <a:defRPr sz="13800" b="1" i="0" spc="150" baseline="0">
                <a:solidFill>
                  <a:schemeClr val="bg1"/>
                </a:solidFill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EF81B901-913B-5741-A4AC-B5819DACFCDF}"/>
              </a:ext>
            </a:extLst>
          </p:cNvPr>
          <p:cNvSpPr/>
          <p:nvPr userDrawn="1"/>
        </p:nvSpPr>
        <p:spPr>
          <a:xfrm>
            <a:off x="0" y="6027738"/>
            <a:ext cx="830263" cy="830262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8FDD99BC-FCD1-D541-9FE6-03E39F2856C6}"/>
              </a:ext>
            </a:extLst>
          </p:cNvPr>
          <p:cNvSpPr/>
          <p:nvPr userDrawn="1"/>
        </p:nvSpPr>
        <p:spPr>
          <a:xfrm rot="10800000">
            <a:off x="11361737" y="-10162"/>
            <a:ext cx="830263" cy="830262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Oval 22">
            <a:extLst>
              <a:ext uri="{FF2B5EF4-FFF2-40B4-BE49-F238E27FC236}">
                <a16:creationId xmlns:a16="http://schemas.microsoft.com/office/drawing/2014/main" id="{CA93CC85-EFC8-994A-9ADB-8DEE2579AAF9}"/>
              </a:ext>
            </a:extLst>
          </p:cNvPr>
          <p:cNvSpPr/>
          <p:nvPr userDrawn="1"/>
        </p:nvSpPr>
        <p:spPr>
          <a:xfrm rot="16200000" flipH="1">
            <a:off x="1668897" y="3522719"/>
            <a:ext cx="208460" cy="1869849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1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436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C551932-EED2-CB48-969B-F9308DFE26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12700" y="-4352"/>
            <a:ext cx="12179300" cy="6862352"/>
          </a:xfrm>
          <a:prstGeom prst="rect">
            <a:avLst/>
          </a:prstGeom>
        </p:spPr>
      </p:pic>
      <p:sp>
        <p:nvSpPr>
          <p:cNvPr id="51" name="Title 1">
            <a:extLst>
              <a:ext uri="{FF2B5EF4-FFF2-40B4-BE49-F238E27FC236}">
                <a16:creationId xmlns:a16="http://schemas.microsoft.com/office/drawing/2014/main" id="{ADEF5424-A6E0-A345-9A75-92E71E45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69" y="168721"/>
            <a:ext cx="10523531" cy="583800"/>
          </a:xfr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1"/>
                </a:solidFill>
                <a:latin typeface="+mj-lt"/>
                <a:ea typeface="MingLiU" panose="02020509000000000000" pitchFamily="49" charset="-12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D2069D9-A96F-DD4A-B6CB-C29449020E71}"/>
              </a:ext>
            </a:extLst>
          </p:cNvPr>
          <p:cNvGrpSpPr/>
          <p:nvPr userDrawn="1"/>
        </p:nvGrpSpPr>
        <p:grpSpPr>
          <a:xfrm>
            <a:off x="0" y="-10162"/>
            <a:ext cx="12192000" cy="6868162"/>
            <a:chOff x="0" y="-10162"/>
            <a:chExt cx="12192000" cy="6868162"/>
          </a:xfrm>
        </p:grpSpPr>
        <p:sp>
          <p:nvSpPr>
            <p:cNvPr id="53" name="Right Triangle 52">
              <a:extLst>
                <a:ext uri="{FF2B5EF4-FFF2-40B4-BE49-F238E27FC236}">
                  <a16:creationId xmlns:a16="http://schemas.microsoft.com/office/drawing/2014/main" id="{44CFA19C-5DA0-774B-AFF3-36921EACACDD}"/>
                </a:ext>
              </a:extLst>
            </p:cNvPr>
            <p:cNvSpPr/>
            <p:nvPr userDrawn="1"/>
          </p:nvSpPr>
          <p:spPr>
            <a:xfrm>
              <a:off x="0" y="6027738"/>
              <a:ext cx="830263" cy="83026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4" name="Right Triangle 53">
              <a:extLst>
                <a:ext uri="{FF2B5EF4-FFF2-40B4-BE49-F238E27FC236}">
                  <a16:creationId xmlns:a16="http://schemas.microsoft.com/office/drawing/2014/main" id="{D9F82FBA-46B0-A844-AE24-E839A52F2A42}"/>
                </a:ext>
              </a:extLst>
            </p:cNvPr>
            <p:cNvSpPr/>
            <p:nvPr userDrawn="1"/>
          </p:nvSpPr>
          <p:spPr>
            <a:xfrm rot="10800000">
              <a:off x="11361737" y="-10162"/>
              <a:ext cx="830263" cy="83026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39370BE-395F-E946-A985-43E0B2F007A7}"/>
              </a:ext>
            </a:extLst>
          </p:cNvPr>
          <p:cNvCxnSpPr>
            <a:cxnSpLocks/>
          </p:cNvCxnSpPr>
          <p:nvPr userDrawn="1"/>
        </p:nvCxnSpPr>
        <p:spPr>
          <a:xfrm>
            <a:off x="-9250" y="5401053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7EC358B-2232-784F-B64F-E210A64AF153}"/>
              </a:ext>
            </a:extLst>
          </p:cNvPr>
          <p:cNvCxnSpPr>
            <a:cxnSpLocks/>
          </p:cNvCxnSpPr>
          <p:nvPr userDrawn="1"/>
        </p:nvCxnSpPr>
        <p:spPr>
          <a:xfrm>
            <a:off x="10801316" y="-26353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22">
            <a:extLst>
              <a:ext uri="{FF2B5EF4-FFF2-40B4-BE49-F238E27FC236}">
                <a16:creationId xmlns:a16="http://schemas.microsoft.com/office/drawing/2014/main" id="{5C8304CD-638B-A244-8BB2-5827EFC0BE18}"/>
              </a:ext>
            </a:extLst>
          </p:cNvPr>
          <p:cNvSpPr/>
          <p:nvPr userDrawn="1"/>
        </p:nvSpPr>
        <p:spPr>
          <a:xfrm rot="16200000" flipH="1">
            <a:off x="1668897" y="74594"/>
            <a:ext cx="208460" cy="1869849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1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FD9DF-9E1C-4765-BCE6-B273DEE1F5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5"/>
            <a:ext cx="10531474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242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5188DA-8D2D-EE45-B63B-68389D618B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700" y="-4352"/>
            <a:ext cx="6618160" cy="6862352"/>
          </a:xfrm>
          <a:prstGeom prst="rect">
            <a:avLst/>
          </a:prstGeom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49DD1090-E08C-414F-B909-F960029978CC}"/>
              </a:ext>
            </a:extLst>
          </p:cNvPr>
          <p:cNvSpPr/>
          <p:nvPr userDrawn="1"/>
        </p:nvSpPr>
        <p:spPr>
          <a:xfrm>
            <a:off x="0" y="6027738"/>
            <a:ext cx="830263" cy="830262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2AACF99-BFF2-EF4D-905B-698BF136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69" y="168721"/>
            <a:ext cx="4858575" cy="583800"/>
          </a:xfr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1"/>
                </a:solidFill>
                <a:latin typeface="+mj-lt"/>
                <a:ea typeface="MingLiU" panose="02020509000000000000" pitchFamily="49" charset="-12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Oval 22">
            <a:extLst>
              <a:ext uri="{FF2B5EF4-FFF2-40B4-BE49-F238E27FC236}">
                <a16:creationId xmlns:a16="http://schemas.microsoft.com/office/drawing/2014/main" id="{E86DEBE5-E80B-624F-85DC-B53B9841EF52}"/>
              </a:ext>
            </a:extLst>
          </p:cNvPr>
          <p:cNvSpPr/>
          <p:nvPr userDrawn="1"/>
        </p:nvSpPr>
        <p:spPr>
          <a:xfrm rot="16200000" flipH="1">
            <a:off x="1668897" y="74594"/>
            <a:ext cx="208460" cy="1869849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1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2498330F-989F-C743-B682-3B45105A64F9}"/>
              </a:ext>
            </a:extLst>
          </p:cNvPr>
          <p:cNvSpPr/>
          <p:nvPr userDrawn="1"/>
        </p:nvSpPr>
        <p:spPr>
          <a:xfrm rot="10800000">
            <a:off x="5800596" y="-4352"/>
            <a:ext cx="830263" cy="830262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4BFA0C42-6D2A-FE45-B00F-C3FE723B69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38925" y="-4352"/>
            <a:ext cx="5553075" cy="6862352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D7A153A-DE47-5845-9FBA-5E84842262CB}"/>
              </a:ext>
            </a:extLst>
          </p:cNvPr>
          <p:cNvCxnSpPr>
            <a:cxnSpLocks/>
          </p:cNvCxnSpPr>
          <p:nvPr userDrawn="1"/>
        </p:nvCxnSpPr>
        <p:spPr>
          <a:xfrm>
            <a:off x="-9250" y="5401053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470FEE8-FCFE-D34B-AC0A-D33499171CF5}"/>
              </a:ext>
            </a:extLst>
          </p:cNvPr>
          <p:cNvCxnSpPr>
            <a:cxnSpLocks/>
          </p:cNvCxnSpPr>
          <p:nvPr userDrawn="1"/>
        </p:nvCxnSpPr>
        <p:spPr>
          <a:xfrm>
            <a:off x="5235260" y="-26353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E3020-67F3-4319-8D6D-AF959AE449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1B73CA7-3CCD-504D-B97A-835A2330CDB2}" type="datetimeFigureOut">
              <a:rPr lang="en-US" smtClean="0"/>
              <a:pPr/>
              <a:t>11/27/2022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332DD3-414D-426E-BB83-A7CE934174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DBA4D0A-04F7-406D-970F-851D89A87A9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831BA38-18F3-0A4D-A45F-13B53FF2DAC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68424A6-569A-4335-9863-0351A5FABE8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0263" y="1266825"/>
            <a:ext cx="4858574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95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96E039-748A-D54A-ACAE-7A9C63FCA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12700" y="-4352"/>
            <a:ext cx="12179300" cy="686235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51E21C1-74BE-0348-B8AE-3174A9AA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69" y="168721"/>
            <a:ext cx="10523531" cy="583800"/>
          </a:xfr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1"/>
                </a:solidFill>
                <a:latin typeface="+mj-lt"/>
                <a:ea typeface="MingLiU" panose="02020509000000000000" pitchFamily="49" charset="-12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4FD6E85-A2E7-B84D-9400-6F8D1C6FF159}"/>
              </a:ext>
            </a:extLst>
          </p:cNvPr>
          <p:cNvGrpSpPr/>
          <p:nvPr userDrawn="1"/>
        </p:nvGrpSpPr>
        <p:grpSpPr>
          <a:xfrm>
            <a:off x="0" y="-10162"/>
            <a:ext cx="12192000" cy="6868162"/>
            <a:chOff x="0" y="-10162"/>
            <a:chExt cx="12192000" cy="6868162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6912A38B-FDC5-1E4F-B0ED-145140947339}"/>
                </a:ext>
              </a:extLst>
            </p:cNvPr>
            <p:cNvSpPr/>
            <p:nvPr userDrawn="1"/>
          </p:nvSpPr>
          <p:spPr>
            <a:xfrm>
              <a:off x="0" y="6027738"/>
              <a:ext cx="830263" cy="83026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B5B0DCFE-7295-8740-9EC5-E9A681F21F94}"/>
                </a:ext>
              </a:extLst>
            </p:cNvPr>
            <p:cNvSpPr/>
            <p:nvPr userDrawn="1"/>
          </p:nvSpPr>
          <p:spPr>
            <a:xfrm rot="10800000">
              <a:off x="11361737" y="-10162"/>
              <a:ext cx="830263" cy="83026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2918AA3-DC2E-CC41-95A6-C5757DE61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618714"/>
            <a:ext cx="4433046" cy="703135"/>
          </a:xfrm>
          <a:noFill/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800" b="1" i="0" cap="all" spc="150" baseline="0">
                <a:solidFill>
                  <a:schemeClr val="accent1"/>
                </a:solidFill>
                <a:latin typeface="+mj-lt"/>
                <a:ea typeface="MingLiU" panose="02020509000000000000" pitchFamily="49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BF9C69D-A733-884F-BC4B-A4E97A9315C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932749" y="1618714"/>
            <a:ext cx="4433046" cy="703135"/>
          </a:xfrm>
          <a:noFill/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800" b="1" i="0" cap="all" spc="150" baseline="0">
                <a:solidFill>
                  <a:schemeClr val="accent1"/>
                </a:solidFill>
                <a:latin typeface="+mj-lt"/>
                <a:ea typeface="MingLiU" panose="02020509000000000000" pitchFamily="49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Oval 22">
            <a:extLst>
              <a:ext uri="{FF2B5EF4-FFF2-40B4-BE49-F238E27FC236}">
                <a16:creationId xmlns:a16="http://schemas.microsoft.com/office/drawing/2014/main" id="{2077B7CC-D16D-C84E-AF69-2D082EDC5C8E}"/>
              </a:ext>
            </a:extLst>
          </p:cNvPr>
          <p:cNvSpPr/>
          <p:nvPr userDrawn="1"/>
        </p:nvSpPr>
        <p:spPr>
          <a:xfrm rot="16200000" flipH="1">
            <a:off x="1668897" y="74594"/>
            <a:ext cx="208460" cy="1869849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1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A65B340-D917-634F-AE17-87F536B21002}"/>
              </a:ext>
            </a:extLst>
          </p:cNvPr>
          <p:cNvCxnSpPr>
            <a:cxnSpLocks/>
          </p:cNvCxnSpPr>
          <p:nvPr userDrawn="1"/>
        </p:nvCxnSpPr>
        <p:spPr>
          <a:xfrm>
            <a:off x="-9250" y="5401053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EA4411-3DF4-5E42-A781-3F59BBBD00F9}"/>
              </a:ext>
            </a:extLst>
          </p:cNvPr>
          <p:cNvCxnSpPr>
            <a:cxnSpLocks/>
          </p:cNvCxnSpPr>
          <p:nvPr userDrawn="1"/>
        </p:nvCxnSpPr>
        <p:spPr>
          <a:xfrm>
            <a:off x="10801316" y="-26353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EFD6CC-AFA8-4227-B3F1-27845AE5BE2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B73CA7-3CCD-504D-B97A-835A2330CDB2}" type="datetimeFigureOut">
              <a:rPr lang="en-US" smtClean="0"/>
              <a:pPr/>
              <a:t>11/27/2022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00E12-D3DD-4E44-BAEC-A48DBC4D50B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87F0E-3488-4890-9BD2-AF49A732987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831BA38-18F3-0A4D-A45F-13B53FF2DAC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26D3AA-2705-4636-BFEE-C89371FC519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0263" y="2474913"/>
            <a:ext cx="4434840" cy="3094037"/>
          </a:xfrm>
        </p:spPr>
        <p:txBody>
          <a:bodyPr/>
          <a:lstStyle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F758E678-4B0C-4E7A-94BE-1006B5814E9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932748" y="2474913"/>
            <a:ext cx="4434840" cy="3094037"/>
          </a:xfrm>
        </p:spPr>
        <p:txBody>
          <a:bodyPr/>
          <a:lstStyle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5163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2A19413-A8E7-ED4F-88DE-08A12997A0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-4763"/>
            <a:ext cx="12179300" cy="6862763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2AACF99-BFF2-EF4D-905B-698BF136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215" y="2432458"/>
            <a:ext cx="6044503" cy="583800"/>
          </a:xfr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1"/>
                </a:solidFill>
                <a:latin typeface="+mj-lt"/>
                <a:ea typeface="MingLiU" panose="02020509000000000000" pitchFamily="49" charset="-12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33BB6-76EF-4E91-AEF1-BE67D60ED86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311775" y="3530600"/>
            <a:ext cx="6044943" cy="282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201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C4EB4B-30F5-5541-B2A0-6BD04D010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A8E3A-8DBF-0542-BC99-444DCA0CC2C2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D97956-7D4F-5346-B8DD-3653B600E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AB29D-BA7D-E743-8CA0-6953FF72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3002F-D6EA-CF48-8F44-2316036B2B8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A03656-1F6D-D044-B015-1B4DAD3A56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12700" y="-4352"/>
            <a:ext cx="12179300" cy="686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5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D48F80-1562-4C4E-887A-B3EB2024C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45F5A-B343-9140-888A-F4A0F3DAE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65FBC-5324-6640-AB2B-F303AA276F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81B73CA7-3CCD-504D-B97A-835A2330CDB2}" type="datetimeFigureOut">
              <a:rPr lang="en-US" smtClean="0"/>
              <a:pPr/>
              <a:t>11/27/2022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050E5-FDBF-7C4A-8BB3-B44C2CEBA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1BFAD-CCAB-D24E-B7A6-4B9D514D0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5831BA38-18F3-0A4D-A45F-13B53FF2DAC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162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11" r:id="rId3"/>
    <p:sldLayoutId id="2147483710" r:id="rId4"/>
    <p:sldLayoutId id="2147483714" r:id="rId5"/>
    <p:sldLayoutId id="214748371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spc="150" baseline="0">
          <a:solidFill>
            <a:schemeClr val="bg1"/>
          </a:solidFill>
          <a:latin typeface="+mj-lt"/>
          <a:ea typeface="MingLiU" panose="02020509000000000000" pitchFamily="49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1"/>
        </a:buClr>
        <a:buFont typeface="Arial" panose="020B0604020202020204" pitchFamily="34" charset="0"/>
        <a:buChar char="•"/>
        <a:defRPr sz="1500" kern="1200" spc="150" baseline="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1"/>
        </a:buClr>
        <a:buFont typeface="Arial" panose="020B0604020202020204" pitchFamily="34" charset="0"/>
        <a:buChar char="•"/>
        <a:defRPr sz="1500" kern="1200" spc="150" baseline="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1"/>
        </a:buClr>
        <a:buFont typeface="Arial" panose="020B0604020202020204" pitchFamily="34" charset="0"/>
        <a:buChar char="•"/>
        <a:defRPr sz="1500" kern="1200" spc="150" baseline="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1"/>
        </a:buClr>
        <a:buFont typeface="Arial" panose="020B0604020202020204" pitchFamily="34" charset="0"/>
        <a:buChar char="•"/>
        <a:defRPr sz="1500" kern="1200" spc="150" baseline="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1"/>
        </a:buClr>
        <a:buFont typeface="Arial" panose="020B0604020202020204" pitchFamily="34" charset="0"/>
        <a:buChar char="•"/>
        <a:defRPr sz="1500" kern="1200" spc="150" baseline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tiff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3" Type="http://schemas.openxmlformats.org/officeDocument/2006/relationships/slide" Target="slide4.xml"/><Relationship Id="rId7" Type="http://schemas.openxmlformats.org/officeDocument/2006/relationships/slide" Target="slide2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3.xml"/><Relationship Id="rId7" Type="http://schemas.openxmlformats.org/officeDocument/2006/relationships/slide" Target="slide21.xml"/><Relationship Id="rId12" Type="http://schemas.openxmlformats.org/officeDocument/2006/relationships/slide" Target="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6" Type="http://schemas.openxmlformats.org/officeDocument/2006/relationships/slide" Target="slide16.xml"/><Relationship Id="rId11" Type="http://schemas.openxmlformats.org/officeDocument/2006/relationships/slide" Target="slide6.xml"/><Relationship Id="rId5" Type="http://schemas.openxmlformats.org/officeDocument/2006/relationships/slide" Target="slide10.xml"/><Relationship Id="rId10" Type="http://schemas.openxmlformats.org/officeDocument/2006/relationships/slide" Target="slide23.xml"/><Relationship Id="rId4" Type="http://schemas.openxmlformats.org/officeDocument/2006/relationships/slide" Target="slide4.xml"/><Relationship Id="rId9" Type="http://schemas.openxmlformats.org/officeDocument/2006/relationships/slide" Target="slide2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pgmethaskovo.com/v3/images/uchebni%20materiali/periferni%20u_va/komp.periferia/mcvbstudio/mcvbstudio.com/krasi/-page=2.2.htm" TargetMode="External"/><Relationship Id="rId3" Type="http://schemas.openxmlformats.org/officeDocument/2006/relationships/hyperlink" Target="http://fmi.wikidot.com/karh23" TargetMode="External"/><Relationship Id="rId7" Type="http://schemas.openxmlformats.org/officeDocument/2006/relationships/hyperlink" Target="https://shopdelta.eu/senzor-za-izobrazhenie-matrica_l13_aid740.html" TargetMode="External"/><Relationship Id="rId2" Type="http://schemas.openxmlformats.org/officeDocument/2006/relationships/hyperlink" Target="https://en.wikipedia.org/wiki/Input_device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daskalo.com/dobreva20152016/files/2018/02/%D0%A1%D0%9A%D0%95%D0%9D%D0%95%D0%A0%D0%98.pdf" TargetMode="External"/><Relationship Id="rId5" Type="http://schemas.openxmlformats.org/officeDocument/2006/relationships/hyperlink" Target="https://bg.comprating.com/rat-n-con-sensor-laser-o-sensor-optico-cual-es-mejor" TargetMode="External"/><Relationship Id="rId4" Type="http://schemas.openxmlformats.org/officeDocument/2006/relationships/hyperlink" Target="http://tuj.asenevtsi.com/CA/CA125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FB64E80-675E-6A4A-AF41-D8DE47B3C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alphaModFix amt="6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9249" y="-4352"/>
            <a:ext cx="12201250" cy="6862352"/>
          </a:xfrm>
        </p:spPr>
      </p:pic>
      <p:pic>
        <p:nvPicPr>
          <p:cNvPr id="13" name="Picture Placeholder 8">
            <a:extLst>
              <a:ext uri="{FF2B5EF4-FFF2-40B4-BE49-F238E27FC236}">
                <a16:creationId xmlns:a16="http://schemas.microsoft.com/office/drawing/2014/main" id="{4D6F1B91-622D-D14D-A2EE-5B2A56BAC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90" y="8153"/>
            <a:ext cx="12201250" cy="6862352"/>
          </a:xfrm>
          <a:custGeom>
            <a:avLst/>
            <a:gdLst>
              <a:gd name="connsiteX0" fmla="*/ 0 w 12201250"/>
              <a:gd name="connsiteY0" fmla="*/ 0 h 6862352"/>
              <a:gd name="connsiteX1" fmla="*/ 11376796 w 12201250"/>
              <a:gd name="connsiteY1" fmla="*/ 0 h 6862352"/>
              <a:gd name="connsiteX2" fmla="*/ 12201249 w 12201250"/>
              <a:gd name="connsiteY2" fmla="*/ 824452 h 6862352"/>
              <a:gd name="connsiteX3" fmla="*/ 12201249 w 12201250"/>
              <a:gd name="connsiteY3" fmla="*/ 0 h 6862352"/>
              <a:gd name="connsiteX4" fmla="*/ 12201250 w 12201250"/>
              <a:gd name="connsiteY4" fmla="*/ 0 h 6862352"/>
              <a:gd name="connsiteX5" fmla="*/ 12201250 w 12201250"/>
              <a:gd name="connsiteY5" fmla="*/ 6862352 h 6862352"/>
              <a:gd name="connsiteX6" fmla="*/ 839512 w 12201250"/>
              <a:gd name="connsiteY6" fmla="*/ 6862352 h 6862352"/>
              <a:gd name="connsiteX7" fmla="*/ 9249 w 12201250"/>
              <a:gd name="connsiteY7" fmla="*/ 6032090 h 6862352"/>
              <a:gd name="connsiteX8" fmla="*/ 9249 w 12201250"/>
              <a:gd name="connsiteY8" fmla="*/ 6862352 h 6862352"/>
              <a:gd name="connsiteX9" fmla="*/ 0 w 12201250"/>
              <a:gd name="connsiteY9" fmla="*/ 6862352 h 6862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250" h="6862352">
                <a:moveTo>
                  <a:pt x="0" y="0"/>
                </a:moveTo>
                <a:lnTo>
                  <a:pt x="11376796" y="0"/>
                </a:lnTo>
                <a:lnTo>
                  <a:pt x="12201249" y="824452"/>
                </a:lnTo>
                <a:lnTo>
                  <a:pt x="12201249" y="0"/>
                </a:lnTo>
                <a:lnTo>
                  <a:pt x="12201250" y="0"/>
                </a:lnTo>
                <a:lnTo>
                  <a:pt x="12201250" y="6862352"/>
                </a:lnTo>
                <a:lnTo>
                  <a:pt x="839512" y="6862352"/>
                </a:lnTo>
                <a:lnTo>
                  <a:pt x="9249" y="6032090"/>
                </a:lnTo>
                <a:lnTo>
                  <a:pt x="9249" y="6862352"/>
                </a:lnTo>
                <a:lnTo>
                  <a:pt x="0" y="6862352"/>
                </a:lnTo>
                <a:close/>
              </a:path>
            </a:pathLst>
          </a:custGeom>
          <a:noFill/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B499F37-632F-694F-948A-C7A79D753D0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ja-JP" dirty="0"/>
              <a:t>   </a:t>
            </a:r>
            <a:endParaRPr lang="ja-JP" alt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E2D9A8A-5247-6D44-AA02-758207AE1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Входни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периферни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устройства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9B1A04B-6BC3-D643-85AB-06635BAA9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250" y="5401053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3A6FEDB-5D57-B342-8D7B-927F58798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801316" y="-26353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22">
            <a:extLst>
              <a:ext uri="{FF2B5EF4-FFF2-40B4-BE49-F238E27FC236}">
                <a16:creationId xmlns:a16="http://schemas.microsoft.com/office/drawing/2014/main" id="{07285DAF-4CC1-E142-B7FA-4D3950873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1668897" y="3522719"/>
            <a:ext cx="208460" cy="1869849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1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701213"/>
      </p:ext>
    </p:extLst>
  </p:cSld>
  <p:clrMapOvr>
    <a:masterClrMapping/>
  </p:clrMapOvr>
  <p:transition spd="slow" advTm="8113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451EBE7-64A3-7E40-8C33-3C01E8EBABD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0263" y="1266516"/>
            <a:ext cx="10532281" cy="4495765"/>
          </a:xfrm>
        </p:spPr>
        <p:txBody>
          <a:bodyPr/>
          <a:lstStyle/>
          <a:p>
            <a:pPr>
              <a:lnSpc>
                <a:spcPct val="110000"/>
              </a:lnSpc>
              <a:buClr>
                <a:schemeClr val="bg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rgbClr val="FFFFFF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Определение</a:t>
            </a:r>
            <a:endParaRPr lang="bg-BG" sz="24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  <a:buClr>
                <a:schemeClr val="bg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rgbClr val="FFFFF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Клавиатури</a:t>
            </a:r>
            <a:endParaRPr lang="bg-BG" sz="24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  <a:buClr>
                <a:schemeClr val="bg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rgbClr val="FFFFF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Мишка</a:t>
            </a:r>
            <a:endParaRPr lang="bg-BG" sz="24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  <a:buClr>
                <a:schemeClr val="bg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rgbClr val="FFFFF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Скенер</a:t>
            </a:r>
            <a:endParaRPr lang="bg-BG" sz="24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  <a:buClr>
                <a:schemeClr val="bg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rgbClr val="FFFFFF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Микрофон</a:t>
            </a:r>
            <a:endParaRPr lang="bg-BG" sz="24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  <a:buClr>
                <a:schemeClr val="bg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rgbClr val="FFFFFF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Уеб камера</a:t>
            </a:r>
            <a:endParaRPr lang="bg-BG" sz="24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  <a:buClr>
                <a:schemeClr val="bg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rgbClr val="FFFFFF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Тест</a:t>
            </a:r>
            <a:endParaRPr lang="bg-BG" sz="2400" dirty="0">
              <a:solidFill>
                <a:srgbClr val="FFFFFF"/>
              </a:solidFill>
            </a:endParaRPr>
          </a:p>
          <a:p>
            <a:endParaRPr lang="en-US" dirty="0"/>
          </a:p>
          <a:p>
            <a:endParaRPr lang="ja-JP" alt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10FB232-4CB4-C34D-A688-C51B6E7CD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69" y="168721"/>
            <a:ext cx="10523531" cy="583800"/>
          </a:xfrm>
        </p:spPr>
        <p:txBody>
          <a:bodyPr>
            <a:noAutofit/>
          </a:bodyPr>
          <a:lstStyle/>
          <a:p>
            <a:r>
              <a:rPr lang="bg-BG" sz="4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Съдържание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936526"/>
      </p:ext>
    </p:extLst>
  </p:cSld>
  <p:clrMapOvr>
    <a:masterClrMapping/>
  </p:clrMapOvr>
  <p:transition spd="slow" advTm="7998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1099B-D5DD-0B47-A061-C139E0C9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</a:t>
            </a:r>
            <a:endParaRPr lang="bg-B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63C43-B2C3-4123-9E89-7BCA498D192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09122" y="2070978"/>
            <a:ext cx="9630214" cy="4495800"/>
          </a:xfrm>
        </p:spPr>
        <p:txBody>
          <a:bodyPr/>
          <a:lstStyle/>
          <a:p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Входните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периферни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устройства служат за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въвеждане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информация в </a:t>
            </a:r>
            <a:r>
              <a:rPr lang="bg-BG" sz="2400" noProof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компютъра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bg-BG" sz="2400" noProof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Примери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входни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периферни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устрйства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включват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bg-BG" sz="2400" u="sng" noProof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клавиатури</a:t>
            </a:r>
            <a:r>
              <a:rPr lang="ru-RU" sz="24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мишки, </a:t>
            </a:r>
            <a:r>
              <a:rPr lang="bg-BG" sz="24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скенери</a:t>
            </a:r>
            <a:r>
              <a:rPr lang="ru-RU" sz="24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u="sng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камери</a:t>
            </a:r>
            <a:r>
              <a:rPr lang="ru-RU" sz="24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u="sng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микрофони</a:t>
            </a:r>
            <a:r>
              <a:rPr lang="ru-RU" sz="24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др.</a:t>
            </a:r>
            <a:endParaRPr lang="en-US" sz="2400" u="sng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/>
          </a:p>
        </p:txBody>
      </p:sp>
      <p:sp>
        <p:nvSpPr>
          <p:cNvPr id="5" name="Arrow: Left 4">
            <a:hlinkClick r:id="rId2" action="ppaction://hlinksldjump"/>
            <a:extLst>
              <a:ext uri="{FF2B5EF4-FFF2-40B4-BE49-F238E27FC236}">
                <a16:creationId xmlns:a16="http://schemas.microsoft.com/office/drawing/2014/main" id="{416FC60F-345B-0A54-DA5B-6346A8A16B91}"/>
              </a:ext>
            </a:extLst>
          </p:cNvPr>
          <p:cNvSpPr/>
          <p:nvPr/>
        </p:nvSpPr>
        <p:spPr>
          <a:xfrm>
            <a:off x="11699132" y="61770"/>
            <a:ext cx="389106" cy="31436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77436583"/>
      </p:ext>
    </p:extLst>
  </p:cSld>
  <p:clrMapOvr>
    <a:masterClrMapping/>
  </p:clrMapOvr>
  <p:transition spd="slow" advTm="487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EAC4-4C80-9617-BE4A-08FD5496B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bg-BG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лавиатура</a:t>
            </a:r>
            <a:endParaRPr lang="bg-B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0C4A-8431-6590-6698-8AFBF547C45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5"/>
            <a:ext cx="6887014" cy="5490656"/>
          </a:xfrm>
        </p:spPr>
        <p:txBody>
          <a:bodyPr>
            <a:normAutofit/>
          </a:bodyPr>
          <a:lstStyle/>
          <a:p>
            <a:r>
              <a:rPr lang="bg-BG" sz="2400" u="sng" dirty="0">
                <a:latin typeface="Times New Roman" pitchFamily="18"/>
                <a:cs typeface="Times New Roman" pitchFamily="18"/>
              </a:rPr>
              <a:t>Клавиатурата е основно периферно устройство, чрез което се въвежда информация и се управлява компютърната система. Клавиатурите са изградени на матричен принцип, т. е. клавишите са подредени в редове и колони спрямо позицията, която заемат. Клавиатурите работят в два режима на работа на натиснат и отпуснат клавиш. </a:t>
            </a:r>
          </a:p>
          <a:p>
            <a:endParaRPr lang="bg-BG" dirty="0"/>
          </a:p>
        </p:txBody>
      </p:sp>
      <p:sp>
        <p:nvSpPr>
          <p:cNvPr id="4" name="Arrow: Left 3">
            <a:hlinkClick r:id="rId2" action="ppaction://hlinksldjump"/>
            <a:extLst>
              <a:ext uri="{FF2B5EF4-FFF2-40B4-BE49-F238E27FC236}">
                <a16:creationId xmlns:a16="http://schemas.microsoft.com/office/drawing/2014/main" id="{0653DBB9-99CA-1212-63C2-98EB79204E47}"/>
              </a:ext>
            </a:extLst>
          </p:cNvPr>
          <p:cNvSpPr/>
          <p:nvPr/>
        </p:nvSpPr>
        <p:spPr>
          <a:xfrm>
            <a:off x="11699132" y="61770"/>
            <a:ext cx="389106" cy="31436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43592027"/>
      </p:ext>
    </p:extLst>
  </p:cSld>
  <p:clrMapOvr>
    <a:masterClrMapping/>
  </p:clrMapOvr>
  <p:transition spd="slow" advTm="5037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A4EC8-9423-207F-61BE-4C23E539E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A2456-58D8-6758-33D2-22E7D2A5F1A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4"/>
            <a:ext cx="10531474" cy="5146945"/>
          </a:xfrm>
        </p:spPr>
        <p:txBody>
          <a:bodyPr>
            <a:normAutofit/>
          </a:bodyPr>
          <a:lstStyle/>
          <a:p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Стандартанта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клавиатура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4-проводен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кабел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+5V -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захранване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0V -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нула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("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земя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"), Данни,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Синхро-импулс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Кодовете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клавишите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подават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последователно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бит по бит, по проводника за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данни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единица се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кодира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високо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ниво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сигнал, а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нула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с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ниско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Съвременната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клавиатура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двупосочна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връзка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компютъра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Възможно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е, например,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подаването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-сигнал,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нулира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клавиатурата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изчиства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RAM до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начално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състояние</a:t>
            </a:r>
            <a:r>
              <a:rPr lang="bg-BG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Контролерът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клавиатурата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намира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дънната</a:t>
            </a:r>
            <a:r>
              <a:rPr 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платка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54450832"/>
      </p:ext>
    </p:extLst>
  </p:cSld>
  <p:clrMapOvr>
    <a:masterClrMapping/>
  </p:clrMapOvr>
  <p:transition spd="slow" advTm="3093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159C-B775-7FE0-431E-93100C51A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FE707-5925-0F00-91E5-0A68E280E77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4"/>
            <a:ext cx="5680784" cy="5270163"/>
          </a:xfrm>
        </p:spPr>
        <p:txBody>
          <a:bodyPr>
            <a:normAutofit lnSpcReduction="10000"/>
          </a:bodyPr>
          <a:lstStyle/>
          <a:p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Съвременната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компютърна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клавиатура е наследник на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пишещата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машина.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Кристофър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Латъм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Шоулс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този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през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1868 г.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патентова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първата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практична модерна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пишеща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машина. Скоро след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това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през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1877 г.,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компанията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Remington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започва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масовия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маркетинг на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първите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пишещи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машини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868641-10B3-64D9-AA08-8367DBF36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833" y="1442813"/>
            <a:ext cx="3718882" cy="3767655"/>
          </a:xfrm>
          <a:prstGeom prst="rect">
            <a:avLst/>
          </a:prstGeom>
        </p:spPr>
      </p:pic>
      <p:sp>
        <p:nvSpPr>
          <p:cNvPr id="5" name="Arrow: Left 4">
            <a:hlinkClick r:id="rId3" action="ppaction://hlinksldjump"/>
            <a:extLst>
              <a:ext uri="{FF2B5EF4-FFF2-40B4-BE49-F238E27FC236}">
                <a16:creationId xmlns:a16="http://schemas.microsoft.com/office/drawing/2014/main" id="{FAADB20A-2521-6BC8-1D3E-E3F000249711}"/>
              </a:ext>
            </a:extLst>
          </p:cNvPr>
          <p:cNvSpPr/>
          <p:nvPr/>
        </p:nvSpPr>
        <p:spPr>
          <a:xfrm>
            <a:off x="11699132" y="61770"/>
            <a:ext cx="389106" cy="31436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0646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3358">
        <p:fade/>
      </p:transition>
    </mc:Choice>
    <mc:Fallback xmlns="">
      <p:transition spd="med" advTm="13358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3848-BCE6-4E25-2A70-79D7F0660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Начин на робота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683A9-4149-13BB-A8F1-75DCFDBB6A9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5"/>
            <a:ext cx="10252784" cy="5069124"/>
          </a:xfrm>
        </p:spPr>
        <p:txBody>
          <a:bodyPr>
            <a:normAutofit fontScale="92500"/>
          </a:bodyPr>
          <a:lstStyle/>
          <a:p>
            <a:r>
              <a:rPr lang="ru-RU" sz="2400" u="sng" dirty="0" err="1">
                <a:latin typeface="Times New Roman" pitchFamily="18"/>
                <a:cs typeface="Times New Roman" pitchFamily="18"/>
              </a:rPr>
              <a:t>Всеки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клавиш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има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7-битов позиционен код, по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който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устройствата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извън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клавиатурата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разбират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кой клавиш е бил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натиснат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/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отпуснат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.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Седем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бита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са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достатъчни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за 128 клавиша, а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стандартното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наборно поле е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със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101/102.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Когато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се отчете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събитие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, се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генерира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8-битов код -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позиционният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код плюс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допълнителен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бит за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състояние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(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натиснат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/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отпуснат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).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Тези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кодове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записват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в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опашков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(FIFO - First In, First Out) буфер, за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по-нататъшно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изпращане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Ако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буферът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препълни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следващите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кодове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спират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да се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вкарват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в него, 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системата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издава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пискив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звук.</a:t>
            </a:r>
            <a:endParaRPr lang="en-GB" sz="2400" dirty="0">
              <a:latin typeface="Times New Roman" pitchFamily="18"/>
              <a:cs typeface="Times New Roman" pitchFamily="18"/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472235465"/>
      </p:ext>
    </p:extLst>
  </p:cSld>
  <p:clrMapOvr>
    <a:masterClrMapping/>
  </p:clrMapOvr>
  <p:transition spd="slow" advTm="25066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C275-40B6-8563-30CD-3D771FCB4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F17B-AE32-7032-FD35-42296103F5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4"/>
            <a:ext cx="6300692" cy="5237737"/>
          </a:xfrm>
        </p:spPr>
        <p:txBody>
          <a:bodyPr>
            <a:normAutofit fontScale="92500"/>
          </a:bodyPr>
          <a:lstStyle/>
          <a:p>
            <a:pPr lv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00B0F0"/>
                </a:solidFill>
                <a:latin typeface="Times New Roman" pitchFamily="18"/>
                <a:cs typeface="Times New Roman" pitchFamily="18"/>
              </a:rPr>
              <a:t>Функционална</a:t>
            </a:r>
            <a:r>
              <a:rPr lang="en-US" sz="2400" dirty="0">
                <a:solidFill>
                  <a:srgbClr val="00B0F0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Times New Roman" pitchFamily="18"/>
                <a:cs typeface="Times New Roman" pitchFamily="18"/>
              </a:rPr>
              <a:t>част</a:t>
            </a:r>
            <a:r>
              <a:rPr lang="en-US" sz="2400" dirty="0">
                <a:solidFill>
                  <a:srgbClr val="00B0F0"/>
                </a:solidFill>
                <a:latin typeface="Times New Roman" pitchFamily="18"/>
                <a:cs typeface="Times New Roman" pitchFamily="18"/>
              </a:rPr>
              <a:t>- </a:t>
            </a:r>
            <a:r>
              <a:rPr lang="en-US" sz="2400" dirty="0">
                <a:latin typeface="Times New Roman" pitchFamily="18"/>
                <a:cs typeface="Times New Roman" pitchFamily="18"/>
              </a:rPr>
              <a:t>esc, F1,-F12, pause break, </a:t>
            </a:r>
            <a:r>
              <a:rPr lang="en-US" sz="2400" dirty="0" err="1">
                <a:latin typeface="Times New Roman" pitchFamily="18"/>
                <a:cs typeface="Times New Roman" pitchFamily="18"/>
              </a:rPr>
              <a:t>prtSc</a:t>
            </a:r>
            <a:r>
              <a:rPr lang="en-US" sz="2400" dirty="0">
                <a:latin typeface="Times New Roman" pitchFamily="18"/>
                <a:cs typeface="Times New Roman" pitchFamily="18"/>
              </a:rPr>
              <a:t>, scroll lock, insert, home page up, page down, delete, end</a:t>
            </a:r>
          </a:p>
          <a:p>
            <a:pPr lv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A42BA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2400" dirty="0" err="1">
                <a:solidFill>
                  <a:srgbClr val="EA42BA"/>
                </a:solidFill>
                <a:latin typeface="Times New Roman" pitchFamily="18"/>
                <a:cs typeface="Times New Roman" pitchFamily="18"/>
              </a:rPr>
              <a:t>Символна</a:t>
            </a:r>
            <a:r>
              <a:rPr lang="en-US" sz="2400" dirty="0">
                <a:solidFill>
                  <a:srgbClr val="EA42BA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2400" dirty="0" err="1">
                <a:solidFill>
                  <a:srgbClr val="EA42BA"/>
                </a:solidFill>
                <a:latin typeface="Times New Roman" pitchFamily="18"/>
                <a:cs typeface="Times New Roman" pitchFamily="18"/>
              </a:rPr>
              <a:t>част</a:t>
            </a:r>
            <a:r>
              <a:rPr lang="en-US" sz="2400" dirty="0">
                <a:solidFill>
                  <a:srgbClr val="EA42BA"/>
                </a:solidFill>
                <a:latin typeface="Times New Roman" pitchFamily="18"/>
                <a:cs typeface="Times New Roman" pitchFamily="18"/>
              </a:rPr>
              <a:t>- </a:t>
            </a:r>
            <a:r>
              <a:rPr lang="en-US" sz="2400" dirty="0" err="1">
                <a:latin typeface="Times New Roman" pitchFamily="18"/>
                <a:cs typeface="Times New Roman" pitchFamily="18"/>
              </a:rPr>
              <a:t>обхваща</a:t>
            </a:r>
            <a:r>
              <a:rPr lang="en-US" sz="2400" dirty="0">
                <a:latin typeface="Times New Roman" pitchFamily="18"/>
                <a:cs typeface="Times New Roman" pitchFamily="18"/>
              </a:rPr>
              <a:t> </a:t>
            </a:r>
            <a:r>
              <a:rPr lang="en-US" sz="2400" dirty="0" err="1">
                <a:latin typeface="Times New Roman" pitchFamily="18"/>
                <a:cs typeface="Times New Roman" pitchFamily="18"/>
              </a:rPr>
              <a:t>всички</a:t>
            </a:r>
            <a:r>
              <a:rPr lang="en-US" sz="2400" dirty="0">
                <a:latin typeface="Times New Roman" pitchFamily="18"/>
                <a:cs typeface="Times New Roman" pitchFamily="18"/>
              </a:rPr>
              <a:t> </a:t>
            </a:r>
            <a:r>
              <a:rPr lang="en-US" sz="2400" dirty="0" err="1">
                <a:latin typeface="Times New Roman" pitchFamily="18"/>
                <a:cs typeface="Times New Roman" pitchFamily="18"/>
              </a:rPr>
              <a:t>символи</a:t>
            </a:r>
            <a:r>
              <a:rPr lang="en-US" sz="2400" dirty="0">
                <a:latin typeface="Times New Roman" pitchFamily="18"/>
                <a:cs typeface="Times New Roman" pitchFamily="18"/>
              </a:rPr>
              <a:t>: !, @,№, $, %, €, §, *, (, ), _, &lt;, &gt;, ?, /, ,+, ., space, enter, alt, caps lock, tab... </a:t>
            </a:r>
          </a:p>
          <a:p>
            <a:pPr lv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rgbClr val="00B050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itchFamily="18"/>
                <a:cs typeface="Times New Roman" pitchFamily="18"/>
              </a:rPr>
              <a:t>Навигационна</a:t>
            </a:r>
            <a:r>
              <a:rPr lang="en-US" sz="2400" dirty="0">
                <a:solidFill>
                  <a:srgbClr val="00B050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itchFamily="18"/>
                <a:cs typeface="Times New Roman" pitchFamily="18"/>
              </a:rPr>
              <a:t>част</a:t>
            </a:r>
            <a:r>
              <a:rPr lang="en-US" sz="2400" dirty="0">
                <a:solidFill>
                  <a:srgbClr val="00B050"/>
                </a:solidFill>
                <a:latin typeface="Times New Roman" pitchFamily="18"/>
                <a:cs typeface="Times New Roman" pitchFamily="18"/>
              </a:rPr>
              <a:t>- </a:t>
            </a:r>
            <a:r>
              <a:rPr lang="en-US" sz="2400" dirty="0" err="1">
                <a:latin typeface="Times New Roman" pitchFamily="18"/>
                <a:cs typeface="Times New Roman" pitchFamily="18"/>
              </a:rPr>
              <a:t>включва</a:t>
            </a:r>
            <a:r>
              <a:rPr lang="en-US" sz="2400" dirty="0">
                <a:latin typeface="Times New Roman" pitchFamily="18"/>
                <a:cs typeface="Times New Roman" pitchFamily="18"/>
              </a:rPr>
              <a:t> </a:t>
            </a:r>
            <a:r>
              <a:rPr lang="en-US" sz="2400" dirty="0" err="1">
                <a:latin typeface="Times New Roman" pitchFamily="18"/>
                <a:cs typeface="Times New Roman" pitchFamily="18"/>
              </a:rPr>
              <a:t>клавишите</a:t>
            </a:r>
            <a:r>
              <a:rPr lang="en-US" sz="2400" dirty="0">
                <a:latin typeface="Times New Roman" pitchFamily="18"/>
                <a:cs typeface="Times New Roman" pitchFamily="18"/>
              </a:rPr>
              <a:t> </a:t>
            </a:r>
            <a:r>
              <a:rPr lang="en-US" sz="2400" dirty="0" err="1">
                <a:latin typeface="Times New Roman" pitchFamily="18"/>
                <a:cs typeface="Times New Roman" pitchFamily="18"/>
              </a:rPr>
              <a:t>за</a:t>
            </a:r>
            <a:r>
              <a:rPr lang="en-US" sz="2400" dirty="0">
                <a:latin typeface="Times New Roman" pitchFamily="18"/>
                <a:cs typeface="Times New Roman" pitchFamily="18"/>
              </a:rPr>
              <a:t> </a:t>
            </a:r>
            <a:r>
              <a:rPr lang="en-US" sz="2400" dirty="0" err="1">
                <a:latin typeface="Times New Roman" pitchFamily="18"/>
                <a:cs typeface="Times New Roman" pitchFamily="18"/>
              </a:rPr>
              <a:t>придвижване</a:t>
            </a:r>
            <a:r>
              <a:rPr lang="en-US" sz="2400" dirty="0">
                <a:latin typeface="Times New Roman" pitchFamily="18"/>
                <a:cs typeface="Times New Roman" pitchFamily="18"/>
              </a:rPr>
              <a:t> </a:t>
            </a:r>
            <a:r>
              <a:rPr lang="en-US" sz="2400" dirty="0" err="1">
                <a:latin typeface="Times New Roman" pitchFamily="18"/>
                <a:cs typeface="Times New Roman" pitchFamily="18"/>
              </a:rPr>
              <a:t>на</a:t>
            </a:r>
            <a:r>
              <a:rPr lang="en-US" sz="2400" dirty="0">
                <a:latin typeface="Times New Roman" pitchFamily="18"/>
                <a:cs typeface="Times New Roman" pitchFamily="18"/>
              </a:rPr>
              <a:t> </a:t>
            </a:r>
            <a:r>
              <a:rPr lang="en-US" sz="2400" dirty="0" err="1">
                <a:latin typeface="Times New Roman" pitchFamily="18"/>
                <a:cs typeface="Times New Roman" pitchFamily="18"/>
              </a:rPr>
              <a:t>маркера</a:t>
            </a:r>
            <a:r>
              <a:rPr lang="en-US" sz="2400" dirty="0">
                <a:latin typeface="Times New Roman" pitchFamily="18"/>
                <a:cs typeface="Times New Roman" pitchFamily="18"/>
              </a:rPr>
              <a:t> -&gt;, &lt;-, delete, insert</a:t>
            </a:r>
          </a:p>
          <a:p>
            <a:pPr lv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00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2400" dirty="0" err="1">
                <a:solidFill>
                  <a:srgbClr val="FFFF00"/>
                </a:solidFill>
                <a:latin typeface="Times New Roman" pitchFamily="18"/>
                <a:cs typeface="Times New Roman" pitchFamily="18"/>
              </a:rPr>
              <a:t>Цифрова</a:t>
            </a:r>
            <a:r>
              <a:rPr lang="en-US" sz="2400" dirty="0">
                <a:solidFill>
                  <a:srgbClr val="FFFF00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2400" dirty="0" err="1">
                <a:solidFill>
                  <a:srgbClr val="FFFF00"/>
                </a:solidFill>
                <a:latin typeface="Times New Roman" pitchFamily="18"/>
                <a:cs typeface="Times New Roman" pitchFamily="18"/>
              </a:rPr>
              <a:t>част</a:t>
            </a:r>
            <a:r>
              <a:rPr lang="en-US" sz="2400" dirty="0">
                <a:solidFill>
                  <a:srgbClr val="FFFF00"/>
                </a:solidFill>
                <a:latin typeface="Times New Roman" pitchFamily="18"/>
                <a:cs typeface="Times New Roman" pitchFamily="18"/>
              </a:rPr>
              <a:t>- </a:t>
            </a:r>
            <a:r>
              <a:rPr lang="en-US" sz="2400" dirty="0" err="1">
                <a:latin typeface="Times New Roman" pitchFamily="18"/>
                <a:cs typeface="Times New Roman" pitchFamily="18"/>
              </a:rPr>
              <a:t>работи</a:t>
            </a:r>
            <a:r>
              <a:rPr lang="en-US" sz="2400" dirty="0">
                <a:latin typeface="Times New Roman" pitchFamily="18"/>
                <a:cs typeface="Times New Roman" pitchFamily="18"/>
              </a:rPr>
              <a:t> в 2 </a:t>
            </a:r>
            <a:r>
              <a:rPr lang="en-US" sz="2400" dirty="0" err="1">
                <a:latin typeface="Times New Roman" pitchFamily="18"/>
                <a:cs typeface="Times New Roman" pitchFamily="18"/>
              </a:rPr>
              <a:t>режима</a:t>
            </a:r>
            <a:r>
              <a:rPr lang="en-US" sz="2400" dirty="0">
                <a:latin typeface="Times New Roman" pitchFamily="18"/>
                <a:cs typeface="Times New Roman" pitchFamily="18"/>
              </a:rPr>
              <a:t>- Num lock, /, *, -, +, enter, 1, 2, 3, 4, 5, 6, 7, 8, 9</a:t>
            </a:r>
          </a:p>
          <a:p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4C3501-859D-2AFE-C961-C58481127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096" y="2227362"/>
            <a:ext cx="4913802" cy="20484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96666519"/>
      </p:ext>
    </p:extLst>
  </p:cSld>
  <p:clrMapOvr>
    <a:masterClrMapping/>
  </p:clrMapOvr>
  <p:transition spd="slow" advTm="24223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30F7-F4A6-5D27-7205-974E811A1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за клавиатура</a:t>
            </a:r>
            <a:endParaRPr lang="bg-B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B75DC-7B29-4BA2-D181-244810E8A34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4"/>
            <a:ext cx="10531474" cy="4971847"/>
          </a:xfrm>
        </p:spPr>
        <p:txBody>
          <a:bodyPr>
            <a:normAutofit fontScale="92500" lnSpcReduction="10000"/>
          </a:bodyPr>
          <a:lstStyle/>
          <a:p>
            <a:pPr marL="0"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DIN </a:t>
            </a:r>
            <a:r>
              <a:rPr lang="bg-BG" sz="2400" b="1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куплунг- 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Интерфейс ползван в различни модели клавиатури. Най-известни от тях- 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IBM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и 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Lexmark.</a:t>
            </a:r>
            <a:endParaRPr lang="en-GB" sz="2400" dirty="0">
              <a:solidFill>
                <a:srgbClr val="FFFFFF"/>
              </a:solidFill>
              <a:latin typeface="Times New Roman" pitchFamily="18"/>
              <a:cs typeface="Times New Roman" pitchFamily="18"/>
            </a:endParaRPr>
          </a:p>
          <a:p>
            <a:pPr marL="0"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5 пинов – 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1- CLK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; 2- DATA 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данни);3- RES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ET 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; 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4- GND 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(земя или -); 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5- +5V 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( захранване+)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PS/2- 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Служи за връзка на клавиатури и мишки. 6 пинов конектор. Сигналите са същите като на дин куплунга, </a:t>
            </a:r>
            <a:r>
              <a:rPr lang="bg-BG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т.е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5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V 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захранване 6тия е свободен и не се ползва.</a:t>
            </a:r>
            <a:endParaRPr lang="en-US" sz="2400" dirty="0">
              <a:solidFill>
                <a:srgbClr val="FFFFFF"/>
              </a:solidFill>
              <a:latin typeface="Times New Roman" pitchFamily="18"/>
              <a:cs typeface="Times New Roman" pitchFamily="18"/>
            </a:endParaRPr>
          </a:p>
          <a:p>
            <a:pPr marL="0"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USB 1.0; 2.0; 3.0; </a:t>
            </a:r>
            <a:r>
              <a:rPr lang="bg-BG" sz="2400" b="1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3.1(</a:t>
            </a:r>
            <a:r>
              <a:rPr lang="en-GB" sz="2400" b="1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4.0</a:t>
            </a:r>
            <a:r>
              <a:rPr lang="bg-BG" sz="2400" b="1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)</a:t>
            </a:r>
            <a:r>
              <a:rPr lang="en-GB" sz="2400" b="1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-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Универсалната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серийна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шина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(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на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английски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: Universal Serial Bus – USB) е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серийна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шина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за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свързване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на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компютър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с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периферни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устройства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.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Скоростта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на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трансфер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при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USB v1.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0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е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максимум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12 Mbit/s. 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При 2.0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скорост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та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на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трансфер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е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до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480 Mbit/s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, 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USB 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3.0 е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до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5-6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Gbit/s 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, a 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3.1(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4.0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)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е до 8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Gbit/s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wireless keyboard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- Безжичните клавиатури могат да </a:t>
            </a:r>
            <a:r>
              <a:rPr lang="bg-BG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бъат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3 вида </a:t>
            </a:r>
            <a:r>
              <a:rPr lang="en-US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infared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(IR) 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и по-популярните в наши дни с радио честотни и 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Bluetooth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. </a:t>
            </a:r>
            <a:endParaRPr lang="en-GB" sz="2400" dirty="0">
              <a:solidFill>
                <a:srgbClr val="FFFFFF"/>
              </a:solidFill>
              <a:latin typeface="Times New Roman" pitchFamily="18"/>
              <a:cs typeface="Times New Roman" pitchFamily="18"/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81409032"/>
      </p:ext>
    </p:extLst>
  </p:cSld>
  <p:clrMapOvr>
    <a:masterClrMapping/>
  </p:clrMapOvr>
  <p:transition spd="slow" advTm="22974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D9048-604B-7BE6-8E5A-9692999D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Мишка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2C84F-C45D-3C11-DD5D-CDF04550395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4"/>
            <a:ext cx="6997260" cy="5309073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ru-RU" sz="2400" dirty="0" err="1">
                <a:latin typeface="Times New Roman" pitchFamily="18"/>
                <a:cs typeface="Times New Roman" pitchFamily="18"/>
              </a:rPr>
              <a:t>Мишката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ръчно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управлявано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входно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устройство,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използвано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за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манипулиране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на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обекти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на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екрана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на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компютъра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</a:t>
            </a:r>
          </a:p>
          <a:p>
            <a:pPr marL="0" lvl="0" indent="0">
              <a:buNone/>
            </a:pPr>
            <a:r>
              <a:rPr lang="ru-RU" sz="2400" dirty="0">
                <a:latin typeface="Times New Roman" pitchFamily="18"/>
                <a:cs typeface="Times New Roman" pitchFamily="18"/>
              </a:rPr>
              <a:t>Независимо дали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използва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лазер или топка, или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мишката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кабелна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или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безжична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, движение,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открито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от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мишката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изпраща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инструкции до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компютъра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да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премести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курсора на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екрана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, за да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взаимодейства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файлове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прозорци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други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софтуерни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елементи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</a:t>
            </a:r>
            <a:r>
              <a:rPr lang="en-US" sz="2400" dirty="0">
                <a:latin typeface="Times New Roman" pitchFamily="18"/>
                <a:cs typeface="Times New Roman" pitchFamily="18"/>
              </a:rPr>
              <a:t> </a:t>
            </a:r>
          </a:p>
          <a:p>
            <a:pPr marL="0" lvl="0" indent="0">
              <a:buNone/>
            </a:pPr>
            <a:r>
              <a:rPr lang="ru-RU" sz="2400" u="sng" dirty="0" err="1">
                <a:latin typeface="Times New Roman" pitchFamily="18"/>
                <a:cs typeface="Times New Roman" pitchFamily="18"/>
              </a:rPr>
              <a:t>Според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технологията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,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която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използват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,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мишките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биват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: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механични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,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оптични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и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лазерни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.</a:t>
            </a:r>
            <a:endParaRPr lang="en-GB" sz="2400" u="sng" dirty="0">
              <a:latin typeface="Times New Roman" pitchFamily="18"/>
              <a:cs typeface="Times New Roman" pitchFamily="18"/>
            </a:endParaRPr>
          </a:p>
          <a:p>
            <a:endParaRPr lang="bg-BG" dirty="0"/>
          </a:p>
        </p:txBody>
      </p:sp>
      <p:sp>
        <p:nvSpPr>
          <p:cNvPr id="5" name="Arrow: Left 4">
            <a:hlinkClick r:id="rId2" action="ppaction://hlinksldjump"/>
            <a:extLst>
              <a:ext uri="{FF2B5EF4-FFF2-40B4-BE49-F238E27FC236}">
                <a16:creationId xmlns:a16="http://schemas.microsoft.com/office/drawing/2014/main" id="{BAF58B05-C0B0-4069-FFDE-D396E0F6F2AD}"/>
              </a:ext>
            </a:extLst>
          </p:cNvPr>
          <p:cNvSpPr/>
          <p:nvPr/>
        </p:nvSpPr>
        <p:spPr>
          <a:xfrm>
            <a:off x="11699132" y="61770"/>
            <a:ext cx="389106" cy="31436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4DAC2F-9B9E-15DE-7C16-76460313E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395" b="94363" l="6984" r="91828">
                        <a14:foregroundMark x1="8915" y1="60543" x2="8915" y2="60543"/>
                        <a14:foregroundMark x1="9510" y1="92484" x2="9510" y2="92484"/>
                        <a14:foregroundMark x1="91828" y1="36534" x2="91828" y2="36534"/>
                        <a14:foregroundMark x1="7578" y1="94572" x2="7578" y2="94572"/>
                        <a14:foregroundMark x1="6984" y1="63674" x2="6984" y2="6367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42212" y="1917970"/>
            <a:ext cx="4246026" cy="302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20461"/>
      </p:ext>
    </p:extLst>
  </p:cSld>
  <p:clrMapOvr>
    <a:masterClrMapping/>
  </p:clrMapOvr>
  <p:transition spd="slow" advTm="23848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32B26-470D-DD89-31E0-E4FFB0AB8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2B79C-1362-E56D-A8F5-16EFAE4FEC3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5"/>
            <a:ext cx="6314340" cy="5341498"/>
          </a:xfrm>
        </p:spPr>
        <p:txBody>
          <a:bodyPr>
            <a:normAutofit fontScale="92500" lnSpcReduction="20000"/>
          </a:bodyPr>
          <a:lstStyle/>
          <a:p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Компютърната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мишка е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създадена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Дъглас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Карл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Енгълбърт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Станфордския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изследователски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институт.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Идеята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създаването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ражда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още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през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1951 г.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Разработването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принципа на работа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отнема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Енгълбърт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повече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десетилетие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Предшественикът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съвременното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устройство за управление от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разстояние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прилича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дървена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кутийка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която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придвижва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масата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железни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колелца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показващи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оборотите и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посоките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движение. </a:t>
            </a:r>
            <a:endParaRPr lang="en-US" sz="2400" u="sng" dirty="0"/>
          </a:p>
          <a:p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B0218-C219-9851-261C-294F08BAC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625" y="1856096"/>
            <a:ext cx="4498479" cy="253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63161"/>
      </p:ext>
    </p:extLst>
  </p:cSld>
  <p:clrMapOvr>
    <a:masterClrMapping/>
  </p:clrMapOvr>
  <p:transition spd="slow" advTm="11877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536D8-78E7-34B6-252D-47F59FC24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Механична мишка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1D2E0-45BA-AD7E-AC8D-5EC75A4E85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4"/>
            <a:ext cx="6532704" cy="5591175"/>
          </a:xfrm>
        </p:spPr>
        <p:txBody>
          <a:bodyPr>
            <a:normAutofit fontScale="92500" lnSpcReduction="20000"/>
          </a:bodyPr>
          <a:lstStyle/>
          <a:p>
            <a:pPr marL="0" lvl="0" indent="0">
              <a:lnSpc>
                <a:spcPct val="110000"/>
              </a:lnSpc>
              <a:buNone/>
            </a:pPr>
            <a:r>
              <a:rPr lang="ru-RU" sz="2400" dirty="0" err="1">
                <a:latin typeface="Times New Roman" pitchFamily="18"/>
                <a:cs typeface="Times New Roman" pitchFamily="18"/>
              </a:rPr>
              <a:t>Използват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свободно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търкалящо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се топче,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което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при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движението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bg-BG" sz="2400" dirty="0">
                <a:latin typeface="Times New Roman" pitchFamily="18"/>
                <a:cs typeface="Times New Roman" pitchFamily="18"/>
              </a:rPr>
              <a:t>си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завърта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две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ролки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последователността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следната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: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ru-RU" sz="2400" u="sng" dirty="0">
                <a:latin typeface="Times New Roman" pitchFamily="18"/>
                <a:cs typeface="Times New Roman" pitchFamily="18"/>
              </a:rPr>
              <a:t>1.Движението на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мишката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върти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топчето</a:t>
            </a:r>
            <a:endParaRPr lang="ru-RU" sz="2400" u="sng" dirty="0">
              <a:latin typeface="Times New Roman" pitchFamily="18"/>
              <a:cs typeface="Times New Roman" pitchFamily="18"/>
            </a:endParaRPr>
          </a:p>
          <a:p>
            <a:pPr marL="0" lvl="0" indent="0">
              <a:lnSpc>
                <a:spcPct val="110000"/>
              </a:lnSpc>
              <a:buNone/>
            </a:pPr>
            <a:r>
              <a:rPr lang="ru-RU" sz="2400" u="sng" dirty="0">
                <a:latin typeface="Times New Roman" pitchFamily="18"/>
                <a:cs typeface="Times New Roman" pitchFamily="18"/>
              </a:rPr>
              <a:t>2.Хоризонталната и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вертикалната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ролка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се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въртят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от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топчето</a:t>
            </a:r>
            <a:endParaRPr lang="ru-RU" sz="2400" u="sng" dirty="0">
              <a:latin typeface="Times New Roman" pitchFamily="18"/>
              <a:cs typeface="Times New Roman" pitchFamily="18"/>
            </a:endParaRPr>
          </a:p>
          <a:p>
            <a:pPr marL="0" lvl="0" indent="0">
              <a:lnSpc>
                <a:spcPct val="110000"/>
              </a:lnSpc>
              <a:buNone/>
            </a:pPr>
            <a:r>
              <a:rPr lang="ru-RU" sz="2400" u="sng" dirty="0">
                <a:latin typeface="Times New Roman" pitchFamily="18"/>
                <a:cs typeface="Times New Roman" pitchFamily="18"/>
              </a:rPr>
              <a:t>3.Ролките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въртят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дискове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с прорези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ru-RU" sz="2400" u="sng" dirty="0">
                <a:latin typeface="Times New Roman" pitchFamily="18"/>
                <a:cs typeface="Times New Roman" pitchFamily="18"/>
              </a:rPr>
              <a:t>4.Инфрачервения светодиод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насочва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светлина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през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 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прорезите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на диска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ru-RU" sz="2400" u="sng" dirty="0">
                <a:latin typeface="Times New Roman" pitchFamily="18"/>
                <a:cs typeface="Times New Roman" pitchFamily="18"/>
              </a:rPr>
              <a:t>5.Сензорът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възприема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въртенето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като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последователност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от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светлинни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импулси</a:t>
            </a:r>
            <a:endParaRPr lang="ru-RU" sz="2400" u="sng" dirty="0">
              <a:latin typeface="Times New Roman" pitchFamily="18"/>
              <a:cs typeface="Times New Roman" pitchFamily="18"/>
            </a:endParaRPr>
          </a:p>
          <a:p>
            <a:pPr marL="0" lvl="0" indent="0">
              <a:lnSpc>
                <a:spcPct val="110000"/>
              </a:lnSpc>
              <a:buNone/>
            </a:pPr>
            <a:r>
              <a:rPr lang="ru-RU" sz="2400" dirty="0" err="1">
                <a:latin typeface="Times New Roman" pitchFamily="18"/>
                <a:cs typeface="Times New Roman" pitchFamily="18"/>
              </a:rPr>
              <a:t>Недостатък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-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честото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зац</a:t>
            </a:r>
            <a:r>
              <a:rPr lang="en-US" sz="2400" dirty="0">
                <a:latin typeface="Times New Roman" pitchFamily="18"/>
                <a:cs typeface="Times New Roman" pitchFamily="18"/>
              </a:rPr>
              <a:t>e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пване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на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ролките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което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води до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задържане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на курсора при движение на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мишката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</a:t>
            </a:r>
          </a:p>
          <a:p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44A717-D569-A0D3-E3B5-0954C91D0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295" y="1785985"/>
            <a:ext cx="4907705" cy="3286029"/>
          </a:xfrm>
          <a:prstGeom prst="rect">
            <a:avLst/>
          </a:prstGeom>
        </p:spPr>
      </p:pic>
      <p:sp>
        <p:nvSpPr>
          <p:cNvPr id="5" name="Arrow: Left 4">
            <a:hlinkClick r:id="rId3" action="ppaction://hlinksldjump"/>
            <a:extLst>
              <a:ext uri="{FF2B5EF4-FFF2-40B4-BE49-F238E27FC236}">
                <a16:creationId xmlns:a16="http://schemas.microsoft.com/office/drawing/2014/main" id="{E875AF18-6088-2C77-139B-15BB7CBDF51F}"/>
              </a:ext>
            </a:extLst>
          </p:cNvPr>
          <p:cNvSpPr/>
          <p:nvPr/>
        </p:nvSpPr>
        <p:spPr>
          <a:xfrm>
            <a:off x="11699132" y="61770"/>
            <a:ext cx="389106" cy="31436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32208185"/>
      </p:ext>
    </p:extLst>
  </p:cSld>
  <p:clrMapOvr>
    <a:masterClrMapping/>
  </p:clrMapOvr>
  <p:transition spd="slow" advTm="24358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22BD-6AB4-1AA4-405E-0CB1376C0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Оптична мишка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6E481-641F-C7AD-2C1E-CB49FECB9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147864"/>
            <a:ext cx="6893499" cy="5596647"/>
          </a:xfrm>
        </p:spPr>
        <p:txBody>
          <a:bodyPr>
            <a:normAutofit fontScale="85000" lnSpcReduction="10000"/>
          </a:bodyPr>
          <a:lstStyle/>
          <a:p>
            <a:r>
              <a:rPr lang="ru-RU" sz="2400" dirty="0">
                <a:latin typeface="Times New Roman" pitchFamily="18"/>
                <a:cs typeface="Times New Roman" pitchFamily="18"/>
              </a:rPr>
              <a:t>При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оптичните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мишки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повърхността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сканира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от миниатюрна камера,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работеща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със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скорост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1500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кадъра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в секунда.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Процесор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обработва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информацията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отчита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положението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на курсора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върху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екрана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 С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помощта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на светодиод, и система от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фокусиращи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лъча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лещи, под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мишката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осветява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участък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от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повърхността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Отразената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от 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повърхността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светлина, се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събира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от друга система от лещи 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попада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на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приемния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сензор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– микросхема за обработка на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изображенията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Този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чип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прави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снимки на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повърхността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под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мишката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висока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честота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ги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обработва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</a:t>
            </a:r>
            <a:endParaRPr lang="en-GB" sz="2400" dirty="0">
              <a:latin typeface="Times New Roman" pitchFamily="18"/>
              <a:cs typeface="Times New Roman" pitchFamily="18"/>
            </a:endParaRPr>
          </a:p>
          <a:p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9B8FB7-E768-C460-DF68-76404A833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851" y="2014605"/>
            <a:ext cx="4011516" cy="28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31747"/>
      </p:ext>
    </p:extLst>
  </p:cSld>
  <p:clrMapOvr>
    <a:masterClrMapping/>
  </p:clrMapOvr>
  <p:transition spd="slow" advTm="3271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48F2F-5396-D08B-3D01-C7313B809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Лазерна мишка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BAB12-B86B-9238-1A1D-49A8A98B4B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5"/>
            <a:ext cx="7237209" cy="5503626"/>
          </a:xfrm>
        </p:spPr>
        <p:txBody>
          <a:bodyPr>
            <a:normAutofit fontScale="92500"/>
          </a:bodyPr>
          <a:lstStyle/>
          <a:p>
            <a:r>
              <a:rPr lang="ru-RU" sz="2400" dirty="0" err="1">
                <a:latin typeface="Times New Roman" pitchFamily="18"/>
                <a:cs typeface="Times New Roman" pitchFamily="18"/>
              </a:rPr>
              <a:t>Лазерната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оптичната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мишка от технологична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гледна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точка,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почти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еднакви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Лазерните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мишки,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използват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вида на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лазерната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светлина,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която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има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най-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голяма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сила за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проникване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в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повърхности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Осветлението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монтирано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зад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ъглов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обектив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който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фокусира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светлината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върху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лъч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Този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лъч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отскача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от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повърхността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, чрез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обектива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който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увеличава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отразената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светлина. CMOS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сензорът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събира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светлина 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преобразува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светлинни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частици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в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електрически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ток . </a:t>
            </a:r>
            <a:endParaRPr lang="en-US" sz="2400" dirty="0"/>
          </a:p>
          <a:p>
            <a:endParaRPr lang="bg-BG" dirty="0"/>
          </a:p>
        </p:txBody>
      </p:sp>
      <p:pic>
        <p:nvPicPr>
          <p:cNvPr id="7" name="Picture 6" descr="A picture containing mouse, electronics&#10;&#10;Description automatically generated">
            <a:extLst>
              <a:ext uri="{FF2B5EF4-FFF2-40B4-BE49-F238E27FC236}">
                <a16:creationId xmlns:a16="http://schemas.microsoft.com/office/drawing/2014/main" id="{D682E711-C4D3-1BC3-B9E8-6BF4F93F6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00" b="95333" l="10000" r="90000">
                        <a14:foregroundMark x1="40500" y1="8333" x2="40500" y2="8333"/>
                        <a14:foregroundMark x1="53667" y1="8000" x2="53667" y2="8000"/>
                        <a14:foregroundMark x1="46333" y1="3000" x2="46333" y2="3000"/>
                        <a14:foregroundMark x1="49333" y1="92500" x2="49333" y2="92500"/>
                        <a14:foregroundMark x1="42667" y1="95333" x2="42667" y2="95333"/>
                        <a14:foregroundMark x1="57833" y1="15833" x2="57833" y2="15833"/>
                        <a14:foregroundMark x1="57167" y1="16833" x2="57167" y2="168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29564" y="856845"/>
            <a:ext cx="571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91636"/>
      </p:ext>
    </p:extLst>
  </p:cSld>
  <p:clrMapOvr>
    <a:masterClrMapping/>
  </p:clrMapOvr>
  <p:transition spd="slow" advTm="24029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A887-9898-3622-F6B9-6F93DC3AF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Интерфейси</a:t>
            </a:r>
            <a:endParaRPr lang="bg-B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FEF8C-A5BA-5852-E403-97200839E12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RS232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- 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RS232 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е сериен интерфейс 25 пинов конектор. Използват се само 9 пина. Сигналите по пиновете са приемане, предаване, следене на връзката.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PS/2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USB 1.0 ; 2.0 ; 3.0 ; 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4.0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wireless mouse connector- 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Безжичните мишки могат да </a:t>
            </a:r>
            <a:r>
              <a:rPr lang="bg-BG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бъат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3 вида </a:t>
            </a:r>
            <a:r>
              <a:rPr lang="en-GB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infared</a:t>
            </a:r>
            <a:r>
              <a:rPr lang="en-GB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 (IR) 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и по-популярните в наши дни с радио честотни и </a:t>
            </a:r>
            <a:r>
              <a:rPr lang="en-US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Bluetooth.</a:t>
            </a:r>
            <a:r>
              <a:rPr lang="bg-BG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Радио честота – 27</a:t>
            </a:r>
            <a:r>
              <a:rPr lang="en-US" sz="240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mhz.</a:t>
            </a:r>
            <a:endParaRPr lang="en-GB" sz="2400" dirty="0">
              <a:solidFill>
                <a:srgbClr val="FFFFFF"/>
              </a:solidFill>
              <a:latin typeface="Times New Roman" pitchFamily="18"/>
              <a:cs typeface="Times New Roman" pitchFamily="18"/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818155012"/>
      </p:ext>
    </p:extLst>
  </p:cSld>
  <p:clrMapOvr>
    <a:masterClrMapping/>
  </p:clrMapOvr>
  <p:transition spd="slow" advTm="25282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43BC0-1933-3901-3AB9-15189C08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Скенер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41291-629A-BEFF-F793-D363A68B4A0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5"/>
            <a:ext cx="6089152" cy="4495800"/>
          </a:xfrm>
        </p:spPr>
        <p:txBody>
          <a:bodyPr/>
          <a:lstStyle/>
          <a:p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Скенерът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 входно периферно устройство, което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служи за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заснемане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представяне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вид) на документ или изображение,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след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това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използван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 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компютрите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скенера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получават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файлове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заснеманите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обекти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фотографски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снимки,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реални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тримерни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обекти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60CAF4-8AFA-3D76-AB6D-1492A820F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421" y="2186796"/>
            <a:ext cx="4907705" cy="2798307"/>
          </a:xfrm>
          <a:prstGeom prst="rect">
            <a:avLst/>
          </a:prstGeom>
        </p:spPr>
      </p:pic>
      <p:sp>
        <p:nvSpPr>
          <p:cNvPr id="5" name="Arrow: Left 4">
            <a:hlinkClick r:id="rId3" action="ppaction://hlinksldjump"/>
            <a:extLst>
              <a:ext uri="{FF2B5EF4-FFF2-40B4-BE49-F238E27FC236}">
                <a16:creationId xmlns:a16="http://schemas.microsoft.com/office/drawing/2014/main" id="{FD08F0D9-EC24-14C2-B358-C460B9368A9F}"/>
              </a:ext>
            </a:extLst>
          </p:cNvPr>
          <p:cNvSpPr/>
          <p:nvPr/>
        </p:nvSpPr>
        <p:spPr>
          <a:xfrm>
            <a:off x="11699132" y="61770"/>
            <a:ext cx="389106" cy="31436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93467064"/>
      </p:ext>
    </p:extLst>
  </p:cSld>
  <p:clrMapOvr>
    <a:masterClrMapping/>
  </p:clrMapOvr>
  <p:transition spd="slow" advTm="19285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49C81-15E4-217B-91F0-661670023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на действие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00404-F1FD-1146-8FBE-5BE3F7DA76D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5"/>
            <a:ext cx="5461355" cy="5422454"/>
          </a:xfrm>
        </p:spPr>
        <p:txBody>
          <a:bodyPr>
            <a:normAutofit fontScale="92500" lnSpcReduction="20000"/>
          </a:bodyPr>
          <a:lstStyle/>
          <a:p>
            <a:pPr marL="0" lvl="0" indent="0">
              <a:lnSpc>
                <a:spcPct val="110000"/>
              </a:lnSpc>
              <a:buNone/>
            </a:pPr>
            <a:r>
              <a:rPr lang="ru-RU" sz="2400" dirty="0">
                <a:latin typeface="Times New Roman" pitchFamily="18"/>
                <a:cs typeface="Times New Roman" pitchFamily="18"/>
              </a:rPr>
              <a:t>При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планшетните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скенери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сканируемия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обект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поставя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на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стъклото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на планшета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със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обърната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надолу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сканирана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повърхност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 Под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стъклото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разполага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подвижна лампа,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чието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движение се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управлява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от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стъпков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двигател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ru-RU" sz="2400" dirty="0" err="1">
                <a:latin typeface="Times New Roman" pitchFamily="18"/>
                <a:cs typeface="Times New Roman" pitchFamily="18"/>
              </a:rPr>
              <a:t>Светлината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отразена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от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обекта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през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система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огледала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попада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на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чувствителна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матрица (CCD), после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към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АЦП и се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предава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към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компютъра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 За всяка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стъпка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на двигателя се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сканира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лентичка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от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обекта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Впоследствие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програмното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осигуряване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обединява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данните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в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цифрово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копие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на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цялото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изображение.</a:t>
            </a:r>
            <a:endParaRPr lang="en-GB" sz="2400" dirty="0">
              <a:latin typeface="Times New Roman" pitchFamily="18"/>
              <a:cs typeface="Times New Roman" pitchFamily="18"/>
            </a:endParaRPr>
          </a:p>
          <a:p>
            <a:pPr>
              <a:lnSpc>
                <a:spcPct val="110000"/>
              </a:lnSpc>
            </a:pPr>
            <a:endParaRPr lang="en-US" sz="1100" dirty="0"/>
          </a:p>
          <a:p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23905C-C4A3-0EB7-4F44-67035C92A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194" y="2410880"/>
            <a:ext cx="4907705" cy="203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81936"/>
      </p:ext>
    </p:extLst>
  </p:cSld>
  <p:clrMapOvr>
    <a:masterClrMapping/>
  </p:clrMapOvr>
  <p:transition spd="slow" advTm="36498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6A4D7-99CB-520B-383C-CF2544C89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Интерфейси за скенер</a:t>
            </a:r>
            <a:endParaRPr lang="bg-B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3C921-CABE-4776-590F-C6E4ABD81E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5"/>
            <a:ext cx="10531474" cy="527016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RS232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SCSI</a:t>
            </a:r>
            <a:r>
              <a:rPr lang="en-US" sz="24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SCSI </a:t>
            </a:r>
            <a:r>
              <a:rPr lang="bg-BG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 високо скоростен интерфейс за връзка между компютри и периферни устройства използван предимно за връзка с 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HDD.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Той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има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8-битова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шина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данни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максималната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скорост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предаване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е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1,5 Mb / s в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асинхронен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режим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потвърждение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заявка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и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 Mb / s в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синхронен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режим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методът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"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множество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заявки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множество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потвърждения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u="sng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IEEE </a:t>
            </a:r>
            <a:r>
              <a:rPr lang="bg-BG" sz="2400" b="1" u="sng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1394</a:t>
            </a:r>
            <a:r>
              <a:rPr lang="en-US" sz="2400" b="1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bg-BG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1394 е високо скоростен интерфейсен стандарт за пренос на данни в реално време. Дължината на кабела е максимум 3,4 метра. Скорост на </a:t>
            </a:r>
            <a:r>
              <a:rPr lang="bg-BG" sz="240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трансвер</a:t>
            </a:r>
            <a:r>
              <a:rPr lang="bg-BG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50-400</a:t>
            </a:r>
            <a:r>
              <a:rPr lang="en-US" sz="24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mb/s.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 1.0 ; 2.0 ; 3.0 ; 4.0</a:t>
            </a:r>
          </a:p>
          <a:p>
            <a:endParaRPr lang="bg-BG" dirty="0"/>
          </a:p>
        </p:txBody>
      </p:sp>
      <p:sp>
        <p:nvSpPr>
          <p:cNvPr id="4" name="Arrow: Left 3">
            <a:hlinkClick r:id="rId2" action="ppaction://hlinksldjump"/>
            <a:extLst>
              <a:ext uri="{FF2B5EF4-FFF2-40B4-BE49-F238E27FC236}">
                <a16:creationId xmlns:a16="http://schemas.microsoft.com/office/drawing/2014/main" id="{496F95BE-0FE0-BE8E-8056-E4227D50B319}"/>
              </a:ext>
            </a:extLst>
          </p:cNvPr>
          <p:cNvSpPr/>
          <p:nvPr/>
        </p:nvSpPr>
        <p:spPr>
          <a:xfrm>
            <a:off x="11699132" y="61770"/>
            <a:ext cx="389106" cy="31436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87863287"/>
      </p:ext>
    </p:extLst>
  </p:cSld>
  <p:clrMapOvr>
    <a:masterClrMapping/>
  </p:clrMapOvr>
  <p:transition spd="slow" advTm="4505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47F6C-4E0E-01BF-E771-55E31D46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CCD</a:t>
            </a:r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матрица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98F98-0F41-3AF5-FFDC-11E513BB947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5"/>
            <a:ext cx="6737856" cy="5516596"/>
          </a:xfrm>
        </p:spPr>
        <p:txBody>
          <a:bodyPr>
            <a:normAutofit fontScale="25000" lnSpcReduction="20000"/>
          </a:bodyPr>
          <a:lstStyle/>
          <a:p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Като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цяло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принципът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работа на CCD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матрицата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основава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натрупването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електрически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заряд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върху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съответните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сектори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матрицата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наречени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пиксели.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Това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фотоните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(светлина)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попадащи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върху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отделните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пиксели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изолирани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един от друг,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които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изместват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тях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електроните</a:t>
            </a:r>
            <a:r>
              <a:rPr lang="en-US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Единичният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пиксел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визуализира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контейнер, в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натрупват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новосъздадените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електрони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Техният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пропорционален на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интензитета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светлината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времето</a:t>
            </a:r>
            <a:r>
              <a:rPr lang="ru-RU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8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експозиция</a:t>
            </a:r>
            <a:r>
              <a:rPr lang="en-US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8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E92DC-36C5-1D24-D04E-23BB76BD2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291" y="1994970"/>
            <a:ext cx="4035902" cy="376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58577"/>
      </p:ext>
    </p:extLst>
  </p:cSld>
  <p:clrMapOvr>
    <a:masterClrMapping/>
  </p:clrMapOvr>
  <p:transition spd="slow" advTm="35562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B180C-2CE4-B065-7C84-802C2CFEA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 </a:t>
            </a:r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7D82-93C5-3DCB-23DD-4322E127F7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5"/>
            <a:ext cx="5543241" cy="44958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сложната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оптична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заменя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един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ред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сензори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които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намират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няколко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милиметра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стъклената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основа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сканиране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Осветяването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осъществява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RGB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светодиоди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Отразената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изображението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светлина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попада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върху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фоточувствителните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сензора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10000"/>
              </a:lnSpc>
            </a:pPr>
            <a:endParaRPr lang="en-US" sz="1200" dirty="0"/>
          </a:p>
          <a:p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6FBE0-EA25-9312-5170-49D23FA00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717" y="1872719"/>
            <a:ext cx="4218798" cy="376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94034"/>
      </p:ext>
    </p:extLst>
  </p:cSld>
  <p:clrMapOvr>
    <a:masterClrMapping/>
  </p:clrMapOvr>
  <p:transition spd="slow" advTm="19575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65F24-8CF4-7688-32B7-ACCEC2889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Видове скенери</a:t>
            </a:r>
            <a:endParaRPr lang="bg-B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265BF-B4D4-9637-CE73-C29D80B3A6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5"/>
            <a:ext cx="10531474" cy="5422454"/>
          </a:xfrm>
        </p:spPr>
        <p:txBody>
          <a:bodyPr>
            <a:normAutofit fontScale="92500" lnSpcReduction="10000"/>
          </a:bodyPr>
          <a:lstStyle/>
          <a:p>
            <a:pPr marL="0" lvl="0" indent="0">
              <a:lnSpc>
                <a:spcPct val="110000"/>
              </a:lnSpc>
              <a:buNone/>
            </a:pP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Според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способа на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сканиране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и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самия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обект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на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сканиране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се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различават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: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ru-RU" sz="2400" u="sng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Планшетни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(най-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разпространения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вид)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ru-RU" sz="2400" u="sng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Ръчни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(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евтини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и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мобилни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)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ru-RU" sz="2400" u="sng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Листопротяжни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(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листта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с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изображението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се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вкарва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във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вътрешността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на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скенера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)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ru-RU" sz="2400" u="sng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Планетарни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(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Нямат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контакт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със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сканиащият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се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обект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)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ru-RU" sz="2400" u="sng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Барабанни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(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Оригиналът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се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разполага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на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вътрешната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или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външната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стена на прозрачен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цилиндър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(барабан). Той се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завърта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и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придвижва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изображението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пред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сканиращата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глава.)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ru-RU" sz="2400" u="sng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Слайд-</a:t>
            </a:r>
            <a:r>
              <a:rPr lang="ru-RU" sz="2400" u="sng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скенери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(За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сканиране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на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лентови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слайдове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)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ru-RU" sz="2400" u="sng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Скенери</a:t>
            </a:r>
            <a:r>
              <a:rPr lang="ru-RU" sz="2400" u="sng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на бар код 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Компактни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скенери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за </a:t>
            </a:r>
            <a:r>
              <a:rPr lang="ru-RU" sz="2400" dirty="0" err="1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баркода</a:t>
            </a:r>
            <a:r>
              <a:rPr lang="ru-RU" sz="2400" dirty="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 в магазина)</a:t>
            </a:r>
          </a:p>
          <a:p>
            <a:endParaRPr lang="bg-BG" dirty="0"/>
          </a:p>
        </p:txBody>
      </p:sp>
      <p:sp>
        <p:nvSpPr>
          <p:cNvPr id="4" name="Arrow: Left 3">
            <a:hlinkClick r:id="rId2" action="ppaction://hlinksldjump"/>
            <a:extLst>
              <a:ext uri="{FF2B5EF4-FFF2-40B4-BE49-F238E27FC236}">
                <a16:creationId xmlns:a16="http://schemas.microsoft.com/office/drawing/2014/main" id="{74EEF01B-8245-1E6D-CDCB-E52D56B7A74F}"/>
              </a:ext>
            </a:extLst>
          </p:cNvPr>
          <p:cNvSpPr/>
          <p:nvPr/>
        </p:nvSpPr>
        <p:spPr>
          <a:xfrm>
            <a:off x="11699132" y="61770"/>
            <a:ext cx="389106" cy="31436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40689005"/>
      </p:ext>
    </p:extLst>
  </p:cSld>
  <p:clrMapOvr>
    <a:masterClrMapping/>
  </p:clrMapOvr>
  <p:transition spd="slow" advTm="42374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2EEB4-149A-B08B-AADC-5E9C24BDE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Микрофни</a:t>
            </a:r>
            <a:endParaRPr lang="bg-B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E71C5-44D7-2626-0D50-4879BA2FB3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5"/>
            <a:ext cx="6327988" cy="4495800"/>
          </a:xfrm>
        </p:spPr>
        <p:txBody>
          <a:bodyPr/>
          <a:lstStyle/>
          <a:p>
            <a:pPr marL="0" lvl="0" indent="0">
              <a:lnSpc>
                <a:spcPct val="110000"/>
              </a:lnSpc>
              <a:buNone/>
            </a:pPr>
            <a:r>
              <a:rPr lang="ru-RU" sz="2400" dirty="0" err="1">
                <a:latin typeface="Times New Roman" pitchFamily="18"/>
                <a:cs typeface="Times New Roman" pitchFamily="18"/>
              </a:rPr>
              <a:t>Микорофона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е устройство от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електроакустичен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тип,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което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преобразува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акустичните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вибрации на звука в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електрически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сигнали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 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Използва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за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комуникация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чрез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различни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приложения.</a:t>
            </a:r>
            <a:endParaRPr lang="en-US" sz="2400" dirty="0">
              <a:latin typeface="Times New Roman" pitchFamily="18"/>
              <a:cs typeface="Times New Roman" pitchFamily="18"/>
            </a:endParaRPr>
          </a:p>
          <a:p>
            <a:pPr marL="0" lvl="0" indent="0">
              <a:lnSpc>
                <a:spcPct val="110000"/>
              </a:lnSpc>
              <a:buNone/>
            </a:pPr>
            <a:r>
              <a:rPr lang="ru-RU" sz="2400" u="sng" dirty="0" err="1">
                <a:latin typeface="Times New Roman" pitchFamily="18"/>
                <a:cs typeface="Times New Roman" pitchFamily="18"/>
              </a:rPr>
              <a:t>Микрофонът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се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свързва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към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специален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вход – MIC на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звуковата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платка,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която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може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да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бъде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вградена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на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дънната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платка или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поставена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в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разширителен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слот.</a:t>
            </a:r>
            <a:endParaRPr lang="en-GB" sz="2400" u="sng" dirty="0">
              <a:latin typeface="Times New Roman" pitchFamily="18"/>
              <a:cs typeface="Times New Roman" pitchFamily="18"/>
            </a:endParaRPr>
          </a:p>
          <a:p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618078-1D5A-E6B1-D758-129FA67F2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280" y="1614310"/>
            <a:ext cx="3255546" cy="4011516"/>
          </a:xfrm>
          <a:prstGeom prst="rect">
            <a:avLst/>
          </a:prstGeom>
        </p:spPr>
      </p:pic>
      <p:sp>
        <p:nvSpPr>
          <p:cNvPr id="5" name="Arrow: Left 4">
            <a:hlinkClick r:id="rId3" action="ppaction://hlinksldjump"/>
            <a:extLst>
              <a:ext uri="{FF2B5EF4-FFF2-40B4-BE49-F238E27FC236}">
                <a16:creationId xmlns:a16="http://schemas.microsoft.com/office/drawing/2014/main" id="{29FEF668-78D9-2717-7304-798EE3D6777F}"/>
              </a:ext>
            </a:extLst>
          </p:cNvPr>
          <p:cNvSpPr/>
          <p:nvPr/>
        </p:nvSpPr>
        <p:spPr>
          <a:xfrm>
            <a:off x="11699132" y="61770"/>
            <a:ext cx="389106" cy="31436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76404441"/>
      </p:ext>
    </p:extLst>
  </p:cSld>
  <p:clrMapOvr>
    <a:masterClrMapping/>
  </p:clrMapOvr>
  <p:transition spd="slow" advTm="21132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C1BF-1E7A-B4D4-EF9A-D865FB55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Уеб камера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D2C2B-BB10-06F3-85A1-AED78D4EFDB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5"/>
            <a:ext cx="5265737" cy="4495800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10000"/>
              </a:lnSpc>
            </a:pPr>
            <a:r>
              <a:rPr lang="ru-RU" sz="2400" u="sng" dirty="0">
                <a:latin typeface="Times New Roman" pitchFamily="18"/>
                <a:cs typeface="Times New Roman" pitchFamily="18"/>
              </a:rPr>
              <a:t>Уеб камера е видеокамера,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която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може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да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предава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видео в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реално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време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през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World Wide Web,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програма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за чат или друга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компютърна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програма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, в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която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има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 опция за видео </a:t>
            </a:r>
            <a:r>
              <a:rPr lang="ru-RU" sz="2400" u="sng" dirty="0" err="1">
                <a:latin typeface="Times New Roman" pitchFamily="18"/>
                <a:cs typeface="Times New Roman" pitchFamily="18"/>
              </a:rPr>
              <a:t>връзка</a:t>
            </a:r>
            <a:r>
              <a:rPr lang="ru-RU" sz="2400" u="sng" dirty="0">
                <a:latin typeface="Times New Roman" pitchFamily="18"/>
                <a:cs typeface="Times New Roman" pitchFamily="18"/>
              </a:rPr>
              <a:t>.</a:t>
            </a:r>
          </a:p>
          <a:p>
            <a:pPr lvl="0">
              <a:lnSpc>
                <a:spcPct val="110000"/>
              </a:lnSpc>
            </a:pPr>
            <a:r>
              <a:rPr lang="ru-RU" sz="2400" dirty="0" err="1">
                <a:latin typeface="Times New Roman" pitchFamily="18"/>
                <a:cs typeface="Times New Roman" pitchFamily="18"/>
              </a:rPr>
              <a:t>Уебкамери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се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наричат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видеокамери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които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качват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изображения на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уебсървър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,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непрекъснато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или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през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 определен период от </a:t>
            </a:r>
            <a:r>
              <a:rPr lang="ru-RU" sz="2400" dirty="0" err="1">
                <a:latin typeface="Times New Roman" pitchFamily="18"/>
                <a:cs typeface="Times New Roman" pitchFamily="18"/>
              </a:rPr>
              <a:t>време</a:t>
            </a:r>
            <a:r>
              <a:rPr lang="ru-RU" sz="2400" dirty="0">
                <a:latin typeface="Times New Roman" pitchFamily="18"/>
                <a:cs typeface="Times New Roman" pitchFamily="18"/>
              </a:rPr>
              <a:t>.</a:t>
            </a:r>
            <a:endParaRPr lang="en-GB" sz="2400" dirty="0">
              <a:latin typeface="Times New Roman" pitchFamily="18"/>
              <a:cs typeface="Times New Roman" pitchFamily="18"/>
            </a:endParaRPr>
          </a:p>
          <a:p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CA52B1-BCF6-79ED-26AE-74FA88A0B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209" y="1770360"/>
            <a:ext cx="4048095" cy="3767655"/>
          </a:xfrm>
          <a:prstGeom prst="rect">
            <a:avLst/>
          </a:prstGeom>
        </p:spPr>
      </p:pic>
      <p:sp>
        <p:nvSpPr>
          <p:cNvPr id="5" name="Arrow: Left 4">
            <a:hlinkClick r:id="rId3" action="ppaction://hlinksldjump"/>
            <a:extLst>
              <a:ext uri="{FF2B5EF4-FFF2-40B4-BE49-F238E27FC236}">
                <a16:creationId xmlns:a16="http://schemas.microsoft.com/office/drawing/2014/main" id="{2F7E201B-55FD-9F00-DABF-7A69E2DE29D3}"/>
              </a:ext>
            </a:extLst>
          </p:cNvPr>
          <p:cNvSpPr/>
          <p:nvPr/>
        </p:nvSpPr>
        <p:spPr>
          <a:xfrm>
            <a:off x="11699132" y="61770"/>
            <a:ext cx="389106" cy="31436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59411249"/>
      </p:ext>
    </p:extLst>
  </p:cSld>
  <p:clrMapOvr>
    <a:masterClrMapping/>
  </p:clrMapOvr>
  <p:transition spd="slow" advTm="23887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9FC65-EEFD-E00C-9556-BBFDAAAB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2504CD0-541A-9105-2FFD-B79D3C0B4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  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76E20A1-A1C3-47ED-B8F0-6690E2F2929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bg-BG" dirty="0"/>
              <a:t>   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14FCA22-CBDC-F1B1-92E2-E8D06C99774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0263" y="1277566"/>
            <a:ext cx="4434840" cy="5486400"/>
          </a:xfrm>
        </p:spPr>
        <p:txBody>
          <a:bodyPr>
            <a:normAutofit fontScale="85000" lnSpcReduction="20000"/>
          </a:bodyPr>
          <a:lstStyle/>
          <a:p>
            <a:pPr lvl="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bg-BG" sz="2400" dirty="0">
                <a:latin typeface="Times New Roman" pitchFamily="18"/>
                <a:cs typeface="Times New Roman" pitchFamily="18"/>
              </a:rPr>
              <a:t>1. Запомнихте ли познатите видове входни устройства?</a:t>
            </a:r>
          </a:p>
          <a:p>
            <a:pPr lvl="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chemeClr val="bg1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bg-BG" sz="2400" dirty="0">
                <a:solidFill>
                  <a:schemeClr val="accent1">
                    <a:lumMod val="75000"/>
                  </a:schemeClr>
                </a:solidFill>
                <a:latin typeface="Times New Roman" pitchFamily="18"/>
                <a:cs typeface="Times New Roman" pitchFamily="18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Отговор</a:t>
            </a:r>
            <a:endParaRPr lang="bg-BG" sz="2400" dirty="0">
              <a:solidFill>
                <a:schemeClr val="accent1">
                  <a:lumMod val="75000"/>
                </a:schemeClr>
              </a:solidFill>
              <a:latin typeface="Times New Roman" pitchFamily="18"/>
              <a:cs typeface="Times New Roman" pitchFamily="18"/>
            </a:endParaRPr>
          </a:p>
          <a:p>
            <a:pPr lvl="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bg-BG" sz="2400" dirty="0">
                <a:latin typeface="Times New Roman" pitchFamily="18"/>
                <a:cs typeface="Times New Roman" pitchFamily="18"/>
              </a:rPr>
              <a:t>2.Можете ли да обяснете принципа на работа на клавиатурата?</a:t>
            </a:r>
          </a:p>
          <a:p>
            <a:pPr lvl="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chemeClr val="accent1">
                    <a:lumMod val="75000"/>
                  </a:schemeClr>
                </a:solidFill>
                <a:latin typeface="Times New Roman" pitchFamily="18"/>
                <a:cs typeface="Times New Roman" pitchFamily="18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Отговор</a:t>
            </a:r>
            <a:endParaRPr lang="bg-BG" sz="2400" dirty="0">
              <a:solidFill>
                <a:schemeClr val="accent1">
                  <a:lumMod val="75000"/>
                </a:schemeClr>
              </a:solidFill>
              <a:latin typeface="Times New Roman" pitchFamily="18"/>
              <a:cs typeface="Times New Roman" pitchFamily="18"/>
            </a:endParaRPr>
          </a:p>
          <a:p>
            <a:pPr lvl="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bg-BG" sz="2400" dirty="0">
                <a:latin typeface="Times New Roman" pitchFamily="18"/>
                <a:cs typeface="Times New Roman" pitchFamily="18"/>
              </a:rPr>
              <a:t> 3. Избройте видовете мишки и </a:t>
            </a:r>
            <a:r>
              <a:rPr lang="bg-BG" sz="2400" dirty="0" err="1">
                <a:latin typeface="Times New Roman" pitchFamily="18"/>
                <a:cs typeface="Times New Roman" pitchFamily="18"/>
              </a:rPr>
              <a:t>обеснете</a:t>
            </a:r>
            <a:r>
              <a:rPr lang="bg-BG" sz="2400" dirty="0">
                <a:latin typeface="Times New Roman" pitchFamily="18"/>
                <a:cs typeface="Times New Roman" pitchFamily="18"/>
              </a:rPr>
              <a:t> на кратко принципа им на действие?</a:t>
            </a:r>
          </a:p>
          <a:p>
            <a:pPr lvl="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chemeClr val="accent1">
                    <a:lumMod val="75000"/>
                  </a:schemeClr>
                </a:solidFill>
                <a:latin typeface="Times New Roman" pitchFamily="18"/>
                <a:cs typeface="Times New Roman" pitchFamily="18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Отговор</a:t>
            </a:r>
            <a:endParaRPr lang="bg-BG" sz="2400" dirty="0">
              <a:solidFill>
                <a:schemeClr val="accent1">
                  <a:lumMod val="75000"/>
                </a:schemeClr>
              </a:solidFill>
              <a:latin typeface="Times New Roman" pitchFamily="18"/>
              <a:cs typeface="Times New Roman" pitchFamily="18"/>
            </a:endParaRPr>
          </a:p>
          <a:p>
            <a:pPr lvl="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bg-BG" sz="2400" dirty="0">
                <a:latin typeface="Times New Roman" pitchFamily="18"/>
                <a:cs typeface="Times New Roman" pitchFamily="18"/>
              </a:rPr>
              <a:t>4. Можете ли да обяснете принципа на действие на скенера?</a:t>
            </a:r>
          </a:p>
          <a:p>
            <a:pPr lvl="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chemeClr val="accent1">
                    <a:lumMod val="75000"/>
                  </a:schemeClr>
                </a:solidFill>
                <a:latin typeface="Times New Roman" pitchFamily="18"/>
                <a:cs typeface="Times New Roman" pitchFamily="18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Отговор</a:t>
            </a:r>
            <a:endParaRPr lang="bg-BG" sz="2400" dirty="0">
              <a:solidFill>
                <a:schemeClr val="accent1">
                  <a:lumMod val="75000"/>
                </a:schemeClr>
              </a:solidFill>
              <a:latin typeface="Times New Roman" pitchFamily="18"/>
              <a:cs typeface="Times New Roman" pitchFamily="18"/>
            </a:endParaRPr>
          </a:p>
          <a:p>
            <a:pPr lvl="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bg-BG" sz="2400" dirty="0">
                <a:latin typeface="Times New Roman" pitchFamily="18"/>
                <a:cs typeface="Times New Roman" pitchFamily="18"/>
              </a:rPr>
              <a:t>5. Запомнихте ли видовете скенери?</a:t>
            </a:r>
          </a:p>
          <a:p>
            <a:pPr lvl="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chemeClr val="accent1">
                    <a:lumMod val="75000"/>
                  </a:schemeClr>
                </a:solidFill>
                <a:latin typeface="Times New Roman" pitchFamily="18"/>
                <a:cs typeface="Times New Roman" pitchFamily="18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Отговор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bg-BG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5FB2A1-3197-A990-B1DF-8F3E50CC010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19217" y="1277567"/>
            <a:ext cx="5148371" cy="533724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bg-BG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6.Зпомнихте ли интерфейсите за скенери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bg-BG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Отговор</a:t>
            </a:r>
            <a:endParaRPr lang="bg-BG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bg-BG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Разбрахте ли как се свързва микрофона?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bg-BG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Отговор</a:t>
            </a:r>
            <a:endParaRPr lang="bg-BG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bg-BG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8.Знаете ли какво е уеб камера?</a:t>
            </a:r>
            <a:endParaRPr lang="bg-BG" sz="2800" b="0" i="0" u="none" strike="noStrike" kern="1200" cap="none" spc="0" baseline="0" dirty="0">
              <a:solidFill>
                <a:schemeClr val="bg1">
                  <a:lumMod val="95000"/>
                </a:schemeClr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bg-BG" sz="2800" b="0" i="0" u="none" strike="noStrike" kern="1200" cap="none" spc="0" baseline="0" dirty="0">
                <a:solidFill>
                  <a:schemeClr val="accent1">
                    <a:lumMod val="75000"/>
                  </a:schemeClr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Отговор</a:t>
            </a:r>
            <a:endParaRPr lang="bg-BG" sz="28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bg-BG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9.Разбрхте ли какъв е предшественика на компютърната клавиатура? </a:t>
            </a:r>
          </a:p>
          <a:p>
            <a:pPr marR="0" lvl="0" defTabSz="914400" rtl="0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bg-BG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Отговор</a:t>
            </a:r>
            <a:endParaRPr lang="bg-BG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bg-BG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10.Можете ли да кажете как работи механичната мишка?</a:t>
            </a:r>
            <a:endParaRPr lang="bg-BG" sz="2800" b="0" i="0" u="none" strike="noStrike" kern="1200" cap="none" spc="0" baseline="0" dirty="0">
              <a:solidFill>
                <a:schemeClr val="bg1">
                  <a:lumMod val="95000"/>
                </a:schemeClr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bg-BG" sz="2800" b="0" i="0" u="none" strike="noStrike" kern="1200" cap="none" spc="0" baseline="0" dirty="0">
                <a:solidFill>
                  <a:schemeClr val="accent1">
                    <a:lumMod val="75000"/>
                  </a:schemeClr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Отговор</a:t>
            </a:r>
            <a:endParaRPr lang="bg-BG" sz="2800" b="0" i="0" u="none" strike="noStrike" kern="1200" cap="none" spc="0" baseline="0" dirty="0">
              <a:solidFill>
                <a:schemeClr val="accent1">
                  <a:lumMod val="75000"/>
                </a:schemeClr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1775338"/>
      </p:ext>
    </p:extLst>
  </p:cSld>
  <p:clrMapOvr>
    <a:masterClrMapping/>
  </p:clrMapOvr>
  <p:transition spd="slow" advTm="21973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9DD4DEA-392E-2355-1AC1-9EC778B7F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Източници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7279BAC-CB18-2C5E-2A08-CB210473A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     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08D5FBE-212E-ADD6-5F3A-7FB11001F375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bg-BG" dirty="0"/>
              <a:t>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3FE6185-B482-CF2B-4618-6237999B3E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0262" y="1329448"/>
            <a:ext cx="10927235" cy="4889770"/>
          </a:xfrm>
        </p:spPr>
        <p:txBody>
          <a:bodyPr>
            <a:normAutofit fontScale="47500" lnSpcReduction="20000"/>
          </a:bodyPr>
          <a:lstStyle/>
          <a:p>
            <a:pPr marL="0" lvl="0" indent="0">
              <a:buNone/>
            </a:pPr>
            <a:r>
              <a:rPr lang="en-GB" sz="3800" dirty="0">
                <a:latin typeface="Times New Roman" pitchFamily="18"/>
                <a:cs typeface="Times New Roman" pitchFamily="1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https://en.wikipedia.org/wiki/Input_device</a:t>
            </a:r>
            <a:endParaRPr lang="bg-BG" sz="3800" dirty="0">
              <a:latin typeface="Times New Roman" pitchFamily="18"/>
              <a:cs typeface="Times New Roman" pitchFamily="18"/>
            </a:endParaRPr>
          </a:p>
          <a:p>
            <a:pPr marL="0" lvl="0" indent="0">
              <a:buNone/>
            </a:pPr>
            <a:r>
              <a:rPr lang="ru-RU" sz="38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Тема 23 - </a:t>
            </a:r>
            <a:r>
              <a:rPr lang="ru-RU" sz="38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Лекциите</a:t>
            </a:r>
            <a:r>
              <a:rPr lang="ru-RU" sz="38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на ФМИ (wikidot.com)</a:t>
            </a:r>
            <a:endParaRPr lang="ru-RU" sz="3800" dirty="0"/>
          </a:p>
          <a:p>
            <a:pPr marL="0" lvl="0" indent="0">
              <a:buNone/>
            </a:pPr>
            <a:r>
              <a:rPr lang="en-GB" sz="3800" dirty="0">
                <a:latin typeface="Times New Roman" pitchFamily="18"/>
                <a:cs typeface="Times New Roman" pitchFamily="1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http://tuj.asenevtsi.com/CA/CA125.htm</a:t>
            </a:r>
            <a:endParaRPr lang="bg-BG" sz="3800" dirty="0">
              <a:latin typeface="Times New Roman" pitchFamily="18"/>
              <a:cs typeface="Times New Roman" pitchFamily="18"/>
            </a:endParaRPr>
          </a:p>
          <a:p>
            <a:pPr marL="0" lvl="0" indent="0">
              <a:buNone/>
            </a:pPr>
            <a:r>
              <a:rPr lang="ru-RU" sz="38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▷ МИШКА С ЛАЗЕРЕН ИЛИ ОПТИЧЕН СЕНЗОР, КОЕ Е ПО-ДОБРЕ? - УРОЦИ - 2022 (comprating.com)</a:t>
            </a:r>
            <a:endParaRPr lang="bg-BG" sz="3800" dirty="0">
              <a:latin typeface="Times New Roman" pitchFamily="18"/>
              <a:cs typeface="Times New Roman" pitchFamily="18"/>
            </a:endParaRPr>
          </a:p>
          <a:p>
            <a:pPr marL="0" lvl="0" indent="0">
              <a:buNone/>
            </a:pPr>
            <a:r>
              <a:rPr lang="en-GB" sz="3800" dirty="0">
                <a:latin typeface="Times New Roman" pitchFamily="18"/>
                <a:cs typeface="Times New Roman" pitchFamily="18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http://www.daskalo.com/dobreva20152016/files/2018/02/%D0%A1%D0%9A%D0%95%D0%9D%D0%95%D0%A0%D0%98.pdf</a:t>
            </a:r>
            <a:endParaRPr lang="bg-BG" sz="3800" dirty="0">
              <a:latin typeface="Times New Roman" pitchFamily="18"/>
              <a:cs typeface="Times New Roman" pitchFamily="18"/>
            </a:endParaRPr>
          </a:p>
          <a:p>
            <a:pPr marL="0" lvl="0" indent="0">
              <a:buNone/>
            </a:pPr>
            <a:r>
              <a:rPr lang="en-US" sz="3800" dirty="0">
                <a:latin typeface="Times New Roman" pitchFamily="18"/>
                <a:cs typeface="Times New Roman" pitchFamily="18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https://shopdelta.eu/senzor-za-izobrazhenie-matrica_l13_aid740.html</a:t>
            </a:r>
            <a:endParaRPr lang="bg-BG" sz="3800" dirty="0">
              <a:latin typeface="Times New Roman" pitchFamily="18"/>
              <a:cs typeface="Times New Roman" pitchFamily="18"/>
            </a:endParaRPr>
          </a:p>
          <a:p>
            <a:pPr marL="0" lvl="0" indent="0">
              <a:buNone/>
            </a:pPr>
            <a:r>
              <a:rPr lang="ru-RU" sz="38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СИСТЕМА ЗА ЕЛЕКТРОННО ОБУЧЕНИЕ (pgmethaskovo.com)</a:t>
            </a:r>
            <a:endParaRPr lang="en-GB" sz="3800" dirty="0">
              <a:latin typeface="Times New Roman" pitchFamily="18"/>
              <a:cs typeface="Times New Roman" pitchFamily="18"/>
            </a:endParaRPr>
          </a:p>
          <a:p>
            <a:endParaRPr lang="bg-BG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AF10121-8903-A5CD-D676-5C709B91DCA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704475" y="6229903"/>
            <a:ext cx="4434840" cy="583800"/>
          </a:xfrm>
        </p:spPr>
        <p:txBody>
          <a:bodyPr/>
          <a:lstStyle/>
          <a:p>
            <a:pPr algn="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Александър Виденов 10г клас №1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363707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6.3|4|4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1|0.3|7.5|1.6|1.2|1.3|1.2|0.9|0.8"/>
</p:tagLst>
</file>

<file path=ppt/theme/theme1.xml><?xml version="1.0" encoding="utf-8"?>
<a:theme xmlns:a="http://schemas.openxmlformats.org/drawingml/2006/main" name="Bold Tech">
  <a:themeElements>
    <a:clrScheme name="16x9">
      <a:dk1>
        <a:srgbClr val="000000"/>
      </a:dk1>
      <a:lt1>
        <a:srgbClr val="FFFFFF"/>
      </a:lt1>
      <a:dk2>
        <a:srgbClr val="121312"/>
      </a:dk2>
      <a:lt2>
        <a:srgbClr val="FFFFFF"/>
      </a:lt2>
      <a:accent1>
        <a:srgbClr val="EE4036"/>
      </a:accent1>
      <a:accent2>
        <a:srgbClr val="121312"/>
      </a:accent2>
      <a:accent3>
        <a:srgbClr val="A5A5A5"/>
      </a:accent3>
      <a:accent4>
        <a:srgbClr val="252625"/>
      </a:accent4>
      <a:accent5>
        <a:srgbClr val="F1F5F5"/>
      </a:accent5>
      <a:accent6>
        <a:srgbClr val="FAFFFF"/>
      </a:accent6>
      <a:hlink>
        <a:srgbClr val="EE4036"/>
      </a:hlink>
      <a:folHlink>
        <a:srgbClr val="EE4036"/>
      </a:folHlink>
    </a:clrScheme>
    <a:fontScheme name="Custom 44">
      <a:majorFont>
        <a:latin typeface="MingLiU"/>
        <a:ea typeface=""/>
        <a:cs typeface=""/>
      </a:majorFont>
      <a:minorFont>
        <a:latin typeface="Meiryo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26422304-17E9-4530-8D08-4F277CB64269}" vid="{BCE6A17A-B98D-492A-82B2-0A1B358761B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Asian design presentation</Template>
  <TotalTime>95</TotalTime>
  <Words>1912</Words>
  <Application>Microsoft Office PowerPoint</Application>
  <PresentationFormat>Widescreen</PresentationFormat>
  <Paragraphs>118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Meiryo UI</vt:lpstr>
      <vt:lpstr>MingLiU</vt:lpstr>
      <vt:lpstr>Arial</vt:lpstr>
      <vt:lpstr>Calibri</vt:lpstr>
      <vt:lpstr>Times New Roman</vt:lpstr>
      <vt:lpstr>Wingdings</vt:lpstr>
      <vt:lpstr>Bold Tech</vt:lpstr>
      <vt:lpstr>Входни периферни устройства</vt:lpstr>
      <vt:lpstr>Съдържание</vt:lpstr>
      <vt:lpstr>Определение</vt:lpstr>
      <vt:lpstr>Kлавиатура</vt:lpstr>
      <vt:lpstr>  </vt:lpstr>
      <vt:lpstr>История</vt:lpstr>
      <vt:lpstr>Начин на робота</vt:lpstr>
      <vt:lpstr>Схема</vt:lpstr>
      <vt:lpstr>Интерфейс за клавиатура</vt:lpstr>
      <vt:lpstr>Мишка</vt:lpstr>
      <vt:lpstr>История</vt:lpstr>
      <vt:lpstr>Механична мишка</vt:lpstr>
      <vt:lpstr>Оптична мишка</vt:lpstr>
      <vt:lpstr>Лазерна мишка</vt:lpstr>
      <vt:lpstr>Интерфейси</vt:lpstr>
      <vt:lpstr>Скенер</vt:lpstr>
      <vt:lpstr>Принцип на действие</vt:lpstr>
      <vt:lpstr>Интерфейси за скенер</vt:lpstr>
      <vt:lpstr>CCD  матрица</vt:lpstr>
      <vt:lpstr>CIS матрица </vt:lpstr>
      <vt:lpstr>Видове скенери</vt:lpstr>
      <vt:lpstr>Микрофни</vt:lpstr>
      <vt:lpstr>Уеб камера</vt:lpstr>
      <vt:lpstr>Тест</vt:lpstr>
      <vt:lpstr>Източници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Входни периферни устройства</dc:title>
  <dc:creator>Александър В. Виденов</dc:creator>
  <cp:lastModifiedBy>Александър В. Виденов</cp:lastModifiedBy>
  <cp:revision>2</cp:revision>
  <dcterms:created xsi:type="dcterms:W3CDTF">2022-11-27T15:42:32Z</dcterms:created>
  <dcterms:modified xsi:type="dcterms:W3CDTF">2022-11-27T21:18:13Z</dcterms:modified>
</cp:coreProperties>
</file>