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Default Extension="mp4" ContentType="video/unknown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301" r:id="rId6"/>
    <p:sldId id="283" r:id="rId7"/>
    <p:sldId id="284" r:id="rId8"/>
    <p:sldId id="285" r:id="rId9"/>
    <p:sldId id="281" r:id="rId10"/>
    <p:sldId id="282" r:id="rId11"/>
    <p:sldId id="290" r:id="rId12"/>
    <p:sldId id="287" r:id="rId13"/>
    <p:sldId id="286" r:id="rId14"/>
    <p:sldId id="288" r:id="rId15"/>
    <p:sldId id="289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xmlns="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xmlns="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xmlns="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xmlns="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xmlns="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xmlns="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xmlns="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xmlns="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xmlns="" id="{FE469E50-3893-4ED6-92BA-2985C32B0C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4495" y="28927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bg-BG" sz="3200" dirty="0"/>
              <a:t>Външни</a:t>
            </a:r>
            <a:r>
              <a:rPr lang="bg-BG" sz="3600" dirty="0"/>
              <a:t> запомнящи устроиства</a:t>
            </a:r>
            <a:br>
              <a:rPr lang="bg-BG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7513FEF-6170-29AA-C834-1223FB0DE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5517F5-6676-81F0-F70C-E2C3D85E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Съдържание: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287B58F-243B-D58D-6B5C-657B9025AE68}"/>
              </a:ext>
            </a:extLst>
          </p:cNvPr>
          <p:cNvSpPr txBox="1"/>
          <p:nvPr/>
        </p:nvSpPr>
        <p:spPr>
          <a:xfrm>
            <a:off x="2071307" y="1620947"/>
            <a:ext cx="978138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bg-BG" sz="2400" dirty="0"/>
              <a:t>Въведение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2400" dirty="0"/>
              <a:t>Видове външни запомнящи устройства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2400" dirty="0"/>
              <a:t>Магнитен метод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2400" dirty="0"/>
              <a:t>Флопи дискове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2400" dirty="0"/>
              <a:t>Шпинделен двигател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2400" dirty="0"/>
              <a:t>Стъпков двигател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Как работи магнитната записващо-четяща глава?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Хард диск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Конструкция на твърд диск </a:t>
            </a:r>
            <a:r>
              <a:rPr lang="en-US" sz="2400" dirty="0"/>
              <a:t>(</a:t>
            </a:r>
            <a:r>
              <a:rPr lang="bg-BG" sz="2400" dirty="0"/>
              <a:t>хард диск</a:t>
            </a:r>
            <a:r>
              <a:rPr lang="en-US" sz="2400" dirty="0"/>
              <a:t>)</a:t>
            </a:r>
            <a:endParaRPr lang="bg-BG" sz="2400" dirty="0"/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 Съвременен твърд диск за персонален компютър </a:t>
            </a:r>
            <a:r>
              <a:rPr lang="bg-BG" sz="2400" dirty="0"/>
              <a:t>+ </a:t>
            </a:r>
            <a:r>
              <a:rPr lang="ru-RU" sz="2400" dirty="0"/>
              <a:t>Видео за въртенето на съвременен твърд диск</a:t>
            </a:r>
            <a:r>
              <a:rPr lang="bg-BG" sz="24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bg-BG" sz="2400" dirty="0"/>
              <a:t> Източници </a:t>
            </a:r>
          </a:p>
          <a:p>
            <a:pPr marL="342900" indent="-342900">
              <a:buFont typeface="+mj-lt"/>
              <a:buAutoNum type="arabicPeriod"/>
            </a:pPr>
            <a:endParaRPr lang="ru-RU" sz="2400" dirty="0"/>
          </a:p>
          <a:p>
            <a:pPr marL="342900" indent="-342900">
              <a:buFont typeface="+mj-lt"/>
              <a:buAutoNum type="arabicPeriod"/>
            </a:pPr>
            <a:endParaRPr lang="ru-RU" sz="2400" dirty="0"/>
          </a:p>
          <a:p>
            <a:pPr marL="342900" indent="-342900">
              <a:buFont typeface="+mj-lt"/>
              <a:buAutoNum type="arabicPeriod"/>
            </a:pPr>
            <a:endParaRPr lang="bg-BG" sz="2400" dirty="0"/>
          </a:p>
          <a:p>
            <a:pPr marL="342900" indent="-342900">
              <a:buFont typeface="+mj-lt"/>
              <a:buAutoNum type="arabicPeriod"/>
            </a:pPr>
            <a:endParaRPr lang="bg-BG" sz="2400" dirty="0"/>
          </a:p>
          <a:p>
            <a:pPr marL="342900" indent="-342900">
              <a:buFont typeface="+mj-lt"/>
              <a:buAutoNum type="arabicPeriod"/>
            </a:pPr>
            <a:endParaRPr lang="bg-BG" sz="2400" dirty="0"/>
          </a:p>
          <a:p>
            <a:pPr marL="342900" indent="-342900">
              <a:buFont typeface="+mj-lt"/>
              <a:buAutoNum type="arabicPeriod"/>
            </a:pPr>
            <a:endParaRPr lang="bg-BG" sz="2400" dirty="0"/>
          </a:p>
          <a:p>
            <a:pPr marL="342900" indent="-342900">
              <a:buFont typeface="+mj-lt"/>
              <a:buAutoNum type="arabicPeriod"/>
            </a:pPr>
            <a:endParaRPr lang="bg-BG" sz="2400" dirty="0"/>
          </a:p>
          <a:p>
            <a:pPr marL="342900" indent="-342900">
              <a:buFont typeface="+mj-lt"/>
              <a:buAutoNum type="arabicPeriod"/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95114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540D1E-58DB-18A1-0E53-E9BEAF20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31800"/>
            <a:ext cx="10353762" cy="1257300"/>
          </a:xfrm>
        </p:spPr>
        <p:txBody>
          <a:bodyPr>
            <a:normAutofit/>
          </a:bodyPr>
          <a:lstStyle/>
          <a:p>
            <a:r>
              <a:rPr lang="bg-BG" sz="3200" dirty="0"/>
              <a:t>Въведение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C39828B-0216-EFEE-F5EF-54D80C782A82}"/>
              </a:ext>
            </a:extLst>
          </p:cNvPr>
          <p:cNvSpPr txBox="1"/>
          <p:nvPr/>
        </p:nvSpPr>
        <p:spPr>
          <a:xfrm>
            <a:off x="1169992" y="1501339"/>
            <a:ext cx="62822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Външни запомнящи устройства са всички устройства, които предоставят някакъв вид</a:t>
            </a:r>
          </a:p>
          <a:p>
            <a:r>
              <a:rPr lang="ru-RU" sz="2400" dirty="0"/>
              <a:t>енергонезависима памет за една компютърна система, без тази, която е интегрирана в</a:t>
            </a:r>
          </a:p>
          <a:p>
            <a:r>
              <a:rPr lang="ru-RU" sz="2400" dirty="0"/>
              <a:t>базовата конфигурация. Към външните запомнящи устройства се причисляват: твърдите</a:t>
            </a:r>
          </a:p>
          <a:p>
            <a:r>
              <a:rPr lang="ru-RU" sz="2400" dirty="0"/>
              <a:t>дискове (HD); интегралните дискове (SSD); оптични дискове (CD, DVD, Bluray и холограмни</a:t>
            </a:r>
          </a:p>
          <a:p>
            <a:r>
              <a:rPr lang="ru-RU" sz="2400" dirty="0"/>
              <a:t>дискове); външна флаш памет и др. </a:t>
            </a:r>
            <a:endParaRPr lang="bg-BG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EFC9855-C78D-B709-FABD-0B1079BDC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131" y="1391273"/>
            <a:ext cx="3151769" cy="2456891"/>
          </a:xfrm>
          <a:prstGeom prst="rect">
            <a:avLst/>
          </a:prstGeom>
          <a:ln>
            <a:noFill/>
          </a:ln>
          <a:effectLst>
            <a:reflection blurRad="6350" stA="50000" endA="295" endPos="92000" dist="101600" dir="5400000" sy="-100000" algn="bl" rotWithShape="0"/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6565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5159935-FC56-2664-1402-D6182D818939}"/>
              </a:ext>
            </a:extLst>
          </p:cNvPr>
          <p:cNvSpPr txBox="1"/>
          <p:nvPr/>
        </p:nvSpPr>
        <p:spPr>
          <a:xfrm>
            <a:off x="702491" y="942973"/>
            <a:ext cx="463150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Комуникацията между външните запомнящи</a:t>
            </a:r>
          </a:p>
          <a:p>
            <a:r>
              <a:rPr lang="ru-RU" sz="2400" dirty="0"/>
              <a:t>устройства и компютърната конфигурация се реализира чрез специализирани интерфейси</a:t>
            </a:r>
          </a:p>
          <a:p>
            <a:r>
              <a:rPr lang="ru-RU" sz="2400" dirty="0"/>
              <a:t>(ATA, SATA, SCSI) или интерфейси с общо приложение (USB). Скоростта на обмен с</a:t>
            </a:r>
          </a:p>
          <a:p>
            <a:r>
              <a:rPr lang="ru-RU" sz="2400" dirty="0"/>
              <a:t>външните запомнящи устройства е важен параметър, който се задава в MiB/s или GiB/s. </a:t>
            </a:r>
            <a:endParaRPr lang="bg-BG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08D0B98-2477-8755-DDB2-A72BC15936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82" r="9186"/>
          <a:stretch/>
        </p:blipFill>
        <p:spPr>
          <a:xfrm>
            <a:off x="4605867" y="1278466"/>
            <a:ext cx="6257110" cy="4301067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</p:spTree>
    <p:extLst>
      <p:ext uri="{BB962C8B-B14F-4D97-AF65-F5344CB8AC3E}">
        <p14:creationId xmlns:p14="http://schemas.microsoft.com/office/powerpoint/2010/main" val="186931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2FFE3D0-C83D-7C4E-DCB6-B9B784F51E39}"/>
              </a:ext>
            </a:extLst>
          </p:cNvPr>
          <p:cNvSpPr txBox="1"/>
          <p:nvPr/>
        </p:nvSpPr>
        <p:spPr>
          <a:xfrm>
            <a:off x="186266" y="428178"/>
            <a:ext cx="680720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Всички видове външни запомнящи устройства са проектирани да обменят информация в</a:t>
            </a:r>
          </a:p>
          <a:p>
            <a:r>
              <a:rPr lang="ru-RU" sz="2400" dirty="0"/>
              <a:t>блоков режим. Размерът на блока зависи единствено от типа на запомнящото устройство.</a:t>
            </a:r>
          </a:p>
          <a:p>
            <a:r>
              <a:rPr lang="ru-RU" sz="2400" dirty="0"/>
              <a:t>Следователно, най-малкото количество информация, което може да се прочете или</a:t>
            </a:r>
          </a:p>
          <a:p>
            <a:r>
              <a:rPr lang="ru-RU" sz="2400" dirty="0"/>
              <a:t>запише от / в диска е един блок данни. . За да може една операционна система да работи с</a:t>
            </a:r>
          </a:p>
          <a:p>
            <a:r>
              <a:rPr lang="ru-RU" sz="2400" dirty="0"/>
              <a:t>различни типове външни запомнящи устройства от различни производители се използват</a:t>
            </a:r>
          </a:p>
          <a:p>
            <a:r>
              <a:rPr lang="ru-RU" sz="2400" dirty="0"/>
              <a:t>програмни модули наречени драйвери. Драйверът е част от BIOS (UEFI), част от операционната система или допълнително инсталиран от потребителя.</a:t>
            </a:r>
            <a:endParaRPr lang="bg-BG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DC185C5-8D34-FC31-3C59-D1C4B1C5F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38" y="558799"/>
            <a:ext cx="5658662" cy="5740399"/>
          </a:xfrm>
          <a:prstGeom prst="rect">
            <a:avLst/>
          </a:prstGeom>
          <a:effectLst/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xmlns="" id="{3EBDFD2E-72C6-1A36-04C7-D4EB4353E6CD}"/>
              </a:ext>
            </a:extLst>
          </p:cNvPr>
          <p:cNvCxnSpPr>
            <a:cxnSpLocks/>
          </p:cNvCxnSpPr>
          <p:nvPr/>
        </p:nvCxnSpPr>
        <p:spPr>
          <a:xfrm>
            <a:off x="4614333" y="5183410"/>
            <a:ext cx="3937000" cy="396123"/>
          </a:xfrm>
          <a:prstGeom prst="bentConnector3">
            <a:avLst>
              <a:gd name="adj1" fmla="val 35376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45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173F1C-8009-C92B-1BBF-01515BE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238" y="832872"/>
            <a:ext cx="10353762" cy="1257300"/>
          </a:xfrm>
        </p:spPr>
        <p:txBody>
          <a:bodyPr>
            <a:normAutofit/>
          </a:bodyPr>
          <a:lstStyle/>
          <a:p>
            <a:r>
              <a:rPr lang="bg-BG" sz="3200" dirty="0"/>
              <a:t>Магнитен метод</a:t>
            </a:r>
            <a:br>
              <a:rPr lang="bg-BG" sz="3200" dirty="0"/>
            </a:br>
            <a:endParaRPr lang="bg-BG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BBB44D5-0040-A3B0-5E3A-B7BFA966065C}"/>
              </a:ext>
            </a:extLst>
          </p:cNvPr>
          <p:cNvSpPr txBox="1"/>
          <p:nvPr/>
        </p:nvSpPr>
        <p:spPr>
          <a:xfrm>
            <a:off x="1202267" y="2090172"/>
            <a:ext cx="101007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Магнитните ВЗУ са най-разпространените външни памети за персоналните компютри. В зависимост от времето за достъп до блоковете от информация, те се разделят на ВЗУ с пряк достъп (дискови запомнящи устройства), и ВЗУ с последователен достъп (лентови запомнящи устройства - стримери). За целта трябва да взаимодействат два елемента - информационен носител (диск, лента),  върху чиято повърхност е нанесен магнитен материал, и магнитна глава, с която се извършва записа или четенето на информация върху/от носителя.. 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72619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50DDC1-6326-EB21-5457-39C289AF4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8" y="355602"/>
            <a:ext cx="2921000" cy="292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1B49701-F408-973D-BB47-94B30933D050}"/>
              </a:ext>
            </a:extLst>
          </p:cNvPr>
          <p:cNvSpPr txBox="1"/>
          <p:nvPr/>
        </p:nvSpPr>
        <p:spPr>
          <a:xfrm>
            <a:off x="3520017" y="789725"/>
            <a:ext cx="3589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Информационен носител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38B0B906-416C-6D86-8CF8-DB4DAF97DF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781"/>
          <a:stretch/>
        </p:blipFill>
        <p:spPr>
          <a:xfrm>
            <a:off x="3292430" y="3581399"/>
            <a:ext cx="3095996" cy="26724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7495DBB-F60A-D95C-CFB1-878BA1B204E8}"/>
              </a:ext>
            </a:extLst>
          </p:cNvPr>
          <p:cNvSpPr txBox="1"/>
          <p:nvPr/>
        </p:nvSpPr>
        <p:spPr>
          <a:xfrm>
            <a:off x="228601" y="3581399"/>
            <a:ext cx="3445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Магнитна глава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BABD5244-BAAA-5F99-6A43-8DC14A033B59}"/>
              </a:ext>
            </a:extLst>
          </p:cNvPr>
          <p:cNvCxnSpPr>
            <a:cxnSpLocks/>
          </p:cNvCxnSpPr>
          <p:nvPr/>
        </p:nvCxnSpPr>
        <p:spPr>
          <a:xfrm>
            <a:off x="321733" y="4043064"/>
            <a:ext cx="3496734" cy="1401003"/>
          </a:xfrm>
          <a:prstGeom prst="bentConnector3">
            <a:avLst>
              <a:gd name="adj1" fmla="val 635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24E2E82-58A6-F802-1305-6357F43ACD8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70284" y="1269826"/>
            <a:ext cx="2945852" cy="5398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B12A866F-F20C-72D2-6EC1-C214D2CD497C}"/>
              </a:ext>
            </a:extLst>
          </p:cNvPr>
          <p:cNvSpPr txBox="1"/>
          <p:nvPr/>
        </p:nvSpPr>
        <p:spPr>
          <a:xfrm>
            <a:off x="6424085" y="1390562"/>
            <a:ext cx="4927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400" dirty="0"/>
              <a:t>Траекторията на движението на носителя под главата се нарича писта. Традиционните ВЗУ използват индуктивни глави за четене- движещите се магнитни домени на магнитния носител индуцират много малък ток в главата, електрониката на диска преобразува импулсите от ток в битове. Обикновено една и съща физическа глава извършва и четенето, и записа.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25662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8B5C1F-FF31-6964-8320-A9E6BCA4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Магнитен метод</a:t>
            </a:r>
            <a:br>
              <a:rPr lang="bg-BG" sz="3200" dirty="0"/>
            </a:br>
            <a:endParaRPr lang="bg-BG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946560C-9755-4461-FA2A-8BBF809E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458" y="1350467"/>
            <a:ext cx="9343942" cy="524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9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957248-27BD-A5C2-036D-3A8370561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4667"/>
            <a:ext cx="10353762" cy="1257300"/>
          </a:xfrm>
        </p:spPr>
        <p:txBody>
          <a:bodyPr>
            <a:normAutofit/>
          </a:bodyPr>
          <a:lstStyle/>
          <a:p>
            <a:r>
              <a:rPr lang="bg-BG" sz="3200" dirty="0"/>
              <a:t>Уинчестър отвътре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AE21E63-ABC6-6786-6770-339A1FB5C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979" y="1151467"/>
            <a:ext cx="6630042" cy="503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4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C3ACD0-BD97-F579-C206-C2C195B8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Флопи дискове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1408711-7CE6-1B21-CD21-4940CFE94289}"/>
              </a:ext>
            </a:extLst>
          </p:cNvPr>
          <p:cNvSpPr txBox="1"/>
          <p:nvPr/>
        </p:nvSpPr>
        <p:spPr>
          <a:xfrm>
            <a:off x="745067" y="1778000"/>
            <a:ext cx="5029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Запаметяващо устройство на гъвкав магнитен диск (ЗУГМД) е запаметяващо устройство с произволен достъп, използвано за запис/четене на информация от дискети. Устройството се състои от записващо/четяща глава, управляваща логика, шпинделен двигател и позиционер (най-често стъпков двигател). </a:t>
            </a:r>
            <a:endParaRPr lang="bg-BG" sz="2400" dirty="0"/>
          </a:p>
        </p:txBody>
      </p:sp>
      <p:pic>
        <p:nvPicPr>
          <p:cNvPr id="1028" name="Picture 4" descr="Флопи дискета Fullmark MFD 2HD, 1.44MB, 3,5&quot;">
            <a:extLst>
              <a:ext uri="{FF2B5EF4-FFF2-40B4-BE49-F238E27FC236}">
                <a16:creationId xmlns:a16="http://schemas.microsoft.com/office/drawing/2014/main" xmlns="" id="{7FCED174-E7CB-C179-AB2F-41A04A23E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662" y="1575842"/>
            <a:ext cx="47625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49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C77A8E-1B79-D4BB-AF85-8B3CF66E0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27000"/>
            <a:ext cx="10353762" cy="1257300"/>
          </a:xfrm>
        </p:spPr>
        <p:txBody>
          <a:bodyPr>
            <a:normAutofit/>
          </a:bodyPr>
          <a:lstStyle/>
          <a:p>
            <a:r>
              <a:rPr lang="bg-BG" sz="3200" dirty="0"/>
              <a:t>Шпинделен двигател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5FB21F2-E506-C66F-2AA8-EBAE07690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40" y="1523999"/>
            <a:ext cx="5142752" cy="357187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35B80CD-4493-F3E9-DB1B-4EB64B47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12999"/>
            <a:ext cx="5613954" cy="269134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761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E546C8-9DFF-34E2-928F-BF64830E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Стъпков двигател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F390EE2-805E-3381-F371-87834100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96" y="1690234"/>
            <a:ext cx="4690004" cy="34775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310F7B4-ADA9-40C5-4920-1DB4C19D7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976" y="2299230"/>
            <a:ext cx="5979628" cy="37290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8364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15E97A-7455-A158-54EF-E4CDDD04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Как работи магнитната записващо-четяща глава?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DE92D0E-12AD-EB5A-610F-A0FC19D37F5C}"/>
              </a:ext>
            </a:extLst>
          </p:cNvPr>
          <p:cNvSpPr txBox="1"/>
          <p:nvPr/>
        </p:nvSpPr>
        <p:spPr>
          <a:xfrm>
            <a:off x="1265463" y="2360013"/>
            <a:ext cx="9650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 Магнитната записващо-четяща глава работи при условията на пълен контакт между глава и магнитен диск. Запаметяващите устройства са с едностранен или двустранен запис и съответно магнитните глави са едностранни и двустранни. Притискането на магнитните глави към флопи диска се осъществява посредством притискащо кече при едностранния запис, а при двустранния чрез притискане на двете глави с пружина.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3195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234103-C027-03C6-6058-5F12FF402EFD}"/>
              </a:ext>
            </a:extLst>
          </p:cNvPr>
          <p:cNvSpPr txBox="1"/>
          <p:nvPr/>
        </p:nvSpPr>
        <p:spPr>
          <a:xfrm>
            <a:off x="584200" y="821267"/>
            <a:ext cx="34967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началото на 21 век флопидисковите устройства постепенно са изместени от презаписваеми компактдискове, а по-късно и флаш-памети, преносими твърди дискове и външни SSD-устройства, често наричани „SSD-флашки“.</a:t>
            </a:r>
            <a:endParaRPr lang="bg-BG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62ECDC7-43B9-F01B-2603-D7CACDCD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0" y="228600"/>
            <a:ext cx="6858000" cy="6858000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xmlns="" id="{FDEBC1A0-59A4-3C64-6398-5A96E896FA50}"/>
              </a:ext>
            </a:extLst>
          </p:cNvPr>
          <p:cNvCxnSpPr>
            <a:cxnSpLocks/>
          </p:cNvCxnSpPr>
          <p:nvPr/>
        </p:nvCxnSpPr>
        <p:spPr>
          <a:xfrm>
            <a:off x="685800" y="1625600"/>
            <a:ext cx="4292600" cy="2167467"/>
          </a:xfrm>
          <a:prstGeom prst="bentConnector3">
            <a:avLst>
              <a:gd name="adj1" fmla="val 8037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27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3E1BE2-7738-1986-304B-7B0DF412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Презаписваеми компактдискове</a:t>
            </a:r>
          </a:p>
        </p:txBody>
      </p:sp>
      <p:pic>
        <p:nvPicPr>
          <p:cNvPr id="3074" name="Picture 2" descr="CDs und DVDs | Umweltbundesamt">
            <a:extLst>
              <a:ext uri="{FF2B5EF4-FFF2-40B4-BE49-F238E27FC236}">
                <a16:creationId xmlns:a16="http://schemas.microsoft.com/office/drawing/2014/main" xmlns="" id="{B27CCB4B-26C1-968C-06E6-6D95E47ED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562" y="1634066"/>
            <a:ext cx="7254875" cy="483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66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D57BF1-EF74-4C0F-614B-67C69414E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Флаш-памети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7C4FA22-AD49-4BFB-CAC7-0D8B23B62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73" y="1571266"/>
            <a:ext cx="8230205" cy="488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2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9B9246-1026-1F28-1664-3C56587D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Външни </a:t>
            </a:r>
            <a:r>
              <a:rPr lang="en-US" sz="3200" dirty="0"/>
              <a:t>SSD-</a:t>
            </a:r>
            <a:r>
              <a:rPr lang="bg-BG" sz="3200" dirty="0"/>
              <a:t>устройства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497163D-B96A-FF4D-33D0-BA8708CA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1866900"/>
            <a:ext cx="4629150" cy="4581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B659B72-8A9B-B890-69C2-200EA9983E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38" r="27776"/>
          <a:stretch/>
        </p:blipFill>
        <p:spPr>
          <a:xfrm>
            <a:off x="6578601" y="1866900"/>
            <a:ext cx="4199466" cy="356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0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4B54DE-78D4-C50D-B252-A7EACDB3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Хард диск</a:t>
            </a:r>
          </a:p>
        </p:txBody>
      </p:sp>
      <p:pic>
        <p:nvPicPr>
          <p:cNvPr id="5122" name="Picture 2" descr="Hard disk drive - Wikipedia">
            <a:extLst>
              <a:ext uri="{FF2B5EF4-FFF2-40B4-BE49-F238E27FC236}">
                <a16:creationId xmlns:a16="http://schemas.microsoft.com/office/drawing/2014/main" xmlns="" id="{2E499357-4A20-4E39-A94A-AC89E2FD6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724" y="1651000"/>
            <a:ext cx="9891904" cy="492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54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2A88261-1248-D191-0DB9-B1598BBEE71E}"/>
              </a:ext>
            </a:extLst>
          </p:cNvPr>
          <p:cNvSpPr txBox="1"/>
          <p:nvPr/>
        </p:nvSpPr>
        <p:spPr>
          <a:xfrm>
            <a:off x="1397000" y="1166842"/>
            <a:ext cx="939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Твърдият диск</a:t>
            </a:r>
            <a:r>
              <a:rPr lang="ru-RU" sz="2400" dirty="0"/>
              <a:t>, наричан още хард диск или жаргонно само хард, е запаметяващо устройство от енергонезависим тип. Информацията се съхранява чрез магнитен запис върху покрити със специален слой плочи. Прилагателното „твърд“ подчертава разликата спрямо гъвкавия магнитен диск и напомня за историческото наименование запаметяващо устройство с твърд магнитен диск (ЗУТМД) използвано през 70-те и 80-те години на XX век. Необходимостта от съхраняване на все повече информация налага устройства, използващи сменяеми дискови пакети с магнитни дискове, които разговорно също са наричани дискови пакети. Дисковият пакет се върти с постоянна ъглова скорост около оста си.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89190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DDF3FB-35C3-C078-6265-1F136C50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Конструкция на твърд диск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594B373-252B-B921-F6A2-CB78309E635B}"/>
              </a:ext>
            </a:extLst>
          </p:cNvPr>
          <p:cNvSpPr txBox="1"/>
          <p:nvPr/>
        </p:nvSpPr>
        <p:spPr>
          <a:xfrm>
            <a:off x="1040309" y="1642534"/>
            <a:ext cx="101007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Запаметяващото устройство използва набор от една или повече дискови плочи (диска) около обща ос в т.нар. дисков пакет. Всяка плоча е покрита с магнитен слой, върху който информацията се записва и чете от магнитна глава. Данните се записват върху концентрични окръжности, които се наричат „пътечки“ (писти). Пистите се номерират за всяка плоча поотделно, като се започва от нулева (най-външната работна) до последната (с най-голям номер). Обикновено след нея има и няколко резервни (запасни).</a:t>
            </a:r>
          </a:p>
          <a:p>
            <a:r>
              <a:rPr lang="ru-RU" sz="2400" dirty="0"/>
              <a:t>Целият дисков пакет се върти с постоянна ъглова скорост около оста си, задвижван от електродвигател. При старите и големи устройства той е дори мощен трифазен електродвигател, свързан чрез ремъчна предавка с шпиндел, на който е фиксиран дисковият пакет.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86409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E304FB-7D13-92DF-E67B-BA7BF317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Съвременен твърд диск за персонален компютър със свален защитен капак</a:t>
            </a:r>
            <a:endParaRPr lang="bg-BG"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CA06DB11-7EAB-FA13-BFDE-5FA5E3101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32" y="1960034"/>
            <a:ext cx="5825067" cy="412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5413CB7-23AB-5A7B-A592-228D3A4A3362}"/>
              </a:ext>
            </a:extLst>
          </p:cNvPr>
          <p:cNvSpPr txBox="1"/>
          <p:nvPr/>
        </p:nvSpPr>
        <p:spPr>
          <a:xfrm>
            <a:off x="7255933" y="2458737"/>
            <a:ext cx="4106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Видео за въртенето на съвременен твърд диск</a:t>
            </a:r>
            <a:r>
              <a:rPr lang="bg-BG" sz="2400" dirty="0"/>
              <a:t>:</a:t>
            </a:r>
          </a:p>
        </p:txBody>
      </p:sp>
      <p:pic>
        <p:nvPicPr>
          <p:cNvPr id="7" name="0-02-05-4d6d9c70a14b447b809fded96548169325abfda563f60dd5e86cd098ceec2856_c1d3007ce0185782">
            <a:hlinkClick r:id="" action="ppaction://media"/>
            <a:extLst>
              <a:ext uri="{FF2B5EF4-FFF2-40B4-BE49-F238E27FC236}">
                <a16:creationId xmlns:a16="http://schemas.microsoft.com/office/drawing/2014/main" xmlns="" id="{1D6EC9A2-9525-B9DF-3ADF-631AE1B043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57066" y="3452369"/>
            <a:ext cx="3505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8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1BD621-2B0C-E645-7EF8-A8073031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Източници: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E174911-6545-55E2-DC4D-3BAE352BD282}"/>
              </a:ext>
            </a:extLst>
          </p:cNvPr>
          <p:cNvSpPr txBox="1"/>
          <p:nvPr/>
        </p:nvSpPr>
        <p:spPr>
          <a:xfrm>
            <a:off x="1482173" y="1540752"/>
            <a:ext cx="921700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https://pgmethaskovo.com/v3/images/uchebni%20materiali/periferni%20u_va/komp.periferia/mcvbstudio/mcvbstudio.com/krasi/-page=2.5.htm#2</a:t>
            </a:r>
          </a:p>
          <a:p>
            <a:r>
              <a:rPr lang="en-US" dirty="0"/>
              <a:t>https://www.wikipedia.org/</a:t>
            </a:r>
          </a:p>
          <a:p>
            <a:r>
              <a:rPr lang="en-US" dirty="0"/>
              <a:t>http://kst.tugab.bg/dl/week5/OK-Lec-5.pdf</a:t>
            </a:r>
          </a:p>
          <a:p>
            <a:r>
              <a:rPr lang="en-US" dirty="0"/>
              <a:t>https://bg.wikipedia.org/wiki/%D0%A4%D0%BB%D0%BE%D0%BF%D0%B8-%D0%B4%D0%B8%D1%81%D0%BA%D0%BE%D0%B2%D0%BE_%D1%83%D1%81%D1%82%D1%80%D0%BE%D0%B9%D1%81%D1%82%D0%B2%D0%BE</a:t>
            </a:r>
          </a:p>
          <a:p>
            <a:r>
              <a:rPr lang="en-US" dirty="0"/>
              <a:t>https://www.engineering-review.bg/bg/motor-shpindeli/2/3219/</a:t>
            </a:r>
          </a:p>
          <a:p>
            <a:r>
              <a:rPr lang="en-US" dirty="0"/>
              <a:t>https://bg.wikipedia.org/wiki/%D0%A1%D1%82%D1%8A%D0%BF%D0%BA%D0%BE%D0%B2_%D0%B4%D0%B2%D0%B8%D0%B3%D0%B0%D1%82%D0%B5%D0%BB</a:t>
            </a:r>
          </a:p>
          <a:p>
            <a:r>
              <a:rPr lang="en-US" dirty="0"/>
              <a:t>https://my.electricianexp.com/chto-takoe-shagovyj-dvigatel-zachem-on-nuzhen-i-kak-rabotaet.html</a:t>
            </a:r>
          </a:p>
          <a:p>
            <a:r>
              <a:rPr lang="en-US" dirty="0"/>
              <a:t>https://prezi.com/kpojrpchvw6y/presentation/</a:t>
            </a:r>
          </a:p>
          <a:p>
            <a:r>
              <a:rPr lang="en-US" dirty="0"/>
              <a:t>https://bg.wikipedia.org/wiki/%D0%A2%D0%B2%D1%8A%D1%80%D0%B4_%D0%B4%D0%B8%D1%81%D0%BA</a:t>
            </a:r>
            <a:endParaRPr lang="bg-B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BB9237F-B802-7873-45BB-568E740BBB6D}"/>
              </a:ext>
            </a:extLst>
          </p:cNvPr>
          <p:cNvSpPr txBox="1"/>
          <p:nvPr/>
        </p:nvSpPr>
        <p:spPr>
          <a:xfrm>
            <a:off x="6646333" y="5884334"/>
            <a:ext cx="5266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/>
              <a:t>Представено от Кирил Димитров</a:t>
            </a:r>
          </a:p>
        </p:txBody>
      </p:sp>
    </p:spTree>
    <p:extLst>
      <p:ext uri="{BB962C8B-B14F-4D97-AF65-F5344CB8AC3E}">
        <p14:creationId xmlns:p14="http://schemas.microsoft.com/office/powerpoint/2010/main" val="42949310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{FEA462FE-4A8C-46D6-85C8-53F41D5BD9C8}tf11665031_win32</Template>
  <TotalTime>197</TotalTime>
  <Words>868</Words>
  <Application>Microsoft Office PowerPoint</Application>
  <PresentationFormat>Custom</PresentationFormat>
  <Paragraphs>70</Paragraphs>
  <Slides>22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SlateVTI</vt:lpstr>
      <vt:lpstr>Външни запомнящи устроиства </vt:lpstr>
      <vt:lpstr>Съдържание:</vt:lpstr>
      <vt:lpstr>Въведение</vt:lpstr>
      <vt:lpstr>PowerPoint Presentation</vt:lpstr>
      <vt:lpstr>PowerPoint Presentation</vt:lpstr>
      <vt:lpstr>Магнитен метод </vt:lpstr>
      <vt:lpstr>PowerPoint Presentation</vt:lpstr>
      <vt:lpstr>Магнитен метод </vt:lpstr>
      <vt:lpstr>Уинчестър отвътре</vt:lpstr>
      <vt:lpstr>Флопи дискове </vt:lpstr>
      <vt:lpstr>Шпинделен двигател </vt:lpstr>
      <vt:lpstr>Стъпков двигател</vt:lpstr>
      <vt:lpstr>Как работи магнитната записващо-четяща глава?</vt:lpstr>
      <vt:lpstr>PowerPoint Presentation</vt:lpstr>
      <vt:lpstr>Презаписваеми компактдискове</vt:lpstr>
      <vt:lpstr>Флаш-памети</vt:lpstr>
      <vt:lpstr>Външни SSD-устройства</vt:lpstr>
      <vt:lpstr>Хард диск</vt:lpstr>
      <vt:lpstr>PowerPoint Presentation</vt:lpstr>
      <vt:lpstr>Конструкция на твърд диск</vt:lpstr>
      <vt:lpstr>Съвременен твърд диск за персонален компютър със свален защитен капак</vt:lpstr>
      <vt:lpstr>Източници: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Външни запомнящи устроиства</dc:title>
  <dc:creator>nia.kazakova@artisbg.com</dc:creator>
  <cp:lastModifiedBy>PC-0</cp:lastModifiedBy>
  <cp:revision>5</cp:revision>
  <dcterms:created xsi:type="dcterms:W3CDTF">2022-12-20T14:21:36Z</dcterms:created>
  <dcterms:modified xsi:type="dcterms:W3CDTF">2022-12-21T07:13:24Z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