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34"/>
  </p:notesMasterIdLst>
  <p:handoutMasterIdLst>
    <p:handoutMasterId r:id="rId35"/>
  </p:handoutMasterIdLst>
  <p:sldIdLst>
    <p:sldId id="257" r:id="rId5"/>
    <p:sldId id="268" r:id="rId6"/>
    <p:sldId id="269" r:id="rId7"/>
    <p:sldId id="274" r:id="rId8"/>
    <p:sldId id="275" r:id="rId9"/>
    <p:sldId id="262" r:id="rId10"/>
    <p:sldId id="276" r:id="rId11"/>
    <p:sldId id="263" r:id="rId12"/>
    <p:sldId id="271" r:id="rId13"/>
    <p:sldId id="277" r:id="rId14"/>
    <p:sldId id="278" r:id="rId15"/>
    <p:sldId id="279" r:id="rId16"/>
    <p:sldId id="280" r:id="rId17"/>
    <p:sldId id="282" r:id="rId18"/>
    <p:sldId id="281" r:id="rId19"/>
    <p:sldId id="290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1" r:id="rId28"/>
    <p:sldId id="293" r:id="rId29"/>
    <p:sldId id="292" r:id="rId30"/>
    <p:sldId id="294" r:id="rId31"/>
    <p:sldId id="295" r:id="rId32"/>
    <p:sldId id="296" r:id="rId33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B098"/>
    <a:srgbClr val="74F2B5"/>
    <a:srgbClr val="4CA5E6"/>
    <a:srgbClr val="394404"/>
    <a:srgbClr val="5F6F0F"/>
    <a:srgbClr val="718412"/>
    <a:srgbClr val="65741A"/>
    <a:srgbClr val="70811D"/>
    <a:srgbClr val="7B8D1F"/>
    <a:srgbClr val="8397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57D837-3530-468C-8E60-4634133BC01E}" v="155" dt="2022-12-20T00:06:40.764"/>
    <p1510:client id="{15DA680D-9362-421D-8CB0-912D9FE65DAB}" v="565" dt="2022-12-19T23:26:37.901"/>
    <p1510:client id="{63D95472-90BD-4A7F-A18D-B4E3A1C604D8}" v="699" dt="2022-12-19T21:58:42.952"/>
    <p1510:client id="{B5238EF0-7D6A-45F3-AA5C-1365B0A9A540}" v="1019" dt="2022-12-15T22:04:24.291"/>
    <p1510:client id="{FE265EB9-A5D7-4044-B7D2-801942749368}" v="175" dt="2022-12-20T08:32:19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39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12/20/2022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12/20/2022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12/20/2022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12/20/2022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12/20/2022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12/20/2022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12/20/2022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12/20/2022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12/20/2022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12/20/2022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12/20/2022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12/20/2022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12/20/2022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12/20/2022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it.net-bg.info/Uroc/Plotter.htm" TargetMode="External"/><Relationship Id="rId2" Type="http://schemas.openxmlformats.org/officeDocument/2006/relationships/hyperlink" Target="https://pgmethaskovo.com/v3/images/uchebni%20materiali/periferni%20u_va/grafichni%20karti%20radeon.ht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hop.div-ltd.com/index.php?option=com_content&amp;view=article&amp;id=53:2010-04-20-08-33-41&amp;catid=41:2010-04-19-11-40-42&amp;Itemid=98" TargetMode="External"/><Relationship Id="rId5" Type="http://schemas.openxmlformats.org/officeDocument/2006/relationships/hyperlink" Target="http://www.monitoribg.com/p/harakteristiki-na-monitora.html" TargetMode="External"/><Relationship Id="rId4" Type="http://schemas.openxmlformats.org/officeDocument/2006/relationships/hyperlink" Target="https://nauka.bg/svedeniya-printerite/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22311" y="584200"/>
            <a:ext cx="9155334" cy="774384"/>
          </a:xfrm>
        </p:spPr>
        <p:txBody>
          <a:bodyPr>
            <a:normAutofit/>
          </a:bodyPr>
          <a:lstStyle/>
          <a:p>
            <a:pPr algn="ctr"/>
            <a:r>
              <a:rPr lang="en-US" sz="4400">
                <a:solidFill>
                  <a:srgbClr val="54B098"/>
                </a:solidFill>
                <a:latin typeface="Calibri"/>
                <a:ea typeface="Cambria"/>
                <a:cs typeface="Calibri"/>
              </a:rPr>
              <a:t>Изходни </a:t>
            </a:r>
            <a:r>
              <a:rPr lang="en-US" sz="4400" err="1">
                <a:solidFill>
                  <a:srgbClr val="54B098"/>
                </a:solidFill>
                <a:latin typeface="Calibri"/>
                <a:ea typeface="Cambria"/>
                <a:cs typeface="Calibri"/>
              </a:rPr>
              <a:t>периферни</a:t>
            </a:r>
            <a:r>
              <a:rPr lang="en-US" sz="4400">
                <a:solidFill>
                  <a:srgbClr val="54B098"/>
                </a:solidFill>
                <a:latin typeface="Calibri"/>
                <a:ea typeface="Cambria"/>
                <a:cs typeface="Calibri"/>
              </a:rPr>
              <a:t> </a:t>
            </a:r>
            <a:r>
              <a:rPr lang="en-US" sz="4400" err="1">
                <a:solidFill>
                  <a:srgbClr val="54B098"/>
                </a:solidFill>
                <a:latin typeface="Calibri"/>
                <a:ea typeface="Cambria"/>
                <a:cs typeface="Calibri"/>
              </a:rPr>
              <a:t>устройстрва</a:t>
            </a:r>
            <a:r>
              <a:rPr lang="en-US" sz="4400">
                <a:solidFill>
                  <a:srgbClr val="74F2B5"/>
                </a:solidFill>
                <a:latin typeface="Calibri"/>
                <a:ea typeface="Cambria"/>
                <a:cs typeface="Calibri"/>
              </a:rPr>
              <a:t> </a:t>
            </a:r>
            <a:endParaRPr lang="en-US">
              <a:solidFill>
                <a:srgbClr val="74F2B5"/>
              </a:solidFill>
              <a:latin typeface="Calibri"/>
              <a:ea typeface="Cambria"/>
              <a:cs typeface="Calibri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179452" y="4433570"/>
            <a:ext cx="5332397" cy="1881186"/>
          </a:xfrm>
        </p:spPr>
        <p:txBody>
          <a:bodyPr vert="horz" lIns="121899" tIns="60949" rIns="121899" bIns="60949" rtlCol="0" anchor="t">
            <a:normAutofit/>
          </a:bodyPr>
          <a:lstStyle/>
          <a:p>
            <a:r>
              <a:rPr lang="en-US" sz="2400" err="1">
                <a:solidFill>
                  <a:srgbClr val="54B098"/>
                </a:solidFill>
                <a:cs typeface="Calibri"/>
              </a:rPr>
              <a:t>Изготвено</a:t>
            </a:r>
            <a:r>
              <a:rPr lang="en-US" sz="2400">
                <a:solidFill>
                  <a:srgbClr val="54B098"/>
                </a:solidFill>
                <a:cs typeface="Calibri"/>
              </a:rPr>
              <a:t> </a:t>
            </a:r>
            <a:r>
              <a:rPr lang="en-US" sz="2400" err="1">
                <a:solidFill>
                  <a:srgbClr val="54B098"/>
                </a:solidFill>
                <a:cs typeface="Calibri"/>
              </a:rPr>
              <a:t>от</a:t>
            </a:r>
            <a:r>
              <a:rPr lang="en-US" sz="2400">
                <a:solidFill>
                  <a:srgbClr val="54B098"/>
                </a:solidFill>
                <a:cs typeface="Calibri"/>
              </a:rPr>
              <a:t> </a:t>
            </a:r>
            <a:r>
              <a:rPr lang="en-US" sz="2400" err="1">
                <a:solidFill>
                  <a:srgbClr val="54B098"/>
                </a:solidFill>
                <a:cs typeface="Calibri"/>
              </a:rPr>
              <a:t>константин</a:t>
            </a:r>
            <a:r>
              <a:rPr lang="en-US" sz="2400">
                <a:solidFill>
                  <a:srgbClr val="54B098"/>
                </a:solidFill>
                <a:cs typeface="Calibri"/>
              </a:rPr>
              <a:t> </a:t>
            </a:r>
            <a:r>
              <a:rPr lang="en-US" sz="2400" err="1">
                <a:solidFill>
                  <a:srgbClr val="54B098"/>
                </a:solidFill>
                <a:cs typeface="Calibri"/>
              </a:rPr>
              <a:t>йотов</a:t>
            </a:r>
            <a:r>
              <a:rPr lang="en-US" sz="2400">
                <a:solidFill>
                  <a:srgbClr val="54B098"/>
                </a:solidFill>
                <a:cs typeface="Calibri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err="1">
                <a:solidFill>
                  <a:srgbClr val="54B098"/>
                </a:solidFill>
                <a:cs typeface="Calibri"/>
              </a:rPr>
              <a:t>План</a:t>
            </a:r>
            <a:endParaRPr lang="en-US" sz="4400">
              <a:solidFill>
                <a:srgbClr val="54B098"/>
              </a:solidFill>
              <a:cs typeface="Calibri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 vert="horz" lIns="121899" tIns="60949" rIns="121899" bIns="60949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 err="1">
                <a:solidFill>
                  <a:srgbClr val="54B098"/>
                </a:solidFill>
                <a:cs typeface="Calibri"/>
              </a:rPr>
              <a:t>Описание</a:t>
            </a:r>
            <a:endParaRPr lang="en-US">
              <a:solidFill>
                <a:srgbClr val="54B098"/>
              </a:solidFill>
              <a:cs typeface="Calibri"/>
            </a:endParaRPr>
          </a:p>
          <a:p>
            <a:pPr marL="514350" indent="-514350">
              <a:buAutoNum type="arabicPeriod"/>
            </a:pPr>
            <a:r>
              <a:rPr lang="en-US" dirty="0" err="1">
                <a:solidFill>
                  <a:srgbClr val="54B098"/>
                </a:solidFill>
                <a:cs typeface="Calibri"/>
              </a:rPr>
              <a:t>Монитори</a:t>
            </a:r>
            <a:r>
              <a:rPr lang="en-US" dirty="0">
                <a:solidFill>
                  <a:srgbClr val="54B098"/>
                </a:solidFill>
                <a:cs typeface="Calibri"/>
              </a:rPr>
              <a:t> </a:t>
            </a:r>
          </a:p>
          <a:p>
            <a:pPr marL="514350" indent="-514350">
              <a:buAutoNum type="arabicPeriod"/>
            </a:pPr>
            <a:r>
              <a:rPr lang="en-US" dirty="0" err="1">
                <a:solidFill>
                  <a:srgbClr val="54B098"/>
                </a:solidFill>
                <a:cs typeface="Calibri"/>
              </a:rPr>
              <a:t>Принтери</a:t>
            </a:r>
            <a:r>
              <a:rPr lang="en-US" dirty="0">
                <a:solidFill>
                  <a:srgbClr val="54B098"/>
                </a:solidFill>
                <a:cs typeface="Calibri"/>
              </a:rPr>
              <a:t> </a:t>
            </a:r>
          </a:p>
          <a:p>
            <a:pPr marL="514350" indent="-514350">
              <a:buAutoNum type="arabicPeriod"/>
            </a:pPr>
            <a:r>
              <a:rPr lang="en-US" dirty="0" err="1">
                <a:solidFill>
                  <a:srgbClr val="54B098"/>
                </a:solidFill>
                <a:cs typeface="Calibri"/>
              </a:rPr>
              <a:t>Плотери</a:t>
            </a:r>
            <a:r>
              <a:rPr lang="en-US" dirty="0">
                <a:solidFill>
                  <a:srgbClr val="54B098"/>
                </a:solidFill>
                <a:cs typeface="Calibri"/>
              </a:rPr>
              <a:t> </a:t>
            </a:r>
          </a:p>
          <a:p>
            <a:pPr marL="514350" indent="-514350">
              <a:buAutoNum type="arabicPeriod"/>
            </a:pPr>
            <a:r>
              <a:rPr lang="en-US" dirty="0" err="1">
                <a:solidFill>
                  <a:srgbClr val="54B098"/>
                </a:solidFill>
                <a:cs typeface="Calibri"/>
              </a:rPr>
              <a:t>Видео</a:t>
            </a:r>
            <a:r>
              <a:rPr lang="en-US" dirty="0">
                <a:solidFill>
                  <a:srgbClr val="54B098"/>
                </a:solidFill>
                <a:cs typeface="Calibri"/>
              </a:rPr>
              <a:t> </a:t>
            </a:r>
            <a:r>
              <a:rPr lang="en-US" dirty="0" err="1">
                <a:solidFill>
                  <a:srgbClr val="54B098"/>
                </a:solidFill>
                <a:cs typeface="Calibri"/>
              </a:rPr>
              <a:t>карти</a:t>
            </a:r>
            <a:endParaRPr lang="en-US" dirty="0">
              <a:solidFill>
                <a:srgbClr val="54B098"/>
              </a:solidFill>
              <a:cs typeface="Calibri"/>
            </a:endParaRPr>
          </a:p>
          <a:p>
            <a:pPr marL="514350" indent="-514350">
              <a:buAutoNum type="arabicPeriod"/>
            </a:pPr>
            <a:r>
              <a:rPr lang="en-US" dirty="0" err="1">
                <a:solidFill>
                  <a:srgbClr val="54B098"/>
                </a:solidFill>
                <a:cs typeface="Calibri"/>
              </a:rPr>
              <a:t>Източници</a:t>
            </a: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8444" y="127505"/>
            <a:ext cx="2542334" cy="651782"/>
          </a:xfrm>
        </p:spPr>
        <p:txBody>
          <a:bodyPr anchor="b">
            <a:normAutofit/>
          </a:bodyPr>
          <a:lstStyle/>
          <a:p>
            <a:r>
              <a:rPr lang="en-US" err="1">
                <a:solidFill>
                  <a:srgbClr val="54B098"/>
                </a:solidFill>
              </a:rPr>
              <a:t>Описание</a:t>
            </a:r>
            <a:r>
              <a:rPr lang="en-US">
                <a:solidFill>
                  <a:srgbClr val="54B098"/>
                </a:solidFill>
              </a:rPr>
              <a:t> </a:t>
            </a:r>
            <a:endParaRPr lang="en-US">
              <a:solidFill>
                <a:srgbClr val="54B098"/>
              </a:solidFill>
              <a:cs typeface="Calibri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7759C28-07AE-07A3-909B-913FF3C9B3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41122" y="954871"/>
            <a:ext cx="5356438" cy="5217329"/>
          </a:xfrm>
        </p:spPr>
        <p:txBody>
          <a:bodyPr vert="horz" lIns="121899" tIns="60949" rIns="121899" bIns="60949" rtlCol="0" anchor="t"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err="1">
                <a:solidFill>
                  <a:srgbClr val="54B098"/>
                </a:solidFill>
              </a:rPr>
              <a:t>Изходните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периферни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устройства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служат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за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извеждане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на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крайните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резултати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от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обработката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на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данните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във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вид</a:t>
            </a:r>
            <a:r>
              <a:rPr lang="en-US" sz="2200">
                <a:solidFill>
                  <a:srgbClr val="54B098"/>
                </a:solidFill>
              </a:rPr>
              <a:t>, </a:t>
            </a:r>
            <a:r>
              <a:rPr lang="en-US" sz="2200" err="1">
                <a:solidFill>
                  <a:srgbClr val="54B098"/>
                </a:solidFill>
              </a:rPr>
              <a:t>удобен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за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употреба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на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потребителя</a:t>
            </a:r>
            <a:r>
              <a:rPr lang="en-US" sz="2200">
                <a:solidFill>
                  <a:srgbClr val="54B098"/>
                </a:solidFill>
              </a:rPr>
              <a:t>. </a:t>
            </a:r>
            <a:r>
              <a:rPr lang="en-US" sz="2200" err="1">
                <a:solidFill>
                  <a:srgbClr val="54B098"/>
                </a:solidFill>
              </a:rPr>
              <a:t>Има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два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вида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изход</a:t>
            </a:r>
            <a:r>
              <a:rPr lang="en-US" sz="2200">
                <a:solidFill>
                  <a:srgbClr val="54B098"/>
                </a:solidFill>
              </a:rPr>
              <a:t>: </a:t>
            </a:r>
            <a:r>
              <a:rPr lang="en-US" sz="2200" err="1">
                <a:solidFill>
                  <a:srgbClr val="54B098"/>
                </a:solidFill>
              </a:rPr>
              <a:t>временен</a:t>
            </a:r>
            <a:r>
              <a:rPr lang="en-US" sz="2200">
                <a:solidFill>
                  <a:srgbClr val="54B098"/>
                </a:solidFill>
              </a:rPr>
              <a:t> (softcopy) и </a:t>
            </a:r>
            <a:r>
              <a:rPr lang="en-US" sz="2200" err="1">
                <a:solidFill>
                  <a:srgbClr val="54B098"/>
                </a:solidFill>
              </a:rPr>
              <a:t>дълготраен</a:t>
            </a:r>
            <a:r>
              <a:rPr lang="en-US" sz="2200">
                <a:solidFill>
                  <a:srgbClr val="54B098"/>
                </a:solidFill>
              </a:rPr>
              <a:t> (hardcopy). </a:t>
            </a:r>
            <a:r>
              <a:rPr lang="en-US" sz="2200" err="1">
                <a:solidFill>
                  <a:srgbClr val="54B098"/>
                </a:solidFill>
              </a:rPr>
              <a:t>Устройствата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за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временен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изход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са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предназначени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за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извеждане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на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визуална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или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звукова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информация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като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обикновено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това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са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мониторът</a:t>
            </a:r>
            <a:r>
              <a:rPr lang="en-US" sz="2200">
                <a:solidFill>
                  <a:srgbClr val="54B098"/>
                </a:solidFill>
              </a:rPr>
              <a:t> и </a:t>
            </a:r>
            <a:r>
              <a:rPr lang="en-US" sz="2200" err="1">
                <a:solidFill>
                  <a:srgbClr val="54B098"/>
                </a:solidFill>
              </a:rPr>
              <a:t>високоговорителят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на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компютъра</a:t>
            </a:r>
            <a:r>
              <a:rPr lang="en-US" sz="2200">
                <a:solidFill>
                  <a:srgbClr val="54B098"/>
                </a:solidFill>
              </a:rPr>
              <a:t>. </a:t>
            </a:r>
            <a:r>
              <a:rPr lang="en-US" sz="2200" err="1">
                <a:solidFill>
                  <a:srgbClr val="54B098"/>
                </a:solidFill>
              </a:rPr>
              <a:t>Устройствата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за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дълготраен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изход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извеждат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информацията</a:t>
            </a:r>
            <a:r>
              <a:rPr lang="en-US" sz="2200">
                <a:solidFill>
                  <a:srgbClr val="54B098"/>
                </a:solidFill>
              </a:rPr>
              <a:t>, </a:t>
            </a:r>
            <a:r>
              <a:rPr lang="en-US" sz="2200" err="1">
                <a:solidFill>
                  <a:srgbClr val="54B098"/>
                </a:solidFill>
              </a:rPr>
              <a:t>напечатана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на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хартия</a:t>
            </a:r>
            <a:r>
              <a:rPr lang="en-US" sz="2200">
                <a:solidFill>
                  <a:srgbClr val="54B098"/>
                </a:solidFill>
              </a:rPr>
              <a:t>. </a:t>
            </a:r>
            <a:r>
              <a:rPr lang="en-US" sz="2200" err="1">
                <a:solidFill>
                  <a:srgbClr val="54B098"/>
                </a:solidFill>
              </a:rPr>
              <a:t>Това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са</a:t>
            </a:r>
            <a:r>
              <a:rPr lang="en-US" sz="2200">
                <a:solidFill>
                  <a:srgbClr val="54B098"/>
                </a:solidFill>
              </a:rPr>
              <a:t> </a:t>
            </a:r>
            <a:r>
              <a:rPr lang="en-US" sz="2200" err="1">
                <a:solidFill>
                  <a:srgbClr val="54B098"/>
                </a:solidFill>
              </a:rPr>
              <a:t>принтерът</a:t>
            </a:r>
            <a:r>
              <a:rPr lang="en-US" sz="2200">
                <a:solidFill>
                  <a:srgbClr val="54B098"/>
                </a:solidFill>
              </a:rPr>
              <a:t> и </a:t>
            </a:r>
            <a:r>
              <a:rPr lang="en-US" sz="2200" err="1">
                <a:solidFill>
                  <a:srgbClr val="54B098"/>
                </a:solidFill>
              </a:rPr>
              <a:t>плотерът</a:t>
            </a:r>
            <a:r>
              <a:rPr lang="en-US" sz="2200">
                <a:solidFill>
                  <a:srgbClr val="54B098"/>
                </a:solidFill>
              </a:rPr>
              <a:t>.</a:t>
            </a:r>
            <a:endParaRPr lang="en-US" sz="2200">
              <a:solidFill>
                <a:srgbClr val="54B098"/>
              </a:solidFill>
              <a:cs typeface="Calibri"/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7E4EC0FF-B17E-E90F-00E9-8B8477017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5624" y="1255310"/>
            <a:ext cx="5626030" cy="350478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4191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5BF4F09-34BB-67AB-52C1-3D2E1CCA3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205" y="593707"/>
            <a:ext cx="3615801" cy="24091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4C07236-6B81-7581-F14A-3342C9656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706" y="833527"/>
            <a:ext cx="4212170" cy="23709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25CE3236-7041-2E2A-E881-8B4B732824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3553" y="3882518"/>
            <a:ext cx="4465423" cy="237074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253574125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C7395-E1C2-D180-4EE4-2D52A0777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0" y="168375"/>
            <a:ext cx="2460640" cy="692652"/>
          </a:xfr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 err="1">
                <a:solidFill>
                  <a:srgbClr val="54B098"/>
                </a:solidFill>
              </a:rPr>
              <a:t>Монитори</a:t>
            </a:r>
            <a:endParaRPr lang="en-US">
              <a:solidFill>
                <a:srgbClr val="54B098"/>
              </a:solidFill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39263-E78C-D6B3-31EC-00053E2E0A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16017" y="570693"/>
            <a:ext cx="6083518" cy="5871249"/>
          </a:xfrm>
        </p:spPr>
        <p:txBody>
          <a:bodyPr vert="horz" lIns="121899" tIns="60949" rIns="121899" bIns="60949" rtlCol="0" anchor="t"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err="1">
                <a:solidFill>
                  <a:srgbClr val="54B098"/>
                </a:solidFill>
              </a:rPr>
              <a:t>Монитор</a:t>
            </a:r>
            <a:r>
              <a:rPr lang="en-US" sz="2400">
                <a:solidFill>
                  <a:srgbClr val="54B098"/>
                </a:solidFill>
              </a:rPr>
              <a:t> e </a:t>
            </a:r>
            <a:r>
              <a:rPr lang="en-US" sz="2400" err="1">
                <a:solidFill>
                  <a:srgbClr val="54B098"/>
                </a:solidFill>
              </a:rPr>
              <a:t>устройство</a:t>
            </a:r>
            <a:r>
              <a:rPr lang="en-US" sz="2400">
                <a:solidFill>
                  <a:srgbClr val="54B098"/>
                </a:solidFill>
              </a:rPr>
              <a:t> </a:t>
            </a:r>
            <a:r>
              <a:rPr lang="en-US" sz="2400" err="1">
                <a:solidFill>
                  <a:srgbClr val="54B098"/>
                </a:solidFill>
              </a:rPr>
              <a:t>за</a:t>
            </a:r>
            <a:r>
              <a:rPr lang="en-US" sz="2400">
                <a:solidFill>
                  <a:srgbClr val="54B098"/>
                </a:solidFill>
              </a:rPr>
              <a:t> </a:t>
            </a:r>
            <a:r>
              <a:rPr lang="en-US" sz="2400" err="1">
                <a:solidFill>
                  <a:srgbClr val="54B098"/>
                </a:solidFill>
              </a:rPr>
              <a:t>изобразяване</a:t>
            </a:r>
            <a:r>
              <a:rPr lang="en-US" sz="2400">
                <a:solidFill>
                  <a:srgbClr val="54B098"/>
                </a:solidFill>
              </a:rPr>
              <a:t> </a:t>
            </a:r>
            <a:r>
              <a:rPr lang="en-US" sz="2400" err="1">
                <a:solidFill>
                  <a:srgbClr val="54B098"/>
                </a:solidFill>
              </a:rPr>
              <a:t>на</a:t>
            </a:r>
            <a:r>
              <a:rPr lang="en-US" sz="2400">
                <a:solidFill>
                  <a:srgbClr val="54B098"/>
                </a:solidFill>
              </a:rPr>
              <a:t> </a:t>
            </a:r>
            <a:r>
              <a:rPr lang="en-US" sz="2400" err="1">
                <a:solidFill>
                  <a:srgbClr val="54B098"/>
                </a:solidFill>
              </a:rPr>
              <a:t>информация</a:t>
            </a:r>
            <a:r>
              <a:rPr lang="en-US" sz="2400">
                <a:solidFill>
                  <a:srgbClr val="54B098"/>
                </a:solidFill>
              </a:rPr>
              <a:t> </a:t>
            </a:r>
            <a:r>
              <a:rPr lang="en-US" sz="2400" err="1">
                <a:solidFill>
                  <a:srgbClr val="54B098"/>
                </a:solidFill>
              </a:rPr>
              <a:t>във</a:t>
            </a:r>
            <a:r>
              <a:rPr lang="en-US" sz="2400">
                <a:solidFill>
                  <a:srgbClr val="54B098"/>
                </a:solidFill>
              </a:rPr>
              <a:t> </a:t>
            </a:r>
            <a:r>
              <a:rPr lang="en-US" sz="2400" err="1">
                <a:solidFill>
                  <a:srgbClr val="54B098"/>
                </a:solidFill>
              </a:rPr>
              <a:t>визуален</a:t>
            </a:r>
            <a:r>
              <a:rPr lang="en-US" sz="2400">
                <a:solidFill>
                  <a:srgbClr val="54B098"/>
                </a:solidFill>
              </a:rPr>
              <a:t> </a:t>
            </a:r>
            <a:r>
              <a:rPr lang="en-US" sz="2400" err="1">
                <a:solidFill>
                  <a:srgbClr val="54B098"/>
                </a:solidFill>
              </a:rPr>
              <a:t>или</a:t>
            </a:r>
            <a:r>
              <a:rPr lang="en-US" sz="2400">
                <a:solidFill>
                  <a:srgbClr val="54B098"/>
                </a:solidFill>
              </a:rPr>
              <a:t> </a:t>
            </a:r>
            <a:r>
              <a:rPr lang="en-US" sz="2400" err="1">
                <a:solidFill>
                  <a:srgbClr val="54B098"/>
                </a:solidFill>
              </a:rPr>
              <a:t>тактилен</a:t>
            </a:r>
            <a:r>
              <a:rPr lang="en-US" sz="2400">
                <a:solidFill>
                  <a:srgbClr val="54B098"/>
                </a:solidFill>
              </a:rPr>
              <a:t> </a:t>
            </a:r>
            <a:r>
              <a:rPr lang="en-US" sz="2400" err="1">
                <a:solidFill>
                  <a:srgbClr val="54B098"/>
                </a:solidFill>
              </a:rPr>
              <a:t>вид</a:t>
            </a:r>
            <a:r>
              <a:rPr lang="en-US" sz="2400">
                <a:solidFill>
                  <a:srgbClr val="54B098"/>
                </a:solidFill>
              </a:rPr>
              <a:t>. </a:t>
            </a:r>
            <a:r>
              <a:rPr lang="en-US" sz="2400" err="1">
                <a:solidFill>
                  <a:srgbClr val="54B098"/>
                </a:solidFill>
              </a:rPr>
              <a:t>Всяко</a:t>
            </a:r>
            <a:r>
              <a:rPr lang="en-US" sz="2400">
                <a:solidFill>
                  <a:srgbClr val="54B098"/>
                </a:solidFill>
              </a:rPr>
              <a:t> </a:t>
            </a:r>
            <a:r>
              <a:rPr lang="en-US" sz="2400" err="1">
                <a:solidFill>
                  <a:srgbClr val="54B098"/>
                </a:solidFill>
              </a:rPr>
              <a:t>изображение</a:t>
            </a:r>
            <a:r>
              <a:rPr lang="en-US" sz="2400">
                <a:solidFill>
                  <a:srgbClr val="54B098"/>
                </a:solidFill>
              </a:rPr>
              <a:t> </a:t>
            </a:r>
            <a:r>
              <a:rPr lang="en-US" sz="2400" err="1">
                <a:solidFill>
                  <a:srgbClr val="54B098"/>
                </a:solidFill>
              </a:rPr>
              <a:t>на</a:t>
            </a:r>
            <a:r>
              <a:rPr lang="en-US" sz="2400">
                <a:solidFill>
                  <a:srgbClr val="54B098"/>
                </a:solidFill>
              </a:rPr>
              <a:t> </a:t>
            </a:r>
            <a:r>
              <a:rPr lang="en-US" sz="2400" err="1">
                <a:solidFill>
                  <a:srgbClr val="54B098"/>
                </a:solidFill>
              </a:rPr>
              <a:t>екрана</a:t>
            </a:r>
            <a:r>
              <a:rPr lang="en-US" sz="2400">
                <a:solidFill>
                  <a:srgbClr val="54B098"/>
                </a:solidFill>
              </a:rPr>
              <a:t> </a:t>
            </a:r>
            <a:r>
              <a:rPr lang="en-US" sz="2400" err="1">
                <a:solidFill>
                  <a:srgbClr val="54B098"/>
                </a:solidFill>
              </a:rPr>
              <a:t>се</a:t>
            </a:r>
            <a:r>
              <a:rPr lang="en-US" sz="2400">
                <a:solidFill>
                  <a:srgbClr val="54B098"/>
                </a:solidFill>
              </a:rPr>
              <a:t> </a:t>
            </a:r>
            <a:r>
              <a:rPr lang="en-US" sz="2400" err="1">
                <a:solidFill>
                  <a:srgbClr val="54B098"/>
                </a:solidFill>
              </a:rPr>
              <a:t>формира</a:t>
            </a:r>
            <a:r>
              <a:rPr lang="en-US" sz="2400">
                <a:solidFill>
                  <a:srgbClr val="54B098"/>
                </a:solidFill>
              </a:rPr>
              <a:t> </a:t>
            </a:r>
            <a:r>
              <a:rPr lang="en-US" sz="2400" err="1">
                <a:solidFill>
                  <a:srgbClr val="54B098"/>
                </a:solidFill>
              </a:rPr>
              <a:t>от</a:t>
            </a:r>
            <a:r>
              <a:rPr lang="en-US" sz="2400">
                <a:solidFill>
                  <a:srgbClr val="54B098"/>
                </a:solidFill>
              </a:rPr>
              <a:t> </a:t>
            </a:r>
            <a:r>
              <a:rPr lang="en-US" sz="2400" err="1">
                <a:solidFill>
                  <a:srgbClr val="54B098"/>
                </a:solidFill>
              </a:rPr>
              <a:t>пиксели</a:t>
            </a:r>
            <a:r>
              <a:rPr lang="en-US" sz="2400">
                <a:solidFill>
                  <a:srgbClr val="54B098"/>
                </a:solidFill>
              </a:rPr>
              <a:t> и </a:t>
            </a:r>
            <a:r>
              <a:rPr lang="en-US" sz="2400" err="1">
                <a:solidFill>
                  <a:srgbClr val="54B098"/>
                </a:solidFill>
              </a:rPr>
              <a:t>може</a:t>
            </a:r>
            <a:r>
              <a:rPr lang="en-US" sz="2400">
                <a:solidFill>
                  <a:srgbClr val="54B098"/>
                </a:solidFill>
              </a:rPr>
              <a:t> </a:t>
            </a:r>
            <a:r>
              <a:rPr lang="en-US" sz="2400" err="1">
                <a:solidFill>
                  <a:srgbClr val="54B098"/>
                </a:solidFill>
              </a:rPr>
              <a:t>да</a:t>
            </a:r>
            <a:r>
              <a:rPr lang="en-US" sz="2400">
                <a:solidFill>
                  <a:srgbClr val="54B098"/>
                </a:solidFill>
              </a:rPr>
              <a:t> </a:t>
            </a:r>
            <a:r>
              <a:rPr lang="en-US" sz="2400" err="1">
                <a:solidFill>
                  <a:srgbClr val="54B098"/>
                </a:solidFill>
              </a:rPr>
              <a:t>бъде</a:t>
            </a:r>
            <a:r>
              <a:rPr lang="en-US" sz="2400">
                <a:solidFill>
                  <a:srgbClr val="54B098"/>
                </a:solidFill>
              </a:rPr>
              <a:t> </a:t>
            </a:r>
            <a:r>
              <a:rPr lang="en-US" sz="2400" err="1">
                <a:solidFill>
                  <a:srgbClr val="54B098"/>
                </a:solidFill>
              </a:rPr>
              <a:t>цветно</a:t>
            </a:r>
            <a:r>
              <a:rPr lang="en-US" sz="2400">
                <a:solidFill>
                  <a:srgbClr val="54B098"/>
                </a:solidFill>
              </a:rPr>
              <a:t> </a:t>
            </a:r>
            <a:r>
              <a:rPr lang="en-US" sz="2400" err="1">
                <a:solidFill>
                  <a:srgbClr val="54B098"/>
                </a:solidFill>
              </a:rPr>
              <a:t>или</a:t>
            </a:r>
            <a:r>
              <a:rPr lang="en-US" sz="2400">
                <a:solidFill>
                  <a:srgbClr val="54B098"/>
                </a:solidFill>
              </a:rPr>
              <a:t> </a:t>
            </a:r>
            <a:r>
              <a:rPr lang="en-US" sz="2400" err="1">
                <a:solidFill>
                  <a:srgbClr val="54B098"/>
                </a:solidFill>
              </a:rPr>
              <a:t>монохроматично</a:t>
            </a:r>
            <a:r>
              <a:rPr lang="en-US" sz="2400">
                <a:solidFill>
                  <a:srgbClr val="54B098"/>
                </a:solidFill>
              </a:rPr>
              <a:t>(</a:t>
            </a:r>
            <a:r>
              <a:rPr lang="en-US" sz="2400" err="1">
                <a:solidFill>
                  <a:srgbClr val="54B098"/>
                </a:solidFill>
              </a:rPr>
              <a:t>едноцветно</a:t>
            </a:r>
            <a:r>
              <a:rPr lang="en-US" sz="2400">
                <a:solidFill>
                  <a:srgbClr val="54B098"/>
                </a:solidFill>
              </a:rPr>
              <a:t>). </a:t>
            </a:r>
            <a:r>
              <a:rPr lang="en-US" sz="2400">
                <a:solidFill>
                  <a:srgbClr val="54B098"/>
                </a:solidFill>
                <a:ea typeface="+mn-lt"/>
                <a:cs typeface="+mn-lt"/>
              </a:rPr>
              <a:t> VGA - </a:t>
            </a:r>
            <a:r>
              <a:rPr lang="en-US" sz="2400" err="1">
                <a:solidFill>
                  <a:srgbClr val="54B098"/>
                </a:solidFill>
                <a:ea typeface="+mn-lt"/>
                <a:cs typeface="+mn-lt"/>
              </a:rPr>
              <a:t>видео</a:t>
            </a:r>
            <a:r>
              <a:rPr lang="en-US" sz="240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54B098"/>
                </a:solidFill>
                <a:ea typeface="+mn-lt"/>
                <a:cs typeface="+mn-lt"/>
              </a:rPr>
              <a:t>стандарт</a:t>
            </a:r>
            <a:r>
              <a:rPr lang="en-US" sz="2400">
                <a:solidFill>
                  <a:srgbClr val="54B098"/>
                </a:solidFill>
                <a:ea typeface="+mn-lt"/>
                <a:cs typeface="+mn-lt"/>
              </a:rPr>
              <a:t> с </a:t>
            </a:r>
            <a:r>
              <a:rPr lang="en-US" sz="2400" err="1">
                <a:solidFill>
                  <a:srgbClr val="54B098"/>
                </a:solidFill>
                <a:ea typeface="+mn-lt"/>
                <a:cs typeface="+mn-lt"/>
              </a:rPr>
              <a:t>аналогов</a:t>
            </a:r>
            <a:r>
              <a:rPr lang="en-US" sz="240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54B098"/>
                </a:solidFill>
                <a:ea typeface="+mn-lt"/>
                <a:cs typeface="+mn-lt"/>
              </a:rPr>
              <a:t>изходен</a:t>
            </a:r>
            <a:r>
              <a:rPr lang="en-US" sz="240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54B098"/>
                </a:solidFill>
                <a:ea typeface="+mn-lt"/>
                <a:cs typeface="+mn-lt"/>
              </a:rPr>
              <a:t>видеосигнал</a:t>
            </a:r>
            <a:br>
              <a:rPr lang="en-US" sz="2400">
                <a:solidFill>
                  <a:srgbClr val="54B098"/>
                </a:solidFill>
                <a:ea typeface="+mn-lt"/>
                <a:cs typeface="+mn-lt"/>
              </a:rPr>
            </a:br>
            <a:r>
              <a:rPr lang="en-US" sz="2400">
                <a:solidFill>
                  <a:srgbClr val="54B098"/>
                </a:solidFill>
                <a:ea typeface="+mn-lt"/>
                <a:cs typeface="+mn-lt"/>
              </a:rPr>
              <a:t>   DVI – </a:t>
            </a:r>
            <a:r>
              <a:rPr lang="en-US" sz="2400" err="1">
                <a:solidFill>
                  <a:srgbClr val="54B098"/>
                </a:solidFill>
                <a:ea typeface="+mn-lt"/>
                <a:cs typeface="+mn-lt"/>
              </a:rPr>
              <a:t>цифров</a:t>
            </a:r>
            <a:r>
              <a:rPr lang="en-US" sz="240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54B098"/>
                </a:solidFill>
                <a:ea typeface="+mn-lt"/>
                <a:cs typeface="+mn-lt"/>
              </a:rPr>
              <a:t>стандарт</a:t>
            </a:r>
            <a:r>
              <a:rPr lang="en-US" sz="240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54B098"/>
                </a:solidFill>
                <a:ea typeface="+mn-lt"/>
                <a:cs typeface="+mn-lt"/>
              </a:rPr>
              <a:t>за</a:t>
            </a:r>
            <a:r>
              <a:rPr lang="en-US" sz="240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54B098"/>
                </a:solidFill>
                <a:ea typeface="+mn-lt"/>
                <a:cs typeface="+mn-lt"/>
              </a:rPr>
              <a:t>предаване</a:t>
            </a:r>
            <a:r>
              <a:rPr lang="en-US" sz="240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40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54B098"/>
                </a:solidFill>
                <a:ea typeface="+mn-lt"/>
                <a:cs typeface="+mn-lt"/>
              </a:rPr>
              <a:t>видеосигнал</a:t>
            </a:r>
            <a:br>
              <a:rPr lang="en-US" sz="2400">
                <a:solidFill>
                  <a:srgbClr val="54B098"/>
                </a:solidFill>
                <a:ea typeface="+mn-lt"/>
                <a:cs typeface="+mn-lt"/>
              </a:rPr>
            </a:br>
            <a:r>
              <a:rPr lang="en-US" sz="2400">
                <a:solidFill>
                  <a:srgbClr val="54B098"/>
                </a:solidFill>
                <a:ea typeface="+mn-lt"/>
                <a:cs typeface="+mn-lt"/>
              </a:rPr>
              <a:t>   HDMI - </a:t>
            </a:r>
            <a:r>
              <a:rPr lang="en-US" sz="2400" err="1">
                <a:solidFill>
                  <a:srgbClr val="54B098"/>
                </a:solidFill>
                <a:ea typeface="+mn-lt"/>
                <a:cs typeface="+mn-lt"/>
              </a:rPr>
              <a:t>цифров</a:t>
            </a:r>
            <a:r>
              <a:rPr lang="en-US" sz="240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54B098"/>
                </a:solidFill>
                <a:ea typeface="+mn-lt"/>
                <a:cs typeface="+mn-lt"/>
              </a:rPr>
              <a:t>аудио</a:t>
            </a:r>
            <a:r>
              <a:rPr lang="en-US" sz="2400">
                <a:solidFill>
                  <a:srgbClr val="54B098"/>
                </a:solidFill>
                <a:ea typeface="+mn-lt"/>
                <a:cs typeface="+mn-lt"/>
              </a:rPr>
              <a:t>/</a:t>
            </a:r>
            <a:r>
              <a:rPr lang="en-US" sz="2400" err="1">
                <a:solidFill>
                  <a:srgbClr val="54B098"/>
                </a:solidFill>
                <a:ea typeface="+mn-lt"/>
                <a:cs typeface="+mn-lt"/>
              </a:rPr>
              <a:t>видео</a:t>
            </a:r>
            <a:r>
              <a:rPr lang="en-US" sz="240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54B098"/>
                </a:solidFill>
                <a:ea typeface="+mn-lt"/>
                <a:cs typeface="+mn-lt"/>
              </a:rPr>
              <a:t>интерфейс</a:t>
            </a:r>
            <a:r>
              <a:rPr lang="en-US" sz="240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400" err="1">
                <a:solidFill>
                  <a:srgbClr val="54B098"/>
                </a:solidFill>
                <a:ea typeface="+mn-lt"/>
                <a:cs typeface="+mn-lt"/>
              </a:rPr>
              <a:t>способен</a:t>
            </a:r>
            <a:r>
              <a:rPr lang="en-US" sz="240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54B098"/>
                </a:solidFill>
                <a:ea typeface="+mn-lt"/>
                <a:cs typeface="+mn-lt"/>
              </a:rPr>
              <a:t>да</a:t>
            </a:r>
            <a:r>
              <a:rPr lang="en-US" sz="240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54B098"/>
                </a:solidFill>
                <a:ea typeface="+mn-lt"/>
                <a:cs typeface="+mn-lt"/>
              </a:rPr>
              <a:t>предава</a:t>
            </a:r>
            <a:r>
              <a:rPr lang="en-US" sz="240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54B098"/>
                </a:solidFill>
                <a:ea typeface="+mn-lt"/>
                <a:cs typeface="+mn-lt"/>
              </a:rPr>
              <a:t>некомпресиран</a:t>
            </a:r>
            <a:r>
              <a:rPr lang="en-US" sz="240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54B098"/>
                </a:solidFill>
                <a:ea typeface="+mn-lt"/>
                <a:cs typeface="+mn-lt"/>
              </a:rPr>
              <a:t>поток</a:t>
            </a:r>
            <a:br>
              <a:rPr lang="en-US" sz="2400">
                <a:solidFill>
                  <a:srgbClr val="54B098"/>
                </a:solidFill>
                <a:ea typeface="+mn-lt"/>
                <a:cs typeface="+mn-lt"/>
              </a:rPr>
            </a:br>
            <a:r>
              <a:rPr lang="en-US" sz="2400">
                <a:solidFill>
                  <a:srgbClr val="54B098"/>
                </a:solidFill>
                <a:ea typeface="+mn-lt"/>
                <a:cs typeface="+mn-lt"/>
              </a:rPr>
              <a:t>   </a:t>
            </a:r>
            <a:r>
              <a:rPr lang="en-US" sz="2400" err="1">
                <a:solidFill>
                  <a:srgbClr val="54B098"/>
                </a:solidFill>
                <a:ea typeface="+mn-lt"/>
                <a:cs typeface="+mn-lt"/>
              </a:rPr>
              <a:t>DisplayPport</a:t>
            </a:r>
            <a:r>
              <a:rPr lang="en-US" sz="2400">
                <a:solidFill>
                  <a:srgbClr val="54B098"/>
                </a:solidFill>
                <a:ea typeface="+mn-lt"/>
                <a:cs typeface="+mn-lt"/>
              </a:rPr>
              <a:t> – </a:t>
            </a:r>
            <a:r>
              <a:rPr lang="en-US" sz="2400" err="1">
                <a:solidFill>
                  <a:srgbClr val="54B098"/>
                </a:solidFill>
                <a:ea typeface="+mn-lt"/>
                <a:cs typeface="+mn-lt"/>
              </a:rPr>
              <a:t>най-новият</a:t>
            </a:r>
            <a:r>
              <a:rPr lang="en-US" sz="240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54B098"/>
                </a:solidFill>
                <a:ea typeface="+mn-lt"/>
                <a:cs typeface="+mn-lt"/>
              </a:rPr>
              <a:t>цифров</a:t>
            </a:r>
            <a:r>
              <a:rPr lang="en-US" sz="240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54B098"/>
                </a:solidFill>
                <a:ea typeface="+mn-lt"/>
                <a:cs typeface="+mn-lt"/>
              </a:rPr>
              <a:t>интерфейс</a:t>
            </a:r>
            <a:br>
              <a:rPr lang="en-US" sz="2400">
                <a:solidFill>
                  <a:srgbClr val="54B098"/>
                </a:solidFill>
                <a:ea typeface="+mn-lt"/>
                <a:cs typeface="+mn-lt"/>
              </a:rPr>
            </a:br>
            <a:r>
              <a:rPr lang="en-US" sz="2400">
                <a:solidFill>
                  <a:srgbClr val="54B098"/>
                </a:solidFill>
                <a:ea typeface="+mn-lt"/>
                <a:cs typeface="+mn-lt"/>
              </a:rPr>
              <a:t>   USB - </a:t>
            </a:r>
            <a:r>
              <a:rPr lang="en-US" sz="2400" err="1">
                <a:solidFill>
                  <a:srgbClr val="54B098"/>
                </a:solidFill>
                <a:ea typeface="+mn-lt"/>
                <a:cs typeface="+mn-lt"/>
              </a:rPr>
              <a:t>стандарт</a:t>
            </a:r>
            <a:r>
              <a:rPr lang="en-US" sz="240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54B098"/>
                </a:solidFill>
                <a:ea typeface="+mn-lt"/>
                <a:cs typeface="+mn-lt"/>
              </a:rPr>
              <a:t>за</a:t>
            </a:r>
            <a:r>
              <a:rPr lang="en-US" sz="240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54B098"/>
                </a:solidFill>
                <a:ea typeface="+mn-lt"/>
                <a:cs typeface="+mn-lt"/>
              </a:rPr>
              <a:t>свързване</a:t>
            </a:r>
            <a:r>
              <a:rPr lang="en-US" sz="240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40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54B098"/>
                </a:solidFill>
                <a:ea typeface="+mn-lt"/>
                <a:cs typeface="+mn-lt"/>
              </a:rPr>
              <a:t>електронни</a:t>
            </a:r>
            <a:r>
              <a:rPr lang="en-US" sz="240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54B098"/>
                </a:solidFill>
                <a:ea typeface="+mn-lt"/>
                <a:cs typeface="+mn-lt"/>
              </a:rPr>
              <a:t>устройства</a:t>
            </a:r>
            <a:r>
              <a:rPr lang="en-US" sz="2400">
                <a:solidFill>
                  <a:srgbClr val="54B098"/>
                </a:solidFill>
                <a:ea typeface="+mn-lt"/>
                <a:cs typeface="+mn-lt"/>
              </a:rPr>
              <a:t>. </a:t>
            </a:r>
            <a:r>
              <a:rPr lang="en-US" sz="2400" err="1">
                <a:solidFill>
                  <a:srgbClr val="54B098"/>
                </a:solidFill>
                <a:ea typeface="+mn-lt"/>
                <a:cs typeface="+mn-lt"/>
              </a:rPr>
              <a:t>Формат</a:t>
            </a:r>
            <a:r>
              <a:rPr lang="en-US" sz="240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54B098"/>
                </a:solidFill>
                <a:ea typeface="+mn-lt"/>
                <a:cs typeface="+mn-lt"/>
              </a:rPr>
              <a:t>от</a:t>
            </a:r>
            <a:r>
              <a:rPr lang="en-US" sz="2400">
                <a:solidFill>
                  <a:srgbClr val="54B098"/>
                </a:solidFill>
                <a:ea typeface="+mn-lt"/>
                <a:cs typeface="+mn-lt"/>
              </a:rPr>
              <a:t> 4:3 </a:t>
            </a:r>
            <a:r>
              <a:rPr lang="en-US" sz="2400" err="1">
                <a:solidFill>
                  <a:srgbClr val="54B098"/>
                </a:solidFill>
                <a:ea typeface="+mn-lt"/>
                <a:cs typeface="+mn-lt"/>
              </a:rPr>
              <a:t>до</a:t>
            </a:r>
            <a:r>
              <a:rPr lang="en-US" sz="2400">
                <a:solidFill>
                  <a:srgbClr val="54B098"/>
                </a:solidFill>
                <a:ea typeface="+mn-lt"/>
                <a:cs typeface="+mn-lt"/>
              </a:rPr>
              <a:t> 16:9.</a:t>
            </a:r>
            <a:br>
              <a:rPr lang="en-US" sz="2400">
                <a:solidFill>
                  <a:srgbClr val="54B098"/>
                </a:solidFill>
                <a:ea typeface="+mn-lt"/>
                <a:cs typeface="+mn-lt"/>
              </a:rPr>
            </a:br>
            <a:r>
              <a:rPr lang="en-US" sz="2400" err="1">
                <a:solidFill>
                  <a:srgbClr val="54B098"/>
                </a:solidFill>
              </a:rPr>
              <a:t>Видове</a:t>
            </a:r>
            <a:r>
              <a:rPr lang="en-US" sz="2400">
                <a:solidFill>
                  <a:srgbClr val="54B098"/>
                </a:solidFill>
              </a:rPr>
              <a:t>:</a:t>
            </a:r>
            <a:endParaRPr lang="en-US" sz="2400">
              <a:solidFill>
                <a:srgbClr val="54B098"/>
              </a:solidFill>
              <a:cs typeface="Calibri"/>
            </a:endParaRPr>
          </a:p>
          <a:p>
            <a:pPr marL="342900" indent="-342900">
              <a:lnSpc>
                <a:spcPct val="120000"/>
              </a:lnSpc>
              <a:buFont typeface="Wingdings" pitchFamily="34" charset="0"/>
              <a:buChar char="Ø"/>
            </a:pPr>
            <a:r>
              <a:rPr lang="en-US" sz="2400">
                <a:solidFill>
                  <a:srgbClr val="54B098"/>
                </a:solidFill>
                <a:cs typeface="Calibri"/>
              </a:rPr>
              <a:t>CRT</a:t>
            </a:r>
          </a:p>
          <a:p>
            <a:pPr marL="342900" indent="-342900">
              <a:lnSpc>
                <a:spcPct val="120000"/>
              </a:lnSpc>
              <a:buFont typeface="Wingdings" pitchFamily="34" charset="0"/>
              <a:buChar char="Ø"/>
            </a:pPr>
            <a:r>
              <a:rPr lang="en-US" sz="2400">
                <a:solidFill>
                  <a:srgbClr val="54B098"/>
                </a:solidFill>
                <a:cs typeface="Calibri"/>
              </a:rPr>
              <a:t>LCD</a:t>
            </a:r>
          </a:p>
          <a:p>
            <a:pPr marL="342900" indent="-342900">
              <a:lnSpc>
                <a:spcPct val="120000"/>
              </a:lnSpc>
              <a:buFont typeface="Wingdings" pitchFamily="34" charset="0"/>
              <a:buChar char="Ø"/>
            </a:pPr>
            <a:r>
              <a:rPr lang="en-US" sz="2400">
                <a:solidFill>
                  <a:srgbClr val="54B098"/>
                </a:solidFill>
                <a:cs typeface="Calibri"/>
              </a:rPr>
              <a:t>LED</a:t>
            </a:r>
          </a:p>
          <a:p>
            <a:pPr marL="342900" indent="-342900">
              <a:lnSpc>
                <a:spcPct val="120000"/>
              </a:lnSpc>
              <a:buFont typeface="Wingdings" pitchFamily="34" charset="0"/>
              <a:buChar char="Ø"/>
            </a:pPr>
            <a:r>
              <a:rPr lang="en-US" sz="2400">
                <a:solidFill>
                  <a:srgbClr val="54B098"/>
                </a:solidFill>
              </a:rPr>
              <a:t>OLED</a:t>
            </a:r>
            <a:endParaRPr lang="en-US" sz="2400">
              <a:solidFill>
                <a:srgbClr val="54B098"/>
              </a:solidFill>
              <a:cs typeface="Calibri"/>
            </a:endParaRPr>
          </a:p>
          <a:p>
            <a:pPr marL="0" indent="0">
              <a:buNone/>
            </a:pPr>
            <a:endParaRPr lang="en-US" sz="240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D4BDECC7-D788-42D5-F301-6EB38D9E9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83" y="1384919"/>
            <a:ext cx="5078677" cy="429183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57474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E70E6D-7439-0EFA-7011-7DB1CBD8D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161" y="111760"/>
            <a:ext cx="3117494" cy="709614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rgbClr val="54B098"/>
                </a:solidFill>
              </a:rPr>
              <a:t>CRT </a:t>
            </a:r>
            <a:r>
              <a:rPr lang="en-US" dirty="0" err="1">
                <a:solidFill>
                  <a:srgbClr val="54B098"/>
                </a:solidFill>
              </a:rPr>
              <a:t>монитори</a:t>
            </a:r>
            <a:r>
              <a:rPr lang="en-US" dirty="0">
                <a:solidFill>
                  <a:srgbClr val="54B098"/>
                </a:solidFill>
              </a:rPr>
              <a:t> </a:t>
            </a:r>
            <a:endParaRPr lang="en-US" dirty="0">
              <a:solidFill>
                <a:srgbClr val="54B098"/>
              </a:solidFill>
              <a:cs typeface="Calibri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8F4EA1-06EB-2C42-2B54-8A7D915F51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6021" y="935355"/>
            <a:ext cx="5250109" cy="5511164"/>
          </a:xfrm>
        </p:spPr>
        <p:txBody>
          <a:bodyPr vert="horz" lIns="121899" tIns="60949" rIns="121899" bIns="60949" rtlCol="0" anchor="t"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54B098"/>
                </a:solidFill>
              </a:rPr>
              <a:t>CRT </a:t>
            </a:r>
            <a:r>
              <a:rPr lang="en-US" sz="2200" dirty="0" err="1">
                <a:solidFill>
                  <a:srgbClr val="54B098"/>
                </a:solidFill>
              </a:rPr>
              <a:t>технологията</a:t>
            </a:r>
            <a:r>
              <a:rPr lang="en-US" sz="2200" dirty="0">
                <a:solidFill>
                  <a:srgbClr val="54B098"/>
                </a:solidFill>
              </a:rPr>
              <a:t> е </a:t>
            </a:r>
            <a:r>
              <a:rPr lang="en-US" sz="2200" dirty="0" err="1">
                <a:solidFill>
                  <a:srgbClr val="54B098"/>
                </a:solidFill>
              </a:rPr>
              <a:t>най-старата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от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всички.Функционирането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на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мониторите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става</a:t>
            </a:r>
            <a:r>
              <a:rPr lang="en-US" sz="2200" dirty="0">
                <a:solidFill>
                  <a:srgbClr val="54B098"/>
                </a:solidFill>
              </a:rPr>
              <a:t> с </a:t>
            </a:r>
            <a:r>
              <a:rPr lang="en-US" sz="2200" dirty="0" err="1">
                <a:solidFill>
                  <a:srgbClr val="54B098"/>
                </a:solidFill>
              </a:rPr>
              <a:t>помощта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на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електроннолъчева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тръба</a:t>
            </a:r>
            <a:r>
              <a:rPr lang="en-US" sz="2200" dirty="0">
                <a:solidFill>
                  <a:srgbClr val="54B098"/>
                </a:solidFill>
              </a:rPr>
              <a:t>. </a:t>
            </a:r>
            <a:r>
              <a:rPr lang="en-US" sz="2200" dirty="0" err="1">
                <a:solidFill>
                  <a:srgbClr val="54B098"/>
                </a:solidFill>
              </a:rPr>
              <a:t>Тя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наподобява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стъклена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колба</a:t>
            </a:r>
            <a:r>
              <a:rPr lang="en-US" sz="2200" dirty="0">
                <a:solidFill>
                  <a:srgbClr val="54B098"/>
                </a:solidFill>
              </a:rPr>
              <a:t>, </a:t>
            </a:r>
            <a:r>
              <a:rPr lang="en-US" sz="2200" dirty="0" err="1">
                <a:solidFill>
                  <a:srgbClr val="54B098"/>
                </a:solidFill>
              </a:rPr>
              <a:t>която</a:t>
            </a:r>
            <a:r>
              <a:rPr lang="en-US" sz="2200" dirty="0">
                <a:solidFill>
                  <a:srgbClr val="54B098"/>
                </a:solidFill>
              </a:rPr>
              <a:t> в </a:t>
            </a:r>
            <a:r>
              <a:rPr lang="en-US" sz="2200" dirty="0" err="1">
                <a:solidFill>
                  <a:srgbClr val="54B098"/>
                </a:solidFill>
              </a:rPr>
              <a:t>по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тесния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си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край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разполага</a:t>
            </a:r>
            <a:r>
              <a:rPr lang="en-US" sz="2200" dirty="0">
                <a:solidFill>
                  <a:srgbClr val="54B098"/>
                </a:solidFill>
              </a:rPr>
              <a:t> с </a:t>
            </a:r>
            <a:r>
              <a:rPr lang="en-US" sz="2200" dirty="0" err="1">
                <a:solidFill>
                  <a:srgbClr val="54B098"/>
                </a:solidFill>
              </a:rPr>
              <a:t>катод</a:t>
            </a:r>
            <a:r>
              <a:rPr lang="en-US" sz="2200" dirty="0">
                <a:solidFill>
                  <a:srgbClr val="54B098"/>
                </a:solidFill>
              </a:rPr>
              <a:t> . </a:t>
            </a:r>
            <a:r>
              <a:rPr lang="en-US" sz="2200" dirty="0" err="1">
                <a:solidFill>
                  <a:srgbClr val="54B098"/>
                </a:solidFill>
              </a:rPr>
              <a:t>Чрез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него</a:t>
            </a:r>
            <a:r>
              <a:rPr lang="en-US" sz="2200" dirty="0">
                <a:solidFill>
                  <a:srgbClr val="54B098"/>
                </a:solidFill>
              </a:rPr>
              <a:t>, с </a:t>
            </a:r>
            <a:r>
              <a:rPr lang="en-US" sz="2200" dirty="0" err="1">
                <a:solidFill>
                  <a:srgbClr val="54B098"/>
                </a:solidFill>
              </a:rPr>
              <a:t>висока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скорост</a:t>
            </a:r>
            <a:r>
              <a:rPr lang="en-US" sz="2200" dirty="0">
                <a:solidFill>
                  <a:srgbClr val="54B098"/>
                </a:solidFill>
              </a:rPr>
              <a:t>, </a:t>
            </a:r>
            <a:r>
              <a:rPr lang="en-US" sz="2200" dirty="0" err="1">
                <a:solidFill>
                  <a:srgbClr val="54B098"/>
                </a:solidFill>
              </a:rPr>
              <a:t>се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подава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лъч</a:t>
            </a:r>
            <a:r>
              <a:rPr lang="en-US" sz="2200" dirty="0">
                <a:solidFill>
                  <a:srgbClr val="54B098"/>
                </a:solidFill>
              </a:rPr>
              <a:t> с </a:t>
            </a:r>
            <a:r>
              <a:rPr lang="en-US" sz="2200" dirty="0" err="1">
                <a:solidFill>
                  <a:srgbClr val="54B098"/>
                </a:solidFill>
              </a:rPr>
              <a:t>електрони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към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екрана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на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монитора</a:t>
            </a:r>
            <a:r>
              <a:rPr lang="en-US" sz="2200" dirty="0">
                <a:solidFill>
                  <a:srgbClr val="54B098"/>
                </a:solidFill>
              </a:rPr>
              <a:t>. </a:t>
            </a:r>
            <a:r>
              <a:rPr lang="en-US" sz="2200" dirty="0" err="1">
                <a:solidFill>
                  <a:srgbClr val="54B098"/>
                </a:solidFill>
              </a:rPr>
              <a:t>За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да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се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възпроизведе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картина</a:t>
            </a:r>
            <a:r>
              <a:rPr lang="en-US" sz="2200" dirty="0">
                <a:solidFill>
                  <a:srgbClr val="54B098"/>
                </a:solidFill>
              </a:rPr>
              <a:t> </a:t>
            </a:r>
            <a:r>
              <a:rPr lang="en-US" sz="2200" dirty="0" err="1">
                <a:solidFill>
                  <a:srgbClr val="54B098"/>
                </a:solidFill>
              </a:rPr>
              <a:t>във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своята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вътрешна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част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екраните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са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оборудвани</a:t>
            </a:r>
            <a:r>
              <a:rPr lang="en-US" sz="2200" dirty="0">
                <a:solidFill>
                  <a:srgbClr val="54B098"/>
                </a:solidFill>
              </a:rPr>
              <a:t> с </a:t>
            </a:r>
            <a:r>
              <a:rPr lang="en-US" sz="2200" dirty="0" err="1">
                <a:solidFill>
                  <a:srgbClr val="54B098"/>
                </a:solidFill>
              </a:rPr>
              <a:t>полупрозрачно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вещество</a:t>
            </a:r>
            <a:r>
              <a:rPr lang="en-US" sz="2200" dirty="0">
                <a:solidFill>
                  <a:srgbClr val="54B098"/>
                </a:solidFill>
              </a:rPr>
              <a:t>, </a:t>
            </a:r>
            <a:r>
              <a:rPr lang="en-US" sz="2200" dirty="0" err="1">
                <a:solidFill>
                  <a:srgbClr val="54B098"/>
                </a:solidFill>
              </a:rPr>
              <a:t>наречено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луминофор</a:t>
            </a:r>
            <a:r>
              <a:rPr lang="en-US" sz="2200" dirty="0">
                <a:solidFill>
                  <a:srgbClr val="54B098"/>
                </a:solidFill>
              </a:rPr>
              <a:t>, с </a:t>
            </a:r>
            <a:r>
              <a:rPr lang="en-US" sz="2200" dirty="0" err="1">
                <a:solidFill>
                  <a:srgbClr val="54B098"/>
                </a:solidFill>
              </a:rPr>
              <a:t>чиято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помощ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се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създава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желаното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изображение</a:t>
            </a:r>
            <a:r>
              <a:rPr lang="en-US" sz="2200" dirty="0">
                <a:solidFill>
                  <a:srgbClr val="54B098"/>
                </a:solidFill>
              </a:rPr>
              <a:t>.</a:t>
            </a:r>
            <a:endParaRPr lang="en-US" sz="2200" dirty="0">
              <a:solidFill>
                <a:srgbClr val="54B098"/>
              </a:solidFill>
              <a:cs typeface="Calibri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CA72EBBC-D853-A6D2-A790-85B90D4397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01" r="2" b="12648"/>
          <a:stretch/>
        </p:blipFill>
        <p:spPr>
          <a:xfrm>
            <a:off x="7203579" y="789622"/>
            <a:ext cx="3981512" cy="35052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9771080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D3C39-5495-2748-CFBC-53AF65449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303" y="26035"/>
            <a:ext cx="2131759" cy="786766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rgbClr val="54B098"/>
                </a:solidFill>
              </a:rPr>
              <a:t>LCD</a:t>
            </a:r>
            <a:r>
              <a:rPr lang="en-US" dirty="0"/>
              <a:t> 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B5AA41-4551-C70A-91FB-21E9C7A33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4593" y="1012508"/>
            <a:ext cx="5472970" cy="5536881"/>
          </a:xfrm>
        </p:spPr>
        <p:txBody>
          <a:bodyPr vert="horz" lIns="121899" tIns="60949" rIns="121899" bIns="60949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 err="1">
                <a:solidFill>
                  <a:srgbClr val="54B098"/>
                </a:solidFill>
              </a:rPr>
              <a:t>Течно-кристалeн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дисплей</a:t>
            </a:r>
            <a:r>
              <a:rPr lang="en-US" sz="2400" dirty="0">
                <a:solidFill>
                  <a:srgbClr val="54B098"/>
                </a:solidFill>
              </a:rPr>
              <a:t> - </a:t>
            </a:r>
            <a:r>
              <a:rPr lang="en-US" sz="2400" dirty="0" err="1">
                <a:solidFill>
                  <a:srgbClr val="54B098"/>
                </a:solidFill>
              </a:rPr>
              <a:t>електронен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индикатор</a:t>
            </a:r>
            <a:r>
              <a:rPr lang="en-US" sz="2400" dirty="0">
                <a:solidFill>
                  <a:srgbClr val="54B098"/>
                </a:solidFill>
              </a:rPr>
              <a:t>, </a:t>
            </a:r>
            <a:r>
              <a:rPr lang="en-US" sz="2400" dirty="0" err="1">
                <a:solidFill>
                  <a:srgbClr val="54B098"/>
                </a:solidFill>
              </a:rPr>
              <a:t>който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показва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изображения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върху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плоска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повърхност</a:t>
            </a:r>
            <a:r>
              <a:rPr lang="en-US" sz="2400" dirty="0">
                <a:solidFill>
                  <a:srgbClr val="54B098"/>
                </a:solidFill>
              </a:rPr>
              <a:t>. </a:t>
            </a:r>
            <a:r>
              <a:rPr lang="en-US" sz="2400" dirty="0" err="1">
                <a:solidFill>
                  <a:srgbClr val="54B098"/>
                </a:solidFill>
              </a:rPr>
              <a:t>Дисплеят</a:t>
            </a:r>
            <a:r>
              <a:rPr lang="en-US" sz="2400" dirty="0">
                <a:solidFill>
                  <a:srgbClr val="54B098"/>
                </a:solidFill>
              </a:rPr>
              <a:t> е </a:t>
            </a:r>
            <a:r>
              <a:rPr lang="en-US" sz="2400" dirty="0" err="1">
                <a:solidFill>
                  <a:srgbClr val="54B098"/>
                </a:solidFill>
              </a:rPr>
              <a:t>съставен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от</a:t>
            </a:r>
            <a:r>
              <a:rPr lang="en-US" sz="2400" dirty="0">
                <a:solidFill>
                  <a:srgbClr val="54B098"/>
                </a:solidFill>
              </a:rPr>
              <a:t> </a:t>
            </a:r>
            <a:r>
              <a:rPr lang="en-US" sz="2400" dirty="0" err="1">
                <a:solidFill>
                  <a:srgbClr val="54B098"/>
                </a:solidFill>
              </a:rPr>
              <a:t>вещество</a:t>
            </a:r>
            <a:r>
              <a:rPr lang="en-US" sz="2400" dirty="0">
                <a:solidFill>
                  <a:srgbClr val="54B098"/>
                </a:solidFill>
              </a:rPr>
              <a:t>, </a:t>
            </a:r>
            <a:r>
              <a:rPr lang="en-US" sz="2400" dirty="0" err="1">
                <a:solidFill>
                  <a:srgbClr val="54B098"/>
                </a:solidFill>
              </a:rPr>
              <a:t>намиращо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се</a:t>
            </a:r>
            <a:r>
              <a:rPr lang="en-US" sz="2400" dirty="0">
                <a:solidFill>
                  <a:srgbClr val="54B098"/>
                </a:solidFill>
              </a:rPr>
              <a:t> в </a:t>
            </a:r>
            <a:r>
              <a:rPr lang="en-US" sz="2400" dirty="0" err="1">
                <a:solidFill>
                  <a:srgbClr val="54B098"/>
                </a:solidFill>
              </a:rPr>
              <a:t>течно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състояние</a:t>
            </a:r>
            <a:r>
              <a:rPr lang="en-US" sz="2400" dirty="0">
                <a:solidFill>
                  <a:srgbClr val="54B098"/>
                </a:solidFill>
              </a:rPr>
              <a:t>, </a:t>
            </a:r>
            <a:r>
              <a:rPr lang="en-US" sz="2400" dirty="0" err="1">
                <a:solidFill>
                  <a:srgbClr val="54B098"/>
                </a:solidFill>
              </a:rPr>
              <a:t>но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притежаващо</a:t>
            </a:r>
            <a:r>
              <a:rPr lang="en-US" sz="2400" dirty="0">
                <a:solidFill>
                  <a:srgbClr val="54B098"/>
                </a:solidFill>
              </a:rPr>
              <a:t> и </a:t>
            </a:r>
            <a:r>
              <a:rPr lang="en-US" sz="2400" dirty="0" err="1">
                <a:solidFill>
                  <a:srgbClr val="54B098"/>
                </a:solidFill>
              </a:rPr>
              <a:t>редица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свойства</a:t>
            </a:r>
            <a:r>
              <a:rPr lang="en-US" sz="2400" dirty="0">
                <a:solidFill>
                  <a:srgbClr val="54B098"/>
                </a:solidFill>
              </a:rPr>
              <a:t>, </a:t>
            </a:r>
            <a:r>
              <a:rPr lang="en-US" sz="2400" dirty="0" err="1">
                <a:solidFill>
                  <a:srgbClr val="54B098"/>
                </a:solidFill>
              </a:rPr>
              <a:t>присъщи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на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кристалите</a:t>
            </a:r>
            <a:r>
              <a:rPr lang="en-US" sz="2400" dirty="0">
                <a:solidFill>
                  <a:srgbClr val="54B098"/>
                </a:solidFill>
              </a:rPr>
              <a:t>. </a:t>
            </a:r>
            <a:r>
              <a:rPr lang="en-US" sz="2400" dirty="0" err="1">
                <a:solidFill>
                  <a:srgbClr val="54B098"/>
                </a:solidFill>
              </a:rPr>
              <a:t>Сам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по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себе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си</a:t>
            </a:r>
            <a:r>
              <a:rPr lang="en-US" sz="2400" dirty="0">
                <a:solidFill>
                  <a:srgbClr val="54B098"/>
                </a:solidFill>
              </a:rPr>
              <a:t> LCD </a:t>
            </a:r>
            <a:r>
              <a:rPr lang="en-US" sz="2400" dirty="0" err="1">
                <a:solidFill>
                  <a:srgbClr val="54B098"/>
                </a:solidFill>
              </a:rPr>
              <a:t>екранът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не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излъчва</a:t>
            </a:r>
            <a:r>
              <a:rPr lang="en-US" sz="2400" dirty="0">
                <a:solidFill>
                  <a:srgbClr val="54B098"/>
                </a:solidFill>
              </a:rPr>
              <a:t>, а </a:t>
            </a:r>
            <a:r>
              <a:rPr lang="en-US" sz="2400" dirty="0" err="1">
                <a:solidFill>
                  <a:srgbClr val="54B098"/>
                </a:solidFill>
              </a:rPr>
              <a:t>променя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интензитета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на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преминаващата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през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него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светлина</a:t>
            </a:r>
            <a:r>
              <a:rPr lang="en-US" sz="2400" dirty="0">
                <a:solidFill>
                  <a:srgbClr val="54B098"/>
                </a:solidFill>
              </a:rPr>
              <a:t>. </a:t>
            </a:r>
            <a:endParaRPr lang="en-US" sz="2400" dirty="0">
              <a:solidFill>
                <a:srgbClr val="54B098"/>
              </a:solidFill>
              <a:cs typeface="Calibri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A03EBC31-6C94-7E66-AC40-BCD67D55F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249" y="498157"/>
            <a:ext cx="4465320" cy="44653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59017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9FF5F-CAB4-D6D2-B7C8-0B3CFA032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734" y="146050"/>
            <a:ext cx="1540318" cy="606743"/>
          </a:xfrm>
        </p:spPr>
        <p:txBody>
          <a:bodyPr anchor="b">
            <a:normAutofit fontScale="90000"/>
          </a:bodyPr>
          <a:lstStyle/>
          <a:p>
            <a:r>
              <a:rPr lang="en-US" dirty="0">
                <a:solidFill>
                  <a:srgbClr val="54B098"/>
                </a:solidFill>
              </a:rPr>
              <a:t>LED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C877B-F16B-FC91-B323-6E3343B461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78878" y="866775"/>
            <a:ext cx="5515828" cy="5596890"/>
          </a:xfrm>
        </p:spPr>
        <p:txBody>
          <a:bodyPr vert="horz" lIns="121899" tIns="60949" rIns="121899" bIns="60949" rtlCol="0" anchor="t"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 err="1">
                <a:solidFill>
                  <a:srgbClr val="54B098"/>
                </a:solidFill>
              </a:rPr>
              <a:t>На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практика</a:t>
            </a:r>
            <a:r>
              <a:rPr lang="en-US" sz="2400" dirty="0">
                <a:solidFill>
                  <a:srgbClr val="54B098"/>
                </a:solidFill>
              </a:rPr>
              <a:t> LED </a:t>
            </a:r>
            <a:r>
              <a:rPr lang="en-US" sz="2400" dirty="0" err="1">
                <a:solidFill>
                  <a:srgbClr val="54B098"/>
                </a:solidFill>
              </a:rPr>
              <a:t>дисплеите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функционират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по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същия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начин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като</a:t>
            </a:r>
            <a:r>
              <a:rPr lang="en-US" sz="2400" dirty="0">
                <a:solidFill>
                  <a:srgbClr val="54B098"/>
                </a:solidFill>
              </a:rPr>
              <a:t> LCD, </a:t>
            </a:r>
            <a:r>
              <a:rPr lang="en-US" sz="2400" dirty="0" err="1">
                <a:solidFill>
                  <a:srgbClr val="54B098"/>
                </a:solidFill>
              </a:rPr>
              <a:t>но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се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различават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по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вида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на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своята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подсветка</a:t>
            </a:r>
            <a:r>
              <a:rPr lang="en-US" sz="2400" dirty="0">
                <a:solidFill>
                  <a:srgbClr val="54B098"/>
                </a:solidFill>
              </a:rPr>
              <a:t>. </a:t>
            </a:r>
            <a:r>
              <a:rPr lang="en-US" sz="2400" dirty="0" err="1">
                <a:solidFill>
                  <a:srgbClr val="54B098"/>
                </a:solidFill>
              </a:rPr>
              <a:t>От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своя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страна</a:t>
            </a:r>
            <a:r>
              <a:rPr lang="en-US" sz="2400" dirty="0">
                <a:solidFill>
                  <a:srgbClr val="54B098"/>
                </a:solidFill>
              </a:rPr>
              <a:t> LED </a:t>
            </a:r>
            <a:r>
              <a:rPr lang="en-US" sz="2400" dirty="0" err="1">
                <a:solidFill>
                  <a:srgbClr val="54B098"/>
                </a:solidFill>
              </a:rPr>
              <a:t>дисплеите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са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оборудвани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със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светодиодни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лампи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за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източник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на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светлина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зад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екрана</a:t>
            </a:r>
            <a:r>
              <a:rPr lang="en-US" sz="2400" dirty="0">
                <a:solidFill>
                  <a:srgbClr val="54B098"/>
                </a:solidFill>
              </a:rPr>
              <a:t>. </a:t>
            </a:r>
            <a:r>
              <a:rPr lang="en-US" sz="2400" dirty="0" err="1">
                <a:solidFill>
                  <a:srgbClr val="54B098"/>
                </a:solidFill>
              </a:rPr>
              <a:t>Благодарение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на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това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те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са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далеч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по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енергийно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ефективни</a:t>
            </a:r>
            <a:r>
              <a:rPr lang="en-US" sz="2400" dirty="0">
                <a:solidFill>
                  <a:srgbClr val="54B098"/>
                </a:solidFill>
              </a:rPr>
              <a:t> и </a:t>
            </a:r>
            <a:r>
              <a:rPr lang="en-US" sz="2400" dirty="0" err="1">
                <a:solidFill>
                  <a:srgbClr val="54B098"/>
                </a:solidFill>
              </a:rPr>
              <a:t>се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отличават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със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значително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по-тънък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корпус</a:t>
            </a:r>
            <a:r>
              <a:rPr lang="en-US" sz="2400" dirty="0">
                <a:solidFill>
                  <a:srgbClr val="54B098"/>
                </a:solidFill>
              </a:rPr>
              <a:t>. </a:t>
            </a:r>
            <a:r>
              <a:rPr lang="en-US" sz="2400" dirty="0" err="1">
                <a:solidFill>
                  <a:srgbClr val="54B098"/>
                </a:solidFill>
              </a:rPr>
              <a:t>Нямат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почти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никъква</a:t>
            </a:r>
            <a:r>
              <a:rPr lang="en-US" sz="2400" dirty="0">
                <a:solidFill>
                  <a:srgbClr val="54B098"/>
                </a:solidFill>
              </a:rPr>
              <a:t> </a:t>
            </a:r>
            <a:r>
              <a:rPr lang="en-US" sz="2400" dirty="0" err="1">
                <a:solidFill>
                  <a:srgbClr val="54B098"/>
                </a:solidFill>
              </a:rPr>
              <a:t>разлика</a:t>
            </a:r>
            <a:r>
              <a:rPr lang="en-US" sz="2400" dirty="0">
                <a:solidFill>
                  <a:srgbClr val="54B098"/>
                </a:solidFill>
              </a:rPr>
              <a:t> в </a:t>
            </a:r>
            <a:r>
              <a:rPr lang="en-US" sz="2400" dirty="0" err="1">
                <a:solidFill>
                  <a:srgbClr val="54B098"/>
                </a:solidFill>
              </a:rPr>
              <a:t>качеството</a:t>
            </a:r>
            <a:r>
              <a:rPr lang="en-US" sz="2400" dirty="0">
                <a:solidFill>
                  <a:srgbClr val="54B098"/>
                </a:solidFill>
              </a:rPr>
              <a:t> с LCD </a:t>
            </a:r>
            <a:r>
              <a:rPr lang="en-US" sz="2400" dirty="0" err="1">
                <a:solidFill>
                  <a:srgbClr val="54B098"/>
                </a:solidFill>
              </a:rPr>
              <a:t>мониторите</a:t>
            </a:r>
            <a:r>
              <a:rPr lang="en-US" sz="2400" dirty="0">
                <a:solidFill>
                  <a:srgbClr val="54B098"/>
                </a:solidFill>
              </a:rPr>
              <a:t>.</a:t>
            </a:r>
            <a:endParaRPr lang="en-US" sz="2400" dirty="0">
              <a:solidFill>
                <a:srgbClr val="54B098"/>
              </a:solidFill>
              <a:cs typeface="Calibri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FF7D4960-61AD-3B40-AF8A-9283AAFCE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5970" y="583882"/>
            <a:ext cx="3813878" cy="38138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058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728" y="-479"/>
            <a:ext cx="1700881" cy="790741"/>
          </a:xfrm>
        </p:spPr>
        <p:txBody>
          <a:bodyPr/>
          <a:lstStyle/>
          <a:p>
            <a:r>
              <a:rPr lang="en-US" dirty="0">
                <a:solidFill>
                  <a:srgbClr val="54B098"/>
                </a:solidFill>
                <a:cs typeface="Calibri"/>
              </a:rPr>
              <a:t>OLED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9915" y="787116"/>
            <a:ext cx="4983494" cy="5662245"/>
          </a:xfrm>
        </p:spPr>
        <p:txBody>
          <a:bodyPr vert="horz" lIns="121899" tIns="60949" rIns="121899" bIns="60949" rtlCol="0" anchor="t">
            <a:normAutofit fontScale="85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Този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тип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технология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базира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електролуминисцентните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свойства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някои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органични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материал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въглеродна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основа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.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Най-съществената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разлика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е,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че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OLED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дисплеите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включва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течни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кристали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и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нуждаят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от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диоди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лампи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и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какъвто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да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е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друг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вид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външен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източник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светлина.Светлината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произвежда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чрез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наелектризиране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органичната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смес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, с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помощта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катод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.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Вследствие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от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подаденото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напрежение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произвеждат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фотони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, и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така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осветява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екрана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монитора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.</a:t>
            </a:r>
            <a:endParaRPr lang="en-US" sz="2400" dirty="0">
              <a:solidFill>
                <a:srgbClr val="54B098"/>
              </a:solidFill>
              <a:cs typeface="Calibri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A61430BF-71B8-BA2B-1EEB-C3E538825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171" y="791757"/>
            <a:ext cx="5811549" cy="336282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319046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7E733-A784-83DD-53E2-8C96CC6D9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10" y="62112"/>
            <a:ext cx="2476979" cy="839785"/>
          </a:xfrm>
        </p:spPr>
        <p:txBody>
          <a:bodyPr anchor="b">
            <a:normAutofit/>
          </a:bodyPr>
          <a:lstStyle/>
          <a:p>
            <a:r>
              <a:rPr lang="en-US" err="1">
                <a:solidFill>
                  <a:srgbClr val="54B098"/>
                </a:solidFill>
              </a:rPr>
              <a:t>Принтери</a:t>
            </a:r>
            <a:endParaRPr lang="en-US">
              <a:solidFill>
                <a:srgbClr val="54B098"/>
              </a:solidFill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E87D0-AAD4-692E-A06B-4C554F6EB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0412" y="930349"/>
            <a:ext cx="5862942" cy="5781335"/>
          </a:xfrm>
        </p:spPr>
        <p:txBody>
          <a:bodyPr vert="horz" lIns="121899" tIns="60949" rIns="121899" bIns="60949" rtlCol="0" anchor="t"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54B098"/>
                </a:solidFill>
              </a:rPr>
              <a:t>Принтерът</a:t>
            </a:r>
            <a:r>
              <a:rPr lang="en-US" sz="2000" dirty="0">
                <a:solidFill>
                  <a:srgbClr val="54B098"/>
                </a:solidFill>
              </a:rPr>
              <a:t> е </a:t>
            </a:r>
            <a:r>
              <a:rPr lang="en-US" sz="2000" dirty="0" err="1">
                <a:solidFill>
                  <a:srgbClr val="54B098"/>
                </a:solidFill>
              </a:rPr>
              <a:t>средство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dirty="0" err="1">
                <a:solidFill>
                  <a:srgbClr val="54B098"/>
                </a:solidFill>
              </a:rPr>
              <a:t>за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dirty="0" err="1">
                <a:solidFill>
                  <a:srgbClr val="54B098"/>
                </a:solidFill>
              </a:rPr>
              <a:t>изобразяване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dirty="0" err="1">
                <a:solidFill>
                  <a:srgbClr val="54B098"/>
                </a:solidFill>
              </a:rPr>
              <a:t>на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dirty="0" err="1">
                <a:solidFill>
                  <a:srgbClr val="54B098"/>
                </a:solidFill>
              </a:rPr>
              <a:t>текст</a:t>
            </a:r>
            <a:r>
              <a:rPr lang="en-US" sz="2000" dirty="0">
                <a:solidFill>
                  <a:srgbClr val="54B098"/>
                </a:solidFill>
              </a:rPr>
              <a:t>, </a:t>
            </a:r>
            <a:r>
              <a:rPr lang="en-US" sz="2000" dirty="0" err="1">
                <a:solidFill>
                  <a:srgbClr val="54B098"/>
                </a:solidFill>
              </a:rPr>
              <a:t>изображение</a:t>
            </a:r>
            <a:r>
              <a:rPr lang="en-US" sz="2000" dirty="0">
                <a:solidFill>
                  <a:srgbClr val="54B098"/>
                </a:solidFill>
              </a:rPr>
              <a:t> и </a:t>
            </a:r>
            <a:r>
              <a:rPr lang="en-US" sz="2000" dirty="0" err="1">
                <a:solidFill>
                  <a:srgbClr val="54B098"/>
                </a:solidFill>
              </a:rPr>
              <a:t>графика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dirty="0" err="1">
                <a:solidFill>
                  <a:srgbClr val="54B098"/>
                </a:solidFill>
              </a:rPr>
              <a:t>върху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dirty="0" err="1">
                <a:solidFill>
                  <a:srgbClr val="54B098"/>
                </a:solidFill>
              </a:rPr>
              <a:t>дълготраен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dirty="0" err="1">
                <a:solidFill>
                  <a:srgbClr val="54B098"/>
                </a:solidFill>
              </a:rPr>
              <a:t>носител</a:t>
            </a:r>
            <a:r>
              <a:rPr lang="en-US" sz="2000" dirty="0">
                <a:solidFill>
                  <a:srgbClr val="54B098"/>
                </a:solidFill>
              </a:rPr>
              <a:t> </a:t>
            </a:r>
            <a:r>
              <a:rPr lang="en-US" sz="2000" dirty="0" err="1">
                <a:solidFill>
                  <a:srgbClr val="54B098"/>
                </a:solidFill>
              </a:rPr>
              <a:t>като</a:t>
            </a:r>
            <a:r>
              <a:rPr lang="en-US" sz="2000" dirty="0">
                <a:solidFill>
                  <a:srgbClr val="54B098"/>
                </a:solidFill>
              </a:rPr>
              <a:t> </a:t>
            </a:r>
            <a:r>
              <a:rPr lang="en-US" sz="2000" dirty="0" err="1">
                <a:solidFill>
                  <a:srgbClr val="54B098"/>
                </a:solidFill>
              </a:rPr>
              <a:t>хартия</a:t>
            </a:r>
            <a:r>
              <a:rPr lang="en-US" sz="2000" dirty="0">
                <a:solidFill>
                  <a:srgbClr val="54B098"/>
                </a:solidFill>
              </a:rPr>
              <a:t>, </a:t>
            </a:r>
            <a:r>
              <a:rPr lang="en-US" sz="2000" dirty="0" err="1">
                <a:solidFill>
                  <a:srgbClr val="54B098"/>
                </a:solidFill>
              </a:rPr>
              <a:t>фолио</a:t>
            </a:r>
            <a:r>
              <a:rPr lang="en-US" sz="2000" dirty="0">
                <a:solidFill>
                  <a:srgbClr val="54B098"/>
                </a:solidFill>
              </a:rPr>
              <a:t> и </a:t>
            </a:r>
            <a:r>
              <a:rPr lang="en-US" sz="2000" dirty="0" err="1">
                <a:solidFill>
                  <a:srgbClr val="54B098"/>
                </a:solidFill>
              </a:rPr>
              <a:t>други</a:t>
            </a:r>
            <a:r>
              <a:rPr lang="en-US" sz="2000" dirty="0">
                <a:solidFill>
                  <a:srgbClr val="54B098"/>
                </a:solidFill>
              </a:rPr>
              <a:t>. </a:t>
            </a:r>
            <a:r>
              <a:rPr lang="en-US" sz="2000" dirty="0" err="1">
                <a:solidFill>
                  <a:srgbClr val="54B098"/>
                </a:solidFill>
              </a:rPr>
              <a:t>Принтерите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dirty="0" err="1">
                <a:solidFill>
                  <a:srgbClr val="54B098"/>
                </a:solidFill>
              </a:rPr>
              <a:t>представляват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dirty="0" err="1">
                <a:solidFill>
                  <a:srgbClr val="54B098"/>
                </a:solidFill>
              </a:rPr>
              <a:t>периферни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dirty="0" err="1">
                <a:solidFill>
                  <a:srgbClr val="54B098"/>
                </a:solidFill>
              </a:rPr>
              <a:t>устройства</a:t>
            </a:r>
            <a:r>
              <a:rPr lang="en-US" sz="2000" dirty="0">
                <a:solidFill>
                  <a:srgbClr val="54B098"/>
                </a:solidFill>
              </a:rPr>
              <a:t>, </a:t>
            </a:r>
            <a:r>
              <a:rPr lang="en-US" sz="2000" dirty="0" err="1">
                <a:solidFill>
                  <a:srgbClr val="54B098"/>
                </a:solidFill>
              </a:rPr>
              <a:t>които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dirty="0" err="1">
                <a:solidFill>
                  <a:srgbClr val="54B098"/>
                </a:solidFill>
              </a:rPr>
              <a:t>се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dirty="0" err="1">
                <a:solidFill>
                  <a:srgbClr val="54B098"/>
                </a:solidFill>
              </a:rPr>
              <a:t>свързват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dirty="0" err="1">
                <a:solidFill>
                  <a:srgbClr val="54B098"/>
                </a:solidFill>
              </a:rPr>
              <a:t>посредством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dirty="0" err="1">
                <a:solidFill>
                  <a:srgbClr val="54B098"/>
                </a:solidFill>
              </a:rPr>
              <a:t>интерфейс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dirty="0" err="1">
                <a:solidFill>
                  <a:srgbClr val="54B098"/>
                </a:solidFill>
              </a:rPr>
              <a:t>към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dirty="0" err="1">
                <a:solidFill>
                  <a:srgbClr val="54B098"/>
                </a:solidFill>
              </a:rPr>
              <a:t>носителя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dirty="0" err="1">
                <a:solidFill>
                  <a:srgbClr val="54B098"/>
                </a:solidFill>
              </a:rPr>
              <a:t>на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dirty="0" err="1">
                <a:solidFill>
                  <a:srgbClr val="54B098"/>
                </a:solidFill>
              </a:rPr>
              <a:t>данни</a:t>
            </a:r>
            <a:r>
              <a:rPr lang="en-US" sz="2000" dirty="0">
                <a:solidFill>
                  <a:srgbClr val="54B098"/>
                </a:solidFill>
              </a:rPr>
              <a:t>, </a:t>
            </a:r>
            <a:r>
              <a:rPr lang="en-US" sz="2000" dirty="0" err="1">
                <a:solidFill>
                  <a:srgbClr val="54B098"/>
                </a:solidFill>
              </a:rPr>
              <a:t>от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dirty="0" err="1">
                <a:solidFill>
                  <a:srgbClr val="54B098"/>
                </a:solidFill>
              </a:rPr>
              <a:t>който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dirty="0" err="1">
                <a:solidFill>
                  <a:srgbClr val="54B098"/>
                </a:solidFill>
              </a:rPr>
              <a:t>ще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dirty="0" err="1">
                <a:solidFill>
                  <a:srgbClr val="54B098"/>
                </a:solidFill>
              </a:rPr>
              <a:t>се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dirty="0" err="1">
                <a:solidFill>
                  <a:srgbClr val="54B098"/>
                </a:solidFill>
              </a:rPr>
              <a:t>принтира</a:t>
            </a:r>
            <a:r>
              <a:rPr lang="en-US" sz="2000" dirty="0">
                <a:solidFill>
                  <a:srgbClr val="54B098"/>
                </a:solidFill>
              </a:rPr>
              <a:t>. </a:t>
            </a:r>
            <a:r>
              <a:rPr lang="en-US" sz="2000" dirty="0" err="1">
                <a:solidFill>
                  <a:srgbClr val="54B098"/>
                </a:solidFill>
              </a:rPr>
              <a:t>Портове</a:t>
            </a:r>
            <a:r>
              <a:rPr lang="en-US" sz="2000" dirty="0">
                <a:solidFill>
                  <a:srgbClr val="54B098"/>
                </a:solidFill>
              </a:rPr>
              <a:t>- </a:t>
            </a:r>
            <a:r>
              <a:rPr lang="en-US" sz="2000" b="1" i="1" dirty="0" err="1">
                <a:ea typeface="+mn-lt"/>
                <a:cs typeface="+mn-lt"/>
              </a:rPr>
              <a:t>П</a:t>
            </a:r>
            <a:r>
              <a:rPr lang="en-US" sz="2000" i="1" dirty="0" err="1">
                <a:solidFill>
                  <a:srgbClr val="54B098"/>
                </a:solidFill>
                <a:ea typeface="+mn-lt"/>
                <a:cs typeface="+mn-lt"/>
              </a:rPr>
              <a:t>орт</a:t>
            </a:r>
            <a:r>
              <a:rPr lang="en-US" sz="2000" i="1" dirty="0">
                <a:solidFill>
                  <a:srgbClr val="54B098"/>
                </a:solidFill>
                <a:ea typeface="+mn-lt"/>
                <a:cs typeface="+mn-lt"/>
              </a:rPr>
              <a:t> RS-232,</a:t>
            </a:r>
            <a:r>
              <a:rPr lang="en-US" sz="2000" i="1" dirty="0">
                <a:solidFill>
                  <a:srgbClr val="54B098"/>
                </a:solidFill>
              </a:rPr>
              <a:t> </a:t>
            </a:r>
            <a:r>
              <a:rPr lang="en-US" sz="2000" i="1" dirty="0">
                <a:solidFill>
                  <a:srgbClr val="54B098"/>
                </a:solidFill>
                <a:ea typeface="+mn-lt"/>
                <a:cs typeface="+mn-lt"/>
              </a:rPr>
              <a:t>8-битов </a:t>
            </a:r>
            <a:r>
              <a:rPr lang="en-US" sz="2000" i="1" dirty="0" err="1">
                <a:solidFill>
                  <a:srgbClr val="54B098"/>
                </a:solidFill>
                <a:ea typeface="+mn-lt"/>
                <a:cs typeface="+mn-lt"/>
              </a:rPr>
              <a:t>интерфейс</a:t>
            </a:r>
            <a:r>
              <a:rPr lang="en-US" sz="2000" i="1" dirty="0">
                <a:solidFill>
                  <a:srgbClr val="54B098"/>
                </a:solidFill>
                <a:ea typeface="+mn-lt"/>
                <a:cs typeface="+mn-lt"/>
              </a:rPr>
              <a:t>, LPT</a:t>
            </a:r>
            <a:r>
              <a:rPr lang="en-US" sz="2000" dirty="0">
                <a:solidFill>
                  <a:srgbClr val="54B098"/>
                </a:solidFill>
                <a:ea typeface="+mn-lt"/>
                <a:cs typeface="+mn-lt"/>
              </a:rPr>
              <a:t> – (</a:t>
            </a:r>
            <a:r>
              <a:rPr lang="en-US" sz="2000" dirty="0" err="1">
                <a:solidFill>
                  <a:srgbClr val="54B098"/>
                </a:solidFill>
                <a:ea typeface="+mn-lt"/>
                <a:cs typeface="+mn-lt"/>
              </a:rPr>
              <a:t>принтерите</a:t>
            </a:r>
            <a:r>
              <a:rPr lang="en-US" sz="20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54B098"/>
                </a:solidFill>
                <a:ea typeface="+mn-lt"/>
                <a:cs typeface="+mn-lt"/>
              </a:rPr>
              <a:t>се</a:t>
            </a:r>
            <a:r>
              <a:rPr lang="en-US" sz="20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54B098"/>
                </a:solidFill>
                <a:ea typeface="+mn-lt"/>
                <a:cs typeface="+mn-lt"/>
              </a:rPr>
              <a:t>свързват</a:t>
            </a:r>
            <a:r>
              <a:rPr lang="en-US" sz="20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54B098"/>
                </a:solidFill>
                <a:ea typeface="+mn-lt"/>
                <a:cs typeface="+mn-lt"/>
              </a:rPr>
              <a:t>към</a:t>
            </a:r>
            <a:r>
              <a:rPr lang="en-US" sz="20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54B098"/>
                </a:solidFill>
                <a:ea typeface="+mn-lt"/>
                <a:cs typeface="+mn-lt"/>
              </a:rPr>
              <a:t>компютъра</a:t>
            </a:r>
            <a:r>
              <a:rPr lang="en-US" sz="20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54B098"/>
                </a:solidFill>
                <a:ea typeface="+mn-lt"/>
                <a:cs typeface="+mn-lt"/>
              </a:rPr>
              <a:t>чрез</a:t>
            </a:r>
            <a:r>
              <a:rPr lang="en-US" sz="2000" dirty="0">
                <a:solidFill>
                  <a:srgbClr val="54B098"/>
                </a:solidFill>
                <a:ea typeface="+mn-lt"/>
                <a:cs typeface="+mn-lt"/>
              </a:rPr>
              <a:t> 25-пинов </a:t>
            </a:r>
            <a:r>
              <a:rPr lang="en-US" sz="2000" dirty="0" err="1">
                <a:solidFill>
                  <a:srgbClr val="54B098"/>
                </a:solidFill>
                <a:ea typeface="+mn-lt"/>
                <a:cs typeface="+mn-lt"/>
              </a:rPr>
              <a:t>женски</a:t>
            </a:r>
            <a:r>
              <a:rPr lang="en-US" sz="2000" dirty="0">
                <a:solidFill>
                  <a:srgbClr val="54B098"/>
                </a:solidFill>
                <a:ea typeface="+mn-lt"/>
                <a:cs typeface="+mn-lt"/>
              </a:rPr>
              <a:t> D-</a:t>
            </a:r>
            <a:r>
              <a:rPr lang="en-US" sz="2000" dirty="0" err="1">
                <a:solidFill>
                  <a:srgbClr val="54B098"/>
                </a:solidFill>
                <a:ea typeface="+mn-lt"/>
                <a:cs typeface="+mn-lt"/>
              </a:rPr>
              <a:t>тип</a:t>
            </a:r>
            <a:r>
              <a:rPr lang="en-US" sz="20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54B098"/>
                </a:solidFill>
                <a:ea typeface="+mn-lt"/>
                <a:cs typeface="+mn-lt"/>
              </a:rPr>
              <a:t>конектор</a:t>
            </a:r>
            <a:r>
              <a:rPr lang="en-US" sz="2000" dirty="0">
                <a:solidFill>
                  <a:srgbClr val="54B098"/>
                </a:solidFill>
                <a:ea typeface="+mn-lt"/>
                <a:cs typeface="+mn-lt"/>
              </a:rPr>
              <a:t>),</a:t>
            </a:r>
            <a:r>
              <a:rPr lang="en-US" sz="2000" dirty="0">
                <a:solidFill>
                  <a:srgbClr val="54B098"/>
                </a:solidFill>
              </a:rPr>
              <a:t> </a:t>
            </a:r>
            <a:r>
              <a:rPr lang="en-US" sz="2000" i="1" dirty="0">
                <a:solidFill>
                  <a:srgbClr val="54B098"/>
                </a:solidFill>
                <a:ea typeface="+mn-lt"/>
                <a:cs typeface="+mn-lt"/>
              </a:rPr>
              <a:t>EPP, ECP,</a:t>
            </a:r>
            <a:r>
              <a:rPr lang="en-US" sz="2000" i="1" dirty="0">
                <a:solidFill>
                  <a:srgbClr val="54B098"/>
                </a:solidFill>
              </a:rPr>
              <a:t> </a:t>
            </a:r>
            <a:r>
              <a:rPr lang="en-US" sz="2000" i="1" dirty="0">
                <a:solidFill>
                  <a:srgbClr val="54B098"/>
                </a:solidFill>
                <a:ea typeface="+mn-lt"/>
                <a:cs typeface="+mn-lt"/>
              </a:rPr>
              <a:t>USB  и FireWire.</a:t>
            </a:r>
            <a:r>
              <a:rPr lang="en-US" sz="2000" i="1" dirty="0">
                <a:solidFill>
                  <a:srgbClr val="54B098"/>
                </a:solidFill>
              </a:rPr>
              <a:t> </a:t>
            </a:r>
            <a:r>
              <a:rPr lang="en-US" sz="2000" dirty="0" err="1">
                <a:solidFill>
                  <a:srgbClr val="54B098"/>
                </a:solidFill>
              </a:rPr>
              <a:t>Принтер</a:t>
            </a:r>
            <a:r>
              <a:rPr lang="en-US" sz="2000" dirty="0">
                <a:solidFill>
                  <a:srgbClr val="54B098"/>
                </a:solidFill>
              </a:rPr>
              <a:t>, </a:t>
            </a:r>
            <a:r>
              <a:rPr lang="en-US" sz="2000" dirty="0" err="1">
                <a:solidFill>
                  <a:srgbClr val="54B098"/>
                </a:solidFill>
              </a:rPr>
              <a:t>комбиниран</a:t>
            </a:r>
            <a:r>
              <a:rPr lang="en-US" sz="2000" dirty="0">
                <a:solidFill>
                  <a:srgbClr val="54B098"/>
                </a:solidFill>
              </a:rPr>
              <a:t> в </a:t>
            </a:r>
            <a:r>
              <a:rPr lang="en-US" sz="2000" dirty="0" err="1">
                <a:solidFill>
                  <a:srgbClr val="54B098"/>
                </a:solidFill>
              </a:rPr>
              <a:t>едно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dirty="0" err="1">
                <a:solidFill>
                  <a:srgbClr val="54B098"/>
                </a:solidFill>
              </a:rPr>
              <a:t>устройство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dirty="0" err="1">
                <a:solidFill>
                  <a:srgbClr val="54B098"/>
                </a:solidFill>
              </a:rPr>
              <a:t>със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dirty="0" err="1">
                <a:solidFill>
                  <a:srgbClr val="54B098"/>
                </a:solidFill>
              </a:rPr>
              <a:t>скенер</a:t>
            </a:r>
            <a:r>
              <a:rPr lang="en-US" sz="2000" dirty="0">
                <a:solidFill>
                  <a:srgbClr val="54B098"/>
                </a:solidFill>
              </a:rPr>
              <a:t>, </a:t>
            </a:r>
            <a:r>
              <a:rPr lang="en-US" sz="2000" dirty="0" err="1">
                <a:solidFill>
                  <a:srgbClr val="54B098"/>
                </a:solidFill>
              </a:rPr>
              <a:t>факс</a:t>
            </a:r>
            <a:r>
              <a:rPr lang="en-US" sz="2000" dirty="0">
                <a:solidFill>
                  <a:srgbClr val="54B098"/>
                </a:solidFill>
              </a:rPr>
              <a:t> и </a:t>
            </a:r>
            <a:r>
              <a:rPr lang="en-US" sz="2000" dirty="0" err="1">
                <a:solidFill>
                  <a:srgbClr val="54B098"/>
                </a:solidFill>
              </a:rPr>
              <a:t>копир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dirty="0" err="1">
                <a:solidFill>
                  <a:srgbClr val="54B098"/>
                </a:solidFill>
              </a:rPr>
              <a:t>се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dirty="0" err="1">
                <a:solidFill>
                  <a:srgbClr val="54B098"/>
                </a:solidFill>
              </a:rPr>
              <a:t>нарича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dirty="0" err="1">
                <a:solidFill>
                  <a:srgbClr val="54B098"/>
                </a:solidFill>
              </a:rPr>
              <a:t>мултифункционално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dirty="0" err="1">
                <a:solidFill>
                  <a:srgbClr val="54B098"/>
                </a:solidFill>
              </a:rPr>
              <a:t>устройство</a:t>
            </a:r>
            <a:r>
              <a:rPr lang="en-US" sz="2000" dirty="0">
                <a:solidFill>
                  <a:srgbClr val="54B098"/>
                </a:solidFill>
              </a:rPr>
              <a:t>. </a:t>
            </a:r>
            <a:r>
              <a:rPr lang="en-US" sz="2000" dirty="0" err="1">
                <a:solidFill>
                  <a:srgbClr val="54B098"/>
                </a:solidFill>
              </a:rPr>
              <a:t>Видове</a:t>
            </a:r>
            <a:r>
              <a:rPr lang="en-US" sz="2000" dirty="0">
                <a:solidFill>
                  <a:srgbClr val="54B098"/>
                </a:solidFill>
              </a:rPr>
              <a:t>- </a:t>
            </a:r>
            <a:r>
              <a:rPr lang="en-US" sz="2000" b="1" dirty="0" err="1">
                <a:solidFill>
                  <a:srgbClr val="54B098"/>
                </a:solidFill>
              </a:rPr>
              <a:t>линеен</a:t>
            </a:r>
            <a:r>
              <a:rPr lang="en-US" sz="2000" b="1" dirty="0">
                <a:solidFill>
                  <a:srgbClr val="54B098"/>
                </a:solidFill>
              </a:rPr>
              <a:t>, </a:t>
            </a:r>
            <a:r>
              <a:rPr lang="en-US" sz="2000" b="1" dirty="0" err="1">
                <a:solidFill>
                  <a:srgbClr val="54B098"/>
                </a:solidFill>
              </a:rPr>
              <a:t>матричен</a:t>
            </a:r>
            <a:r>
              <a:rPr lang="en-US" sz="2000" b="1" dirty="0">
                <a:solidFill>
                  <a:srgbClr val="54B098"/>
                </a:solidFill>
              </a:rPr>
              <a:t>, </a:t>
            </a:r>
            <a:r>
              <a:rPr lang="en-US" sz="2000" b="1" dirty="0" err="1">
                <a:solidFill>
                  <a:srgbClr val="54B098"/>
                </a:solidFill>
              </a:rPr>
              <a:t>лазерен</a:t>
            </a:r>
            <a:r>
              <a:rPr lang="en-US" sz="2000" b="1" dirty="0">
                <a:solidFill>
                  <a:srgbClr val="54B098"/>
                </a:solidFill>
              </a:rPr>
              <a:t>, </a:t>
            </a:r>
            <a:r>
              <a:rPr lang="en-US" sz="2000" b="1" dirty="0" err="1">
                <a:solidFill>
                  <a:srgbClr val="54B098"/>
                </a:solidFill>
              </a:rPr>
              <a:t>сублимационен</a:t>
            </a:r>
            <a:r>
              <a:rPr lang="en-US" sz="2000" b="1" dirty="0">
                <a:solidFill>
                  <a:srgbClr val="54B098"/>
                </a:solidFill>
              </a:rPr>
              <a:t>, </a:t>
            </a:r>
            <a:r>
              <a:rPr lang="en-US" sz="2000" b="1" dirty="0" err="1">
                <a:solidFill>
                  <a:srgbClr val="54B098"/>
                </a:solidFill>
              </a:rPr>
              <a:t>мастилоструйни</a:t>
            </a:r>
            <a:r>
              <a:rPr lang="en-US" sz="2000" b="1" dirty="0">
                <a:solidFill>
                  <a:srgbClr val="54B098"/>
                </a:solidFill>
              </a:rPr>
              <a:t>.</a:t>
            </a:r>
            <a:endParaRPr lang="en-US" sz="2000" b="1">
              <a:solidFill>
                <a:srgbClr val="54B098"/>
              </a:solidFill>
              <a:ea typeface="Calibri"/>
              <a:cs typeface="Calibri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1E061708-9440-A9CA-A845-424806262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621" y="782627"/>
            <a:ext cx="5078677" cy="343657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026263754"/>
      </p:ext>
    </p:extLst>
  </p:cSld>
  <p:clrMapOvr>
    <a:masterClrMapping/>
  </p:clrMapOvr>
  <p:transition spd="slow">
    <p:comb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1216B-1BA5-821E-E5F9-DCC4A8618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257" y="70286"/>
            <a:ext cx="2093014" cy="749871"/>
          </a:xfrm>
        </p:spPr>
        <p:txBody>
          <a:bodyPr/>
          <a:lstStyle/>
          <a:p>
            <a:r>
              <a:rPr lang="en-US" err="1">
                <a:solidFill>
                  <a:srgbClr val="54B098"/>
                </a:solidFill>
                <a:cs typeface="Calibri"/>
              </a:rPr>
              <a:t>Линеен</a:t>
            </a:r>
            <a:r>
              <a:rPr lang="en-US">
                <a:cs typeface="Calibri"/>
              </a:rPr>
              <a:t>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8F338-50C9-2DBC-AD3E-FFF138BCC3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6478" y="1062932"/>
            <a:ext cx="10601227" cy="5340725"/>
          </a:xfrm>
        </p:spPr>
        <p:txBody>
          <a:bodyPr vert="horz" lIns="121899" tIns="60949" rIns="121899" bIns="60949" rtlCol="0" anchor="t">
            <a:normAutofit/>
          </a:bodyPr>
          <a:lstStyle/>
          <a:p>
            <a:pPr marL="0" indent="0">
              <a:buNone/>
            </a:pP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Линейните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принтери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ползват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чукчета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удрящи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през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мастилената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лента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върху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хартията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за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да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отпечатват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точки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, с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които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синтезират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изображението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.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Чукчета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подредени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в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хоризонтален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ред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и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оформени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като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цялостен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възел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.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Този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печатащ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модул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е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монтиран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върху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совалка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която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вибрира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в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хоризонтално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направление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което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позволява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всеки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печатащ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елемент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да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отпечата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ред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от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точки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.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Видове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:</a:t>
            </a:r>
          </a:p>
          <a:p>
            <a:pPr marL="0" indent="0">
              <a:buNone/>
            </a:pPr>
            <a:r>
              <a:rPr lang="en-US" sz="2200" i="1" dirty="0" err="1">
                <a:solidFill>
                  <a:srgbClr val="54B098"/>
                </a:solidFill>
                <a:ea typeface="+mn-lt"/>
                <a:cs typeface="+mn-lt"/>
              </a:rPr>
              <a:t>Барабанен</a:t>
            </a:r>
            <a:r>
              <a:rPr lang="en-US" sz="2200" i="1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i="1" dirty="0" err="1">
                <a:solidFill>
                  <a:srgbClr val="54B098"/>
                </a:solidFill>
                <a:ea typeface="+mn-lt"/>
                <a:cs typeface="+mn-lt"/>
              </a:rPr>
              <a:t>линеен</a:t>
            </a:r>
            <a:r>
              <a:rPr lang="en-US" sz="2200" i="1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i="1" dirty="0" err="1">
                <a:solidFill>
                  <a:srgbClr val="54B098"/>
                </a:solidFill>
                <a:ea typeface="+mn-lt"/>
                <a:cs typeface="+mn-lt"/>
              </a:rPr>
              <a:t>принтер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  –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символите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и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цифрите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поставени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въртящи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ролки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събрани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в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общ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барабан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.</a:t>
            </a:r>
          </a:p>
          <a:p>
            <a:pPr marL="304165" indent="-304165">
              <a:buNone/>
            </a:pPr>
            <a:r>
              <a:rPr lang="en-US" sz="2200" i="1" err="1">
                <a:solidFill>
                  <a:srgbClr val="54B098"/>
                </a:solidFill>
                <a:ea typeface="+mn-lt"/>
                <a:cs typeface="+mn-lt"/>
              </a:rPr>
              <a:t>Верижният</a:t>
            </a:r>
            <a:r>
              <a:rPr lang="en-US" sz="2200" i="1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i="1" err="1">
                <a:solidFill>
                  <a:srgbClr val="54B098"/>
                </a:solidFill>
                <a:ea typeface="+mn-lt"/>
                <a:cs typeface="+mn-lt"/>
              </a:rPr>
              <a:t>линеен</a:t>
            </a:r>
            <a:r>
              <a:rPr lang="en-US" sz="2200" i="1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i="1" err="1">
                <a:solidFill>
                  <a:srgbClr val="54B098"/>
                </a:solidFill>
                <a:ea typeface="+mn-lt"/>
                <a:cs typeface="+mn-lt"/>
              </a:rPr>
              <a:t>принтер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 –  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при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него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символите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са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подредени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в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последователен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вид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свързани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в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обща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верига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.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Отново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при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идването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определен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символ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чукчето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го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притиска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към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листа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хартия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и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през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мастилената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лента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той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се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отпечатва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.</a:t>
            </a:r>
            <a:endParaRPr lang="en-US" sz="2200" dirty="0">
              <a:solidFill>
                <a:srgbClr val="54B098"/>
              </a:solidFill>
              <a:cs typeface="Calibri"/>
            </a:endParaRPr>
          </a:p>
          <a:p>
            <a:pPr marL="304165" indent="-304165">
              <a:buNone/>
            </a:pPr>
            <a:r>
              <a:rPr lang="en-US" sz="2200" i="1" err="1">
                <a:solidFill>
                  <a:srgbClr val="54B098"/>
                </a:solidFill>
                <a:ea typeface="+mn-lt"/>
                <a:cs typeface="+mn-lt"/>
              </a:rPr>
              <a:t>Лостов</a:t>
            </a:r>
            <a:r>
              <a:rPr lang="en-US" sz="2200" i="1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i="1" err="1">
                <a:solidFill>
                  <a:srgbClr val="54B098"/>
                </a:solidFill>
                <a:ea typeface="+mn-lt"/>
                <a:cs typeface="+mn-lt"/>
              </a:rPr>
              <a:t>линеен</a:t>
            </a:r>
            <a:r>
              <a:rPr lang="en-US" sz="2200" i="1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i="1" err="1">
                <a:solidFill>
                  <a:srgbClr val="54B098"/>
                </a:solidFill>
                <a:ea typeface="+mn-lt"/>
                <a:cs typeface="+mn-lt"/>
              </a:rPr>
              <a:t>принтер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 –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при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него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символите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се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намират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отделни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лостчета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с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обща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основа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която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се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движи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наляво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и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надясно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поставяйки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желания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символ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пред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чукчето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след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което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то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го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притиска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към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листа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.</a:t>
            </a:r>
            <a:endParaRPr lang="en-US" sz="2200" dirty="0">
              <a:solidFill>
                <a:srgbClr val="54B098"/>
              </a:solidFill>
              <a:cs typeface="Calibri"/>
            </a:endParaRPr>
          </a:p>
          <a:p>
            <a:pPr marL="0" indent="0">
              <a:buNone/>
            </a:pPr>
            <a:endParaRPr lang="en-US" sz="2200" dirty="0">
              <a:solidFill>
                <a:srgbClr val="54B098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5267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B0E5A62-FCD3-DBDB-1FAA-AC997F14D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839" y="370173"/>
            <a:ext cx="4157229" cy="241308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F8E463E-9AAA-5C84-FF7C-642A32255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091" y="1092632"/>
            <a:ext cx="5096658" cy="337069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113759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8DAE4-21CD-655D-6DB0-5D082F5EC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059" y="-162349"/>
            <a:ext cx="2567500" cy="929667"/>
          </a:xfrm>
        </p:spPr>
        <p:txBody>
          <a:bodyPr anchor="b">
            <a:normAutofit/>
          </a:bodyPr>
          <a:lstStyle/>
          <a:p>
            <a:r>
              <a:rPr lang="en-US" dirty="0" err="1">
                <a:solidFill>
                  <a:srgbClr val="54B098"/>
                </a:solidFill>
              </a:rPr>
              <a:t>Матричен</a:t>
            </a:r>
            <a:r>
              <a:rPr lang="en-US" dirty="0"/>
              <a:t>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C929E-159C-5DE1-E3AF-89A3881AEF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7642" y="1020189"/>
            <a:ext cx="5845493" cy="5455225"/>
          </a:xfrm>
        </p:spPr>
        <p:txBody>
          <a:bodyPr vert="horz" lIns="121899" tIns="60949" rIns="121899" bIns="60949" rtlCol="0" anchor="t"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 err="1">
                <a:solidFill>
                  <a:srgbClr val="54B098"/>
                </a:solidFill>
              </a:rPr>
              <a:t>Принтери</a:t>
            </a:r>
            <a:r>
              <a:rPr lang="en-US" sz="2200" dirty="0">
                <a:solidFill>
                  <a:srgbClr val="54B098"/>
                </a:solidFill>
              </a:rPr>
              <a:t>, </a:t>
            </a:r>
            <a:r>
              <a:rPr lang="en-US" sz="2200" dirty="0" err="1">
                <a:solidFill>
                  <a:srgbClr val="54B098"/>
                </a:solidFill>
              </a:rPr>
              <a:t>които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нанасят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образ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върху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хартия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чрез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игли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подредени</a:t>
            </a:r>
            <a:r>
              <a:rPr lang="en-US" sz="2200" dirty="0">
                <a:solidFill>
                  <a:srgbClr val="54B098"/>
                </a:solidFill>
              </a:rPr>
              <a:t> в </a:t>
            </a:r>
            <a:r>
              <a:rPr lang="en-US" sz="2200" dirty="0" err="1">
                <a:solidFill>
                  <a:srgbClr val="54B098"/>
                </a:solidFill>
              </a:rPr>
              <a:t>матрица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удряйки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по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намастилена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предварително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лента</a:t>
            </a:r>
            <a:r>
              <a:rPr lang="en-US" sz="2200" dirty="0">
                <a:solidFill>
                  <a:srgbClr val="54B098"/>
                </a:solidFill>
              </a:rPr>
              <a:t>. </a:t>
            </a:r>
            <a:r>
              <a:rPr lang="en-US" sz="2200" dirty="0" err="1">
                <a:solidFill>
                  <a:srgbClr val="54B098"/>
                </a:solidFill>
              </a:rPr>
              <a:t>Имат</a:t>
            </a:r>
            <a:r>
              <a:rPr lang="en-US" sz="2200" dirty="0">
                <a:solidFill>
                  <a:srgbClr val="54B098"/>
                </a:solidFill>
              </a:rPr>
              <a:t> </a:t>
            </a:r>
            <a:r>
              <a:rPr lang="en-US" sz="2200" dirty="0" err="1">
                <a:solidFill>
                  <a:srgbClr val="54B098"/>
                </a:solidFill>
              </a:rPr>
              <a:t>ниска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себестойност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на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отпечатъка</a:t>
            </a:r>
            <a:r>
              <a:rPr lang="en-US" sz="2200" dirty="0">
                <a:solidFill>
                  <a:srgbClr val="54B098"/>
                </a:solidFill>
              </a:rPr>
              <a:t>, </a:t>
            </a:r>
            <a:r>
              <a:rPr lang="en-US" sz="2200" dirty="0" err="1">
                <a:solidFill>
                  <a:srgbClr val="54B098"/>
                </a:solidFill>
              </a:rPr>
              <a:t>могат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да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работят</a:t>
            </a:r>
            <a:r>
              <a:rPr lang="en-US" sz="2200" dirty="0">
                <a:solidFill>
                  <a:srgbClr val="54B098"/>
                </a:solidFill>
              </a:rPr>
              <a:t> с </a:t>
            </a:r>
            <a:r>
              <a:rPr lang="en-US" sz="2200" dirty="0" err="1">
                <a:solidFill>
                  <a:srgbClr val="54B098"/>
                </a:solidFill>
              </a:rPr>
              <a:t>многопластови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химизирани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хартии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за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отпечатване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на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документи</a:t>
            </a:r>
            <a:r>
              <a:rPr lang="en-US" sz="2200" dirty="0">
                <a:solidFill>
                  <a:srgbClr val="54B098"/>
                </a:solidFill>
              </a:rPr>
              <a:t> с </a:t>
            </a:r>
            <a:r>
              <a:rPr lang="en-US" sz="2200" dirty="0" err="1">
                <a:solidFill>
                  <a:srgbClr val="54B098"/>
                </a:solidFill>
              </a:rPr>
              <a:t>дубликат</a:t>
            </a:r>
            <a:r>
              <a:rPr lang="en-US" sz="2200" dirty="0">
                <a:solidFill>
                  <a:srgbClr val="54B098"/>
                </a:solidFill>
              </a:rPr>
              <a:t>. В </a:t>
            </a:r>
            <a:r>
              <a:rPr lang="en-US" sz="2200" dirty="0" err="1">
                <a:solidFill>
                  <a:srgbClr val="54B098"/>
                </a:solidFill>
              </a:rPr>
              <a:t>капсулована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глава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са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поставени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игли</a:t>
            </a:r>
            <a:r>
              <a:rPr lang="en-US" sz="2200" dirty="0">
                <a:solidFill>
                  <a:srgbClr val="54B098"/>
                </a:solidFill>
              </a:rPr>
              <a:t>, </a:t>
            </a:r>
            <a:r>
              <a:rPr lang="en-US" sz="2200" dirty="0" err="1">
                <a:solidFill>
                  <a:srgbClr val="54B098"/>
                </a:solidFill>
              </a:rPr>
              <a:t>задействани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по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магнитен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път</a:t>
            </a:r>
            <a:r>
              <a:rPr lang="en-US" sz="2200" dirty="0">
                <a:solidFill>
                  <a:srgbClr val="54B098"/>
                </a:solidFill>
              </a:rPr>
              <a:t>. </a:t>
            </a:r>
            <a:r>
              <a:rPr lang="en-US" sz="2200" dirty="0" err="1">
                <a:solidFill>
                  <a:srgbClr val="54B098"/>
                </a:solidFill>
              </a:rPr>
              <a:t>При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задействането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на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соленоида</a:t>
            </a:r>
            <a:r>
              <a:rPr lang="en-US" sz="2200" dirty="0">
                <a:solidFill>
                  <a:srgbClr val="54B098"/>
                </a:solidFill>
              </a:rPr>
              <a:t>, </a:t>
            </a:r>
            <a:r>
              <a:rPr lang="en-US" sz="2200" dirty="0" err="1">
                <a:solidFill>
                  <a:srgbClr val="54B098"/>
                </a:solidFill>
              </a:rPr>
              <a:t>управляващ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съответната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игла</a:t>
            </a:r>
            <a:r>
              <a:rPr lang="en-US" sz="2200" dirty="0">
                <a:solidFill>
                  <a:srgbClr val="54B098"/>
                </a:solidFill>
              </a:rPr>
              <a:t>, </a:t>
            </a:r>
            <a:r>
              <a:rPr lang="en-US" sz="2200" dirty="0" err="1">
                <a:solidFill>
                  <a:srgbClr val="54B098"/>
                </a:solidFill>
              </a:rPr>
              <a:t>тя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се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изстрелва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напред</a:t>
            </a:r>
            <a:r>
              <a:rPr lang="en-US" sz="2200" dirty="0">
                <a:solidFill>
                  <a:srgbClr val="54B098"/>
                </a:solidFill>
              </a:rPr>
              <a:t> и </a:t>
            </a:r>
            <a:r>
              <a:rPr lang="en-US" sz="2200" dirty="0" err="1">
                <a:solidFill>
                  <a:srgbClr val="54B098"/>
                </a:solidFill>
              </a:rPr>
              <a:t>притиска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мастилената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лента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към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листа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хартия</a:t>
            </a:r>
            <a:r>
              <a:rPr lang="en-US" sz="2200" dirty="0">
                <a:solidFill>
                  <a:srgbClr val="54B098"/>
                </a:solidFill>
              </a:rPr>
              <a:t>, </a:t>
            </a:r>
            <a:r>
              <a:rPr lang="en-US" sz="2200" dirty="0" err="1">
                <a:solidFill>
                  <a:srgbClr val="54B098"/>
                </a:solidFill>
              </a:rPr>
              <a:t>отпечатвайки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по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този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начин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пиксел</a:t>
            </a:r>
            <a:r>
              <a:rPr lang="en-US" sz="2200" dirty="0">
                <a:solidFill>
                  <a:srgbClr val="54B098"/>
                </a:solidFill>
              </a:rPr>
              <a:t>.</a:t>
            </a:r>
            <a:endParaRPr lang="en-US">
              <a:solidFill>
                <a:srgbClr val="54B098"/>
              </a:solidFill>
              <a:cs typeface="Calibri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25DF3CDE-C240-DC9B-2601-D25493832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378" y="342414"/>
            <a:ext cx="4465320" cy="44653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3769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7D767-B543-B3E2-174B-E40DCAA6E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474" y="123029"/>
            <a:ext cx="3468064" cy="635371"/>
          </a:xfrm>
        </p:spPr>
        <p:txBody>
          <a:bodyPr anchor="b">
            <a:normAutofit/>
          </a:bodyPr>
          <a:lstStyle/>
          <a:p>
            <a:r>
              <a:rPr lang="en-US" dirty="0" err="1">
                <a:solidFill>
                  <a:srgbClr val="54B098"/>
                </a:solidFill>
              </a:rPr>
              <a:t>Сублимационен</a:t>
            </a:r>
            <a:endParaRPr lang="en-US" dirty="0">
              <a:solidFill>
                <a:srgbClr val="54B098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FAA6C-3733-3D13-BFD1-B954471140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6808" y="841828"/>
            <a:ext cx="5818742" cy="5892209"/>
          </a:xfrm>
        </p:spPr>
        <p:txBody>
          <a:bodyPr vert="horz" lIns="121899" tIns="60949" rIns="121899" bIns="60949" rtlCol="0" anchor="t"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err="1">
                <a:solidFill>
                  <a:srgbClr val="54B098"/>
                </a:solidFill>
              </a:rPr>
              <a:t>Те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спадат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към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класа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на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все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още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развиващите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се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принтери</a:t>
            </a:r>
            <a:r>
              <a:rPr lang="en-US" sz="2000" dirty="0">
                <a:solidFill>
                  <a:srgbClr val="54B098"/>
                </a:solidFill>
              </a:rPr>
              <a:t>, </a:t>
            </a:r>
            <a:r>
              <a:rPr lang="en-US" sz="2000" err="1">
                <a:solidFill>
                  <a:srgbClr val="54B098"/>
                </a:solidFill>
              </a:rPr>
              <a:t>които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не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са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толкова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популярни</a:t>
            </a:r>
            <a:r>
              <a:rPr lang="en-US" sz="2000" dirty="0">
                <a:solidFill>
                  <a:srgbClr val="54B098"/>
                </a:solidFill>
              </a:rPr>
              <a:t> и </a:t>
            </a:r>
            <a:r>
              <a:rPr lang="en-US" sz="2000" err="1">
                <a:solidFill>
                  <a:srgbClr val="54B098"/>
                </a:solidFill>
              </a:rPr>
              <a:t>се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използват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от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определен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кръг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хора</a:t>
            </a:r>
            <a:r>
              <a:rPr lang="en-US" sz="2000" dirty="0">
                <a:solidFill>
                  <a:srgbClr val="54B098"/>
                </a:solidFill>
              </a:rPr>
              <a:t>. </a:t>
            </a:r>
            <a:r>
              <a:rPr lang="en-US" sz="2000" err="1">
                <a:solidFill>
                  <a:srgbClr val="54B098"/>
                </a:solidFill>
              </a:rPr>
              <a:t>Използват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се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предимно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за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отпечатване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на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снимки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от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цифрови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фотоапарати</a:t>
            </a:r>
            <a:r>
              <a:rPr lang="en-US" sz="2000" dirty="0">
                <a:solidFill>
                  <a:srgbClr val="54B098"/>
                </a:solidFill>
              </a:rPr>
              <a:t>. </a:t>
            </a:r>
            <a:r>
              <a:rPr lang="en-US" sz="2000" err="1">
                <a:solidFill>
                  <a:srgbClr val="54B098"/>
                </a:solidFill>
              </a:rPr>
              <a:t>Сублимация</a:t>
            </a:r>
            <a:r>
              <a:rPr lang="en-US" sz="2000" dirty="0">
                <a:solidFill>
                  <a:srgbClr val="54B098"/>
                </a:solidFill>
              </a:rPr>
              <a:t> е </a:t>
            </a:r>
            <a:r>
              <a:rPr lang="en-US" sz="2000" err="1">
                <a:solidFill>
                  <a:srgbClr val="54B098"/>
                </a:solidFill>
              </a:rPr>
              <a:t>процесът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на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преход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от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твърдо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вещество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към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газообразно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състояние</a:t>
            </a:r>
            <a:r>
              <a:rPr lang="en-US" sz="2000" dirty="0">
                <a:solidFill>
                  <a:srgbClr val="54B098"/>
                </a:solidFill>
              </a:rPr>
              <a:t>, </a:t>
            </a:r>
            <a:r>
              <a:rPr lang="en-US" sz="2000" err="1">
                <a:solidFill>
                  <a:srgbClr val="54B098"/>
                </a:solidFill>
              </a:rPr>
              <a:t>без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преминаване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през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междинна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течна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форма</a:t>
            </a:r>
            <a:r>
              <a:rPr lang="en-US" sz="2000" dirty="0">
                <a:solidFill>
                  <a:srgbClr val="54B098"/>
                </a:solidFill>
              </a:rPr>
              <a:t>. </a:t>
            </a:r>
            <a:r>
              <a:rPr lang="en-US" sz="2000" err="1">
                <a:solidFill>
                  <a:srgbClr val="54B098"/>
                </a:solidFill>
              </a:rPr>
              <a:t>При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този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тип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принтери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оцветителят</a:t>
            </a:r>
            <a:r>
              <a:rPr lang="en-US" sz="2000" dirty="0">
                <a:solidFill>
                  <a:srgbClr val="54B098"/>
                </a:solidFill>
              </a:rPr>
              <a:t> е в </a:t>
            </a:r>
            <a:r>
              <a:rPr lang="en-US" sz="2000" err="1">
                <a:solidFill>
                  <a:srgbClr val="54B098"/>
                </a:solidFill>
              </a:rPr>
              <a:t>твърдо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агрегатно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състояние</a:t>
            </a:r>
            <a:r>
              <a:rPr lang="en-US" sz="2000" dirty="0">
                <a:solidFill>
                  <a:srgbClr val="54B098"/>
                </a:solidFill>
              </a:rPr>
              <a:t> и е </a:t>
            </a:r>
            <a:r>
              <a:rPr lang="en-US" sz="2000" err="1">
                <a:solidFill>
                  <a:srgbClr val="54B098"/>
                </a:solidFill>
              </a:rPr>
              <a:t>нанесен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върху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носител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от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целофан</a:t>
            </a:r>
            <a:r>
              <a:rPr lang="en-US" sz="2000" dirty="0">
                <a:solidFill>
                  <a:srgbClr val="54B098"/>
                </a:solidFill>
              </a:rPr>
              <a:t>. </a:t>
            </a:r>
            <a:r>
              <a:rPr lang="en-US" sz="2000" err="1">
                <a:solidFill>
                  <a:srgbClr val="54B098"/>
                </a:solidFill>
              </a:rPr>
              <a:t>Има</a:t>
            </a:r>
            <a:r>
              <a:rPr lang="en-US" sz="2000" dirty="0">
                <a:solidFill>
                  <a:srgbClr val="54B098"/>
                </a:solidFill>
              </a:rPr>
              <a:t> </a:t>
            </a:r>
            <a:r>
              <a:rPr lang="en-US" sz="2000" err="1">
                <a:solidFill>
                  <a:srgbClr val="54B098"/>
                </a:solidFill>
              </a:rPr>
              <a:t>четири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носителя</a:t>
            </a:r>
            <a:r>
              <a:rPr lang="en-US" sz="2000" dirty="0">
                <a:solidFill>
                  <a:srgbClr val="54B098"/>
                </a:solidFill>
              </a:rPr>
              <a:t> – </a:t>
            </a:r>
            <a:r>
              <a:rPr lang="en-US" sz="2000" err="1">
                <a:solidFill>
                  <a:srgbClr val="54B098"/>
                </a:solidFill>
              </a:rPr>
              <a:t>освен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трите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основни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цвята</a:t>
            </a:r>
            <a:r>
              <a:rPr lang="en-US" sz="2000" dirty="0">
                <a:solidFill>
                  <a:srgbClr val="54B098"/>
                </a:solidFill>
              </a:rPr>
              <a:t>, </a:t>
            </a:r>
            <a:r>
              <a:rPr lang="en-US" sz="2000" err="1">
                <a:solidFill>
                  <a:srgbClr val="54B098"/>
                </a:solidFill>
              </a:rPr>
              <a:t>на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четвъртия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носител</a:t>
            </a:r>
            <a:r>
              <a:rPr lang="en-US" sz="2000" dirty="0">
                <a:solidFill>
                  <a:srgbClr val="54B098"/>
                </a:solidFill>
              </a:rPr>
              <a:t> е </a:t>
            </a:r>
            <a:r>
              <a:rPr lang="en-US" sz="2000" err="1">
                <a:solidFill>
                  <a:srgbClr val="54B098"/>
                </a:solidFill>
              </a:rPr>
              <a:t>разположен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прозрачен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лак</a:t>
            </a:r>
            <a:r>
              <a:rPr lang="en-US" sz="2000" dirty="0">
                <a:solidFill>
                  <a:srgbClr val="54B098"/>
                </a:solidFill>
              </a:rPr>
              <a:t>, с </a:t>
            </a:r>
            <a:r>
              <a:rPr lang="en-US" sz="2000" err="1">
                <a:solidFill>
                  <a:srgbClr val="54B098"/>
                </a:solidFill>
              </a:rPr>
              <a:t>който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се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запечатват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готовите</a:t>
            </a:r>
            <a:r>
              <a:rPr lang="en-US" sz="2000" dirty="0">
                <a:solidFill>
                  <a:srgbClr val="54B098"/>
                </a:solidFill>
              </a:rPr>
              <a:t> </a:t>
            </a:r>
            <a:r>
              <a:rPr lang="en-US" sz="2000" err="1">
                <a:solidFill>
                  <a:srgbClr val="54B098"/>
                </a:solidFill>
              </a:rPr>
              <a:t>снимки</a:t>
            </a:r>
            <a:r>
              <a:rPr lang="en-US" sz="2000" dirty="0">
                <a:solidFill>
                  <a:srgbClr val="54B098"/>
                </a:solidFill>
              </a:rPr>
              <a:t>.</a:t>
            </a:r>
            <a:endParaRPr lang="en-US" dirty="0">
              <a:solidFill>
                <a:srgbClr val="54B098"/>
              </a:solidFill>
              <a:cs typeface="Calibri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15ECCF3C-D545-DD78-8C0B-C1DFEFD662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74" r="307" b="-3"/>
          <a:stretch/>
        </p:blipFill>
        <p:spPr>
          <a:xfrm>
            <a:off x="6884116" y="565366"/>
            <a:ext cx="5078677" cy="44653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200478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DF8D9-1340-5E02-AD29-7897A95B5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919" y="70286"/>
            <a:ext cx="2329928" cy="807089"/>
          </a:xfrm>
        </p:spPr>
        <p:txBody>
          <a:bodyPr/>
          <a:lstStyle/>
          <a:p>
            <a:r>
              <a:rPr lang="en-US" dirty="0" err="1">
                <a:solidFill>
                  <a:srgbClr val="54B098"/>
                </a:solidFill>
                <a:cs typeface="Calibri"/>
              </a:rPr>
              <a:t>Лазерен</a:t>
            </a:r>
            <a:r>
              <a:rPr lang="en-US" dirty="0">
                <a:solidFill>
                  <a:srgbClr val="54B098"/>
                </a:solidFill>
                <a:cs typeface="Calibri"/>
              </a:rPr>
              <a:t> </a:t>
            </a:r>
            <a:endParaRPr lang="en-US">
              <a:solidFill>
                <a:srgbClr val="54B098"/>
              </a:solidFill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50065-0C27-0474-3388-1F129D78D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122" y="941614"/>
            <a:ext cx="10515720" cy="5009930"/>
          </a:xfrm>
        </p:spPr>
        <p:txBody>
          <a:bodyPr vert="horz" lIns="121899" tIns="60949" rIns="121899" bIns="60949" rtlCol="0" anchor="t"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Лазерните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принтери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както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и LED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принтерите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базирани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една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и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съща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технология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използвана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за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първи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път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при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копирните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машини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.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Този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процес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известен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като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електро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фотография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и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има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черно-бели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и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цветни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варианти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. 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Специален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въртящ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барабан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зарежда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с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електростатичен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заряд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, а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след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това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лазерен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лъч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обрисува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върху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него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текста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или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изображението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което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трябва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да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отпечата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. 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Следващата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стъпка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е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нанасяне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тонера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който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представлява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фини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полимерни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прашинки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смесени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с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оцветител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и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притежаващи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собствен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електростатичен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заряд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.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След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това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нагрява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 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листът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за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да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разтопят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полимерните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частици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тонера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формирайки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изображението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или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текста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и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прилепяйки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го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към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хартията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.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При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черно-белите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лазерни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принтери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използва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само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касета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с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черен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, а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при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 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цветните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, 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 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използват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жълт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червен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и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син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 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тюнер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.</a:t>
            </a:r>
            <a:endParaRPr lang="en-US" sz="2200" dirty="0">
              <a:solidFill>
                <a:srgbClr val="54B098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32367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A69352B2-99A6-5B44-B918-55A39A87F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537" y="470519"/>
            <a:ext cx="5429895" cy="544602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3A68DC47-EBCD-E6E9-3B70-E3DD9C397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3770" y="467993"/>
            <a:ext cx="5418781" cy="545108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470169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2AFB1-D8AB-1C05-A68A-4BE8D5AE1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446" y="315"/>
            <a:ext cx="4051799" cy="786767"/>
          </a:xfrm>
        </p:spPr>
        <p:txBody>
          <a:bodyPr/>
          <a:lstStyle/>
          <a:p>
            <a:r>
              <a:rPr lang="en-US" dirty="0" err="1">
                <a:solidFill>
                  <a:srgbClr val="54B098"/>
                </a:solidFill>
                <a:ea typeface="+mj-lt"/>
                <a:cs typeface="+mj-lt"/>
              </a:rPr>
              <a:t>Мастилоструйни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8F970-EDD6-9660-B94C-3D28D490F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3164" y="1033143"/>
            <a:ext cx="10626220" cy="5130926"/>
          </a:xfrm>
        </p:spPr>
        <p:txBody>
          <a:bodyPr vert="horz" lIns="121899" tIns="60949" rIns="121899" bIns="60949" rtlCol="0" anchor="t"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При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мастиленоструйните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принтери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отпечатването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става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чрез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впръскване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множество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от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малки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капки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мастило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върху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хартия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.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Това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извършва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от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самата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глава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където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стои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и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резервоара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с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мастило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.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Видове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- 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Непрекъснат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печат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(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непрекъснато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подаване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мастило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), 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Капкоотделяне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при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поискване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(Drop-on-demand).</a:t>
            </a:r>
            <a:endParaRPr lang="en-US" sz="2200" dirty="0">
              <a:solidFill>
                <a:srgbClr val="54B098"/>
              </a:solidFill>
              <a:ea typeface="Calibri"/>
              <a:cs typeface="Calibri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200" b="1" err="1">
                <a:solidFill>
                  <a:srgbClr val="54B098"/>
                </a:solidFill>
                <a:ea typeface="+mn-lt"/>
                <a:cs typeface="+mn-lt"/>
              </a:rPr>
              <a:t>Стандартни</a:t>
            </a:r>
            <a:r>
              <a:rPr lang="en-US" sz="2200" b="1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b="1" err="1">
                <a:solidFill>
                  <a:srgbClr val="54B098"/>
                </a:solidFill>
                <a:ea typeface="+mn-lt"/>
                <a:cs typeface="+mn-lt"/>
              </a:rPr>
              <a:t>патрони</a:t>
            </a:r>
            <a:r>
              <a:rPr lang="en-US" sz="2200" b="1" dirty="0">
                <a:solidFill>
                  <a:srgbClr val="54B098"/>
                </a:solidFill>
                <a:ea typeface="+mn-lt"/>
                <a:cs typeface="+mn-lt"/>
              </a:rPr>
              <a:t> с </a:t>
            </a:r>
            <a:r>
              <a:rPr lang="en-US" sz="2200" b="1" err="1">
                <a:solidFill>
                  <a:srgbClr val="54B098"/>
                </a:solidFill>
                <a:ea typeface="+mn-lt"/>
                <a:cs typeface="+mn-lt"/>
              </a:rPr>
              <a:t>мастило</a:t>
            </a:r>
            <a:r>
              <a:rPr lang="en-US" sz="2200" b="1" dirty="0">
                <a:solidFill>
                  <a:srgbClr val="54B098"/>
                </a:solidFill>
                <a:ea typeface="+mn-lt"/>
                <a:cs typeface="+mn-lt"/>
              </a:rPr>
              <a:t>- 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5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отделни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патрона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с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мастило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:</a:t>
            </a:r>
            <a:b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</a:b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PGI-550PGBK (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пигментно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черно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)</a:t>
            </a:r>
            <a:b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</a:b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CLI-551BK (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черно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)</a:t>
            </a:r>
            <a:b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</a:b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CLI-551C (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циан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)</a:t>
            </a:r>
            <a:b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</a:b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CLI-551M (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магента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)</a:t>
            </a:r>
            <a:b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</a:b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CLI-551Y (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жълто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)  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 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Формат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 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хартията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 -A4, A5, B5, Letter, Legal,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пликове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(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размер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DL </a:t>
            </a:r>
            <a:r>
              <a:rPr lang="en-US" sz="2200" err="1">
                <a:solidFill>
                  <a:srgbClr val="54B098"/>
                </a:solidFill>
                <a:ea typeface="+mn-lt"/>
                <a:cs typeface="+mn-lt"/>
              </a:rPr>
              <a:t>или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Commercial #10), 20x25cm</a:t>
            </a:r>
            <a:endParaRPr lang="en-US" sz="2200" dirty="0">
              <a:solidFill>
                <a:srgbClr val="54B098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45647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045C7904-7E06-58D7-CD70-944AA5B1E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02" y="674027"/>
            <a:ext cx="5252078" cy="454845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0220E89F-E771-17A8-0254-E8CCA4DB8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741" y="826636"/>
            <a:ext cx="6164034" cy="4154936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261039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73F6A-2772-CAC8-1ADF-F4021EE01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501" y="-4356"/>
            <a:ext cx="2166540" cy="827869"/>
          </a:xfr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 dirty="0" err="1">
                <a:solidFill>
                  <a:srgbClr val="54B098"/>
                </a:solidFill>
                <a:ea typeface="Calibri"/>
                <a:cs typeface="Calibri"/>
              </a:rPr>
              <a:t>Плотери</a:t>
            </a:r>
            <a:r>
              <a:rPr lang="en-US" dirty="0">
                <a:solidFill>
                  <a:srgbClr val="54B098"/>
                </a:solidFill>
                <a:ea typeface="Calibri"/>
                <a:cs typeface="Calibri"/>
              </a:rPr>
              <a:t> </a:t>
            </a:r>
            <a:endParaRPr lang="en-US">
              <a:solidFill>
                <a:srgbClr val="54B098"/>
              </a:solidFill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28406-9CF8-65C9-EA82-2BAABF069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021" y="694016"/>
            <a:ext cx="5376190" cy="5764335"/>
          </a:xfrm>
        </p:spPr>
        <p:txBody>
          <a:bodyPr vert="horz" lIns="121899" tIns="60949" rIns="121899" bIns="60949" rtlCol="0" anchor="t">
            <a:normAutofit fontScale="85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Плотер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известен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също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като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плотери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, в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зависимост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от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конкретната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работа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може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да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печата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само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хартия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също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и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други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материали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синтетични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медии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филми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и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така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нататък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. В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допълнение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някои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модели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снабдени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с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режеща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функция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която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използва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при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печатане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гореща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стопилка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филм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етикети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лого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и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др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.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Специализиран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във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 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широкоформатния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печат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.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Видове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-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Плотери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с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писалка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мастило-струйни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електростатични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лазерни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.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Начини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свързване-USB,FireWireRJ-45, Ethernet ,Wi-Fi (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мрежа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) и 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Паралелен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.</a:t>
            </a:r>
            <a:endParaRPr lang="en-US" sz="2400" dirty="0">
              <a:solidFill>
                <a:srgbClr val="54B098"/>
              </a:solidFill>
              <a:cs typeface="Calibri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solidFill>
                <a:srgbClr val="54B098"/>
              </a:solidFill>
              <a:cs typeface="Calibri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7F9C062A-79DA-8076-997E-FBC73665E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7070" y="587522"/>
            <a:ext cx="5634510" cy="421128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621991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2DE3C-C11E-8979-433C-7D2C06390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226" y="-1823"/>
            <a:ext cx="4047636" cy="840486"/>
          </a:xfr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 dirty="0" err="1">
                <a:solidFill>
                  <a:srgbClr val="54B098"/>
                </a:solidFill>
                <a:cs typeface="Calibri"/>
              </a:rPr>
              <a:t>Плотери</a:t>
            </a:r>
            <a:r>
              <a:rPr lang="en-US" dirty="0">
                <a:solidFill>
                  <a:srgbClr val="54B098"/>
                </a:solidFill>
                <a:cs typeface="Calibri"/>
              </a:rPr>
              <a:t> с </a:t>
            </a:r>
            <a:r>
              <a:rPr lang="en-US" dirty="0" err="1">
                <a:solidFill>
                  <a:srgbClr val="54B098"/>
                </a:solidFill>
                <a:cs typeface="Calibri"/>
              </a:rPr>
              <a:t>писалка</a:t>
            </a:r>
            <a:r>
              <a:rPr lang="en-US" dirty="0">
                <a:cs typeface="Calibri"/>
              </a:rPr>
              <a:t>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44EF1-D3B7-4BE8-C916-C9E314C5A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058" y="917008"/>
            <a:ext cx="5483187" cy="5621620"/>
          </a:xfrm>
        </p:spPr>
        <p:txBody>
          <a:bodyPr vert="horz" lIns="121899" tIns="60949" rIns="121899" bIns="60949" rtlCol="0" anchor="t"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Има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модели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които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могат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да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движат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течни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мастила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и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специален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молив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. 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Перо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устройства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наречени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електромеханично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оборудване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тип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вектор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.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Една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снимка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или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изображение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върху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хартия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или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друг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носител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такива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устройства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да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прилага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например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стилус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или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писалка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която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може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да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движи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в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две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посоки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. 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време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движението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елемента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писане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съответства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електрически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двигател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, в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тази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връзка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когато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оборудването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произвежда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много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шум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.</a:t>
            </a:r>
            <a:endParaRPr lang="en-US" sz="2400">
              <a:solidFill>
                <a:srgbClr val="54B098"/>
              </a:solidFill>
              <a:cs typeface="Calibri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40ACA99E-E3FE-8BE2-7F91-F7FC795DA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248" y="871296"/>
            <a:ext cx="4900497" cy="489245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2399628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96B11-6EEF-7422-197B-4B3E80A2E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44" y="-37496"/>
            <a:ext cx="3985219" cy="742388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54B098"/>
                </a:solidFill>
                <a:cs typeface="Calibri"/>
              </a:rPr>
              <a:t>Мастилоструйни</a:t>
            </a:r>
            <a:r>
              <a:rPr lang="en-US" dirty="0">
                <a:solidFill>
                  <a:srgbClr val="54B098"/>
                </a:solidFill>
                <a:cs typeface="Calibri"/>
              </a:rPr>
              <a:t> </a:t>
            </a:r>
            <a:endParaRPr lang="en-US">
              <a:solidFill>
                <a:srgbClr val="54B098"/>
              </a:solidFill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AA4C7-CF1E-0FF8-7378-7D72E545F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142" y="943761"/>
            <a:ext cx="5073029" cy="5755392"/>
          </a:xfrm>
        </p:spPr>
        <p:txBody>
          <a:bodyPr vert="horz" lIns="121899" tIns="60949" rIns="121899" bIns="60949" rtlCol="0" anchor="t"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 err="1">
                <a:solidFill>
                  <a:srgbClr val="54B098"/>
                </a:solidFill>
                <a:cs typeface="Calibri"/>
              </a:rPr>
              <a:t>Използват</a:t>
            </a:r>
            <a:r>
              <a:rPr lang="en-US" sz="2400" dirty="0">
                <a:solidFill>
                  <a:srgbClr val="54B098"/>
                </a:solidFill>
                <a:cs typeface="Calibri"/>
              </a:rPr>
              <a:t> </a:t>
            </a:r>
            <a:r>
              <a:rPr lang="en-US" sz="2400" dirty="0" err="1">
                <a:solidFill>
                  <a:srgbClr val="54B098"/>
                </a:solidFill>
                <a:cs typeface="Calibri"/>
              </a:rPr>
              <a:t>технологията</a:t>
            </a:r>
            <a:r>
              <a:rPr lang="en-US" sz="2400" dirty="0">
                <a:solidFill>
                  <a:srgbClr val="54B098"/>
                </a:solidFill>
                <a:cs typeface="Calibri"/>
              </a:rPr>
              <a:t> inkjet </a:t>
            </a:r>
            <a:r>
              <a:rPr lang="en-US" sz="2400" dirty="0" err="1">
                <a:solidFill>
                  <a:srgbClr val="54B098"/>
                </a:solidFill>
                <a:cs typeface="Calibri"/>
              </a:rPr>
              <a:t>подобна</a:t>
            </a:r>
            <a:r>
              <a:rPr lang="en-US" sz="2400" dirty="0">
                <a:solidFill>
                  <a:srgbClr val="54B098"/>
                </a:solidFill>
                <a:cs typeface="Calibri"/>
              </a:rPr>
              <a:t> </a:t>
            </a:r>
            <a:r>
              <a:rPr lang="en-US" sz="2400" dirty="0" err="1">
                <a:solidFill>
                  <a:srgbClr val="54B098"/>
                </a:solidFill>
                <a:cs typeface="Calibri"/>
              </a:rPr>
              <a:t>на</a:t>
            </a:r>
            <a:r>
              <a:rPr lang="en-US" sz="2400" dirty="0">
                <a:solidFill>
                  <a:srgbClr val="54B098"/>
                </a:solidFill>
                <a:cs typeface="Calibri"/>
              </a:rPr>
              <a:t> </a:t>
            </a:r>
            <a:r>
              <a:rPr lang="en-US" sz="2400" dirty="0" err="1">
                <a:solidFill>
                  <a:srgbClr val="54B098"/>
                </a:solidFill>
                <a:cs typeface="Calibri"/>
              </a:rPr>
              <a:t>тази</a:t>
            </a:r>
            <a:r>
              <a:rPr lang="en-US" sz="2400" dirty="0">
                <a:solidFill>
                  <a:srgbClr val="54B098"/>
                </a:solidFill>
                <a:cs typeface="Calibri"/>
              </a:rPr>
              <a:t> </a:t>
            </a:r>
            <a:r>
              <a:rPr lang="en-US" sz="2400" dirty="0" err="1">
                <a:solidFill>
                  <a:srgbClr val="54B098"/>
                </a:solidFill>
                <a:cs typeface="Calibri"/>
              </a:rPr>
              <a:t>при</a:t>
            </a:r>
            <a:r>
              <a:rPr lang="en-US" sz="2400" dirty="0">
                <a:solidFill>
                  <a:srgbClr val="54B098"/>
                </a:solidFill>
                <a:cs typeface="Calibri"/>
              </a:rPr>
              <a:t> </a:t>
            </a:r>
            <a:r>
              <a:rPr lang="en-US" sz="2400" dirty="0" err="1">
                <a:solidFill>
                  <a:srgbClr val="54B098"/>
                </a:solidFill>
                <a:cs typeface="Calibri"/>
              </a:rPr>
              <a:t>принтерите</a:t>
            </a:r>
            <a:r>
              <a:rPr lang="en-US" sz="2400" dirty="0">
                <a:solidFill>
                  <a:srgbClr val="54B098"/>
                </a:solidFill>
                <a:cs typeface="Calibri"/>
              </a:rPr>
              <a:t>. 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Печатът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извършва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чрез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прилагане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големи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количества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боя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 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под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формата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точки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.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Обикновено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 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 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използват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4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стандартни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цвята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, а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със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смесване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може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да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получат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и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повече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. 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Печатащата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глава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състои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от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голям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брой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дюзи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през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които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е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подадено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мастило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за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отпечатване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изображение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.  </a:t>
            </a:r>
            <a:endParaRPr lang="en-US" sz="2400" dirty="0">
              <a:solidFill>
                <a:srgbClr val="54B098"/>
              </a:solidFill>
              <a:cs typeface="Calibri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BD16F608-D4A0-7469-5C3C-B4E4DBACF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518" y="393735"/>
            <a:ext cx="5774309" cy="433150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54B098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379911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EBA83-6E5A-C5E5-8861-7F88BB2AD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226" y="51685"/>
            <a:ext cx="2620998" cy="626452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54B098"/>
                </a:solidFill>
                <a:cs typeface="Calibri"/>
              </a:rPr>
              <a:t>Лазерни</a:t>
            </a:r>
            <a:endParaRPr lang="en-US">
              <a:solidFill>
                <a:srgbClr val="54B098"/>
              </a:solidFill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DA4F0-E564-D4E9-25D0-816804FA1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6807" y="729727"/>
            <a:ext cx="5394022" cy="5862409"/>
          </a:xfrm>
        </p:spPr>
        <p:txBody>
          <a:bodyPr vert="horz" lIns="121899" tIns="60949" rIns="121899" bIns="60949" rtlCol="0" anchor="t"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Printing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технология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в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такива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устройства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е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много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подобна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използваната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технология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за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лазерни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и LED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принтери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.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Когато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лазерен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лъч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прилага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към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светодиодите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или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невидимо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изображение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след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да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заредени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частици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хартия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придържа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тонер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който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след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това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пече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. 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осигуряват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висока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резолюция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и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качество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изображението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, а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също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така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има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висока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скорост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печат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и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производителност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.</a:t>
            </a:r>
            <a:endParaRPr lang="en-US" sz="2400">
              <a:solidFill>
                <a:srgbClr val="54B098"/>
              </a:solidFill>
              <a:cs typeface="Calibri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54F8EB67-8ECC-2E32-2840-66CDBC3D8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920" y="898051"/>
            <a:ext cx="4713250" cy="4714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707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DC0EF-AC6D-6216-22A7-E5128189F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059" y="-1824"/>
            <a:ext cx="3566146" cy="956421"/>
          </a:xfrm>
        </p:spPr>
        <p:txBody>
          <a:bodyPr vert="horz" lIns="121899" tIns="60949" rIns="121899" bIns="60949" rtlCol="0" anchor="ctr">
            <a:normAutofit fontScale="90000"/>
          </a:bodyPr>
          <a:lstStyle/>
          <a:p>
            <a:r>
              <a:rPr lang="en-US" dirty="0" err="1">
                <a:solidFill>
                  <a:srgbClr val="54B098"/>
                </a:solidFill>
              </a:rPr>
              <a:t>Електростатични</a:t>
            </a:r>
            <a:r>
              <a:rPr lang="en-US" dirty="0"/>
              <a:t> </a:t>
            </a:r>
            <a:endParaRPr lang="en-US" dirty="0"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0D17B-190E-8236-2A27-2CDBC4B79C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5476" y="886418"/>
            <a:ext cx="5515582" cy="5544406"/>
          </a:xfrm>
        </p:spPr>
        <p:txBody>
          <a:bodyPr vert="horz" lIns="121899" tIns="60949" rIns="121899" bIns="60949" rtlCol="0" anchor="t"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 err="1">
                <a:solidFill>
                  <a:srgbClr val="54B098"/>
                </a:solidFill>
              </a:rPr>
              <a:t>При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тях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се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използва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електростатичен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заряд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за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създаване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на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изображението</a:t>
            </a:r>
            <a:r>
              <a:rPr lang="en-US" sz="2200" dirty="0">
                <a:solidFill>
                  <a:srgbClr val="54B098"/>
                </a:solidFill>
              </a:rPr>
              <a:t>, </a:t>
            </a:r>
            <a:r>
              <a:rPr lang="en-US" sz="2200" dirty="0" err="1">
                <a:solidFill>
                  <a:srgbClr val="54B098"/>
                </a:solidFill>
              </a:rPr>
              <a:t>което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се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състои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от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множество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малки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точки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върху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специално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обработена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хартия</a:t>
            </a:r>
            <a:r>
              <a:rPr lang="en-US" sz="2200" dirty="0">
                <a:solidFill>
                  <a:srgbClr val="54B098"/>
                </a:solidFill>
              </a:rPr>
              <a:t>. </a:t>
            </a:r>
            <a:r>
              <a:rPr lang="en-US" sz="2200" dirty="0" err="1">
                <a:solidFill>
                  <a:srgbClr val="54B098"/>
                </a:solidFill>
              </a:rPr>
              <a:t>Електростатическата</a:t>
            </a:r>
            <a:r>
              <a:rPr lang="en-US" sz="2200" dirty="0">
                <a:solidFill>
                  <a:srgbClr val="54B098"/>
                </a:solidFill>
              </a:rPr>
              <a:t> </a:t>
            </a:r>
            <a:r>
              <a:rPr lang="en-US" sz="2200" dirty="0" err="1">
                <a:solidFill>
                  <a:srgbClr val="54B098"/>
                </a:solidFill>
              </a:rPr>
              <a:t>технология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се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основава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на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създаване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на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скрито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електрическо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изображение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на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повърхността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на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носителя</a:t>
            </a:r>
            <a:r>
              <a:rPr lang="en-US" sz="2200" dirty="0">
                <a:solidFill>
                  <a:srgbClr val="54B098"/>
                </a:solidFill>
              </a:rPr>
              <a:t>. </a:t>
            </a:r>
            <a:r>
              <a:rPr lang="en-US" sz="2200" dirty="0" err="1">
                <a:solidFill>
                  <a:srgbClr val="54B098"/>
                </a:solidFill>
              </a:rPr>
              <a:t>За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запис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на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информацията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се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използва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записваща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глава</a:t>
            </a:r>
            <a:r>
              <a:rPr lang="en-US" sz="2200" dirty="0">
                <a:solidFill>
                  <a:srgbClr val="54B098"/>
                </a:solidFill>
              </a:rPr>
              <a:t>, </a:t>
            </a:r>
            <a:r>
              <a:rPr lang="en-US" sz="2200" dirty="0" err="1">
                <a:solidFill>
                  <a:srgbClr val="54B098"/>
                </a:solidFill>
              </a:rPr>
              <a:t>представляваща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блок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от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тънки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електроди</a:t>
            </a:r>
            <a:r>
              <a:rPr lang="en-US" sz="2200" dirty="0">
                <a:solidFill>
                  <a:srgbClr val="54B098"/>
                </a:solidFill>
              </a:rPr>
              <a:t>. </a:t>
            </a:r>
            <a:r>
              <a:rPr lang="en-US" sz="2200" dirty="0" err="1">
                <a:solidFill>
                  <a:srgbClr val="54B098"/>
                </a:solidFill>
              </a:rPr>
              <a:t>Отличителни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особености</a:t>
            </a:r>
            <a:r>
              <a:rPr lang="en-US" sz="2200" dirty="0">
                <a:solidFill>
                  <a:srgbClr val="54B098"/>
                </a:solidFill>
              </a:rPr>
              <a:t>  </a:t>
            </a:r>
            <a:r>
              <a:rPr lang="en-US" sz="2200" dirty="0" err="1">
                <a:solidFill>
                  <a:srgbClr val="54B098"/>
                </a:solidFill>
              </a:rPr>
              <a:t>на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този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тип</a:t>
            </a:r>
            <a:r>
              <a:rPr lang="en-US" sz="2200" dirty="0">
                <a:solidFill>
                  <a:srgbClr val="54B098"/>
                </a:solidFill>
              </a:rPr>
              <a:t> </a:t>
            </a:r>
            <a:r>
              <a:rPr lang="en-US" sz="2200" dirty="0" err="1">
                <a:solidFill>
                  <a:srgbClr val="54B098"/>
                </a:solidFill>
              </a:rPr>
              <a:t>плотери</a:t>
            </a:r>
            <a:r>
              <a:rPr lang="en-US" sz="2200" dirty="0">
                <a:solidFill>
                  <a:srgbClr val="54B098"/>
                </a:solidFill>
              </a:rPr>
              <a:t> е  - </a:t>
            </a:r>
            <a:r>
              <a:rPr lang="en-US" sz="2200" dirty="0" err="1">
                <a:solidFill>
                  <a:srgbClr val="54B098"/>
                </a:solidFill>
              </a:rPr>
              <a:t>скорост</a:t>
            </a:r>
            <a:r>
              <a:rPr lang="en-US" sz="2200" dirty="0">
                <a:solidFill>
                  <a:srgbClr val="54B098"/>
                </a:solidFill>
              </a:rPr>
              <a:t>, </a:t>
            </a:r>
            <a:r>
              <a:rPr lang="en-US" sz="2200" dirty="0" err="1">
                <a:solidFill>
                  <a:srgbClr val="54B098"/>
                </a:solidFill>
              </a:rPr>
              <a:t>надеждност</a:t>
            </a:r>
            <a:r>
              <a:rPr lang="en-US" sz="2200" dirty="0">
                <a:solidFill>
                  <a:srgbClr val="54B098"/>
                </a:solidFill>
              </a:rPr>
              <a:t>, </a:t>
            </a:r>
            <a:r>
              <a:rPr lang="en-US" sz="2200" dirty="0" err="1">
                <a:solidFill>
                  <a:srgbClr val="54B098"/>
                </a:solidFill>
              </a:rPr>
              <a:t>качество</a:t>
            </a:r>
            <a:r>
              <a:rPr lang="en-US" sz="2200" dirty="0">
                <a:solidFill>
                  <a:srgbClr val="54B098"/>
                </a:solidFill>
              </a:rPr>
              <a:t> и </a:t>
            </a:r>
            <a:r>
              <a:rPr lang="en-US" sz="2200" dirty="0" err="1">
                <a:solidFill>
                  <a:srgbClr val="54B098"/>
                </a:solidFill>
              </a:rPr>
              <a:t>производителност</a:t>
            </a:r>
            <a:r>
              <a:rPr lang="en-US" sz="2200" dirty="0">
                <a:solidFill>
                  <a:srgbClr val="54B098"/>
                </a:solidFill>
              </a:rPr>
              <a:t>.</a:t>
            </a:r>
            <a:endParaRPr lang="en-US">
              <a:solidFill>
                <a:srgbClr val="54B098"/>
              </a:solidFill>
              <a:cs typeface="Calibri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A0C955D9-3EA0-40FC-9EB0-DFD3014B5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208" y="683870"/>
            <a:ext cx="5569083" cy="37021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861952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E24D5-73F1-3116-35D8-EEB3824C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392" y="33849"/>
            <a:ext cx="5598155" cy="688880"/>
          </a:xfrm>
        </p:spPr>
        <p:txBody>
          <a:bodyPr/>
          <a:lstStyle/>
          <a:p>
            <a:r>
              <a:rPr lang="en-US" dirty="0" err="1">
                <a:solidFill>
                  <a:srgbClr val="54B098"/>
                </a:solidFill>
                <a:cs typeface="Calibri"/>
              </a:rPr>
              <a:t>Графични</a:t>
            </a:r>
            <a:r>
              <a:rPr lang="en-US" dirty="0">
                <a:solidFill>
                  <a:srgbClr val="54B098"/>
                </a:solidFill>
                <a:cs typeface="Calibri"/>
              </a:rPr>
              <a:t> </a:t>
            </a:r>
            <a:r>
              <a:rPr lang="en-US" dirty="0" err="1">
                <a:solidFill>
                  <a:srgbClr val="54B098"/>
                </a:solidFill>
                <a:cs typeface="Calibri"/>
              </a:rPr>
              <a:t>карти</a:t>
            </a:r>
            <a:r>
              <a:rPr lang="en-US" dirty="0">
                <a:solidFill>
                  <a:srgbClr val="54B098"/>
                </a:solidFill>
                <a:cs typeface="Calibri"/>
              </a:rPr>
              <a:t>(</a:t>
            </a:r>
            <a:r>
              <a:rPr lang="en-US" dirty="0" err="1">
                <a:solidFill>
                  <a:srgbClr val="54B098"/>
                </a:solidFill>
                <a:cs typeface="Calibri"/>
              </a:rPr>
              <a:t>видео</a:t>
            </a:r>
            <a:r>
              <a:rPr lang="en-US" dirty="0">
                <a:solidFill>
                  <a:srgbClr val="54B098"/>
                </a:solidFill>
                <a:cs typeface="Calibri"/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62225-CE4A-2B24-B2EA-1BC7558E9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642" y="845663"/>
            <a:ext cx="10833073" cy="5701883"/>
          </a:xfrm>
        </p:spPr>
        <p:txBody>
          <a:bodyPr vert="horz" lIns="121899" tIns="60949" rIns="121899" bIns="60949" rtlCol="0" anchor="t"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Видеокартата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представлява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карта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за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разширение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която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позволява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компютъра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да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изпраща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графична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информация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видео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дисплейно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устройство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като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например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 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монитор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телевизор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или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проектор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. 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Видеокартата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инсталира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в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слот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за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разширение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дънната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платка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.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Докато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повечето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видеокарти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 PCIe 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формат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видео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карти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предлагат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и в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други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формати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включително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PCI и AGP. 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Повечето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графични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карти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ограничени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до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обикновен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изход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дисплея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.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Техният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интегриран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 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графичен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процесор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 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може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да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извърши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допълнителна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обработка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, 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като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този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начин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 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олекотява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 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натоварването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от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централния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процесор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.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Главните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производители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Nvidia и AMD.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Поставя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в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специялен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слот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-ISA, VLB, PCI, AGP, PCI-Express. 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Стандартите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54B098"/>
                </a:solidFill>
                <a:ea typeface="+mn-lt"/>
                <a:cs typeface="+mn-lt"/>
              </a:rPr>
              <a:t>са</a:t>
            </a:r>
            <a:r>
              <a:rPr lang="en-US" sz="2400" dirty="0">
                <a:solidFill>
                  <a:srgbClr val="54B098"/>
                </a:solidFill>
                <a:ea typeface="+mn-lt"/>
                <a:cs typeface="+mn-lt"/>
              </a:rPr>
              <a:t> MDA, CGA, HGC, Tandy, PGC, EGA, VGA, MCGA, 8514 и XGA. </a:t>
            </a:r>
            <a:endParaRPr lang="en-US"/>
          </a:p>
          <a:p>
            <a:pPr marL="0" indent="0">
              <a:buNone/>
            </a:pPr>
            <a:endParaRPr lang="en-US" sz="2400" dirty="0">
              <a:solidFill>
                <a:srgbClr val="54B098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79098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34A35EA-41AE-BB7E-296C-4349A5B43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216" y="471489"/>
            <a:ext cx="4868671" cy="274319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002FB37E-F8B1-2EF5-09E9-27AA308B3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055" y="1620204"/>
            <a:ext cx="4457233" cy="334327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813796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24185-A80D-37AB-9AEF-D9FEAB6BF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588" y="73023"/>
            <a:ext cx="11311949" cy="6631113"/>
          </a:xfrm>
        </p:spPr>
        <p:txBody>
          <a:bodyPr vert="horz" lIns="121899" tIns="60949" rIns="121899" bIns="60949" rtlCol="0" anchor="t">
            <a:normAutofit fontScale="92500"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54B098"/>
                </a:solidFill>
                <a:cs typeface="Calibri"/>
              </a:rPr>
              <a:t>Структура</a:t>
            </a:r>
            <a:r>
              <a:rPr lang="en-US" dirty="0">
                <a:solidFill>
                  <a:srgbClr val="54B098"/>
                </a:solidFill>
                <a:cs typeface="Calibri"/>
              </a:rPr>
              <a:t> и </a:t>
            </a:r>
            <a:r>
              <a:rPr lang="en-US" dirty="0" err="1">
                <a:solidFill>
                  <a:srgbClr val="54B098"/>
                </a:solidFill>
                <a:cs typeface="Calibri"/>
              </a:rPr>
              <a:t>действие</a:t>
            </a:r>
            <a:r>
              <a:rPr lang="en-US" dirty="0">
                <a:solidFill>
                  <a:srgbClr val="54B098"/>
                </a:solidFill>
                <a:cs typeface="Calibri"/>
              </a:rPr>
              <a:t> </a:t>
            </a:r>
            <a:r>
              <a:rPr lang="en-US" dirty="0" err="1">
                <a:solidFill>
                  <a:srgbClr val="54B098"/>
                </a:solidFill>
                <a:cs typeface="Calibri"/>
              </a:rPr>
              <a:t>на</a:t>
            </a:r>
            <a:r>
              <a:rPr lang="en-US" dirty="0">
                <a:solidFill>
                  <a:srgbClr val="54B098"/>
                </a:solidFill>
                <a:cs typeface="Calibri"/>
              </a:rPr>
              <a:t> </a:t>
            </a:r>
            <a:r>
              <a:rPr lang="en-US" dirty="0" err="1">
                <a:solidFill>
                  <a:srgbClr val="54B098"/>
                </a:solidFill>
                <a:cs typeface="Calibri"/>
              </a:rPr>
              <a:t>видео</a:t>
            </a:r>
            <a:r>
              <a:rPr lang="en-US" dirty="0">
                <a:solidFill>
                  <a:srgbClr val="54B098"/>
                </a:solidFill>
                <a:cs typeface="Calibri"/>
              </a:rPr>
              <a:t> </a:t>
            </a:r>
            <a:r>
              <a:rPr lang="en-US" dirty="0" err="1">
                <a:solidFill>
                  <a:srgbClr val="54B098"/>
                </a:solidFill>
                <a:cs typeface="Calibri"/>
              </a:rPr>
              <a:t>картите</a:t>
            </a:r>
            <a:r>
              <a:rPr lang="en-US" dirty="0">
                <a:solidFill>
                  <a:srgbClr val="54B098"/>
                </a:solidFill>
                <a:cs typeface="Calibri"/>
              </a:rPr>
              <a:t> </a:t>
            </a:r>
          </a:p>
          <a:p>
            <a:pPr marL="342900" indent="-342900">
              <a:buFont typeface="Wingdings" pitchFamily="34" charset="0"/>
              <a:buChar char="Ø"/>
            </a:pP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Графичен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процесор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(GPU) —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извършва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изчисления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извежданото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изображение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разтоварвайки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централния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процесор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обработва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командите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тримерната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графика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. </a:t>
            </a:r>
            <a:endParaRPr lang="en-US" sz="2200" dirty="0">
              <a:solidFill>
                <a:srgbClr val="54B098"/>
              </a:solidFill>
              <a:cs typeface="Calibri"/>
            </a:endParaRPr>
          </a:p>
          <a:p>
            <a:pPr marL="342900" indent="-342900">
              <a:buFont typeface="Wingdings" pitchFamily="34" charset="0"/>
              <a:buChar char="Ø"/>
            </a:pP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Видеоконтролер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 —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отговаря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за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формиране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изображението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във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видеопаметта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генерира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команди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RAMDAC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за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формиране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сигнали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за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развивка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монитора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и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обработва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заявки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централния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процесор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. </a:t>
            </a:r>
            <a:endParaRPr lang="en-US" sz="2200" dirty="0">
              <a:solidFill>
                <a:srgbClr val="54B098"/>
              </a:solidFill>
              <a:cs typeface="Calibri"/>
            </a:endParaRPr>
          </a:p>
          <a:p>
            <a:pPr marL="342900" indent="-342900">
              <a:buFont typeface="Wingdings" pitchFamily="34" charset="0"/>
              <a:buChar char="Ø"/>
            </a:pP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Видеопамет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 —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изпълнява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роля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буфер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кадрите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, в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която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съхранява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цифрово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копие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изображението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генерирано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и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постоянно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изменяемо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от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графичния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процесор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и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извеждано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екрана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монитора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.</a:t>
            </a:r>
            <a:endParaRPr lang="en-US" sz="2200" dirty="0">
              <a:solidFill>
                <a:srgbClr val="54B098"/>
              </a:solidFill>
              <a:cs typeface="Calibri"/>
            </a:endParaRPr>
          </a:p>
          <a:p>
            <a:pPr marL="342900" indent="-342900">
              <a:buFont typeface="Wingdings" pitchFamily="34" charset="0"/>
              <a:buChar char="Ø"/>
            </a:pP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Цифро-аналогов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преобразовател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 </a:t>
            </a:r>
            <a:r>
              <a:rPr lang="en-US" sz="2200" u="sng" dirty="0">
                <a:solidFill>
                  <a:srgbClr val="54B098"/>
                </a:solidFill>
                <a:ea typeface="+mn-lt"/>
                <a:cs typeface="+mn-lt"/>
              </a:rPr>
              <a:t>ЦАП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 (RAMDAC) —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служи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за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преобразуване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изображението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формирано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от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видеоконтролера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, в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нива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интензивност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цветовете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аналоговия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монитор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.</a:t>
            </a:r>
            <a:endParaRPr lang="en-US" sz="2200" dirty="0">
              <a:solidFill>
                <a:srgbClr val="54B098"/>
              </a:solidFill>
              <a:cs typeface="Calibri"/>
            </a:endParaRPr>
          </a:p>
          <a:p>
            <a:pPr marL="342900" indent="-342900">
              <a:buFont typeface="Wingdings" pitchFamily="34" charset="0"/>
              <a:buChar char="Ø"/>
            </a:pP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Видео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-ПЗУ (Video ROM) —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постоянно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запомнящо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устройство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, в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което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записани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видео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-BIOS,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екранни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шрифтове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служебни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таблици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и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др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.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Към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него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обръща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само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главния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процесор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.</a:t>
            </a:r>
            <a:endParaRPr lang="en-US" sz="2200" dirty="0">
              <a:solidFill>
                <a:srgbClr val="54B098"/>
              </a:solidFill>
              <a:cs typeface="Calibri"/>
            </a:endParaRPr>
          </a:p>
          <a:p>
            <a:pPr marL="342900" indent="-342900">
              <a:buFont typeface="Wingdings" pitchFamily="34" charset="0"/>
              <a:buChar char="Ø"/>
            </a:pP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Система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за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охлаждане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 —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управлява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температурния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режим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видеопроцесора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и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видеопаметта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в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допустим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диапазон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стойности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.</a:t>
            </a:r>
            <a:endParaRPr lang="en-US" sz="2200" dirty="0">
              <a:solidFill>
                <a:srgbClr val="54B098"/>
              </a:solidFill>
              <a:cs typeface="Calibri"/>
            </a:endParaRPr>
          </a:p>
          <a:p>
            <a:pPr marL="342900" indent="-342900">
              <a:buFont typeface="Wingdings" pitchFamily="34" charset="0"/>
              <a:buChar char="Ø"/>
            </a:pP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Видеодрайвер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 —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софтуер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,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който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изпълнява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функции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на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интерфейс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между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системата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със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стартираните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в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нея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приложения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 и </a:t>
            </a:r>
            <a:r>
              <a:rPr lang="en-US" sz="2200" dirty="0" err="1">
                <a:solidFill>
                  <a:srgbClr val="54B098"/>
                </a:solidFill>
                <a:ea typeface="+mn-lt"/>
                <a:cs typeface="+mn-lt"/>
              </a:rPr>
              <a:t>видеоадаптера</a:t>
            </a:r>
            <a:r>
              <a:rPr lang="en-US" sz="2200" dirty="0">
                <a:solidFill>
                  <a:srgbClr val="54B098"/>
                </a:solidFill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endParaRPr lang="en-US" sz="2200" dirty="0">
              <a:solidFill>
                <a:srgbClr val="54B098"/>
              </a:solidFill>
              <a:cs typeface="Calibri"/>
            </a:endParaRPr>
          </a:p>
          <a:p>
            <a:pPr marL="0" indent="0">
              <a:buNone/>
            </a:pPr>
            <a:endParaRPr lang="en-US" sz="2000" dirty="0">
              <a:solidFill>
                <a:srgbClr val="54B098"/>
              </a:solidFill>
              <a:cs typeface="Calibri"/>
            </a:endParaRPr>
          </a:p>
          <a:p>
            <a:pPr marL="0" indent="0">
              <a:buNone/>
            </a:pPr>
            <a:endParaRPr lang="en-US" sz="2000" dirty="0">
              <a:solidFill>
                <a:srgbClr val="54B098"/>
              </a:solidFill>
              <a:cs typeface="Calibri"/>
            </a:endParaRPr>
          </a:p>
          <a:p>
            <a:pPr marL="0" indent="0">
              <a:buNone/>
            </a:pPr>
            <a:endParaRPr lang="en-US" dirty="0">
              <a:solidFill>
                <a:srgbClr val="54B098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12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0F27CB31-35A5-81BE-20F2-9D1B894CE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756" y="464348"/>
            <a:ext cx="6600447" cy="388047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EC6AA960-BED6-F9AA-CEDE-1E47D306F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8973" y="5126673"/>
            <a:ext cx="5757550" cy="863918"/>
          </a:xfr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 dirty="0" err="1">
                <a:solidFill>
                  <a:srgbClr val="54B098"/>
                </a:solidFill>
                <a:cs typeface="Calibri"/>
              </a:rPr>
              <a:t>Схема</a:t>
            </a:r>
            <a:r>
              <a:rPr lang="en-US" dirty="0">
                <a:solidFill>
                  <a:srgbClr val="54B098"/>
                </a:solidFill>
                <a:cs typeface="Calibri"/>
              </a:rPr>
              <a:t> </a:t>
            </a:r>
            <a:r>
              <a:rPr lang="en-US" dirty="0" err="1">
                <a:solidFill>
                  <a:srgbClr val="54B098"/>
                </a:solidFill>
                <a:cs typeface="Calibri"/>
              </a:rPr>
              <a:t>на</a:t>
            </a:r>
            <a:r>
              <a:rPr lang="en-US" dirty="0">
                <a:solidFill>
                  <a:srgbClr val="54B098"/>
                </a:solidFill>
                <a:cs typeface="Calibri"/>
              </a:rPr>
              <a:t> </a:t>
            </a:r>
            <a:r>
              <a:rPr lang="en-US" dirty="0" err="1">
                <a:solidFill>
                  <a:srgbClr val="54B098"/>
                </a:solidFill>
                <a:cs typeface="Calibri"/>
              </a:rPr>
              <a:t>графична</a:t>
            </a:r>
            <a:r>
              <a:rPr lang="en-US" dirty="0">
                <a:solidFill>
                  <a:srgbClr val="54B098"/>
                </a:solidFill>
                <a:cs typeface="Calibri"/>
              </a:rPr>
              <a:t> </a:t>
            </a:r>
            <a:r>
              <a:rPr lang="en-US" dirty="0" err="1">
                <a:solidFill>
                  <a:srgbClr val="54B098"/>
                </a:solidFill>
                <a:cs typeface="Calibri"/>
              </a:rPr>
              <a:t>карта</a:t>
            </a:r>
            <a:endParaRPr lang="en-US">
              <a:solidFill>
                <a:srgbClr val="54B098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6171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C979C-AB08-6FAC-43A2-98D61C4E7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05" y="347343"/>
            <a:ext cx="10806224" cy="5979603"/>
          </a:xfrm>
        </p:spPr>
        <p:txBody>
          <a:bodyPr vert="horz" lIns="121899" tIns="60949" rIns="121899" bIns="60949" rtlCol="0" anchor="t"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54B098"/>
                </a:solidFill>
                <a:cs typeface="Calibri"/>
              </a:rPr>
              <a:t>Източници</a:t>
            </a:r>
            <a:r>
              <a:rPr lang="en-US" dirty="0">
                <a:solidFill>
                  <a:srgbClr val="54B098"/>
                </a:solidFill>
                <a:cs typeface="Calibri"/>
              </a:rPr>
              <a:t>:</a:t>
            </a:r>
            <a:endParaRPr lang="en-US" dirty="0">
              <a:solidFill>
                <a:srgbClr val="54B098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  <a:hlinkClick r:id="rId2"/>
              </a:rPr>
              <a:t>https://pgmethaskovo.com/v3/images/uchebni%20materiali/periferni%20u_va/grafichni%20karti%20radeon.htm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  <a:hlinkClick r:id="rId3"/>
              </a:rPr>
              <a:t>https://www.iit.net-bg.info/Uroc/Plotter.htm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  <a:hlinkClick r:id="rId4"/>
              </a:rPr>
              <a:t>https://nauka.bg/svedeniya-printerite/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  <a:hlinkClick r:id="rId5"/>
              </a:rPr>
              <a:t>http://www.monitoribg.com/p/harakteristiki-na-monitora.html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  <a:hlinkClick r:id="rId6"/>
              </a:rPr>
              <a:t>https://www.shop.div-ltd.com/index.php?option=com_content&amp;view=article&amp;id=53:2010-04-20-08-33-41&amp;catid=41:2010-04-19-11-40-42&amp;Itemid=98</a:t>
            </a:r>
            <a:endParaRPr lang="en-US"/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209645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D8008-4C2E-F5AE-FA7E-C50EC8B7B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305" y="2203450"/>
            <a:ext cx="10360501" cy="1223963"/>
          </a:xfrm>
        </p:spPr>
        <p:txBody>
          <a:bodyPr vert="horz" lIns="121899" tIns="60949" rIns="121899" bIns="60949" rtlCol="0" anchor="ctr">
            <a:normAutofit/>
          </a:bodyPr>
          <a:lstStyle/>
          <a:p>
            <a:pPr algn="ctr"/>
            <a:r>
              <a:rPr lang="en-US" dirty="0" err="1">
                <a:solidFill>
                  <a:srgbClr val="54B098"/>
                </a:solidFill>
                <a:cs typeface="Calibri"/>
              </a:rPr>
              <a:t>Благодаря</a:t>
            </a:r>
            <a:r>
              <a:rPr lang="en-US" dirty="0">
                <a:solidFill>
                  <a:srgbClr val="54B098"/>
                </a:solidFill>
                <a:cs typeface="Calibri"/>
              </a:rPr>
              <a:t> </a:t>
            </a:r>
            <a:r>
              <a:rPr lang="en-US" dirty="0" err="1">
                <a:solidFill>
                  <a:srgbClr val="54B098"/>
                </a:solidFill>
                <a:cs typeface="Calibri"/>
              </a:rPr>
              <a:t>за</a:t>
            </a:r>
            <a:r>
              <a:rPr lang="en-US" dirty="0">
                <a:solidFill>
                  <a:srgbClr val="54B098"/>
                </a:solidFill>
                <a:cs typeface="Calibri"/>
              </a:rPr>
              <a:t> </a:t>
            </a:r>
            <a:r>
              <a:rPr lang="en-US" dirty="0" err="1">
                <a:solidFill>
                  <a:srgbClr val="54B098"/>
                </a:solidFill>
                <a:cs typeface="Calibri"/>
              </a:rPr>
              <a:t>вниманието</a:t>
            </a:r>
            <a:endParaRPr lang="en-US">
              <a:solidFill>
                <a:srgbClr val="54B098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5529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7f9b5e87859ce6d7eedbdc6e4e4205c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5e0075ee7624d6a846e01eb6183742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Status xmlns="71af3243-3dd4-4a8d-8c0d-dd76da1f02a5">Not started</Status>
  </documentManagement>
</p:properties>
</file>

<file path=customXml/itemProps1.xml><?xml version="1.0" encoding="utf-8"?>
<ds:datastoreItem xmlns:ds="http://schemas.openxmlformats.org/officeDocument/2006/customXml" ds:itemID="{8A6D9222-8445-4CAF-97EE-09B50EF08BBD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64734E9-C274-4EB4-8E27-BAE9169A44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7CF7ACA-83DF-48D1-85D1-C482ED91F651}">
  <ds:schemaRefs>
    <ds:schemaRef ds:uri="71af3243-3dd4-4a8d-8c0d-dd76da1f02a5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TF02787990</Template>
  <Application>Microsoft Office PowerPoint</Application>
  <PresentationFormat>Custom</PresentationFormat>
  <Slides>29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Tech 16x9</vt:lpstr>
      <vt:lpstr>Изходни периферни устройстрва </vt:lpstr>
      <vt:lpstr>План</vt:lpstr>
      <vt:lpstr>Описание </vt:lpstr>
      <vt:lpstr>PowerPoint Presentation</vt:lpstr>
      <vt:lpstr>Монитори</vt:lpstr>
      <vt:lpstr>CRT монитори </vt:lpstr>
      <vt:lpstr>LCD </vt:lpstr>
      <vt:lpstr>LED </vt:lpstr>
      <vt:lpstr>OLED</vt:lpstr>
      <vt:lpstr>Принтери</vt:lpstr>
      <vt:lpstr>Линеен </vt:lpstr>
      <vt:lpstr>PowerPoint Presentation</vt:lpstr>
      <vt:lpstr>Матричен </vt:lpstr>
      <vt:lpstr>Сублимационен</vt:lpstr>
      <vt:lpstr>Лазерен </vt:lpstr>
      <vt:lpstr>PowerPoint Presentation</vt:lpstr>
      <vt:lpstr>Мастилоструйни</vt:lpstr>
      <vt:lpstr>PowerPoint Presentation</vt:lpstr>
      <vt:lpstr>Плотери </vt:lpstr>
      <vt:lpstr>Плотери с писалка </vt:lpstr>
      <vt:lpstr>Мастилоструйни </vt:lpstr>
      <vt:lpstr>Лазерни</vt:lpstr>
      <vt:lpstr>Електростатични </vt:lpstr>
      <vt:lpstr>Графични карти(видео)</vt:lpstr>
      <vt:lpstr>PowerPoint Presentation</vt:lpstr>
      <vt:lpstr>PowerPoint Presentation</vt:lpstr>
      <vt:lpstr>Схема на графична карта</vt:lpstr>
      <vt:lpstr>PowerPoint Presentation</vt:lpstr>
      <vt:lpstr>Благодаря за вниманието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/>
  <cp:revision>816</cp:revision>
  <dcterms:created xsi:type="dcterms:W3CDTF">2022-12-14T08:02:49Z</dcterms:created>
  <dcterms:modified xsi:type="dcterms:W3CDTF">2022-12-20T08:34:40Z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