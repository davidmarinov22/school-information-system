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229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xmlns="" id="{AC552FEA-472E-4E74-B31D-531852C190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xmlns="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xmlns="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192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xmlns="" id="{37B4CDD2-E09A-418A-9131-FBDEE440A1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xmlns="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xmlns="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472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xmlns="" id="{0CB61A83-9419-49FC-8074-2AB3D34FA8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xmlns="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xmlns="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xmlns="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246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8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xmlns="" id="{AC45ECC6-E29C-40EF-A7C9-5A17DAFD42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xmlns="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xmlns="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xmlns="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857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488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xmlns="" id="{839DB371-B90D-44CB-A4AF-C7BDBFD0A8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xmlns="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xmlns="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xmlns="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286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xmlns="" id="{7627CBC2-9DC2-4EE8-A2D5-849E30F220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xmlns="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xmlns="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xmlns="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723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xmlns="" id="{12EF7969-DB38-4989-A65C-9D190A2455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xmlns="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xmlns="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262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xmlns="" id="{588F505F-2957-41FC-9AAA-962853A671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xmlns="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xmlns="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xmlns="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xmlns="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xmlns="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xmlns="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788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3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g.wikipedia.org/wiki/%D0%A4%D0%B0%D0%BA%D1%81" TargetMode="Externa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xmlns="" id="{38BCEAB4-7787-AF55-E33A-C8419D321E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09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ACF1780-9456-23F8-A92B-CA23088BD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0223" y="875975"/>
            <a:ext cx="5168523" cy="1177764"/>
          </a:xfrm>
        </p:spPr>
        <p:txBody>
          <a:bodyPr>
            <a:normAutofit/>
          </a:bodyPr>
          <a:lstStyle/>
          <a:p>
            <a:pPr algn="ctr"/>
            <a:r>
              <a:rPr lang="bg-BG" sz="6600" dirty="0">
                <a:solidFill>
                  <a:srgbClr val="FFFFFF"/>
                </a:solidFill>
              </a:rPr>
              <a:t>СКЕНЕРИ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69F91FD7-5E0D-0F09-D88B-56491874C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7450" y="2056744"/>
            <a:ext cx="4074070" cy="87296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Принцип на действие и класификация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Картина 7" descr="Картина, която съдържа текст, електроника, компютъ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7D1980DB-E442-8350-5CD0-4D3B850A4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5932">
            <a:off x="752221" y="1775209"/>
            <a:ext cx="2495814" cy="201661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Картина 9" descr="Картина, която съдържа електроника, принте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CDD3A044-5573-F9A6-13C7-2E89B7FE6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8598">
            <a:off x="8923155" y="2105311"/>
            <a:ext cx="2334309" cy="232470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Картина 6" descr="Картина, която съдържа принтер, закрито, електроник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A255706B-99E1-4288-B782-B5AE521AD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9147">
            <a:off x="6791875" y="3678768"/>
            <a:ext cx="3257214" cy="212067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0" name="Картина 19" descr="Картина, която съдържа текст, закрито, електроник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CAB794BD-8B94-8439-49AD-23E91FB055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1563">
            <a:off x="2205298" y="3570868"/>
            <a:ext cx="2497599" cy="249759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309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bg-BG" sz="4800" dirty="0">
                <a:solidFill>
                  <a:srgbClr val="FFFFFF"/>
                </a:solidFill>
              </a:rPr>
              <a:t>Съдържание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Текстово поле 23">
            <a:extLst>
              <a:ext uri="{FF2B5EF4-FFF2-40B4-BE49-F238E27FC236}">
                <a16:creationId xmlns:a16="http://schemas.microsoft.com/office/drawing/2014/main" xmlns="" id="{7627AD24-CBEA-347D-1EE0-CEB57623BF2D}"/>
              </a:ext>
            </a:extLst>
          </p:cNvPr>
          <p:cNvSpPr txBox="1"/>
          <p:nvPr/>
        </p:nvSpPr>
        <p:spPr>
          <a:xfrm>
            <a:off x="3756360" y="1274468"/>
            <a:ext cx="618159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1250" indent="-514350" algn="just">
              <a:buFont typeface="+mj-lt"/>
              <a:buAutoNum type="romanUcPeriod"/>
            </a:pPr>
            <a:r>
              <a:rPr lang="bg-BG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Въведение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1250" indent="-514350" algn="just">
              <a:buFont typeface="+mj-lt"/>
              <a:buAutoNum type="romanUcPeriod"/>
            </a:pPr>
            <a:r>
              <a:rPr lang="bg-BG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Скенер</a:t>
            </a:r>
          </a:p>
          <a:p>
            <a:pPr marL="928350" lvl="1" indent="-514350" algn="just">
              <a:buFont typeface="+mj-lt"/>
              <a:buAutoNum type="arabicParenR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характеристики</a:t>
            </a:r>
          </a:p>
          <a:p>
            <a:pPr marL="928350" lvl="1" indent="-514350" algn="just">
              <a:buFont typeface="+mj-lt"/>
              <a:buAutoNum type="arabicParenR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параметри</a:t>
            </a:r>
          </a:p>
          <a:p>
            <a:pPr marL="928350" lvl="1" indent="-514350" algn="just">
              <a:buFont typeface="+mj-lt"/>
              <a:buAutoNum type="arabicParenR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действие</a:t>
            </a:r>
          </a:p>
          <a:p>
            <a:pPr marL="928350" lvl="1" indent="-514350" algn="just">
              <a:buFont typeface="+mj-lt"/>
              <a:buAutoNum type="arabicParenR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</a:p>
          <a:p>
            <a:pPr marL="1234350" lvl="2" indent="-514350" algn="just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Ръчни (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Hand-held)</a:t>
            </a:r>
            <a:endParaRPr lang="bg-BG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4350" lvl="2" indent="-514350" algn="just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Плоски (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Flatbed -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настолни)</a:t>
            </a:r>
          </a:p>
          <a:p>
            <a:pPr marL="1234350" lvl="2" indent="-514350" algn="just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Барабанни (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Drum)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4350" lvl="2" indent="-514350" algn="just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Широкоформатни</a:t>
            </a:r>
          </a:p>
          <a:p>
            <a:pPr marL="1234350" lvl="2" indent="-514350" algn="just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(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Slide)</a:t>
            </a:r>
          </a:p>
          <a:p>
            <a:pPr marL="928350" lvl="1" indent="-514350" algn="just">
              <a:buFont typeface="+mj-lt"/>
              <a:buAutoNum type="arabicParenR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Интерфейси</a:t>
            </a:r>
          </a:p>
          <a:p>
            <a:pPr marL="414000" lvl="1" indent="0" algn="ctr">
              <a:buNone/>
            </a:pPr>
            <a:endParaRPr lang="bg-BG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7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bg-BG" sz="4800" dirty="0">
                <a:solidFill>
                  <a:srgbClr val="FFFFFF"/>
                </a:solidFill>
              </a:rPr>
              <a:t>Въведение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4FCDBE9C-F6EC-EE7C-6966-3A9D268A0598}"/>
              </a:ext>
            </a:extLst>
          </p:cNvPr>
          <p:cNvSpPr txBox="1"/>
          <p:nvPr/>
        </p:nvSpPr>
        <p:spPr>
          <a:xfrm>
            <a:off x="920842" y="2466492"/>
            <a:ext cx="5808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Скенерът е периферно устройство,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което въвежда графична информация в компютър</a:t>
            </a: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bg-BG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Скенерът служи за </a:t>
            </a: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заснемане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документ или изображение, които след </a:t>
            </a:r>
            <a:r>
              <a:rPr lang="bg-BG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могат да бъдат използвани в компютрите.</a:t>
            </a:r>
            <a:endParaRPr lang="bg-BG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bg-BG" sz="2400" dirty="0">
              <a:solidFill>
                <a:schemeClr val="bg1"/>
              </a:solidFill>
            </a:endParaRPr>
          </a:p>
        </p:txBody>
      </p:sp>
      <p:pic>
        <p:nvPicPr>
          <p:cNvPr id="8" name="Картина 7" descr="Картина, която съдържа електроник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78C12AF9-66E7-5133-A82F-1473C34CA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903" y="2466492"/>
            <a:ext cx="3014763" cy="364183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8722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bg-BG" sz="4800" dirty="0">
                <a:solidFill>
                  <a:srgbClr val="FFFFFF"/>
                </a:solidFill>
              </a:rPr>
              <a:t>Скенер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Картина 10" descr="Картина, която съдържа закрито, стена, електроника, принте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E6D74B49-FF70-2D02-5ECE-AB61BF58D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70" y="1788235"/>
            <a:ext cx="6322490" cy="42182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4769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bg-BG" sz="4800" dirty="0">
                <a:solidFill>
                  <a:srgbClr val="FFFFFF"/>
                </a:solidFill>
              </a:rPr>
              <a:t>Основни характеристики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C57E8CAF-C8F8-A4CE-6B34-518B76A6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92" y="1821026"/>
            <a:ext cx="3756848" cy="2817636"/>
          </a:xfrm>
          <a:prstGeom prst="rect">
            <a:avLst/>
          </a:prstGeom>
        </p:spPr>
      </p:pic>
      <p:pic>
        <p:nvPicPr>
          <p:cNvPr id="6" name="Картина 5" descr="Картина, която съдържа текст, отдалечен, електроника, компютъ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ADC810AD-36EE-BAB6-A539-1DB75592F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935" y="1821026"/>
            <a:ext cx="4150115" cy="2817636"/>
          </a:xfrm>
          <a:prstGeom prst="rect">
            <a:avLst/>
          </a:prstGeom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xmlns="" id="{541493EB-0BB6-516D-2E4F-EF3685AEC6A6}"/>
              </a:ext>
            </a:extLst>
          </p:cNvPr>
          <p:cNvSpPr txBox="1"/>
          <p:nvPr/>
        </p:nvSpPr>
        <p:spPr>
          <a:xfrm>
            <a:off x="1084905" y="4898497"/>
            <a:ext cx="9887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ru-RU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Основният принцип на скенера е подобен на системата на </a:t>
            </a:r>
            <a:r>
              <a:rPr lang="ru-RU" sz="20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 tooltip="Факс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факса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като и двата апарата интегрират предавател и приемник в едно устройство.</a:t>
            </a:r>
            <a:endParaRPr lang="bg-B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15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bg-BG" sz="4800" dirty="0">
                <a:solidFill>
                  <a:srgbClr val="FFFFFF"/>
                </a:solidFill>
              </a:rPr>
              <a:t>Основни параметри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D43CA6-5790-F9E6-1081-D80055FF8CFC}"/>
              </a:ext>
            </a:extLst>
          </p:cNvPr>
          <p:cNvSpPr txBox="1">
            <a:spLocks/>
          </p:cNvSpPr>
          <p:nvPr/>
        </p:nvSpPr>
        <p:spPr>
          <a:xfrm>
            <a:off x="6340528" y="1510996"/>
            <a:ext cx="5317725" cy="40953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bg-BG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Разделителна способност (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брой точки за един инч 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- dpi</a:t>
            </a:r>
            <a:r>
              <a:rPr lang="bg-BG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 - колкото е по-голяма оптичната разделителна способност, толкова повече светочуствителни елементи притежава скенерът</a:t>
            </a:r>
            <a:endParaRPr lang="bg-BG" sz="21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bg-BG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Вид на оптичната система - т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я може да бъде CCD (Charged - Coupled Device) или CIS (Compact Image Sensor)</a:t>
            </a:r>
            <a:endParaRPr lang="bg-BG" sz="21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bg-BG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Дълбочина на цветовете - 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стандартно, скенерите използват 24 битов цвят. Някои скенери обаче имат възможност за поддържане на 48 битов цвят.</a:t>
            </a:r>
            <a:endParaRPr lang="bg-BG" sz="21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Картина 7" descr="Картина, която съдържа мас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E78971B9-F82A-3EF5-8863-30D133F6A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78" y="2124906"/>
            <a:ext cx="5026841" cy="283942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7101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414000" lvl="1" algn="ctr"/>
            <a:r>
              <a:rPr lang="bg-BG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Принцип на действие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D43CA6-5790-F9E6-1081-D80055FF8CFC}"/>
              </a:ext>
            </a:extLst>
          </p:cNvPr>
          <p:cNvSpPr txBox="1">
            <a:spLocks/>
          </p:cNvSpPr>
          <p:nvPr/>
        </p:nvSpPr>
        <p:spPr>
          <a:xfrm>
            <a:off x="724809" y="3920819"/>
            <a:ext cx="9682195" cy="2607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Скенерът се състои от </a:t>
            </a:r>
            <a:r>
              <a:rPr lang="bg-BG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Стъклена повърхност,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Сканираща шейна със светлинен източник и </a:t>
            </a:r>
            <a:r>
              <a:rPr lang="bg-BG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Фокусиращ обектив или леща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Оригиналното изображение се осветява от вграден в устройството източник на светлина. Отразените лъчи се улавят от фотопреобразувател с линейна структура, който формира аналогов електрически сигнал. Линейната структура на фотопреобразувателя налага изображението да се сканира ред по ред.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xmlns="" id="{6B3F090A-43D3-70F8-1A76-BACD7752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110" y="1397282"/>
            <a:ext cx="6260810" cy="23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6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ru-RU" sz="4800" dirty="0">
                <a:solidFill>
                  <a:srgbClr val="FFFFFF"/>
                </a:solidFill>
              </a:rPr>
              <a:t>Ръчни (</a:t>
            </a:r>
            <a:r>
              <a:rPr lang="en-US" sz="4800" dirty="0">
                <a:solidFill>
                  <a:srgbClr val="FFFFFF"/>
                </a:solidFill>
              </a:rPr>
              <a:t>Hand-held) </a:t>
            </a:r>
            <a:r>
              <a:rPr lang="ru-RU" sz="4800" dirty="0">
                <a:solidFill>
                  <a:srgbClr val="FFFFFF"/>
                </a:solidFill>
              </a:rPr>
              <a:t>скенери</a:t>
            </a:r>
            <a:endParaRPr lang="bg-BG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Картина 7">
            <a:extLst>
              <a:ext uri="{FF2B5EF4-FFF2-40B4-BE49-F238E27FC236}">
                <a16:creationId xmlns:a16="http://schemas.microsoft.com/office/drawing/2014/main" xmlns="" id="{754C4C37-2E02-BAC5-F02C-6C414FEFAA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829" y="1470231"/>
            <a:ext cx="2568794" cy="25687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xmlns="" id="{09EB6262-1A8E-4336-5A47-D7CF1EBD9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08" y="4296185"/>
            <a:ext cx="3721291" cy="197770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1235037" y="1652292"/>
            <a:ext cx="5317725" cy="409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Този тип скенери 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въвеждат обикновено изображения с размер до 10 см и са с разрешаваща способност от 200 до 400 dpi. Добри са за малки по размер изображения.</a:t>
            </a:r>
            <a:endParaRPr lang="bg-BG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Повечето програмни продукти осигуряват функцията "слепване", като обектът за въвеждане се разделя на ивици, които се въвеждат поотделно, след което автоматично се слепват.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9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ru-RU" sz="4000" dirty="0">
                <a:solidFill>
                  <a:srgbClr val="FFFFFF"/>
                </a:solidFill>
              </a:rPr>
              <a:t>Плоски (</a:t>
            </a:r>
            <a:r>
              <a:rPr lang="en-US" sz="4000" dirty="0">
                <a:solidFill>
                  <a:srgbClr val="FFFFFF"/>
                </a:solidFill>
              </a:rPr>
              <a:t>Flatbed - </a:t>
            </a:r>
            <a:r>
              <a:rPr lang="ru-RU" sz="4000" dirty="0">
                <a:solidFill>
                  <a:srgbClr val="FFFFFF"/>
                </a:solidFill>
              </a:rPr>
              <a:t>настолни) скенери</a:t>
            </a:r>
            <a:endParaRPr lang="bg-BG" sz="40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566392" y="1436476"/>
            <a:ext cx="5317725" cy="437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При този вид скенери преместването на сензорната матрица се осъществява от автоматичен механизъм 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Сканираният документ се поставя върху плоска стъклена повърхност. </a:t>
            </a: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И се придвижва 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от ред на ред.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Разрешаващата  способност е от 300 до 1600 dpi, а размерът на работното поле е от А4 до А3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Цената на тези устройства е по-висока.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8CD5292F-7953-2FCC-B475-EDDB0073B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235" y="4097678"/>
            <a:ext cx="4975981" cy="232747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Картина 9" descr="Картина, която съдържа закрито, електронен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20DDD443-B45C-AC9D-1CCD-79CE0763D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474" y="1339362"/>
            <a:ext cx="2819271" cy="26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bg-BG" sz="5400" dirty="0">
                <a:solidFill>
                  <a:srgbClr val="FFFFFF"/>
                </a:solidFill>
              </a:rPr>
              <a:t> </a:t>
            </a:r>
            <a:r>
              <a:rPr lang="bg-BG" sz="4800" dirty="0">
                <a:solidFill>
                  <a:srgbClr val="FFFFFF"/>
                </a:solidFill>
              </a:rPr>
              <a:t>Барабанни</a:t>
            </a:r>
            <a:r>
              <a:rPr lang="bg-BG" sz="5400" dirty="0">
                <a:solidFill>
                  <a:srgbClr val="FFFFFF"/>
                </a:solidFill>
              </a:rPr>
              <a:t> (</a:t>
            </a:r>
            <a:r>
              <a:rPr lang="en-US" sz="5400" dirty="0">
                <a:solidFill>
                  <a:srgbClr val="FFFFFF"/>
                </a:solidFill>
              </a:rPr>
              <a:t>Dr</a:t>
            </a:r>
            <a:r>
              <a:rPr lang="bg-BG" sz="5400" dirty="0">
                <a:solidFill>
                  <a:srgbClr val="FFFFFF"/>
                </a:solidFill>
              </a:rPr>
              <a:t>д</a:t>
            </a:r>
            <a:r>
              <a:rPr lang="en-US" sz="5400" dirty="0">
                <a:solidFill>
                  <a:srgbClr val="FFFFFF"/>
                </a:solidFill>
              </a:rPr>
              <a:t>um) </a:t>
            </a:r>
            <a:r>
              <a:rPr lang="bg-BG" sz="5400" dirty="0">
                <a:solidFill>
                  <a:srgbClr val="FFFFFF"/>
                </a:solidFill>
              </a:rPr>
              <a:t>скенери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1075307" y="1511006"/>
            <a:ext cx="5317725" cy="409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Закрепя се към прозрачен барабан и при линейно движение на оптичен сензор и въртене на барабана се </a:t>
            </a: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за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снема информация за цвета и оптичната плътност на всяка точка от оригинала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Разрешаващата способност на този вид скенери е до 4200 dpi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Те се отличават с и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зключително качество</a:t>
            </a: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, но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 и висока цена.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Картина 6" descr="Картина, която съдържа принтер, закрито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F1DCA03A-547C-8266-829E-6F147B257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321" y="1278090"/>
            <a:ext cx="3884390" cy="2591948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xmlns="" id="{83E405CE-D50A-9C6E-D772-5C9AD3DBD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397" y="4084390"/>
            <a:ext cx="3078902" cy="24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9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ru-RU" sz="4800" dirty="0">
                <a:solidFill>
                  <a:srgbClr val="FFFFFF"/>
                </a:solidFill>
              </a:rPr>
              <a:t>Широкоформатни скенери</a:t>
            </a:r>
            <a:endParaRPr lang="bg-BG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1075307" y="1511006"/>
            <a:ext cx="5317725" cy="409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Тези скенери са предназначени за големи чертежи в машиностроенето, архитектурното проектиране и картофграфия</a:t>
            </a: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та.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Сензорът, който са използва</a:t>
            </a:r>
            <a:r>
              <a:rPr lang="bg-BG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, </a:t>
            </a: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е линеен и неподвижен. Документът се задвижва и преминава през сканиращата лента, като неговата дължина може да бъде произволна.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Картина 4" descr="Картина, която съдържа електроника, принте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A6AF2DBB-F476-6807-5C22-BE8E6F268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020" y="1797165"/>
            <a:ext cx="4061030" cy="326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59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ru-RU" sz="4800" dirty="0">
                <a:solidFill>
                  <a:srgbClr val="FFFFFF"/>
                </a:solidFill>
              </a:rPr>
              <a:t>Слайд (</a:t>
            </a:r>
            <a:r>
              <a:rPr lang="en-US" sz="4800" dirty="0">
                <a:solidFill>
                  <a:srgbClr val="FFFFFF"/>
                </a:solidFill>
              </a:rPr>
              <a:t>Slide) </a:t>
            </a:r>
            <a:r>
              <a:rPr lang="ru-RU" sz="4800" dirty="0">
                <a:solidFill>
                  <a:srgbClr val="FFFFFF"/>
                </a:solidFill>
              </a:rPr>
              <a:t>скенери.</a:t>
            </a:r>
            <a:endParaRPr lang="bg-BG" sz="4800" dirty="0">
              <a:solidFill>
                <a:srgbClr val="FFFFFF"/>
              </a:solidFill>
            </a:endParaRP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756303" y="1383668"/>
            <a:ext cx="4944870" cy="32804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Принципът на работа на тези скенери е коренно различен спрямо повечето типове скенери, обработващи обикновено отразените лъчи.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Тези устройства обработват пропуснатата светлина.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Тези скенери постигат максимална разделителна способност - 4200 dpi..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969EFCE0-9EC9-5404-154F-3F37DB1D5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77" y="3939760"/>
            <a:ext cx="3359845" cy="269055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xmlns="" id="{E4B9A6DB-C75C-A4AB-D4C8-5BEC1814F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83" y="1421731"/>
            <a:ext cx="2584607" cy="30399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29408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bg-BG" sz="4800" dirty="0">
                <a:solidFill>
                  <a:srgbClr val="FFFFFF"/>
                </a:solidFill>
              </a:rPr>
              <a:t>Интерфейси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743207" y="2081426"/>
            <a:ext cx="5606919" cy="1968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Интерфейсът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на скенера с </a:t>
            </a: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компютъра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определя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скоростта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на трансфер на </a:t>
            </a: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сканираните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данни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Картина 3" descr="Картина, която съдържа електроник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3EB4154B-C0B1-7E43-8354-4A4279620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822" y="1922776"/>
            <a:ext cx="3012438" cy="3012438"/>
          </a:xfrm>
          <a:prstGeom prst="rect">
            <a:avLst/>
          </a:prstGeom>
        </p:spPr>
      </p:pic>
      <p:pic>
        <p:nvPicPr>
          <p:cNvPr id="24" name="Картина 23">
            <a:extLst>
              <a:ext uri="{FF2B5EF4-FFF2-40B4-BE49-F238E27FC236}">
                <a16:creationId xmlns:a16="http://schemas.microsoft.com/office/drawing/2014/main" xmlns="" id="{316BC0B1-0A11-B327-D51E-D8B44FDCE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90" y="4203713"/>
            <a:ext cx="3198916" cy="216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29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35959F4-53DA-47FF-BC24-1E5B75C69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7CF83E8-F6F0-41E3-B580-7412A04DD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A0B6DBB-705D-48D0-842C-F9DFA7684D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194A764-16E1-4D0D-9357-76F80E6086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15B7F3F-A40D-4F24-8536-E2420B4332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0" name="Graphic 12">
              <a:extLst>
                <a:ext uri="{FF2B5EF4-FFF2-40B4-BE49-F238E27FC236}">
                  <a16:creationId xmlns:a16="http://schemas.microsoft.com/office/drawing/2014/main" xmlns="" id="{CEF42844-A829-4ED2-A360-63BB2A7C45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xmlns="" id="{57B23B52-A1C3-44EF-BC11-9094A0DA1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Graphic 15">
              <a:extLst>
                <a:ext uri="{FF2B5EF4-FFF2-40B4-BE49-F238E27FC236}">
                  <a16:creationId xmlns:a16="http://schemas.microsoft.com/office/drawing/2014/main" xmlns="" id="{064E08E5-DA92-4CF2-A0BF-E341800227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7A222560-E657-4CAE-B667-7BE9E224B2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59226104-0061-4319-8237-9C001BF85D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78">
            <a:extLst>
              <a:ext uri="{FF2B5EF4-FFF2-40B4-BE49-F238E27FC236}">
                <a16:creationId xmlns:a16="http://schemas.microsoft.com/office/drawing/2014/main" xmlns="" id="{51B01909-73B8-4486-A749-C643B1D7E3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8" name="Graphic 78">
              <a:extLst>
                <a:ext uri="{FF2B5EF4-FFF2-40B4-BE49-F238E27FC236}">
                  <a16:creationId xmlns:a16="http://schemas.microsoft.com/office/drawing/2014/main" xmlns="" id="{5E279D86-4533-45F1-B0AA-D237399A5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aphic 78">
              <a:extLst>
                <a:ext uri="{FF2B5EF4-FFF2-40B4-BE49-F238E27FC236}">
                  <a16:creationId xmlns:a16="http://schemas.microsoft.com/office/drawing/2014/main" xmlns="" id="{764FD722-CB31-4326-ADD8-CBA52FD1F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xmlns="" id="{24E4BCEC-8B0A-444E-8509-1B3BB0449E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xmlns="" id="{9DB36622-1DC7-4B17-8984-588BA8999F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Graphic 78">
                <a:extLst>
                  <a:ext uri="{FF2B5EF4-FFF2-40B4-BE49-F238E27FC236}">
                    <a16:creationId xmlns:a16="http://schemas.microsoft.com/office/drawing/2014/main" xmlns="" id="{51B97AF0-1974-42B9-B5FC-A332C52E82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xmlns="" id="{95A298AD-BE5D-4BE1-8CDF-DBFB42D6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5D0B0D3-D735-4619-AA45-B57B791E1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Контейнер за съдържание 8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4FA6921-5E44-DA65-98B7-12AB8592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1" r="-1" b="3170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6E77FF7-9A25-AEEA-0044-A8E98C1D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1" y="289914"/>
            <a:ext cx="11115349" cy="85664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20000" algn="ctr"/>
            <a:r>
              <a:rPr lang="bg-BG" sz="4800" dirty="0">
                <a:solidFill>
                  <a:srgbClr val="FFFFFF"/>
                </a:solidFill>
              </a:rPr>
              <a:t>Интерфейси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xmlns="" id="{DBBA0A0D-8F6A-400A-9E49-8C008E2C7D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xmlns="" id="{A5DD701E-4BC9-48E3-AF4F-013B52D63D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aphic 78">
              <a:extLst>
                <a:ext uri="{FF2B5EF4-FFF2-40B4-BE49-F238E27FC236}">
                  <a16:creationId xmlns:a16="http://schemas.microsoft.com/office/drawing/2014/main" xmlns="" id="{FB658B62-664D-4B3B-BBDA-235666290B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xmlns="" id="{B11F9D25-67B1-4BDB-A290-97B93A19DF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xmlns="" id="{B9D5C40A-1B1B-4C25-9707-E8F1CF6EEC9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xmlns="" id="{2DD0C1D6-FF64-45AB-8775-83AB3C470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xmlns="" id="{15AFBB84-8485-4329-89FC-04663D985B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3D505D40-32E9-4C48-81F8-AD80433BE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507BF36-B92B-4CAC-BCA7-8364B51E1F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2276237E-3A6D-452F-879C-FB8C77A18D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xmlns="" id="{38BC9243-F4BF-48A7-89AE-DFA5B37DE6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5DE414EC-F3DF-412E-9B22-5328DAA99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xmlns="" id="{039C06B1-FDEA-47B1-8222-7D622CD72F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xmlns="" id="{B834C8C1-9BD1-4635-8E5B-65815F901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xmlns="" id="{2963D456-B3F4-4EDC-827E-645741F64D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73A58845-EFFB-4806-BC6D-47418C1555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08FA55D-2251-B3BD-2631-06A868736748}"/>
              </a:ext>
            </a:extLst>
          </p:cNvPr>
          <p:cNvSpPr txBox="1">
            <a:spLocks/>
          </p:cNvSpPr>
          <p:nvPr/>
        </p:nvSpPr>
        <p:spPr>
          <a:xfrm>
            <a:off x="740589" y="1848746"/>
            <a:ext cx="4944870" cy="1580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SCSI -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дават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най-висока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скорост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паралелно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другите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предимства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дози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интерфейс. Удобен е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професионални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решения.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77FE9A4C-E8C1-78D5-A138-F2D742F8B67F}"/>
              </a:ext>
            </a:extLst>
          </p:cNvPr>
          <p:cNvSpPr txBox="1">
            <a:spLocks/>
          </p:cNvSpPr>
          <p:nvPr/>
        </p:nvSpPr>
        <p:spPr>
          <a:xfrm>
            <a:off x="5705066" y="4819208"/>
            <a:ext cx="4944870" cy="1580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USB - 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компенсират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по-ниската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си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скорост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със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значително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по-удобната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си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инсталация</a:t>
            </a:r>
            <a:r>
              <a:rPr lang="ru-RU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.</a:t>
            </a:r>
          </a:p>
        </p:txBody>
      </p:sp>
      <p:pic>
        <p:nvPicPr>
          <p:cNvPr id="10" name="Картина 9" descr="Картина, която съдържа адапте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EEDCBA1C-0DD9-CD5C-5EBC-5780AAFF77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081" y="1673209"/>
            <a:ext cx="2974949" cy="297494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xmlns="" id="{2B57733F-B992-4DB2-3488-393179FD7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07" y="3779636"/>
            <a:ext cx="3819181" cy="254214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39226752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275</Words>
  <Application>Microsoft Office PowerPoint</Application>
  <PresentationFormat>Custom</PresentationFormat>
  <Paragraphs>53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RocaVTI</vt:lpstr>
      <vt:lpstr>СКЕНЕРИ</vt:lpstr>
      <vt:lpstr>Съдържание</vt:lpstr>
      <vt:lpstr>Въведение</vt:lpstr>
      <vt:lpstr>Скенер</vt:lpstr>
      <vt:lpstr>Основни характеристики</vt:lpstr>
      <vt:lpstr>Основни параметри</vt:lpstr>
      <vt:lpstr>Принцип на действие</vt:lpstr>
      <vt:lpstr>Ръчни (Hand-held) скенери</vt:lpstr>
      <vt:lpstr>Плоски (Flatbed - настолни) скенери</vt:lpstr>
      <vt:lpstr> Барабанни (Drдum) скенери</vt:lpstr>
      <vt:lpstr>Широкоформатни скенери</vt:lpstr>
      <vt:lpstr>Слайд (Slide) скенери.</vt:lpstr>
      <vt:lpstr>Интерфейси</vt:lpstr>
      <vt:lpstr>Интерфейси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Пасивните елементи Кондензатор и Резистор</dc:title>
  <dc:creator>Давид Д. Маринов</dc:creator>
  <cp:lastModifiedBy>PC-0</cp:lastModifiedBy>
  <cp:revision>17</cp:revision>
  <dcterms:created xsi:type="dcterms:W3CDTF">2022-12-12T20:54:22Z</dcterms:created>
  <dcterms:modified xsi:type="dcterms:W3CDTF">2022-12-21T05:59:45Z</dcterms:modified>
</cp:coreProperties>
</file>