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8"/>
  </p:notesMasterIdLst>
  <p:sldIdLst>
    <p:sldId id="256" r:id="rId2"/>
    <p:sldId id="258" r:id="rId3"/>
    <p:sldId id="275" r:id="rId4"/>
    <p:sldId id="257" r:id="rId5"/>
    <p:sldId id="272" r:id="rId6"/>
    <p:sldId id="273" r:id="rId7"/>
    <p:sldId id="274" r:id="rId8"/>
    <p:sldId id="271" r:id="rId9"/>
    <p:sldId id="260" r:id="rId10"/>
    <p:sldId id="261" r:id="rId11"/>
    <p:sldId id="262" r:id="rId12"/>
    <p:sldId id="269" r:id="rId13"/>
    <p:sldId id="278" r:id="rId14"/>
    <p:sldId id="279" r:id="rId15"/>
    <p:sldId id="280" r:id="rId16"/>
    <p:sldId id="276" r:id="rId17"/>
    <p:sldId id="277" r:id="rId18"/>
    <p:sldId id="263" r:id="rId19"/>
    <p:sldId id="264" r:id="rId20"/>
    <p:sldId id="266" r:id="rId21"/>
    <p:sldId id="282" r:id="rId22"/>
    <p:sldId id="283" r:id="rId23"/>
    <p:sldId id="267" r:id="rId24"/>
    <p:sldId id="268" r:id="rId25"/>
    <p:sldId id="281" r:id="rId26"/>
    <p:sldId id="27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5" autoAdjust="0"/>
    <p:restoredTop sz="94660"/>
  </p:normalViewPr>
  <p:slideViewPr>
    <p:cSldViewPr snapToGrid="0">
      <p:cViewPr>
        <p:scale>
          <a:sx n="76" d="100"/>
          <a:sy n="76" d="100"/>
        </p:scale>
        <p:origin x="-45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30F3B-2C62-474B-A5BE-FA24E6CE95C6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5D9EC-AC4F-4561-86C5-2D04E8BD9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03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5D9EC-AC4F-4561-86C5-2D04E8BD927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17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453D-613F-48D5-AE21-32D0EE06EA0B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1545-2994-4ABA-B6F0-F7816052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0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453D-613F-48D5-AE21-32D0EE06EA0B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1545-2994-4ABA-B6F0-F7816052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2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453D-613F-48D5-AE21-32D0EE06EA0B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1545-2994-4ABA-B6F0-F7816052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70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453D-613F-48D5-AE21-32D0EE06EA0B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1545-2994-4ABA-B6F0-F7816052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20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453D-613F-48D5-AE21-32D0EE06EA0B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1545-2994-4ABA-B6F0-F7816052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97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453D-613F-48D5-AE21-32D0EE06EA0B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1545-2994-4ABA-B6F0-F7816052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3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453D-613F-48D5-AE21-32D0EE06EA0B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1545-2994-4ABA-B6F0-F7816052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75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453D-613F-48D5-AE21-32D0EE06EA0B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1545-2994-4ABA-B6F0-F7816052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20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453D-613F-48D5-AE21-32D0EE06EA0B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1545-2994-4ABA-B6F0-F7816052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91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453D-613F-48D5-AE21-32D0EE06EA0B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1545-2994-4ABA-B6F0-F7816052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9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453D-613F-48D5-AE21-32D0EE06EA0B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1545-2994-4ABA-B6F0-F7816052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8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828E453D-613F-48D5-AE21-32D0EE06EA0B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4741545-2994-4ABA-B6F0-F7816052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48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8.xml"/><Relationship Id="rId4" Type="http://schemas.openxmlformats.org/officeDocument/2006/relationships/slide" Target="slide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esigusxpro.com/bg/orgtehnika/vidy-plotterov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askalo.com/nezabravka/files/2013/10/&#1055;&#1051;&#1054;&#1058;&#1045;&#1056;&#1048;2.pdf" TargetMode="External"/><Relationship Id="rId4" Type="http://schemas.openxmlformats.org/officeDocument/2006/relationships/hyperlink" Target="https://www.iit.net-bg.info/Uroc/Plotter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xmlns="" id="{3FA49195-69EB-4E39-A68A-C232E2D03E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084DF3-A098-2AF9-E9CD-9057B258B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8680" y="3144519"/>
            <a:ext cx="7889838" cy="2580139"/>
          </a:xfrm>
        </p:spPr>
        <p:txBody>
          <a:bodyPr anchor="t">
            <a:normAutofit/>
          </a:bodyPr>
          <a:lstStyle/>
          <a:p>
            <a:r>
              <a:rPr lang="bg-BG" sz="7200" dirty="0"/>
              <a:t>Плотери</a:t>
            </a:r>
            <a:endParaRPr lang="en-US" dirty="0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xmlns="" id="{13280B82-CD55-43FD-92C4-F05E2A8D13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29882" y="0"/>
            <a:ext cx="4318598" cy="133719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xmlns="" id="{A4D9248B-0006-4BFE-8110-40C16E45C0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487595" y="0"/>
            <a:ext cx="1466711" cy="685800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xmlns="" id="{14C10EA2-1BD8-4267-AA7D-AB8CCA53C3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6482080" y="4171575"/>
            <a:ext cx="5739800" cy="268642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>
            <a:extLst>
              <a:ext uri="{FF2B5EF4-FFF2-40B4-BE49-F238E27FC236}">
                <a16:creationId xmlns:a16="http://schemas.microsoft.com/office/drawing/2014/main" xmlns="" id="{EE593BB5-7AFA-4C8F-AECA-CE733B1FD09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10296432" y="1116305"/>
            <a:ext cx="1895568" cy="574169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6">
            <a:extLst>
              <a:ext uri="{FF2B5EF4-FFF2-40B4-BE49-F238E27FC236}">
                <a16:creationId xmlns:a16="http://schemas.microsoft.com/office/drawing/2014/main" xmlns="" id="{F521483B-CE28-412B-9C71-9BE081E9DC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8978150" y="4219"/>
            <a:ext cx="3227294" cy="30814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8">
            <a:extLst>
              <a:ext uri="{FF2B5EF4-FFF2-40B4-BE49-F238E27FC236}">
                <a16:creationId xmlns:a16="http://schemas.microsoft.com/office/drawing/2014/main" xmlns="" id="{6BD75F78-4912-4FB5-834D-1817BF0A26D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9434056" y="4619"/>
            <a:ext cx="2771388" cy="77388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20">
            <a:extLst>
              <a:ext uri="{FF2B5EF4-FFF2-40B4-BE49-F238E27FC236}">
                <a16:creationId xmlns:a16="http://schemas.microsoft.com/office/drawing/2014/main" xmlns="" id="{EC9F4738-DD27-44BE-98C6-AB0B2296BD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 flipV="1">
            <a:off x="-29880" y="5342966"/>
            <a:ext cx="8964704" cy="151503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68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F5766C-119C-6938-84F5-0AF9A343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7553"/>
            <a:ext cx="9906000" cy="1382156"/>
          </a:xfrm>
        </p:spPr>
        <p:txBody>
          <a:bodyPr/>
          <a:lstStyle/>
          <a:p>
            <a:r>
              <a:rPr lang="bg-BG" sz="3600" dirty="0"/>
              <a:t>Съдържание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9548C7-A519-606D-0BD2-CE40C7E9E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507" y="1382156"/>
            <a:ext cx="11176986" cy="5504155"/>
          </a:xfrm>
        </p:spPr>
        <p:txBody>
          <a:bodyPr>
            <a:noAutofit/>
          </a:bodyPr>
          <a:lstStyle/>
          <a:p>
            <a:pPr algn="just"/>
            <a:r>
              <a:rPr lang="bg-BG" dirty="0"/>
              <a:t>Същност.............................................................................................................................сл.</a:t>
            </a:r>
            <a:r>
              <a:rPr lang="en-US" dirty="0"/>
              <a:t>4-5</a:t>
            </a:r>
            <a:endParaRPr lang="bg-BG" dirty="0"/>
          </a:p>
          <a:p>
            <a:pPr algn="just"/>
            <a:r>
              <a:rPr lang="bg-BG" dirty="0"/>
              <a:t>Принцип на действие...........................................................................................................сл.</a:t>
            </a:r>
            <a:r>
              <a:rPr lang="en-US" dirty="0"/>
              <a:t>6</a:t>
            </a:r>
            <a:endParaRPr lang="bg-BG" dirty="0"/>
          </a:p>
          <a:p>
            <a:pPr algn="just"/>
            <a:r>
              <a:rPr lang="bg-BG" dirty="0"/>
              <a:t>Основно</a:t>
            </a:r>
            <a:r>
              <a:rPr lang="en-US" dirty="0"/>
              <a:t> </a:t>
            </a:r>
            <a:r>
              <a:rPr lang="bg-BG" dirty="0"/>
              <a:t>приложение...........................................................................................................сл.7</a:t>
            </a:r>
          </a:p>
          <a:p>
            <a:pPr algn="just"/>
            <a:r>
              <a:rPr lang="bg-BG" dirty="0"/>
              <a:t>Основни характеристики на плотерите...........................................................................сл.8</a:t>
            </a:r>
          </a:p>
          <a:p>
            <a:pPr algn="just"/>
            <a:r>
              <a:rPr lang="bg-BG" dirty="0"/>
              <a:t>Ранни плотери........................................................................................................................сл.9</a:t>
            </a:r>
          </a:p>
          <a:p>
            <a:pPr algn="just"/>
            <a:r>
              <a:rPr lang="bg-BG" dirty="0"/>
              <a:t>Класификация...........................................</a:t>
            </a:r>
            <a:r>
              <a:rPr lang="en-US" dirty="0"/>
              <a:t>.............</a:t>
            </a:r>
            <a:r>
              <a:rPr lang="bg-BG" dirty="0"/>
              <a:t>..........................................................сл.10-12</a:t>
            </a:r>
          </a:p>
          <a:p>
            <a:pPr algn="just"/>
            <a:r>
              <a:rPr lang="bg-BG" dirty="0"/>
              <a:t>Планшетни плотери............................................................................................................сл.13</a:t>
            </a:r>
          </a:p>
          <a:p>
            <a:pPr algn="just"/>
            <a:r>
              <a:rPr lang="bg-BG" dirty="0"/>
              <a:t>Плотери с придвижван носител.....................................................................................сл.14-15</a:t>
            </a:r>
          </a:p>
          <a:p>
            <a:pPr algn="just"/>
            <a:r>
              <a:rPr lang="bg-BG" dirty="0"/>
              <a:t>Фотоплотери.........................................................................................................................сл.16</a:t>
            </a:r>
          </a:p>
          <a:p>
            <a:pPr algn="just"/>
            <a:endParaRPr lang="bg-BG" dirty="0"/>
          </a:p>
          <a:p>
            <a:pPr algn="just"/>
            <a:endParaRPr lang="bg-BG" dirty="0"/>
          </a:p>
          <a:p>
            <a:pPr algn="just"/>
            <a:endParaRPr lang="bg-BG" dirty="0"/>
          </a:p>
          <a:p>
            <a:pPr algn="just"/>
            <a:endParaRPr lang="bg-BG" dirty="0"/>
          </a:p>
          <a:p>
            <a:pPr algn="just"/>
            <a:endParaRPr lang="bg-BG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94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88B04F-F522-1872-3AE3-E60680471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125" y="1100831"/>
            <a:ext cx="10631750" cy="5421419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Електростатически плотери.........................</a:t>
            </a:r>
            <a:r>
              <a:rPr lang="en-US" dirty="0"/>
              <a:t>.............</a:t>
            </a:r>
            <a:r>
              <a:rPr lang="ru-RU" dirty="0"/>
              <a:t>................................................сл.17</a:t>
            </a:r>
          </a:p>
          <a:p>
            <a:pPr algn="just"/>
            <a:r>
              <a:rPr lang="ru-RU" dirty="0"/>
              <a:t>Писалкови плотери....................................................................................................сл.18</a:t>
            </a:r>
          </a:p>
          <a:p>
            <a:pPr algn="just"/>
            <a:r>
              <a:rPr lang="ru-RU" dirty="0"/>
              <a:t>Струйни плотери.........................................................</a:t>
            </a:r>
            <a:r>
              <a:rPr lang="en-US" dirty="0"/>
              <a:t>.</a:t>
            </a:r>
            <a:r>
              <a:rPr lang="ru-RU" dirty="0"/>
              <a:t>..............................................сл.19</a:t>
            </a:r>
          </a:p>
          <a:p>
            <a:pPr algn="just"/>
            <a:r>
              <a:rPr lang="bg-BG" dirty="0"/>
              <a:t>Лазерни плотери..................................................</a:t>
            </a:r>
            <a:r>
              <a:rPr lang="en-US" dirty="0"/>
              <a:t>...........</a:t>
            </a:r>
            <a:r>
              <a:rPr lang="bg-BG" dirty="0"/>
              <a:t>..........................................сл.20</a:t>
            </a:r>
            <a:endParaRPr lang="en-US" dirty="0"/>
          </a:p>
          <a:p>
            <a:pPr algn="just"/>
            <a:r>
              <a:rPr lang="en-US" dirty="0"/>
              <a:t>PPVI</a:t>
            </a:r>
            <a:r>
              <a:rPr lang="bg-BG" dirty="0"/>
              <a:t>.............................................................................................................................сл.21</a:t>
            </a:r>
          </a:p>
          <a:p>
            <a:pPr algn="just"/>
            <a:r>
              <a:rPr lang="bg-BG" dirty="0"/>
              <a:t>Термоплотери............................................................................................................сл.22</a:t>
            </a:r>
          </a:p>
          <a:p>
            <a:pPr algn="just"/>
            <a:r>
              <a:rPr lang="ru-RU" dirty="0"/>
              <a:t>Плотери с директен изход на изображението........................................................сл.23</a:t>
            </a:r>
          </a:p>
          <a:p>
            <a:pPr algn="just"/>
            <a:r>
              <a:rPr lang="ru-RU" dirty="0"/>
              <a:t>Плотери на основата на термопредаването.......................................</a:t>
            </a:r>
            <a:r>
              <a:rPr lang="en-US" dirty="0"/>
              <a:t>.</a:t>
            </a:r>
            <a:r>
              <a:rPr lang="ru-RU" dirty="0"/>
              <a:t>...................сл.24</a:t>
            </a:r>
          </a:p>
          <a:p>
            <a:pPr algn="just"/>
            <a:r>
              <a:rPr lang="ru-RU" dirty="0"/>
              <a:t>Тест............................................................................................................................сл.25</a:t>
            </a:r>
          </a:p>
          <a:p>
            <a:pPr algn="just"/>
            <a:r>
              <a:rPr lang="bg-BG" dirty="0"/>
              <a:t>Източници..................................................................................................................сл.26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640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1AEE0D-C784-32E1-FE35-159138A3F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64147"/>
            <a:ext cx="9906000" cy="1382156"/>
          </a:xfrm>
        </p:spPr>
        <p:txBody>
          <a:bodyPr>
            <a:normAutofit/>
          </a:bodyPr>
          <a:lstStyle/>
          <a:p>
            <a:r>
              <a:rPr lang="bg-BG" sz="3600" dirty="0"/>
              <a:t>Същност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93C13D-ABBF-24D2-DE8D-A4F73F451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746" y="2238842"/>
            <a:ext cx="5796619" cy="2914287"/>
          </a:xfrm>
        </p:spPr>
        <p:txBody>
          <a:bodyPr>
            <a:normAutofit/>
          </a:bodyPr>
          <a:lstStyle/>
          <a:p>
            <a:pPr algn="just"/>
            <a:r>
              <a:rPr lang="ru-RU" sz="2600" dirty="0"/>
              <a:t>Плотерът е изходно периферно устройство за извеждане на графична информация от компютъра. Основното предназначение е висококачествено документиране на чертожно-графична информация.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330A937-7CDF-1C10-723D-493C7142E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903" y="1930893"/>
            <a:ext cx="3546146" cy="278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8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31C7C7-1398-B760-4F32-2C5642A27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378" y="1549954"/>
            <a:ext cx="5000347" cy="4042978"/>
          </a:xfrm>
        </p:spPr>
        <p:txBody>
          <a:bodyPr/>
          <a:lstStyle/>
          <a:p>
            <a:pPr algn="just"/>
            <a:r>
              <a:rPr lang="ru-RU" dirty="0"/>
              <a:t>Плотерът е оборудване, използвано за широкоформатен печат, включително формат A0. Той може да печата не само на хартия, но и на други материали, синтетични носители, филм и т.н. В допълнение, някои модели са оборудвани с функция за рязане, която се използва при печат върху горещо лепило фолио, етикети, лога и т.н.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D380F98-B918-C2D1-1BBF-209C134EC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597" y="1865240"/>
            <a:ext cx="4170025" cy="312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884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34DEA1-B0FC-99BC-D2F5-7ED97448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Принцип на действие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CD1DBE-5BA5-69E4-11D2-3A5C160B3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09554"/>
            <a:ext cx="5834849" cy="4024424"/>
          </a:xfrm>
        </p:spPr>
        <p:txBody>
          <a:bodyPr/>
          <a:lstStyle/>
          <a:p>
            <a:pPr algn="just"/>
            <a:r>
              <a:rPr lang="ru-RU" dirty="0"/>
              <a:t>Графичното изображение се изгражда чрез управление движението на писец през повърхността на хартията. Това означава, че плотерите са по-подходящи за изображения, изградени от линии, отколкото за растерни изображения. Те могат да възпроизвеждат сложни линейни съчетания, включително текст, но го правят много бавно, поради относително бавното движение на писците.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92AC26D-9E37-6C3D-CD4C-C0B3CEA94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444" y="2367756"/>
            <a:ext cx="4357201" cy="238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47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E37736-ACC7-9400-E381-D808CE7D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Основно приложение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E5589C-02AE-D9A0-2FD4-59645555D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868" y="1846215"/>
            <a:ext cx="6400800" cy="4538508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Основното приложение на плотерите е за чертежна работа в CAD приложения, където те имат предимството, че могат да работят с много големи размери хартия. Плотерът изчертава автоматично с висока точност рисунки, схеми, сложни чертежи, карти и друга графична информация на хартия с размер до A0. Използва се писец, управляван от пишещ блок. Връзката с компютъра се осъществява с последователен, паралелен или SCSI-интерфейс. Някои модели имат собствен буфер(1MB и повече).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6FB2D67-F21B-BAA0-DAC7-FE75CED48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964" y="2022763"/>
            <a:ext cx="4576619" cy="343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31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F0EE8E-0CDC-BF43-5D48-EBEC6C18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472" y="395056"/>
            <a:ext cx="10520038" cy="2023369"/>
          </a:xfrm>
        </p:spPr>
        <p:txBody>
          <a:bodyPr>
            <a:normAutofit/>
          </a:bodyPr>
          <a:lstStyle/>
          <a:p>
            <a:r>
              <a:rPr lang="bg-BG" sz="3600" dirty="0"/>
              <a:t>Основни характеристики на плотерите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639EBF-AEE2-67BE-38F3-DD74E8ED7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192" y="2175029"/>
            <a:ext cx="5714699" cy="4287915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Електростатичните плотери са по-бързи от пишещите, но по-бавни от лазерните печатащи устройства. Скоростта е 500 до 1000 линии за 1мин – 10-20 пъти по-висока от тези с писци. Разделителната способност е 200-400 точки на дюйм. Електростатичните плотери се използват за висококачествен цветен изход в CAD-системи. Основни производители - Versatec, Calcomp и Benson. Цена 30-150 хиляди долара.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9E2748F-E9FA-FFC1-7C4D-2F4900A21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590" y="2694416"/>
            <a:ext cx="4963218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30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197A2E-649E-19E7-9009-A80194E46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691" y="231600"/>
            <a:ext cx="9906000" cy="1382156"/>
          </a:xfrm>
        </p:spPr>
        <p:txBody>
          <a:bodyPr>
            <a:normAutofit/>
          </a:bodyPr>
          <a:lstStyle/>
          <a:p>
            <a:r>
              <a:rPr lang="bg-BG" sz="3600" dirty="0"/>
              <a:t>РАнни плотери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B4B44F-F25B-6F04-C63D-BB2FC9DAC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909" y="1436531"/>
            <a:ext cx="7188052" cy="5088556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Ранните плотери са създадени чрез прикачени писалки за чертожни пантографи и са били управлявани от машини с мотори, контролирани от компютъра. Недостатък на тази технология е представлявало твърде мудното движение. През 1980-те години малките плотери за домашна употреба стават популярни за експерименти в областта на компютърната графика. Но тяхната ниска скорост означавала, че те не са полезни за основните цели на принтирането. Плотерите се използват главно за чертежи и при CAD приложения, където те имат предимството, че могат да работят с много големи размери хартия. Първия плотер е произведен от фирмата  CalComp (1959 г., модел CalComp 565).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E997682-EFA2-D491-65BC-9567B8876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00" b="90800" l="2700" r="94800">
                        <a14:foregroundMark x1="6800" y1="33300" x2="13200" y2="41100"/>
                        <a14:foregroundMark x1="4500" y1="36000" x2="2700" y2="32400"/>
                        <a14:foregroundMark x1="87300" y1="33100" x2="90200" y2="44300"/>
                        <a14:foregroundMark x1="91200" y1="42000" x2="94800" y2="39000"/>
                        <a14:foregroundMark x1="52000" y1="9700" x2="52000" y2="9700"/>
                        <a14:foregroundMark x1="50400" y1="90800" x2="50400" y2="908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74493" y="1654241"/>
            <a:ext cx="3873760" cy="387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24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647392-60EE-E005-78CE-D3159D62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Класификация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6E3144-5670-F379-CDE6-219D9142A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256" y="2009554"/>
            <a:ext cx="10196744" cy="4024424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bg-BG" sz="2600" dirty="0"/>
              <a:t> Според областта на използване</a:t>
            </a:r>
          </a:p>
          <a:p>
            <a:pPr marL="0" indent="0" algn="just">
              <a:buNone/>
            </a:pPr>
            <a:r>
              <a:rPr lang="ru-RU" sz="2600" dirty="0"/>
              <a:t>- Архитектура и строителство</a:t>
            </a:r>
          </a:p>
          <a:p>
            <a:pPr marL="0" indent="0" algn="just">
              <a:buNone/>
            </a:pPr>
            <a:r>
              <a:rPr lang="ru-RU" sz="2600" dirty="0"/>
              <a:t>- Технически чертежи</a:t>
            </a:r>
          </a:p>
          <a:p>
            <a:pPr marL="0" indent="0" algn="just">
              <a:buNone/>
            </a:pPr>
            <a:r>
              <a:rPr lang="ru-RU" sz="2600" dirty="0"/>
              <a:t>- Реклама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2600" dirty="0"/>
              <a:t>Според способа за извеждане на информацията</a:t>
            </a:r>
          </a:p>
          <a:p>
            <a:pPr marL="0" indent="0" algn="just">
              <a:buNone/>
            </a:pPr>
            <a:r>
              <a:rPr lang="ru-RU" sz="2600" dirty="0"/>
              <a:t>- Писалкови</a:t>
            </a:r>
          </a:p>
          <a:p>
            <a:pPr marL="0" indent="0" algn="just">
              <a:buNone/>
            </a:pPr>
            <a:r>
              <a:rPr lang="ru-RU" sz="2600" dirty="0"/>
              <a:t>- Струйни</a:t>
            </a:r>
          </a:p>
          <a:p>
            <a:pPr marL="0" indent="0" algn="just">
              <a:buNone/>
            </a:pPr>
            <a:r>
              <a:rPr lang="ru-RU" sz="2600" dirty="0"/>
              <a:t>- Лазерни</a:t>
            </a:r>
          </a:p>
          <a:p>
            <a:pPr marL="0" indent="0" algn="just">
              <a:buNone/>
            </a:pPr>
            <a:r>
              <a:rPr lang="ru-RU" sz="2600" dirty="0"/>
              <a:t>- Електростатически</a:t>
            </a:r>
            <a:endParaRPr lang="bg-BG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90A2F7A-3B44-1221-2404-935DF5D8C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791" y="1915557"/>
            <a:ext cx="3813700" cy="381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44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13AA64-3B48-36C3-8B90-CE056E47E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982" y="1286178"/>
            <a:ext cx="9744163" cy="4431044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Според възможността да възпроизвеждат цвят</a:t>
            </a:r>
          </a:p>
          <a:p>
            <a:pPr marL="0" indent="0" algn="just">
              <a:buNone/>
            </a:pPr>
            <a:r>
              <a:rPr lang="ru-RU" dirty="0"/>
              <a:t>- Цветни</a:t>
            </a:r>
          </a:p>
          <a:p>
            <a:pPr marL="0" indent="0" algn="just">
              <a:buNone/>
            </a:pPr>
            <a:r>
              <a:rPr lang="ru-RU" dirty="0"/>
              <a:t>- Монохроматични (цветните изображения се възпроизвеждат с оттенъци на сивото)</a:t>
            </a:r>
          </a:p>
          <a:p>
            <a:pPr algn="just">
              <a:buFontTx/>
              <a:buChar char="-"/>
            </a:pPr>
            <a:r>
              <a:rPr lang="ru-RU" dirty="0"/>
              <a:t>С възможност за цветен печат — плотери, ориентирани на монохроматичен печат, но способни (в неголям обем) да извеждат и цветни изображения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bg-BG" dirty="0"/>
              <a:t>Според формата на изображението</a:t>
            </a:r>
          </a:p>
          <a:p>
            <a:pPr marL="0" indent="0" algn="just">
              <a:buNone/>
            </a:pPr>
            <a:r>
              <a:rPr lang="bg-BG" dirty="0"/>
              <a:t>- </a:t>
            </a:r>
            <a:r>
              <a:rPr lang="ru-RU" dirty="0"/>
              <a:t>Плотери  формат А0</a:t>
            </a:r>
          </a:p>
          <a:p>
            <a:pPr marL="0" indent="0" algn="just">
              <a:buNone/>
            </a:pPr>
            <a:r>
              <a:rPr lang="ru-RU" dirty="0"/>
              <a:t>- Плотери формат А1</a:t>
            </a:r>
          </a:p>
          <a:p>
            <a:pPr marL="0" indent="0" algn="just">
              <a:buNone/>
            </a:pPr>
            <a:r>
              <a:rPr lang="ru-RU" dirty="0"/>
              <a:t>- Плотери с "рекламен" формат</a:t>
            </a:r>
          </a:p>
          <a:p>
            <a:pPr marL="0" indent="0" algn="just">
              <a:buNone/>
            </a:pPr>
            <a:endParaRPr lang="ru-RU" sz="2000" dirty="0"/>
          </a:p>
          <a:p>
            <a:pPr marL="0" indent="0" algn="just">
              <a:buNone/>
            </a:pPr>
            <a:endParaRPr lang="ru-RU" sz="2000" dirty="0"/>
          </a:p>
          <a:p>
            <a:pPr marL="0" indent="0" algn="just">
              <a:buNone/>
            </a:pPr>
            <a:endParaRPr lang="ru-RU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1654AE7-24D6-B1BC-79A0-82B9E121E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59" b="89865" l="5800" r="90000">
                        <a14:foregroundMark x1="29000" y1="28041" x2="56600" y2="47297"/>
                        <a14:foregroundMark x1="56600" y1="47297" x2="66600" y2="42568"/>
                        <a14:foregroundMark x1="66600" y1="42568" x2="67400" y2="42568"/>
                        <a14:foregroundMark x1="74400" y1="36486" x2="56000" y2="60811"/>
                        <a14:foregroundMark x1="56000" y1="60811" x2="30800" y2="62838"/>
                        <a14:foregroundMark x1="30800" y1="62838" x2="25400" y2="60473"/>
                        <a14:foregroundMark x1="25600" y1="53378" x2="15200" y2="72297"/>
                        <a14:foregroundMark x1="60000" y1="82095" x2="75800" y2="43243"/>
                        <a14:foregroundMark x1="75800" y1="43243" x2="75800" y2="40878"/>
                        <a14:foregroundMark x1="59000" y1="86149" x2="29800" y2="77365"/>
                        <a14:foregroundMark x1="29800" y1="77365" x2="27600" y2="73986"/>
                        <a14:foregroundMark x1="12200" y1="71284" x2="22800" y2="57770"/>
                        <a14:foregroundMark x1="10800" y1="70608" x2="22200" y2="53041"/>
                        <a14:foregroundMark x1="13600" y1="70946" x2="8400" y2="71284"/>
                        <a14:foregroundMark x1="9400" y1="70608" x2="17000" y2="61824"/>
                        <a14:foregroundMark x1="5800" y1="71959" x2="21200" y2="53378"/>
                        <a14:foregroundMark x1="21200" y1="53378" x2="23400" y2="47635"/>
                        <a14:foregroundMark x1="23800" y1="18581" x2="18000" y2="35473"/>
                        <a14:foregroundMark x1="18000" y1="35473" x2="17800" y2="38514"/>
                        <a14:foregroundMark x1="39000" y1="26014" x2="75400" y2="32770"/>
                        <a14:foregroundMark x1="88600" y1="22635" x2="88400" y2="39189"/>
                        <a14:foregroundMark x1="22800" y1="16892" x2="25000" y2="145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2645" y="3679424"/>
            <a:ext cx="47625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7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1265C1-714F-A02D-382B-C2E65712B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982" y="2080132"/>
            <a:ext cx="5703741" cy="3253124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bg-BG" dirty="0"/>
              <a:t>Според производителността си</a:t>
            </a:r>
          </a:p>
          <a:p>
            <a:pPr marL="0" indent="0" algn="just">
              <a:buNone/>
            </a:pPr>
            <a:r>
              <a:rPr lang="ru-RU" dirty="0"/>
              <a:t>- До 20 м2 в денонощие (начално ниво)</a:t>
            </a:r>
          </a:p>
          <a:p>
            <a:pPr marL="0" indent="0" algn="just">
              <a:buNone/>
            </a:pPr>
            <a:r>
              <a:rPr lang="ru-RU" dirty="0"/>
              <a:t>- От 20 м2 до 50 м2 в денонощие (средно ниво)</a:t>
            </a:r>
          </a:p>
          <a:p>
            <a:pPr marL="0" indent="0" algn="just">
              <a:buNone/>
            </a:pPr>
            <a:r>
              <a:rPr lang="ru-RU" dirty="0"/>
              <a:t>- Повече от 50 м2 в денонощие (високо ниво)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B4D5388-CB4C-902E-15C5-FB3857F12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99014" y="411307"/>
            <a:ext cx="3425000" cy="27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1F8AF8E-753C-48C5-0359-7D34DC286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659" y="3035897"/>
            <a:ext cx="4876018" cy="282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93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0B9012-B512-554E-4918-B5F095C7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Планшетни плотери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82ED66-F9D9-8A6F-67F6-1C8F5ABEB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019" y="2300175"/>
            <a:ext cx="5026981" cy="4024424"/>
          </a:xfrm>
        </p:spPr>
        <p:txBody>
          <a:bodyPr/>
          <a:lstStyle/>
          <a:p>
            <a:pPr algn="just"/>
            <a:r>
              <a:rPr lang="ru-RU" dirty="0"/>
              <a:t>Носителят е неподвижно закрепен на плоска маса. Закрепването може да е електростатично, вакуумно или механично. Главата се управлява по две координати. Размерът на носителя е ограничен от размера на планшета.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5128994-8314-FA3B-7B0F-AF9E08FB9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967" y="1915557"/>
            <a:ext cx="3830371" cy="30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94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FF030A-1616-7D6F-027B-CA50EC293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011" y="355846"/>
            <a:ext cx="10866268" cy="1801427"/>
          </a:xfrm>
        </p:spPr>
        <p:txBody>
          <a:bodyPr>
            <a:normAutofit/>
          </a:bodyPr>
          <a:lstStyle/>
          <a:p>
            <a:r>
              <a:rPr lang="bg-BG" sz="3600" dirty="0"/>
              <a:t>Плотери с придвижван носител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35231B-73D0-DD3C-810A-8CDE505C3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011" y="1779459"/>
            <a:ext cx="7261934" cy="45503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Съществуват три разновидности:</a:t>
            </a:r>
          </a:p>
          <a:p>
            <a:pPr algn="just"/>
            <a:r>
              <a:rPr lang="ru-RU" dirty="0"/>
              <a:t> барабанни плотери – носителят с фиксиран размер е закрепен на въртящ се барабан;</a:t>
            </a:r>
          </a:p>
          <a:p>
            <a:pPr algn="just"/>
            <a:r>
              <a:rPr lang="ru-RU" dirty="0"/>
              <a:t> фрикционни плотери – носителят се премества чрез фрикционни ролки. Тези плотери (при равни размери на чертежа) са с по-малки габарити от барабанните. Разновидност е плотерът с т.н. абразивна глава, в която валците на хартиеното задвижване са стоманени със специално оребряване;</a:t>
            </a:r>
          </a:p>
          <a:p>
            <a:pPr algn="just"/>
            <a:r>
              <a:rPr lang="ru-RU" dirty="0"/>
              <a:t>рулонни плотери - подобни на фрикционните, но използват специален носител сперфорация по края.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94F3B1F-F182-3FD8-744B-B1B1A24C7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0956" y1="35662" x2="85662" y2="30147"/>
                        <a14:foregroundMark x1="72059" y1="38603" x2="37132" y2="37132"/>
                        <a14:foregroundMark x1="45221" y1="38971" x2="34559" y2="3897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0203" y="1626010"/>
            <a:ext cx="3925576" cy="392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21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08948F-EC73-C5FA-9EEB-4658FE42F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145" y="1787612"/>
            <a:ext cx="4662996" cy="4024424"/>
          </a:xfrm>
        </p:spPr>
        <p:txBody>
          <a:bodyPr/>
          <a:lstStyle/>
          <a:p>
            <a:pPr algn="just"/>
            <a:r>
              <a:rPr lang="ru-RU" dirty="0"/>
              <a:t>Електрозадвижващата система на плотера с произволно сканиране използва или стъпкови двигатели, завъртащи се на фиксиран ъгъл на всеки управляващ импулс, или позиционираща система с обратна връзка, изпълнителни двигатели и сензори за положението на писеца.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BEE1EC1-EF9C-5020-F0D6-69E89FDB5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967" y="1787612"/>
            <a:ext cx="4180535" cy="313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568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3E3D72-970E-06C1-2C50-5E2E56DD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Фотоплотери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BBDC20-FDF4-0976-324C-02B03B677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373448"/>
            <a:ext cx="4569509" cy="3951151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Използват се в много точни чертожни задачи, трасировка на печатни платки. Предимствата им са по-ниска цена и по-висока скорост от пишещите. Недостатък е необходимостта от специално затъмнено помещение.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BA7B470-4526-AED9-5D7E-00D9AF129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054" y="2258735"/>
            <a:ext cx="3198995" cy="248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03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0FED6D-8C4D-24C0-AB90-A2994822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17503"/>
            <a:ext cx="9906000" cy="1382156"/>
          </a:xfrm>
        </p:spPr>
        <p:txBody>
          <a:bodyPr>
            <a:normAutofit/>
          </a:bodyPr>
          <a:lstStyle/>
          <a:p>
            <a:r>
              <a:rPr lang="bg-BG" sz="3600" dirty="0"/>
              <a:t>Електростатични плотери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ADA2F6-BD33-3666-0893-9F226B35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830" y="1417723"/>
            <a:ext cx="7423951" cy="4595432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Електростатичните плотери работят на безударен електрографичен растерен принцип. Специална диелектрична хартия се придвижва под електростатична глава, съдържаща иглички с плътност 40-100бр./см. Към игличките се прилага отрицателно напрежение. В областите на съприкосновение със игличките диелектрическата хартия се зарежда – възниква скрито изображение. Хартията преминава през бокс, в който над нея се разсипва положително зареден тонер. Само заредените области със скритите изображения задържат частици тонер. В цветните системи този процес се повтаря за всеки от основните цветове.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FA7ED51-0255-717E-FCFA-02FE38DAF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680" y="2224838"/>
            <a:ext cx="3426249" cy="298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08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3C0B6E-50F0-6F40-46E9-5C5E4B19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07246"/>
            <a:ext cx="9906000" cy="1382156"/>
          </a:xfrm>
        </p:spPr>
        <p:txBody>
          <a:bodyPr>
            <a:normAutofit/>
          </a:bodyPr>
          <a:lstStyle/>
          <a:p>
            <a:r>
              <a:rPr lang="bg-BG" sz="3600" dirty="0"/>
              <a:t>Писалкови плотери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5A757D-6F03-B7E2-4580-01AA9523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6" y="1518081"/>
            <a:ext cx="6814725" cy="4776186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Писалковите плотери са електромеханически устройства от векторен тип и създават изображение с помощта на пишещи елементи, обобщено наречени писалки. Перото на пишещия елемент (писалката) е закрепено в държател на пишещия възел, който има една или две степени на свободно преместване. Съществуват два типа ПП: барабанни и планшетни. В ПП от първия тип перото се премества по дължината на едната от координатните оси, а хартията – по дължината на другата, понеже е захваната от транспортния валяк. В ПП от втория тип хартията е неподвижна, докато перото може да се премества по цялата плоскост на изображението.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32B5336-B1B6-7A62-0419-49DA3510B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132" y="1789402"/>
            <a:ext cx="4142792" cy="327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46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318B2-74CE-FC1D-9EE1-B58CCC594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Струйни плотери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3BE18F-B691-99CB-4C5B-C040DCEFA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180" y="1750579"/>
            <a:ext cx="6447407" cy="4574020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При тях поради по-голямата плътност на точките в извежданото изображение води до по-високото качество на същото. Струйния печат – това е процес на  получаване на изображение, при което елементите му се създават от капки мастило, излитащи от супло (дюза) със скорост достатъчна да се преодолее съпротивлението между суплото и повърхността където се формира изображението. Струйния принцип на печат е известен доста отдавна, но получават бурно развитие при откриване и развитие на мехурчестата технология на печат (bubble-jet). Първия  и основен неин патент принадлежи на Canon.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435C24C-AF96-A271-2614-ED1F4AB00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6700" r="95300">
                        <a14:foregroundMark x1="8600" y1="25846" x2="8700" y2="32308"/>
                        <a14:foregroundMark x1="7700" y1="23385" x2="6700" y2="36154"/>
                        <a14:foregroundMark x1="92300" y1="24308" x2="95300" y2="33077"/>
                        <a14:foregroundMark x1="19600" y1="28308" x2="56500" y2="26769"/>
                        <a14:foregroundMark x1="55800" y1="30769" x2="19600" y2="28769"/>
                        <a14:foregroundMark x1="51400" y1="28769" x2="57800" y2="27692"/>
                        <a14:foregroundMark x1="41800" y1="28615" x2="54900" y2="2876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24927" y="1915557"/>
            <a:ext cx="3854893" cy="3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79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396732-A7D1-3766-897F-DA6BF361F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Лазерни плотери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267890-7931-7B06-B5F7-67ABD059E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336" y="1695636"/>
            <a:ext cx="6667130" cy="4563122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Лазерните плотери поразяват със своите  качества, безшумност, бързодействие и удобство при работа. Лазерните плотери се базират на електрографическата технология, в основата на която лежат физическите процеси  на вътрешния фотоефект в светочувствителните полупроводникови слоеве на селеносъдържащите материали и силовото действие на електростатическото поле. Селенът на тъмно може да бъде зареден с потенциал от порядъка на стотици волта. Светлинен лъч снема този заряд, създавайки скрито електростатическо изображение, което се визуализира чрез намагнитен тонер.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31868D1-3EA3-83D5-92C2-53877B79A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71" l="2441" r="95947">
                        <a14:foregroundMark x1="9863" y1="24963" x2="7324" y2="65007"/>
                        <a14:foregroundMark x1="7324" y1="65007" x2="7422" y2="65959"/>
                        <a14:foregroundMark x1="5615" y1="69107" x2="2539" y2="42753"/>
                        <a14:foregroundMark x1="88623" y1="26867" x2="92383" y2="63470"/>
                        <a14:foregroundMark x1="94336" y1="70571" x2="95947" y2="4106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8466" y="2231496"/>
            <a:ext cx="4257583" cy="283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37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1C5B13-D0F5-884C-8E56-DCBCDBE4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427" y="824022"/>
            <a:ext cx="1642369" cy="1624614"/>
          </a:xfrm>
        </p:spPr>
        <p:txBody>
          <a:bodyPr>
            <a:normAutofit/>
          </a:bodyPr>
          <a:lstStyle/>
          <a:p>
            <a:r>
              <a:rPr lang="en-US" sz="3600" dirty="0"/>
              <a:t>PPVI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F228B5-0F0D-6580-B325-7C455E47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09554"/>
            <a:ext cx="5968014" cy="4024424"/>
          </a:xfrm>
        </p:spPr>
        <p:txBody>
          <a:bodyPr/>
          <a:lstStyle/>
          <a:p>
            <a:pPr algn="just"/>
            <a:r>
              <a:rPr lang="ru-RU" dirty="0"/>
              <a:t>Тази позиция в класификацията на плотерите е много проста: плотер с директно извеждане на изображение. Картината се оформя върху термохартия, импрегнирана със специална смес. Когато такава хартия преминава през специален контур, на определени места цветът й се променя. Този ефект ви позволява да постигнете външния вид на изображението.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C50052D-5E3A-5344-E768-4CDE47727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452" y="2089084"/>
            <a:ext cx="3494548" cy="29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07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75CB90-3DC7-4E1C-958D-ADB8A935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3600" dirty="0"/>
              <a:t>Термоплотери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F236ED-E813-69F1-84CE-E8740D896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526" y="2009555"/>
            <a:ext cx="6074546" cy="4240326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Те работят доста подобно на описаните току-що системи за директен печат. Но има и съществена разлика</a:t>
            </a:r>
            <a:r>
              <a:rPr lang="en-US" dirty="0"/>
              <a:t>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ru-RU" dirty="0"/>
              <a:t>процесът на преминаване на термохартия през "гребена". В термоплотера между „гребена“ и носача е разположен допълнителен цветен „донор“. За да оформите цветна картина, трябва да стартирате отпечатъка определен брой пъти. След такава обработка изображението е идеално устойчиво на вода и ултравиолетова светлина.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9B9878B-1D25-1927-6C76-4A1EA0DCD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534" y="2665982"/>
            <a:ext cx="4050846" cy="208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85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DBE09F-58F8-9E31-7BD2-F9B878AB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202" y="306248"/>
            <a:ext cx="10928411" cy="1810304"/>
          </a:xfrm>
        </p:spPr>
        <p:txBody>
          <a:bodyPr>
            <a:normAutofit/>
          </a:bodyPr>
          <a:lstStyle/>
          <a:p>
            <a:r>
              <a:rPr lang="ru-RU" sz="3600" dirty="0"/>
              <a:t>Плотери с директен изход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ru-RU" sz="3600" dirty="0"/>
              <a:t> на изображението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4A6679-5050-8523-C5C1-676C042AD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995" y="1923646"/>
            <a:ext cx="6099699" cy="4024424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Технологията  ПДИ е  била създадена още в края на 50-те год. и се основава на използване на термохартия, която е пропита с топлочувствително вещество. Такава специална хартия струва много скъпо, чувствителна е към температурата на околната среда и не осигурява висока контрастност на изображението, поради което чак след дълъг път на доусъвършенствуване и доработки, едва в средата на 80-те  са се появили качествени устройства за масово потребление.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D833935-4F38-091E-6DFA-3056A8105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744" y="2371680"/>
            <a:ext cx="4087974" cy="259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28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A4EE07-2F99-856A-AAEF-7749DB5E8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49315"/>
            <a:ext cx="10617693" cy="1836938"/>
          </a:xfrm>
        </p:spPr>
        <p:txBody>
          <a:bodyPr>
            <a:normAutofit/>
          </a:bodyPr>
          <a:lstStyle/>
          <a:p>
            <a:r>
              <a:rPr lang="ru-RU" sz="3600" dirty="0"/>
              <a:t>Плотери на основата на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ru-RU" sz="3600" dirty="0"/>
              <a:t>термопредаването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F55302-C305-BF7C-27F4-CAD566ABF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57" y="1903641"/>
            <a:ext cx="6252099" cy="4151549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Както и плотерите ПДИ, така и тези плотери използват термична технология. За разлика от плотерите ПДИ, тук между термонагревателите и хартията се разполага донорен  цветоносител – тънка (с дебелина 5-10 мкм) лента,  обърната към хартията с оцветения слой, направена на восъчна основа, особеностите на която се явява ниската (под 100С) температура на топене. сновно тези плотери се използват от рекламни агенции за създаване на плакати и транспаранти.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A3CC15A-FC2C-50A8-699D-9E54E1DA3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350" y="2503040"/>
            <a:ext cx="52387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61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89BF5F-ACD8-293C-A70A-96A69228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3600" dirty="0"/>
              <a:t>Тест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D9A61E-ECA2-757D-7A49-86B99FC1E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bg-BG" dirty="0">
                <a:hlinkClick r:id="rId2" action="ppaction://hlinksldjump"/>
              </a:rPr>
              <a:t>Какво е плотер?</a:t>
            </a:r>
            <a:endParaRPr lang="bg-BG" dirty="0"/>
          </a:p>
          <a:p>
            <a:pPr marL="457200" indent="-457200">
              <a:buFont typeface="+mj-lt"/>
              <a:buAutoNum type="arabicPeriod"/>
            </a:pPr>
            <a:r>
              <a:rPr lang="bg-BG" dirty="0">
                <a:hlinkClick r:id="rId3" action="ppaction://hlinksldjump"/>
              </a:rPr>
              <a:t>Какви са плотерите според областта на използване?</a:t>
            </a:r>
            <a:endParaRPr lang="bg-BG" dirty="0"/>
          </a:p>
          <a:p>
            <a:pPr marL="457200" indent="-457200">
              <a:buFont typeface="+mj-lt"/>
              <a:buAutoNum type="arabicPeriod"/>
            </a:pPr>
            <a:r>
              <a:rPr lang="bg-BG" dirty="0">
                <a:hlinkClick r:id="rId4" action="ppaction://hlinksldjump"/>
              </a:rPr>
              <a:t>Кога е произведен първият плотер?</a:t>
            </a:r>
            <a:endParaRPr lang="bg-BG" dirty="0"/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hlinkClick r:id="rId5" action="ppaction://hlinksldjump"/>
              </a:rPr>
              <a:t>Електростатичните или лазерните плотери са по-бързи?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hlinkClick r:id="rId6" action="ppaction://hlinksldjump"/>
              </a:rPr>
              <a:t>Върху какви материали може да печата плотерът?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378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C364BF-AC20-FDE6-F9FE-1D175F899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източници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879690-DB05-53CA-4DAC-516363C7C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hlinkClick r:id="rId3"/>
              </a:rPr>
              <a:t>https://desigusxpro.com/bg/orgtehnika/vidy-plotterov.html</a:t>
            </a:r>
            <a:endParaRPr lang="bg-BG" dirty="0"/>
          </a:p>
          <a:p>
            <a:pPr algn="just"/>
            <a:r>
              <a:rPr lang="en-US" dirty="0">
                <a:hlinkClick r:id="rId4"/>
              </a:rPr>
              <a:t>https://www.iit.net-bg.info/Uroc/Plotter.htm</a:t>
            </a:r>
            <a:endParaRPr lang="bg-BG" dirty="0"/>
          </a:p>
          <a:p>
            <a:pPr algn="just"/>
            <a:r>
              <a:rPr lang="en-US" dirty="0">
                <a:hlinkClick r:id="rId5"/>
              </a:rPr>
              <a:t>http://www.daskalo.com/nezabravka/files/2013/10/</a:t>
            </a:r>
            <a:r>
              <a:rPr lang="bg-BG" dirty="0">
                <a:hlinkClick r:id="rId5"/>
              </a:rPr>
              <a:t>ПЛОТЕРИ2.</a:t>
            </a:r>
            <a:r>
              <a:rPr lang="en-US" dirty="0">
                <a:hlinkClick r:id="rId5"/>
              </a:rPr>
              <a:t>pdf</a:t>
            </a:r>
            <a:endParaRPr lang="bg-BG" dirty="0"/>
          </a:p>
          <a:p>
            <a:pPr algn="just"/>
            <a:r>
              <a:rPr lang="en-US" dirty="0"/>
              <a:t>Google </a:t>
            </a:r>
            <a:r>
              <a:rPr lang="bg-BG" dirty="0"/>
              <a:t>изображения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A0064EF-1318-3E65-0DED-FD590F1E3EAC}"/>
              </a:ext>
            </a:extLst>
          </p:cNvPr>
          <p:cNvSpPr txBox="1"/>
          <p:nvPr/>
        </p:nvSpPr>
        <p:spPr>
          <a:xfrm>
            <a:off x="9490230" y="6488668"/>
            <a:ext cx="2112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>
                <a:solidFill>
                  <a:schemeClr val="bg1">
                    <a:lumMod val="65000"/>
                  </a:schemeClr>
                </a:solidFill>
              </a:rPr>
              <a:t>Лора Мутева №18 12г</a:t>
            </a:r>
          </a:p>
        </p:txBody>
      </p:sp>
    </p:spTree>
    <p:extLst>
      <p:ext uri="{BB962C8B-B14F-4D97-AF65-F5344CB8AC3E}">
        <p14:creationId xmlns:p14="http://schemas.microsoft.com/office/powerpoint/2010/main" val="2333595308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 lines</Template>
  <TotalTime>186</TotalTime>
  <Words>1542</Words>
  <Application>Microsoft Office PowerPoint</Application>
  <PresentationFormat>Custom</PresentationFormat>
  <Paragraphs>98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AngleLinesVTI</vt:lpstr>
      <vt:lpstr>Плотери</vt:lpstr>
      <vt:lpstr>Съдържание</vt:lpstr>
      <vt:lpstr>PowerPoint Presentation</vt:lpstr>
      <vt:lpstr>Същност</vt:lpstr>
      <vt:lpstr>PowerPoint Presentation</vt:lpstr>
      <vt:lpstr>Принцип на действие</vt:lpstr>
      <vt:lpstr>Основно приложение </vt:lpstr>
      <vt:lpstr>Основни характеристики на плотерите</vt:lpstr>
      <vt:lpstr>РАнни плотери</vt:lpstr>
      <vt:lpstr>Класификация</vt:lpstr>
      <vt:lpstr>PowerPoint Presentation</vt:lpstr>
      <vt:lpstr>PowerPoint Presentation</vt:lpstr>
      <vt:lpstr>Планшетни плотери</vt:lpstr>
      <vt:lpstr>Плотери с придвижван носител</vt:lpstr>
      <vt:lpstr>PowerPoint Presentation</vt:lpstr>
      <vt:lpstr>Фотоплотери</vt:lpstr>
      <vt:lpstr>Електростатични плотери</vt:lpstr>
      <vt:lpstr>Писалкови плотери</vt:lpstr>
      <vt:lpstr>Струйни плотери</vt:lpstr>
      <vt:lpstr>Лазерни плотери</vt:lpstr>
      <vt:lpstr>PPVI </vt:lpstr>
      <vt:lpstr>Термоплотери</vt:lpstr>
      <vt:lpstr>Плотери с директен изход  на изображението </vt:lpstr>
      <vt:lpstr>Плотери на основата на  термопредаването </vt:lpstr>
      <vt:lpstr>Тест</vt:lpstr>
      <vt:lpstr>източници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Плотери</dc:title>
  <dc:creator>Лора Р. Мутева</dc:creator>
  <cp:lastModifiedBy>PC-0</cp:lastModifiedBy>
  <cp:revision>3</cp:revision>
  <dcterms:created xsi:type="dcterms:W3CDTF">2022-12-07T18:45:42Z</dcterms:created>
  <dcterms:modified xsi:type="dcterms:W3CDTF">2022-12-21T07:14:08Z</dcterms:modified>
</cp:coreProperties>
</file>