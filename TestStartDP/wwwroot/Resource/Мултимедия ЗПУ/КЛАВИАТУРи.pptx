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81" r:id="rId11"/>
    <p:sldId id="282" r:id="rId12"/>
    <p:sldId id="283" r:id="rId13"/>
    <p:sldId id="284" r:id="rId14"/>
    <p:sldId id="280" r:id="rId15"/>
    <p:sldId id="285" r:id="rId16"/>
    <p:sldId id="286" r:id="rId17"/>
    <p:sldId id="272" r:id="rId18"/>
    <p:sldId id="287" r:id="rId19"/>
    <p:sldId id="288" r:id="rId20"/>
    <p:sldId id="289" r:id="rId21"/>
    <p:sldId id="290"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BAEE82-F2FA-4907-AEEE-0D878F624EE3}" type="datetimeFigureOut">
              <a:rPr lang="en-US" smtClean="0"/>
              <a:t>11/27/2022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3F1028-4570-4191-BCFA-A23363D2CC01}" type="slidenum">
              <a:rPr lang="en-US" smtClean="0"/>
              <a:t>‹#›</a:t>
            </a:fld>
            <a:endParaRPr lang="en-US"/>
          </a:p>
        </p:txBody>
      </p:sp>
    </p:spTree>
    <p:extLst>
      <p:ext uri="{BB962C8B-B14F-4D97-AF65-F5344CB8AC3E}">
        <p14:creationId xmlns:p14="http://schemas.microsoft.com/office/powerpoint/2010/main" val="349038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3F1028-4570-4191-BCFA-A23363D2CC01}" type="slidenum">
              <a:rPr lang="en-US" smtClean="0"/>
              <a:t>4</a:t>
            </a:fld>
            <a:endParaRPr lang="en-US"/>
          </a:p>
        </p:txBody>
      </p:sp>
    </p:spTree>
    <p:extLst>
      <p:ext uri="{BB962C8B-B14F-4D97-AF65-F5344CB8AC3E}">
        <p14:creationId xmlns:p14="http://schemas.microsoft.com/office/powerpoint/2010/main" val="39008936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491" y="1828800"/>
            <a:ext cx="8231744" cy="2895600"/>
          </a:xfrm>
        </p:spPr>
        <p:txBody>
          <a:bodyPr anchor="b">
            <a:normAutofit/>
          </a:bodyPr>
          <a:lstStyle>
            <a:lvl1pPr>
              <a:lnSpc>
                <a:spcPct val="80000"/>
              </a:lnSpc>
              <a:defRPr sz="6600">
                <a:solidFill>
                  <a:schemeClr val="tx1"/>
                </a:solidFill>
              </a:defRPr>
            </a:lvl1pPr>
          </a:lstStyle>
          <a:p>
            <a:r>
              <a:rPr lang="en-US" smtClean="0"/>
              <a:t>Click to edit Master title style</a:t>
            </a:r>
            <a:endParaRPr/>
          </a:p>
        </p:txBody>
      </p:sp>
      <p:sp>
        <p:nvSpPr>
          <p:cNvPr id="3" name="Subtitle 2"/>
          <p:cNvSpPr>
            <a:spLocks noGrp="1"/>
          </p:cNvSpPr>
          <p:nvPr>
            <p:ph type="subTitle" idx="1"/>
          </p:nvPr>
        </p:nvSpPr>
        <p:spPr>
          <a:xfrm>
            <a:off x="1065490" y="4800600"/>
            <a:ext cx="8231744"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Tree>
    <p:extLst>
      <p:ext uri="{BB962C8B-B14F-4D97-AF65-F5344CB8AC3E}">
        <p14:creationId xmlns:p14="http://schemas.microsoft.com/office/powerpoint/2010/main" val="2673459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54BA94F3-803A-4A9B-870D-8AAD16D402D8}" type="datetimeFigureOut">
              <a:rPr lang="en-US" smtClean="0"/>
              <a:t>11/27/2022</a:t>
            </a:fld>
            <a:endParaRPr lang="en-US"/>
          </a:p>
        </p:txBody>
      </p:sp>
      <p:sp>
        <p:nvSpPr>
          <p:cNvPr id="6" name="Slide Number Placeholder 5"/>
          <p:cNvSpPr>
            <a:spLocks noGrp="1"/>
          </p:cNvSpPr>
          <p:nvPr>
            <p:ph type="sldNum" sz="quarter" idx="12"/>
          </p:nvPr>
        </p:nvSpPr>
        <p:spPr/>
        <p:txBody>
          <a:bodyPr/>
          <a:lstStyle/>
          <a:p>
            <a:fld id="{4EA30073-31CC-4367-92D0-55714C5AAB97}" type="slidenum">
              <a:rPr lang="en-US" smtClean="0"/>
              <a:t>‹#›</a:t>
            </a:fld>
            <a:endParaRPr lang="en-US"/>
          </a:p>
        </p:txBody>
      </p:sp>
    </p:spTree>
    <p:extLst>
      <p:ext uri="{BB962C8B-B14F-4D97-AF65-F5344CB8AC3E}">
        <p14:creationId xmlns:p14="http://schemas.microsoft.com/office/powerpoint/2010/main" val="2593206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891" y="2514600"/>
            <a:ext cx="8694663" cy="2819400"/>
          </a:xfrm>
        </p:spPr>
        <p:txBody>
          <a:bodyPr anchor="b">
            <a:normAutofit/>
          </a:bodyPr>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1065491" y="5410201"/>
            <a:ext cx="8689596"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54BA94F3-803A-4A9B-870D-8AAD16D402D8}" type="datetimeFigureOut">
              <a:rPr lang="en-US" smtClean="0"/>
              <a:t>11/27/2022</a:t>
            </a:fld>
            <a:endParaRPr lang="en-US"/>
          </a:p>
        </p:txBody>
      </p:sp>
      <p:sp>
        <p:nvSpPr>
          <p:cNvPr id="6" name="Slide Number Placeholder 5"/>
          <p:cNvSpPr>
            <a:spLocks noGrp="1"/>
          </p:cNvSpPr>
          <p:nvPr>
            <p:ph type="sldNum" sz="quarter" idx="12"/>
          </p:nvPr>
        </p:nvSpPr>
        <p:spPr/>
        <p:txBody>
          <a:bodyPr/>
          <a:lstStyle/>
          <a:p>
            <a:fld id="{4EA30073-31CC-4367-92D0-55714C5AAB97}" type="slidenum">
              <a:rPr lang="en-US" smtClean="0"/>
              <a:t>‹#›</a:t>
            </a:fld>
            <a:endParaRPr lang="en-US"/>
          </a:p>
        </p:txBody>
      </p:sp>
    </p:spTree>
    <p:extLst>
      <p:ext uri="{BB962C8B-B14F-4D97-AF65-F5344CB8AC3E}">
        <p14:creationId xmlns:p14="http://schemas.microsoft.com/office/powerpoint/2010/main" val="2317954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505174" y="1905001"/>
            <a:ext cx="442075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30806" y="1905001"/>
            <a:ext cx="4420751"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54BA94F3-803A-4A9B-870D-8AAD16D402D8}" type="datetimeFigureOut">
              <a:rPr lang="en-US" smtClean="0"/>
              <a:t>11/27/2022</a:t>
            </a:fld>
            <a:endParaRPr lang="en-US"/>
          </a:p>
        </p:txBody>
      </p:sp>
      <p:sp>
        <p:nvSpPr>
          <p:cNvPr id="7" name="Slide Number Placeholder 6"/>
          <p:cNvSpPr>
            <a:spLocks noGrp="1"/>
          </p:cNvSpPr>
          <p:nvPr>
            <p:ph type="sldNum" sz="quarter" idx="12"/>
          </p:nvPr>
        </p:nvSpPr>
        <p:spPr/>
        <p:txBody>
          <a:bodyPr/>
          <a:lstStyle/>
          <a:p>
            <a:fld id="{4EA30073-31CC-4367-92D0-55714C5AAB97}" type="slidenum">
              <a:rPr lang="en-US" smtClean="0"/>
              <a:t>‹#›</a:t>
            </a:fld>
            <a:endParaRPr lang="en-US"/>
          </a:p>
        </p:txBody>
      </p:sp>
    </p:spTree>
    <p:extLst>
      <p:ext uri="{BB962C8B-B14F-4D97-AF65-F5344CB8AC3E}">
        <p14:creationId xmlns:p14="http://schemas.microsoft.com/office/powerpoint/2010/main" val="233330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522808" y="1905000"/>
            <a:ext cx="441770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522808" y="2743201"/>
            <a:ext cx="441770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51489" y="1905000"/>
            <a:ext cx="441770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51489" y="2743201"/>
            <a:ext cx="441770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54BA94F3-803A-4A9B-870D-8AAD16D402D8}" type="datetimeFigureOut">
              <a:rPr lang="en-US" smtClean="0"/>
              <a:t>11/27/2022</a:t>
            </a:fld>
            <a:endParaRPr lang="en-US"/>
          </a:p>
        </p:txBody>
      </p:sp>
      <p:sp>
        <p:nvSpPr>
          <p:cNvPr id="9" name="Slide Number Placeholder 8"/>
          <p:cNvSpPr>
            <a:spLocks noGrp="1"/>
          </p:cNvSpPr>
          <p:nvPr>
            <p:ph type="sldNum" sz="quarter" idx="12"/>
          </p:nvPr>
        </p:nvSpPr>
        <p:spPr/>
        <p:txBody>
          <a:bodyPr/>
          <a:lstStyle/>
          <a:p>
            <a:fld id="{4EA30073-31CC-4367-92D0-55714C5AAB97}" type="slidenum">
              <a:rPr lang="en-US" smtClean="0"/>
              <a:t>‹#›</a:t>
            </a:fld>
            <a:endParaRPr lang="en-US"/>
          </a:p>
        </p:txBody>
      </p:sp>
    </p:spTree>
    <p:extLst>
      <p:ext uri="{BB962C8B-B14F-4D97-AF65-F5344CB8AC3E}">
        <p14:creationId xmlns:p14="http://schemas.microsoft.com/office/powerpoint/2010/main" val="746220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54BA94F3-803A-4A9B-870D-8AAD16D402D8}" type="datetimeFigureOut">
              <a:rPr lang="en-US" smtClean="0"/>
              <a:t>11/27/2022</a:t>
            </a:fld>
            <a:endParaRPr lang="en-US"/>
          </a:p>
        </p:txBody>
      </p:sp>
      <p:sp>
        <p:nvSpPr>
          <p:cNvPr id="5" name="Slide Number Placeholder 4"/>
          <p:cNvSpPr>
            <a:spLocks noGrp="1"/>
          </p:cNvSpPr>
          <p:nvPr>
            <p:ph type="sldNum" sz="quarter" idx="12"/>
          </p:nvPr>
        </p:nvSpPr>
        <p:spPr/>
        <p:txBody>
          <a:bodyPr/>
          <a:lstStyle/>
          <a:p>
            <a:fld id="{4EA30073-31CC-4367-92D0-55714C5AAB97}" type="slidenum">
              <a:rPr lang="en-US" smtClean="0"/>
              <a:t>‹#›</a:t>
            </a:fld>
            <a:endParaRPr lang="en-US"/>
          </a:p>
        </p:txBody>
      </p:sp>
    </p:spTree>
    <p:extLst>
      <p:ext uri="{BB962C8B-B14F-4D97-AF65-F5344CB8AC3E}">
        <p14:creationId xmlns:p14="http://schemas.microsoft.com/office/powerpoint/2010/main" val="1643392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54BA94F3-803A-4A9B-870D-8AAD16D402D8}" type="datetimeFigureOut">
              <a:rPr lang="en-US" smtClean="0"/>
              <a:t>11/27/2022</a:t>
            </a:fld>
            <a:endParaRPr lang="en-US"/>
          </a:p>
        </p:txBody>
      </p:sp>
      <p:sp>
        <p:nvSpPr>
          <p:cNvPr id="4" name="Slide Number Placeholder 3"/>
          <p:cNvSpPr>
            <a:spLocks noGrp="1"/>
          </p:cNvSpPr>
          <p:nvPr>
            <p:ph type="sldNum" sz="quarter" idx="12"/>
          </p:nvPr>
        </p:nvSpPr>
        <p:spPr/>
        <p:txBody>
          <a:bodyPr/>
          <a:lstStyle/>
          <a:p>
            <a:fld id="{4EA30073-31CC-4367-92D0-55714C5AAB97}" type="slidenum">
              <a:rPr lang="en-US" smtClean="0"/>
              <a:t>‹#›</a:t>
            </a:fld>
            <a:endParaRPr lang="en-US"/>
          </a:p>
        </p:txBody>
      </p:sp>
    </p:spTree>
    <p:extLst>
      <p:ext uri="{BB962C8B-B14F-4D97-AF65-F5344CB8AC3E}">
        <p14:creationId xmlns:p14="http://schemas.microsoft.com/office/powerpoint/2010/main" val="4054090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879" y="1905000"/>
            <a:ext cx="3597544" cy="2667000"/>
          </a:xfrm>
        </p:spPr>
        <p:txBody>
          <a:bodyPr anchor="b">
            <a:noAutofit/>
          </a:bodyPr>
          <a:lstStyle>
            <a:lvl1pPr algn="l">
              <a:lnSpc>
                <a:spcPct val="90000"/>
              </a:lnSpc>
              <a:defRPr sz="3600" b="0" baseline="0">
                <a:solidFill>
                  <a:schemeClr val="tx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1065491" y="4648200"/>
            <a:ext cx="3582332"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Content Placeholder 2"/>
          <p:cNvSpPr>
            <a:spLocks noGrp="1"/>
          </p:cNvSpPr>
          <p:nvPr>
            <p:ph idx="1"/>
          </p:nvPr>
        </p:nvSpPr>
        <p:spPr>
          <a:xfrm>
            <a:off x="4952704" y="685800"/>
            <a:ext cx="6402467"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54BA94F3-803A-4A9B-870D-8AAD16D402D8}" type="datetimeFigureOut">
              <a:rPr lang="en-US" smtClean="0"/>
              <a:t>11/27/2022</a:t>
            </a:fld>
            <a:endParaRPr lang="en-US"/>
          </a:p>
        </p:txBody>
      </p:sp>
      <p:sp>
        <p:nvSpPr>
          <p:cNvPr id="7" name="Slide Number Placeholder 6"/>
          <p:cNvSpPr>
            <a:spLocks noGrp="1"/>
          </p:cNvSpPr>
          <p:nvPr>
            <p:ph type="sldNum" sz="quarter" idx="12"/>
          </p:nvPr>
        </p:nvSpPr>
        <p:spPr/>
        <p:txBody>
          <a:bodyPr/>
          <a:lstStyle/>
          <a:p>
            <a:fld id="{4EA30073-31CC-4367-92D0-55714C5AAB97}" type="slidenum">
              <a:rPr lang="en-US" smtClean="0"/>
              <a:t>‹#›</a:t>
            </a:fld>
            <a:endParaRPr lang="en-US"/>
          </a:p>
        </p:txBody>
      </p:sp>
    </p:spTree>
    <p:extLst>
      <p:ext uri="{BB962C8B-B14F-4D97-AF65-F5344CB8AC3E}">
        <p14:creationId xmlns:p14="http://schemas.microsoft.com/office/powerpoint/2010/main" val="1257074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879" y="1905000"/>
            <a:ext cx="3597544" cy="2667000"/>
          </a:xfrm>
        </p:spPr>
        <p:txBody>
          <a:bodyPr anchor="b">
            <a:normAutofit/>
          </a:bodyPr>
          <a:lstStyle>
            <a:lvl1pPr algn="l">
              <a:lnSpc>
                <a:spcPct val="90000"/>
              </a:lnSpc>
              <a:defRPr sz="3600" b="0" i="0" baseline="0">
                <a:solidFill>
                  <a:schemeClr val="tx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1065491" y="4648200"/>
            <a:ext cx="3582332"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952704" y="685800"/>
            <a:ext cx="6402466"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54BA94F3-803A-4A9B-870D-8AAD16D402D8}" type="datetimeFigureOut">
              <a:rPr lang="en-US" smtClean="0"/>
              <a:t>11/27/2022</a:t>
            </a:fld>
            <a:endParaRPr lang="en-US"/>
          </a:p>
        </p:txBody>
      </p:sp>
      <p:sp>
        <p:nvSpPr>
          <p:cNvPr id="7" name="Slide Number Placeholder 6"/>
          <p:cNvSpPr>
            <a:spLocks noGrp="1"/>
          </p:cNvSpPr>
          <p:nvPr>
            <p:ph type="sldNum" sz="quarter" idx="12"/>
          </p:nvPr>
        </p:nvSpPr>
        <p:spPr/>
        <p:txBody>
          <a:bodyPr/>
          <a:lstStyle/>
          <a:p>
            <a:fld id="{4EA30073-31CC-4367-92D0-55714C5AAB97}" type="slidenum">
              <a:rPr lang="en-US" smtClean="0"/>
              <a:t>‹#›</a:t>
            </a:fld>
            <a:endParaRPr lang="en-US"/>
          </a:p>
        </p:txBody>
      </p:sp>
    </p:spTree>
    <p:extLst>
      <p:ext uri="{BB962C8B-B14F-4D97-AF65-F5344CB8AC3E}">
        <p14:creationId xmlns:p14="http://schemas.microsoft.com/office/powerpoint/2010/main" val="647459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54BA94F3-803A-4A9B-870D-8AAD16D402D8}" type="datetimeFigureOut">
              <a:rPr lang="en-US" smtClean="0"/>
              <a:t>11/27/2022</a:t>
            </a:fld>
            <a:endParaRPr lang="en-US"/>
          </a:p>
        </p:txBody>
      </p:sp>
      <p:sp>
        <p:nvSpPr>
          <p:cNvPr id="6" name="Slide Number Placeholder 5"/>
          <p:cNvSpPr>
            <a:spLocks noGrp="1"/>
          </p:cNvSpPr>
          <p:nvPr>
            <p:ph type="sldNum" sz="quarter" idx="12"/>
          </p:nvPr>
        </p:nvSpPr>
        <p:spPr/>
        <p:txBody>
          <a:bodyPr/>
          <a:lstStyle/>
          <a:p>
            <a:fld id="{4EA30073-31CC-4367-92D0-55714C5AAB97}" type="slidenum">
              <a:rPr lang="en-US" smtClean="0"/>
              <a:t>‹#›</a:t>
            </a:fld>
            <a:endParaRPr lang="en-US"/>
          </a:p>
        </p:txBody>
      </p:sp>
    </p:spTree>
    <p:extLst>
      <p:ext uri="{BB962C8B-B14F-4D97-AF65-F5344CB8AC3E}">
        <p14:creationId xmlns:p14="http://schemas.microsoft.com/office/powerpoint/2010/main" val="564786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794" y="381001"/>
            <a:ext cx="1524398" cy="56388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522809" y="381001"/>
            <a:ext cx="7393324"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54BA94F3-803A-4A9B-870D-8AAD16D402D8}" type="datetimeFigureOut">
              <a:rPr lang="en-US" smtClean="0"/>
              <a:t>11/27/2022</a:t>
            </a:fld>
            <a:endParaRPr lang="en-US"/>
          </a:p>
        </p:txBody>
      </p:sp>
      <p:sp>
        <p:nvSpPr>
          <p:cNvPr id="6" name="Slide Number Placeholder 5"/>
          <p:cNvSpPr>
            <a:spLocks noGrp="1"/>
          </p:cNvSpPr>
          <p:nvPr>
            <p:ph type="sldNum" sz="quarter" idx="12"/>
          </p:nvPr>
        </p:nvSpPr>
        <p:spPr/>
        <p:txBody>
          <a:bodyPr/>
          <a:lstStyle/>
          <a:p>
            <a:fld id="{4EA30073-31CC-4367-92D0-55714C5AAB97}" type="slidenum">
              <a:rPr lang="en-US" smtClean="0"/>
              <a:t>‹#›</a:t>
            </a:fld>
            <a:endParaRPr lang="en-US"/>
          </a:p>
        </p:txBody>
      </p:sp>
    </p:spTree>
    <p:extLst>
      <p:ext uri="{BB962C8B-B14F-4D97-AF65-F5344CB8AC3E}">
        <p14:creationId xmlns:p14="http://schemas.microsoft.com/office/powerpoint/2010/main" val="292175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810" y="381000"/>
            <a:ext cx="9146383" cy="1371600"/>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522810" y="1904999"/>
            <a:ext cx="9136770" cy="411480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Footer Placeholder 4"/>
          <p:cNvSpPr>
            <a:spLocks noGrp="1"/>
          </p:cNvSpPr>
          <p:nvPr>
            <p:ph type="ftr" sz="quarter" idx="3"/>
          </p:nvPr>
        </p:nvSpPr>
        <p:spPr>
          <a:xfrm>
            <a:off x="1522810" y="6400800"/>
            <a:ext cx="6554906"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a:p>
        </p:txBody>
      </p:sp>
      <p:sp>
        <p:nvSpPr>
          <p:cNvPr id="4" name="Date Placeholder 3"/>
          <p:cNvSpPr>
            <a:spLocks noGrp="1"/>
          </p:cNvSpPr>
          <p:nvPr>
            <p:ph type="dt" sz="half" idx="2"/>
          </p:nvPr>
        </p:nvSpPr>
        <p:spPr>
          <a:xfrm>
            <a:off x="8228565" y="6400800"/>
            <a:ext cx="1449767"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54BA94F3-803A-4A9B-870D-8AAD16D402D8}" type="datetimeFigureOut">
              <a:rPr lang="en-US" smtClean="0"/>
              <a:t>11/27/2022</a:t>
            </a:fld>
            <a:endParaRPr lang="en-US"/>
          </a:p>
        </p:txBody>
      </p:sp>
      <p:sp>
        <p:nvSpPr>
          <p:cNvPr id="6" name="Slide Number Placeholder 5"/>
          <p:cNvSpPr>
            <a:spLocks noGrp="1"/>
          </p:cNvSpPr>
          <p:nvPr>
            <p:ph type="sldNum" sz="quarter" idx="4"/>
          </p:nvPr>
        </p:nvSpPr>
        <p:spPr>
          <a:xfrm>
            <a:off x="9830772" y="6400800"/>
            <a:ext cx="83841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4EA30073-31CC-4367-92D0-55714C5AAB97}" type="slidenum">
              <a:rPr lang="en-US" smtClean="0"/>
              <a:t>‹#›</a:t>
            </a:fld>
            <a:endParaRPr lang="en-US"/>
          </a:p>
        </p:txBody>
      </p:sp>
    </p:spTree>
    <p:extLst>
      <p:ext uri="{BB962C8B-B14F-4D97-AF65-F5344CB8AC3E}">
        <p14:creationId xmlns:p14="http://schemas.microsoft.com/office/powerpoint/2010/main" val="139754211"/>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839">
          <p15:clr>
            <a:srgbClr val="F26B43"/>
          </p15:clr>
        </p15:guide>
        <p15:guide id="2"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9.xml"/><Relationship Id="rId4" Type="http://schemas.openxmlformats.org/officeDocument/2006/relationships/slide" Target="slide2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5.png"/><Relationship Id="rId1" Type="http://schemas.openxmlformats.org/officeDocument/2006/relationships/slideLayout" Target="../slideLayouts/slideLayout9.xml"/><Relationship Id="rId5" Type="http://schemas.openxmlformats.org/officeDocument/2006/relationships/slide" Target="slide23.xml"/><Relationship Id="rId4" Type="http://schemas.openxmlformats.org/officeDocument/2006/relationships/image" Target="../media/image16.jpeg"/></Relationships>
</file>

<file path=ppt/slides/_rels/slide20.xml.rels><?xml version="1.0" encoding="UTF-8" standalone="yes"?>
<Relationships xmlns="http://schemas.openxmlformats.org/package/2006/relationships"><Relationship Id="rId8" Type="http://schemas.openxmlformats.org/officeDocument/2006/relationships/image" Target="../media/image20.jpeg"/><Relationship Id="rId3" Type="http://schemas.microsoft.com/office/2007/relationships/hdphoto" Target="../media/hdphoto4.wdp"/><Relationship Id="rId7" Type="http://schemas.microsoft.com/office/2007/relationships/hdphoto" Target="../media/hdphoto6.wdp"/><Relationship Id="rId2" Type="http://schemas.openxmlformats.org/officeDocument/2006/relationships/image" Target="../media/image17.png"/><Relationship Id="rId1" Type="http://schemas.openxmlformats.org/officeDocument/2006/relationships/slideLayout" Target="../slideLayouts/slideLayout9.xml"/><Relationship Id="rId6" Type="http://schemas.openxmlformats.org/officeDocument/2006/relationships/image" Target="../media/image19.png"/><Relationship Id="rId5" Type="http://schemas.microsoft.com/office/2007/relationships/hdphoto" Target="../media/hdphoto5.wdp"/><Relationship Id="rId4" Type="http://schemas.openxmlformats.org/officeDocument/2006/relationships/image" Target="../media/image18.png"/><Relationship Id="rId9" Type="http://schemas.openxmlformats.org/officeDocument/2006/relationships/slide" Target="slide23.xml"/></Relationships>
</file>

<file path=ppt/slides/_rels/slide2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7.xml"/><Relationship Id="rId5" Type="http://schemas.openxmlformats.org/officeDocument/2006/relationships/slide" Target="slide9.xml"/><Relationship Id="rId4" Type="http://schemas.openxmlformats.org/officeDocument/2006/relationships/slide" Target="slide5.xml"/></Relationships>
</file>

<file path=ppt/slides/_rels/slide23.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19.xml"/><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slide" Target="slide7.xml"/><Relationship Id="rId4" Type="http://schemas.openxmlformats.org/officeDocument/2006/relationships/slide" Target="slide20.xml"/></Relationships>
</file>

<file path=ppt/slides/_rels/slide24.xml.rels><?xml version="1.0" encoding="UTF-8" standalone="yes"?>
<Relationships xmlns="http://schemas.openxmlformats.org/package/2006/relationships"><Relationship Id="rId3" Type="http://schemas.openxmlformats.org/officeDocument/2006/relationships/hyperlink" Target="https://bg.wikipedia.org/wiki/%D0%9A%D0%BE%D0%BC%D0%BF%D1%8E%D1%82%D1%8A%D1%80%D0%BD%D0%B0_%D0%BA%D0%BB%D0%B0%D0%B2%D0%B8%D0%B0%D1%82%D1%83%D1%80%D0%B0" TargetMode="External"/><Relationship Id="rId2" Type="http://schemas.openxmlformats.org/officeDocument/2006/relationships/hyperlink" Target="https://en.wikipedia.org/wiki/Input_device" TargetMode="External"/><Relationship Id="rId1" Type="http://schemas.openxmlformats.org/officeDocument/2006/relationships/slideLayout" Target="../slideLayouts/slideLayout2.xml"/><Relationship Id="rId4" Type="http://schemas.openxmlformats.org/officeDocument/2006/relationships/hyperlink" Target="https://bg.wikipedia.org/wiki/%D0%9A%D0%BB%D0%B0%D0%B2%D0%B8%D0%B0%D1%82%D1%83%D1%80%D0%BD%D0%B0_%D0%BF%D0%BE%D0%B4%D1%80%D0%B5%D0%B4%D0%B1%D0%B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bg-BG" dirty="0" smtClean="0"/>
              <a:t>КЛАВИАТУРИ</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0142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810" y="322811"/>
            <a:ext cx="9146383" cy="1371600"/>
          </a:xfrm>
        </p:spPr>
        <p:txBody>
          <a:bodyPr>
            <a:normAutofit/>
          </a:bodyPr>
          <a:lstStyle/>
          <a:p>
            <a:r>
              <a:rPr lang="bg-BG" sz="4000" dirty="0" smtClean="0"/>
              <a:t>Съдържание</a:t>
            </a:r>
            <a:endParaRPr lang="en-US" sz="4000"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bg-BG" dirty="0" smtClean="0"/>
              <a:t>  </a:t>
            </a:r>
            <a:r>
              <a:rPr lang="en-US" dirty="0" smtClean="0"/>
              <a:t>1. </a:t>
            </a:r>
            <a:r>
              <a:rPr lang="bg-BG" dirty="0"/>
              <a:t>Същност на </a:t>
            </a:r>
            <a:r>
              <a:rPr lang="bg-BG" dirty="0" smtClean="0"/>
              <a:t>клавиатурите</a:t>
            </a:r>
          </a:p>
          <a:p>
            <a:pPr>
              <a:buFont typeface="Wingdings" panose="05000000000000000000" pitchFamily="2" charset="2"/>
              <a:buChar char="ü"/>
            </a:pPr>
            <a:r>
              <a:rPr lang="bg-BG" dirty="0" smtClean="0"/>
              <a:t>  2. Типове клавиши</a:t>
            </a:r>
          </a:p>
          <a:p>
            <a:pPr>
              <a:buFont typeface="Wingdings" panose="05000000000000000000" pitchFamily="2" charset="2"/>
              <a:buChar char="ü"/>
            </a:pPr>
            <a:r>
              <a:rPr lang="bg-BG" dirty="0" smtClean="0"/>
              <a:t>  3. </a:t>
            </a:r>
            <a:r>
              <a:rPr lang="bg-BG" dirty="0"/>
              <a:t>Принцип на </a:t>
            </a:r>
            <a:r>
              <a:rPr lang="bg-BG" dirty="0" smtClean="0"/>
              <a:t>действие</a:t>
            </a:r>
          </a:p>
          <a:p>
            <a:pPr>
              <a:buFont typeface="Wingdings" panose="05000000000000000000" pitchFamily="2" charset="2"/>
              <a:buChar char="ü"/>
            </a:pPr>
            <a:r>
              <a:rPr lang="bg-BG" dirty="0" smtClean="0"/>
              <a:t>  4. </a:t>
            </a:r>
            <a:r>
              <a:rPr lang="bg-BG" dirty="0"/>
              <a:t>Режим на работа</a:t>
            </a:r>
            <a:endParaRPr lang="bg-BG" dirty="0" smtClean="0"/>
          </a:p>
          <a:p>
            <a:pPr>
              <a:buFont typeface="Wingdings" panose="05000000000000000000" pitchFamily="2" charset="2"/>
              <a:buChar char="ü"/>
            </a:pPr>
            <a:r>
              <a:rPr lang="bg-BG" dirty="0" smtClean="0"/>
              <a:t>  5. </a:t>
            </a:r>
            <a:r>
              <a:rPr lang="bg-BG" dirty="0"/>
              <a:t>Видове клавиатури според технологията</a:t>
            </a:r>
            <a:endParaRPr lang="bg-BG" dirty="0" smtClean="0"/>
          </a:p>
          <a:p>
            <a:pPr>
              <a:buFont typeface="Wingdings" panose="05000000000000000000" pitchFamily="2" charset="2"/>
              <a:buChar char="ü"/>
            </a:pPr>
            <a:r>
              <a:rPr lang="bg-BG" dirty="0" smtClean="0"/>
              <a:t>  6. Интерфейси</a:t>
            </a:r>
          </a:p>
          <a:p>
            <a:pPr>
              <a:buFont typeface="Wingdings" panose="05000000000000000000" pitchFamily="2" charset="2"/>
              <a:buChar char="ü"/>
            </a:pPr>
            <a:r>
              <a:rPr lang="bg-BG" dirty="0" smtClean="0"/>
              <a:t>  7. Тест</a:t>
            </a:r>
            <a:endParaRPr lang="en-US" dirty="0"/>
          </a:p>
        </p:txBody>
      </p:sp>
    </p:spTree>
    <p:extLst>
      <p:ext uri="{BB962C8B-B14F-4D97-AF65-F5344CB8AC3E}">
        <p14:creationId xmlns:p14="http://schemas.microsoft.com/office/powerpoint/2010/main" val="3424423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392" y="381000"/>
            <a:ext cx="9146383" cy="1371600"/>
          </a:xfrm>
        </p:spPr>
        <p:txBody>
          <a:bodyPr>
            <a:normAutofit/>
          </a:bodyPr>
          <a:lstStyle/>
          <a:p>
            <a:r>
              <a:rPr lang="bg-BG" sz="4000" dirty="0" smtClean="0"/>
              <a:t>Същност на клавиатурите </a:t>
            </a:r>
            <a:endParaRPr lang="en-US" sz="4000" dirty="0"/>
          </a:p>
        </p:txBody>
      </p:sp>
      <p:sp>
        <p:nvSpPr>
          <p:cNvPr id="3" name="Content Placeholder 2"/>
          <p:cNvSpPr>
            <a:spLocks noGrp="1"/>
          </p:cNvSpPr>
          <p:nvPr>
            <p:ph idx="1"/>
          </p:nvPr>
        </p:nvSpPr>
        <p:spPr>
          <a:xfrm>
            <a:off x="1485392" y="2028304"/>
            <a:ext cx="9136770" cy="4114801"/>
          </a:xfrm>
        </p:spPr>
        <p:txBody>
          <a:bodyPr>
            <a:normAutofit/>
          </a:bodyPr>
          <a:lstStyle/>
          <a:p>
            <a:pPr>
              <a:buFont typeface="Wingdings" panose="05000000000000000000" pitchFamily="2" charset="2"/>
              <a:buChar char="ü"/>
            </a:pPr>
            <a:r>
              <a:rPr lang="bg-BG" dirty="0" smtClean="0"/>
              <a:t>  Клавиатурата </a:t>
            </a:r>
            <a:r>
              <a:rPr lang="bg-BG" dirty="0"/>
              <a:t>е входно периферно устройство </a:t>
            </a:r>
            <a:r>
              <a:rPr lang="bg-BG" dirty="0" smtClean="0"/>
              <a:t>предназначена </a:t>
            </a:r>
            <a:r>
              <a:rPr lang="bg-BG" dirty="0"/>
              <a:t>за управление на компютъра и управление на информацията.</a:t>
            </a:r>
            <a:r>
              <a:rPr lang="en-US" dirty="0"/>
              <a:t> </a:t>
            </a:r>
            <a:r>
              <a:rPr lang="ru-RU" dirty="0"/>
              <a:t>Изградени са на матричен принцип, в редове и </a:t>
            </a:r>
            <a:r>
              <a:rPr lang="ru-RU" dirty="0" smtClean="0"/>
              <a:t>колони.</a:t>
            </a:r>
            <a:endParaRPr lang="en-US" sz="2200" dirty="0"/>
          </a:p>
        </p:txBody>
      </p:sp>
      <p:sp>
        <p:nvSpPr>
          <p:cNvPr id="5" name="Action Button: Forward or Next 4">
            <a:hlinkClick r:id="rId2" action="ppaction://hlinksldjump" highlightClick="1"/>
          </p:cNvPr>
          <p:cNvSpPr/>
          <p:nvPr/>
        </p:nvSpPr>
        <p:spPr>
          <a:xfrm>
            <a:off x="10415644" y="5943600"/>
            <a:ext cx="631767" cy="399011"/>
          </a:xfrm>
          <a:prstGeom prst="actionButtonForwardNex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6843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595" y="506411"/>
            <a:ext cx="9905999" cy="3541714"/>
          </a:xfrm>
        </p:spPr>
        <p:txBody>
          <a:bodyPr>
            <a:normAutofit/>
          </a:bodyPr>
          <a:lstStyle/>
          <a:p>
            <a:pPr>
              <a:buFont typeface="Wingdings" panose="05000000000000000000" pitchFamily="2" charset="2"/>
              <a:buChar char="ü"/>
            </a:pPr>
            <a:r>
              <a:rPr lang="ru-RU" sz="2200" dirty="0" smtClean="0"/>
              <a:t>  Физически</a:t>
            </a:r>
            <a:r>
              <a:rPr lang="ru-RU" sz="2200" dirty="0"/>
              <a:t>, компютърната клавиатура е сбор от близо разположени квадратни бутони, наречени клавиши. Обикновено на всеки клавиш е отпечатан знакът, който се въвежда, като в повечето случаи всяко натискане на клавиш въвежда отпечатания върху него символ. Съществуват и специални символи, които, за да бъдат въведени, изискват натискане на няколко клавиша едновременно или последователно; други клавиши не въвеждат символ, а служат за извършване на команди, наречени клавишни комбинации.</a:t>
            </a:r>
            <a:endParaRPr lang="en-US" sz="2200" dirty="0"/>
          </a:p>
        </p:txBody>
      </p:sp>
      <p:pic>
        <p:nvPicPr>
          <p:cNvPr id="4" name="Picture 3"/>
          <p:cNvPicPr>
            <a:picLocks noChangeAspect="1"/>
          </p:cNvPicPr>
          <p:nvPr/>
        </p:nvPicPr>
        <p:blipFill>
          <a:blip r:embed="rId3"/>
          <a:stretch>
            <a:fillRect/>
          </a:stretch>
        </p:blipFill>
        <p:spPr>
          <a:xfrm>
            <a:off x="2777630" y="3532735"/>
            <a:ext cx="6483927" cy="2058647"/>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1317700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810" y="326478"/>
            <a:ext cx="9146383" cy="1371600"/>
          </a:xfrm>
        </p:spPr>
        <p:txBody>
          <a:bodyPr>
            <a:normAutofit/>
          </a:bodyPr>
          <a:lstStyle/>
          <a:p>
            <a:r>
              <a:rPr lang="bg-BG" sz="4000" dirty="0"/>
              <a:t>Типове </a:t>
            </a:r>
            <a:r>
              <a:rPr lang="bg-BG" sz="4000" dirty="0" smtClean="0"/>
              <a:t>клавиши</a:t>
            </a:r>
            <a:endParaRPr lang="en-US" sz="4000" dirty="0"/>
          </a:p>
        </p:txBody>
      </p:sp>
      <p:sp>
        <p:nvSpPr>
          <p:cNvPr id="3" name="Content Placeholder 2"/>
          <p:cNvSpPr>
            <a:spLocks noGrp="1"/>
          </p:cNvSpPr>
          <p:nvPr>
            <p:ph idx="1"/>
          </p:nvPr>
        </p:nvSpPr>
        <p:spPr>
          <a:xfrm>
            <a:off x="1522810" y="2013961"/>
            <a:ext cx="9905999" cy="3541714"/>
          </a:xfrm>
        </p:spPr>
        <p:txBody>
          <a:bodyPr>
            <a:normAutofit/>
          </a:bodyPr>
          <a:lstStyle/>
          <a:p>
            <a:pPr>
              <a:buFont typeface="Wingdings" panose="05000000000000000000" pitchFamily="2" charset="2"/>
              <a:buChar char="ü"/>
            </a:pPr>
            <a:r>
              <a:rPr lang="ru-RU" dirty="0" smtClean="0"/>
              <a:t>  буквено-цифрови </a:t>
            </a:r>
            <a:r>
              <a:rPr lang="ru-RU" dirty="0"/>
              <a:t>или знакови клавиши за въвеждане;</a:t>
            </a:r>
          </a:p>
          <a:p>
            <a:pPr>
              <a:buFont typeface="Wingdings" panose="05000000000000000000" pitchFamily="2" charset="2"/>
              <a:buChar char="ü"/>
            </a:pPr>
            <a:r>
              <a:rPr lang="ru-RU" dirty="0" smtClean="0"/>
              <a:t>  модифициращи </a:t>
            </a:r>
            <a:r>
              <a:rPr lang="ru-RU" dirty="0"/>
              <a:t>клавиши за промяна на функциите на други клавиши (Ctrl, Shift, Alt, AltGr);</a:t>
            </a:r>
          </a:p>
          <a:p>
            <a:pPr>
              <a:buFont typeface="Wingdings" panose="05000000000000000000" pitchFamily="2" charset="2"/>
              <a:buChar char="ü"/>
            </a:pPr>
            <a:r>
              <a:rPr lang="ru-RU" dirty="0" smtClean="0"/>
              <a:t>  клавиши </a:t>
            </a:r>
            <a:r>
              <a:rPr lang="ru-RU" dirty="0"/>
              <a:t>за навигация за преместване на текстовия курсор на екрана;</a:t>
            </a:r>
          </a:p>
          <a:p>
            <a:pPr>
              <a:buFont typeface="Wingdings" panose="05000000000000000000" pitchFamily="2" charset="2"/>
              <a:buChar char="ü"/>
            </a:pPr>
            <a:r>
              <a:rPr lang="ru-RU" dirty="0" smtClean="0"/>
              <a:t>  цифрова </a:t>
            </a:r>
            <a:r>
              <a:rPr lang="ru-RU" dirty="0"/>
              <a:t>клавиатура за улесняване на работата с цифри (Numpad);</a:t>
            </a:r>
          </a:p>
          <a:p>
            <a:pPr>
              <a:buFont typeface="Wingdings" panose="05000000000000000000" pitchFamily="2" charset="2"/>
              <a:buChar char="ü"/>
            </a:pPr>
            <a:r>
              <a:rPr lang="ru-RU" dirty="0" smtClean="0"/>
              <a:t>  системни </a:t>
            </a:r>
            <a:r>
              <a:rPr lang="ru-RU" dirty="0"/>
              <a:t>командни клавиши за специални действия (Esc, Break);</a:t>
            </a:r>
          </a:p>
          <a:p>
            <a:pPr>
              <a:buFont typeface="Wingdings" panose="05000000000000000000" pitchFamily="2" charset="2"/>
              <a:buChar char="ü"/>
            </a:pPr>
            <a:r>
              <a:rPr lang="ru-RU" dirty="0" smtClean="0"/>
              <a:t>  функционални </a:t>
            </a:r>
            <a:r>
              <a:rPr lang="ru-RU" dirty="0"/>
              <a:t>клавиши.</a:t>
            </a:r>
          </a:p>
          <a:p>
            <a:endParaRPr lang="en-US" dirty="0"/>
          </a:p>
        </p:txBody>
      </p:sp>
      <p:sp>
        <p:nvSpPr>
          <p:cNvPr id="4" name="Action Button: Forward or Next 3">
            <a:hlinkClick r:id="rId2" action="ppaction://hlinksldjump" highlightClick="1"/>
          </p:cNvPr>
          <p:cNvSpPr/>
          <p:nvPr/>
        </p:nvSpPr>
        <p:spPr>
          <a:xfrm>
            <a:off x="10669193" y="6096002"/>
            <a:ext cx="685992" cy="390698"/>
          </a:xfrm>
          <a:prstGeom prst="actionButtonForwardNex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5102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252749" y="4214553"/>
            <a:ext cx="5295207" cy="1147157"/>
          </a:xfrm>
          <a:prstGeom prst="roundRect">
            <a:avLst/>
          </a:prstGeom>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pic>
        <p:nvPicPr>
          <p:cNvPr id="1026" name="Picture 2" descr="Компютърна клавиатура – Уикипедия"/>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61685" y="1193772"/>
            <a:ext cx="8825740" cy="425106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299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sz="4000" dirty="0" smtClean="0"/>
              <a:t>Принцип на действие</a:t>
            </a:r>
            <a:endParaRPr lang="en-US" sz="4000" dirty="0"/>
          </a:p>
        </p:txBody>
      </p:sp>
      <p:sp>
        <p:nvSpPr>
          <p:cNvPr id="3" name="Content Placeholder 2"/>
          <p:cNvSpPr>
            <a:spLocks noGrp="1"/>
          </p:cNvSpPr>
          <p:nvPr>
            <p:ph idx="1"/>
          </p:nvPr>
        </p:nvSpPr>
        <p:spPr>
          <a:xfrm>
            <a:off x="1141413" y="1983479"/>
            <a:ext cx="9905999" cy="4134687"/>
          </a:xfrm>
        </p:spPr>
        <p:txBody>
          <a:bodyPr>
            <a:normAutofit/>
          </a:bodyPr>
          <a:lstStyle/>
          <a:p>
            <a:pPr>
              <a:buFont typeface="Wingdings" panose="05000000000000000000" pitchFamily="2" charset="2"/>
              <a:buChar char="ü"/>
            </a:pPr>
            <a:r>
              <a:rPr lang="ru-RU" dirty="0" smtClean="0"/>
              <a:t>  Съвременната </a:t>
            </a:r>
            <a:r>
              <a:rPr lang="ru-RU" dirty="0"/>
              <a:t>клавиатура включва и контролен процесор и индикаторни светлини, които информират потребителя (и централния процесор) за състоянието на клавиатурата. Технологията Plug and play означава, че при свързване с компютъра клавиатурата е незабавно готова за използване без нужда от допълнително </a:t>
            </a:r>
            <a:r>
              <a:rPr lang="ru-RU" dirty="0" smtClean="0"/>
              <a:t>конфигуриране.</a:t>
            </a:r>
          </a:p>
          <a:p>
            <a:pPr>
              <a:buFont typeface="Wingdings" panose="05000000000000000000" pitchFamily="2" charset="2"/>
              <a:buChar char="ü"/>
            </a:pPr>
            <a:r>
              <a:rPr lang="ru-RU" dirty="0" smtClean="0"/>
              <a:t>  В </a:t>
            </a:r>
            <a:r>
              <a:rPr lang="ru-RU" dirty="0"/>
              <a:t>повечето клавиатури контактите на клавишите са обединени в електронна матрична схема и се прочитат със специализирана интегрална схема – контролер. Той подава последователно потенциал на редиците клавиши и по промените в сигнала разпознава кой клавиш е натиснат.</a:t>
            </a:r>
            <a:endParaRPr lang="ru-RU" dirty="0" smtClean="0"/>
          </a:p>
          <a:p>
            <a:endParaRPr lang="en-US" dirty="0"/>
          </a:p>
        </p:txBody>
      </p:sp>
      <p:sp>
        <p:nvSpPr>
          <p:cNvPr id="7" name="Action Button: Forward or Next 6">
            <a:hlinkClick r:id="rId2" action="ppaction://hlinksldjump" highlightClick="1"/>
          </p:cNvPr>
          <p:cNvSpPr/>
          <p:nvPr/>
        </p:nvSpPr>
        <p:spPr>
          <a:xfrm>
            <a:off x="10256776" y="5885410"/>
            <a:ext cx="790635" cy="465512"/>
          </a:xfrm>
          <a:prstGeom prst="actionButtonForwardNex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818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810" y="372687"/>
            <a:ext cx="9146383" cy="1371600"/>
          </a:xfrm>
        </p:spPr>
        <p:txBody>
          <a:bodyPr>
            <a:normAutofit/>
          </a:bodyPr>
          <a:lstStyle/>
          <a:p>
            <a:r>
              <a:rPr lang="bg-BG" sz="4000" dirty="0" smtClean="0"/>
              <a:t>Режим на работа</a:t>
            </a:r>
            <a:endParaRPr lang="en-US" sz="4000"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ru-RU" sz="2200" dirty="0" smtClean="0"/>
              <a:t>  Работят </a:t>
            </a:r>
            <a:r>
              <a:rPr lang="ru-RU" sz="2200" dirty="0"/>
              <a:t>в два режима на работа, на натиснат и отпуснат клавиш. На всеки клавиш от клавиатурата е присвоен така наречения позиционен код. Този код е число от 1 до 101 и се субира в 7 бита. При всяко натискане и отпускане на клавиатурата се подава и 0 или 1 към CPU. Към седемте бита се добавя 0 при натиснат или 1 за отпуснат клавиш.​</a:t>
            </a:r>
            <a:endParaRPr lang="en-US" sz="2200" dirty="0"/>
          </a:p>
        </p:txBody>
      </p:sp>
      <p:sp>
        <p:nvSpPr>
          <p:cNvPr id="5" name="Action Button: Forward or Next 4">
            <a:hlinkClick r:id="rId2" action="ppaction://hlinksldjump" highlightClick="1"/>
          </p:cNvPr>
          <p:cNvSpPr/>
          <p:nvPr/>
        </p:nvSpPr>
        <p:spPr>
          <a:xfrm>
            <a:off x="10457208" y="6109855"/>
            <a:ext cx="723410" cy="440574"/>
          </a:xfrm>
          <a:prstGeom prst="actionButtonForwardNex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374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8617" y="379121"/>
            <a:ext cx="9948754" cy="1371600"/>
          </a:xfrm>
        </p:spPr>
        <p:txBody>
          <a:bodyPr>
            <a:normAutofit/>
          </a:bodyPr>
          <a:lstStyle/>
          <a:p>
            <a:r>
              <a:rPr lang="bg-BG" sz="4000" dirty="0"/>
              <a:t>Видове клавиатури според технологията</a:t>
            </a:r>
            <a:r>
              <a:rPr lang="bg-BG" dirty="0"/>
              <a:t/>
            </a:r>
            <a:br>
              <a:rPr lang="bg-BG" dirty="0"/>
            </a:br>
            <a:endParaRPr lang="en-US" dirty="0"/>
          </a:p>
        </p:txBody>
      </p:sp>
      <p:sp>
        <p:nvSpPr>
          <p:cNvPr id="3" name="Content Placeholder 2"/>
          <p:cNvSpPr>
            <a:spLocks noGrp="1"/>
          </p:cNvSpPr>
          <p:nvPr>
            <p:ph idx="1"/>
          </p:nvPr>
        </p:nvSpPr>
        <p:spPr>
          <a:xfrm>
            <a:off x="821372" y="1805648"/>
            <a:ext cx="9905999" cy="4242753"/>
          </a:xfrm>
        </p:spPr>
        <p:txBody>
          <a:bodyPr>
            <a:normAutofit/>
          </a:bodyPr>
          <a:lstStyle/>
          <a:p>
            <a:pPr>
              <a:buFont typeface="Wingdings" panose="05000000000000000000" pitchFamily="2" charset="2"/>
              <a:buChar char="ü"/>
            </a:pPr>
            <a:r>
              <a:rPr lang="bg-BG" sz="2200" dirty="0" smtClean="0"/>
              <a:t>  С </a:t>
            </a:r>
            <a:r>
              <a:rPr lang="bg-BG" sz="2200" dirty="0"/>
              <a:t>механично </a:t>
            </a:r>
            <a:r>
              <a:rPr lang="bg-BG" sz="2200" dirty="0" smtClean="0"/>
              <a:t>превключване</a:t>
            </a:r>
          </a:p>
          <a:p>
            <a:pPr>
              <a:buFont typeface="Wingdings" panose="05000000000000000000" pitchFamily="2" charset="2"/>
              <a:buChar char="ü"/>
            </a:pPr>
            <a:r>
              <a:rPr lang="bg-BG" sz="2200" dirty="0" smtClean="0"/>
              <a:t>  С пружиниране</a:t>
            </a:r>
          </a:p>
          <a:p>
            <a:pPr>
              <a:buFont typeface="Wingdings" panose="05000000000000000000" pitchFamily="2" charset="2"/>
              <a:buChar char="ü"/>
            </a:pPr>
            <a:r>
              <a:rPr lang="bg-BG" sz="2200" dirty="0" smtClean="0"/>
              <a:t>  Мембранна</a:t>
            </a:r>
          </a:p>
          <a:p>
            <a:pPr>
              <a:buFont typeface="Wingdings" panose="05000000000000000000" pitchFamily="2" charset="2"/>
              <a:buChar char="ü"/>
            </a:pPr>
            <a:r>
              <a:rPr lang="bg-BG" sz="2200" dirty="0" smtClean="0"/>
              <a:t>  С </a:t>
            </a:r>
            <a:r>
              <a:rPr lang="bg-BG" sz="2200" dirty="0"/>
              <a:t>куполен </a:t>
            </a:r>
            <a:r>
              <a:rPr lang="bg-BG" sz="2200" dirty="0" smtClean="0"/>
              <a:t>превключвател</a:t>
            </a:r>
          </a:p>
          <a:p>
            <a:pPr>
              <a:buFont typeface="Wingdings" panose="05000000000000000000" pitchFamily="2" charset="2"/>
              <a:buChar char="ü"/>
            </a:pPr>
            <a:r>
              <a:rPr lang="bg-BG" sz="2200" dirty="0" smtClean="0"/>
              <a:t>  С </a:t>
            </a:r>
            <a:r>
              <a:rPr lang="bg-BG" sz="2200" dirty="0"/>
              <a:t>ножичен </a:t>
            </a:r>
            <a:r>
              <a:rPr lang="bg-BG" sz="2200" dirty="0" smtClean="0"/>
              <a:t>превключвател</a:t>
            </a:r>
          </a:p>
          <a:p>
            <a:pPr>
              <a:buFont typeface="Wingdings" panose="05000000000000000000" pitchFamily="2" charset="2"/>
              <a:buChar char="ü"/>
            </a:pPr>
            <a:r>
              <a:rPr lang="bg-BG" sz="2200" dirty="0" smtClean="0"/>
              <a:t>  Капацитивна</a:t>
            </a:r>
          </a:p>
          <a:p>
            <a:pPr>
              <a:buFont typeface="Wingdings" panose="05000000000000000000" pitchFamily="2" charset="2"/>
              <a:buChar char="ü"/>
            </a:pPr>
            <a:r>
              <a:rPr lang="bg-BG" sz="2200" dirty="0" smtClean="0"/>
              <a:t>  С </a:t>
            </a:r>
            <a:r>
              <a:rPr lang="bg-BG" sz="2200" dirty="0"/>
              <a:t>ефект на Хол</a:t>
            </a:r>
            <a:endParaRPr lang="en-US" sz="2200" dirty="0"/>
          </a:p>
        </p:txBody>
      </p:sp>
      <p:sp>
        <p:nvSpPr>
          <p:cNvPr id="4" name="Action Button: Forward or Next 3">
            <a:hlinkClick r:id="rId2" action="ppaction://hlinksldjump" highlightClick="1"/>
          </p:cNvPr>
          <p:cNvSpPr/>
          <p:nvPr/>
        </p:nvSpPr>
        <p:spPr>
          <a:xfrm>
            <a:off x="10407331" y="6103328"/>
            <a:ext cx="690160" cy="422163"/>
          </a:xfrm>
          <a:prstGeom prst="actionButtonForwardNex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395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490" y="457200"/>
            <a:ext cx="8851593" cy="1030778"/>
          </a:xfrm>
        </p:spPr>
        <p:txBody>
          <a:bodyPr>
            <a:normAutofit/>
          </a:bodyPr>
          <a:lstStyle/>
          <a:p>
            <a:r>
              <a:rPr lang="bg-BG" dirty="0" smtClean="0"/>
              <a:t>С механично превключване</a:t>
            </a:r>
            <a:endParaRPr lang="en-US" dirty="0"/>
          </a:p>
        </p:txBody>
      </p:sp>
      <p:sp>
        <p:nvSpPr>
          <p:cNvPr id="3" name="Text Placeholder 2"/>
          <p:cNvSpPr>
            <a:spLocks noGrp="1"/>
          </p:cNvSpPr>
          <p:nvPr>
            <p:ph type="body" sz="half" idx="2"/>
          </p:nvPr>
        </p:nvSpPr>
        <p:spPr>
          <a:xfrm>
            <a:off x="1065490" y="1630679"/>
            <a:ext cx="4512349" cy="4711931"/>
          </a:xfrm>
        </p:spPr>
        <p:txBody>
          <a:bodyPr>
            <a:normAutofit lnSpcReduction="10000"/>
          </a:bodyPr>
          <a:lstStyle/>
          <a:p>
            <a:pPr marL="342900" indent="-342900">
              <a:buFont typeface="Wingdings" panose="05000000000000000000" pitchFamily="2" charset="2"/>
              <a:buChar char="ü"/>
            </a:pPr>
            <a:r>
              <a:rPr lang="ru-RU" sz="2200" dirty="0" smtClean="0"/>
              <a:t> Всеки </a:t>
            </a:r>
            <a:r>
              <a:rPr lang="ru-RU" sz="2200" dirty="0"/>
              <a:t>клавиш на клавиатурата </a:t>
            </a:r>
            <a:r>
              <a:rPr lang="ru-RU" sz="2200" dirty="0" smtClean="0"/>
              <a:t>с   механичен </a:t>
            </a:r>
            <a:r>
              <a:rPr lang="ru-RU" sz="2200" dirty="0"/>
              <a:t>превключвател </a:t>
            </a:r>
            <a:r>
              <a:rPr lang="ru-RU" sz="2200" dirty="0" smtClean="0"/>
              <a:t>   съдържа </a:t>
            </a:r>
            <a:r>
              <a:rPr lang="ru-RU" sz="2200" dirty="0"/>
              <a:t>отдолу пълен превключвател, състоящ се от корпус, пружина и основа, а понякога и други части, като отделно тактилно листо или лента за щракване. Превключвателите се предлагат в три варианта: „линейни“ с постоянно съпротивление, „тактилни“ с безшумен удар и „щракащи“ – с удар и звуково щракване. В зависимост от съпротивлението на пружината, клавишът изисква различен натиск, за да се задейства.</a:t>
            </a:r>
            <a:endParaRPr lang="en-US" sz="2200" dirty="0"/>
          </a:p>
          <a:p>
            <a:endParaRPr lang="en-US" dirty="0"/>
          </a:p>
        </p:txBody>
      </p:sp>
      <p:pic>
        <p:nvPicPr>
          <p:cNvPr id="5" name="Picture 2" descr="Компютърна клавиатура - Wikiwand"/>
          <p:cNvPicPr>
            <a:picLocks noGrp="1" noChangeAspect="1" noChangeArrowheads="1"/>
          </p:cNvPicPr>
          <p:nvPr>
            <p:ph type="pic" idx="1"/>
          </p:nvPr>
        </p:nvPicPr>
        <p:blipFill>
          <a:blip r:embed="rId2">
            <a:extLst>
              <a:ext uri="{BEBA8EAE-BF5A-486C-A8C5-ECC9F3942E4B}">
                <a14:imgProps xmlns:a14="http://schemas.microsoft.com/office/drawing/2010/main">
                  <a14:imgLayer r:embed="rId3">
                    <a14:imgEffect>
                      <a14:backgroundRemoval t="6061" b="94242" l="2955" r="95909">
                        <a14:foregroundMark x1="47955" y1="26970" x2="47955" y2="26970"/>
                        <a14:foregroundMark x1="77045" y1="20909" x2="77045" y2="20909"/>
                        <a14:foregroundMark x1="86136" y1="45152" x2="86136" y2="45152"/>
                        <a14:foregroundMark x1="61364" y1="62121" x2="61364" y2="62121"/>
                        <a14:foregroundMark x1="73409" y1="43939" x2="95909" y2="49091"/>
                      </a14:backgroundRemoval>
                    </a14:imgEffect>
                  </a14:imgLayer>
                </a14:imgProps>
              </a:ext>
              <a:ext uri="{28A0092B-C50C-407E-A947-70E740481C1C}">
                <a14:useLocalDpi xmlns:a14="http://schemas.microsoft.com/office/drawing/2010/main" val="0"/>
              </a:ext>
            </a:extLst>
          </a:blip>
          <a:srcRect t="1166" b="1166"/>
          <a:stretch>
            <a:fillRect/>
          </a:stretch>
        </p:blipFill>
        <p:spPr bwMode="auto">
          <a:xfrm>
            <a:off x="6708371" y="2057207"/>
            <a:ext cx="4489623" cy="32887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6" name="Action Button: Forward or Next 5">
            <a:hlinkClick r:id="rId4" action="ppaction://hlinksldjump" highlightClick="1"/>
          </p:cNvPr>
          <p:cNvSpPr/>
          <p:nvPr/>
        </p:nvSpPr>
        <p:spPr>
          <a:xfrm>
            <a:off x="10474787" y="6234545"/>
            <a:ext cx="723207" cy="382386"/>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3161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491" y="367146"/>
            <a:ext cx="4495724" cy="1046018"/>
          </a:xfrm>
        </p:spPr>
        <p:txBody>
          <a:bodyPr>
            <a:normAutofit fontScale="90000"/>
          </a:bodyPr>
          <a:lstStyle/>
          <a:p>
            <a:r>
              <a:rPr lang="bg-BG" sz="4400" dirty="0"/>
              <a:t>С пружиниране</a:t>
            </a:r>
            <a:r>
              <a:rPr lang="bg-BG" dirty="0"/>
              <a:t/>
            </a:r>
            <a:br>
              <a:rPr lang="bg-BG" dirty="0"/>
            </a:br>
            <a:endParaRPr lang="en-US" dirty="0"/>
          </a:p>
        </p:txBody>
      </p:sp>
      <p:sp>
        <p:nvSpPr>
          <p:cNvPr id="3" name="Text Placeholder 2"/>
          <p:cNvSpPr>
            <a:spLocks noGrp="1"/>
          </p:cNvSpPr>
          <p:nvPr>
            <p:ph type="body" sz="half" idx="2"/>
          </p:nvPr>
        </p:nvSpPr>
        <p:spPr>
          <a:xfrm>
            <a:off x="1065491" y="1517879"/>
            <a:ext cx="4204778" cy="4731327"/>
          </a:xfrm>
        </p:spPr>
        <p:txBody>
          <a:bodyPr>
            <a:normAutofit/>
          </a:bodyPr>
          <a:lstStyle/>
          <a:p>
            <a:pPr marL="342900" indent="-342900">
              <a:buFont typeface="Wingdings" panose="05000000000000000000" pitchFamily="2" charset="2"/>
              <a:buChar char="ü"/>
            </a:pPr>
            <a:r>
              <a:rPr lang="ru-RU" sz="2200" dirty="0" smtClean="0"/>
              <a:t> При </a:t>
            </a:r>
            <a:r>
              <a:rPr lang="ru-RU" sz="2200" dirty="0"/>
              <a:t>натискане на клавиш при тях се получава тактилна и слухова реакция поради наличието на пружиннен механизъм в горната част на превключвателя. Този механизъм управлява малък чук, който удря капацитивен или мембранен превключвател.</a:t>
            </a:r>
            <a:endParaRPr lang="en-US" sz="2200" dirty="0"/>
          </a:p>
          <a:p>
            <a:endParaRPr lang="en-US" dirty="0"/>
          </a:p>
        </p:txBody>
      </p:sp>
      <p:sp>
        <p:nvSpPr>
          <p:cNvPr id="6" name="Rounded Rectangle 5"/>
          <p:cNvSpPr/>
          <p:nvPr/>
        </p:nvSpPr>
        <p:spPr>
          <a:xfrm>
            <a:off x="6708371" y="1517879"/>
            <a:ext cx="4231178" cy="341653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Компютърна клавиатура - Wikiwa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8203" y="1585362"/>
            <a:ext cx="3098472" cy="3281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568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122" y="448888"/>
            <a:ext cx="4189452" cy="756458"/>
          </a:xfrm>
        </p:spPr>
        <p:txBody>
          <a:bodyPr>
            <a:normAutofit/>
          </a:bodyPr>
          <a:lstStyle/>
          <a:p>
            <a:r>
              <a:rPr lang="bg-BG" dirty="0"/>
              <a:t>Мембранна</a:t>
            </a:r>
            <a:endParaRPr lang="en-US" dirty="0"/>
          </a:p>
        </p:txBody>
      </p:sp>
      <p:sp>
        <p:nvSpPr>
          <p:cNvPr id="3" name="Text Placeholder 2"/>
          <p:cNvSpPr>
            <a:spLocks noGrp="1"/>
          </p:cNvSpPr>
          <p:nvPr>
            <p:ph type="body" sz="half" idx="2"/>
          </p:nvPr>
        </p:nvSpPr>
        <p:spPr>
          <a:xfrm>
            <a:off x="823122" y="1572490"/>
            <a:ext cx="4912660" cy="4936375"/>
          </a:xfrm>
        </p:spPr>
        <p:txBody>
          <a:bodyPr>
            <a:normAutofit fontScale="92500" lnSpcReduction="10000"/>
          </a:bodyPr>
          <a:lstStyle/>
          <a:p>
            <a:pPr marL="342900" indent="-342900">
              <a:buFont typeface="Wingdings" panose="05000000000000000000" pitchFamily="2" charset="2"/>
              <a:buChar char="ü"/>
            </a:pPr>
            <a:r>
              <a:rPr lang="ru-RU" sz="2400" dirty="0" smtClean="0"/>
              <a:t> Има </a:t>
            </a:r>
            <a:r>
              <a:rPr lang="ru-RU" sz="2400" dirty="0"/>
              <a:t>2 вида мембранни клавиатури: с плосък панел и с пълен ход.</a:t>
            </a:r>
          </a:p>
          <a:p>
            <a:pPr marL="342900" indent="-342900">
              <a:buFont typeface="Wingdings" panose="05000000000000000000" pitchFamily="2" charset="2"/>
              <a:buChar char="ü"/>
            </a:pPr>
            <a:r>
              <a:rPr lang="ru-RU" sz="2400" dirty="0" smtClean="0"/>
              <a:t> Общият </a:t>
            </a:r>
            <a:r>
              <a:rPr lang="ru-RU" sz="2400" dirty="0"/>
              <a:t>дизайн се състои от три слоя. Най-горният слой има етикети, отпечатани отпред и проводящи ивици, отпечатани на гърба. Под него има дистанционен слой, с който предният и задният слой са отделени един от друг, така че те нормално да не правят електрически контакт. Проводящите ивици на задния слой са отпечатани перпендикулярно на тези на предния слой. Когато се разглеждат заедно, ивиците образуват решетка. </a:t>
            </a:r>
            <a:endParaRPr lang="en-US" sz="2400" dirty="0"/>
          </a:p>
          <a:p>
            <a:endParaRPr lang="en-US" dirty="0"/>
          </a:p>
        </p:txBody>
      </p:sp>
      <p:pic>
        <p:nvPicPr>
          <p:cNvPr id="5" name="Picture Placeholder 4"/>
          <p:cNvPicPr>
            <a:picLocks noGrp="1" noChangeAspect="1"/>
          </p:cNvPicPr>
          <p:nvPr>
            <p:ph type="pic" idx="1"/>
          </p:nvPr>
        </p:nvPicPr>
        <p:blipFill>
          <a:blip r:embed="rId2"/>
          <a:srcRect l="1256" r="1256"/>
          <a:stretch>
            <a:fillRect/>
          </a:stretch>
        </p:blipFill>
        <p:spPr>
          <a:xfrm>
            <a:off x="6450677" y="1878244"/>
            <a:ext cx="5053763" cy="377783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841574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273" y="108065"/>
            <a:ext cx="8811328" cy="1587730"/>
          </a:xfrm>
        </p:spPr>
        <p:txBody>
          <a:bodyPr>
            <a:normAutofit/>
          </a:bodyPr>
          <a:lstStyle/>
          <a:p>
            <a:r>
              <a:rPr lang="bg-BG" sz="4000" dirty="0"/>
              <a:t>С куполен превключвател</a:t>
            </a:r>
            <a:br>
              <a:rPr lang="bg-BG" sz="4000" dirty="0"/>
            </a:br>
            <a:endParaRPr lang="en-US" sz="4000" dirty="0"/>
          </a:p>
        </p:txBody>
      </p:sp>
      <p:sp>
        <p:nvSpPr>
          <p:cNvPr id="3" name="Text Placeholder 2"/>
          <p:cNvSpPr>
            <a:spLocks noGrp="1"/>
          </p:cNvSpPr>
          <p:nvPr>
            <p:ph type="body" sz="half" idx="2"/>
          </p:nvPr>
        </p:nvSpPr>
        <p:spPr>
          <a:xfrm>
            <a:off x="863273" y="1564178"/>
            <a:ext cx="4273992" cy="4455621"/>
          </a:xfrm>
        </p:spPr>
        <p:txBody>
          <a:bodyPr>
            <a:normAutofit lnSpcReduction="10000"/>
          </a:bodyPr>
          <a:lstStyle/>
          <a:p>
            <a:pPr marL="342900" indent="-342900">
              <a:buFont typeface="Wingdings" panose="05000000000000000000" pitchFamily="2" charset="2"/>
              <a:buChar char="ü"/>
            </a:pPr>
            <a:r>
              <a:rPr lang="ru-RU" sz="2200" dirty="0" smtClean="0"/>
              <a:t> Клавиатурите </a:t>
            </a:r>
            <a:r>
              <a:rPr lang="ru-RU" sz="2200" dirty="0"/>
              <a:t>с купол са хибрид от плоска мембрана и механичен превключвател. При натискането на клавиш се събират две различни печатни платки, монтирани под гумена или силиконова клавиатура. Използват се или метални, или полиуретанови куполни превключватели. И при металните, и при гумените технологии, когато се натисне клавиш, куполът хлътва, свързва двете платки и затваря веригата за въвеждане на символа.</a:t>
            </a:r>
            <a:endParaRPr lang="en-US" sz="2200" dirty="0"/>
          </a:p>
          <a:p>
            <a:endParaRPr lang="en-US" dirty="0"/>
          </a:p>
        </p:txBody>
      </p:sp>
      <p:pic>
        <p:nvPicPr>
          <p:cNvPr id="1028" name="Picture 4" descr="What is a Dome Switch Keypad? | CSI Keyboards"/>
          <p:cNvPicPr>
            <a:picLocks noGrp="1" noChangeAspect="1" noChangeArrowheads="1"/>
          </p:cNvPicPr>
          <p:nvPr>
            <p:ph type="pic" idx="1"/>
          </p:nvPr>
        </p:nvPicPr>
        <p:blipFill>
          <a:blip r:embed="rId2" cstate="print">
            <a:extLst>
              <a:ext uri="{28A0092B-C50C-407E-A947-70E740481C1C}">
                <a14:useLocalDpi xmlns:a14="http://schemas.microsoft.com/office/drawing/2010/main" val="0"/>
              </a:ext>
            </a:extLst>
          </a:blip>
          <a:srcRect t="7534" b="7534"/>
          <a:stretch>
            <a:fillRect/>
          </a:stretch>
        </p:blipFill>
        <p:spPr bwMode="auto">
          <a:xfrm>
            <a:off x="6309360" y="1831708"/>
            <a:ext cx="5275280" cy="378908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5026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5700" y="328353"/>
            <a:ext cx="11082117" cy="1097280"/>
          </a:xfrm>
        </p:spPr>
        <p:txBody>
          <a:bodyPr/>
          <a:lstStyle/>
          <a:p>
            <a:r>
              <a:rPr lang="bg-BG" dirty="0"/>
              <a:t>С ножичен превключвател</a:t>
            </a:r>
            <a:endParaRPr lang="en-US" dirty="0"/>
          </a:p>
        </p:txBody>
      </p:sp>
      <p:sp>
        <p:nvSpPr>
          <p:cNvPr id="3" name="Text Placeholder 2"/>
          <p:cNvSpPr>
            <a:spLocks noGrp="1"/>
          </p:cNvSpPr>
          <p:nvPr>
            <p:ph type="body" sz="half" idx="2"/>
          </p:nvPr>
        </p:nvSpPr>
        <p:spPr>
          <a:xfrm>
            <a:off x="555700" y="1616825"/>
            <a:ext cx="5579092" cy="4709160"/>
          </a:xfrm>
        </p:spPr>
        <p:txBody>
          <a:bodyPr>
            <a:noAutofit/>
          </a:bodyPr>
          <a:lstStyle/>
          <a:p>
            <a:pPr marL="342900" indent="-342900">
              <a:buFont typeface="Wingdings" panose="05000000000000000000" pitchFamily="2" charset="2"/>
              <a:buChar char="ü"/>
            </a:pPr>
            <a:r>
              <a:rPr lang="ru-RU" sz="2200" dirty="0"/>
              <a:t> </a:t>
            </a:r>
            <a:r>
              <a:rPr lang="ru-RU" sz="2200" dirty="0" smtClean="0"/>
              <a:t>Клавишите </a:t>
            </a:r>
            <a:r>
              <a:rPr lang="ru-RU" sz="2200" dirty="0"/>
              <a:t>са прикрепени към клавиатурата чрез две пластмасови части, които се зацепват по начин, подобен на ножица, захванати към клавиатурата и клавиша. Той използва гумени куполи, но специален пластмасов механизъм „ножица“ свързва капачката на клавиша с бутало, което натиска гумения купол, като това води до много по-къс ход. Този тип ключов превключвател често се среща на вградените клавиатури на лаптопи и клавиатури, продавани като „нископрофилни“. Тези клавиатури обикновено са тихи и клавишите изискват малък натиск.</a:t>
            </a:r>
            <a:endParaRPr lang="en-US" sz="2200" dirty="0"/>
          </a:p>
        </p:txBody>
      </p:sp>
      <p:pic>
        <p:nvPicPr>
          <p:cNvPr id="5" name="Picture 2" descr="Безжична мини клавиатура за графичен таблет HUION Keydial KD100 – In Spot"/>
          <p:cNvPicPr>
            <a:picLocks noGrp="1" noChangeAspect="1" noChangeArrowheads="1"/>
          </p:cNvPicPr>
          <p:nvPr>
            <p:ph type="pic" idx="1"/>
          </p:nvPr>
        </p:nvPicPr>
        <p:blipFill>
          <a:blip r:embed="rId2" cstate="print">
            <a:extLst>
              <a:ext uri="{BEBA8EAE-BF5A-486C-A8C5-ECC9F3942E4B}">
                <a14:imgProps xmlns:a14="http://schemas.microsoft.com/office/drawing/2010/main">
                  <a14:imgLayer r:embed="rId3">
                    <a14:imgEffect>
                      <a14:backgroundRemoval t="583" b="99917" l="10000" r="100000"/>
                    </a14:imgEffect>
                  </a14:imgLayer>
                </a14:imgProps>
              </a:ext>
              <a:ext uri="{28A0092B-C50C-407E-A947-70E740481C1C}">
                <a14:useLocalDpi xmlns:a14="http://schemas.microsoft.com/office/drawing/2010/main" val="0"/>
              </a:ext>
            </a:extLst>
          </a:blip>
          <a:srcRect t="15406" b="15406"/>
          <a:stretch>
            <a:fillRect/>
          </a:stretch>
        </p:blipFill>
        <p:spPr bwMode="auto">
          <a:xfrm>
            <a:off x="6475267" y="2185467"/>
            <a:ext cx="5162550" cy="357187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3439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4686" y="515389"/>
            <a:ext cx="4438834" cy="780011"/>
          </a:xfrm>
        </p:spPr>
        <p:txBody>
          <a:bodyPr>
            <a:normAutofit/>
          </a:bodyPr>
          <a:lstStyle/>
          <a:p>
            <a:r>
              <a:rPr lang="bg-BG" sz="4000" dirty="0"/>
              <a:t>Капацитивна</a:t>
            </a:r>
            <a:endParaRPr lang="en-US" sz="4000" dirty="0"/>
          </a:p>
        </p:txBody>
      </p:sp>
      <p:sp>
        <p:nvSpPr>
          <p:cNvPr id="3" name="Text Placeholder 2"/>
          <p:cNvSpPr>
            <a:spLocks noGrp="1"/>
          </p:cNvSpPr>
          <p:nvPr>
            <p:ph type="body" sz="half" idx="2"/>
          </p:nvPr>
        </p:nvSpPr>
        <p:spPr>
          <a:xfrm>
            <a:off x="864686" y="1539239"/>
            <a:ext cx="4754718" cy="4844935"/>
          </a:xfrm>
        </p:spPr>
        <p:txBody>
          <a:bodyPr>
            <a:normAutofit lnSpcReduction="10000"/>
          </a:bodyPr>
          <a:lstStyle/>
          <a:p>
            <a:pPr marL="342900" indent="-342900">
              <a:buFont typeface="Wingdings" panose="05000000000000000000" pitchFamily="2" charset="2"/>
              <a:buChar char="ü"/>
            </a:pPr>
            <a:r>
              <a:rPr lang="ru-RU" sz="2200" dirty="0" smtClean="0"/>
              <a:t> При </a:t>
            </a:r>
            <a:r>
              <a:rPr lang="ru-RU" sz="2200" dirty="0"/>
              <a:t>този тип клавиатура натискането на клавиш променя капацитета на два D-образни кондензатора, отпечатани върху печатна платка (PCB), покрита с тънък слой лак, който действа като диелектрик. Не е необходимо клавишите да се натискат докрай, за да бъдат задействани, което позволява на някои хора да пишат по-бързо. Има възможност потребителят да регулира момента на задействане (чувствителност на ключа). Тази настройка може да се извърши с помощта на пакетния софтуер и индивидуално за всеки ключ.</a:t>
            </a:r>
            <a:endParaRPr lang="en-US" sz="2200" dirty="0"/>
          </a:p>
          <a:p>
            <a:endParaRPr lang="en-US" dirty="0"/>
          </a:p>
        </p:txBody>
      </p:sp>
      <p:pic>
        <p:nvPicPr>
          <p:cNvPr id="2050" name="Picture 2" descr="irocks"/>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l="9356" r="9356"/>
          <a:stretch>
            <a:fillRect/>
          </a:stretch>
        </p:blipFill>
        <p:spPr bwMode="auto">
          <a:xfrm>
            <a:off x="6251170" y="1747057"/>
            <a:ext cx="5278843" cy="384825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56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491" y="382385"/>
            <a:ext cx="4312844" cy="789709"/>
          </a:xfrm>
        </p:spPr>
        <p:txBody>
          <a:bodyPr>
            <a:noAutofit/>
          </a:bodyPr>
          <a:lstStyle/>
          <a:p>
            <a:r>
              <a:rPr lang="bg-BG" sz="4000" dirty="0"/>
              <a:t>С ефект на Хол</a:t>
            </a:r>
            <a:endParaRPr lang="en-US" sz="4000" dirty="0"/>
          </a:p>
        </p:txBody>
      </p:sp>
      <p:sp>
        <p:nvSpPr>
          <p:cNvPr id="3" name="Text Placeholder 2"/>
          <p:cNvSpPr>
            <a:spLocks noGrp="1"/>
          </p:cNvSpPr>
          <p:nvPr>
            <p:ph type="body" sz="half" idx="2"/>
          </p:nvPr>
        </p:nvSpPr>
        <p:spPr>
          <a:xfrm>
            <a:off x="1080703" y="1462673"/>
            <a:ext cx="4596890" cy="4904875"/>
          </a:xfrm>
        </p:spPr>
        <p:txBody>
          <a:bodyPr>
            <a:normAutofit fontScale="92500"/>
          </a:bodyPr>
          <a:lstStyle/>
          <a:p>
            <a:pPr marL="342900" indent="-342900">
              <a:buFont typeface="Wingdings" panose="05000000000000000000" pitchFamily="2" charset="2"/>
              <a:buChar char="ü"/>
            </a:pPr>
            <a:r>
              <a:rPr lang="en-US" sz="2200" dirty="0" smtClean="0"/>
              <a:t> </a:t>
            </a:r>
            <a:r>
              <a:rPr lang="ru-RU" sz="2200" dirty="0" smtClean="0"/>
              <a:t>Клавиатурите </a:t>
            </a:r>
            <a:r>
              <a:rPr lang="ru-RU" sz="2200" dirty="0"/>
              <a:t>с ефект на Хол използват магнити и сензори с ефект на Хол вместо превключватели с механични контакти. Когато е натиснат клавиш, той премества магнита, който се засича от електронен сензор. Тъй като за задействане не се изисква физически контакт, клавиатурите с ефект на Хол са изключително надеждни и могат да приемат милиони натискания на клавиши, преди да се повредят. Използват се за важни приложения като атомни електроцентрали, пилотски кабини и критични индустриални среди. </a:t>
            </a:r>
            <a:endParaRPr lang="en-US" sz="2200" dirty="0"/>
          </a:p>
          <a:p>
            <a:pPr marL="285750" indent="-285750">
              <a:buFont typeface="Wingdings" panose="05000000000000000000" pitchFamily="2" charset="2"/>
              <a:buChar char="ü"/>
            </a:pPr>
            <a:endParaRPr lang="en-US" dirty="0"/>
          </a:p>
        </p:txBody>
      </p:sp>
      <p:pic>
        <p:nvPicPr>
          <p:cNvPr id="3074" name="Picture 2" descr="Custom Hall Effect Switch Keyboard - deskthority"/>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l="10439" r="10439"/>
          <a:stretch>
            <a:fillRect/>
          </a:stretch>
        </p:blipFill>
        <p:spPr bwMode="auto">
          <a:xfrm>
            <a:off x="6907877" y="2148473"/>
            <a:ext cx="3940216" cy="328265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5076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373293"/>
            <a:ext cx="9146383" cy="1371600"/>
          </a:xfrm>
        </p:spPr>
        <p:txBody>
          <a:bodyPr>
            <a:normAutofit/>
          </a:bodyPr>
          <a:lstStyle/>
          <a:p>
            <a:r>
              <a:rPr lang="bg-BG" sz="4000" dirty="0"/>
              <a:t>И</a:t>
            </a:r>
            <a:r>
              <a:rPr lang="bg-BG" sz="4000" dirty="0" smtClean="0"/>
              <a:t>нтерфейси</a:t>
            </a:r>
            <a:endParaRPr lang="en-US" sz="4000" dirty="0"/>
          </a:p>
        </p:txBody>
      </p:sp>
      <p:sp>
        <p:nvSpPr>
          <p:cNvPr id="3" name="Content Placeholder 2"/>
          <p:cNvSpPr>
            <a:spLocks noGrp="1"/>
          </p:cNvSpPr>
          <p:nvPr>
            <p:ph idx="1"/>
          </p:nvPr>
        </p:nvSpPr>
        <p:spPr>
          <a:xfrm>
            <a:off x="1141412" y="2097088"/>
            <a:ext cx="9905999" cy="2846215"/>
          </a:xfrm>
        </p:spPr>
        <p:txBody>
          <a:bodyPr>
            <a:normAutofit/>
          </a:bodyPr>
          <a:lstStyle/>
          <a:p>
            <a:pPr>
              <a:buFont typeface="Wingdings" panose="05000000000000000000" pitchFamily="2" charset="2"/>
              <a:buChar char="ü"/>
            </a:pPr>
            <a:r>
              <a:rPr lang="en-US" dirty="0" smtClean="0"/>
              <a:t>  DIN </a:t>
            </a:r>
            <a:r>
              <a:rPr lang="bg-BG" dirty="0" smtClean="0"/>
              <a:t>куплунг </a:t>
            </a:r>
            <a:endParaRPr lang="bg-BG" dirty="0"/>
          </a:p>
          <a:p>
            <a:pPr>
              <a:buFont typeface="Wingdings" panose="05000000000000000000" pitchFamily="2" charset="2"/>
              <a:buChar char="ü"/>
            </a:pPr>
            <a:r>
              <a:rPr lang="en-US" dirty="0" smtClean="0"/>
              <a:t>  PC/2 </a:t>
            </a:r>
          </a:p>
          <a:p>
            <a:pPr>
              <a:buFont typeface="Wingdings" panose="05000000000000000000" pitchFamily="2" charset="2"/>
              <a:buChar char="ü"/>
            </a:pPr>
            <a:r>
              <a:rPr lang="en-US" dirty="0" smtClean="0"/>
              <a:t>  USB </a:t>
            </a:r>
            <a:r>
              <a:rPr lang="en-US" dirty="0"/>
              <a:t>Interface </a:t>
            </a:r>
          </a:p>
          <a:p>
            <a:pPr>
              <a:buFont typeface="Wingdings" panose="05000000000000000000" pitchFamily="2" charset="2"/>
              <a:buChar char="ü"/>
            </a:pPr>
            <a:r>
              <a:rPr lang="en-US" dirty="0" smtClean="0"/>
              <a:t>  </a:t>
            </a:r>
            <a:r>
              <a:rPr lang="bg-BG" dirty="0" smtClean="0"/>
              <a:t>Безжичен интерфейс</a:t>
            </a:r>
            <a:endParaRPr lang="en-US" dirty="0"/>
          </a:p>
        </p:txBody>
      </p:sp>
      <p:sp>
        <p:nvSpPr>
          <p:cNvPr id="4" name="Action Button: Forward or Next 3">
            <a:hlinkClick r:id="rId2" action="ppaction://hlinksldjump" highlightClick="1"/>
          </p:cNvPr>
          <p:cNvSpPr/>
          <p:nvPr/>
        </p:nvSpPr>
        <p:spPr>
          <a:xfrm>
            <a:off x="10540335" y="6022862"/>
            <a:ext cx="773287" cy="440575"/>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75000"/>
                </a:schemeClr>
              </a:solidFill>
            </a:endParaRPr>
          </a:p>
        </p:txBody>
      </p:sp>
    </p:spTree>
    <p:extLst>
      <p:ext uri="{BB962C8B-B14F-4D97-AF65-F5344CB8AC3E}">
        <p14:creationId xmlns:p14="http://schemas.microsoft.com/office/powerpoint/2010/main" val="388902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8398" y="581891"/>
            <a:ext cx="3597544" cy="773084"/>
          </a:xfrm>
        </p:spPr>
        <p:txBody>
          <a:bodyPr>
            <a:normAutofit/>
          </a:bodyPr>
          <a:lstStyle/>
          <a:p>
            <a:r>
              <a:rPr lang="en-US" sz="4000" dirty="0"/>
              <a:t>DIN </a:t>
            </a:r>
            <a:r>
              <a:rPr lang="bg-BG" sz="4000" dirty="0"/>
              <a:t>куплунг</a:t>
            </a:r>
            <a:endParaRPr lang="en-US" sz="4000" dirty="0"/>
          </a:p>
        </p:txBody>
      </p:sp>
      <p:sp>
        <p:nvSpPr>
          <p:cNvPr id="3" name="Text Placeholder 2"/>
          <p:cNvSpPr>
            <a:spLocks noGrp="1"/>
          </p:cNvSpPr>
          <p:nvPr>
            <p:ph type="body" sz="half" idx="2"/>
          </p:nvPr>
        </p:nvSpPr>
        <p:spPr>
          <a:xfrm>
            <a:off x="1006004" y="1662545"/>
            <a:ext cx="3582332" cy="3717175"/>
          </a:xfrm>
        </p:spPr>
        <p:txBody>
          <a:bodyPr>
            <a:normAutofit/>
          </a:bodyPr>
          <a:lstStyle/>
          <a:p>
            <a:pPr marL="342900" indent="-342900">
              <a:buFont typeface="Wingdings" panose="05000000000000000000" pitchFamily="2" charset="2"/>
              <a:buChar char="ü"/>
            </a:pPr>
            <a:r>
              <a:rPr lang="en-US" sz="2200" dirty="0" smtClean="0"/>
              <a:t> </a:t>
            </a:r>
            <a:r>
              <a:rPr lang="bg-BG" sz="2200" dirty="0" smtClean="0"/>
              <a:t>Интерфейс </a:t>
            </a:r>
            <a:r>
              <a:rPr lang="bg-BG" sz="2200" dirty="0"/>
              <a:t>ползван в различни модели клавиатури. Най – известните </a:t>
            </a:r>
            <a:r>
              <a:rPr lang="en-US" sz="2200" dirty="0"/>
              <a:t>IBM </a:t>
            </a:r>
            <a:r>
              <a:rPr lang="bg-BG" sz="2200" dirty="0"/>
              <a:t>и </a:t>
            </a:r>
            <a:r>
              <a:rPr lang="en-US" sz="2200" dirty="0"/>
              <a:t>Lexmark</a:t>
            </a:r>
          </a:p>
          <a:p>
            <a:pPr marL="342900" indent="-342900">
              <a:buFont typeface="Wingdings" panose="05000000000000000000" pitchFamily="2" charset="2"/>
              <a:buChar char="ü"/>
            </a:pPr>
            <a:r>
              <a:rPr lang="en-US" sz="2200" dirty="0" smtClean="0"/>
              <a:t> 5 </a:t>
            </a:r>
            <a:r>
              <a:rPr lang="bg-BG" sz="2200" dirty="0"/>
              <a:t>пинов конектор – 1- </a:t>
            </a:r>
            <a:r>
              <a:rPr lang="en-US" sz="2200" dirty="0"/>
              <a:t>CLK / 2 – Data (</a:t>
            </a:r>
            <a:r>
              <a:rPr lang="bg-BG" sz="2200" dirty="0"/>
              <a:t>данни)/ 3 – </a:t>
            </a:r>
            <a:r>
              <a:rPr lang="en-US" sz="2200" dirty="0"/>
              <a:t>RESET/ 4 – GND ( </a:t>
            </a:r>
            <a:r>
              <a:rPr lang="bg-BG" sz="2200" dirty="0"/>
              <a:t>земя или - ) </a:t>
            </a:r>
          </a:p>
          <a:p>
            <a:pPr marL="342900" indent="-342900">
              <a:buFont typeface="Wingdings" panose="05000000000000000000" pitchFamily="2" charset="2"/>
              <a:buChar char="ü"/>
            </a:pPr>
            <a:r>
              <a:rPr lang="en-US" sz="2200" dirty="0" smtClean="0"/>
              <a:t> </a:t>
            </a:r>
            <a:r>
              <a:rPr lang="bg-BG" sz="2200" dirty="0" smtClean="0"/>
              <a:t>5</a:t>
            </a:r>
            <a:r>
              <a:rPr lang="en-US" sz="2200" dirty="0"/>
              <a:t>V </a:t>
            </a:r>
            <a:r>
              <a:rPr lang="bg-BG" sz="2200" dirty="0"/>
              <a:t>захранване </a:t>
            </a:r>
          </a:p>
          <a:p>
            <a:endParaRPr lang="en-US" dirty="0"/>
          </a:p>
        </p:txBody>
      </p:sp>
      <p:pic>
        <p:nvPicPr>
          <p:cNvPr id="8" name="Picture Placeholder 7"/>
          <p:cNvPicPr>
            <a:picLocks noGrp="1" noChangeAspect="1"/>
          </p:cNvPicPr>
          <p:nvPr>
            <p:ph type="pic" idx="1"/>
          </p:nvPr>
        </p:nvPicPr>
        <p:blipFill>
          <a:blip r:embed="rId2"/>
          <a:srcRect t="15577" b="15577"/>
          <a:stretch>
            <a:fillRect/>
          </a:stretch>
        </p:blipFill>
        <p:spPr>
          <a:xfrm>
            <a:off x="5675766" y="1935312"/>
            <a:ext cx="4623703" cy="318319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9" name="Action Button: Forward or Next 8">
            <a:hlinkClick r:id="rId3" action="ppaction://hlinksldjump" highlightClick="1"/>
          </p:cNvPr>
          <p:cNvSpPr/>
          <p:nvPr/>
        </p:nvSpPr>
        <p:spPr>
          <a:xfrm>
            <a:off x="10631979" y="6176356"/>
            <a:ext cx="640080" cy="349135"/>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272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7937" y="685800"/>
            <a:ext cx="3597544" cy="606829"/>
          </a:xfrm>
        </p:spPr>
        <p:txBody>
          <a:bodyPr/>
          <a:lstStyle/>
          <a:p>
            <a:r>
              <a:rPr lang="en-US" dirty="0"/>
              <a:t>PC/2 </a:t>
            </a:r>
          </a:p>
        </p:txBody>
      </p:sp>
      <p:sp>
        <p:nvSpPr>
          <p:cNvPr id="3" name="Text Placeholder 2"/>
          <p:cNvSpPr>
            <a:spLocks noGrp="1"/>
          </p:cNvSpPr>
          <p:nvPr>
            <p:ph type="body" sz="half" idx="2"/>
          </p:nvPr>
        </p:nvSpPr>
        <p:spPr>
          <a:xfrm>
            <a:off x="897937" y="1579418"/>
            <a:ext cx="3582332" cy="4041371"/>
          </a:xfrm>
        </p:spPr>
        <p:txBody>
          <a:bodyPr>
            <a:normAutofit/>
          </a:bodyPr>
          <a:lstStyle/>
          <a:p>
            <a:pPr marL="342900" indent="-342900">
              <a:buFont typeface="Wingdings" panose="05000000000000000000" pitchFamily="2" charset="2"/>
              <a:buChar char="ü"/>
            </a:pPr>
            <a:r>
              <a:rPr lang="en-US" sz="2200" dirty="0" smtClean="0"/>
              <a:t> </a:t>
            </a:r>
            <a:r>
              <a:rPr lang="bg-BG" sz="2200" dirty="0" smtClean="0"/>
              <a:t>Служи </a:t>
            </a:r>
            <a:r>
              <a:rPr lang="bg-BG" sz="2200" dirty="0"/>
              <a:t>за връзка на клавиатури и мишки. Има цветен код като лилавия е за клавиатурите, а зеления за мишките. </a:t>
            </a:r>
          </a:p>
          <a:p>
            <a:pPr marL="342900" indent="-342900">
              <a:buFont typeface="Wingdings" panose="05000000000000000000" pitchFamily="2" charset="2"/>
              <a:buChar char="ü"/>
            </a:pPr>
            <a:r>
              <a:rPr lang="en-US" sz="2200" dirty="0" smtClean="0"/>
              <a:t> </a:t>
            </a:r>
            <a:r>
              <a:rPr lang="bg-BG" sz="2200" dirty="0" smtClean="0"/>
              <a:t>6 </a:t>
            </a:r>
            <a:r>
              <a:rPr lang="bg-BG" sz="2200" dirty="0"/>
              <a:t>пинов конектор </a:t>
            </a:r>
          </a:p>
          <a:p>
            <a:pPr marL="342900" indent="-342900">
              <a:buFont typeface="Wingdings" panose="05000000000000000000" pitchFamily="2" charset="2"/>
              <a:buChar char="ü"/>
            </a:pPr>
            <a:r>
              <a:rPr lang="en-US" sz="2200" dirty="0" smtClean="0"/>
              <a:t> </a:t>
            </a:r>
            <a:r>
              <a:rPr lang="bg-BG" sz="2200" dirty="0" smtClean="0"/>
              <a:t>Сигналите </a:t>
            </a:r>
            <a:r>
              <a:rPr lang="bg-BG" sz="2200" dirty="0"/>
              <a:t>са същите като на </a:t>
            </a:r>
            <a:r>
              <a:rPr lang="en-US" sz="2200" dirty="0"/>
              <a:t>DIN </a:t>
            </a:r>
            <a:r>
              <a:rPr lang="bg-BG" sz="2200" dirty="0"/>
              <a:t>куплунг, т.е 5</a:t>
            </a:r>
            <a:r>
              <a:rPr lang="en-US" sz="2200" dirty="0"/>
              <a:t>V </a:t>
            </a:r>
            <a:r>
              <a:rPr lang="bg-BG" sz="2200" dirty="0"/>
              <a:t>захранване 6тия е свободен и не се ползва</a:t>
            </a:r>
            <a:endParaRPr lang="en-US" sz="2200" dirty="0"/>
          </a:p>
          <a:p>
            <a:endParaRPr lang="en-US" dirty="0"/>
          </a:p>
        </p:txBody>
      </p:sp>
      <p:pic>
        <p:nvPicPr>
          <p:cNvPr id="7" name="Picture 8" descr="PS2 kabel propojovací 2 m kpkp2ps | CZC.cz"/>
          <p:cNvPicPr>
            <a:picLocks noGrp="1" noChangeAspect="1" noChangeArrowheads="1"/>
          </p:cNvPicPr>
          <p:nvPr>
            <p:ph type="pic" idx="1"/>
          </p:nvPr>
        </p:nvPicPr>
        <p:blipFill>
          <a:blip r:embed="rId2">
            <a:extLst>
              <a:ext uri="{BEBA8EAE-BF5A-486C-A8C5-ECC9F3942E4B}">
                <a14:imgProps xmlns:a14="http://schemas.microsoft.com/office/drawing/2010/main">
                  <a14:imgLayer r:embed="rId3">
                    <a14:imgEffect>
                      <a14:backgroundRemoval t="0" b="97794" l="5600" r="100000">
                        <a14:foregroundMark x1="66400" y1="71814" x2="66400" y2="71814"/>
                      </a14:backgroundRemoval>
                    </a14:imgEffect>
                  </a14:imgLayer>
                </a14:imgProps>
              </a:ext>
              <a:ext uri="{28A0092B-C50C-407E-A947-70E740481C1C}">
                <a14:useLocalDpi xmlns:a14="http://schemas.microsoft.com/office/drawing/2010/main" val="0"/>
              </a:ext>
            </a:extLst>
          </a:blip>
          <a:srcRect l="1028" r="1028"/>
          <a:stretch>
            <a:fillRect/>
          </a:stretch>
        </p:blipFill>
        <p:spPr bwMode="auto">
          <a:xfrm>
            <a:off x="7568912" y="1043248"/>
            <a:ext cx="2639114" cy="219871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8" name="Picture 2" descr="PS/2-interface - Wikipedi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2163" y="3756543"/>
            <a:ext cx="1172611" cy="2024708"/>
          </a:xfrm>
          <a:prstGeom prst="rect">
            <a:avLst/>
          </a:prstGeom>
          <a:noFill/>
          <a:extLst>
            <a:ext uri="{909E8E84-426E-40DD-AFC4-6F175D3DCCD1}">
              <a14:hiddenFill xmlns:a14="http://schemas.microsoft.com/office/drawing/2010/main">
                <a:solidFill>
                  <a:srgbClr val="FFFFFF"/>
                </a:solidFill>
              </a14:hiddenFill>
            </a:ext>
          </a:extLst>
        </p:spPr>
      </p:pic>
      <p:sp>
        <p:nvSpPr>
          <p:cNvPr id="9" name="Action Button: Forward or Next 8">
            <a:hlinkClick r:id="rId5" action="ppaction://hlinksldjump" highlightClick="1"/>
          </p:cNvPr>
          <p:cNvSpPr/>
          <p:nvPr/>
        </p:nvSpPr>
        <p:spPr>
          <a:xfrm>
            <a:off x="10673541" y="6176357"/>
            <a:ext cx="681644" cy="399011"/>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1377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15" y="569422"/>
            <a:ext cx="5011113" cy="1108364"/>
          </a:xfrm>
        </p:spPr>
        <p:txBody>
          <a:bodyPr>
            <a:normAutofit/>
          </a:bodyPr>
          <a:lstStyle/>
          <a:p>
            <a:r>
              <a:rPr lang="en-US" sz="4000" dirty="0"/>
              <a:t>USB </a:t>
            </a:r>
            <a:r>
              <a:rPr lang="bg-BG" sz="4000" dirty="0"/>
              <a:t>интерфейси </a:t>
            </a:r>
            <a:endParaRPr lang="en-US" sz="4000" dirty="0"/>
          </a:p>
        </p:txBody>
      </p:sp>
      <p:sp>
        <p:nvSpPr>
          <p:cNvPr id="3" name="Text Placeholder 2"/>
          <p:cNvSpPr>
            <a:spLocks noGrp="1"/>
          </p:cNvSpPr>
          <p:nvPr>
            <p:ph type="body" sz="half" idx="2"/>
          </p:nvPr>
        </p:nvSpPr>
        <p:spPr>
          <a:xfrm>
            <a:off x="1065491" y="2061556"/>
            <a:ext cx="3582332" cy="3958244"/>
          </a:xfrm>
        </p:spPr>
        <p:txBody>
          <a:bodyPr>
            <a:normAutofit/>
          </a:bodyPr>
          <a:lstStyle/>
          <a:p>
            <a:pPr marL="342900" indent="-342900">
              <a:buFont typeface="Wingdings" panose="05000000000000000000" pitchFamily="2" charset="2"/>
              <a:buChar char="ü"/>
            </a:pPr>
            <a:r>
              <a:rPr lang="en-US" sz="2200" dirty="0" smtClean="0"/>
              <a:t> </a:t>
            </a:r>
            <a:r>
              <a:rPr lang="bg-BG" sz="2200" dirty="0" smtClean="0"/>
              <a:t>1.0 </a:t>
            </a:r>
            <a:r>
              <a:rPr lang="bg-BG" sz="2200" dirty="0"/>
              <a:t>– 12</a:t>
            </a:r>
            <a:r>
              <a:rPr lang="en-US" sz="2200" dirty="0"/>
              <a:t> Mbit/s</a:t>
            </a:r>
            <a:r>
              <a:rPr lang="bg-BG" sz="2200" dirty="0"/>
              <a:t>; с бял индикато </a:t>
            </a:r>
          </a:p>
          <a:p>
            <a:pPr marL="342900" indent="-342900">
              <a:buFont typeface="Wingdings" panose="05000000000000000000" pitchFamily="2" charset="2"/>
              <a:buChar char="ü"/>
            </a:pPr>
            <a:r>
              <a:rPr lang="en-US" sz="2200" dirty="0" smtClean="0"/>
              <a:t> </a:t>
            </a:r>
            <a:r>
              <a:rPr lang="bg-BG" sz="2200" dirty="0" smtClean="0"/>
              <a:t>2.0</a:t>
            </a:r>
            <a:r>
              <a:rPr lang="en-US" sz="2200" dirty="0" smtClean="0"/>
              <a:t> </a:t>
            </a:r>
            <a:r>
              <a:rPr lang="en-US" sz="2200" dirty="0"/>
              <a:t>- 48</a:t>
            </a:r>
            <a:r>
              <a:rPr lang="bg-BG" sz="2200" dirty="0"/>
              <a:t>0</a:t>
            </a:r>
            <a:r>
              <a:rPr lang="en-US" sz="2200" dirty="0"/>
              <a:t> Mbit/s  </a:t>
            </a:r>
            <a:r>
              <a:rPr lang="bg-BG" sz="2200" dirty="0"/>
              <a:t>с черен индикато  </a:t>
            </a:r>
            <a:r>
              <a:rPr lang="en-US" sz="2200" dirty="0"/>
              <a:t>              </a:t>
            </a:r>
            <a:endParaRPr lang="bg-BG" sz="2200" dirty="0"/>
          </a:p>
          <a:p>
            <a:pPr marL="342900" indent="-342900">
              <a:buFont typeface="Wingdings" panose="05000000000000000000" pitchFamily="2" charset="2"/>
              <a:buChar char="ü"/>
            </a:pPr>
            <a:r>
              <a:rPr lang="en-US" sz="2200" dirty="0" smtClean="0"/>
              <a:t>  </a:t>
            </a:r>
            <a:r>
              <a:rPr lang="bg-BG" sz="2200" dirty="0"/>
              <a:t>3.0</a:t>
            </a:r>
            <a:r>
              <a:rPr lang="en-US" sz="2200" dirty="0"/>
              <a:t> – </a:t>
            </a:r>
            <a:r>
              <a:rPr lang="bg-BG" sz="2200" dirty="0"/>
              <a:t>4</a:t>
            </a:r>
            <a:r>
              <a:rPr lang="en-US" sz="2200" dirty="0"/>
              <a:t>,8 </a:t>
            </a:r>
            <a:r>
              <a:rPr lang="en-US" sz="2200" dirty="0" err="1"/>
              <a:t>Gbit</a:t>
            </a:r>
            <a:r>
              <a:rPr lang="en-US" sz="2200" dirty="0"/>
              <a:t>/s </a:t>
            </a:r>
            <a:r>
              <a:rPr lang="bg-BG" sz="2200" dirty="0"/>
              <a:t> с син индикатор </a:t>
            </a:r>
          </a:p>
          <a:p>
            <a:pPr marL="342900" indent="-342900">
              <a:buFont typeface="Wingdings" panose="05000000000000000000" pitchFamily="2" charset="2"/>
              <a:buChar char="ü"/>
            </a:pPr>
            <a:r>
              <a:rPr lang="en-US" sz="2200" dirty="0" smtClean="0"/>
              <a:t> </a:t>
            </a:r>
            <a:r>
              <a:rPr lang="bg-BG" sz="2200" dirty="0" smtClean="0"/>
              <a:t>3.1</a:t>
            </a:r>
            <a:r>
              <a:rPr lang="en-US" sz="2200" dirty="0" smtClean="0"/>
              <a:t> </a:t>
            </a:r>
            <a:r>
              <a:rPr lang="en-US" sz="2200" dirty="0"/>
              <a:t>– 10 </a:t>
            </a:r>
            <a:r>
              <a:rPr lang="en-US" sz="2200" dirty="0" err="1"/>
              <a:t>Gbit</a:t>
            </a:r>
            <a:r>
              <a:rPr lang="en-US" sz="2200" dirty="0"/>
              <a:t>/s</a:t>
            </a:r>
            <a:r>
              <a:rPr lang="bg-BG" sz="2200" dirty="0"/>
              <a:t>    с червен индикатор, </a:t>
            </a:r>
          </a:p>
          <a:p>
            <a:pPr marL="342900" indent="-342900">
              <a:buFont typeface="Wingdings" panose="05000000000000000000" pitchFamily="2" charset="2"/>
              <a:buChar char="ü"/>
            </a:pPr>
            <a:r>
              <a:rPr lang="en-US" sz="2200" dirty="0" smtClean="0"/>
              <a:t> </a:t>
            </a:r>
            <a:r>
              <a:rPr lang="bg-BG" sz="2200" dirty="0" smtClean="0"/>
              <a:t>Съвместими </a:t>
            </a:r>
            <a:r>
              <a:rPr lang="bg-BG" sz="2200" dirty="0"/>
              <a:t>са с предишни версии. </a:t>
            </a:r>
            <a:endParaRPr lang="en-US" sz="2200" dirty="0"/>
          </a:p>
          <a:p>
            <a:endParaRPr lang="en-US" dirty="0"/>
          </a:p>
        </p:txBody>
      </p:sp>
      <p:pic>
        <p:nvPicPr>
          <p:cNvPr id="5" name="Picture 6" descr="1m USB 2.0 A-Male to Mini B Cable CDL-062-1.0 | Cabledepot"/>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3000" b="90000" l="0" r="100000"/>
                    </a14:imgEffect>
                  </a14:imgLayer>
                </a14:imgProps>
              </a:ext>
              <a:ext uri="{28A0092B-C50C-407E-A947-70E740481C1C}">
                <a14:useLocalDpi xmlns:a14="http://schemas.microsoft.com/office/drawing/2010/main" val="0"/>
              </a:ext>
            </a:extLst>
          </a:blip>
          <a:srcRect/>
          <a:stretch>
            <a:fillRect/>
          </a:stretch>
        </p:blipFill>
        <p:spPr bwMode="auto">
          <a:xfrm>
            <a:off x="6162742" y="1462990"/>
            <a:ext cx="2139476" cy="21394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Удължител Ugreen USB 2.0 10314 / 54464 - ниска цена от JAR Computers"/>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10000" b="99559" l="2206" r="100000">
                        <a14:foregroundMark x1="59265" y1="63971" x2="59265" y2="63971"/>
                        <a14:foregroundMark x1="48971" y1="70000" x2="48971" y2="70000"/>
                        <a14:foregroundMark x1="46324" y1="79412" x2="46324" y2="79412"/>
                        <a14:foregroundMark x1="44265" y1="71176" x2="44265" y2="71176"/>
                        <a14:foregroundMark x1="41618" y1="75147" x2="41618" y2="75147"/>
                        <a14:foregroundMark x1="52353" y1="76324" x2="52353" y2="76324"/>
                        <a14:foregroundMark x1="41176" y1="81471" x2="30000" y2="72941"/>
                        <a14:backgroundMark x1="30441" y1="40735" x2="30441" y2="40735"/>
                        <a14:backgroundMark x1="76029" y1="24412" x2="76029" y2="24412"/>
                        <a14:backgroundMark x1="53676" y1="34265" x2="53676" y2="34265"/>
                        <a14:backgroundMark x1="59265" y1="30441" x2="15441" y2="53235"/>
                      </a14:backgroundRemoval>
                    </a14:imgEffect>
                  </a14:imgLayer>
                </a14:imgProps>
              </a:ext>
              <a:ext uri="{28A0092B-C50C-407E-A947-70E740481C1C}">
                <a14:useLocalDpi xmlns:a14="http://schemas.microsoft.com/office/drawing/2010/main" val="0"/>
              </a:ext>
            </a:extLst>
          </a:blip>
          <a:srcRect/>
          <a:stretch>
            <a:fillRect/>
          </a:stretch>
        </p:blipFill>
        <p:spPr bwMode="auto">
          <a:xfrm>
            <a:off x="8518246" y="925770"/>
            <a:ext cx="2271572" cy="227157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extLst>
              <a:ext uri="{BEBA8EAE-BF5A-486C-A8C5-ECC9F3942E4B}">
                <a14:imgProps xmlns:a14="http://schemas.microsoft.com/office/drawing/2010/main">
                  <a14:imgLayer r:embed="rId7">
                    <a14:imgEffect>
                      <a14:backgroundRemoval t="5375" b="90000" l="2625" r="100000">
                        <a14:foregroundMark x1="28625" y1="56125" x2="12750" y2="53125"/>
                        <a14:foregroundMark x1="17500" y1="49875" x2="12750" y2="53125"/>
                      </a14:backgroundRemoval>
                    </a14:imgEffect>
                  </a14:imgLayer>
                </a14:imgProps>
              </a:ext>
            </a:extLst>
          </a:blip>
          <a:stretch>
            <a:fillRect/>
          </a:stretch>
        </p:blipFill>
        <p:spPr>
          <a:xfrm>
            <a:off x="6405058" y="3197342"/>
            <a:ext cx="2113188" cy="2113188"/>
          </a:xfrm>
          <a:prstGeom prst="rect">
            <a:avLst/>
          </a:prstGeom>
        </p:spPr>
      </p:pic>
      <p:pic>
        <p:nvPicPr>
          <p:cNvPr id="8" name="Picture 10" descr="What is the meaning of the different USB port colors? (blue, teal blue,  yellow, red, black) - Tech Fairy"/>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59205" y="3339744"/>
            <a:ext cx="1519264" cy="1401867"/>
          </a:xfrm>
          <a:prstGeom prst="rect">
            <a:avLst/>
          </a:prstGeom>
          <a:noFill/>
          <a:extLst>
            <a:ext uri="{909E8E84-426E-40DD-AFC4-6F175D3DCCD1}">
              <a14:hiddenFill xmlns:a14="http://schemas.microsoft.com/office/drawing/2010/main">
                <a:solidFill>
                  <a:srgbClr val="FFFFFF"/>
                </a:solidFill>
              </a14:hiddenFill>
            </a:ext>
          </a:extLst>
        </p:spPr>
      </p:pic>
      <p:sp>
        <p:nvSpPr>
          <p:cNvPr id="9" name="Action Button: Forward or Next 8">
            <a:hlinkClick r:id="rId9" action="ppaction://hlinksldjump" highlightClick="1"/>
          </p:cNvPr>
          <p:cNvSpPr/>
          <p:nvPr/>
        </p:nvSpPr>
        <p:spPr>
          <a:xfrm>
            <a:off x="10639264" y="6118166"/>
            <a:ext cx="715921" cy="367145"/>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0433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0278" y="685800"/>
            <a:ext cx="5234143" cy="1105593"/>
          </a:xfrm>
        </p:spPr>
        <p:txBody>
          <a:bodyPr/>
          <a:lstStyle/>
          <a:p>
            <a:r>
              <a:rPr lang="bg-BG" dirty="0"/>
              <a:t>Безжичен интерфейс</a:t>
            </a:r>
            <a:endParaRPr lang="en-US" dirty="0"/>
          </a:p>
        </p:txBody>
      </p:sp>
      <p:sp>
        <p:nvSpPr>
          <p:cNvPr id="3" name="Text Placeholder 2"/>
          <p:cNvSpPr>
            <a:spLocks noGrp="1"/>
          </p:cNvSpPr>
          <p:nvPr>
            <p:ph type="body" sz="half" idx="2"/>
          </p:nvPr>
        </p:nvSpPr>
        <p:spPr>
          <a:xfrm>
            <a:off x="1050277" y="2054628"/>
            <a:ext cx="3829293" cy="3614651"/>
          </a:xfrm>
        </p:spPr>
        <p:txBody>
          <a:bodyPr>
            <a:normAutofit/>
          </a:bodyPr>
          <a:lstStyle/>
          <a:p>
            <a:pPr marL="342900" indent="-342900">
              <a:buFont typeface="Wingdings" panose="05000000000000000000" pitchFamily="2" charset="2"/>
              <a:buChar char="ü"/>
            </a:pPr>
            <a:r>
              <a:rPr lang="en-US" sz="2200" dirty="0" smtClean="0"/>
              <a:t> </a:t>
            </a:r>
            <a:r>
              <a:rPr lang="bg-BG" sz="2200" dirty="0" smtClean="0"/>
              <a:t>Безжичните </a:t>
            </a:r>
            <a:r>
              <a:rPr lang="bg-BG" sz="2200" dirty="0"/>
              <a:t>клавиатури могат да бъдат 3 вида  </a:t>
            </a:r>
            <a:r>
              <a:rPr lang="en-US" sz="2200" dirty="0" err="1"/>
              <a:t>infared</a:t>
            </a:r>
            <a:r>
              <a:rPr lang="en-US" sz="2200" dirty="0"/>
              <a:t> (IR)</a:t>
            </a:r>
            <a:r>
              <a:rPr lang="bg-BG" sz="2200" dirty="0"/>
              <a:t>, радио честотни и </a:t>
            </a:r>
            <a:r>
              <a:rPr lang="en-US" sz="2200" dirty="0"/>
              <a:t>Bluetooth </a:t>
            </a:r>
          </a:p>
          <a:p>
            <a:pPr marL="342900" indent="-342900">
              <a:buFont typeface="Wingdings" panose="05000000000000000000" pitchFamily="2" charset="2"/>
              <a:buChar char="ü"/>
            </a:pPr>
            <a:r>
              <a:rPr lang="en-US" sz="2200" dirty="0" smtClean="0"/>
              <a:t> </a:t>
            </a:r>
            <a:r>
              <a:rPr lang="bg-BG" sz="2200" dirty="0" smtClean="0"/>
              <a:t>радио </a:t>
            </a:r>
            <a:r>
              <a:rPr lang="bg-BG" sz="2200" dirty="0"/>
              <a:t>честота</a:t>
            </a:r>
            <a:r>
              <a:rPr lang="en-US" sz="2200" dirty="0"/>
              <a:t> -</a:t>
            </a:r>
            <a:r>
              <a:rPr lang="bg-BG" sz="2200" dirty="0"/>
              <a:t> 27 </a:t>
            </a:r>
            <a:r>
              <a:rPr lang="en-US" sz="2200" dirty="0" err="1"/>
              <a:t>mhz</a:t>
            </a:r>
            <a:r>
              <a:rPr lang="en-US" sz="2200" dirty="0"/>
              <a:t> </a:t>
            </a:r>
          </a:p>
          <a:p>
            <a:endParaRPr lang="en-US" sz="2200" dirty="0"/>
          </a:p>
        </p:txBody>
      </p:sp>
      <p:pic>
        <p:nvPicPr>
          <p:cNvPr id="5" name="Picture Placeholder 4"/>
          <p:cNvPicPr>
            <a:picLocks noGrp="1" noChangeAspect="1"/>
          </p:cNvPicPr>
          <p:nvPr>
            <p:ph type="pic" idx="1"/>
          </p:nvPr>
        </p:nvPicPr>
        <p:blipFill>
          <a:blip r:embed="rId2">
            <a:extLst>
              <a:ext uri="{BEBA8EAE-BF5A-486C-A8C5-ECC9F3942E4B}">
                <a14:imgProps xmlns:a14="http://schemas.microsoft.com/office/drawing/2010/main">
                  <a14:imgLayer r:embed="rId3">
                    <a14:imgEffect>
                      <a14:backgroundRemoval t="10000" b="90000" l="4250" r="93625">
                        <a14:foregroundMark x1="51625" y1="39875" x2="56250" y2="40750"/>
                        <a14:foregroundMark x1="31250" y1="70750" x2="12375" y2="56125"/>
                        <a14:foregroundMark x1="33125" y1="65000" x2="11125" y2="49125"/>
                        <a14:foregroundMark x1="31625" y1="62625" x2="13125" y2="48000"/>
                        <a14:foregroundMark x1="10375" y1="48000" x2="8125" y2="53000"/>
                        <a14:foregroundMark x1="55125" y1="48000" x2="48125" y2="33375"/>
                      </a14:backgroundRemoval>
                    </a14:imgEffect>
                  </a14:imgLayer>
                </a14:imgProps>
              </a:ext>
            </a:extLst>
          </a:blip>
          <a:srcRect t="14047" b="14047"/>
          <a:stretch>
            <a:fillRect/>
          </a:stretch>
        </p:blipFill>
        <p:spPr>
          <a:xfrm>
            <a:off x="7198822" y="2054628"/>
            <a:ext cx="3499861" cy="251661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273543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9436"/>
            <a:ext cx="9146383" cy="1371600"/>
          </a:xfrm>
        </p:spPr>
        <p:txBody>
          <a:bodyPr/>
          <a:lstStyle/>
          <a:p>
            <a:r>
              <a:rPr lang="en-US" dirty="0"/>
              <a:t>T</a:t>
            </a:r>
            <a:r>
              <a:rPr lang="bg-BG" dirty="0" smtClean="0"/>
              <a:t>ЕСТ</a:t>
            </a:r>
            <a:endParaRPr lang="en-US" dirty="0"/>
          </a:p>
        </p:txBody>
      </p:sp>
      <p:sp>
        <p:nvSpPr>
          <p:cNvPr id="3" name="Content Placeholder 2"/>
          <p:cNvSpPr>
            <a:spLocks noGrp="1"/>
          </p:cNvSpPr>
          <p:nvPr>
            <p:ph idx="1"/>
          </p:nvPr>
        </p:nvSpPr>
        <p:spPr>
          <a:xfrm>
            <a:off x="1141412" y="2249487"/>
            <a:ext cx="10222086" cy="3541714"/>
          </a:xfrm>
        </p:spPr>
        <p:txBody>
          <a:bodyPr/>
          <a:lstStyle/>
          <a:p>
            <a:pPr>
              <a:buFont typeface="Wingdings" panose="05000000000000000000" pitchFamily="2" charset="2"/>
              <a:buChar char="ü"/>
            </a:pPr>
            <a:r>
              <a:rPr lang="en-US" sz="2200" dirty="0" smtClean="0"/>
              <a:t>  </a:t>
            </a:r>
            <a:r>
              <a:rPr lang="bg-BG" sz="2200" dirty="0" smtClean="0"/>
              <a:t>1. Определени за клавиатури?                                               	          </a:t>
            </a:r>
            <a:r>
              <a:rPr lang="en-US" sz="2200" dirty="0" smtClean="0"/>
              <a:t>                   </a:t>
            </a:r>
            <a:r>
              <a:rPr lang="bg-BG" sz="2200" dirty="0" smtClean="0">
                <a:solidFill>
                  <a:srgbClr val="92D050"/>
                </a:solidFill>
                <a:hlinkClick r:id="rId2" action="ppaction://hlinksldjump"/>
              </a:rPr>
              <a:t>Отговор</a:t>
            </a:r>
            <a:endParaRPr lang="bg-BG" sz="2200" dirty="0" smtClean="0">
              <a:solidFill>
                <a:srgbClr val="92D050"/>
              </a:solidFill>
            </a:endParaRPr>
          </a:p>
          <a:p>
            <a:pPr>
              <a:buFont typeface="Wingdings" panose="05000000000000000000" pitchFamily="2" charset="2"/>
              <a:buChar char="ü"/>
            </a:pPr>
            <a:r>
              <a:rPr lang="en-US" sz="2200" dirty="0" smtClean="0"/>
              <a:t>  </a:t>
            </a:r>
            <a:r>
              <a:rPr lang="bg-BG" sz="2200" dirty="0" smtClean="0"/>
              <a:t>2. Знаете ли кои са режимите на работа?                                               </a:t>
            </a:r>
            <a:r>
              <a:rPr lang="en-US" sz="2200" dirty="0" smtClean="0"/>
              <a:t>	     </a:t>
            </a:r>
            <a:r>
              <a:rPr lang="bg-BG" sz="2200" dirty="0" smtClean="0"/>
              <a:t>  </a:t>
            </a:r>
            <a:r>
              <a:rPr lang="en-US" sz="2200" dirty="0" smtClean="0"/>
              <a:t>      </a:t>
            </a:r>
            <a:r>
              <a:rPr lang="bg-BG" sz="2200" dirty="0" smtClean="0">
                <a:solidFill>
                  <a:srgbClr val="FF0000"/>
                </a:solidFill>
                <a:hlinkClick r:id="rId3" action="ppaction://hlinksldjump"/>
              </a:rPr>
              <a:t>Отговор</a:t>
            </a:r>
            <a:endParaRPr lang="bg-BG" sz="2200" dirty="0" smtClean="0">
              <a:solidFill>
                <a:srgbClr val="FF0000"/>
              </a:solidFill>
            </a:endParaRPr>
          </a:p>
          <a:p>
            <a:pPr>
              <a:buFont typeface="Wingdings" panose="05000000000000000000" pitchFamily="2" charset="2"/>
              <a:buChar char="ü"/>
            </a:pPr>
            <a:r>
              <a:rPr lang="en-US" sz="2200" dirty="0" smtClean="0"/>
              <a:t>  </a:t>
            </a:r>
            <a:r>
              <a:rPr lang="bg-BG" sz="2200" dirty="0" smtClean="0"/>
              <a:t>3. Можете ли да изброите типовете клавиши?                                        </a:t>
            </a:r>
            <a:r>
              <a:rPr lang="en-US" sz="2200" dirty="0" smtClean="0"/>
              <a:t>               </a:t>
            </a:r>
            <a:r>
              <a:rPr lang="bg-BG" sz="2200" dirty="0" smtClean="0"/>
              <a:t> </a:t>
            </a:r>
            <a:r>
              <a:rPr lang="bg-BG" sz="2200" dirty="0" smtClean="0">
                <a:hlinkClick r:id="rId4" action="ppaction://hlinksldjump"/>
              </a:rPr>
              <a:t>Отговор </a:t>
            </a:r>
            <a:endParaRPr lang="bg-BG" sz="2200" dirty="0" smtClean="0"/>
          </a:p>
          <a:p>
            <a:pPr>
              <a:buFont typeface="Wingdings" panose="05000000000000000000" pitchFamily="2" charset="2"/>
              <a:buChar char="ü"/>
            </a:pPr>
            <a:r>
              <a:rPr lang="en-US" sz="2200" dirty="0" smtClean="0"/>
              <a:t>  </a:t>
            </a:r>
            <a:r>
              <a:rPr lang="bg-BG" sz="2200" dirty="0" smtClean="0"/>
              <a:t>4. Разбрахте ли кои са видовете клавиатури </a:t>
            </a:r>
            <a:r>
              <a:rPr lang="bg-BG" sz="2200" dirty="0"/>
              <a:t>според </a:t>
            </a:r>
            <a:r>
              <a:rPr lang="bg-BG" sz="2200" dirty="0" smtClean="0"/>
              <a:t>технологията?          </a:t>
            </a:r>
            <a:r>
              <a:rPr lang="bg-BG" sz="2200" dirty="0" smtClean="0">
                <a:hlinkClick r:id="rId5" action="ppaction://hlinksldjump"/>
              </a:rPr>
              <a:t>Отговор</a:t>
            </a:r>
            <a:endParaRPr lang="bg-BG" sz="2200" dirty="0" smtClean="0"/>
          </a:p>
          <a:p>
            <a:pPr>
              <a:buFont typeface="Wingdings" panose="05000000000000000000" pitchFamily="2" charset="2"/>
              <a:buChar char="ü"/>
            </a:pPr>
            <a:r>
              <a:rPr lang="en-US" sz="2200" dirty="0" smtClean="0"/>
              <a:t>  </a:t>
            </a:r>
            <a:r>
              <a:rPr lang="bg-BG" sz="2200" dirty="0" smtClean="0"/>
              <a:t>5. Можете ли да изброите видовете интерфейси?                                   </a:t>
            </a:r>
            <a:r>
              <a:rPr lang="bg-BG" sz="2200" dirty="0"/>
              <a:t> </a:t>
            </a:r>
            <a:r>
              <a:rPr lang="en-US" sz="2200" dirty="0" smtClean="0"/>
              <a:t>            </a:t>
            </a:r>
            <a:r>
              <a:rPr lang="bg-BG" sz="2200" dirty="0" smtClean="0">
                <a:hlinkClick r:id="rId6" action="ppaction://hlinksldjump"/>
              </a:rPr>
              <a:t>Отговор</a:t>
            </a:r>
            <a:endParaRPr lang="bg-BG" sz="2200" dirty="0" smtClean="0"/>
          </a:p>
          <a:p>
            <a:endParaRPr lang="en-US" dirty="0"/>
          </a:p>
        </p:txBody>
      </p:sp>
    </p:spTree>
    <p:extLst>
      <p:ext uri="{BB962C8B-B14F-4D97-AF65-F5344CB8AC3E}">
        <p14:creationId xmlns:p14="http://schemas.microsoft.com/office/powerpoint/2010/main" val="4184163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9436"/>
            <a:ext cx="9146383" cy="1371600"/>
          </a:xfrm>
        </p:spPr>
        <p:txBody>
          <a:bodyPr/>
          <a:lstStyle/>
          <a:p>
            <a:r>
              <a:rPr lang="bg-BG" dirty="0" smtClean="0"/>
              <a:t>ТЕСТ</a:t>
            </a:r>
            <a:endParaRPr lang="en-US" dirty="0"/>
          </a:p>
        </p:txBody>
      </p:sp>
      <p:sp>
        <p:nvSpPr>
          <p:cNvPr id="3" name="Content Placeholder 2"/>
          <p:cNvSpPr>
            <a:spLocks noGrp="1"/>
          </p:cNvSpPr>
          <p:nvPr>
            <p:ph idx="1"/>
          </p:nvPr>
        </p:nvSpPr>
        <p:spPr>
          <a:xfrm>
            <a:off x="1141412" y="2249487"/>
            <a:ext cx="10022581" cy="3541714"/>
          </a:xfrm>
        </p:spPr>
        <p:txBody>
          <a:bodyPr>
            <a:normAutofit/>
          </a:bodyPr>
          <a:lstStyle/>
          <a:p>
            <a:pPr>
              <a:buFont typeface="Wingdings" panose="05000000000000000000" pitchFamily="2" charset="2"/>
              <a:buChar char="ü"/>
            </a:pPr>
            <a:r>
              <a:rPr lang="bg-BG" sz="2200" dirty="0" smtClean="0"/>
              <a:t>  6</a:t>
            </a:r>
            <a:r>
              <a:rPr lang="bg-BG" sz="2200" dirty="0" smtClean="0"/>
              <a:t>. Разбрахте ли какви са характеристиките на </a:t>
            </a:r>
            <a:r>
              <a:rPr lang="en-US" sz="2200" dirty="0" smtClean="0"/>
              <a:t>PC/2?           </a:t>
            </a:r>
            <a:r>
              <a:rPr lang="bg-BG" sz="2200" dirty="0" smtClean="0"/>
              <a:t>          	     </a:t>
            </a:r>
            <a:r>
              <a:rPr lang="bg-BG" sz="2200" dirty="0" smtClean="0"/>
              <a:t>  </a:t>
            </a:r>
            <a:r>
              <a:rPr lang="en-US" sz="2200" dirty="0" smtClean="0"/>
              <a:t> </a:t>
            </a:r>
            <a:r>
              <a:rPr lang="bg-BG" sz="2200" dirty="0" smtClean="0">
                <a:hlinkClick r:id="rId2" action="ppaction://hlinksldjump"/>
              </a:rPr>
              <a:t>Отговор</a:t>
            </a:r>
            <a:endParaRPr lang="bg-BG" sz="2200" dirty="0" smtClean="0"/>
          </a:p>
          <a:p>
            <a:pPr>
              <a:buFont typeface="Wingdings" panose="05000000000000000000" pitchFamily="2" charset="2"/>
              <a:buChar char="ü"/>
            </a:pPr>
            <a:r>
              <a:rPr lang="bg-BG" sz="2200" dirty="0" smtClean="0"/>
              <a:t>  7</a:t>
            </a:r>
            <a:r>
              <a:rPr lang="bg-BG" sz="2200" dirty="0" smtClean="0"/>
              <a:t>. </a:t>
            </a:r>
            <a:r>
              <a:rPr lang="bg-BG" sz="2200" dirty="0"/>
              <a:t>О</a:t>
            </a:r>
            <a:r>
              <a:rPr lang="bg-BG" sz="2200" dirty="0" smtClean="0"/>
              <a:t>бясните за технологията на </a:t>
            </a:r>
            <a:r>
              <a:rPr lang="bg-BG" sz="2200" dirty="0"/>
              <a:t>механично </a:t>
            </a:r>
            <a:r>
              <a:rPr lang="bg-BG" sz="2200" dirty="0" smtClean="0"/>
              <a:t>превключване?                   </a:t>
            </a:r>
            <a:r>
              <a:rPr lang="en-US" sz="2200" dirty="0" smtClean="0"/>
              <a:t>  </a:t>
            </a:r>
            <a:r>
              <a:rPr lang="bg-BG" sz="2200" dirty="0" smtClean="0"/>
              <a:t> </a:t>
            </a:r>
            <a:r>
              <a:rPr lang="en-US" sz="2200" dirty="0" smtClean="0"/>
              <a:t> </a:t>
            </a:r>
            <a:r>
              <a:rPr lang="bg-BG" sz="2200" dirty="0" smtClean="0">
                <a:solidFill>
                  <a:schemeClr val="tx2">
                    <a:lumMod val="75000"/>
                  </a:schemeClr>
                </a:solidFill>
                <a:hlinkClick r:id="rId3" action="ppaction://hlinksldjump"/>
              </a:rPr>
              <a:t>Отговор</a:t>
            </a:r>
            <a:endParaRPr lang="bg-BG" sz="2200" dirty="0" smtClean="0">
              <a:solidFill>
                <a:schemeClr val="tx2">
                  <a:lumMod val="75000"/>
                </a:schemeClr>
              </a:solidFill>
            </a:endParaRPr>
          </a:p>
          <a:p>
            <a:pPr>
              <a:buFont typeface="Wingdings" panose="05000000000000000000" pitchFamily="2" charset="2"/>
              <a:buChar char="ü"/>
            </a:pPr>
            <a:r>
              <a:rPr lang="bg-BG" sz="2200" dirty="0" smtClean="0"/>
              <a:t>  8</a:t>
            </a:r>
            <a:r>
              <a:rPr lang="bg-BG" sz="2200" dirty="0" smtClean="0"/>
              <a:t>. Знаете ли кои са </a:t>
            </a:r>
            <a:r>
              <a:rPr lang="en-US" sz="2200" dirty="0" smtClean="0"/>
              <a:t>USB </a:t>
            </a:r>
            <a:r>
              <a:rPr lang="bg-BG" sz="2200" dirty="0" smtClean="0"/>
              <a:t>интерфейсите?</a:t>
            </a:r>
            <a:r>
              <a:rPr lang="en-US" sz="2200" dirty="0" smtClean="0"/>
              <a:t>                                                                 </a:t>
            </a:r>
            <a:r>
              <a:rPr lang="bg-BG" sz="2200" dirty="0" smtClean="0">
                <a:hlinkClick r:id="rId4" action="ppaction://hlinksldjump"/>
              </a:rPr>
              <a:t>Отговор</a:t>
            </a:r>
            <a:endParaRPr lang="bg-BG" sz="2200" dirty="0" smtClean="0"/>
          </a:p>
          <a:p>
            <a:pPr>
              <a:buFont typeface="Wingdings" panose="05000000000000000000" pitchFamily="2" charset="2"/>
              <a:buChar char="ü"/>
            </a:pPr>
            <a:r>
              <a:rPr lang="bg-BG" sz="2200" dirty="0" smtClean="0"/>
              <a:t>  9</a:t>
            </a:r>
            <a:r>
              <a:rPr lang="bg-BG" sz="2200" dirty="0" smtClean="0"/>
              <a:t>. Обяснете какъв е принципа на действие на клавиатурите?                 </a:t>
            </a:r>
            <a:r>
              <a:rPr lang="en-US" sz="2200" dirty="0" smtClean="0"/>
              <a:t> </a:t>
            </a:r>
            <a:r>
              <a:rPr lang="bg-BG" sz="2200" dirty="0" smtClean="0"/>
              <a:t> </a:t>
            </a:r>
            <a:r>
              <a:rPr lang="bg-BG" sz="2200" dirty="0" smtClean="0">
                <a:hlinkClick r:id="rId5" action="ppaction://hlinksldjump"/>
              </a:rPr>
              <a:t>Отговор </a:t>
            </a:r>
            <a:r>
              <a:rPr lang="bg-BG" sz="2200" dirty="0" smtClean="0"/>
              <a:t>           </a:t>
            </a:r>
            <a:endParaRPr lang="bg-BG" sz="2200" dirty="0" smtClean="0"/>
          </a:p>
          <a:p>
            <a:pPr>
              <a:buFont typeface="Wingdings" panose="05000000000000000000" pitchFamily="2" charset="2"/>
              <a:buChar char="ü"/>
            </a:pPr>
            <a:r>
              <a:rPr lang="bg-BG" sz="2200" dirty="0" smtClean="0"/>
              <a:t>  10</a:t>
            </a:r>
            <a:r>
              <a:rPr lang="bg-BG" sz="2200" dirty="0" smtClean="0"/>
              <a:t>. Запомнихте ли колко пинов конектор е </a:t>
            </a:r>
            <a:r>
              <a:rPr lang="en-US" sz="2200" dirty="0" smtClean="0"/>
              <a:t>DIN </a:t>
            </a:r>
            <a:r>
              <a:rPr lang="bg-BG" sz="2200" dirty="0" smtClean="0"/>
              <a:t>куплунг</a:t>
            </a:r>
            <a:r>
              <a:rPr lang="en-US" sz="2200" dirty="0" smtClean="0"/>
              <a:t>?</a:t>
            </a:r>
            <a:r>
              <a:rPr lang="bg-BG" sz="2200" dirty="0" smtClean="0"/>
              <a:t>                       </a:t>
            </a:r>
            <a:r>
              <a:rPr lang="en-US" sz="2200" dirty="0" smtClean="0"/>
              <a:t>   </a:t>
            </a:r>
            <a:r>
              <a:rPr lang="bg-BG" sz="2200" dirty="0" smtClean="0"/>
              <a:t>  </a:t>
            </a:r>
            <a:r>
              <a:rPr lang="bg-BG" sz="2200" dirty="0" smtClean="0">
                <a:hlinkClick r:id="rId6" action="ppaction://hlinksldjump"/>
              </a:rPr>
              <a:t>Отговор</a:t>
            </a:r>
            <a:endParaRPr lang="bg-BG" sz="2200" dirty="0" smtClean="0"/>
          </a:p>
          <a:p>
            <a:endParaRPr lang="bg-BG" sz="2200" dirty="0" smtClean="0"/>
          </a:p>
          <a:p>
            <a:endParaRPr lang="bg-BG" sz="2200" dirty="0" smtClean="0"/>
          </a:p>
          <a:p>
            <a:endParaRPr lang="en-US" sz="2200" dirty="0"/>
          </a:p>
        </p:txBody>
      </p:sp>
    </p:spTree>
    <p:extLst>
      <p:ext uri="{BB962C8B-B14F-4D97-AF65-F5344CB8AC3E}">
        <p14:creationId xmlns:p14="http://schemas.microsoft.com/office/powerpoint/2010/main" val="684459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Източници</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sz="2200" dirty="0" smtClean="0">
                <a:hlinkClick r:id="rId2" tooltip="https://en.wikipedia.org/wiki/Input_device"/>
              </a:rPr>
              <a:t>https</a:t>
            </a:r>
            <a:r>
              <a:rPr lang="en-US" sz="2200" dirty="0">
                <a:hlinkClick r:id="rId2" tooltip="https://en.wikipedia.org/wiki/Input_device"/>
              </a:rPr>
              <a:t>://</a:t>
            </a:r>
            <a:r>
              <a:rPr lang="en-US" sz="2200" dirty="0" smtClean="0">
                <a:hlinkClick r:id="rId2" tooltip="https://en.wikipedia.org/wiki/Input_device"/>
              </a:rPr>
              <a:t>en.wikipedia.org/wiki/Input_device</a:t>
            </a:r>
            <a:endParaRPr lang="bg-BG" sz="2200" dirty="0" smtClean="0"/>
          </a:p>
          <a:p>
            <a:pPr>
              <a:buFont typeface="Wingdings" panose="05000000000000000000" pitchFamily="2" charset="2"/>
              <a:buChar char="ü"/>
            </a:pPr>
            <a:r>
              <a:rPr lang="en-US" sz="2200" dirty="0" smtClean="0">
                <a:hlinkClick r:id="rId3" tooltip="https://bg.wikipedia.org/wiki/%D0%9A%D0%BE%D0%BC%D0%BF%D1%8E%D1%82%D1%8A%D1%80%D0%BD%D0%B0_%D0%BA%D0%BB%D0%B0%D0%B2%D0%B8%D0%B0%D1%82%D1%83%D1%80%D0%B0"/>
              </a:rPr>
              <a:t>https</a:t>
            </a:r>
            <a:r>
              <a:rPr lang="en-US" sz="2200" dirty="0">
                <a:hlinkClick r:id="rId3" tooltip="https://bg.wikipedia.org/wiki/%D0%9A%D0%BE%D0%BC%D0%BF%D1%8E%D1%82%D1%8A%D1%80%D0%BD%D0%B0_%D0%BA%D0%BB%D0%B0%D0%B2%D0%B8%D0%B0%D1%82%D1%83%D1%80%D0%B0"/>
              </a:rPr>
              <a:t>://bg.wikipedia.org/wiki/%D0%9A%D0%BE%D0%BC%D0%BF%D1%8E%D1%82%D1%8A%D1%80%D0%BD%D0%B0_%</a:t>
            </a:r>
            <a:r>
              <a:rPr lang="en-US" sz="2200" dirty="0" smtClean="0">
                <a:hlinkClick r:id="rId3" tooltip="https://bg.wikipedia.org/wiki/%D0%9A%D0%BE%D0%BC%D0%BF%D1%8E%D1%82%D1%8A%D1%80%D0%BD%D0%B0_%D0%BA%D0%BB%D0%B0%D0%B2%D0%B8%D0%B0%D1%82%D1%83%D1%80%D0%B0"/>
              </a:rPr>
              <a:t>D0%BA%D0%BB%D0%B0%D0%B2%D0%B8%D0%B0%D1%82%D1%83%D1%80%D0%B0</a:t>
            </a:r>
            <a:endParaRPr lang="bg-BG" sz="2200" dirty="0" smtClean="0"/>
          </a:p>
          <a:p>
            <a:pPr>
              <a:buFont typeface="Wingdings" panose="05000000000000000000" pitchFamily="2" charset="2"/>
              <a:buChar char="ü"/>
            </a:pPr>
            <a:r>
              <a:rPr lang="en-US" sz="2200" dirty="0">
                <a:hlinkClick r:id="rId4" tooltip="https://bg.wikipedia.org/wiki/%D0%9A%D0%BB%D0%B0%D0%B2%D0%B8%D0%B0%D1%82%D1%83%D1%80%D0%BD%D0%B0_%D0%BF%D0%BE%D0%B4%D1%80%D0%B5%D0%B4%D0%B1%D0%B0"/>
              </a:rPr>
              <a:t>https://bg.wikipedia.org/wiki/%D0%9A%D0%BB%D0%B0%D0%B2%D0%B8%D0%B0%D1%82%D1%83%D1%80%D0%BD%D0%B0_%D0%BF%D0%BE%D0%B4%D1%80%D0%B5%D0%B4%D0%B1%D0%B0</a:t>
            </a:r>
            <a:endParaRPr lang="en-US" sz="2200" dirty="0"/>
          </a:p>
        </p:txBody>
      </p:sp>
      <p:sp>
        <p:nvSpPr>
          <p:cNvPr id="4" name="TextBox 3"/>
          <p:cNvSpPr txBox="1"/>
          <p:nvPr/>
        </p:nvSpPr>
        <p:spPr>
          <a:xfrm>
            <a:off x="9384450" y="6284422"/>
            <a:ext cx="2569486" cy="369332"/>
          </a:xfrm>
          <a:prstGeom prst="rect">
            <a:avLst/>
          </a:prstGeom>
          <a:noFill/>
        </p:spPr>
        <p:txBody>
          <a:bodyPr wrap="none" rtlCol="0">
            <a:spAutoFit/>
          </a:bodyPr>
          <a:lstStyle/>
          <a:p>
            <a:r>
              <a:rPr lang="bg-BG" dirty="0" smtClean="0"/>
              <a:t>От Александър Лукарев</a:t>
            </a:r>
            <a:endParaRPr lang="en-US" dirty="0"/>
          </a:p>
        </p:txBody>
      </p:sp>
    </p:spTree>
    <p:extLst>
      <p:ext uri="{BB962C8B-B14F-4D97-AF65-F5344CB8AC3E}">
        <p14:creationId xmlns:p14="http://schemas.microsoft.com/office/powerpoint/2010/main" val="296564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Theme1">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5639F08F-3D32-4471-840D-360F4A2F69A6}" vid="{72FAC0B5-362E-4EA3-AB2E-664D897AA5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377</TotalTime>
  <Words>1064</Words>
  <Application>Microsoft Office PowerPoint</Application>
  <PresentationFormat>Widescreen</PresentationFormat>
  <Paragraphs>88</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Corbel</vt:lpstr>
      <vt:lpstr>Wingdings</vt:lpstr>
      <vt:lpstr>Theme1</vt:lpstr>
      <vt:lpstr>КЛАВИАТУРИ</vt:lpstr>
      <vt:lpstr>Съдържание</vt:lpstr>
      <vt:lpstr>Същност на клавиатурите </vt:lpstr>
      <vt:lpstr>PowerPoint Presentation</vt:lpstr>
      <vt:lpstr>Типове клавиши</vt:lpstr>
      <vt:lpstr>PowerPoint Presentation</vt:lpstr>
      <vt:lpstr>Принцип на действие</vt:lpstr>
      <vt:lpstr>Режим на работа</vt:lpstr>
      <vt:lpstr>Видове клавиатури според технологията </vt:lpstr>
      <vt:lpstr>С механично превключване</vt:lpstr>
      <vt:lpstr>С пружиниране </vt:lpstr>
      <vt:lpstr>Мембранна</vt:lpstr>
      <vt:lpstr>С куполен превключвател </vt:lpstr>
      <vt:lpstr>С ножичен превключвател</vt:lpstr>
      <vt:lpstr>Капацитивна</vt:lpstr>
      <vt:lpstr>С ефект на Хол</vt:lpstr>
      <vt:lpstr>Интерфейси</vt:lpstr>
      <vt:lpstr>DIN куплунг</vt:lpstr>
      <vt:lpstr>PC/2 </vt:lpstr>
      <vt:lpstr>USB интерфейси </vt:lpstr>
      <vt:lpstr>Безжичен интерфейс</vt:lpstr>
      <vt:lpstr>TЕСТ</vt:lpstr>
      <vt:lpstr>ТЕСТ</vt:lpstr>
      <vt:lpstr>Източници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КЛАВИАТУРи</dc:title>
  <dc:creator>alukarev</dc:creator>
  <cp:lastModifiedBy>alukarev</cp:lastModifiedBy>
  <cp:revision>40</cp:revision>
  <dcterms:created xsi:type="dcterms:W3CDTF">2022-11-20T11:22:28Z</dcterms:created>
  <dcterms:modified xsi:type="dcterms:W3CDTF">2022-11-27T17:12:39Z</dcterms:modified>
</cp:coreProperties>
</file>