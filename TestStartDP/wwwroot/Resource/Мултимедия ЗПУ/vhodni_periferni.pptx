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80" r:id="rId21"/>
    <p:sldId id="281" r:id="rId22"/>
    <p:sldId id="282" r:id="rId23"/>
    <p:sldId id="283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-252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5F165D-CA11-41B5-9CF3-94F85CDF2A1D}" type="doc">
      <dgm:prSet loTypeId="urn:microsoft.com/office/officeart/2005/8/layout/default#1" loCatId="list" qsTypeId="urn:microsoft.com/office/officeart/2005/8/quickstyle/simple1" qsCatId="simple" csTypeId="urn:microsoft.com/office/officeart/2005/8/colors/colorful1#1" csCatId="colorful"/>
      <dgm:spPr/>
      <dgm:t>
        <a:bodyPr/>
        <a:lstStyle/>
        <a:p>
          <a:endParaRPr lang="en-US"/>
        </a:p>
      </dgm:t>
    </dgm:pt>
    <dgm:pt modelId="{1CC2AE99-E4FF-4F6D-B5F7-2C969FD46B6A}">
      <dgm:prSet/>
      <dgm:spPr/>
      <dgm:t>
        <a:bodyPr/>
        <a:lstStyle/>
        <a:p>
          <a:r>
            <a:rPr lang="bg-BG"/>
            <a:t>Клавиатури </a:t>
          </a:r>
          <a:endParaRPr lang="en-US"/>
        </a:p>
      </dgm:t>
    </dgm:pt>
    <dgm:pt modelId="{1CC035AC-AA95-47FE-8F68-23070BF0C528}" type="parTrans" cxnId="{D85FC0D8-9C88-4D33-8A38-0F74EBEBCEFB}">
      <dgm:prSet/>
      <dgm:spPr/>
      <dgm:t>
        <a:bodyPr/>
        <a:lstStyle/>
        <a:p>
          <a:endParaRPr lang="en-US"/>
        </a:p>
      </dgm:t>
    </dgm:pt>
    <dgm:pt modelId="{F18B8CAB-A1C0-4C94-8715-D965153C7A61}" type="sibTrans" cxnId="{D85FC0D8-9C88-4D33-8A38-0F74EBEBCEFB}">
      <dgm:prSet/>
      <dgm:spPr/>
      <dgm:t>
        <a:bodyPr/>
        <a:lstStyle/>
        <a:p>
          <a:endParaRPr lang="en-US"/>
        </a:p>
      </dgm:t>
    </dgm:pt>
    <dgm:pt modelId="{8439F7E5-82DA-4BE1-BBCA-3B9B620C3F90}">
      <dgm:prSet/>
      <dgm:spPr/>
      <dgm:t>
        <a:bodyPr/>
        <a:lstStyle/>
        <a:p>
          <a:r>
            <a:rPr lang="bg-BG"/>
            <a:t>Мишки </a:t>
          </a:r>
          <a:endParaRPr lang="en-US"/>
        </a:p>
      </dgm:t>
    </dgm:pt>
    <dgm:pt modelId="{DAFCC909-924E-4984-8BDB-E9276A9F02A2}" type="parTrans" cxnId="{53314776-818B-44D1-BA96-A43FB37D1A55}">
      <dgm:prSet/>
      <dgm:spPr/>
      <dgm:t>
        <a:bodyPr/>
        <a:lstStyle/>
        <a:p>
          <a:endParaRPr lang="en-US"/>
        </a:p>
      </dgm:t>
    </dgm:pt>
    <dgm:pt modelId="{985CF733-BADE-4E3B-8312-3E3CD020DD35}" type="sibTrans" cxnId="{53314776-818B-44D1-BA96-A43FB37D1A55}">
      <dgm:prSet/>
      <dgm:spPr/>
      <dgm:t>
        <a:bodyPr/>
        <a:lstStyle/>
        <a:p>
          <a:endParaRPr lang="en-US"/>
        </a:p>
      </dgm:t>
    </dgm:pt>
    <dgm:pt modelId="{04E08452-CE99-44C1-9AFD-7ED26429CC39}">
      <dgm:prSet/>
      <dgm:spPr/>
      <dgm:t>
        <a:bodyPr/>
        <a:lstStyle/>
        <a:p>
          <a:r>
            <a:rPr lang="bg-BG"/>
            <a:t>Скенери </a:t>
          </a:r>
          <a:endParaRPr lang="en-US"/>
        </a:p>
      </dgm:t>
    </dgm:pt>
    <dgm:pt modelId="{5CA70C15-BB3C-4C92-A32D-CBC92689CCBC}" type="parTrans" cxnId="{B700F8ED-6AC9-414D-A3F6-A007EDDFC3BB}">
      <dgm:prSet/>
      <dgm:spPr/>
      <dgm:t>
        <a:bodyPr/>
        <a:lstStyle/>
        <a:p>
          <a:endParaRPr lang="en-US"/>
        </a:p>
      </dgm:t>
    </dgm:pt>
    <dgm:pt modelId="{7EDFAD95-21D9-42B3-ACC1-3E9B8F25C88F}" type="sibTrans" cxnId="{B700F8ED-6AC9-414D-A3F6-A007EDDFC3BB}">
      <dgm:prSet/>
      <dgm:spPr/>
      <dgm:t>
        <a:bodyPr/>
        <a:lstStyle/>
        <a:p>
          <a:endParaRPr lang="en-US"/>
        </a:p>
      </dgm:t>
    </dgm:pt>
    <dgm:pt modelId="{13123FC7-CA69-47F3-9E00-98B7F838E36B}" type="pres">
      <dgm:prSet presAssocID="{035F165D-CA11-41B5-9CF3-94F85CDF2A1D}" presName="diagram" presStyleCnt="0">
        <dgm:presLayoutVars>
          <dgm:dir/>
          <dgm:resizeHandles val="exact"/>
        </dgm:presLayoutVars>
      </dgm:prSet>
      <dgm:spPr/>
    </dgm:pt>
    <dgm:pt modelId="{B4C5EDB2-706D-4373-85D0-F3B4AC330B17}" type="pres">
      <dgm:prSet presAssocID="{1CC2AE99-E4FF-4F6D-B5F7-2C969FD46B6A}" presName="node" presStyleLbl="node1" presStyleIdx="0" presStyleCnt="3">
        <dgm:presLayoutVars>
          <dgm:bulletEnabled val="1"/>
        </dgm:presLayoutVars>
      </dgm:prSet>
      <dgm:spPr/>
    </dgm:pt>
    <dgm:pt modelId="{FBB82807-ED1B-493A-8C69-BEBA9FF83B7E}" type="pres">
      <dgm:prSet presAssocID="{F18B8CAB-A1C0-4C94-8715-D965153C7A61}" presName="sibTrans" presStyleCnt="0"/>
      <dgm:spPr/>
    </dgm:pt>
    <dgm:pt modelId="{22DDCAFC-06A2-492E-A6A3-0266D60640E6}" type="pres">
      <dgm:prSet presAssocID="{8439F7E5-82DA-4BE1-BBCA-3B9B620C3F90}" presName="node" presStyleLbl="node1" presStyleIdx="1" presStyleCnt="3">
        <dgm:presLayoutVars>
          <dgm:bulletEnabled val="1"/>
        </dgm:presLayoutVars>
      </dgm:prSet>
      <dgm:spPr/>
    </dgm:pt>
    <dgm:pt modelId="{34412B90-1ECB-442E-B517-895B68657403}" type="pres">
      <dgm:prSet presAssocID="{985CF733-BADE-4E3B-8312-3E3CD020DD35}" presName="sibTrans" presStyleCnt="0"/>
      <dgm:spPr/>
    </dgm:pt>
    <dgm:pt modelId="{CEB00EA1-11EC-419D-B631-3F83E015AD9D}" type="pres">
      <dgm:prSet presAssocID="{04E08452-CE99-44C1-9AFD-7ED26429CC39}" presName="node" presStyleLbl="node1" presStyleIdx="2" presStyleCnt="3">
        <dgm:presLayoutVars>
          <dgm:bulletEnabled val="1"/>
        </dgm:presLayoutVars>
      </dgm:prSet>
      <dgm:spPr/>
    </dgm:pt>
  </dgm:ptLst>
  <dgm:cxnLst>
    <dgm:cxn modelId="{87FABB1C-3C15-4ED8-8687-E562D7145840}" type="presOf" srcId="{04E08452-CE99-44C1-9AFD-7ED26429CC39}" destId="{CEB00EA1-11EC-419D-B631-3F83E015AD9D}" srcOrd="0" destOrd="0" presId="urn:microsoft.com/office/officeart/2005/8/layout/default#1"/>
    <dgm:cxn modelId="{CFA2C83C-2F3F-433B-B9BC-CB9100CEA607}" type="presOf" srcId="{8439F7E5-82DA-4BE1-BBCA-3B9B620C3F90}" destId="{22DDCAFC-06A2-492E-A6A3-0266D60640E6}" srcOrd="0" destOrd="0" presId="urn:microsoft.com/office/officeart/2005/8/layout/default#1"/>
    <dgm:cxn modelId="{53314776-818B-44D1-BA96-A43FB37D1A55}" srcId="{035F165D-CA11-41B5-9CF3-94F85CDF2A1D}" destId="{8439F7E5-82DA-4BE1-BBCA-3B9B620C3F90}" srcOrd="1" destOrd="0" parTransId="{DAFCC909-924E-4984-8BDB-E9276A9F02A2}" sibTransId="{985CF733-BADE-4E3B-8312-3E3CD020DD35}"/>
    <dgm:cxn modelId="{694C2887-D26C-408A-845F-1E22154F5BAC}" type="presOf" srcId="{035F165D-CA11-41B5-9CF3-94F85CDF2A1D}" destId="{13123FC7-CA69-47F3-9E00-98B7F838E36B}" srcOrd="0" destOrd="0" presId="urn:microsoft.com/office/officeart/2005/8/layout/default#1"/>
    <dgm:cxn modelId="{D85FC0D8-9C88-4D33-8A38-0F74EBEBCEFB}" srcId="{035F165D-CA11-41B5-9CF3-94F85CDF2A1D}" destId="{1CC2AE99-E4FF-4F6D-B5F7-2C969FD46B6A}" srcOrd="0" destOrd="0" parTransId="{1CC035AC-AA95-47FE-8F68-23070BF0C528}" sibTransId="{F18B8CAB-A1C0-4C94-8715-D965153C7A61}"/>
    <dgm:cxn modelId="{8548E2E7-4A68-4730-BC90-F6D9BCE156B2}" type="presOf" srcId="{1CC2AE99-E4FF-4F6D-B5F7-2C969FD46B6A}" destId="{B4C5EDB2-706D-4373-85D0-F3B4AC330B17}" srcOrd="0" destOrd="0" presId="urn:microsoft.com/office/officeart/2005/8/layout/default#1"/>
    <dgm:cxn modelId="{B700F8ED-6AC9-414D-A3F6-A007EDDFC3BB}" srcId="{035F165D-CA11-41B5-9CF3-94F85CDF2A1D}" destId="{04E08452-CE99-44C1-9AFD-7ED26429CC39}" srcOrd="2" destOrd="0" parTransId="{5CA70C15-BB3C-4C92-A32D-CBC92689CCBC}" sibTransId="{7EDFAD95-21D9-42B3-ACC1-3E9B8F25C88F}"/>
    <dgm:cxn modelId="{3C43A8F3-41F9-48FF-A11A-657FE8AB9561}" type="presParOf" srcId="{13123FC7-CA69-47F3-9E00-98B7F838E36B}" destId="{B4C5EDB2-706D-4373-85D0-F3B4AC330B17}" srcOrd="0" destOrd="0" presId="urn:microsoft.com/office/officeart/2005/8/layout/default#1"/>
    <dgm:cxn modelId="{3C3B48D6-D931-4B51-88BC-1BE754876D22}" type="presParOf" srcId="{13123FC7-CA69-47F3-9E00-98B7F838E36B}" destId="{FBB82807-ED1B-493A-8C69-BEBA9FF83B7E}" srcOrd="1" destOrd="0" presId="urn:microsoft.com/office/officeart/2005/8/layout/default#1"/>
    <dgm:cxn modelId="{BB91E1F4-93C5-4C6F-B2B7-3520C5AFC981}" type="presParOf" srcId="{13123FC7-CA69-47F3-9E00-98B7F838E36B}" destId="{22DDCAFC-06A2-492E-A6A3-0266D60640E6}" srcOrd="2" destOrd="0" presId="urn:microsoft.com/office/officeart/2005/8/layout/default#1"/>
    <dgm:cxn modelId="{5ECF75A1-6927-41A6-A90A-5E76CE346A29}" type="presParOf" srcId="{13123FC7-CA69-47F3-9E00-98B7F838E36B}" destId="{34412B90-1ECB-442E-B517-895B68657403}" srcOrd="3" destOrd="0" presId="urn:microsoft.com/office/officeart/2005/8/layout/default#1"/>
    <dgm:cxn modelId="{4FFE3EE1-DFA6-42FB-9FA8-E79121798D65}" type="presParOf" srcId="{13123FC7-CA69-47F3-9E00-98B7F838E36B}" destId="{CEB00EA1-11EC-419D-B631-3F83E015AD9D}" srcOrd="4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C5EDB2-706D-4373-85D0-F3B4AC330B17}">
      <dsp:nvSpPr>
        <dsp:cNvPr id="0" name=""/>
        <dsp:cNvSpPr/>
      </dsp:nvSpPr>
      <dsp:spPr>
        <a:xfrm>
          <a:off x="1615851" y="2998"/>
          <a:ext cx="3089790" cy="185387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4300" kern="1200"/>
            <a:t>Клавиатури </a:t>
          </a:r>
          <a:endParaRPr lang="en-US" sz="4300" kern="1200"/>
        </a:p>
      </dsp:txBody>
      <dsp:txXfrm>
        <a:off x="1615851" y="2998"/>
        <a:ext cx="3089790" cy="1853874"/>
      </dsp:txXfrm>
    </dsp:sp>
    <dsp:sp modelId="{22DDCAFC-06A2-492E-A6A3-0266D60640E6}">
      <dsp:nvSpPr>
        <dsp:cNvPr id="0" name=""/>
        <dsp:cNvSpPr/>
      </dsp:nvSpPr>
      <dsp:spPr>
        <a:xfrm>
          <a:off x="5014620" y="2998"/>
          <a:ext cx="3089790" cy="185387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4300" kern="1200"/>
            <a:t>Мишки </a:t>
          </a:r>
          <a:endParaRPr lang="en-US" sz="4300" kern="1200"/>
        </a:p>
      </dsp:txBody>
      <dsp:txXfrm>
        <a:off x="5014620" y="2998"/>
        <a:ext cx="3089790" cy="1853874"/>
      </dsp:txXfrm>
    </dsp:sp>
    <dsp:sp modelId="{CEB00EA1-11EC-419D-B631-3F83E015AD9D}">
      <dsp:nvSpPr>
        <dsp:cNvPr id="0" name=""/>
        <dsp:cNvSpPr/>
      </dsp:nvSpPr>
      <dsp:spPr>
        <a:xfrm>
          <a:off x="3315235" y="2165852"/>
          <a:ext cx="3089790" cy="185387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4300" kern="1200"/>
            <a:t>Скенери </a:t>
          </a:r>
          <a:endParaRPr lang="en-US" sz="4300" kern="1200"/>
        </a:p>
      </dsp:txBody>
      <dsp:txXfrm>
        <a:off x="3315235" y="2165852"/>
        <a:ext cx="3089790" cy="18538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3CADBD16-5BFB-4D9F-9646-C75D1B53BBB6}" type="datetimeFigureOut">
              <a:rPr lang="en-US" smtClean="0"/>
              <a:pPr/>
              <a:t>12/19/2022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9687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12/19/2022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5049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лавка разд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12/19/2022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2215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12/19/2022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115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12/19/2022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671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12/19/2022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99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12/19/2022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482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12/19/2022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066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12/19/2022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8596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12/19/2022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905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pPr/>
              <a:t>12/19/2022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6047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3CADBD16-5BFB-4D9F-9646-C75D1B53BBB6}" type="datetimeFigureOut">
              <a:rPr lang="en-US" smtClean="0"/>
              <a:pPr/>
              <a:t>12/19/2022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8223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734D6AB-DFFB-44C4-BC27-F06C28C7AC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81101"/>
            <a:ext cx="5202381" cy="1998517"/>
          </a:xfrm>
        </p:spPr>
        <p:txBody>
          <a:bodyPr>
            <a:normAutofit/>
          </a:bodyPr>
          <a:lstStyle/>
          <a:p>
            <a:r>
              <a:rPr lang="bg-BG" dirty="0"/>
              <a:t>Входни периферни устройства </a:t>
            </a:r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id="{6B72CA88-7169-486C-821A-2B016A060B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1" y="4010061"/>
            <a:ext cx="2597190" cy="1814946"/>
          </a:xfrm>
        </p:spPr>
        <p:txBody>
          <a:bodyPr anchor="b">
            <a:normAutofit/>
          </a:bodyPr>
          <a:lstStyle/>
          <a:p>
            <a:r>
              <a:rPr lang="bg-BG" dirty="0"/>
              <a:t>Денис Петров </a:t>
            </a:r>
            <a:r>
              <a:rPr lang="en-US" dirty="0"/>
              <a:t>10</a:t>
            </a:r>
            <a:r>
              <a:rPr lang="bg-BG" dirty="0"/>
              <a:t>г </a:t>
            </a:r>
          </a:p>
        </p:txBody>
      </p:sp>
      <p:pic>
        <p:nvPicPr>
          <p:cNvPr id="44" name="Picture 3" descr="Neon geometric shapes">
            <a:extLst>
              <a:ext uri="{FF2B5EF4-FFF2-40B4-BE49-F238E27FC236}">
                <a16:creationId xmlns:a16="http://schemas.microsoft.com/office/drawing/2014/main" id="{160E5697-534A-4F25-9BD6-10F7DD5AA97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r="22027"/>
          <a:stretch/>
        </p:blipFill>
        <p:spPr>
          <a:xfrm>
            <a:off x="2685473" y="10"/>
            <a:ext cx="9506528" cy="6857990"/>
          </a:xfrm>
          <a:custGeom>
            <a:avLst/>
            <a:gdLst/>
            <a:ahLst/>
            <a:cxnLst/>
            <a:rect l="l" t="t" r="r" b="b"/>
            <a:pathLst>
              <a:path w="9506528" h="6858000">
                <a:moveTo>
                  <a:pt x="6427633" y="0"/>
                </a:moveTo>
                <a:lnTo>
                  <a:pt x="9506528" y="0"/>
                </a:lnTo>
                <a:lnTo>
                  <a:pt x="9506528" y="1557082"/>
                </a:lnTo>
                <a:lnTo>
                  <a:pt x="4860617" y="6858000"/>
                </a:lnTo>
                <a:lnTo>
                  <a:pt x="417041" y="6858000"/>
                </a:lnTo>
                <a:close/>
                <a:moveTo>
                  <a:pt x="0" y="0"/>
                </a:moveTo>
                <a:lnTo>
                  <a:pt x="6427633" y="0"/>
                </a:lnTo>
                <a:lnTo>
                  <a:pt x="0" y="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45574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9FF4312-95C1-4C14-B20D-2DF307228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bg-BG" dirty="0"/>
              <a:t>Съдържание </a:t>
            </a:r>
          </a:p>
        </p:txBody>
      </p:sp>
      <p:graphicFrame>
        <p:nvGraphicFramePr>
          <p:cNvPr id="5" name="Контейнер за съдържание 2">
            <a:extLst>
              <a:ext uri="{FF2B5EF4-FFF2-40B4-BE49-F238E27FC236}">
                <a16:creationId xmlns:a16="http://schemas.microsoft.com/office/drawing/2014/main" id="{76AF3F22-C6FE-4113-9E18-03252D521F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8531640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69469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194971-2F2D-44B0-8AE6-FF2DCCEE0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Oval 5">
            <a:extLst>
              <a:ext uri="{FF2B5EF4-FFF2-40B4-BE49-F238E27FC236}">
                <a16:creationId xmlns:a16="http://schemas.microsoft.com/office/drawing/2014/main" id="{1FF9A61E-EB11-4C46-82E1-3E00A3B4B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564EB3-35F2-4EFF-87DC-642DC0205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540FAC9-3505-49ED-9B06-A0F8C1485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79B3CD-E329-42F5-B136-BA1F37EC0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5464" y="484632"/>
            <a:ext cx="7453538" cy="58809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5771B90E-39F2-40B7-92AD-16B8CA39F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96" y="977900"/>
            <a:ext cx="6539558" cy="33277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1.КЛАВИАТУРА</a:t>
            </a:r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6976E455-EE8E-4CD8-86AD-B731CA3E2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0096" y="4621235"/>
            <a:ext cx="6539558" cy="12250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2000"/>
              <a:t>1.1 СЪЩНОСТ</a:t>
            </a:r>
          </a:p>
          <a:p>
            <a:pPr algn="r"/>
            <a:r>
              <a:rPr lang="en-US" sz="2000"/>
              <a:t>1.2 </a:t>
            </a:r>
            <a:r>
              <a:rPr lang="en-US" sz="2000" b="0" i="0" u="none" strike="noStrike" cap="all">
                <a:effectLst/>
              </a:rPr>
              <a:t>ЧАСТИ НА КЛАВИАТУРАТА</a:t>
            </a:r>
            <a:r>
              <a:rPr lang="en-US" sz="2000" b="0" i="0">
                <a:effectLst/>
              </a:rPr>
              <a:t>​</a:t>
            </a:r>
          </a:p>
          <a:p>
            <a:pPr algn="r"/>
            <a:r>
              <a:rPr lang="en-US" sz="2000"/>
              <a:t>1.3 РЕЖИМИ НА РАБОТА </a:t>
            </a:r>
          </a:p>
          <a:p>
            <a:pPr algn="r"/>
            <a:endParaRPr lang="en-US" sz="20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1B042EF-3024-4C57-B282-1B30607FB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158680" y="4476657"/>
            <a:ext cx="5370974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A0B4097-B645-43E0-A2B5-B8D688E74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9870" y="484632"/>
            <a:ext cx="3584224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9676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200C8B5-FB5A-4F8B-A9BD-693C05141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CBDDD243-ED5F-4896-B18B-ABCF4B7E1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19E6BB3-DF2B-4751-97C5-B3DB949AE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50A75C7A-1D9A-4269-8E3F-A50AA94E7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911819"/>
            <a:ext cx="9720072" cy="14996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1.1 СЪЩНОСТ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88548599-4BBF-4FA2-83F1-B95696FE4F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4129" y="643467"/>
            <a:ext cx="4750138" cy="3606798"/>
          </a:xfrm>
        </p:spPr>
        <p:txBody>
          <a:bodyPr vert="horz" lIns="45720" tIns="45720" rIns="45720" bIns="45720" rtlCol="0" anchor="ctr">
            <a:normAutofit lnSpcReduction="10000"/>
          </a:bodyPr>
          <a:lstStyle/>
          <a:p>
            <a:r>
              <a:rPr lang="en-US" sz="2000" b="0" i="0" u="none" strike="noStrike">
                <a:effectLst/>
              </a:rPr>
              <a:t>Клавиатурите са входни периферни устройства. Те са най-важните периферни устройства(без тях не може). Използват 5V захранване. Предназначени са за управление на компютъра и управление на информацията. Изградени са на матричен принцип, в редове и колони. Като така се формира функционалния ред, буквено-цифров блок, само цифров блок и специализирани клавиши. </a:t>
            </a:r>
            <a:r>
              <a:rPr lang="en-US" sz="2000" b="0" i="0">
                <a:effectLst/>
              </a:rPr>
              <a:t>​</a:t>
            </a:r>
            <a:endParaRPr lang="en-US" sz="2000"/>
          </a:p>
        </p:txBody>
      </p:sp>
      <p:pic>
        <p:nvPicPr>
          <p:cNvPr id="1026" name="Picture 2" descr="Безжична клавиатура Apple Magic Keyboard - Int. английски">
            <a:extLst>
              <a:ext uri="{FF2B5EF4-FFF2-40B4-BE49-F238E27FC236}">
                <a16:creationId xmlns:a16="http://schemas.microsoft.com/office/drawing/2014/main" id="{639B2A68-2063-4283-B29E-DC33EB06376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396"/>
          <a:stretch/>
        </p:blipFill>
        <p:spPr bwMode="auto">
          <a:xfrm>
            <a:off x="6980692" y="643467"/>
            <a:ext cx="3621173" cy="3606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A61721DD-D110-44EE-82A7-D56AB687E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5204427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7121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200C8B5-FB5A-4F8B-A9BD-693C05141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4FAE1107-CEC3-4041-8BAA-CDB6F6759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566B911A-8906-446C-9A28-3500D6F92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3779085" cy="14996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>
                <a:solidFill>
                  <a:srgbClr val="FFFFFF"/>
                </a:solidFill>
              </a:rPr>
              <a:t>1.2 </a:t>
            </a:r>
            <a:r>
              <a:rPr lang="en-US" sz="2400" b="0" i="0" u="none" strike="noStrike">
                <a:solidFill>
                  <a:srgbClr val="FFFFFF"/>
                </a:solidFill>
                <a:effectLst/>
              </a:rPr>
              <a:t>ЧАСТИ НА КЛАВИАТУРАТА</a:t>
            </a:r>
            <a:r>
              <a:rPr lang="en-US" sz="2400" b="0" i="0">
                <a:solidFill>
                  <a:srgbClr val="FFFFFF"/>
                </a:solidFill>
                <a:effectLst/>
              </a:rPr>
              <a:t>​</a:t>
            </a:r>
            <a:br>
              <a:rPr lang="en-US" sz="2400" b="0" i="0">
                <a:solidFill>
                  <a:srgbClr val="FFFFFF"/>
                </a:solidFill>
                <a:effectLst/>
              </a:rPr>
            </a:br>
            <a:endParaRPr lang="en-US" sz="2400">
              <a:solidFill>
                <a:srgbClr val="FFFFFF"/>
              </a:solidFill>
            </a:endParaRP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AEA88FB-F5DD-45CE-AAE1-7B33D0ABD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C6F1D725-4522-46C8-AEFA-277A7FA755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4129" y="2286000"/>
            <a:ext cx="3791711" cy="3931920"/>
          </a:xfrm>
        </p:spPr>
        <p:txBody>
          <a:bodyPr vert="horz" lIns="45720" tIns="45720" rIns="45720" bIns="45720" rtlCol="0">
            <a:normAutofit/>
          </a:bodyPr>
          <a:lstStyle/>
          <a:p>
            <a:pPr marL="0" indent="0" fontAlgn="base">
              <a:buNone/>
            </a:pPr>
            <a:r>
              <a:rPr lang="en-US" sz="1700" b="0" i="0" u="none" strike="noStrike">
                <a:solidFill>
                  <a:srgbClr val="FFFFFF"/>
                </a:solidFill>
                <a:effectLst/>
              </a:rPr>
              <a:t> Функционална част- esc, F1,-F12, pause break, prtSc, scroll lock, insert, home page up, page down, delete, end</a:t>
            </a:r>
            <a:r>
              <a:rPr lang="en-US" sz="1700" b="0" i="0">
                <a:solidFill>
                  <a:srgbClr val="FFFFFF"/>
                </a:solidFill>
                <a:effectLst/>
              </a:rPr>
              <a:t>​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1700" b="0" i="0" u="none" strike="noStrike">
                <a:solidFill>
                  <a:srgbClr val="FFFFFF"/>
                </a:solidFill>
                <a:effectLst/>
              </a:rPr>
              <a:t> Символна част- обхваща всички символи: !, @,№, $, %, €, §, *, (, ), _, &lt;, &gt;, ?, /, ,+, ., space, enter, alt, caps lock, tab... </a:t>
            </a:r>
            <a:r>
              <a:rPr lang="en-US" sz="1700" b="0" i="0">
                <a:solidFill>
                  <a:srgbClr val="FFFFFF"/>
                </a:solidFill>
                <a:effectLst/>
              </a:rPr>
              <a:t>​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1700" b="0" i="0" u="none" strike="noStrike">
                <a:solidFill>
                  <a:srgbClr val="FFFFFF"/>
                </a:solidFill>
                <a:effectLst/>
              </a:rPr>
              <a:t> Навигационна част- включва клавишите за придвижване на маркера -&gt;, &lt;-, delete, insert</a:t>
            </a:r>
            <a:r>
              <a:rPr lang="en-US" sz="1700" b="0" i="0">
                <a:solidFill>
                  <a:srgbClr val="FFFFFF"/>
                </a:solidFill>
                <a:effectLst/>
              </a:rPr>
              <a:t>​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sz="1700" b="0" i="0" u="none" strike="noStrike">
                <a:solidFill>
                  <a:srgbClr val="FFFFFF"/>
                </a:solidFill>
                <a:effectLst/>
              </a:rPr>
              <a:t> Цифрова част- работи в 2 режима- Num lock, /, *, -, +, enter, 1, 2, 3, 4, 5, 6, 7, 8, 9</a:t>
            </a:r>
            <a:r>
              <a:rPr lang="en-US" sz="1700" b="0" i="0">
                <a:solidFill>
                  <a:srgbClr val="FFFFFF"/>
                </a:solidFill>
                <a:effectLst/>
              </a:rPr>
              <a:t>​</a:t>
            </a:r>
          </a:p>
          <a:p>
            <a:endParaRPr lang="en-US" sz="1700">
              <a:solidFill>
                <a:srgbClr val="FFFFFF"/>
              </a:solidFill>
            </a:endParaRPr>
          </a:p>
        </p:txBody>
      </p:sp>
      <p:pic>
        <p:nvPicPr>
          <p:cNvPr id="2050" name="Picture 2" descr="TeacherIT">
            <a:extLst>
              <a:ext uri="{FF2B5EF4-FFF2-40B4-BE49-F238E27FC236}">
                <a16:creationId xmlns:a16="http://schemas.microsoft.com/office/drawing/2014/main" id="{8C5D9ED6-66FC-44D9-913C-F611FCDAD92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1993558"/>
            <a:ext cx="5455921" cy="2870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2735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15F1CC53-719A-4763-BF30-5E25A63CE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C1A9B9E1-AE3D-4F69-9670-71C92ED1B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34704154-BAF1-4BEA-9DA5-8DE6AB251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3779085" cy="14996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1.3 РЕЖИМИ НА РАБОТА </a:t>
            </a:r>
            <a:br>
              <a:rPr lang="en-US" sz="3500">
                <a:solidFill>
                  <a:srgbClr val="FFFFFF"/>
                </a:solidFill>
              </a:rPr>
            </a:br>
            <a:endParaRPr lang="en-US" sz="3500">
              <a:solidFill>
                <a:srgbClr val="FFFFFF"/>
              </a:solidFill>
            </a:endParaRP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3234ED8A-BEE3-4F34-B45B-731E1E292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EBCC4A31-B6CD-4E23-8517-3D290096AD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4129" y="2286000"/>
            <a:ext cx="3791711" cy="3931920"/>
          </a:xfrm>
        </p:spPr>
        <p:txBody>
          <a:bodyPr vert="horz" lIns="45720" tIns="45720" rIns="45720" bIns="45720" rtlCol="0">
            <a:normAutofit/>
          </a:bodyPr>
          <a:lstStyle/>
          <a:p>
            <a:r>
              <a:rPr lang="en-US" sz="2000" b="0" i="0" u="none" strike="noStrike">
                <a:solidFill>
                  <a:srgbClr val="FFFFFF"/>
                </a:solidFill>
                <a:effectLst/>
              </a:rPr>
              <a:t>Работят в два режима на работа, на натиснат и отпуснат клавиш. На всеки клавиш от клавиатурата е присвоен така наречения позиционен код. Този код е число от 1 до 101 и се субира в 7 бита. При всяко натискане и отпускане на клавиатурата се подава и 0 или 1 към CPU. Към седемте бита се добавя 0 при натиснат или 1 за отпуснат клавиш.</a:t>
            </a:r>
            <a:r>
              <a:rPr lang="en-US" sz="2000" b="0" i="0">
                <a:solidFill>
                  <a:srgbClr val="FFFFFF"/>
                </a:solidFill>
                <a:effectLst/>
              </a:rPr>
              <a:t>​</a:t>
            </a:r>
            <a:endParaRPr lang="en-US" sz="2000">
              <a:solidFill>
                <a:srgbClr val="FFFFFF"/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841FF04-25C1-4DA2-A0C2-4016A243EF8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617"/>
          <a:stretch/>
        </p:blipFill>
        <p:spPr bwMode="auto">
          <a:xfrm>
            <a:off x="6096000" y="640080"/>
            <a:ext cx="5455921" cy="5577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3363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FB715CB4-3B2B-45E0-9672-B312F0E8A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181099"/>
            <a:ext cx="3965840" cy="14559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2.1 СЪЩНОСТ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7B8F64B1-0C1A-41E7-987F-7498B40390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8203" y="3119127"/>
            <a:ext cx="10170797" cy="2595874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110000"/>
              </a:lnSpc>
            </a:pPr>
            <a:r>
              <a:rPr lang="en-US" b="0" i="0" u="none" strike="noStrike" dirty="0" err="1">
                <a:effectLst/>
              </a:rPr>
              <a:t>Компютърната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мишка</a:t>
            </a:r>
            <a:r>
              <a:rPr lang="en-US" b="0" i="0" u="none" strike="noStrike" dirty="0">
                <a:effectLst/>
              </a:rPr>
              <a:t> е </a:t>
            </a:r>
            <a:r>
              <a:rPr lang="en-US" b="0" i="0" u="none" strike="noStrike" dirty="0" err="1">
                <a:effectLst/>
              </a:rPr>
              <a:t>входно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периферно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устройство</a:t>
            </a:r>
            <a:r>
              <a:rPr lang="en-US" b="0" i="0" u="none" strike="noStrike" dirty="0">
                <a:effectLst/>
              </a:rPr>
              <a:t>. </a:t>
            </a:r>
            <a:r>
              <a:rPr lang="en-US" b="0" i="0" u="none" strike="noStrike" dirty="0" err="1">
                <a:effectLst/>
              </a:rPr>
              <a:t>Появява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се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по-късно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от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клавиатурата</a:t>
            </a:r>
            <a:r>
              <a:rPr lang="en-US" b="0" i="0" u="none" strike="noStrike" dirty="0">
                <a:effectLst/>
              </a:rPr>
              <a:t>, и </a:t>
            </a:r>
            <a:r>
              <a:rPr lang="en-US" b="0" i="0" u="none" strike="noStrike" dirty="0" err="1">
                <a:effectLst/>
              </a:rPr>
              <a:t>се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добавя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за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удобство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на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потребителя</a:t>
            </a:r>
            <a:r>
              <a:rPr lang="en-US" b="0" i="0" u="none" strike="noStrike" dirty="0">
                <a:effectLst/>
              </a:rPr>
              <a:t>. </a:t>
            </a:r>
            <a:r>
              <a:rPr lang="en-US" b="0" i="0" u="none" strike="noStrike" dirty="0" err="1">
                <a:effectLst/>
              </a:rPr>
              <a:t>Задвижват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се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от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ръката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на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потребителя</a:t>
            </a:r>
            <a:r>
              <a:rPr lang="en-US" b="0" i="0" u="none" strike="noStrike" dirty="0">
                <a:effectLst/>
              </a:rPr>
              <a:t>. </a:t>
            </a:r>
            <a:r>
              <a:rPr lang="en-US" b="0" i="0" u="none" strike="noStrike" dirty="0" err="1">
                <a:effectLst/>
              </a:rPr>
              <a:t>Мишката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се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движи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по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въображаема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координатна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система</a:t>
            </a:r>
            <a:r>
              <a:rPr lang="en-US" b="0" i="0" u="none" strike="noStrike" dirty="0">
                <a:effectLst/>
              </a:rPr>
              <a:t> /</a:t>
            </a:r>
            <a:r>
              <a:rPr lang="en-US" b="0" i="0" u="none" strike="noStrike" dirty="0" err="1">
                <a:effectLst/>
              </a:rPr>
              <a:t>върху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повърхността</a:t>
            </a:r>
            <a:r>
              <a:rPr lang="en-US" b="0" i="0" u="none" strike="noStrike" dirty="0">
                <a:effectLst/>
              </a:rPr>
              <a:t>, </a:t>
            </a:r>
            <a:r>
              <a:rPr lang="en-US" b="0" i="0" u="none" strike="noStrike" dirty="0" err="1">
                <a:effectLst/>
              </a:rPr>
              <a:t>по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която</a:t>
            </a:r>
            <a:r>
              <a:rPr lang="en-US" b="0" i="0" u="none" strike="noStrike" dirty="0">
                <a:effectLst/>
              </a:rPr>
              <a:t> я </a:t>
            </a:r>
            <a:r>
              <a:rPr lang="en-US" b="0" i="0" u="none" strike="noStrike" dirty="0" err="1">
                <a:effectLst/>
              </a:rPr>
              <a:t>движим</a:t>
            </a:r>
            <a:r>
              <a:rPr lang="en-US" b="0" i="0" u="none" strike="noStrike" dirty="0">
                <a:effectLst/>
              </a:rPr>
              <a:t>/ </a:t>
            </a:r>
            <a:r>
              <a:rPr lang="en-US" b="0" i="0" u="none" strike="noStrike" dirty="0" err="1">
                <a:effectLst/>
              </a:rPr>
              <a:t>по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осите</a:t>
            </a:r>
            <a:r>
              <a:rPr lang="en-US" b="0" i="0" u="none" strike="noStrike" dirty="0">
                <a:effectLst/>
              </a:rPr>
              <a:t> Х и У с </a:t>
            </a:r>
            <a:r>
              <a:rPr lang="en-US" b="0" i="0" u="none" strike="noStrike" dirty="0" err="1">
                <a:effectLst/>
              </a:rPr>
              <a:t>цел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засичане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на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движенията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на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курсора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върху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дисплея</a:t>
            </a:r>
            <a:r>
              <a:rPr lang="en-US" b="0" i="0" u="none" strike="noStrike" dirty="0">
                <a:effectLst/>
              </a:rPr>
              <a:t>.</a:t>
            </a:r>
            <a:r>
              <a:rPr lang="en-US" b="0" i="0" dirty="0">
                <a:effectLst/>
              </a:rPr>
              <a:t>​</a:t>
            </a:r>
            <a:endParaRPr lang="en-US" dirty="0"/>
          </a:p>
        </p:txBody>
      </p:sp>
      <p:sp>
        <p:nvSpPr>
          <p:cNvPr id="4" name="Контейнер за съдържание 3">
            <a:extLst>
              <a:ext uri="{FF2B5EF4-FFF2-40B4-BE49-F238E27FC236}">
                <a16:creationId xmlns:a16="http://schemas.microsoft.com/office/drawing/2014/main" id="{41B1D70A-7B5C-4E9F-9A75-18DF8270B00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68440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A6D4204D-7A71-40D2-BF29-4156CCE59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2.2 ВИДОВЕ МИШКИ СПРЯМО КОНСТРУКЦИЯТА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9F3ECC13-D736-4B37-8C46-E58FD57F6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538" y="2332026"/>
            <a:ext cx="2995863" cy="3567118"/>
          </a:xfrm>
        </p:spPr>
        <p:txBody>
          <a:bodyPr>
            <a:normAutofit/>
          </a:bodyPr>
          <a:lstStyle/>
          <a:p>
            <a:pPr algn="ctr"/>
            <a:r>
              <a:rPr lang="bg-BG" sz="1400" dirty="0"/>
              <a:t>КАРУЧКОВ МЕХАНИЗЪМ</a:t>
            </a:r>
          </a:p>
        </p:txBody>
      </p:sp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id="{DEAE6256-48AC-4860-8721-8D0E5B63C604}"/>
              </a:ext>
            </a:extLst>
          </p:cNvPr>
          <p:cNvSpPr txBox="1"/>
          <p:nvPr/>
        </p:nvSpPr>
        <p:spPr>
          <a:xfrm>
            <a:off x="2938380" y="2375538"/>
            <a:ext cx="29958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bg-BG" sz="1400" dirty="0"/>
              <a:t>МИШКА С ДВА БУТОНА </a:t>
            </a:r>
          </a:p>
        </p:txBody>
      </p:sp>
      <p:sp>
        <p:nvSpPr>
          <p:cNvPr id="5" name="Текстово поле 4">
            <a:extLst>
              <a:ext uri="{FF2B5EF4-FFF2-40B4-BE49-F238E27FC236}">
                <a16:creationId xmlns:a16="http://schemas.microsoft.com/office/drawing/2014/main" id="{68233719-5B25-4B0E-9C8D-BAF5BA8C95B1}"/>
              </a:ext>
            </a:extLst>
          </p:cNvPr>
          <p:cNvSpPr txBox="1"/>
          <p:nvPr/>
        </p:nvSpPr>
        <p:spPr>
          <a:xfrm>
            <a:off x="5934243" y="2368566"/>
            <a:ext cx="27632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bg-BG" sz="1400" dirty="0"/>
              <a:t>С ТРИ БУТОНА </a:t>
            </a:r>
          </a:p>
        </p:txBody>
      </p:sp>
      <p:sp>
        <p:nvSpPr>
          <p:cNvPr id="6" name="Текстово поле 5">
            <a:extLst>
              <a:ext uri="{FF2B5EF4-FFF2-40B4-BE49-F238E27FC236}">
                <a16:creationId xmlns:a16="http://schemas.microsoft.com/office/drawing/2014/main" id="{680A960C-F512-44D3-8D12-C37B047F430D}"/>
              </a:ext>
            </a:extLst>
          </p:cNvPr>
          <p:cNvSpPr txBox="1"/>
          <p:nvPr/>
        </p:nvSpPr>
        <p:spPr>
          <a:xfrm>
            <a:off x="8991600" y="2332026"/>
            <a:ext cx="25728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bg-BG" sz="1400" dirty="0"/>
              <a:t>С ДВА БУТОНА И СКРОЛ 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F7BBC40-18F5-442B-A22D-C59F63D9D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989" y="3260558"/>
            <a:ext cx="1891590" cy="2241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chapter5 -----&gt;Fun With the mouse - kids computer world">
            <a:extLst>
              <a:ext uri="{FF2B5EF4-FFF2-40B4-BE49-F238E27FC236}">
                <a16:creationId xmlns:a16="http://schemas.microsoft.com/office/drawing/2014/main" id="{95103F05-F8AD-45A4-81C3-2E746AD1B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7358" y="3260558"/>
            <a:ext cx="2333625" cy="2241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What is a good optical mouse, with 3 real mouse buttons? I.e. I don't want  the scroll wheel to be the middle button, I want a real button there. -  Quora">
            <a:extLst>
              <a:ext uri="{FF2B5EF4-FFF2-40B4-BE49-F238E27FC236}">
                <a16:creationId xmlns:a16="http://schemas.microsoft.com/office/drawing/2014/main" id="{04F984C7-4C5B-4081-9530-7A3E66654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3590925"/>
            <a:ext cx="2886075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Използване на Bluetooth мишка на Microsoft">
            <a:extLst>
              <a:ext uri="{FF2B5EF4-FFF2-40B4-BE49-F238E27FC236}">
                <a16:creationId xmlns:a16="http://schemas.microsoft.com/office/drawing/2014/main" id="{513ACC84-04A8-472F-AA72-2156637113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5992" y="3558339"/>
            <a:ext cx="2847975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5072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CD65FB7B-A296-4449-A666-31384FF0E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284" y="0"/>
            <a:ext cx="10559715" cy="1690821"/>
          </a:xfrm>
        </p:spPr>
        <p:txBody>
          <a:bodyPr>
            <a:normAutofit/>
          </a:bodyPr>
          <a:lstStyle/>
          <a:p>
            <a:r>
              <a:rPr lang="bg-BG" dirty="0"/>
              <a:t>2.3 ВИДОВЕ МИШКИ СПЯМО</a:t>
            </a:r>
            <a:r>
              <a:rPr lang="en-US" dirty="0"/>
              <a:t> </a:t>
            </a:r>
            <a:r>
              <a:rPr lang="bg-BG" dirty="0"/>
              <a:t>ПРИНЦИПА НА ДЕЙСТВИЕ </a:t>
            </a:r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38A11DAB-D7E0-480E-A73F-C4736D703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9284" y="1430136"/>
            <a:ext cx="5452695" cy="521369"/>
          </a:xfrm>
        </p:spPr>
        <p:txBody>
          <a:bodyPr/>
          <a:lstStyle/>
          <a:p>
            <a:r>
              <a:rPr lang="bg-BG" dirty="0"/>
              <a:t>*2.3.1 МЕХАНИЧНИ МИШКИ</a:t>
            </a:r>
          </a:p>
        </p:txBody>
      </p:sp>
      <p:sp>
        <p:nvSpPr>
          <p:cNvPr id="4" name="Контейнер за съдържание 3">
            <a:extLst>
              <a:ext uri="{FF2B5EF4-FFF2-40B4-BE49-F238E27FC236}">
                <a16:creationId xmlns:a16="http://schemas.microsoft.com/office/drawing/2014/main" id="{80E2D04E-64D3-439A-9A7B-7121FD67F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4640" y="1951504"/>
            <a:ext cx="6878321" cy="4617737"/>
          </a:xfrm>
        </p:spPr>
        <p:txBody>
          <a:bodyPr>
            <a:noAutofit/>
          </a:bodyPr>
          <a:lstStyle/>
          <a:p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Използва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свободно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търкалящо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се топче,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което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при движение на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мишката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завърта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две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ролки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.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Едната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се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движи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по X ,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другата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по Y.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Двете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ролки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се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държат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на обща ос и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имат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по един диск с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процепи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. Те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са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разположени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по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окръжност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лъчеобразно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.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Предназначението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им е да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прекъсват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два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светлинни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лъча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,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които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се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създават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от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светодиоди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. По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този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начин се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определя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посоката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на движение и дали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ще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се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движи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по X или Y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зависи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от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това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, коя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ролка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се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задвижи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първа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.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Основен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недоостатък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е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честото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зацепване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на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ролките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, а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това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води до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замръзване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на курсора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върху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екрана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.</a:t>
            </a:r>
            <a:r>
              <a:rPr lang="ru-RU" b="0" i="0" dirty="0">
                <a:effectLst/>
                <a:latin typeface="Times New Roman" panose="02020603050405020304" pitchFamily="18" charset="0"/>
              </a:rPr>
              <a:t>​</a:t>
            </a:r>
            <a:endParaRPr lang="bg-BG" dirty="0"/>
          </a:p>
        </p:txBody>
      </p:sp>
      <p:pic>
        <p:nvPicPr>
          <p:cNvPr id="6146" name="Picture 2" descr="Computer Mouse Retroold Mechanical Mouse Close Stock Photo (Edit Now)  387705013">
            <a:extLst>
              <a:ext uri="{FF2B5EF4-FFF2-40B4-BE49-F238E27FC236}">
                <a16:creationId xmlns:a16="http://schemas.microsoft.com/office/drawing/2014/main" id="{DD277A66-6FF8-4499-9040-5B661145AB56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9070" y="2593216"/>
            <a:ext cx="3680967" cy="2639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3712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EEBEEA13-6A05-48F2-AFEF-FBED9A786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443462"/>
            <a:ext cx="9905999" cy="846307"/>
          </a:xfrm>
        </p:spPr>
        <p:txBody>
          <a:bodyPr>
            <a:normAutofit fontScale="90000"/>
          </a:bodyPr>
          <a:lstStyle/>
          <a:p>
            <a:r>
              <a:rPr lang="bg-BG" dirty="0"/>
              <a:t>2.3 ВИДОВЕ МИШКИ СПЯМО</a:t>
            </a:r>
            <a:r>
              <a:rPr lang="en-US" dirty="0"/>
              <a:t> </a:t>
            </a:r>
            <a:r>
              <a:rPr lang="bg-BG" dirty="0"/>
              <a:t>ПРИНЦИПА НА ДЕЙСТВИЕ </a:t>
            </a:r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CC19B8AE-62EF-480F-83B7-A318113D6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3926" y="1481591"/>
            <a:ext cx="4798980" cy="710119"/>
          </a:xfrm>
        </p:spPr>
        <p:txBody>
          <a:bodyPr/>
          <a:lstStyle/>
          <a:p>
            <a:r>
              <a:rPr lang="bg-BG" dirty="0"/>
              <a:t>*2.3.2 ОПТИЧНИ МИШКИ</a:t>
            </a:r>
          </a:p>
        </p:txBody>
      </p:sp>
      <p:sp>
        <p:nvSpPr>
          <p:cNvPr id="4" name="Контейнер за съдържание 3">
            <a:extLst>
              <a:ext uri="{FF2B5EF4-FFF2-40B4-BE49-F238E27FC236}">
                <a16:creationId xmlns:a16="http://schemas.microsoft.com/office/drawing/2014/main" id="{79A09307-1BCC-4626-9224-E4A8254180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3926" y="2383532"/>
            <a:ext cx="5787190" cy="3346146"/>
          </a:xfrm>
        </p:spPr>
        <p:txBody>
          <a:bodyPr>
            <a:noAutofit/>
          </a:bodyPr>
          <a:lstStyle/>
          <a:p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Използва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светодиоди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и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фотодиоди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за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засичане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движението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на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мишката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спрямо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повърхността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.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Съвременните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оптични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мишки, независимо от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подлежащата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повърхност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използват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опто-електронен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сензор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,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който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улавя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последователни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изобважения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на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повърхността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, по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която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мишката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се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движи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. Много от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оптичните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мишки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използват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LED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диоди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за да осветят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повърхността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, по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която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се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движат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.</a:t>
            </a:r>
            <a:r>
              <a:rPr lang="ru-RU" b="0" i="0" dirty="0">
                <a:effectLst/>
                <a:latin typeface="Times New Roman" panose="02020603050405020304" pitchFamily="18" charset="0"/>
              </a:rPr>
              <a:t>​</a:t>
            </a:r>
            <a:endParaRPr lang="bg-BG" dirty="0"/>
          </a:p>
        </p:txBody>
      </p:sp>
      <p:pic>
        <p:nvPicPr>
          <p:cNvPr id="7170" name="Picture 2" descr="What is an Optical Mouse? (with pictures)">
            <a:extLst>
              <a:ext uri="{FF2B5EF4-FFF2-40B4-BE49-F238E27FC236}">
                <a16:creationId xmlns:a16="http://schemas.microsoft.com/office/drawing/2014/main" id="{B98884A9-6AF9-405E-9ED3-9BD787DFF69E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652" y="2509520"/>
            <a:ext cx="3971508" cy="2821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3154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4723947-D103-42C1-8C54-9AB026036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074" y="120316"/>
            <a:ext cx="10218821" cy="1171073"/>
          </a:xfrm>
        </p:spPr>
        <p:txBody>
          <a:bodyPr>
            <a:normAutofit fontScale="90000"/>
          </a:bodyPr>
          <a:lstStyle/>
          <a:p>
            <a:r>
              <a:rPr lang="bg-BG" dirty="0"/>
              <a:t>2.3 ВИДОВЕ МИШКИ СПЯМО</a:t>
            </a:r>
            <a:r>
              <a:rPr lang="en-US" dirty="0"/>
              <a:t> </a:t>
            </a:r>
            <a:r>
              <a:rPr lang="bg-BG" dirty="0"/>
              <a:t>ПРИНЦИПА НА ДЕЙСТВИЕ </a:t>
            </a:r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6EB419F5-BE20-4CD5-BF7C-3179D0539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9074" y="1505655"/>
            <a:ext cx="4798980" cy="427420"/>
          </a:xfrm>
        </p:spPr>
        <p:txBody>
          <a:bodyPr>
            <a:normAutofit/>
          </a:bodyPr>
          <a:lstStyle/>
          <a:p>
            <a:r>
              <a:rPr lang="bg-BG" dirty="0"/>
              <a:t>*2.3.3 ЛАЗЕРНИ МИШКИ</a:t>
            </a:r>
          </a:p>
        </p:txBody>
      </p:sp>
      <p:sp>
        <p:nvSpPr>
          <p:cNvPr id="4" name="Контейнер за съдържание 3">
            <a:extLst>
              <a:ext uri="{FF2B5EF4-FFF2-40B4-BE49-F238E27FC236}">
                <a16:creationId xmlns:a16="http://schemas.microsoft.com/office/drawing/2014/main" id="{1F4CDF29-B86A-43A4-A85B-D7C67D2253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9074" y="2147341"/>
            <a:ext cx="5532905" cy="3742758"/>
          </a:xfrm>
        </p:spPr>
        <p:txBody>
          <a:bodyPr/>
          <a:lstStyle/>
          <a:p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При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тях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се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използва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малък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инфрачервен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лазер, вместо LED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диоди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и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така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резолюцията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на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действията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с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мишката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се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увеличава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.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Това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води до около 2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пъти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по-голяма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повърхностна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способност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на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мишката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.</a:t>
            </a:r>
            <a:r>
              <a:rPr lang="ru-RU" b="0" i="0" dirty="0">
                <a:effectLst/>
                <a:latin typeface="Times New Roman" panose="02020603050405020304" pitchFamily="18" charset="0"/>
              </a:rPr>
              <a:t>​</a:t>
            </a:r>
            <a:endParaRPr lang="bg-BG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C13A40AC-6976-4C13-A13C-9B6E0E9D7C54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3239" y="1933075"/>
            <a:ext cx="4752800" cy="3382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714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73CE300B-204F-4189-A36D-6D41FFF00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203866"/>
            <a:ext cx="3813888" cy="19583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3.1 СЪЩНОСТ 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C906FA58-009A-43C7-AA8A-A4F0CE781D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11215" y="1979062"/>
            <a:ext cx="5429373" cy="249935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0" i="0" u="none" strike="noStrike" dirty="0" err="1">
                <a:effectLst/>
              </a:rPr>
              <a:t>Входно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периферно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устройство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което</a:t>
            </a:r>
            <a:r>
              <a:rPr lang="en-US" b="0" i="0" u="none" strike="noStrike" dirty="0">
                <a:effectLst/>
              </a:rPr>
              <a:t> е </a:t>
            </a:r>
            <a:r>
              <a:rPr lang="en-US" b="0" i="0" u="none" strike="noStrike" dirty="0" err="1">
                <a:effectLst/>
              </a:rPr>
              <a:t>предназначено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да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дигитализира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изображение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от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хартие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носител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или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фолио</a:t>
            </a:r>
            <a:r>
              <a:rPr lang="en-US" b="0" i="0" u="none" strike="noStrike" dirty="0">
                <a:effectLst/>
              </a:rPr>
              <a:t> и </a:t>
            </a:r>
            <a:r>
              <a:rPr lang="en-US" b="0" i="0" u="none" strike="noStrike" dirty="0" err="1">
                <a:effectLst/>
              </a:rPr>
              <a:t>да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ги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конвертира</a:t>
            </a:r>
            <a:r>
              <a:rPr lang="en-US" b="0" i="0" u="none" strike="noStrike" dirty="0">
                <a:effectLst/>
              </a:rPr>
              <a:t> в </a:t>
            </a:r>
            <a:r>
              <a:rPr lang="en-US" b="0" i="0" u="none" strike="noStrike" dirty="0" err="1">
                <a:effectLst/>
              </a:rPr>
              <a:t>електронен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файл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към</a:t>
            </a:r>
            <a:r>
              <a:rPr lang="en-US" b="0" i="0" u="none" strike="noStrike" dirty="0">
                <a:effectLst/>
              </a:rPr>
              <a:t> PC. </a:t>
            </a:r>
            <a:r>
              <a:rPr lang="en-US" b="0" i="0" dirty="0">
                <a:effectLst/>
              </a:rPr>
              <a:t>​</a:t>
            </a:r>
            <a:endParaRPr lang="en-US" dirty="0"/>
          </a:p>
        </p:txBody>
      </p:sp>
      <p:pic>
        <p:nvPicPr>
          <p:cNvPr id="9218" name="Picture 2" descr="Скенер Must Bear Paw 2448F - eMAG.bg">
            <a:extLst>
              <a:ext uri="{FF2B5EF4-FFF2-40B4-BE49-F238E27FC236}">
                <a16:creationId xmlns:a16="http://schemas.microsoft.com/office/drawing/2014/main" id="{732F1BA5-3A71-468D-BE63-9D233517C0D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64" r="-1" b="12493"/>
          <a:stretch/>
        </p:blipFill>
        <p:spPr bwMode="auto">
          <a:xfrm>
            <a:off x="20" y="10"/>
            <a:ext cx="9102514" cy="6857990"/>
          </a:xfrm>
          <a:custGeom>
            <a:avLst/>
            <a:gdLst/>
            <a:ahLst/>
            <a:cxnLst/>
            <a:rect l="l" t="t" r="r" b="b"/>
            <a:pathLst>
              <a:path w="9102534" h="6858000">
                <a:moveTo>
                  <a:pt x="0" y="0"/>
                </a:moveTo>
                <a:lnTo>
                  <a:pt x="9102534" y="0"/>
                </a:lnTo>
                <a:lnTo>
                  <a:pt x="9102532" y="2"/>
                </a:lnTo>
                <a:cubicBezTo>
                  <a:pt x="9102532" y="3"/>
                  <a:pt x="9102531" y="3"/>
                  <a:pt x="9102531" y="4"/>
                </a:cubicBezTo>
                <a:lnTo>
                  <a:pt x="3091942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80315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86C65437-D070-4677-897C-C41EC33F2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872937"/>
            <a:ext cx="5946290" cy="136089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3.2 ПРИНЦП НА ДЕЙСТВИЕ 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41BE8CD6-0F9A-4953-87E9-74201CDF9F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0400" y="2332028"/>
            <a:ext cx="4856203" cy="3840172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b="0" i="0" u="none" strike="noStrike" dirty="0" err="1">
                <a:effectLst/>
              </a:rPr>
              <a:t>Работят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на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принципа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не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оптическо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заснемане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на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изображеението</a:t>
            </a:r>
            <a:r>
              <a:rPr lang="en-US" b="0" i="0" u="none" strike="noStrike" dirty="0">
                <a:effectLst/>
              </a:rPr>
              <a:t>. </a:t>
            </a:r>
            <a:r>
              <a:rPr lang="en-US" b="0" i="0" u="none" strike="noStrike" dirty="0" err="1">
                <a:effectLst/>
              </a:rPr>
              <a:t>Независимо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от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технологията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всички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имат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сканираща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глава</a:t>
            </a:r>
            <a:r>
              <a:rPr lang="en-US" b="0" i="0" u="none" strike="noStrike" dirty="0">
                <a:effectLst/>
              </a:rPr>
              <a:t>, </a:t>
            </a:r>
            <a:r>
              <a:rPr lang="en-US" b="0" i="0" u="none" strike="noStrike" dirty="0" err="1">
                <a:effectLst/>
              </a:rPr>
              <a:t>обхождаща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всяка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точка</a:t>
            </a:r>
            <a:r>
              <a:rPr lang="en-US" b="0" i="0" u="none" strike="noStrike" dirty="0">
                <a:effectLst/>
              </a:rPr>
              <a:t>, </a:t>
            </a:r>
            <a:r>
              <a:rPr lang="en-US" b="0" i="0" u="none" strike="noStrike" dirty="0" err="1">
                <a:effectLst/>
              </a:rPr>
              <a:t>като</a:t>
            </a:r>
            <a:r>
              <a:rPr lang="en-US" b="0" i="0" u="none" strike="noStrike" dirty="0">
                <a:effectLst/>
              </a:rPr>
              <a:t> код0ра </a:t>
            </a:r>
            <a:r>
              <a:rPr lang="en-US" b="0" i="0" u="none" strike="noStrike" dirty="0" err="1">
                <a:effectLst/>
              </a:rPr>
              <a:t>цвета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на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точката</a:t>
            </a:r>
            <a:r>
              <a:rPr lang="en-US" b="0" i="0" u="none" strike="noStrike" dirty="0">
                <a:effectLst/>
              </a:rPr>
              <a:t> в </a:t>
            </a:r>
            <a:r>
              <a:rPr lang="en-US" b="0" i="0" u="none" strike="noStrike" dirty="0" err="1">
                <a:effectLst/>
              </a:rPr>
              <a:t>число</a:t>
            </a:r>
            <a:r>
              <a:rPr lang="en-US" b="0" i="0" u="none" strike="noStrike" dirty="0">
                <a:effectLst/>
              </a:rPr>
              <a:t>. </a:t>
            </a:r>
            <a:r>
              <a:rPr lang="en-US" b="0" i="0" u="none" strike="noStrike" dirty="0" err="1">
                <a:effectLst/>
              </a:rPr>
              <a:t>Скенерите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се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делят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на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чернобели</a:t>
            </a:r>
            <a:r>
              <a:rPr lang="en-US" b="0" i="0" u="none" strike="noStrike" dirty="0">
                <a:effectLst/>
              </a:rPr>
              <a:t> и </a:t>
            </a:r>
            <a:r>
              <a:rPr lang="en-US" b="0" i="0" u="none" strike="noStrike" dirty="0" err="1">
                <a:effectLst/>
              </a:rPr>
              <a:t>цветни</a:t>
            </a:r>
            <a:r>
              <a:rPr lang="en-US" b="0" i="0" u="none" strike="noStrike" dirty="0">
                <a:effectLst/>
              </a:rPr>
              <a:t>. </a:t>
            </a:r>
            <a:r>
              <a:rPr lang="en-US" b="0" i="0" u="none" strike="noStrike" dirty="0" err="1">
                <a:effectLst/>
              </a:rPr>
              <a:t>Всеки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скенер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се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оправлява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от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специалена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интерфейсна</a:t>
            </a:r>
            <a:r>
              <a:rPr lang="en-US" b="0" i="0" u="none" strike="noStrike" dirty="0">
                <a:effectLst/>
              </a:rPr>
              <a:t> </a:t>
            </a:r>
            <a:r>
              <a:rPr lang="en-US" b="0" i="0" u="none" strike="noStrike" dirty="0" err="1">
                <a:effectLst/>
              </a:rPr>
              <a:t>платка</a:t>
            </a:r>
            <a:r>
              <a:rPr lang="en-US" b="0" i="0" u="none" strike="noStrike" dirty="0">
                <a:effectLst/>
              </a:rPr>
              <a:t> – CIS </a:t>
            </a:r>
            <a:r>
              <a:rPr lang="en-US" b="0" i="0" u="none" strike="noStrike" dirty="0" err="1">
                <a:effectLst/>
              </a:rPr>
              <a:t>или</a:t>
            </a:r>
            <a:r>
              <a:rPr lang="en-US" b="0" i="0" u="none" strike="noStrike" dirty="0">
                <a:effectLst/>
              </a:rPr>
              <a:t> CCD </a:t>
            </a:r>
            <a:r>
              <a:rPr lang="en-US" b="0" i="0" u="none" strike="noStrike" dirty="0" err="1">
                <a:effectLst/>
              </a:rPr>
              <a:t>матрица</a:t>
            </a:r>
            <a:r>
              <a:rPr lang="en-US" b="0" i="0" u="none" strike="noStrike" dirty="0">
                <a:effectLst/>
              </a:rPr>
              <a:t>.</a:t>
            </a:r>
            <a:r>
              <a:rPr lang="en-US" b="0" i="0" dirty="0">
                <a:effectLst/>
              </a:rPr>
              <a:t>​</a:t>
            </a:r>
            <a:endParaRPr lang="en-US" dirty="0"/>
          </a:p>
        </p:txBody>
      </p:sp>
      <p:pic>
        <p:nvPicPr>
          <p:cNvPr id="10242" name="Picture 2" descr="ТУ София 2013г.">
            <a:extLst>
              <a:ext uri="{FF2B5EF4-FFF2-40B4-BE49-F238E27FC236}">
                <a16:creationId xmlns:a16="http://schemas.microsoft.com/office/drawing/2014/main" id="{8F94D637-9D55-46B2-B778-AC3B0F980A4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47656" y="3630612"/>
            <a:ext cx="3438525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6344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5C3A23EF-A83C-4990-BEAC-C6C2333F9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720" y="456375"/>
            <a:ext cx="9905999" cy="1360898"/>
          </a:xfrm>
        </p:spPr>
        <p:txBody>
          <a:bodyPr/>
          <a:lstStyle/>
          <a:p>
            <a:r>
              <a:rPr lang="bg-BG" dirty="0"/>
              <a:t>3.3 </a:t>
            </a:r>
            <a:r>
              <a:rPr lang="en-US" dirty="0"/>
              <a:t>CCD </a:t>
            </a:r>
            <a:r>
              <a:rPr lang="bg-BG" dirty="0"/>
              <a:t>МАТРИЦА </a:t>
            </a:r>
            <a:br>
              <a:rPr lang="bg-BG" dirty="0"/>
            </a:br>
            <a:endParaRPr lang="bg-BG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3EF08109-05CD-405B-A745-CDF562F404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8757" y="1604211"/>
            <a:ext cx="6641431" cy="4483768"/>
          </a:xfrm>
        </p:spPr>
        <p:txBody>
          <a:bodyPr>
            <a:normAutofit/>
          </a:bodyPr>
          <a:lstStyle/>
          <a:p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По-сложна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от CIS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матрицата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състои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се от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източник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на светлина,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оптична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 от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огледала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лещи и аналогово-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цифров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преобразувател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Осветяването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на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изображението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осъществява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флоуросцентна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лампа.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Отразената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светлина се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насочва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оптична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 и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достига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до CCD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матрицата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Тя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е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изградена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фоточувствителни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елементи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подредени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колони и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редове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преобразува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попадналата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светлина в отражение.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Различните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степени на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светлината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дават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различен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интензитет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на цвета. След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като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отразената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светлина е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преобразувана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напрежение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се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предава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аналогово-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цифров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преобразувател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който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ще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я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преобразува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двоичен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код.​</a:t>
            </a:r>
            <a:endParaRPr lang="bg-B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268" name="Picture 4" descr="Charge-coupled device - Wikipedia">
            <a:extLst>
              <a:ext uri="{FF2B5EF4-FFF2-40B4-BE49-F238E27FC236}">
                <a16:creationId xmlns:a16="http://schemas.microsoft.com/office/drawing/2014/main" id="{2717280A-B835-404E-861D-CCA9EBBFFC0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2226" y="1939193"/>
            <a:ext cx="3642173" cy="3316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6873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BA774679-7003-4F20-9171-DD5B99852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181099"/>
            <a:ext cx="3965840" cy="14559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3.4 CIS МАТРИЦА </a:t>
            </a:r>
            <a:b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7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0141E6D4-35DD-4A1D-AFB6-027406F0FC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0" y="850236"/>
            <a:ext cx="5648214" cy="5083204"/>
          </a:xfrm>
        </p:spPr>
        <p:txBody>
          <a:bodyPr vert="horz" lIns="91440" tIns="45720" rIns="91440" bIns="45720" rtlCol="0" anchor="b"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en-US" b="0" i="0" dirty="0" err="1">
                <a:effectLst/>
              </a:rPr>
              <a:t>При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нея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сложната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оптична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система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се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заменя</a:t>
            </a:r>
            <a:r>
              <a:rPr lang="en-US" b="0" i="0" dirty="0">
                <a:effectLst/>
              </a:rPr>
              <a:t> с </a:t>
            </a:r>
            <a:r>
              <a:rPr lang="en-US" b="0" i="0" dirty="0" err="1">
                <a:effectLst/>
              </a:rPr>
              <a:t>един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ред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сензори</a:t>
            </a:r>
            <a:r>
              <a:rPr lang="en-US" b="0" i="0" dirty="0">
                <a:effectLst/>
              </a:rPr>
              <a:t>, </a:t>
            </a:r>
            <a:r>
              <a:rPr lang="en-US" b="0" i="0" dirty="0" err="1">
                <a:effectLst/>
              </a:rPr>
              <a:t>които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се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намират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на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няколко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милиметра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под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стъклената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основа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на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сканиране</a:t>
            </a:r>
            <a:r>
              <a:rPr lang="en-US" b="0" i="0" dirty="0">
                <a:effectLst/>
              </a:rPr>
              <a:t>. </a:t>
            </a:r>
            <a:r>
              <a:rPr lang="en-US" b="0" i="0" dirty="0" err="1">
                <a:effectLst/>
              </a:rPr>
              <a:t>Осветяването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се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осъществява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от</a:t>
            </a:r>
            <a:r>
              <a:rPr lang="en-US" b="0" i="0" dirty="0">
                <a:effectLst/>
              </a:rPr>
              <a:t> RGB </a:t>
            </a:r>
            <a:r>
              <a:rPr lang="en-US" b="0" i="0" dirty="0" err="1">
                <a:effectLst/>
              </a:rPr>
              <a:t>светодиоди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които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се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разполагат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един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до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друг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за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да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формират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бялата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светлина</a:t>
            </a:r>
            <a:r>
              <a:rPr lang="en-US" b="0" i="0" dirty="0">
                <a:effectLst/>
              </a:rPr>
              <a:t>. </a:t>
            </a:r>
            <a:r>
              <a:rPr lang="en-US" b="0" i="0" dirty="0" err="1">
                <a:effectLst/>
              </a:rPr>
              <a:t>Отразената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от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изображението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светлина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попада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върху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фоточувствителните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елементи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на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сензора</a:t>
            </a:r>
            <a:r>
              <a:rPr lang="en-US" b="0" i="0" dirty="0">
                <a:effectLst/>
              </a:rPr>
              <a:t>. С </a:t>
            </a:r>
            <a:r>
              <a:rPr lang="en-US" b="0" i="0" dirty="0" err="1">
                <a:effectLst/>
              </a:rPr>
              <a:t>помощта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на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филтри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светлината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се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разделя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на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трите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основни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цвята</a:t>
            </a:r>
            <a:r>
              <a:rPr lang="en-US" b="0" i="0" dirty="0">
                <a:effectLst/>
              </a:rPr>
              <a:t>-RGB. </a:t>
            </a:r>
            <a:r>
              <a:rPr lang="en-US" b="0" i="0" dirty="0" err="1">
                <a:effectLst/>
              </a:rPr>
              <a:t>Вграденият</a:t>
            </a:r>
            <a:r>
              <a:rPr lang="en-US" b="0" i="0" dirty="0">
                <a:effectLst/>
              </a:rPr>
              <a:t> в </a:t>
            </a:r>
            <a:r>
              <a:rPr lang="en-US" b="0" i="0" dirty="0" err="1">
                <a:effectLst/>
              </a:rPr>
              <a:t>чипа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аналогово-цифров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преобразувател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конвертира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информацията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от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сензора</a:t>
            </a:r>
            <a:r>
              <a:rPr lang="en-US" b="0" i="0" dirty="0">
                <a:effectLst/>
              </a:rPr>
              <a:t> в </a:t>
            </a:r>
            <a:r>
              <a:rPr lang="en-US" b="0" i="0" dirty="0" err="1">
                <a:effectLst/>
              </a:rPr>
              <a:t>двоичен</a:t>
            </a:r>
            <a:r>
              <a:rPr lang="en-US" b="0" i="0" dirty="0">
                <a:effectLst/>
              </a:rPr>
              <a:t> </a:t>
            </a:r>
            <a:r>
              <a:rPr lang="en-US" b="0" i="0" dirty="0" err="1">
                <a:effectLst/>
              </a:rPr>
              <a:t>код</a:t>
            </a:r>
            <a:r>
              <a:rPr lang="en-US" b="0" i="0" dirty="0">
                <a:effectLst/>
              </a:rPr>
              <a:t>.​</a:t>
            </a:r>
          </a:p>
          <a:p>
            <a:pPr algn="r">
              <a:lnSpc>
                <a:spcPct val="110000"/>
              </a:lnSpc>
            </a:pPr>
            <a:endParaRPr lang="en-US" sz="1100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BDF01A87-17DA-478B-B41A-559EE366F50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7786" y="2787124"/>
            <a:ext cx="5356270" cy="2129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8974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4996AA00-C8CE-4C13-8869-F31A30444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47819"/>
            <a:ext cx="9905999" cy="1360898"/>
          </a:xfrm>
        </p:spPr>
        <p:txBody>
          <a:bodyPr>
            <a:normAutofit fontScale="90000"/>
          </a:bodyPr>
          <a:lstStyle/>
          <a:p>
            <a:r>
              <a:rPr lang="bg-BG" dirty="0"/>
              <a:t>3.5 ЕДНОПАЦОВИ И ДВУПАСОВИ СКЕНЕРИ </a:t>
            </a:r>
            <a:br>
              <a:rPr lang="bg-BG" dirty="0"/>
            </a:br>
            <a:endParaRPr lang="bg-BG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5BF1F0A8-0C72-4857-9F02-12E1D37D3A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bg-BG" b="0" i="0" u="none" strike="noStrike" dirty="0" err="1">
                <a:effectLst/>
                <a:latin typeface="Times New Roman" panose="02020603050405020304" pitchFamily="18" charset="0"/>
              </a:rPr>
              <a:t>Еднопасови</a:t>
            </a:r>
            <a:r>
              <a:rPr lang="en-US" b="0" i="0" dirty="0">
                <a:effectLst/>
                <a:latin typeface="Times New Roman" panose="02020603050405020304" pitchFamily="18" charset="0"/>
              </a:rPr>
              <a:t>​</a:t>
            </a:r>
            <a:endParaRPr lang="en-US" b="0" i="0" dirty="0"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bg-BG" b="0" i="0" u="none" strike="noStrike" dirty="0">
                <a:effectLst/>
                <a:latin typeface="Times New Roman" panose="02020603050405020304" pitchFamily="18" charset="0"/>
              </a:rPr>
              <a:t>На прав пас се дигитализира изображението на обратен пас се генерира в </a:t>
            </a:r>
            <a:r>
              <a:rPr lang="bg-BG" b="0" i="0" u="none" strike="noStrike" dirty="0" err="1">
                <a:effectLst/>
                <a:latin typeface="Times New Roman" panose="02020603050405020304" pitchFamily="18" charset="0"/>
              </a:rPr>
              <a:t>двуйчно</a:t>
            </a:r>
            <a:r>
              <a:rPr lang="bg-BG" b="0" i="0" u="none" strike="noStrike" dirty="0">
                <a:effectLst/>
                <a:latin typeface="Times New Roman" panose="02020603050405020304" pitchFamily="18" charset="0"/>
              </a:rPr>
              <a:t> число.</a:t>
            </a:r>
            <a:r>
              <a:rPr lang="en-US" b="0" i="0" dirty="0">
                <a:effectLst/>
                <a:latin typeface="Times New Roman" panose="02020603050405020304" pitchFamily="18" charset="0"/>
              </a:rPr>
              <a:t>​</a:t>
            </a:r>
            <a:r>
              <a:rPr lang="bg-BG" b="0" i="0" dirty="0">
                <a:effectLst/>
                <a:latin typeface="Times New Roman" panose="02020603050405020304" pitchFamily="18" charset="0"/>
              </a:rPr>
              <a:t> </a:t>
            </a:r>
            <a:endParaRPr lang="en-US" b="0" i="0" dirty="0">
              <a:effectLst/>
              <a:latin typeface="Arial" panose="020B0604020202020204" pitchFamily="34" charset="0"/>
            </a:endParaRPr>
          </a:p>
          <a:p>
            <a:endParaRPr lang="bg-BG" dirty="0"/>
          </a:p>
        </p:txBody>
      </p:sp>
      <p:sp>
        <p:nvSpPr>
          <p:cNvPr id="4" name="Контейнер за съдържание 3">
            <a:extLst>
              <a:ext uri="{FF2B5EF4-FFF2-40B4-BE49-F238E27FC236}">
                <a16:creationId xmlns:a16="http://schemas.microsoft.com/office/drawing/2014/main" id="{7C9E8BC5-F7B9-4CAE-BBD7-35E11323CBB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bg-BG" b="0" i="0" u="none" strike="noStrike" dirty="0" err="1">
                <a:effectLst/>
                <a:latin typeface="Times New Roman" panose="02020603050405020304" pitchFamily="18" charset="0"/>
              </a:rPr>
              <a:t>Двупасови</a:t>
            </a:r>
            <a:r>
              <a:rPr lang="en-US" b="0" i="0" dirty="0">
                <a:effectLst/>
                <a:latin typeface="Times New Roman" panose="02020603050405020304" pitchFamily="18" charset="0"/>
              </a:rPr>
              <a:t>​</a:t>
            </a:r>
            <a:endParaRPr lang="en-US" b="0" i="0" dirty="0"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bg-BG" b="0" i="0" u="none" strike="noStrike" dirty="0">
                <a:effectLst/>
                <a:latin typeface="Times New Roman" panose="02020603050405020304" pitchFamily="18" charset="0"/>
              </a:rPr>
              <a:t>Два паса (прав и обратен) за дигитализация и 2 паса за конвертиране.</a:t>
            </a:r>
            <a:r>
              <a:rPr lang="en-US" b="0" i="0" dirty="0">
                <a:effectLst/>
                <a:latin typeface="Times New Roman" panose="02020603050405020304" pitchFamily="18" charset="0"/>
              </a:rPr>
              <a:t>​</a:t>
            </a:r>
            <a:endParaRPr lang="en-US" b="0" i="0" dirty="0">
              <a:effectLst/>
              <a:latin typeface="Arial" panose="020B0604020202020204" pitchFamily="34" charset="0"/>
            </a:endParaRP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626121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F95EFE27-86F6-4B48-BF2A-51D85E76A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5116" y="1257343"/>
            <a:ext cx="4798980" cy="1026694"/>
          </a:xfrm>
        </p:spPr>
        <p:txBody>
          <a:bodyPr/>
          <a:lstStyle/>
          <a:p>
            <a:r>
              <a:rPr lang="bg-BG" dirty="0"/>
              <a:t>*РЪЧНИ  </a:t>
            </a:r>
          </a:p>
          <a:p>
            <a:endParaRPr lang="bg-BG" dirty="0"/>
          </a:p>
        </p:txBody>
      </p:sp>
      <p:sp>
        <p:nvSpPr>
          <p:cNvPr id="4" name="Контейнер за съдържание 3">
            <a:extLst>
              <a:ext uri="{FF2B5EF4-FFF2-40B4-BE49-F238E27FC236}">
                <a16:creationId xmlns:a16="http://schemas.microsoft.com/office/drawing/2014/main" id="{E26E53F2-7A15-4DD2-B0D7-A17F1F7ED6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5116" y="1933074"/>
            <a:ext cx="5516863" cy="3957025"/>
          </a:xfrm>
        </p:spPr>
        <p:txBody>
          <a:bodyPr>
            <a:noAutofit/>
          </a:bodyPr>
          <a:lstStyle/>
          <a:p>
            <a:r>
              <a:rPr lang="ru-RU" b="0" i="0" dirty="0">
                <a:effectLst/>
                <a:latin typeface="Whitney"/>
              </a:rPr>
              <a:t>При </a:t>
            </a:r>
            <a:r>
              <a:rPr lang="ru-RU" b="0" i="0" dirty="0" err="1">
                <a:effectLst/>
                <a:latin typeface="Whitney"/>
              </a:rPr>
              <a:t>тях</a:t>
            </a:r>
            <a:r>
              <a:rPr lang="ru-RU" b="0" i="0" dirty="0">
                <a:effectLst/>
                <a:latin typeface="Whitney"/>
              </a:rPr>
              <a:t> </a:t>
            </a:r>
            <a:r>
              <a:rPr lang="ru-RU" b="0" i="0" dirty="0" err="1">
                <a:effectLst/>
                <a:latin typeface="Whitney"/>
              </a:rPr>
              <a:t>операторът</a:t>
            </a:r>
            <a:r>
              <a:rPr lang="ru-RU" b="0" i="0" dirty="0">
                <a:effectLst/>
                <a:latin typeface="Whitney"/>
              </a:rPr>
              <a:t> сам </a:t>
            </a:r>
            <a:r>
              <a:rPr lang="ru-RU" b="0" i="0" dirty="0" err="1">
                <a:effectLst/>
                <a:latin typeface="Whitney"/>
              </a:rPr>
              <a:t>движи</a:t>
            </a:r>
            <a:r>
              <a:rPr lang="ru-RU" b="0" i="0" dirty="0">
                <a:effectLst/>
                <a:latin typeface="Whitney"/>
              </a:rPr>
              <a:t> </a:t>
            </a:r>
            <a:r>
              <a:rPr lang="ru-RU" b="0" i="0" dirty="0" err="1">
                <a:effectLst/>
                <a:latin typeface="Whitney"/>
              </a:rPr>
              <a:t>скенера</a:t>
            </a:r>
            <a:r>
              <a:rPr lang="ru-RU" b="0" i="0" dirty="0">
                <a:effectLst/>
                <a:latin typeface="Whitney"/>
              </a:rPr>
              <a:t> по </a:t>
            </a:r>
            <a:r>
              <a:rPr lang="ru-RU" b="0" i="0" dirty="0" err="1">
                <a:effectLst/>
                <a:latin typeface="Whitney"/>
              </a:rPr>
              <a:t>изображението</a:t>
            </a:r>
            <a:r>
              <a:rPr lang="ru-RU" b="0" i="0" dirty="0">
                <a:effectLst/>
                <a:latin typeface="Whitney"/>
              </a:rPr>
              <a:t>, на </a:t>
            </a:r>
            <a:r>
              <a:rPr lang="ru-RU" b="0" i="0" dirty="0" err="1">
                <a:effectLst/>
                <a:latin typeface="Whitney"/>
              </a:rPr>
              <a:t>което</a:t>
            </a:r>
            <a:r>
              <a:rPr lang="ru-RU" b="0" i="0" dirty="0">
                <a:effectLst/>
                <a:latin typeface="Whitney"/>
              </a:rPr>
              <a:t> </a:t>
            </a:r>
            <a:r>
              <a:rPr lang="ru-RU" b="0" i="0" dirty="0" err="1">
                <a:effectLst/>
                <a:latin typeface="Whitney"/>
              </a:rPr>
              <a:t>трябва</a:t>
            </a:r>
            <a:r>
              <a:rPr lang="ru-RU" b="0" i="0" dirty="0">
                <a:effectLst/>
                <a:latin typeface="Whitney"/>
              </a:rPr>
              <a:t> да се получи </a:t>
            </a:r>
            <a:r>
              <a:rPr lang="ru-RU" b="0" i="0" dirty="0" err="1">
                <a:effectLst/>
                <a:latin typeface="Whitney"/>
              </a:rPr>
              <a:t>електронно</a:t>
            </a:r>
            <a:r>
              <a:rPr lang="ru-RU" b="0" i="0" dirty="0">
                <a:effectLst/>
                <a:latin typeface="Whitney"/>
              </a:rPr>
              <a:t> </a:t>
            </a:r>
            <a:r>
              <a:rPr lang="ru-RU" b="0" i="0" dirty="0" err="1">
                <a:effectLst/>
                <a:latin typeface="Whitney"/>
              </a:rPr>
              <a:t>копие</a:t>
            </a:r>
            <a:r>
              <a:rPr lang="ru-RU" b="0" i="0" dirty="0">
                <a:effectLst/>
                <a:latin typeface="Whitney"/>
              </a:rPr>
              <a:t>. </a:t>
            </a:r>
            <a:r>
              <a:rPr lang="ru-RU" b="0" i="0" dirty="0" err="1">
                <a:effectLst/>
                <a:latin typeface="Whitney"/>
              </a:rPr>
              <a:t>Използва</a:t>
            </a:r>
            <a:r>
              <a:rPr lang="ru-RU" b="0" i="0" dirty="0">
                <a:effectLst/>
                <a:latin typeface="Whitney"/>
              </a:rPr>
              <a:t> се за </a:t>
            </a:r>
            <a:r>
              <a:rPr lang="ru-RU" b="0" i="0" dirty="0" err="1">
                <a:effectLst/>
                <a:latin typeface="Whitney"/>
              </a:rPr>
              <a:t>сканиране</a:t>
            </a:r>
            <a:r>
              <a:rPr lang="ru-RU" b="0" i="0" dirty="0">
                <a:effectLst/>
                <a:latin typeface="Whitney"/>
              </a:rPr>
              <a:t> на малки изображения. </a:t>
            </a:r>
            <a:r>
              <a:rPr lang="ru-RU" b="0" i="0" dirty="0" err="1">
                <a:effectLst/>
                <a:latin typeface="Whitney"/>
              </a:rPr>
              <a:t>Качеството</a:t>
            </a:r>
            <a:r>
              <a:rPr lang="ru-RU" b="0" i="0" dirty="0">
                <a:effectLst/>
                <a:latin typeface="Whitney"/>
              </a:rPr>
              <a:t> </a:t>
            </a:r>
            <a:r>
              <a:rPr lang="ru-RU" b="0" i="0" dirty="0" err="1">
                <a:effectLst/>
                <a:latin typeface="Whitney"/>
              </a:rPr>
              <a:t>зависи</a:t>
            </a:r>
            <a:r>
              <a:rPr lang="ru-RU" b="0" i="0" dirty="0">
                <a:effectLst/>
                <a:latin typeface="Whitney"/>
              </a:rPr>
              <a:t> от </a:t>
            </a:r>
            <a:r>
              <a:rPr lang="ru-RU" b="0" i="0" dirty="0" err="1">
                <a:effectLst/>
                <a:latin typeface="Whitney"/>
              </a:rPr>
              <a:t>стабилността</a:t>
            </a:r>
            <a:r>
              <a:rPr lang="ru-RU" b="0" i="0" dirty="0">
                <a:effectLst/>
                <a:latin typeface="Whitney"/>
              </a:rPr>
              <a:t> на </a:t>
            </a:r>
            <a:r>
              <a:rPr lang="ru-RU" b="0" i="0" dirty="0" err="1">
                <a:effectLst/>
                <a:latin typeface="Whitney"/>
              </a:rPr>
              <a:t>човешката</a:t>
            </a:r>
            <a:r>
              <a:rPr lang="ru-RU" b="0" i="0" dirty="0">
                <a:effectLst/>
                <a:latin typeface="Whitney"/>
              </a:rPr>
              <a:t> </a:t>
            </a:r>
            <a:r>
              <a:rPr lang="ru-RU" b="0" i="0" dirty="0" err="1">
                <a:effectLst/>
                <a:latin typeface="Whitney"/>
              </a:rPr>
              <a:t>ръка</a:t>
            </a:r>
            <a:r>
              <a:rPr lang="ru-RU" b="0" i="0" dirty="0">
                <a:effectLst/>
                <a:latin typeface="Whitney"/>
              </a:rPr>
              <a:t> и за </a:t>
            </a:r>
            <a:r>
              <a:rPr lang="ru-RU" b="0" i="0" dirty="0" err="1">
                <a:effectLst/>
                <a:latin typeface="Whitney"/>
              </a:rPr>
              <a:t>това</a:t>
            </a:r>
            <a:r>
              <a:rPr lang="ru-RU" b="0" i="0" dirty="0">
                <a:effectLst/>
                <a:latin typeface="Whitney"/>
              </a:rPr>
              <a:t> се </a:t>
            </a:r>
            <a:r>
              <a:rPr lang="ru-RU" b="0" i="0" dirty="0" err="1">
                <a:effectLst/>
                <a:latin typeface="Whitney"/>
              </a:rPr>
              <a:t>използват</a:t>
            </a:r>
            <a:r>
              <a:rPr lang="ru-RU" b="0" i="0" dirty="0">
                <a:effectLst/>
                <a:latin typeface="Whitney"/>
              </a:rPr>
              <a:t> </a:t>
            </a:r>
            <a:r>
              <a:rPr lang="ru-RU" b="0" i="0" dirty="0" err="1">
                <a:effectLst/>
                <a:latin typeface="Whitney"/>
              </a:rPr>
              <a:t>когато</a:t>
            </a:r>
            <a:r>
              <a:rPr lang="ru-RU" b="0" i="0" dirty="0">
                <a:effectLst/>
                <a:latin typeface="Whitney"/>
              </a:rPr>
              <a:t> не е нужно да е перфектно </a:t>
            </a:r>
            <a:r>
              <a:rPr lang="ru-RU" b="0" i="0" dirty="0" err="1">
                <a:effectLst/>
                <a:latin typeface="Whitney"/>
              </a:rPr>
              <a:t>изображението</a:t>
            </a:r>
            <a:r>
              <a:rPr lang="ru-RU" b="0" i="0" dirty="0">
                <a:effectLst/>
                <a:latin typeface="Whitney"/>
              </a:rPr>
              <a:t>. </a:t>
            </a:r>
            <a:r>
              <a:rPr lang="ru-RU" b="0" i="0" dirty="0" err="1">
                <a:effectLst/>
                <a:latin typeface="Whitney"/>
              </a:rPr>
              <a:t>Ако</a:t>
            </a:r>
            <a:r>
              <a:rPr lang="ru-RU" b="0" i="0" dirty="0">
                <a:effectLst/>
                <a:latin typeface="Whitney"/>
              </a:rPr>
              <a:t> се </a:t>
            </a:r>
            <a:r>
              <a:rPr lang="ru-RU" b="0" i="0" dirty="0" err="1">
                <a:effectLst/>
                <a:latin typeface="Whitney"/>
              </a:rPr>
              <a:t>сканират</a:t>
            </a:r>
            <a:r>
              <a:rPr lang="ru-RU" b="0" i="0" dirty="0">
                <a:effectLst/>
                <a:latin typeface="Whitney"/>
              </a:rPr>
              <a:t> </a:t>
            </a:r>
            <a:r>
              <a:rPr lang="ru-RU" b="0" i="0" dirty="0" err="1">
                <a:effectLst/>
                <a:latin typeface="Whitney"/>
              </a:rPr>
              <a:t>големи</a:t>
            </a:r>
            <a:r>
              <a:rPr lang="ru-RU" b="0" i="0" dirty="0">
                <a:effectLst/>
                <a:latin typeface="Whitney"/>
              </a:rPr>
              <a:t> </a:t>
            </a:r>
            <a:r>
              <a:rPr lang="ru-RU" b="0" i="0" dirty="0" err="1">
                <a:effectLst/>
                <a:latin typeface="Whitney"/>
              </a:rPr>
              <a:t>листове</a:t>
            </a:r>
            <a:r>
              <a:rPr lang="ru-RU" b="0" i="0" dirty="0">
                <a:effectLst/>
                <a:latin typeface="Whitney"/>
              </a:rPr>
              <a:t> се </a:t>
            </a:r>
            <a:r>
              <a:rPr lang="ru-RU" b="0" i="0" dirty="0" err="1">
                <a:effectLst/>
                <a:latin typeface="Whitney"/>
              </a:rPr>
              <a:t>снимат</a:t>
            </a:r>
            <a:r>
              <a:rPr lang="ru-RU" b="0" i="0" dirty="0">
                <a:effectLst/>
                <a:latin typeface="Whitney"/>
              </a:rPr>
              <a:t> на </a:t>
            </a:r>
            <a:r>
              <a:rPr lang="ru-RU" b="0" i="0" dirty="0" err="1">
                <a:effectLst/>
                <a:latin typeface="Whitney"/>
              </a:rPr>
              <a:t>няколко</a:t>
            </a:r>
            <a:r>
              <a:rPr lang="ru-RU" b="0" i="0" dirty="0">
                <a:effectLst/>
                <a:latin typeface="Whitney"/>
              </a:rPr>
              <a:t> </a:t>
            </a:r>
            <a:r>
              <a:rPr lang="ru-RU" b="0" i="0" dirty="0" err="1">
                <a:effectLst/>
                <a:latin typeface="Whitney"/>
              </a:rPr>
              <a:t>пъти</a:t>
            </a:r>
            <a:r>
              <a:rPr lang="ru-RU" b="0" i="0" dirty="0">
                <a:effectLst/>
                <a:latin typeface="Whitney"/>
              </a:rPr>
              <a:t> и се “залепят’’ с </a:t>
            </a:r>
            <a:r>
              <a:rPr lang="ru-RU" b="0" i="0" dirty="0" err="1">
                <a:effectLst/>
                <a:latin typeface="Whitney"/>
              </a:rPr>
              <a:t>графичен</a:t>
            </a:r>
            <a:r>
              <a:rPr lang="ru-RU" b="0" i="0" dirty="0">
                <a:effectLst/>
                <a:latin typeface="Whitney"/>
              </a:rPr>
              <a:t> редактор.​</a:t>
            </a:r>
            <a:endParaRPr lang="bg-BG" dirty="0"/>
          </a:p>
        </p:txBody>
      </p:sp>
      <p:pic>
        <p:nvPicPr>
          <p:cNvPr id="13314" name="Picture 2" descr="Ръчен линеен баркод скенер LI2208 - BCS Bulgaria - Баркод Системи България  ООД">
            <a:extLst>
              <a:ext uri="{FF2B5EF4-FFF2-40B4-BE49-F238E27FC236}">
                <a16:creationId xmlns:a16="http://schemas.microsoft.com/office/drawing/2014/main" id="{2C4C9599-CC0C-4969-A1B0-B198A8A6BA0A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7931" y="1997243"/>
            <a:ext cx="3451852" cy="3451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76024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EDDDE8DE-06B5-4A70-88B9-D7E5262258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2926" y="874295"/>
            <a:ext cx="5589053" cy="970547"/>
          </a:xfrm>
        </p:spPr>
        <p:txBody>
          <a:bodyPr/>
          <a:lstStyle/>
          <a:p>
            <a:r>
              <a:rPr lang="bg-BG" dirty="0"/>
              <a:t>*БАРАБАНИ</a:t>
            </a:r>
          </a:p>
          <a:p>
            <a:endParaRPr lang="bg-BG" dirty="0"/>
          </a:p>
        </p:txBody>
      </p:sp>
      <p:sp>
        <p:nvSpPr>
          <p:cNvPr id="4" name="Контейнер за съдържание 3">
            <a:extLst>
              <a:ext uri="{FF2B5EF4-FFF2-40B4-BE49-F238E27FC236}">
                <a16:creationId xmlns:a16="http://schemas.microsoft.com/office/drawing/2014/main" id="{14F60D0B-2839-4286-8EAF-702DE63335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2926" y="1620253"/>
            <a:ext cx="5589053" cy="4269846"/>
          </a:xfrm>
        </p:spPr>
        <p:txBody>
          <a:bodyPr>
            <a:normAutofit/>
          </a:bodyPr>
          <a:lstStyle/>
          <a:p>
            <a:r>
              <a:rPr lang="ru-RU" b="0" i="0" dirty="0">
                <a:effectLst/>
                <a:latin typeface="Whitney"/>
              </a:rPr>
              <a:t>При </a:t>
            </a:r>
            <a:r>
              <a:rPr lang="ru-RU" b="0" i="0" dirty="0" err="1">
                <a:effectLst/>
                <a:latin typeface="Whitney"/>
              </a:rPr>
              <a:t>тях</a:t>
            </a:r>
            <a:r>
              <a:rPr lang="ru-RU" b="0" i="0" dirty="0">
                <a:effectLst/>
                <a:latin typeface="Whitney"/>
              </a:rPr>
              <a:t> </a:t>
            </a:r>
            <a:r>
              <a:rPr lang="ru-RU" b="0" i="0" dirty="0" err="1">
                <a:effectLst/>
                <a:latin typeface="Whitney"/>
              </a:rPr>
              <a:t>оригиналът</a:t>
            </a:r>
            <a:r>
              <a:rPr lang="ru-RU" b="0" i="0" dirty="0">
                <a:effectLst/>
                <a:latin typeface="Whitney"/>
              </a:rPr>
              <a:t> се </a:t>
            </a:r>
            <a:r>
              <a:rPr lang="ru-RU" b="0" i="0" dirty="0" err="1">
                <a:effectLst/>
                <a:latin typeface="Whitney"/>
              </a:rPr>
              <a:t>монтира</a:t>
            </a:r>
            <a:r>
              <a:rPr lang="ru-RU" b="0" i="0" dirty="0">
                <a:effectLst/>
                <a:latin typeface="Whitney"/>
              </a:rPr>
              <a:t> </a:t>
            </a:r>
            <a:r>
              <a:rPr lang="ru-RU" b="0" i="0" dirty="0" err="1">
                <a:effectLst/>
                <a:latin typeface="Whitney"/>
              </a:rPr>
              <a:t>върху</a:t>
            </a:r>
            <a:r>
              <a:rPr lang="ru-RU" b="0" i="0" dirty="0">
                <a:effectLst/>
                <a:latin typeface="Whitney"/>
              </a:rPr>
              <a:t> барабан. При </a:t>
            </a:r>
            <a:r>
              <a:rPr lang="ru-RU" b="0" i="0" dirty="0" err="1">
                <a:effectLst/>
                <a:latin typeface="Whitney"/>
              </a:rPr>
              <a:t>едновременно</a:t>
            </a:r>
            <a:r>
              <a:rPr lang="ru-RU" b="0" i="0" dirty="0">
                <a:effectLst/>
                <a:latin typeface="Whitney"/>
              </a:rPr>
              <a:t> линейно движение на </a:t>
            </a:r>
            <a:r>
              <a:rPr lang="ru-RU" b="0" i="0" dirty="0" err="1">
                <a:effectLst/>
                <a:latin typeface="Whitney"/>
              </a:rPr>
              <a:t>оптичен</a:t>
            </a:r>
            <a:r>
              <a:rPr lang="ru-RU" b="0" i="0" dirty="0">
                <a:effectLst/>
                <a:latin typeface="Whitney"/>
              </a:rPr>
              <a:t> </a:t>
            </a:r>
            <a:r>
              <a:rPr lang="ru-RU" b="0" i="0" dirty="0" err="1">
                <a:effectLst/>
                <a:latin typeface="Whitney"/>
              </a:rPr>
              <a:t>сензор</a:t>
            </a:r>
            <a:r>
              <a:rPr lang="ru-RU" b="0" i="0" dirty="0">
                <a:effectLst/>
                <a:latin typeface="Whitney"/>
              </a:rPr>
              <a:t> и </a:t>
            </a:r>
            <a:r>
              <a:rPr lang="ru-RU" b="0" i="0" dirty="0" err="1">
                <a:effectLst/>
                <a:latin typeface="Whitney"/>
              </a:rPr>
              <a:t>въртене</a:t>
            </a:r>
            <a:r>
              <a:rPr lang="ru-RU" b="0" i="0" dirty="0">
                <a:effectLst/>
                <a:latin typeface="Whitney"/>
              </a:rPr>
              <a:t> на барабана се </a:t>
            </a:r>
            <a:r>
              <a:rPr lang="ru-RU" b="0" i="0" dirty="0" err="1">
                <a:effectLst/>
                <a:latin typeface="Whitney"/>
              </a:rPr>
              <a:t>снема</a:t>
            </a:r>
            <a:r>
              <a:rPr lang="ru-RU" b="0" i="0" dirty="0">
                <a:effectLst/>
                <a:latin typeface="Whitney"/>
              </a:rPr>
              <a:t> информация за цвета и </a:t>
            </a:r>
            <a:r>
              <a:rPr lang="ru-RU" b="0" i="0" dirty="0" err="1">
                <a:effectLst/>
                <a:latin typeface="Whitney"/>
              </a:rPr>
              <a:t>оптичната</a:t>
            </a:r>
            <a:r>
              <a:rPr lang="ru-RU" b="0" i="0" dirty="0">
                <a:effectLst/>
                <a:latin typeface="Whitney"/>
              </a:rPr>
              <a:t> </a:t>
            </a:r>
            <a:r>
              <a:rPr lang="ru-RU" b="0" i="0" dirty="0" err="1">
                <a:effectLst/>
                <a:latin typeface="Whitney"/>
              </a:rPr>
              <a:t>плътност</a:t>
            </a:r>
            <a:r>
              <a:rPr lang="ru-RU" b="0" i="0" dirty="0">
                <a:effectLst/>
                <a:latin typeface="Whitney"/>
              </a:rPr>
              <a:t> на всяка точка от оригинала. </a:t>
            </a:r>
            <a:r>
              <a:rPr lang="ru-RU" b="0" i="0" dirty="0" err="1">
                <a:effectLst/>
                <a:latin typeface="Whitney"/>
              </a:rPr>
              <a:t>Копието</a:t>
            </a:r>
            <a:r>
              <a:rPr lang="ru-RU" b="0" i="0" dirty="0">
                <a:effectLst/>
                <a:latin typeface="Whitney"/>
              </a:rPr>
              <a:t> е с </a:t>
            </a:r>
            <a:r>
              <a:rPr lang="ru-RU" b="0" i="0" dirty="0" err="1">
                <a:effectLst/>
                <a:latin typeface="Whitney"/>
              </a:rPr>
              <a:t>изключително</a:t>
            </a:r>
            <a:r>
              <a:rPr lang="ru-RU" b="0" i="0" dirty="0">
                <a:effectLst/>
                <a:latin typeface="Whitney"/>
              </a:rPr>
              <a:t> качество и </a:t>
            </a:r>
            <a:r>
              <a:rPr lang="ru-RU" b="0" i="0" dirty="0" err="1">
                <a:effectLst/>
                <a:latin typeface="Whitney"/>
              </a:rPr>
              <a:t>висока</a:t>
            </a:r>
            <a:r>
              <a:rPr lang="ru-RU" b="0" i="0" dirty="0">
                <a:effectLst/>
                <a:latin typeface="Whitney"/>
              </a:rPr>
              <a:t> цена, </a:t>
            </a:r>
            <a:r>
              <a:rPr lang="ru-RU" b="0" i="0" dirty="0" err="1">
                <a:effectLst/>
                <a:latin typeface="Whitney"/>
              </a:rPr>
              <a:t>затова</a:t>
            </a:r>
            <a:r>
              <a:rPr lang="ru-RU" b="0" i="0" dirty="0">
                <a:effectLst/>
                <a:latin typeface="Whitney"/>
              </a:rPr>
              <a:t> се </a:t>
            </a:r>
            <a:r>
              <a:rPr lang="ru-RU" b="0" i="0" dirty="0" err="1">
                <a:effectLst/>
                <a:latin typeface="Whitney"/>
              </a:rPr>
              <a:t>използват</a:t>
            </a:r>
            <a:r>
              <a:rPr lang="ru-RU" b="0" i="0" dirty="0">
                <a:effectLst/>
                <a:latin typeface="Whitney"/>
              </a:rPr>
              <a:t> в </a:t>
            </a:r>
            <a:r>
              <a:rPr lang="ru-RU" b="0" i="0" dirty="0" err="1">
                <a:effectLst/>
                <a:latin typeface="Whitney"/>
              </a:rPr>
              <a:t>професионалната</a:t>
            </a:r>
            <a:r>
              <a:rPr lang="ru-RU" b="0" i="0" dirty="0">
                <a:effectLst/>
                <a:latin typeface="Whitney"/>
              </a:rPr>
              <a:t> </a:t>
            </a:r>
            <a:r>
              <a:rPr lang="ru-RU" b="0" i="0" dirty="0" err="1">
                <a:effectLst/>
                <a:latin typeface="Whitney"/>
              </a:rPr>
              <a:t>издателска</a:t>
            </a:r>
            <a:r>
              <a:rPr lang="ru-RU" b="0" i="0" dirty="0">
                <a:effectLst/>
                <a:latin typeface="Whitney"/>
              </a:rPr>
              <a:t> </a:t>
            </a:r>
            <a:r>
              <a:rPr lang="ru-RU" b="0" i="0" dirty="0" err="1">
                <a:effectLst/>
                <a:latin typeface="Whitney"/>
              </a:rPr>
              <a:t>дейност</a:t>
            </a:r>
            <a:r>
              <a:rPr lang="ru-RU" b="0" i="0" dirty="0">
                <a:effectLst/>
                <a:latin typeface="Whitney"/>
              </a:rPr>
              <a:t>. </a:t>
            </a:r>
            <a:r>
              <a:rPr lang="ru-RU" b="0" i="0" dirty="0" err="1">
                <a:effectLst/>
                <a:latin typeface="Whitney"/>
              </a:rPr>
              <a:t>Последните</a:t>
            </a:r>
            <a:r>
              <a:rPr lang="ru-RU" b="0" i="0" dirty="0">
                <a:effectLst/>
                <a:latin typeface="Whitney"/>
              </a:rPr>
              <a:t> </a:t>
            </a:r>
            <a:r>
              <a:rPr lang="ru-RU" b="0" i="0" dirty="0" err="1">
                <a:effectLst/>
                <a:latin typeface="Whitney"/>
              </a:rPr>
              <a:t>години</a:t>
            </a:r>
            <a:r>
              <a:rPr lang="ru-RU" b="0" i="0" dirty="0">
                <a:effectLst/>
                <a:latin typeface="Whitney"/>
              </a:rPr>
              <a:t> не се </a:t>
            </a:r>
            <a:r>
              <a:rPr lang="ru-RU" b="0" i="0" dirty="0" err="1">
                <a:effectLst/>
                <a:latin typeface="Whitney"/>
              </a:rPr>
              <a:t>използва</a:t>
            </a:r>
            <a:r>
              <a:rPr lang="ru-RU" b="0" i="0" dirty="0">
                <a:effectLst/>
                <a:latin typeface="Whitney"/>
              </a:rPr>
              <a:t> много </a:t>
            </a:r>
            <a:r>
              <a:rPr lang="ru-RU" b="0" i="0" dirty="0" err="1">
                <a:effectLst/>
                <a:latin typeface="Whitney"/>
              </a:rPr>
              <a:t>защото</a:t>
            </a:r>
            <a:r>
              <a:rPr lang="ru-RU" b="0" i="0" dirty="0">
                <a:effectLst/>
                <a:latin typeface="Whitney"/>
              </a:rPr>
              <a:t> вместо да се </a:t>
            </a:r>
            <a:r>
              <a:rPr lang="ru-RU" b="0" i="0" dirty="0" err="1">
                <a:effectLst/>
                <a:latin typeface="Whitney"/>
              </a:rPr>
              <a:t>минава</a:t>
            </a:r>
            <a:r>
              <a:rPr lang="ru-RU" b="0" i="0" dirty="0">
                <a:effectLst/>
                <a:latin typeface="Whitney"/>
              </a:rPr>
              <a:t> </a:t>
            </a:r>
            <a:r>
              <a:rPr lang="ru-RU" b="0" i="0" dirty="0" err="1">
                <a:effectLst/>
                <a:latin typeface="Whitney"/>
              </a:rPr>
              <a:t>през</a:t>
            </a:r>
            <a:r>
              <a:rPr lang="ru-RU" b="0" i="0" dirty="0">
                <a:effectLst/>
                <a:latin typeface="Whitney"/>
              </a:rPr>
              <a:t> </a:t>
            </a:r>
            <a:r>
              <a:rPr lang="ru-RU" b="0" i="0" dirty="0" err="1">
                <a:effectLst/>
                <a:latin typeface="Whitney"/>
              </a:rPr>
              <a:t>цялата</a:t>
            </a:r>
            <a:r>
              <a:rPr lang="ru-RU" b="0" i="0" dirty="0">
                <a:effectLst/>
                <a:latin typeface="Whitney"/>
              </a:rPr>
              <a:t> </a:t>
            </a:r>
            <a:r>
              <a:rPr lang="ru-RU" b="0" i="0" dirty="0" err="1">
                <a:effectLst/>
                <a:latin typeface="Whitney"/>
              </a:rPr>
              <a:t>тази</a:t>
            </a:r>
            <a:r>
              <a:rPr lang="ru-RU" b="0" i="0" dirty="0">
                <a:effectLst/>
                <a:latin typeface="Whitney"/>
              </a:rPr>
              <a:t> операция, </a:t>
            </a:r>
            <a:r>
              <a:rPr lang="ru-RU" b="0" i="0" dirty="0" err="1">
                <a:effectLst/>
                <a:latin typeface="Whitney"/>
              </a:rPr>
              <a:t>оригиналът</a:t>
            </a:r>
            <a:r>
              <a:rPr lang="ru-RU" b="0" i="0" dirty="0">
                <a:effectLst/>
                <a:latin typeface="Whitney"/>
              </a:rPr>
              <a:t> се </a:t>
            </a:r>
            <a:r>
              <a:rPr lang="ru-RU" b="0" i="0" dirty="0" err="1">
                <a:effectLst/>
                <a:latin typeface="Whitney"/>
              </a:rPr>
              <a:t>снима</a:t>
            </a:r>
            <a:r>
              <a:rPr lang="ru-RU" b="0" i="0" dirty="0">
                <a:effectLst/>
                <a:latin typeface="Whitney"/>
              </a:rPr>
              <a:t> с </a:t>
            </a:r>
            <a:r>
              <a:rPr lang="ru-RU" b="0" i="0" dirty="0" err="1">
                <a:effectLst/>
                <a:latin typeface="Whitney"/>
              </a:rPr>
              <a:t>професионален</a:t>
            </a:r>
            <a:r>
              <a:rPr lang="ru-RU" b="0" i="0" dirty="0">
                <a:effectLst/>
                <a:latin typeface="Whitney"/>
              </a:rPr>
              <a:t> </a:t>
            </a:r>
            <a:r>
              <a:rPr lang="ru-RU" b="0" i="0" dirty="0" err="1">
                <a:effectLst/>
                <a:latin typeface="Whitney"/>
              </a:rPr>
              <a:t>фотоапарат</a:t>
            </a:r>
            <a:r>
              <a:rPr lang="ru-RU" b="0" i="0" dirty="0">
                <a:effectLst/>
                <a:latin typeface="Whitney"/>
              </a:rPr>
              <a:t>.​</a:t>
            </a:r>
            <a:endParaRPr lang="bg-BG" dirty="0"/>
          </a:p>
        </p:txBody>
      </p:sp>
      <p:pic>
        <p:nvPicPr>
          <p:cNvPr id="14338" name="Picture 2" descr="Класификация на скенерите::.">
            <a:extLst>
              <a:ext uri="{FF2B5EF4-FFF2-40B4-BE49-F238E27FC236}">
                <a16:creationId xmlns:a16="http://schemas.microsoft.com/office/drawing/2014/main" id="{5C43F1D2-BA7E-4434-814F-44790B3BC46A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6679" y="2133601"/>
            <a:ext cx="3981585" cy="3201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7582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ECEBAE5F-E142-4C1E-AD8E-EBB8CA905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9441" y="1050758"/>
            <a:ext cx="4798980" cy="844173"/>
          </a:xfrm>
        </p:spPr>
        <p:txBody>
          <a:bodyPr/>
          <a:lstStyle/>
          <a:p>
            <a:r>
              <a:rPr lang="bg-BG" dirty="0"/>
              <a:t>*ПЛОСКИ </a:t>
            </a:r>
          </a:p>
          <a:p>
            <a:endParaRPr lang="bg-BG" dirty="0"/>
          </a:p>
        </p:txBody>
      </p:sp>
      <p:sp>
        <p:nvSpPr>
          <p:cNvPr id="4" name="Контейнер за съдържание 3">
            <a:extLst>
              <a:ext uri="{FF2B5EF4-FFF2-40B4-BE49-F238E27FC236}">
                <a16:creationId xmlns:a16="http://schemas.microsoft.com/office/drawing/2014/main" id="{212EEE5F-A8D1-4C99-A184-C7CF75B411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9441" y="1548063"/>
            <a:ext cx="5392538" cy="4342037"/>
          </a:xfrm>
        </p:spPr>
        <p:txBody>
          <a:bodyPr>
            <a:normAutofit/>
          </a:bodyPr>
          <a:lstStyle/>
          <a:p>
            <a:r>
              <a:rPr lang="ru-RU" b="0" i="0" dirty="0" err="1">
                <a:effectLst/>
                <a:latin typeface="Whitney"/>
              </a:rPr>
              <a:t>Плоските</a:t>
            </a:r>
            <a:r>
              <a:rPr lang="ru-RU" b="0" i="0" dirty="0">
                <a:effectLst/>
                <a:latin typeface="Whitney"/>
              </a:rPr>
              <a:t> (</a:t>
            </a:r>
            <a:r>
              <a:rPr lang="ru-RU" b="0" i="0" dirty="0" err="1">
                <a:effectLst/>
                <a:latin typeface="Whitney"/>
              </a:rPr>
              <a:t>легенчеви</a:t>
            </a:r>
            <a:r>
              <a:rPr lang="ru-RU" b="0" i="0" dirty="0">
                <a:effectLst/>
                <a:latin typeface="Whitney"/>
              </a:rPr>
              <a:t>) </a:t>
            </a:r>
            <a:r>
              <a:rPr lang="ru-RU" b="0" i="0" dirty="0" err="1">
                <a:effectLst/>
                <a:latin typeface="Whitney"/>
              </a:rPr>
              <a:t>са</a:t>
            </a:r>
            <a:r>
              <a:rPr lang="ru-RU" b="0" i="0" dirty="0">
                <a:effectLst/>
                <a:latin typeface="Whitney"/>
              </a:rPr>
              <a:t> най-</a:t>
            </a:r>
            <a:r>
              <a:rPr lang="ru-RU" b="0" i="0" dirty="0" err="1">
                <a:effectLst/>
                <a:latin typeface="Whitney"/>
              </a:rPr>
              <a:t>разпространените</a:t>
            </a:r>
            <a:r>
              <a:rPr lang="ru-RU" b="0" i="0" dirty="0">
                <a:effectLst/>
                <a:latin typeface="Whitney"/>
              </a:rPr>
              <a:t> в момента </a:t>
            </a:r>
            <a:r>
              <a:rPr lang="ru-RU" b="0" i="0" dirty="0" err="1">
                <a:effectLst/>
                <a:latin typeface="Whitney"/>
              </a:rPr>
              <a:t>скенери</a:t>
            </a:r>
            <a:r>
              <a:rPr lang="ru-RU" b="0" i="0" dirty="0">
                <a:effectLst/>
                <a:latin typeface="Whitney"/>
              </a:rPr>
              <a:t>. Те </a:t>
            </a:r>
            <a:r>
              <a:rPr lang="ru-RU" b="0" i="0" dirty="0" err="1">
                <a:effectLst/>
                <a:latin typeface="Whitney"/>
              </a:rPr>
              <a:t>наподобяват</a:t>
            </a:r>
            <a:r>
              <a:rPr lang="ru-RU" b="0" i="0" dirty="0">
                <a:effectLst/>
                <a:latin typeface="Whitney"/>
              </a:rPr>
              <a:t> </a:t>
            </a:r>
            <a:r>
              <a:rPr lang="ru-RU" b="0" i="0" dirty="0" err="1">
                <a:effectLst/>
                <a:latin typeface="Whitney"/>
              </a:rPr>
              <a:t>копирни</a:t>
            </a:r>
            <a:r>
              <a:rPr lang="ru-RU" b="0" i="0" dirty="0">
                <a:effectLst/>
                <a:latin typeface="Whitney"/>
              </a:rPr>
              <a:t> </a:t>
            </a:r>
            <a:r>
              <a:rPr lang="ru-RU" b="0" i="0" dirty="0" err="1">
                <a:effectLst/>
                <a:latin typeface="Whitney"/>
              </a:rPr>
              <a:t>апарати</a:t>
            </a:r>
            <a:r>
              <a:rPr lang="ru-RU" b="0" i="0" dirty="0">
                <a:effectLst/>
                <a:latin typeface="Whitney"/>
              </a:rPr>
              <a:t>. </a:t>
            </a:r>
            <a:r>
              <a:rPr lang="ru-RU" b="0" i="0" dirty="0" err="1">
                <a:effectLst/>
                <a:latin typeface="Whitney"/>
              </a:rPr>
              <a:t>Документът</a:t>
            </a:r>
            <a:r>
              <a:rPr lang="ru-RU" b="0" i="0" dirty="0">
                <a:effectLst/>
                <a:latin typeface="Whitney"/>
              </a:rPr>
              <a:t>, </a:t>
            </a:r>
            <a:r>
              <a:rPr lang="ru-RU" b="0" i="0" dirty="0" err="1">
                <a:effectLst/>
                <a:latin typeface="Whitney"/>
              </a:rPr>
              <a:t>който</a:t>
            </a:r>
            <a:r>
              <a:rPr lang="ru-RU" b="0" i="0" dirty="0">
                <a:effectLst/>
                <a:latin typeface="Whitney"/>
              </a:rPr>
              <a:t> </a:t>
            </a:r>
            <a:r>
              <a:rPr lang="ru-RU" b="0" i="0" dirty="0" err="1">
                <a:effectLst/>
                <a:latin typeface="Whitney"/>
              </a:rPr>
              <a:t>ще</a:t>
            </a:r>
            <a:r>
              <a:rPr lang="ru-RU" b="0" i="0" dirty="0">
                <a:effectLst/>
                <a:latin typeface="Whitney"/>
              </a:rPr>
              <a:t> се </a:t>
            </a:r>
            <a:r>
              <a:rPr lang="ru-RU" b="0" i="0" dirty="0" err="1">
                <a:effectLst/>
                <a:latin typeface="Whitney"/>
              </a:rPr>
              <a:t>сканира</a:t>
            </a:r>
            <a:r>
              <a:rPr lang="ru-RU" b="0" i="0" dirty="0">
                <a:effectLst/>
                <a:latin typeface="Whitney"/>
              </a:rPr>
              <a:t> се </a:t>
            </a:r>
            <a:r>
              <a:rPr lang="ru-RU" b="0" i="0" dirty="0" err="1">
                <a:effectLst/>
                <a:latin typeface="Whitney"/>
              </a:rPr>
              <a:t>поставя</a:t>
            </a:r>
            <a:r>
              <a:rPr lang="ru-RU" b="0" i="0" dirty="0">
                <a:effectLst/>
                <a:latin typeface="Whitney"/>
              </a:rPr>
              <a:t> </a:t>
            </a:r>
            <a:r>
              <a:rPr lang="ru-RU" b="0" i="0" dirty="0" err="1">
                <a:effectLst/>
                <a:latin typeface="Whitney"/>
              </a:rPr>
              <a:t>върху</a:t>
            </a:r>
            <a:r>
              <a:rPr lang="ru-RU" b="0" i="0" dirty="0">
                <a:effectLst/>
                <a:latin typeface="Whitney"/>
              </a:rPr>
              <a:t> плоска равнина и се </a:t>
            </a:r>
            <a:r>
              <a:rPr lang="ru-RU" b="0" i="0" dirty="0" err="1">
                <a:effectLst/>
                <a:latin typeface="Whitney"/>
              </a:rPr>
              <a:t>затиска</a:t>
            </a:r>
            <a:r>
              <a:rPr lang="ru-RU" b="0" i="0" dirty="0">
                <a:effectLst/>
                <a:latin typeface="Whitney"/>
              </a:rPr>
              <a:t> с </a:t>
            </a:r>
            <a:r>
              <a:rPr lang="ru-RU" b="0" i="0" dirty="0" err="1">
                <a:effectLst/>
                <a:latin typeface="Whitney"/>
              </a:rPr>
              <a:t>капака</a:t>
            </a:r>
            <a:r>
              <a:rPr lang="ru-RU" b="0" i="0" dirty="0">
                <a:effectLst/>
                <a:latin typeface="Whitney"/>
              </a:rPr>
              <a:t> на </a:t>
            </a:r>
            <a:r>
              <a:rPr lang="ru-RU" b="0" i="0" dirty="0" err="1">
                <a:effectLst/>
                <a:latin typeface="Whitney"/>
              </a:rPr>
              <a:t>скенера</a:t>
            </a:r>
            <a:r>
              <a:rPr lang="ru-RU" b="0" i="0" dirty="0">
                <a:effectLst/>
                <a:latin typeface="Whitney"/>
              </a:rPr>
              <a:t>, за да </a:t>
            </a:r>
            <a:r>
              <a:rPr lang="ru-RU" b="0" i="0" dirty="0" err="1">
                <a:effectLst/>
                <a:latin typeface="Whitney"/>
              </a:rPr>
              <a:t>прилепне</a:t>
            </a:r>
            <a:r>
              <a:rPr lang="ru-RU" b="0" i="0" dirty="0">
                <a:effectLst/>
                <a:latin typeface="Whitney"/>
              </a:rPr>
              <a:t> </a:t>
            </a:r>
            <a:r>
              <a:rPr lang="ru-RU" b="0" i="0" dirty="0" err="1">
                <a:effectLst/>
                <a:latin typeface="Whitney"/>
              </a:rPr>
              <a:t>възможно</a:t>
            </a:r>
            <a:r>
              <a:rPr lang="ru-RU" b="0" i="0" dirty="0">
                <a:effectLst/>
                <a:latin typeface="Whitney"/>
              </a:rPr>
              <a:t> най-</a:t>
            </a:r>
            <a:r>
              <a:rPr lang="ru-RU" b="0" i="0" dirty="0" err="1">
                <a:effectLst/>
                <a:latin typeface="Whitney"/>
              </a:rPr>
              <a:t>плътно</a:t>
            </a:r>
            <a:r>
              <a:rPr lang="ru-RU" b="0" i="0" dirty="0">
                <a:effectLst/>
                <a:latin typeface="Whitney"/>
              </a:rPr>
              <a:t> </a:t>
            </a:r>
            <a:r>
              <a:rPr lang="ru-RU" b="0" i="0" dirty="0" err="1">
                <a:effectLst/>
                <a:latin typeface="Whitney"/>
              </a:rPr>
              <a:t>към</a:t>
            </a:r>
            <a:r>
              <a:rPr lang="ru-RU" b="0" i="0" dirty="0">
                <a:effectLst/>
                <a:latin typeface="Whitney"/>
              </a:rPr>
              <a:t> </a:t>
            </a:r>
            <a:r>
              <a:rPr lang="ru-RU" b="0" i="0" dirty="0" err="1">
                <a:effectLst/>
                <a:latin typeface="Whitney"/>
              </a:rPr>
              <a:t>работната</a:t>
            </a:r>
            <a:r>
              <a:rPr lang="ru-RU" b="0" i="0" dirty="0">
                <a:effectLst/>
                <a:latin typeface="Whitney"/>
              </a:rPr>
              <a:t> </a:t>
            </a:r>
            <a:r>
              <a:rPr lang="ru-RU" b="0" i="0" dirty="0" err="1">
                <a:effectLst/>
                <a:latin typeface="Whitney"/>
              </a:rPr>
              <a:t>повърхност</a:t>
            </a:r>
            <a:r>
              <a:rPr lang="ru-RU" b="0" i="0" dirty="0">
                <a:effectLst/>
                <a:latin typeface="Whitney"/>
              </a:rPr>
              <a:t>. </a:t>
            </a:r>
            <a:r>
              <a:rPr lang="ru-RU" b="0" i="0" dirty="0" err="1">
                <a:effectLst/>
                <a:latin typeface="Whitney"/>
              </a:rPr>
              <a:t>Това</a:t>
            </a:r>
            <a:r>
              <a:rPr lang="ru-RU" b="0" i="0" dirty="0">
                <a:effectLst/>
                <a:latin typeface="Whitney"/>
              </a:rPr>
              <a:t> е необходимо, за да се получи </a:t>
            </a:r>
            <a:r>
              <a:rPr lang="ru-RU" b="0" i="0" dirty="0" err="1">
                <a:effectLst/>
                <a:latin typeface="Whitney"/>
              </a:rPr>
              <a:t>оптично</a:t>
            </a:r>
            <a:r>
              <a:rPr lang="ru-RU" b="0" i="0" dirty="0">
                <a:effectLst/>
                <a:latin typeface="Whitney"/>
              </a:rPr>
              <a:t> </a:t>
            </a:r>
            <a:r>
              <a:rPr lang="ru-RU" b="0" i="0" dirty="0" err="1">
                <a:effectLst/>
                <a:latin typeface="Whitney"/>
              </a:rPr>
              <a:t>вярно</a:t>
            </a:r>
            <a:r>
              <a:rPr lang="ru-RU" b="0" i="0" dirty="0">
                <a:effectLst/>
                <a:latin typeface="Whitney"/>
              </a:rPr>
              <a:t> </a:t>
            </a:r>
            <a:r>
              <a:rPr lang="ru-RU" b="0" i="0" dirty="0" err="1">
                <a:effectLst/>
                <a:latin typeface="Whitney"/>
              </a:rPr>
              <a:t>копие</a:t>
            </a:r>
            <a:r>
              <a:rPr lang="ru-RU" b="0" i="0" dirty="0">
                <a:effectLst/>
                <a:latin typeface="Whitney"/>
              </a:rPr>
              <a:t> без деформации. </a:t>
            </a:r>
            <a:r>
              <a:rPr lang="ru-RU" b="0" i="0" dirty="0" err="1">
                <a:effectLst/>
                <a:latin typeface="Whitney"/>
              </a:rPr>
              <a:t>Недостатък</a:t>
            </a:r>
            <a:r>
              <a:rPr lang="ru-RU" b="0" i="0" dirty="0">
                <a:effectLst/>
                <a:latin typeface="Whitney"/>
              </a:rPr>
              <a:t> е че трудно се </a:t>
            </a:r>
            <a:r>
              <a:rPr lang="ru-RU" b="0" i="0" dirty="0" err="1">
                <a:effectLst/>
                <a:latin typeface="Whitney"/>
              </a:rPr>
              <a:t>снимат</a:t>
            </a:r>
            <a:r>
              <a:rPr lang="ru-RU" b="0" i="0" dirty="0">
                <a:effectLst/>
                <a:latin typeface="Whitney"/>
              </a:rPr>
              <a:t> </a:t>
            </a:r>
            <a:r>
              <a:rPr lang="ru-RU" b="0" i="0" dirty="0" err="1">
                <a:effectLst/>
                <a:latin typeface="Whitney"/>
              </a:rPr>
              <a:t>дебели</a:t>
            </a:r>
            <a:r>
              <a:rPr lang="ru-RU" b="0" i="0" dirty="0">
                <a:effectLst/>
                <a:latin typeface="Whitney"/>
              </a:rPr>
              <a:t> книги и </a:t>
            </a:r>
            <a:r>
              <a:rPr lang="ru-RU" b="0" i="0" dirty="0" err="1">
                <a:effectLst/>
                <a:latin typeface="Whitney"/>
              </a:rPr>
              <a:t>документи</a:t>
            </a:r>
            <a:r>
              <a:rPr lang="ru-RU" b="0" i="0" dirty="0">
                <a:effectLst/>
                <a:latin typeface="Whitney"/>
              </a:rPr>
              <a:t>.​</a:t>
            </a:r>
            <a:endParaRPr lang="bg-BG" dirty="0"/>
          </a:p>
        </p:txBody>
      </p:sp>
      <p:pic>
        <p:nvPicPr>
          <p:cNvPr id="15362" name="Picture 2" descr="Плосък скенер за документи Canon CanoScan LiDE 220 • 30233 ⋙ Цена | Plasico  IT Superstore">
            <a:extLst>
              <a:ext uri="{FF2B5EF4-FFF2-40B4-BE49-F238E27FC236}">
                <a16:creationId xmlns:a16="http://schemas.microsoft.com/office/drawing/2014/main" id="{2FFEBBDE-581D-49BB-978B-CC60B145F554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6463" y="2353601"/>
            <a:ext cx="4593696" cy="2730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6915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2FB0A7B-22BD-484F-86CF-C7358A042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72717"/>
            <a:ext cx="9905999" cy="1403684"/>
          </a:xfrm>
        </p:spPr>
        <p:txBody>
          <a:bodyPr/>
          <a:lstStyle/>
          <a:p>
            <a:r>
              <a:rPr lang="en-US" dirty="0"/>
              <a:t>Test</a:t>
            </a:r>
            <a:endParaRPr lang="bg-BG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3FE6B350-A583-4630-A05D-34E7E7FB7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48063"/>
            <a:ext cx="9905999" cy="4351081"/>
          </a:xfrm>
        </p:spPr>
        <p:txBody>
          <a:bodyPr>
            <a:normAutofit/>
          </a:bodyPr>
          <a:lstStyle/>
          <a:p>
            <a:r>
              <a:rPr lang="bg-BG" dirty="0"/>
              <a:t>1. </a:t>
            </a:r>
            <a:r>
              <a:rPr lang="bg-BG" dirty="0">
                <a:hlinkClick r:id="rId2" action="ppaction://hlinksldjump"/>
              </a:rPr>
              <a:t>Колко волта захранване ползват клавиатурите?</a:t>
            </a:r>
            <a:endParaRPr lang="bg-BG" dirty="0"/>
          </a:p>
          <a:p>
            <a:endParaRPr lang="bg-BG" dirty="0"/>
          </a:p>
          <a:p>
            <a:r>
              <a:rPr lang="bg-BG" dirty="0"/>
              <a:t>2.</a:t>
            </a:r>
            <a:r>
              <a:rPr lang="bg-BG" dirty="0">
                <a:hlinkClick r:id="rId2" action="ppaction://hlinksldjump"/>
              </a:rPr>
              <a:t>От колко части е изградена клавиатурата?</a:t>
            </a:r>
            <a:endParaRPr lang="bg-BG" dirty="0"/>
          </a:p>
          <a:p>
            <a:endParaRPr lang="bg-BG" dirty="0"/>
          </a:p>
          <a:p>
            <a:r>
              <a:rPr lang="bg-BG" dirty="0"/>
              <a:t>3. </a:t>
            </a:r>
            <a:r>
              <a:rPr lang="ru-RU" dirty="0">
                <a:hlinkClick r:id="rId2" action="ppaction://hlinksldjump"/>
              </a:rPr>
              <a:t>Колко протокола </a:t>
            </a:r>
            <a:r>
              <a:rPr lang="ru-RU" dirty="0" err="1">
                <a:hlinkClick r:id="rId2" action="ppaction://hlinksldjump"/>
              </a:rPr>
              <a:t>има</a:t>
            </a:r>
            <a:r>
              <a:rPr lang="ru-RU" dirty="0">
                <a:hlinkClick r:id="rId2" action="ppaction://hlinksldjump"/>
              </a:rPr>
              <a:t> USB интерфейса?</a:t>
            </a:r>
            <a:endParaRPr lang="ru-RU" dirty="0"/>
          </a:p>
          <a:p>
            <a:endParaRPr lang="bg-BG" dirty="0"/>
          </a:p>
          <a:p>
            <a:r>
              <a:rPr lang="bg-BG" dirty="0"/>
              <a:t>4.</a:t>
            </a:r>
            <a:r>
              <a:rPr lang="bg-BG" dirty="0">
                <a:hlinkClick r:id="rId2" action="ppaction://hlinksldjump"/>
              </a:rPr>
              <a:t>За какво първоначално е добавена мишката?</a:t>
            </a:r>
            <a:endParaRPr lang="bg-BG" dirty="0"/>
          </a:p>
          <a:p>
            <a:endParaRPr lang="bg-BG" dirty="0"/>
          </a:p>
          <a:p>
            <a:r>
              <a:rPr lang="bg-BG" dirty="0"/>
              <a:t>5. </a:t>
            </a:r>
            <a:r>
              <a:rPr lang="bg-BG" dirty="0">
                <a:hlinkClick r:id="rId2" action="ppaction://hlinksldjump"/>
              </a:rPr>
              <a:t>Какво имат всички скенери?</a:t>
            </a:r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6568296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AF7DE95F-A597-4297-AA5C-F7894ACE6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863" y="447819"/>
            <a:ext cx="9905999" cy="1360898"/>
          </a:xfrm>
        </p:spPr>
        <p:txBody>
          <a:bodyPr/>
          <a:lstStyle/>
          <a:p>
            <a:r>
              <a:rPr lang="en-US" dirty="0"/>
              <a:t>Test</a:t>
            </a:r>
            <a:endParaRPr lang="bg-BG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F4AD44CD-FF69-49FC-A193-2DEA15BFE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864" y="1808717"/>
            <a:ext cx="10339136" cy="4090427"/>
          </a:xfrm>
        </p:spPr>
        <p:txBody>
          <a:bodyPr>
            <a:normAutofit lnSpcReduction="10000"/>
          </a:bodyPr>
          <a:lstStyle/>
          <a:p>
            <a:r>
              <a:rPr lang="bg-BG" dirty="0"/>
              <a:t>6.</a:t>
            </a:r>
            <a:r>
              <a:rPr lang="bg-BG" dirty="0">
                <a:hlinkClick r:id="rId2" action="ppaction://hlinksldjump"/>
              </a:rPr>
              <a:t>Колко видове мишки спрямо принципа на действие?</a:t>
            </a:r>
            <a:endParaRPr lang="bg-BG" dirty="0"/>
          </a:p>
          <a:p>
            <a:endParaRPr lang="bg-BG" dirty="0"/>
          </a:p>
          <a:p>
            <a:r>
              <a:rPr lang="bg-BG" dirty="0"/>
              <a:t>7.</a:t>
            </a:r>
            <a:r>
              <a:rPr lang="bg-BG" dirty="0">
                <a:hlinkClick r:id="rId2" action="ppaction://hlinksldjump"/>
              </a:rPr>
              <a:t>Каква е разликата между лазерната и оптичната мишка?</a:t>
            </a:r>
            <a:endParaRPr lang="bg-BG" dirty="0"/>
          </a:p>
          <a:p>
            <a:endParaRPr lang="bg-BG" dirty="0"/>
          </a:p>
          <a:p>
            <a:r>
              <a:rPr lang="bg-BG" dirty="0"/>
              <a:t>8. </a:t>
            </a:r>
            <a:r>
              <a:rPr lang="ru-RU" dirty="0">
                <a:hlinkClick r:id="rId2" action="ppaction://hlinksldjump"/>
              </a:rPr>
              <a:t>Колко вида </a:t>
            </a:r>
            <a:r>
              <a:rPr lang="ru-RU" dirty="0" err="1">
                <a:hlinkClick r:id="rId2" action="ppaction://hlinksldjump"/>
              </a:rPr>
              <a:t>интерфейси</a:t>
            </a:r>
            <a:r>
              <a:rPr lang="ru-RU" dirty="0">
                <a:hlinkClick r:id="rId2" action="ppaction://hlinksldjump"/>
              </a:rPr>
              <a:t> </a:t>
            </a:r>
            <a:r>
              <a:rPr lang="ru-RU" dirty="0" err="1">
                <a:hlinkClick r:id="rId2" action="ppaction://hlinksldjump"/>
              </a:rPr>
              <a:t>имат</a:t>
            </a:r>
            <a:r>
              <a:rPr lang="ru-RU" dirty="0">
                <a:hlinkClick r:id="rId2" action="ppaction://hlinksldjump"/>
              </a:rPr>
              <a:t> </a:t>
            </a:r>
            <a:r>
              <a:rPr lang="ru-RU" dirty="0" err="1">
                <a:hlinkClick r:id="rId2" action="ppaction://hlinksldjump"/>
              </a:rPr>
              <a:t>скенерите</a:t>
            </a:r>
            <a:r>
              <a:rPr lang="ru-RU" dirty="0">
                <a:hlinkClick r:id="rId2" action="ppaction://hlinksldjump"/>
              </a:rPr>
              <a:t>?</a:t>
            </a:r>
            <a:endParaRPr lang="ru-RU" dirty="0"/>
          </a:p>
          <a:p>
            <a:endParaRPr lang="bg-BG" dirty="0"/>
          </a:p>
          <a:p>
            <a:r>
              <a:rPr lang="bg-BG" dirty="0"/>
              <a:t>9.</a:t>
            </a:r>
            <a:r>
              <a:rPr lang="bg-BG" dirty="0">
                <a:hlinkClick r:id="rId2" action="ppaction://hlinksldjump"/>
              </a:rPr>
              <a:t>Колко вида матрици за скенери има? </a:t>
            </a:r>
            <a:endParaRPr lang="bg-BG" dirty="0"/>
          </a:p>
          <a:p>
            <a:endParaRPr lang="bg-BG" dirty="0"/>
          </a:p>
          <a:p>
            <a:r>
              <a:rPr lang="bg-BG" dirty="0"/>
              <a:t>10</a:t>
            </a:r>
            <a:r>
              <a:rPr lang="bg-BG" dirty="0">
                <a:hlinkClick r:id="rId2" action="ppaction://hlinksldjump"/>
              </a:rPr>
              <a:t>.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bg-BG" dirty="0">
                <a:hlinkClick r:id="rId2" action="ppaction://hlinksldjump"/>
              </a:rPr>
              <a:t>Какво е другото наименование на плоските </a:t>
            </a:r>
            <a:r>
              <a:rPr lang="bg-BG" dirty="0" err="1">
                <a:hlinkClick r:id="rId2" action="ppaction://hlinksldjump"/>
              </a:rPr>
              <a:t>скененри</a:t>
            </a:r>
            <a:r>
              <a:rPr lang="bg-BG" dirty="0">
                <a:hlinkClick r:id="rId2" action="ppaction://hlinksldjump"/>
              </a:rPr>
              <a:t>?</a:t>
            </a:r>
            <a:endParaRPr lang="bg-BG" dirty="0"/>
          </a:p>
          <a:p>
            <a:pPr marL="0" indent="0">
              <a:buNone/>
            </a:pPr>
            <a:endParaRPr lang="bg-BG" dirty="0"/>
          </a:p>
          <a:p>
            <a:endParaRPr lang="bg-BG" dirty="0"/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7193078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35FCB1F-F89A-4000-A954-8908FDC3F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Отговори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5E076471-19F7-4D93-8D03-C4F5996B4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bg-BG" dirty="0"/>
              <a:t>1. Използват захранване от 5</a:t>
            </a:r>
            <a:r>
              <a:rPr lang="en-US" dirty="0"/>
              <a:t>V.</a:t>
            </a:r>
            <a:endParaRPr lang="bg-BG" dirty="0"/>
          </a:p>
          <a:p>
            <a:endParaRPr lang="bg-BG" dirty="0"/>
          </a:p>
          <a:p>
            <a:r>
              <a:rPr lang="bg-BG" dirty="0"/>
              <a:t>2.</a:t>
            </a:r>
            <a:r>
              <a:rPr lang="en-US" dirty="0"/>
              <a:t> </a:t>
            </a:r>
            <a:r>
              <a:rPr lang="bg-BG" dirty="0"/>
              <a:t>От четири: ф</a:t>
            </a:r>
            <a:r>
              <a:rPr lang="en-US" b="0" i="0" u="none" strike="noStrike" dirty="0" err="1">
                <a:effectLst/>
              </a:rPr>
              <a:t>ункционална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част</a:t>
            </a:r>
            <a:r>
              <a:rPr lang="bg-BG" b="0" i="0" u="none" strike="noStrike" dirty="0">
                <a:effectLst/>
              </a:rPr>
              <a:t>, </a:t>
            </a:r>
            <a:r>
              <a:rPr lang="bg-BG" dirty="0"/>
              <a:t>с</a:t>
            </a:r>
            <a:r>
              <a:rPr lang="en-US" b="0" i="0" u="none" strike="noStrike" dirty="0" err="1">
                <a:effectLst/>
              </a:rPr>
              <a:t>имволна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част</a:t>
            </a:r>
            <a:r>
              <a:rPr lang="bg-BG" b="0" i="0" u="none" strike="noStrike" dirty="0">
                <a:effectLst/>
              </a:rPr>
              <a:t>, </a:t>
            </a:r>
            <a:r>
              <a:rPr lang="bg-BG" dirty="0"/>
              <a:t>н</a:t>
            </a:r>
            <a:r>
              <a:rPr lang="en-US" b="0" i="0" u="none" strike="noStrike" dirty="0" err="1">
                <a:effectLst/>
              </a:rPr>
              <a:t>авигационна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b="0" i="0" u="none" strike="noStrike" dirty="0" err="1">
                <a:effectLst/>
              </a:rPr>
              <a:t>част</a:t>
            </a:r>
            <a:r>
              <a:rPr lang="bg-BG" dirty="0"/>
              <a:t> и цифрова част.</a:t>
            </a:r>
          </a:p>
          <a:p>
            <a:endParaRPr lang="bg-BG" dirty="0"/>
          </a:p>
          <a:p>
            <a:r>
              <a:rPr lang="bg-BG" dirty="0"/>
              <a:t>3. </a:t>
            </a:r>
            <a:r>
              <a:rPr lang="en-US" b="0" i="0" u="none" strike="noStrike" dirty="0">
                <a:effectLst/>
              </a:rPr>
              <a:t> </a:t>
            </a:r>
            <a:r>
              <a:rPr lang="en-US" dirty="0"/>
              <a:t>USB </a:t>
            </a:r>
            <a:r>
              <a:rPr lang="bg-BG" dirty="0"/>
              <a:t>интерфейса има 4 протокола</a:t>
            </a:r>
            <a:r>
              <a:rPr lang="en-US" dirty="0"/>
              <a:t>, USB – 1.0; USB – 2.0; USB – 3.0; USB – 3.1(4.0)</a:t>
            </a:r>
          </a:p>
          <a:p>
            <a:pPr marL="0" indent="0">
              <a:buNone/>
            </a:pPr>
            <a:endParaRPr lang="en-US" b="0" i="0" u="none" strike="noStrike" dirty="0">
              <a:effectLst/>
            </a:endParaRPr>
          </a:p>
          <a:p>
            <a:r>
              <a:rPr lang="bg-BG" dirty="0"/>
              <a:t>4. За удобство на потребителя. </a:t>
            </a:r>
          </a:p>
          <a:p>
            <a:endParaRPr lang="bg-BG" dirty="0"/>
          </a:p>
          <a:p>
            <a:r>
              <a:rPr lang="bg-BG" dirty="0"/>
              <a:t>5. Всички скенери имат сканираща глава</a:t>
            </a:r>
          </a:p>
        </p:txBody>
      </p:sp>
    </p:spTree>
    <p:extLst>
      <p:ext uri="{BB962C8B-B14F-4D97-AF65-F5344CB8AC3E}">
        <p14:creationId xmlns:p14="http://schemas.microsoft.com/office/powerpoint/2010/main" val="14002223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8AC7FD4D-18CD-42A8-A002-03FB82A68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Отговори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C07E4420-0A60-433D-9857-87CA39414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bg-BG" dirty="0"/>
              <a:t>6. Има три вида: механична, оптична и лазерна мишка.</a:t>
            </a:r>
          </a:p>
          <a:p>
            <a:endParaRPr lang="bg-BG" dirty="0"/>
          </a:p>
          <a:p>
            <a:r>
              <a:rPr lang="bg-BG" dirty="0"/>
              <a:t>7. Че при лазерната се 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използва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малък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инфрачервен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 лазер, а не 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като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 при </a:t>
            </a:r>
            <a:r>
              <a:rPr lang="ru-RU" b="0" i="0" u="none" strike="noStrike" dirty="0" err="1">
                <a:effectLst/>
                <a:latin typeface="Times New Roman" panose="02020603050405020304" pitchFamily="18" charset="0"/>
              </a:rPr>
              <a:t>оптичната</a:t>
            </a:r>
            <a:r>
              <a:rPr lang="ru-RU" b="0" i="0" u="none" strike="noStrike" dirty="0">
                <a:effectLst/>
                <a:latin typeface="Times New Roman" panose="02020603050405020304" pitchFamily="18" charset="0"/>
              </a:rPr>
              <a:t> светодиоде</a:t>
            </a:r>
            <a:r>
              <a:rPr lang="ru-RU" dirty="0">
                <a:latin typeface="Times New Roman" panose="02020603050405020304" pitchFamily="18" charset="0"/>
              </a:rPr>
              <a:t> или </a:t>
            </a:r>
            <a:r>
              <a:rPr lang="ru-RU" dirty="0" err="1">
                <a:latin typeface="Times New Roman" panose="02020603050405020304" pitchFamily="18" charset="0"/>
              </a:rPr>
              <a:t>фотодиоди</a:t>
            </a:r>
            <a:r>
              <a:rPr lang="ru-RU" dirty="0">
                <a:latin typeface="Times New Roman" panose="02020603050405020304" pitchFamily="18" charset="0"/>
              </a:rPr>
              <a:t>.</a:t>
            </a:r>
            <a:endParaRPr lang="bg-BG" dirty="0"/>
          </a:p>
          <a:p>
            <a:endParaRPr lang="bg-BG" dirty="0"/>
          </a:p>
          <a:p>
            <a:r>
              <a:rPr lang="bg-BG" dirty="0"/>
              <a:t>8.  Има три вида: ръчни, </a:t>
            </a:r>
            <a:r>
              <a:rPr lang="bg-BG" dirty="0" err="1"/>
              <a:t>барабанови</a:t>
            </a:r>
            <a:r>
              <a:rPr lang="bg-BG" dirty="0"/>
              <a:t> и плоски.</a:t>
            </a:r>
          </a:p>
          <a:p>
            <a:endParaRPr lang="bg-BG" dirty="0"/>
          </a:p>
          <a:p>
            <a:r>
              <a:rPr lang="bg-BG" dirty="0"/>
              <a:t>9. Има два вида: </a:t>
            </a:r>
            <a:r>
              <a:rPr lang="en-US" dirty="0"/>
              <a:t>CCD </a:t>
            </a:r>
            <a:r>
              <a:rPr lang="bg-BG" dirty="0"/>
              <a:t>и </a:t>
            </a:r>
            <a:r>
              <a:rPr lang="en-US" dirty="0"/>
              <a:t>CIS </a:t>
            </a:r>
            <a:r>
              <a:rPr lang="bg-BG" dirty="0"/>
              <a:t>матрица.</a:t>
            </a:r>
          </a:p>
          <a:p>
            <a:endParaRPr lang="bg-BG" dirty="0"/>
          </a:p>
          <a:p>
            <a:r>
              <a:rPr lang="bg-BG" dirty="0"/>
              <a:t>10. </a:t>
            </a:r>
            <a:r>
              <a:rPr lang="bg-BG" dirty="0" err="1"/>
              <a:t>Легенчеви</a:t>
            </a:r>
            <a:r>
              <a:rPr lang="bg-BG"/>
              <a:t> скенери.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6732103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нтеграл">
  <a:themeElements>
    <a:clrScheme name="Интеграл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Интеграл">
      <a:majorFont>
        <a:latin typeface="Tw Cen MT Condensed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Интеграл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646</Words>
  <Application>Microsoft Office PowerPoint</Application>
  <PresentationFormat>Widescreen</PresentationFormat>
  <Paragraphs>98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Интеграл</vt:lpstr>
      <vt:lpstr>Входни периферни устройства </vt:lpstr>
      <vt:lpstr>Съдържание </vt:lpstr>
      <vt:lpstr>1.КЛАВИАТУРА</vt:lpstr>
      <vt:lpstr>1.1 СЪЩНОСТ</vt:lpstr>
      <vt:lpstr>1.2 ЧАСТИ НА КЛАВИАТУРАТА​ </vt:lpstr>
      <vt:lpstr>1.3 РЕЖИМИ НА РАБОТА  </vt:lpstr>
      <vt:lpstr>2.1 СЪЩНОСТ</vt:lpstr>
      <vt:lpstr>2.2 ВИДОВЕ МИШКИ СПРЯМО КОНСТРУКЦИЯТА</vt:lpstr>
      <vt:lpstr>2.3 ВИДОВЕ МИШКИ СПЯМО ПРИНЦИПА НА ДЕЙСТВИЕ </vt:lpstr>
      <vt:lpstr>2.3 ВИДОВЕ МИШКИ СПЯМО ПРИНЦИПА НА ДЕЙСТВИЕ </vt:lpstr>
      <vt:lpstr>2.3 ВИДОВЕ МИШКИ СПЯМО ПРИНЦИПА НА ДЕЙСТВИЕ </vt:lpstr>
      <vt:lpstr>3.1 СЪЩНОСТ </vt:lpstr>
      <vt:lpstr>3.2 ПРИНЦП НА ДЕЙСТВИЕ </vt:lpstr>
      <vt:lpstr>3.3 CCD МАТРИЦА  </vt:lpstr>
      <vt:lpstr>3.4 CIS МАТРИЦА  </vt:lpstr>
      <vt:lpstr>3.5 ЕДНОПАЦОВИ И ДВУПАСОВИ СКЕНЕРИ  </vt:lpstr>
      <vt:lpstr>PowerPoint Presentation</vt:lpstr>
      <vt:lpstr>PowerPoint Presentation</vt:lpstr>
      <vt:lpstr>PowerPoint Presentation</vt:lpstr>
      <vt:lpstr>Test</vt:lpstr>
      <vt:lpstr>Test</vt:lpstr>
      <vt:lpstr>Отговори</vt:lpstr>
      <vt:lpstr>Отговори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Входни периферни устройства </dc:title>
  <dc:creator>Денис С. Петров</dc:creator>
  <cp:lastModifiedBy>USER</cp:lastModifiedBy>
  <cp:revision>4</cp:revision>
  <dcterms:created xsi:type="dcterms:W3CDTF">2022-02-21T06:30:59Z</dcterms:created>
  <dcterms:modified xsi:type="dcterms:W3CDTF">2022-12-20T06:09:51Z</dcterms:modified>
</cp:coreProperties>
</file>