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76" r:id="rId5"/>
    <p:sldId id="265" r:id="rId6"/>
    <p:sldId id="258" r:id="rId7"/>
    <p:sldId id="259" r:id="rId8"/>
    <p:sldId id="269" r:id="rId9"/>
    <p:sldId id="264" r:id="rId10"/>
    <p:sldId id="260" r:id="rId11"/>
    <p:sldId id="261" r:id="rId12"/>
    <p:sldId id="262" r:id="rId13"/>
    <p:sldId id="263" r:id="rId14"/>
    <p:sldId id="266" r:id="rId15"/>
    <p:sldId id="267" r:id="rId16"/>
    <p:sldId id="268" r:id="rId17"/>
    <p:sldId id="27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autoAdjust="0"/>
  </p:normalViewPr>
  <p:slideViewPr>
    <p:cSldViewPr snapToGrid="0">
      <p:cViewPr varScale="1">
        <p:scale>
          <a:sx n="74" d="100"/>
          <a:sy n="74" d="100"/>
        </p:scale>
        <p:origin x="-582" y="-90"/>
      </p:cViewPr>
      <p:guideLst>
        <p:guide orient="horz" pos="2160"/>
        <p:guide pos="3840"/>
      </p:guideLst>
    </p:cSldViewPr>
  </p:slideViewPr>
  <p:outlineViewPr>
    <p:cViewPr>
      <p:scale>
        <a:sx n="33" d="100"/>
        <a:sy n="33" d="100"/>
      </p:scale>
      <p:origin x="48" y="378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ADCA34-948B-DEEA-826F-CEAFF65819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6E6E294D-8449-8415-59C9-FB11237B43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5F6DC73E-B5DC-5400-6CAF-6CA1221BCD68}"/>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5" name="Footer Placeholder 4">
            <a:extLst>
              <a:ext uri="{FF2B5EF4-FFF2-40B4-BE49-F238E27FC236}">
                <a16:creationId xmlns="" xmlns:a16="http://schemas.microsoft.com/office/drawing/2014/main" id="{54BB1907-4D1C-25BD-CF53-06ACBAD85B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A05D030E-7932-7595-B3AA-78C72DF510B5}"/>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2534693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54079F-98A9-C32C-674E-ADCE95733E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A02F1DDD-725B-3FEC-AFCA-C339D81C9E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DD874AC5-FBC5-4E44-F37E-266E251A9AA6}"/>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5" name="Footer Placeholder 4">
            <a:extLst>
              <a:ext uri="{FF2B5EF4-FFF2-40B4-BE49-F238E27FC236}">
                <a16:creationId xmlns="" xmlns:a16="http://schemas.microsoft.com/office/drawing/2014/main" id="{FBE87B14-A265-133A-AB39-AF1AE5C368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8228C1FB-029B-DFFD-E6A2-624C9CBF95CD}"/>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3802053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27478F-F5CF-AE42-1B4F-A4CD13AA4E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950213D3-9973-3445-E84C-CF92DCB9E3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2A9EEF30-3403-7E67-5F1C-0AFE9AF6B37C}"/>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5" name="Footer Placeholder 4">
            <a:extLst>
              <a:ext uri="{FF2B5EF4-FFF2-40B4-BE49-F238E27FC236}">
                <a16:creationId xmlns="" xmlns:a16="http://schemas.microsoft.com/office/drawing/2014/main" id="{FB1B44B5-4D49-D16A-A16D-8485817C623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3DC962A4-36A5-DBBE-C766-FBF3C4C9CBD7}"/>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2638637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3C0119-FF9B-B891-D327-325FDD8F06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90A07B35-BF23-48B9-4D30-FC01871DAA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9A959F9C-9A52-FC44-238B-B6121967A3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1950CA46-373B-E300-86DA-CEEEB263962D}"/>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6" name="Footer Placeholder 5">
            <a:extLst>
              <a:ext uri="{FF2B5EF4-FFF2-40B4-BE49-F238E27FC236}">
                <a16:creationId xmlns="" xmlns:a16="http://schemas.microsoft.com/office/drawing/2014/main" id="{4D7FD38D-1922-A950-823C-954C914075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 xmlns:a16="http://schemas.microsoft.com/office/drawing/2014/main" id="{B6B86397-7B09-7062-66A2-5879E7EC63B7}"/>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328149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5044AB-2D17-E271-731D-A3BB898DEA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7C2B3F69-A62F-0C6D-23DE-B0F165C667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BC2BDED-4A9A-2A59-7E1F-530D5A64D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66BE8658-7D76-9386-CB83-E276237E5A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193125DB-9DFC-251C-753A-1AFC0A8EAF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27D6A632-9FD5-0566-5DDB-542316E26C19}"/>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8" name="Footer Placeholder 7">
            <a:extLst>
              <a:ext uri="{FF2B5EF4-FFF2-40B4-BE49-F238E27FC236}">
                <a16:creationId xmlns="" xmlns:a16="http://schemas.microsoft.com/office/drawing/2014/main" id="{F077C272-3E46-499F-DE94-5D04467B0F0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 xmlns:a16="http://schemas.microsoft.com/office/drawing/2014/main" id="{350837E4-1CC9-6E5A-6795-DFB024E64E55}"/>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2293908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A409B7-612C-6C39-A9C1-4047CD4ADA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DF0B5C4E-912B-E367-8D62-785F643AFA0A}"/>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4" name="Footer Placeholder 3">
            <a:extLst>
              <a:ext uri="{FF2B5EF4-FFF2-40B4-BE49-F238E27FC236}">
                <a16:creationId xmlns="" xmlns:a16="http://schemas.microsoft.com/office/drawing/2014/main" id="{F6084AD3-A572-CC4F-BA5B-981B5945B2C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 xmlns:a16="http://schemas.microsoft.com/office/drawing/2014/main" id="{5755FB92-E66A-5C88-BA02-E0E4C7B8C36B}"/>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680381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5346369-3D4F-8172-3545-488712FA0306}"/>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3" name="Footer Placeholder 2">
            <a:extLst>
              <a:ext uri="{FF2B5EF4-FFF2-40B4-BE49-F238E27FC236}">
                <a16:creationId xmlns="" xmlns:a16="http://schemas.microsoft.com/office/drawing/2014/main" id="{02B4F180-86FA-0C26-1AF6-0EFB63B176E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 xmlns:a16="http://schemas.microsoft.com/office/drawing/2014/main" id="{5075C4CA-882A-0A02-00F4-B4AF7DFB8A40}"/>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3581989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B02FDD-523A-9CD0-6C1B-F7804E0045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59AA32CB-325E-51BF-F71E-792FAD875F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9B188608-ACDA-79EE-789A-8BFE9EB73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3FB36DA-B2FA-1975-7DE3-8B9C725730D3}"/>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6" name="Footer Placeholder 5">
            <a:extLst>
              <a:ext uri="{FF2B5EF4-FFF2-40B4-BE49-F238E27FC236}">
                <a16:creationId xmlns="" xmlns:a16="http://schemas.microsoft.com/office/drawing/2014/main" id="{F1809EFD-CC4A-4878-6B18-743EA0103DC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 xmlns:a16="http://schemas.microsoft.com/office/drawing/2014/main" id="{B0D9A7B9-7B73-4C55-62F5-749742D52F2E}"/>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2597021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9D84A-B469-6BB3-7CDC-8FC42F5E84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1C217542-9F47-C4FB-A927-8C0EA68D1F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16C6BD2B-4482-8546-F5CE-7084EB674E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EE15147-B05D-64EE-7CD5-59A445EAF491}"/>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6" name="Footer Placeholder 5">
            <a:extLst>
              <a:ext uri="{FF2B5EF4-FFF2-40B4-BE49-F238E27FC236}">
                <a16:creationId xmlns="" xmlns:a16="http://schemas.microsoft.com/office/drawing/2014/main" id="{C1F0E5CC-3E8F-15EA-AD04-5F7CE6C396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 xmlns:a16="http://schemas.microsoft.com/office/drawing/2014/main" id="{3F890DAB-5C14-703D-BEC2-072FE4B31000}"/>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1287105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15D2D6C-5B82-9B1F-399E-6B8240DA2D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53800784-8923-01A9-35DA-7A8D6E26A6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57C16CF-1F4F-E033-BE2E-5C528F9761B9}"/>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5" name="Footer Placeholder 4">
            <a:extLst>
              <a:ext uri="{FF2B5EF4-FFF2-40B4-BE49-F238E27FC236}">
                <a16:creationId xmlns="" xmlns:a16="http://schemas.microsoft.com/office/drawing/2014/main" id="{5CBA8140-1C53-2C22-6827-C405A4DCDD7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8CB1B784-8F13-D176-83E1-B8C594513870}"/>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3264605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C6A41B69-0E74-7ECC-4E96-DFF7A996C8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D2B220FA-98B8-A6D2-5F37-368580AB9B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CA8FD06-9250-6731-1908-99E7494A2E67}"/>
              </a:ext>
            </a:extLst>
          </p:cNvPr>
          <p:cNvSpPr>
            <a:spLocks noGrp="1"/>
          </p:cNvSpPr>
          <p:nvPr>
            <p:ph type="dt" sz="half" idx="10"/>
          </p:nvPr>
        </p:nvSpPr>
        <p:spPr/>
        <p:txBody>
          <a:bodyPr/>
          <a:lstStyle/>
          <a:p>
            <a:fld id="{B5830E75-76D8-4BD6-B7AC-6FCD6934BA7F}" type="datetimeFigureOut">
              <a:rPr lang="en-US" smtClean="0"/>
              <a:t>12/20/2022</a:t>
            </a:fld>
            <a:endParaRPr lang="en-US" dirty="0"/>
          </a:p>
        </p:txBody>
      </p:sp>
      <p:sp>
        <p:nvSpPr>
          <p:cNvPr id="5" name="Footer Placeholder 4">
            <a:extLst>
              <a:ext uri="{FF2B5EF4-FFF2-40B4-BE49-F238E27FC236}">
                <a16:creationId xmlns="" xmlns:a16="http://schemas.microsoft.com/office/drawing/2014/main" id="{7D3CB03F-FDE3-B30B-ED68-41759D74081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BDC02718-8C39-7F75-270E-E92F618D2101}"/>
              </a:ext>
            </a:extLst>
          </p:cNvPr>
          <p:cNvSpPr>
            <a:spLocks noGrp="1"/>
          </p:cNvSpPr>
          <p:nvPr>
            <p:ph type="sldNum" sz="quarter" idx="12"/>
          </p:nvPr>
        </p:nvSpPr>
        <p:spPr/>
        <p:txBody>
          <a:bodyPr/>
          <a:lstStyle/>
          <a:p>
            <a:fld id="{55816420-08F5-402E-AFB6-EC9F45FE9590}" type="slidenum">
              <a:rPr lang="en-US" smtClean="0"/>
              <a:t>‹#›</a:t>
            </a:fld>
            <a:endParaRPr lang="en-US" dirty="0"/>
          </a:p>
        </p:txBody>
      </p:sp>
    </p:spTree>
    <p:extLst>
      <p:ext uri="{BB962C8B-B14F-4D97-AF65-F5344CB8AC3E}">
        <p14:creationId xmlns:p14="http://schemas.microsoft.com/office/powerpoint/2010/main" val="3172760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FABCB53-3DB2-D667-236C-3014D13683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C3274F04-7F08-0307-A104-B3AC5C297C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DC8590A-DCF7-B314-4049-C06C31D13E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830E75-76D8-4BD6-B7AC-6FCD6934BA7F}" type="datetimeFigureOut">
              <a:rPr lang="en-US" smtClean="0"/>
              <a:t>12/20/2022</a:t>
            </a:fld>
            <a:endParaRPr lang="en-US" dirty="0"/>
          </a:p>
        </p:txBody>
      </p:sp>
      <p:sp>
        <p:nvSpPr>
          <p:cNvPr id="5" name="Footer Placeholder 4">
            <a:extLst>
              <a:ext uri="{FF2B5EF4-FFF2-40B4-BE49-F238E27FC236}">
                <a16:creationId xmlns="" xmlns:a16="http://schemas.microsoft.com/office/drawing/2014/main" id="{E0C3E8D2-FFCE-6738-7217-11C4FC557D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 xmlns:a16="http://schemas.microsoft.com/office/drawing/2014/main" id="{0117DF74-2C19-EEA2-7686-3FEFB56285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16420-08F5-402E-AFB6-EC9F45FE9590}" type="slidenum">
              <a:rPr lang="en-US" smtClean="0"/>
              <a:t>‹#›</a:t>
            </a:fld>
            <a:endParaRPr lang="en-US" dirty="0"/>
          </a:p>
        </p:txBody>
      </p:sp>
    </p:spTree>
    <p:extLst>
      <p:ext uri="{BB962C8B-B14F-4D97-AF65-F5344CB8AC3E}">
        <p14:creationId xmlns:p14="http://schemas.microsoft.com/office/powerpoint/2010/main" val="3212868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tuj.asenevtsi.com/CA/CA117.htm" TargetMode="External"/><Relationship Id="rId2" Type="http://schemas.openxmlformats.org/officeDocument/2006/relationships/hyperlink" Target="https://bg.wikipedia.org/wiki/%D0%92%D0%B8%D0%B4%D0%B5%D0%BE%D0%BA%D0%B0%D1%80%D1%82%D0%B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 xmlns:a16="http://schemas.microsoft.com/office/drawing/2014/main" id="{4522B21E-B2B9-4C72-9A71-C87EFD13748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5EB7D2A2-F448-44D4-938C-DC84CBCB3B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871AEA07-1E14-44B4-8E55-64EF049CD66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93910C86-09F0-CD6A-E587-D61B4B195A28}"/>
              </a:ext>
            </a:extLst>
          </p:cNvPr>
          <p:cNvSpPr>
            <a:spLocks noGrp="1"/>
          </p:cNvSpPr>
          <p:nvPr>
            <p:ph type="ctrTitle"/>
          </p:nvPr>
        </p:nvSpPr>
        <p:spPr>
          <a:xfrm>
            <a:off x="1524000" y="1293338"/>
            <a:ext cx="9144000" cy="3274592"/>
          </a:xfrm>
        </p:spPr>
        <p:txBody>
          <a:bodyPr anchor="ctr">
            <a:normAutofit/>
          </a:bodyPr>
          <a:lstStyle/>
          <a:p>
            <a:r>
              <a:rPr lang="bg-BG" sz="3400" b="1" dirty="0"/>
              <a:t>Видео система – блокова схема, характеристики и същност.</a:t>
            </a:r>
            <a:br>
              <a:rPr lang="bg-BG" sz="3400" b="1" dirty="0"/>
            </a:br>
            <a:r>
              <a:rPr lang="bg-BG" sz="3400" b="1" dirty="0"/>
              <a:t>Видео адаптери – класификация и интерфейси. 2</a:t>
            </a:r>
            <a:r>
              <a:rPr lang="en-US" sz="3400" b="1" dirty="0"/>
              <a:t>D </a:t>
            </a:r>
            <a:r>
              <a:rPr lang="bg-BG" sz="3400" b="1" dirty="0"/>
              <a:t>и 3</a:t>
            </a:r>
            <a:r>
              <a:rPr lang="en-US" sz="3400" b="1" dirty="0"/>
              <a:t>D </a:t>
            </a:r>
            <a:r>
              <a:rPr lang="bg-BG" sz="3400" b="1" dirty="0"/>
              <a:t>ускорение(</a:t>
            </a:r>
            <a:r>
              <a:rPr lang="en-US" sz="3400" b="1" dirty="0"/>
              <a:t>SLI</a:t>
            </a:r>
            <a:r>
              <a:rPr lang="bg-BG" sz="3400" b="1" dirty="0"/>
              <a:t>, </a:t>
            </a:r>
            <a:r>
              <a:rPr lang="en-US" sz="3400" b="1" dirty="0"/>
              <a:t>Crossfire </a:t>
            </a:r>
            <a:r>
              <a:rPr lang="bg-BG" sz="3400" b="1" dirty="0"/>
              <a:t>и </a:t>
            </a:r>
            <a:r>
              <a:rPr lang="en-US" sz="3400" b="1" dirty="0"/>
              <a:t>Crossfire X)</a:t>
            </a:r>
          </a:p>
        </p:txBody>
      </p:sp>
      <p:sp>
        <p:nvSpPr>
          <p:cNvPr id="3" name="Subtitle 2">
            <a:extLst>
              <a:ext uri="{FF2B5EF4-FFF2-40B4-BE49-F238E27FC236}">
                <a16:creationId xmlns="" xmlns:a16="http://schemas.microsoft.com/office/drawing/2014/main" id="{A8B7036E-37AE-CDA0-210C-C409D403FEB3}"/>
              </a:ext>
            </a:extLst>
          </p:cNvPr>
          <p:cNvSpPr>
            <a:spLocks noGrp="1"/>
          </p:cNvSpPr>
          <p:nvPr>
            <p:ph type="subTitle" idx="1"/>
          </p:nvPr>
        </p:nvSpPr>
        <p:spPr>
          <a:xfrm>
            <a:off x="1524000" y="5514052"/>
            <a:ext cx="9144000" cy="651910"/>
          </a:xfrm>
        </p:spPr>
        <p:txBody>
          <a:bodyPr anchor="ctr">
            <a:normAutofit/>
          </a:bodyPr>
          <a:lstStyle/>
          <a:p>
            <a:endParaRPr lang="en-US" dirty="0"/>
          </a:p>
        </p:txBody>
      </p:sp>
      <p:cxnSp>
        <p:nvCxnSpPr>
          <p:cNvPr id="25" name="Straight Connector 24">
            <a:extLst>
              <a:ext uri="{FF2B5EF4-FFF2-40B4-BE49-F238E27FC236}">
                <a16:creationId xmlns="" xmlns:a16="http://schemas.microsoft.com/office/drawing/2014/main" id="{F7C8EA93-3210-4C62-99E9-153C275E3A87}"/>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84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0">
            <a:extLst>
              <a:ext uri="{FF2B5EF4-FFF2-40B4-BE49-F238E27FC236}">
                <a16:creationId xmlns="" xmlns:a16="http://schemas.microsoft.com/office/drawing/2014/main" id="{FFB60E8C-7224-44A4-87A0-46A1711DD2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 xmlns:a16="http://schemas.microsoft.com/office/drawing/2014/main" id="{5DA32751-37A2-45C0-BE94-63D375E2700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 xmlns:a16="http://schemas.microsoft.com/office/drawing/2014/main" id="{7CB07D0A-291C-07D1-2D3A-27971110AA10}"/>
              </a:ext>
            </a:extLst>
          </p:cNvPr>
          <p:cNvSpPr>
            <a:spLocks noGrp="1"/>
          </p:cNvSpPr>
          <p:nvPr>
            <p:ph type="title"/>
          </p:nvPr>
        </p:nvSpPr>
        <p:spPr/>
        <p:txBody>
          <a:bodyPr>
            <a:normAutofit/>
          </a:bodyPr>
          <a:lstStyle/>
          <a:p>
            <a:pPr algn="ctr"/>
            <a:r>
              <a:rPr lang="bg-BG" sz="3400" b="1" dirty="0" smtClean="0"/>
              <a:t>Съдържание</a:t>
            </a:r>
            <a:endParaRPr lang="en-US" sz="3400" b="1" dirty="0"/>
          </a:p>
        </p:txBody>
      </p:sp>
      <p:sp>
        <p:nvSpPr>
          <p:cNvPr id="2" name="Content Placeholder 1"/>
          <p:cNvSpPr>
            <a:spLocks noGrp="1"/>
          </p:cNvSpPr>
          <p:nvPr>
            <p:ph idx="1"/>
          </p:nvPr>
        </p:nvSpPr>
        <p:spPr>
          <a:xfrm>
            <a:off x="838200" y="2389217"/>
            <a:ext cx="10515600" cy="3787745"/>
          </a:xfrm>
        </p:spPr>
        <p:txBody>
          <a:bodyPr/>
          <a:lstStyle/>
          <a:p>
            <a:pPr algn="just"/>
            <a:r>
              <a:rPr lang="bg-BG" sz="2400" dirty="0"/>
              <a:t>Видео система – блокова схема</a:t>
            </a:r>
          </a:p>
          <a:p>
            <a:pPr algn="just"/>
            <a:r>
              <a:rPr lang="bg-BG" sz="2400" dirty="0"/>
              <a:t>Какво е видео система?</a:t>
            </a:r>
          </a:p>
          <a:p>
            <a:pPr algn="just"/>
            <a:r>
              <a:rPr lang="bg-BG" sz="2400" dirty="0"/>
              <a:t>Видео система – характеристики</a:t>
            </a:r>
          </a:p>
          <a:p>
            <a:pPr algn="just"/>
            <a:r>
              <a:rPr lang="ru-RU" sz="2400" dirty="0"/>
              <a:t>Видео адаптери (известни също като видеокарти)</a:t>
            </a:r>
          </a:p>
          <a:p>
            <a:pPr algn="just"/>
            <a:r>
              <a:rPr lang="ru-RU" sz="2400" dirty="0"/>
              <a:t>2D и 3D ускорение (SLI, CrossFire и CrossFireX</a:t>
            </a:r>
            <a:r>
              <a:rPr lang="ru-RU" sz="2400" dirty="0" smtClean="0"/>
              <a:t>)</a:t>
            </a:r>
          </a:p>
          <a:p>
            <a:endParaRPr lang="ru-RU" sz="2400" dirty="0"/>
          </a:p>
          <a:p>
            <a:endParaRPr lang="en-US" dirty="0"/>
          </a:p>
        </p:txBody>
      </p:sp>
      <p:sp>
        <p:nvSpPr>
          <p:cNvPr id="17" name="Rectangle 16">
            <a:extLst>
              <a:ext uri="{FF2B5EF4-FFF2-40B4-BE49-F238E27FC236}">
                <a16:creationId xmlns="" xmlns:a16="http://schemas.microsoft.com/office/drawing/2014/main" id="{5A55FBCD-CD42-40F5-8A1B-3203F9CAEE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1328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0">
            <a:extLst>
              <a:ext uri="{FF2B5EF4-FFF2-40B4-BE49-F238E27FC236}">
                <a16:creationId xmlns="" xmlns:a16="http://schemas.microsoft.com/office/drawing/2014/main" id="{FFB60E8C-7224-44A4-87A0-46A1711DD2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 xmlns:a16="http://schemas.microsoft.com/office/drawing/2014/main" id="{5DA32751-37A2-45C0-BE94-63D375E2700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3">
            <a:extLst>
              <a:ext uri="{FF2B5EF4-FFF2-40B4-BE49-F238E27FC236}">
                <a16:creationId xmlns="" xmlns:a16="http://schemas.microsoft.com/office/drawing/2014/main" id="{1690C8A4-6465-E924-112D-2C34919D92FE}"/>
              </a:ext>
            </a:extLst>
          </p:cNvPr>
          <p:cNvPicPr>
            <a:picLocks noChangeAspect="1"/>
          </p:cNvPicPr>
          <p:nvPr/>
        </p:nvPicPr>
        <p:blipFill>
          <a:blip r:embed="rId2"/>
          <a:stretch>
            <a:fillRect/>
          </a:stretch>
        </p:blipFill>
        <p:spPr>
          <a:xfrm>
            <a:off x="635295" y="2868944"/>
            <a:ext cx="5150277" cy="3025786"/>
          </a:xfrm>
          <a:prstGeom prst="rect">
            <a:avLst/>
          </a:prstGeom>
        </p:spPr>
      </p:pic>
      <p:sp>
        <p:nvSpPr>
          <p:cNvPr id="8" name="Content Placeholder 7">
            <a:extLst>
              <a:ext uri="{FF2B5EF4-FFF2-40B4-BE49-F238E27FC236}">
                <a16:creationId xmlns="" xmlns:a16="http://schemas.microsoft.com/office/drawing/2014/main" id="{7EDD1F68-27F4-9AA9-6A3C-6D0D702532D8}"/>
              </a:ext>
            </a:extLst>
          </p:cNvPr>
          <p:cNvSpPr>
            <a:spLocks noGrp="1"/>
          </p:cNvSpPr>
          <p:nvPr>
            <p:ph idx="1"/>
          </p:nvPr>
        </p:nvSpPr>
        <p:spPr>
          <a:xfrm>
            <a:off x="6406429" y="2389694"/>
            <a:ext cx="4416246" cy="4081376"/>
          </a:xfrm>
        </p:spPr>
        <p:txBody>
          <a:bodyPr anchor="ctr">
            <a:noAutofit/>
          </a:bodyPr>
          <a:lstStyle/>
          <a:p>
            <a:pPr algn="just"/>
            <a:r>
              <a:rPr lang="ru-RU" sz="2400" dirty="0" smtClean="0"/>
              <a:t>Дисплей - Устройство</a:t>
            </a:r>
            <a:r>
              <a:rPr lang="ru-RU" sz="2400" dirty="0"/>
              <a:t>, което създава изображението</a:t>
            </a:r>
            <a:r>
              <a:rPr lang="ru-RU" sz="2400" dirty="0" smtClean="0"/>
              <a:t>.</a:t>
            </a:r>
            <a:endParaRPr lang="ru-RU" sz="2400" dirty="0"/>
          </a:p>
          <a:p>
            <a:pPr algn="just"/>
            <a:r>
              <a:rPr lang="ru-RU" sz="2400" dirty="0" smtClean="0"/>
              <a:t>Монитор - Завършен </a:t>
            </a:r>
            <a:r>
              <a:rPr lang="ru-RU" sz="2400" dirty="0"/>
              <a:t>блок, в който дисплеят се допълва с поддържащи схеми, необходими </a:t>
            </a:r>
            <a:r>
              <a:rPr lang="ru-RU" sz="2400" dirty="0" smtClean="0"/>
              <a:t>за неговата </a:t>
            </a:r>
            <a:r>
              <a:rPr lang="ru-RU" sz="2400" dirty="0"/>
              <a:t>работа</a:t>
            </a:r>
            <a:r>
              <a:rPr lang="ru-RU" sz="2400" dirty="0" smtClean="0"/>
              <a:t>.</a:t>
            </a:r>
            <a:endParaRPr lang="ru-RU" sz="2400" dirty="0"/>
          </a:p>
          <a:p>
            <a:pPr algn="just"/>
            <a:r>
              <a:rPr lang="ru-RU" sz="2400" dirty="0"/>
              <a:t>Управление на </a:t>
            </a:r>
            <a:r>
              <a:rPr lang="ru-RU" sz="2400" dirty="0" smtClean="0"/>
              <a:t>дисплея</a:t>
            </a:r>
            <a:endParaRPr lang="ru-RU" sz="2400" dirty="0"/>
          </a:p>
        </p:txBody>
      </p:sp>
      <p:sp>
        <p:nvSpPr>
          <p:cNvPr id="17" name="Rectangle 16">
            <a:extLst>
              <a:ext uri="{FF2B5EF4-FFF2-40B4-BE49-F238E27FC236}">
                <a16:creationId xmlns="" xmlns:a16="http://schemas.microsoft.com/office/drawing/2014/main" id="{5A55FBCD-CD42-40F5-8A1B-3203F9CAEE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 xmlns:a16="http://schemas.microsoft.com/office/drawing/2014/main" id="{7CB07D0A-291C-07D1-2D3A-27971110AA10}"/>
              </a:ext>
            </a:extLst>
          </p:cNvPr>
          <p:cNvSpPr>
            <a:spLocks noGrp="1"/>
          </p:cNvSpPr>
          <p:nvPr>
            <p:ph type="title"/>
          </p:nvPr>
        </p:nvSpPr>
        <p:spPr/>
        <p:txBody>
          <a:bodyPr>
            <a:normAutofit/>
          </a:bodyPr>
          <a:lstStyle/>
          <a:p>
            <a:pPr algn="ctr"/>
            <a:r>
              <a:rPr lang="bg-BG" sz="3400" b="1" dirty="0"/>
              <a:t>Видео система – блокова схема</a:t>
            </a:r>
            <a:endParaRPr lang="en-US" sz="3400" b="1" dirty="0"/>
          </a:p>
        </p:txBody>
      </p:sp>
    </p:spTree>
    <p:extLst>
      <p:ext uri="{BB962C8B-B14F-4D97-AF65-F5344CB8AC3E}">
        <p14:creationId xmlns:p14="http://schemas.microsoft.com/office/powerpoint/2010/main" val="2827910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0">
            <a:extLst>
              <a:ext uri="{FF2B5EF4-FFF2-40B4-BE49-F238E27FC236}">
                <a16:creationId xmlns="" xmlns:a16="http://schemas.microsoft.com/office/drawing/2014/main" id="{FFB60E8C-7224-44A4-87A0-46A1711DD2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 xmlns:a16="http://schemas.microsoft.com/office/drawing/2014/main" id="{5DA32751-37A2-45C0-BE94-63D375E2700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 xmlns:a16="http://schemas.microsoft.com/office/drawing/2014/main" id="{7CB07D0A-291C-07D1-2D3A-27971110AA10}"/>
              </a:ext>
            </a:extLst>
          </p:cNvPr>
          <p:cNvSpPr>
            <a:spLocks noGrp="1"/>
          </p:cNvSpPr>
          <p:nvPr>
            <p:ph type="title"/>
          </p:nvPr>
        </p:nvSpPr>
        <p:spPr/>
        <p:txBody>
          <a:bodyPr>
            <a:normAutofit/>
          </a:bodyPr>
          <a:lstStyle/>
          <a:p>
            <a:pPr algn="ctr"/>
            <a:r>
              <a:rPr lang="bg-BG" sz="3400" b="1" dirty="0"/>
              <a:t>Видео система – блокова схема</a:t>
            </a:r>
            <a:endParaRPr lang="en-US" sz="3400" b="1" dirty="0"/>
          </a:p>
        </p:txBody>
      </p:sp>
      <p:sp>
        <p:nvSpPr>
          <p:cNvPr id="2" name="Content Placeholder 1"/>
          <p:cNvSpPr>
            <a:spLocks noGrp="1"/>
          </p:cNvSpPr>
          <p:nvPr>
            <p:ph idx="1"/>
          </p:nvPr>
        </p:nvSpPr>
        <p:spPr>
          <a:xfrm>
            <a:off x="838200" y="2389217"/>
            <a:ext cx="10515600" cy="4243595"/>
          </a:xfrm>
        </p:spPr>
        <p:txBody>
          <a:bodyPr>
            <a:normAutofit fontScale="85000" lnSpcReduction="10000"/>
          </a:bodyPr>
          <a:lstStyle/>
          <a:p>
            <a:pPr algn="just"/>
            <a:r>
              <a:rPr lang="ru-RU" dirty="0"/>
              <a:t>Интерфейс компютър - монитор</a:t>
            </a:r>
          </a:p>
          <a:p>
            <a:pPr algn="just"/>
            <a:r>
              <a:rPr lang="ru-RU" dirty="0"/>
              <a:t>DDC (</a:t>
            </a:r>
            <a:r>
              <a:rPr lang="ru-RU" dirty="0" smtClean="0"/>
              <a:t>Display </a:t>
            </a:r>
            <a:r>
              <a:rPr lang="ru-RU" dirty="0"/>
              <a:t>Data </a:t>
            </a:r>
            <a:r>
              <a:rPr lang="ru-RU" dirty="0" smtClean="0"/>
              <a:t>Channel) - Интерфейс </a:t>
            </a:r>
            <a:r>
              <a:rPr lang="ru-RU" dirty="0"/>
              <a:t>за обмен на данни между компютъра и монитора. Съществуват  два варианта на този интерфейс:</a:t>
            </a:r>
          </a:p>
          <a:p>
            <a:pPr algn="just"/>
            <a:r>
              <a:rPr lang="ru-RU" dirty="0"/>
              <a:t>DDC 1 – едностранен, от монитора към  компютъра за за предаване на данни за модела на монитора параметрите на поддържаните видеорежими;</a:t>
            </a:r>
          </a:p>
          <a:p>
            <a:pPr algn="just"/>
            <a:r>
              <a:rPr lang="ru-RU" dirty="0"/>
              <a:t>DDC 2 – двустранен обмен на данни.</a:t>
            </a:r>
          </a:p>
          <a:p>
            <a:pPr algn="just"/>
            <a:r>
              <a:rPr lang="ru-RU" dirty="0"/>
              <a:t> DPMS - Display Power Management Signaling</a:t>
            </a:r>
          </a:p>
          <a:p>
            <a:pPr algn="just"/>
            <a:r>
              <a:rPr lang="ru-RU" dirty="0"/>
              <a:t>Сигнали за управление енергопотреблението на монитора - стандарт, създаден от асоциацията VESA за многоетапно понижаване енергопотреблението на монитора. За реализация на стандарта е необходима поддръжката му от монитора. В стандарта са уговорени четири ниво:</a:t>
            </a:r>
          </a:p>
          <a:p>
            <a:endParaRPr lang="en-US" dirty="0"/>
          </a:p>
        </p:txBody>
      </p:sp>
      <p:sp>
        <p:nvSpPr>
          <p:cNvPr id="17" name="Rectangle 16">
            <a:extLst>
              <a:ext uri="{FF2B5EF4-FFF2-40B4-BE49-F238E27FC236}">
                <a16:creationId xmlns="" xmlns:a16="http://schemas.microsoft.com/office/drawing/2014/main" id="{5A55FBCD-CD42-40F5-8A1B-3203F9CAEE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2052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85B5816F-C43C-13E2-70C0-016A6CF1EDFD}"/>
              </a:ext>
            </a:extLst>
          </p:cNvPr>
          <p:cNvSpPr>
            <a:spLocks noGrp="1"/>
          </p:cNvSpPr>
          <p:nvPr>
            <p:ph type="title"/>
          </p:nvPr>
        </p:nvSpPr>
        <p:spPr>
          <a:xfrm>
            <a:off x="808638" y="386930"/>
            <a:ext cx="9236700" cy="1188950"/>
          </a:xfrm>
        </p:spPr>
        <p:txBody>
          <a:bodyPr anchor="b">
            <a:normAutofit/>
          </a:bodyPr>
          <a:lstStyle/>
          <a:p>
            <a:pPr algn="ctr"/>
            <a:r>
              <a:rPr lang="bg-BG" sz="3400" b="1" dirty="0"/>
              <a:t>Какво е видео система?</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FD750E78-8E7C-C044-DDDF-238BD3CCA689}"/>
              </a:ext>
            </a:extLst>
          </p:cNvPr>
          <p:cNvSpPr>
            <a:spLocks noGrp="1"/>
          </p:cNvSpPr>
          <p:nvPr>
            <p:ph idx="1"/>
          </p:nvPr>
        </p:nvSpPr>
        <p:spPr>
          <a:xfrm>
            <a:off x="793660" y="2599509"/>
            <a:ext cx="10143668" cy="3435531"/>
          </a:xfrm>
        </p:spPr>
        <p:txBody>
          <a:bodyPr anchor="ctr">
            <a:normAutofit/>
          </a:bodyPr>
          <a:lstStyle/>
          <a:p>
            <a:pPr algn="just"/>
            <a:r>
              <a:rPr lang="ru-RU" sz="2400" dirty="0"/>
              <a:t>Видео </a:t>
            </a:r>
            <a:r>
              <a:rPr lang="ru-RU" sz="2400" dirty="0" err="1"/>
              <a:t>системите</a:t>
            </a:r>
            <a:r>
              <a:rPr lang="ru-RU" sz="2400" dirty="0"/>
              <a:t> се </a:t>
            </a:r>
            <a:r>
              <a:rPr lang="ru-RU" sz="2400" dirty="0" err="1"/>
              <a:t>използват</a:t>
            </a:r>
            <a:r>
              <a:rPr lang="ru-RU" sz="2400" dirty="0"/>
              <a:t> за </a:t>
            </a:r>
            <a:r>
              <a:rPr lang="ru-RU" sz="2400" dirty="0" err="1"/>
              <a:t>заснемане</a:t>
            </a:r>
            <a:r>
              <a:rPr lang="ru-RU" sz="2400" dirty="0"/>
              <a:t>, </a:t>
            </a:r>
            <a:r>
              <a:rPr lang="ru-RU" sz="2400" dirty="0" err="1"/>
              <a:t>предаване</a:t>
            </a:r>
            <a:r>
              <a:rPr lang="ru-RU" sz="2400" dirty="0"/>
              <a:t> и </a:t>
            </a:r>
            <a:r>
              <a:rPr lang="ru-RU" sz="2400" dirty="0" err="1"/>
              <a:t>показване</a:t>
            </a:r>
            <a:r>
              <a:rPr lang="ru-RU" sz="2400" dirty="0"/>
              <a:t> на видео. Те </a:t>
            </a:r>
            <a:r>
              <a:rPr lang="ru-RU" sz="2400" dirty="0" err="1"/>
              <a:t>обикновено</a:t>
            </a:r>
            <a:r>
              <a:rPr lang="ru-RU" sz="2400" dirty="0"/>
              <a:t> се </a:t>
            </a:r>
            <a:r>
              <a:rPr lang="ru-RU" sz="2400" dirty="0" err="1"/>
              <a:t>състоят</a:t>
            </a:r>
            <a:r>
              <a:rPr lang="ru-RU" sz="2400" dirty="0"/>
              <a:t> от комбинация от </a:t>
            </a:r>
            <a:r>
              <a:rPr lang="ru-RU" sz="2400" dirty="0" err="1"/>
              <a:t>хардуерни</a:t>
            </a:r>
            <a:r>
              <a:rPr lang="ru-RU" sz="2400" dirty="0"/>
              <a:t> и </a:t>
            </a:r>
            <a:r>
              <a:rPr lang="ru-RU" sz="2400" dirty="0" err="1"/>
              <a:t>софтуерни</a:t>
            </a:r>
            <a:r>
              <a:rPr lang="ru-RU" sz="2400" dirty="0"/>
              <a:t> </a:t>
            </a:r>
            <a:r>
              <a:rPr lang="ru-RU" sz="2400" dirty="0" err="1"/>
              <a:t>компоненти</a:t>
            </a:r>
            <a:r>
              <a:rPr lang="ru-RU" sz="2400" dirty="0"/>
              <a:t>, </a:t>
            </a:r>
            <a:r>
              <a:rPr lang="ru-RU" sz="2400" dirty="0" err="1"/>
              <a:t>включително</a:t>
            </a:r>
            <a:r>
              <a:rPr lang="ru-RU" sz="2400" dirty="0"/>
              <a:t> </a:t>
            </a:r>
            <a:r>
              <a:rPr lang="ru-RU" sz="2400" dirty="0" err="1"/>
              <a:t>камери</a:t>
            </a:r>
            <a:r>
              <a:rPr lang="ru-RU" sz="2400" dirty="0"/>
              <a:t>, </a:t>
            </a:r>
            <a:r>
              <a:rPr lang="ru-RU" sz="2400" dirty="0" err="1"/>
              <a:t>микрофони</a:t>
            </a:r>
            <a:r>
              <a:rPr lang="ru-RU" sz="2400" dirty="0"/>
              <a:t>, устройства за </a:t>
            </a:r>
            <a:r>
              <a:rPr lang="ru-RU" sz="2400" dirty="0" err="1"/>
              <a:t>съхранение</a:t>
            </a:r>
            <a:r>
              <a:rPr lang="ru-RU" sz="2400" dirty="0"/>
              <a:t>, </a:t>
            </a:r>
            <a:r>
              <a:rPr lang="ru-RU" sz="2400" dirty="0" err="1"/>
              <a:t>монитори</a:t>
            </a:r>
            <a:r>
              <a:rPr lang="ru-RU" sz="2400" dirty="0"/>
              <a:t> и </a:t>
            </a:r>
            <a:r>
              <a:rPr lang="ru-RU" sz="2400" dirty="0" err="1"/>
              <a:t>софтуер</a:t>
            </a:r>
            <a:r>
              <a:rPr lang="ru-RU" sz="2400" dirty="0"/>
              <a:t> за обработка на видео. Видео </a:t>
            </a:r>
            <a:r>
              <a:rPr lang="ru-RU" sz="2400" dirty="0" err="1"/>
              <a:t>системите</a:t>
            </a:r>
            <a:r>
              <a:rPr lang="ru-RU" sz="2400" dirty="0"/>
              <a:t> </a:t>
            </a:r>
            <a:r>
              <a:rPr lang="ru-RU" sz="2400" dirty="0" err="1"/>
              <a:t>могат</a:t>
            </a:r>
            <a:r>
              <a:rPr lang="ru-RU" sz="2400" dirty="0"/>
              <a:t> да се </a:t>
            </a:r>
            <a:r>
              <a:rPr lang="ru-RU" sz="2400" dirty="0" err="1"/>
              <a:t>използват</a:t>
            </a:r>
            <a:r>
              <a:rPr lang="ru-RU" sz="2400" dirty="0"/>
              <a:t> за широк </a:t>
            </a:r>
            <a:r>
              <a:rPr lang="ru-RU" sz="2400" dirty="0" err="1"/>
              <a:t>спектър</a:t>
            </a:r>
            <a:r>
              <a:rPr lang="ru-RU" sz="2400" dirty="0"/>
              <a:t> от приложения, </a:t>
            </a:r>
            <a:r>
              <a:rPr lang="ru-RU" sz="2400" dirty="0" err="1"/>
              <a:t>включително</a:t>
            </a:r>
            <a:r>
              <a:rPr lang="ru-RU" sz="2400" dirty="0"/>
              <a:t> наблюдение, </a:t>
            </a:r>
            <a:r>
              <a:rPr lang="ru-RU" sz="2400" dirty="0" err="1"/>
              <a:t>забавление</a:t>
            </a:r>
            <a:r>
              <a:rPr lang="ru-RU" sz="2400" dirty="0"/>
              <a:t>, телеконференции и много </a:t>
            </a:r>
            <a:r>
              <a:rPr lang="ru-RU" sz="2400" dirty="0" err="1"/>
              <a:t>други</a:t>
            </a:r>
            <a:r>
              <a:rPr lang="ru-RU" sz="2400" dirty="0"/>
              <a:t>. </a:t>
            </a:r>
            <a:r>
              <a:rPr lang="ru-RU" sz="2400" dirty="0" err="1"/>
              <a:t>Конкретните</a:t>
            </a:r>
            <a:r>
              <a:rPr lang="ru-RU" sz="2400" dirty="0"/>
              <a:t> </a:t>
            </a:r>
            <a:r>
              <a:rPr lang="ru-RU" sz="2400" dirty="0" err="1"/>
              <a:t>компоненти</a:t>
            </a:r>
            <a:r>
              <a:rPr lang="ru-RU" sz="2400" dirty="0"/>
              <a:t> и технологии, </a:t>
            </a:r>
            <a:r>
              <a:rPr lang="ru-RU" sz="2400" dirty="0" err="1"/>
              <a:t>използвани</a:t>
            </a:r>
            <a:r>
              <a:rPr lang="ru-RU" sz="2400" dirty="0"/>
              <a:t> </a:t>
            </a:r>
            <a:r>
              <a:rPr lang="ru-RU" sz="2400" dirty="0" err="1"/>
              <a:t>във</a:t>
            </a:r>
            <a:r>
              <a:rPr lang="ru-RU" sz="2400" dirty="0"/>
              <a:t> </a:t>
            </a:r>
            <a:r>
              <a:rPr lang="ru-RU" sz="2400" dirty="0" err="1"/>
              <a:t>видеосистемата</a:t>
            </a:r>
            <a:r>
              <a:rPr lang="ru-RU" sz="2400" dirty="0"/>
              <a:t>, </a:t>
            </a:r>
            <a:r>
              <a:rPr lang="ru-RU" sz="2400" dirty="0" err="1"/>
              <a:t>ще</a:t>
            </a:r>
            <a:r>
              <a:rPr lang="ru-RU" sz="2400" dirty="0"/>
              <a:t> зависят от </a:t>
            </a:r>
            <a:r>
              <a:rPr lang="ru-RU" sz="2400" dirty="0" err="1"/>
              <a:t>конкретното</a:t>
            </a:r>
            <a:r>
              <a:rPr lang="ru-RU" sz="2400" dirty="0"/>
              <a:t> приложение и </a:t>
            </a:r>
            <a:r>
              <a:rPr lang="ru-RU" sz="2400" dirty="0" err="1"/>
              <a:t>изисквания</a:t>
            </a:r>
            <a:r>
              <a:rPr lang="ru-RU" sz="2400" dirty="0"/>
              <a:t>.</a:t>
            </a:r>
          </a:p>
          <a:p>
            <a:endParaRPr lang="en-US" sz="2400" dirty="0"/>
          </a:p>
        </p:txBody>
      </p:sp>
    </p:spTree>
    <p:extLst>
      <p:ext uri="{BB962C8B-B14F-4D97-AF65-F5344CB8AC3E}">
        <p14:creationId xmlns:p14="http://schemas.microsoft.com/office/powerpoint/2010/main" val="1969017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742725DB-D8B4-5185-A717-40495BE94BBA}"/>
              </a:ext>
            </a:extLst>
          </p:cNvPr>
          <p:cNvSpPr>
            <a:spLocks noGrp="1"/>
          </p:cNvSpPr>
          <p:nvPr>
            <p:ph type="title"/>
          </p:nvPr>
        </p:nvSpPr>
        <p:spPr>
          <a:xfrm>
            <a:off x="815533" y="395319"/>
            <a:ext cx="9236700" cy="1188950"/>
          </a:xfrm>
        </p:spPr>
        <p:txBody>
          <a:bodyPr anchor="b">
            <a:normAutofit/>
          </a:bodyPr>
          <a:lstStyle/>
          <a:p>
            <a:pPr algn="ctr"/>
            <a:r>
              <a:rPr lang="bg-BG" sz="3400" b="1" dirty="0"/>
              <a:t>Видео система - характеристики</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FEA9D794-D429-DF0C-45FC-A640736F2CD6}"/>
              </a:ext>
            </a:extLst>
          </p:cNvPr>
          <p:cNvSpPr>
            <a:spLocks noGrp="1"/>
          </p:cNvSpPr>
          <p:nvPr>
            <p:ph idx="1"/>
          </p:nvPr>
        </p:nvSpPr>
        <p:spPr>
          <a:xfrm>
            <a:off x="807308" y="2559235"/>
            <a:ext cx="10143668" cy="3435531"/>
          </a:xfrm>
        </p:spPr>
        <p:txBody>
          <a:bodyPr anchor="ctr">
            <a:normAutofit/>
          </a:bodyPr>
          <a:lstStyle/>
          <a:p>
            <a:pPr marL="0" indent="0" algn="just">
              <a:buNone/>
            </a:pPr>
            <a:r>
              <a:rPr lang="ru-RU" sz="2400" dirty="0" err="1"/>
              <a:t>Характеристиките</a:t>
            </a:r>
            <a:r>
              <a:rPr lang="ru-RU" sz="2400" dirty="0"/>
              <a:t> на </a:t>
            </a:r>
            <a:r>
              <a:rPr lang="ru-RU" sz="2400" dirty="0" err="1"/>
              <a:t>една</a:t>
            </a:r>
            <a:r>
              <a:rPr lang="ru-RU" sz="2400" dirty="0"/>
              <a:t> видео система </a:t>
            </a:r>
            <a:r>
              <a:rPr lang="ru-RU" sz="2400" dirty="0" err="1"/>
              <a:t>могат</a:t>
            </a:r>
            <a:r>
              <a:rPr lang="ru-RU" sz="2400" dirty="0"/>
              <a:t> да </a:t>
            </a:r>
            <a:r>
              <a:rPr lang="ru-RU" sz="2400" dirty="0" err="1"/>
              <a:t>варират</a:t>
            </a:r>
            <a:r>
              <a:rPr lang="ru-RU" sz="2400" dirty="0"/>
              <a:t> в </a:t>
            </a:r>
            <a:r>
              <a:rPr lang="ru-RU" sz="2400" dirty="0" err="1"/>
              <a:t>зависимост</a:t>
            </a:r>
            <a:r>
              <a:rPr lang="ru-RU" sz="2400" dirty="0"/>
              <a:t> от </a:t>
            </a:r>
            <a:r>
              <a:rPr lang="ru-RU" sz="2400" dirty="0" err="1"/>
              <a:t>конкретното</a:t>
            </a:r>
            <a:r>
              <a:rPr lang="ru-RU" sz="2400" dirty="0"/>
              <a:t> приложение и </a:t>
            </a:r>
            <a:r>
              <a:rPr lang="ru-RU" sz="2400" dirty="0" err="1"/>
              <a:t>изисквания</a:t>
            </a:r>
            <a:r>
              <a:rPr lang="ru-RU" sz="2400" dirty="0"/>
              <a:t>. </a:t>
            </a:r>
            <a:r>
              <a:rPr lang="ru-RU" sz="2400" dirty="0" err="1"/>
              <a:t>Някои</a:t>
            </a:r>
            <a:r>
              <a:rPr lang="ru-RU" sz="2400" dirty="0"/>
              <a:t> общи характеристики на видео </a:t>
            </a:r>
            <a:r>
              <a:rPr lang="ru-RU" sz="2400" dirty="0" err="1"/>
              <a:t>системите</a:t>
            </a:r>
            <a:r>
              <a:rPr lang="ru-RU" sz="2400" dirty="0"/>
              <a:t> </a:t>
            </a:r>
            <a:r>
              <a:rPr lang="ru-RU" sz="2400" dirty="0" err="1"/>
              <a:t>включват</a:t>
            </a:r>
            <a:r>
              <a:rPr lang="ru-RU" sz="2400" dirty="0"/>
              <a:t> </a:t>
            </a:r>
            <a:r>
              <a:rPr lang="ru-RU" sz="2400" dirty="0" err="1"/>
              <a:t>следното</a:t>
            </a:r>
            <a:r>
              <a:rPr lang="ru-RU" sz="2400" dirty="0"/>
              <a:t>:</a:t>
            </a:r>
          </a:p>
          <a:p>
            <a:pPr algn="just"/>
            <a:endParaRPr lang="ru-RU" sz="2400" dirty="0"/>
          </a:p>
          <a:p>
            <a:pPr algn="just"/>
            <a:r>
              <a:rPr lang="ru-RU" sz="2400" dirty="0" err="1"/>
              <a:t>Разделителна</a:t>
            </a:r>
            <a:r>
              <a:rPr lang="ru-RU" sz="2400" dirty="0"/>
              <a:t> </a:t>
            </a:r>
            <a:r>
              <a:rPr lang="ru-RU" sz="2400" dirty="0" err="1"/>
              <a:t>способност</a:t>
            </a:r>
            <a:r>
              <a:rPr lang="ru-RU" sz="2400" dirty="0"/>
              <a:t>: </a:t>
            </a:r>
            <a:r>
              <a:rPr lang="ru-RU" sz="2400" dirty="0" err="1"/>
              <a:t>Разделителната</a:t>
            </a:r>
            <a:r>
              <a:rPr lang="ru-RU" sz="2400" dirty="0"/>
              <a:t> </a:t>
            </a:r>
            <a:r>
              <a:rPr lang="ru-RU" sz="2400" dirty="0" err="1"/>
              <a:t>способност</a:t>
            </a:r>
            <a:r>
              <a:rPr lang="ru-RU" sz="2400" dirty="0"/>
              <a:t> на </a:t>
            </a:r>
            <a:r>
              <a:rPr lang="ru-RU" sz="2400" dirty="0" err="1"/>
              <a:t>една</a:t>
            </a:r>
            <a:r>
              <a:rPr lang="ru-RU" sz="2400" dirty="0"/>
              <a:t> видео система се </a:t>
            </a:r>
            <a:r>
              <a:rPr lang="ru-RU" sz="2400" dirty="0" err="1"/>
              <a:t>отнася</a:t>
            </a:r>
            <a:r>
              <a:rPr lang="ru-RU" sz="2400" dirty="0"/>
              <a:t> до </a:t>
            </a:r>
            <a:r>
              <a:rPr lang="ru-RU" sz="2400" dirty="0" err="1"/>
              <a:t>броя</a:t>
            </a:r>
            <a:r>
              <a:rPr lang="ru-RU" sz="2400" dirty="0"/>
              <a:t> на </a:t>
            </a:r>
            <a:r>
              <a:rPr lang="ru-RU" sz="2400" dirty="0" err="1"/>
              <a:t>пикселите</a:t>
            </a:r>
            <a:r>
              <a:rPr lang="ru-RU" sz="2400" dirty="0"/>
              <a:t>, </a:t>
            </a:r>
            <a:r>
              <a:rPr lang="ru-RU" sz="2400" dirty="0" err="1"/>
              <a:t>които</a:t>
            </a:r>
            <a:r>
              <a:rPr lang="ru-RU" sz="2400" dirty="0"/>
              <a:t> се </a:t>
            </a:r>
            <a:r>
              <a:rPr lang="ru-RU" sz="2400" dirty="0" err="1"/>
              <a:t>използват</a:t>
            </a:r>
            <a:r>
              <a:rPr lang="ru-RU" sz="2400" dirty="0"/>
              <a:t> за </a:t>
            </a:r>
            <a:r>
              <a:rPr lang="ru-RU" sz="2400" dirty="0" err="1"/>
              <a:t>представяне</a:t>
            </a:r>
            <a:r>
              <a:rPr lang="ru-RU" sz="2400" dirty="0"/>
              <a:t> на видео </a:t>
            </a:r>
            <a:r>
              <a:rPr lang="ru-RU" sz="2400" dirty="0" err="1"/>
              <a:t>изображението</a:t>
            </a:r>
            <a:r>
              <a:rPr lang="ru-RU" sz="2400" dirty="0"/>
              <a:t>. </a:t>
            </a:r>
            <a:r>
              <a:rPr lang="ru-RU" sz="2400" dirty="0" err="1"/>
              <a:t>По-високите</a:t>
            </a:r>
            <a:r>
              <a:rPr lang="ru-RU" sz="2400" dirty="0"/>
              <a:t> </a:t>
            </a:r>
            <a:r>
              <a:rPr lang="ru-RU" sz="2400" dirty="0" err="1"/>
              <a:t>разделителни</a:t>
            </a:r>
            <a:r>
              <a:rPr lang="ru-RU" sz="2400" dirty="0"/>
              <a:t> способности </a:t>
            </a:r>
            <a:r>
              <a:rPr lang="ru-RU" sz="2400" dirty="0" err="1"/>
              <a:t>осигуряват</a:t>
            </a:r>
            <a:r>
              <a:rPr lang="ru-RU" sz="2400" dirty="0"/>
              <a:t> </a:t>
            </a:r>
            <a:r>
              <a:rPr lang="ru-RU" sz="2400" dirty="0" err="1"/>
              <a:t>по-подробни</a:t>
            </a:r>
            <a:r>
              <a:rPr lang="ru-RU" sz="2400" dirty="0"/>
              <a:t> изображения, но </a:t>
            </a:r>
            <a:r>
              <a:rPr lang="ru-RU" sz="2400" dirty="0" err="1"/>
              <a:t>може</a:t>
            </a:r>
            <a:r>
              <a:rPr lang="ru-RU" sz="2400" dirty="0"/>
              <a:t> да </a:t>
            </a:r>
            <a:r>
              <a:rPr lang="ru-RU" sz="2400" dirty="0" err="1"/>
              <a:t>изискват</a:t>
            </a:r>
            <a:r>
              <a:rPr lang="ru-RU" sz="2400" dirty="0"/>
              <a:t> </a:t>
            </a:r>
            <a:r>
              <a:rPr lang="ru-RU" sz="2400" dirty="0" err="1"/>
              <a:t>повече</a:t>
            </a:r>
            <a:r>
              <a:rPr lang="ru-RU" sz="2400" dirty="0"/>
              <a:t> </a:t>
            </a:r>
            <a:r>
              <a:rPr lang="ru-RU" sz="2400" dirty="0" err="1"/>
              <a:t>процесорна</a:t>
            </a:r>
            <a:r>
              <a:rPr lang="ru-RU" sz="2400" dirty="0"/>
              <a:t> </a:t>
            </a:r>
            <a:r>
              <a:rPr lang="ru-RU" sz="2400" dirty="0" err="1"/>
              <a:t>мощност</a:t>
            </a:r>
            <a:r>
              <a:rPr lang="ru-RU" sz="2400" dirty="0"/>
              <a:t> и </a:t>
            </a:r>
            <a:r>
              <a:rPr lang="ru-RU" sz="2400" dirty="0" err="1"/>
              <a:t>капацитет</a:t>
            </a:r>
            <a:r>
              <a:rPr lang="ru-RU" sz="2400" dirty="0"/>
              <a:t> за </a:t>
            </a:r>
            <a:r>
              <a:rPr lang="ru-RU" sz="2400" dirty="0" err="1"/>
              <a:t>съхранение</a:t>
            </a:r>
            <a:r>
              <a:rPr lang="ru-RU" sz="2400" dirty="0"/>
              <a:t>.</a:t>
            </a:r>
          </a:p>
        </p:txBody>
      </p:sp>
    </p:spTree>
    <p:extLst>
      <p:ext uri="{BB962C8B-B14F-4D97-AF65-F5344CB8AC3E}">
        <p14:creationId xmlns:p14="http://schemas.microsoft.com/office/powerpoint/2010/main" val="3813555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893418B2-AE3A-15BD-E533-3B363C6367FE}"/>
              </a:ext>
            </a:extLst>
          </p:cNvPr>
          <p:cNvSpPr>
            <a:spLocks noGrp="1"/>
          </p:cNvSpPr>
          <p:nvPr>
            <p:ph type="title"/>
          </p:nvPr>
        </p:nvSpPr>
        <p:spPr>
          <a:xfrm>
            <a:off x="808638" y="386930"/>
            <a:ext cx="9236700" cy="1188950"/>
          </a:xfrm>
        </p:spPr>
        <p:txBody>
          <a:bodyPr anchor="b">
            <a:normAutofit/>
          </a:bodyPr>
          <a:lstStyle/>
          <a:p>
            <a:pPr algn="ctr"/>
            <a:r>
              <a:rPr lang="bg-BG" sz="3400" b="1" dirty="0"/>
              <a:t>Видео система - характеристики</a:t>
            </a:r>
            <a:endParaRPr lang="en-US" sz="3400"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7DF60248-333F-EE80-F082-550E7A5B00BD}"/>
              </a:ext>
            </a:extLst>
          </p:cNvPr>
          <p:cNvSpPr>
            <a:spLocks noGrp="1"/>
          </p:cNvSpPr>
          <p:nvPr>
            <p:ph idx="1"/>
          </p:nvPr>
        </p:nvSpPr>
        <p:spPr>
          <a:xfrm>
            <a:off x="1064524" y="2389218"/>
            <a:ext cx="9751303" cy="4120764"/>
          </a:xfrm>
        </p:spPr>
        <p:txBody>
          <a:bodyPr anchor="ctr">
            <a:normAutofit/>
          </a:bodyPr>
          <a:lstStyle/>
          <a:p>
            <a:pPr algn="just"/>
            <a:r>
              <a:rPr lang="ru-RU" sz="2400" dirty="0" err="1"/>
              <a:t>Скорост</a:t>
            </a:r>
            <a:r>
              <a:rPr lang="ru-RU" sz="2400" dirty="0"/>
              <a:t> на кадрите: </a:t>
            </a:r>
            <a:r>
              <a:rPr lang="ru-RU" sz="2400" dirty="0" err="1"/>
              <a:t>Честотата</a:t>
            </a:r>
            <a:r>
              <a:rPr lang="ru-RU" sz="2400" dirty="0"/>
              <a:t> на кадрите на </a:t>
            </a:r>
            <a:r>
              <a:rPr lang="ru-RU" sz="2400" dirty="0" err="1"/>
              <a:t>една</a:t>
            </a:r>
            <a:r>
              <a:rPr lang="ru-RU" sz="2400" dirty="0"/>
              <a:t> видео система се </a:t>
            </a:r>
            <a:r>
              <a:rPr lang="ru-RU" sz="2400" dirty="0" err="1"/>
              <a:t>отнася</a:t>
            </a:r>
            <a:r>
              <a:rPr lang="ru-RU" sz="2400" dirty="0"/>
              <a:t> до </a:t>
            </a:r>
            <a:r>
              <a:rPr lang="ru-RU" sz="2400" dirty="0" err="1"/>
              <a:t>броя</a:t>
            </a:r>
            <a:r>
              <a:rPr lang="ru-RU" sz="2400" dirty="0"/>
              <a:t> изображения (кадри), </a:t>
            </a:r>
            <a:r>
              <a:rPr lang="ru-RU" sz="2400" dirty="0" err="1"/>
              <a:t>които</a:t>
            </a:r>
            <a:r>
              <a:rPr lang="ru-RU" sz="2400" dirty="0"/>
              <a:t> се </a:t>
            </a:r>
            <a:r>
              <a:rPr lang="ru-RU" sz="2400" dirty="0" err="1"/>
              <a:t>показват</a:t>
            </a:r>
            <a:r>
              <a:rPr lang="ru-RU" sz="2400" dirty="0"/>
              <a:t> за секунда. </a:t>
            </a:r>
            <a:r>
              <a:rPr lang="ru-RU" sz="2400" dirty="0" err="1"/>
              <a:t>По-високите</a:t>
            </a:r>
            <a:r>
              <a:rPr lang="ru-RU" sz="2400" dirty="0"/>
              <a:t> </a:t>
            </a:r>
            <a:r>
              <a:rPr lang="ru-RU" sz="2400" dirty="0" err="1"/>
              <a:t>кадрови</a:t>
            </a:r>
            <a:r>
              <a:rPr lang="ru-RU" sz="2400" dirty="0"/>
              <a:t> </a:t>
            </a:r>
            <a:r>
              <a:rPr lang="ru-RU" sz="2400" dirty="0" err="1"/>
              <a:t>честоти</a:t>
            </a:r>
            <a:r>
              <a:rPr lang="ru-RU" sz="2400" dirty="0"/>
              <a:t> </a:t>
            </a:r>
            <a:r>
              <a:rPr lang="ru-RU" sz="2400" dirty="0" err="1"/>
              <a:t>могат</a:t>
            </a:r>
            <a:r>
              <a:rPr lang="ru-RU" sz="2400" dirty="0"/>
              <a:t> да </a:t>
            </a:r>
            <a:r>
              <a:rPr lang="ru-RU" sz="2400" dirty="0" err="1"/>
              <a:t>осигурят</a:t>
            </a:r>
            <a:r>
              <a:rPr lang="ru-RU" sz="2400" dirty="0"/>
              <a:t> </a:t>
            </a:r>
            <a:r>
              <a:rPr lang="ru-RU" sz="2400" dirty="0" err="1"/>
              <a:t>по-гладко</a:t>
            </a:r>
            <a:r>
              <a:rPr lang="ru-RU" sz="2400" dirty="0"/>
              <a:t>, </a:t>
            </a:r>
            <a:r>
              <a:rPr lang="ru-RU" sz="2400" dirty="0" err="1"/>
              <a:t>по-реалистично</a:t>
            </a:r>
            <a:r>
              <a:rPr lang="ru-RU" sz="2400" dirty="0"/>
              <a:t> видео, но </a:t>
            </a:r>
            <a:r>
              <a:rPr lang="ru-RU" sz="2400" dirty="0" err="1"/>
              <a:t>може</a:t>
            </a:r>
            <a:r>
              <a:rPr lang="ru-RU" sz="2400" dirty="0"/>
              <a:t> да </a:t>
            </a:r>
            <a:r>
              <a:rPr lang="ru-RU" sz="2400" dirty="0" err="1"/>
              <a:t>изискват</a:t>
            </a:r>
            <a:r>
              <a:rPr lang="ru-RU" sz="2400" dirty="0"/>
              <a:t> </a:t>
            </a:r>
            <a:r>
              <a:rPr lang="ru-RU" sz="2400" dirty="0" err="1"/>
              <a:t>повече</a:t>
            </a:r>
            <a:r>
              <a:rPr lang="ru-RU" sz="2400" dirty="0"/>
              <a:t> </a:t>
            </a:r>
            <a:r>
              <a:rPr lang="ru-RU" sz="2400" dirty="0" err="1"/>
              <a:t>процесорна</a:t>
            </a:r>
            <a:r>
              <a:rPr lang="ru-RU" sz="2400" dirty="0"/>
              <a:t> </a:t>
            </a:r>
            <a:r>
              <a:rPr lang="ru-RU" sz="2400" dirty="0" err="1"/>
              <a:t>мощност</a:t>
            </a:r>
            <a:r>
              <a:rPr lang="ru-RU" sz="2400" dirty="0"/>
              <a:t>.</a:t>
            </a:r>
          </a:p>
          <a:p>
            <a:pPr marL="0" indent="0" algn="just">
              <a:buNone/>
            </a:pPr>
            <a:endParaRPr lang="ru-RU" sz="2400" dirty="0"/>
          </a:p>
          <a:p>
            <a:pPr algn="just"/>
            <a:r>
              <a:rPr lang="ru-RU" sz="2400" dirty="0" err="1"/>
              <a:t>Възможности</a:t>
            </a:r>
            <a:r>
              <a:rPr lang="ru-RU" sz="2400" dirty="0"/>
              <a:t> за вход/</a:t>
            </a:r>
            <a:r>
              <a:rPr lang="ru-RU" sz="2400" dirty="0" err="1"/>
              <a:t>изход</a:t>
            </a:r>
            <a:r>
              <a:rPr lang="ru-RU" sz="2400" dirty="0"/>
              <a:t>: Видео </a:t>
            </a:r>
            <a:r>
              <a:rPr lang="ru-RU" sz="2400" dirty="0" err="1"/>
              <a:t>системите</a:t>
            </a:r>
            <a:r>
              <a:rPr lang="ru-RU" sz="2400" dirty="0"/>
              <a:t> </a:t>
            </a:r>
            <a:r>
              <a:rPr lang="ru-RU" sz="2400" dirty="0" err="1"/>
              <a:t>могат</a:t>
            </a:r>
            <a:r>
              <a:rPr lang="ru-RU" sz="2400" dirty="0"/>
              <a:t> да </a:t>
            </a:r>
            <a:r>
              <a:rPr lang="ru-RU" sz="2400" dirty="0" err="1"/>
              <a:t>имат</a:t>
            </a:r>
            <a:r>
              <a:rPr lang="ru-RU" sz="2400" dirty="0"/>
              <a:t> </a:t>
            </a:r>
            <a:r>
              <a:rPr lang="ru-RU" sz="2400" dirty="0" err="1"/>
              <a:t>различни</a:t>
            </a:r>
            <a:r>
              <a:rPr lang="ru-RU" sz="2400" dirty="0"/>
              <a:t> </a:t>
            </a:r>
            <a:r>
              <a:rPr lang="ru-RU" sz="2400" dirty="0" err="1"/>
              <a:t>възможности</a:t>
            </a:r>
            <a:r>
              <a:rPr lang="ru-RU" sz="2400" dirty="0"/>
              <a:t> за вход и </a:t>
            </a:r>
            <a:r>
              <a:rPr lang="ru-RU" sz="2400" dirty="0" err="1"/>
              <a:t>изход</a:t>
            </a:r>
            <a:r>
              <a:rPr lang="ru-RU" sz="2400" dirty="0"/>
              <a:t>, </a:t>
            </a:r>
            <a:r>
              <a:rPr lang="ru-RU" sz="2400" dirty="0" err="1"/>
              <a:t>като</a:t>
            </a:r>
            <a:r>
              <a:rPr lang="ru-RU" sz="2400" dirty="0"/>
              <a:t> </a:t>
            </a:r>
            <a:r>
              <a:rPr lang="ru-RU" sz="2400" dirty="0" err="1"/>
              <a:t>поддръжка</a:t>
            </a:r>
            <a:r>
              <a:rPr lang="ru-RU" sz="2400" dirty="0"/>
              <a:t> за </a:t>
            </a:r>
            <a:r>
              <a:rPr lang="ru-RU" sz="2400" dirty="0" err="1"/>
              <a:t>различни</a:t>
            </a:r>
            <a:r>
              <a:rPr lang="ru-RU" sz="2400" dirty="0"/>
              <a:t> </a:t>
            </a:r>
            <a:r>
              <a:rPr lang="ru-RU" sz="2400" dirty="0" err="1"/>
              <a:t>видове</a:t>
            </a:r>
            <a:r>
              <a:rPr lang="ru-RU" sz="2400" dirty="0"/>
              <a:t> </a:t>
            </a:r>
            <a:r>
              <a:rPr lang="ru-RU" sz="2400" dirty="0" err="1"/>
              <a:t>камери</a:t>
            </a:r>
            <a:r>
              <a:rPr lang="ru-RU" sz="2400" dirty="0"/>
              <a:t>, </a:t>
            </a:r>
            <a:r>
              <a:rPr lang="ru-RU" sz="2400" dirty="0" err="1"/>
              <a:t>микрофони</a:t>
            </a:r>
            <a:r>
              <a:rPr lang="ru-RU" sz="2400" dirty="0"/>
              <a:t> и </a:t>
            </a:r>
            <a:r>
              <a:rPr lang="ru-RU" sz="2400" dirty="0" err="1"/>
              <a:t>монитори</a:t>
            </a:r>
            <a:r>
              <a:rPr lang="ru-RU" sz="2400" dirty="0"/>
              <a:t>. </a:t>
            </a:r>
            <a:r>
              <a:rPr lang="ru-RU" sz="2400" dirty="0" err="1"/>
              <a:t>Тези</a:t>
            </a:r>
            <a:r>
              <a:rPr lang="ru-RU" sz="2400" dirty="0"/>
              <a:t> </a:t>
            </a:r>
            <a:r>
              <a:rPr lang="ru-RU" sz="2400" dirty="0" err="1"/>
              <a:t>възможности</a:t>
            </a:r>
            <a:r>
              <a:rPr lang="ru-RU" sz="2400" dirty="0"/>
              <a:t> </a:t>
            </a:r>
            <a:r>
              <a:rPr lang="ru-RU" sz="2400" dirty="0" err="1"/>
              <a:t>могат</a:t>
            </a:r>
            <a:r>
              <a:rPr lang="ru-RU" sz="2400" dirty="0"/>
              <a:t> да </a:t>
            </a:r>
            <a:r>
              <a:rPr lang="ru-RU" sz="2400" dirty="0" err="1"/>
              <a:t>повлияят</a:t>
            </a:r>
            <a:r>
              <a:rPr lang="ru-RU" sz="2400" dirty="0"/>
              <a:t> на </a:t>
            </a:r>
            <a:r>
              <a:rPr lang="ru-RU" sz="2400" dirty="0" err="1"/>
              <a:t>гъвкавостта</a:t>
            </a:r>
            <a:r>
              <a:rPr lang="ru-RU" sz="2400" dirty="0"/>
              <a:t> и </a:t>
            </a:r>
            <a:r>
              <a:rPr lang="ru-RU" sz="2400" dirty="0" err="1"/>
              <a:t>функционалността</a:t>
            </a:r>
            <a:r>
              <a:rPr lang="ru-RU" sz="2400" dirty="0"/>
              <a:t> на видео </a:t>
            </a:r>
            <a:r>
              <a:rPr lang="ru-RU" sz="2400" dirty="0" err="1"/>
              <a:t>системата</a:t>
            </a:r>
            <a:r>
              <a:rPr lang="ru-RU" sz="2400" dirty="0"/>
              <a:t>.</a:t>
            </a:r>
          </a:p>
          <a:p>
            <a:pPr marL="0" indent="0">
              <a:buNone/>
            </a:pPr>
            <a:endParaRPr lang="ru-RU" sz="1700" dirty="0"/>
          </a:p>
        </p:txBody>
      </p:sp>
    </p:spTree>
    <p:extLst>
      <p:ext uri="{BB962C8B-B14F-4D97-AF65-F5344CB8AC3E}">
        <p14:creationId xmlns:p14="http://schemas.microsoft.com/office/powerpoint/2010/main" val="4221606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25CE6617-5D4F-0A1D-10B9-28CD9B9EFBD8}"/>
              </a:ext>
            </a:extLst>
          </p:cNvPr>
          <p:cNvSpPr>
            <a:spLocks noGrp="1"/>
          </p:cNvSpPr>
          <p:nvPr>
            <p:ph type="title"/>
          </p:nvPr>
        </p:nvSpPr>
        <p:spPr>
          <a:xfrm>
            <a:off x="808638" y="386930"/>
            <a:ext cx="9236700" cy="1188950"/>
          </a:xfrm>
        </p:spPr>
        <p:txBody>
          <a:bodyPr anchor="b">
            <a:normAutofit/>
          </a:bodyPr>
          <a:lstStyle/>
          <a:p>
            <a:pPr algn="ctr"/>
            <a:r>
              <a:rPr lang="az-Cyrl-AZ" sz="3400" b="1" dirty="0"/>
              <a:t>Видео система - характеристики</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18F67D34-BFC7-87ED-D5AB-B64B66323A68}"/>
              </a:ext>
            </a:extLst>
          </p:cNvPr>
          <p:cNvSpPr>
            <a:spLocks noGrp="1"/>
          </p:cNvSpPr>
          <p:nvPr>
            <p:ph idx="1"/>
          </p:nvPr>
        </p:nvSpPr>
        <p:spPr>
          <a:xfrm>
            <a:off x="793660" y="2599509"/>
            <a:ext cx="10143668" cy="3435531"/>
          </a:xfrm>
        </p:spPr>
        <p:txBody>
          <a:bodyPr anchor="ctr">
            <a:normAutofit/>
          </a:bodyPr>
          <a:lstStyle/>
          <a:p>
            <a:pPr algn="just"/>
            <a:r>
              <a:rPr lang="ru-RU" sz="2400" dirty="0" err="1"/>
              <a:t>Компресия</a:t>
            </a:r>
            <a:r>
              <a:rPr lang="ru-RU" sz="2400" dirty="0"/>
              <a:t>: Видео </a:t>
            </a:r>
            <a:r>
              <a:rPr lang="ru-RU" sz="2400" dirty="0" err="1"/>
              <a:t>системите</a:t>
            </a:r>
            <a:r>
              <a:rPr lang="ru-RU" sz="2400" dirty="0"/>
              <a:t> </a:t>
            </a:r>
            <a:r>
              <a:rPr lang="ru-RU" sz="2400" dirty="0" err="1"/>
              <a:t>често</a:t>
            </a:r>
            <a:r>
              <a:rPr lang="ru-RU" sz="2400" dirty="0"/>
              <a:t> </a:t>
            </a:r>
            <a:r>
              <a:rPr lang="ru-RU" sz="2400" dirty="0" err="1"/>
              <a:t>използват</a:t>
            </a:r>
            <a:r>
              <a:rPr lang="ru-RU" sz="2400" dirty="0"/>
              <a:t> </a:t>
            </a:r>
            <a:r>
              <a:rPr lang="ru-RU" sz="2400" dirty="0" err="1"/>
              <a:t>компресия</a:t>
            </a:r>
            <a:r>
              <a:rPr lang="ru-RU" sz="2400" dirty="0"/>
              <a:t>, за да </a:t>
            </a:r>
            <a:r>
              <a:rPr lang="ru-RU" sz="2400" dirty="0" err="1"/>
              <a:t>намалят</a:t>
            </a:r>
            <a:r>
              <a:rPr lang="ru-RU" sz="2400" dirty="0"/>
              <a:t> </a:t>
            </a:r>
            <a:r>
              <a:rPr lang="ru-RU" sz="2400" dirty="0" err="1"/>
              <a:t>количеството</a:t>
            </a:r>
            <a:r>
              <a:rPr lang="ru-RU" sz="2400" dirty="0"/>
              <a:t> </a:t>
            </a:r>
            <a:r>
              <a:rPr lang="ru-RU" sz="2400" dirty="0" err="1"/>
              <a:t>данни</a:t>
            </a:r>
            <a:r>
              <a:rPr lang="ru-RU" sz="2400" dirty="0"/>
              <a:t>, </a:t>
            </a:r>
            <a:r>
              <a:rPr lang="ru-RU" sz="2400" dirty="0" err="1"/>
              <a:t>необходими</a:t>
            </a:r>
            <a:r>
              <a:rPr lang="ru-RU" sz="2400" dirty="0"/>
              <a:t> за </a:t>
            </a:r>
            <a:r>
              <a:rPr lang="ru-RU" sz="2400" dirty="0" err="1"/>
              <a:t>представяне</a:t>
            </a:r>
            <a:r>
              <a:rPr lang="ru-RU" sz="2400" dirty="0"/>
              <a:t> на </a:t>
            </a:r>
            <a:r>
              <a:rPr lang="ru-RU" sz="2400" dirty="0" err="1"/>
              <a:t>видеото</a:t>
            </a:r>
            <a:r>
              <a:rPr lang="ru-RU" sz="2400" dirty="0"/>
              <a:t>. </a:t>
            </a:r>
            <a:r>
              <a:rPr lang="ru-RU" sz="2400" dirty="0" err="1"/>
              <a:t>Това</a:t>
            </a:r>
            <a:r>
              <a:rPr lang="ru-RU" sz="2400" dirty="0"/>
              <a:t> </a:t>
            </a:r>
            <a:r>
              <a:rPr lang="ru-RU" sz="2400" dirty="0" err="1"/>
              <a:t>може</a:t>
            </a:r>
            <a:r>
              <a:rPr lang="ru-RU" sz="2400" dirty="0"/>
              <a:t> да </a:t>
            </a:r>
            <a:r>
              <a:rPr lang="ru-RU" sz="2400" dirty="0" err="1"/>
              <a:t>помогне</a:t>
            </a:r>
            <a:r>
              <a:rPr lang="ru-RU" sz="2400" dirty="0"/>
              <a:t> за </a:t>
            </a:r>
            <a:r>
              <a:rPr lang="ru-RU" sz="2400" dirty="0" err="1"/>
              <a:t>намаляване</a:t>
            </a:r>
            <a:r>
              <a:rPr lang="ru-RU" sz="2400" dirty="0"/>
              <a:t> на </a:t>
            </a:r>
            <a:r>
              <a:rPr lang="ru-RU" sz="2400" dirty="0" err="1"/>
              <a:t>количеството</a:t>
            </a:r>
            <a:r>
              <a:rPr lang="ru-RU" sz="2400" dirty="0"/>
              <a:t> пространство за </a:t>
            </a:r>
            <a:r>
              <a:rPr lang="ru-RU" sz="2400" dirty="0" err="1"/>
              <a:t>съхранение</a:t>
            </a:r>
            <a:r>
              <a:rPr lang="ru-RU" sz="2400" dirty="0"/>
              <a:t> и </a:t>
            </a:r>
            <a:r>
              <a:rPr lang="ru-RU" sz="2400" dirty="0" err="1"/>
              <a:t>честотната</a:t>
            </a:r>
            <a:r>
              <a:rPr lang="ru-RU" sz="2400" dirty="0"/>
              <a:t> лента, </a:t>
            </a:r>
            <a:r>
              <a:rPr lang="ru-RU" sz="2400" dirty="0" err="1"/>
              <a:t>необходими</a:t>
            </a:r>
            <a:r>
              <a:rPr lang="ru-RU" sz="2400" dirty="0"/>
              <a:t> за </a:t>
            </a:r>
            <a:r>
              <a:rPr lang="ru-RU" sz="2400" dirty="0" err="1"/>
              <a:t>видеото</a:t>
            </a:r>
            <a:r>
              <a:rPr lang="ru-RU" sz="2400" dirty="0"/>
              <a:t>, но </a:t>
            </a:r>
            <a:r>
              <a:rPr lang="ru-RU" sz="2400" dirty="0" err="1"/>
              <a:t>също</a:t>
            </a:r>
            <a:r>
              <a:rPr lang="ru-RU" sz="2400" dirty="0"/>
              <a:t> </a:t>
            </a:r>
            <a:r>
              <a:rPr lang="ru-RU" sz="2400" dirty="0" err="1"/>
              <a:t>така</a:t>
            </a:r>
            <a:r>
              <a:rPr lang="ru-RU" sz="2400" dirty="0"/>
              <a:t> </a:t>
            </a:r>
            <a:r>
              <a:rPr lang="ru-RU" sz="2400" dirty="0" err="1"/>
              <a:t>може</a:t>
            </a:r>
            <a:r>
              <a:rPr lang="ru-RU" sz="2400" dirty="0"/>
              <a:t> да </a:t>
            </a:r>
            <a:r>
              <a:rPr lang="ru-RU" sz="2400" dirty="0" err="1"/>
              <a:t>намали</a:t>
            </a:r>
            <a:r>
              <a:rPr lang="ru-RU" sz="2400" dirty="0"/>
              <a:t> </a:t>
            </a:r>
            <a:r>
              <a:rPr lang="ru-RU" sz="2400" dirty="0" err="1"/>
              <a:t>качеството</a:t>
            </a:r>
            <a:r>
              <a:rPr lang="ru-RU" sz="2400" dirty="0"/>
              <a:t> на </a:t>
            </a:r>
            <a:r>
              <a:rPr lang="ru-RU" sz="2400" dirty="0" err="1"/>
              <a:t>видеото</a:t>
            </a:r>
            <a:r>
              <a:rPr lang="ru-RU" sz="2400" dirty="0"/>
              <a:t>, </a:t>
            </a:r>
            <a:r>
              <a:rPr lang="ru-RU" sz="2400" dirty="0" err="1"/>
              <a:t>ако</a:t>
            </a:r>
            <a:r>
              <a:rPr lang="ru-RU" sz="2400" dirty="0"/>
              <a:t> </a:t>
            </a:r>
            <a:r>
              <a:rPr lang="ru-RU" sz="2400" dirty="0" err="1"/>
              <a:t>компресията</a:t>
            </a:r>
            <a:r>
              <a:rPr lang="ru-RU" sz="2400" dirty="0"/>
              <a:t> е </a:t>
            </a:r>
            <a:r>
              <a:rPr lang="ru-RU" sz="2400" dirty="0" err="1"/>
              <a:t>твърде</a:t>
            </a:r>
            <a:r>
              <a:rPr lang="ru-RU" sz="2400" dirty="0"/>
              <a:t> </a:t>
            </a:r>
            <a:r>
              <a:rPr lang="ru-RU" sz="2400" dirty="0" err="1"/>
              <a:t>агресивна</a:t>
            </a:r>
            <a:r>
              <a:rPr lang="ru-RU" sz="2400" dirty="0"/>
              <a:t>.</a:t>
            </a:r>
          </a:p>
          <a:p>
            <a:endParaRPr lang="en-US" sz="2400" dirty="0"/>
          </a:p>
        </p:txBody>
      </p:sp>
    </p:spTree>
    <p:extLst>
      <p:ext uri="{BB962C8B-B14F-4D97-AF65-F5344CB8AC3E}">
        <p14:creationId xmlns:p14="http://schemas.microsoft.com/office/powerpoint/2010/main" val="3195158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EC0EF28E-4961-F5A6-66C8-86FFC3D6A5A8}"/>
              </a:ext>
            </a:extLst>
          </p:cNvPr>
          <p:cNvSpPr>
            <a:spLocks noGrp="1"/>
          </p:cNvSpPr>
          <p:nvPr>
            <p:ph type="title"/>
          </p:nvPr>
        </p:nvSpPr>
        <p:spPr>
          <a:xfrm>
            <a:off x="808638" y="386930"/>
            <a:ext cx="9236700" cy="1188950"/>
          </a:xfrm>
        </p:spPr>
        <p:txBody>
          <a:bodyPr anchor="b">
            <a:normAutofit/>
          </a:bodyPr>
          <a:lstStyle/>
          <a:p>
            <a:pPr algn="ctr"/>
            <a:r>
              <a:rPr lang="bg-BG" sz="3400" b="1" dirty="0"/>
              <a:t>Видео система - характеристики</a:t>
            </a:r>
            <a:endParaRPr lang="en-US" sz="3400"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F2B60B00-5A10-6054-6CD7-C64A635D1B0C}"/>
              </a:ext>
            </a:extLst>
          </p:cNvPr>
          <p:cNvSpPr>
            <a:spLocks noGrp="1"/>
          </p:cNvSpPr>
          <p:nvPr>
            <p:ph idx="1"/>
          </p:nvPr>
        </p:nvSpPr>
        <p:spPr>
          <a:xfrm>
            <a:off x="793660" y="2518963"/>
            <a:ext cx="10143668" cy="3831961"/>
          </a:xfrm>
        </p:spPr>
        <p:txBody>
          <a:bodyPr anchor="ctr">
            <a:normAutofit/>
          </a:bodyPr>
          <a:lstStyle/>
          <a:p>
            <a:pPr algn="just"/>
            <a:r>
              <a:rPr lang="ru-RU" sz="2400" dirty="0"/>
              <a:t>Латентност: Латентността е забавянето между времето, в което се случва дадено събитие, и времето, в което то се показва във видеото. Ниската латентност е важна за приложения като наблюдение, където отговорите в реално време са критични.</a:t>
            </a:r>
          </a:p>
          <a:p>
            <a:pPr algn="just"/>
            <a:endParaRPr lang="ru-RU" sz="2400" dirty="0"/>
          </a:p>
          <a:p>
            <a:pPr algn="just"/>
            <a:r>
              <a:rPr lang="ru-RU" sz="2400" dirty="0"/>
              <a:t>Надеждност: Надеждността на една видеосистема се отнася до нейната способност постоянно да заснема и показва висококачествено видео без грешки или прекъсвания. Надеждността е важна за приложения, където видеото е критично, като например наблюдение или телеконференция.</a:t>
            </a:r>
          </a:p>
          <a:p>
            <a:endParaRPr lang="en-US" sz="2400" dirty="0"/>
          </a:p>
        </p:txBody>
      </p:sp>
    </p:spTree>
    <p:extLst>
      <p:ext uri="{BB962C8B-B14F-4D97-AF65-F5344CB8AC3E}">
        <p14:creationId xmlns:p14="http://schemas.microsoft.com/office/powerpoint/2010/main" val="3785231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FFD024D5-815D-CB13-786D-DF8D93EFD643}"/>
              </a:ext>
            </a:extLst>
          </p:cNvPr>
          <p:cNvSpPr>
            <a:spLocks noGrp="1"/>
          </p:cNvSpPr>
          <p:nvPr>
            <p:ph type="title"/>
          </p:nvPr>
        </p:nvSpPr>
        <p:spPr>
          <a:xfrm>
            <a:off x="808638" y="386930"/>
            <a:ext cx="9236700" cy="1188950"/>
          </a:xfrm>
        </p:spPr>
        <p:txBody>
          <a:bodyPr anchor="b">
            <a:normAutofit/>
          </a:bodyPr>
          <a:lstStyle/>
          <a:p>
            <a:pPr algn="ctr"/>
            <a:r>
              <a:rPr lang="az-Cyrl-AZ" sz="3400" b="1" dirty="0"/>
              <a:t>Видео адаптери (известни също като видеокарти)</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86062299-6FB1-EC83-3D75-B591E233B8F0}"/>
              </a:ext>
            </a:extLst>
          </p:cNvPr>
          <p:cNvSpPr>
            <a:spLocks noGrp="1"/>
          </p:cNvSpPr>
          <p:nvPr>
            <p:ph idx="1"/>
          </p:nvPr>
        </p:nvSpPr>
        <p:spPr>
          <a:xfrm>
            <a:off x="793660" y="2599509"/>
            <a:ext cx="10143668" cy="3435531"/>
          </a:xfrm>
        </p:spPr>
        <p:txBody>
          <a:bodyPr anchor="ctr">
            <a:normAutofit/>
          </a:bodyPr>
          <a:lstStyle/>
          <a:p>
            <a:pPr algn="just"/>
            <a:r>
              <a:rPr lang="ru-RU" sz="2400" dirty="0"/>
              <a:t>Видео адаптера е разширителна карта, преобразуваща графичния образ, съхранен в паметта на компютъра под форма, която е подходяща за изобразяване на картината на монитора.</a:t>
            </a:r>
          </a:p>
          <a:p>
            <a:pPr algn="just"/>
            <a:r>
              <a:rPr lang="ru-RU" sz="2400" dirty="0"/>
              <a:t>Повечето графични карти не са ограничени до обикновен изход на дисплея. Техният интегриран графичен процесор може да извърши допълнителна обработка, снемайки по този начин натоварването от централния процесор. Например, компании като Nvidia и AMD (преди известна като ATI) произвеждат карти, които използват API като OpenGL и DirectX и ги емплементират на хардуерно ниво.</a:t>
            </a:r>
          </a:p>
        </p:txBody>
      </p:sp>
    </p:spTree>
    <p:extLst>
      <p:ext uri="{BB962C8B-B14F-4D97-AF65-F5344CB8AC3E}">
        <p14:creationId xmlns:p14="http://schemas.microsoft.com/office/powerpoint/2010/main" val="3878521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0B5DB125-FAEA-D74C-6523-761AFC2C8A44}"/>
              </a:ext>
            </a:extLst>
          </p:cNvPr>
          <p:cNvSpPr>
            <a:spLocks noGrp="1"/>
          </p:cNvSpPr>
          <p:nvPr>
            <p:ph type="title"/>
          </p:nvPr>
        </p:nvSpPr>
        <p:spPr>
          <a:xfrm>
            <a:off x="808638" y="386930"/>
            <a:ext cx="10574724" cy="1196210"/>
          </a:xfrm>
        </p:spPr>
        <p:txBody>
          <a:bodyPr anchor="b">
            <a:normAutofit/>
          </a:bodyPr>
          <a:lstStyle/>
          <a:p>
            <a:pPr algn="ctr"/>
            <a:r>
              <a:rPr lang="ru-RU" sz="3400" b="1" dirty="0"/>
              <a:t>Видео </a:t>
            </a:r>
            <a:r>
              <a:rPr lang="ru-RU" sz="3400" b="1" dirty="0" err="1"/>
              <a:t>адаптери</a:t>
            </a:r>
            <a:r>
              <a:rPr lang="ru-RU" sz="3400" b="1" dirty="0"/>
              <a:t> (</a:t>
            </a:r>
            <a:r>
              <a:rPr lang="ru-RU" sz="3400" b="1" dirty="0" err="1"/>
              <a:t>известни</a:t>
            </a:r>
            <a:r>
              <a:rPr lang="ru-RU" sz="3400" b="1" dirty="0"/>
              <a:t> </a:t>
            </a:r>
            <a:r>
              <a:rPr lang="ru-RU" sz="3400" b="1" dirty="0" err="1"/>
              <a:t>също</a:t>
            </a:r>
            <a:r>
              <a:rPr lang="ru-RU" sz="3400" b="1" dirty="0"/>
              <a:t> </a:t>
            </a:r>
            <a:r>
              <a:rPr lang="ru-RU" sz="3400" b="1" dirty="0" err="1"/>
              <a:t>като</a:t>
            </a:r>
            <a:r>
              <a:rPr lang="ru-RU" sz="3400" b="1" dirty="0"/>
              <a:t> </a:t>
            </a:r>
            <a:r>
              <a:rPr lang="ru-RU" sz="3400" b="1" dirty="0" err="1"/>
              <a:t>видеокарти</a:t>
            </a:r>
            <a:r>
              <a:rPr lang="ru-RU" sz="3400" b="1" dirty="0"/>
              <a:t>)</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2332E8B1-F032-1872-FE28-86FF60D82848}"/>
              </a:ext>
            </a:extLst>
          </p:cNvPr>
          <p:cNvSpPr>
            <a:spLocks noGrp="1"/>
          </p:cNvSpPr>
          <p:nvPr>
            <p:ph idx="1"/>
          </p:nvPr>
        </p:nvSpPr>
        <p:spPr>
          <a:xfrm>
            <a:off x="793660" y="2599509"/>
            <a:ext cx="10143668" cy="3435531"/>
          </a:xfrm>
        </p:spPr>
        <p:txBody>
          <a:bodyPr anchor="ctr">
            <a:normAutofit/>
          </a:bodyPr>
          <a:lstStyle/>
          <a:p>
            <a:pPr algn="just"/>
            <a:r>
              <a:rPr lang="ru-RU" sz="2400" dirty="0"/>
              <a:t>Графичните карти се използват широко за обучение на AI, добив на криптовалути и молекулярна симулация.</a:t>
            </a:r>
            <a:endParaRPr lang="en-US" sz="2400" dirty="0"/>
          </a:p>
          <a:p>
            <a:pPr algn="just"/>
            <a:r>
              <a:rPr lang="ru-RU" sz="2400" dirty="0"/>
              <a:t>Има два основни типа графични карти: специални и интегрирани. Специализираната графична карта има собствена специална памет (VRAM) и процесорна мощност, което я прави по-мощна и способна да се справя с взискателни задачи като игри или редактиране на видео. Интегрираната графична карта, от друга страна, използва част от основната памет на компютъра (RAM) за своята видео обработка, което я прави по-малко мощна, но и по-енергийно ефективна.</a:t>
            </a:r>
            <a:endParaRPr lang="en-US" sz="2400" dirty="0"/>
          </a:p>
          <a:p>
            <a:endParaRPr lang="en-US" sz="2400" dirty="0"/>
          </a:p>
        </p:txBody>
      </p:sp>
    </p:spTree>
    <p:extLst>
      <p:ext uri="{BB962C8B-B14F-4D97-AF65-F5344CB8AC3E}">
        <p14:creationId xmlns:p14="http://schemas.microsoft.com/office/powerpoint/2010/main" val="166003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639FC5BA-5641-8DFC-8C91-CC65F26F37D9}"/>
              </a:ext>
            </a:extLst>
          </p:cNvPr>
          <p:cNvSpPr>
            <a:spLocks noGrp="1"/>
          </p:cNvSpPr>
          <p:nvPr>
            <p:ph type="title"/>
          </p:nvPr>
        </p:nvSpPr>
        <p:spPr>
          <a:xfrm>
            <a:off x="808638" y="386930"/>
            <a:ext cx="9727434" cy="1168915"/>
          </a:xfrm>
        </p:spPr>
        <p:txBody>
          <a:bodyPr anchor="b">
            <a:normAutofit/>
          </a:bodyPr>
          <a:lstStyle/>
          <a:p>
            <a:pPr algn="ctr"/>
            <a:r>
              <a:rPr lang="ru-RU" sz="3400" b="1" dirty="0"/>
              <a:t>Видео </a:t>
            </a:r>
            <a:r>
              <a:rPr lang="ru-RU" sz="3400" b="1" dirty="0" err="1"/>
              <a:t>адаптери</a:t>
            </a:r>
            <a:r>
              <a:rPr lang="ru-RU" sz="3400" b="1" dirty="0"/>
              <a:t> (</a:t>
            </a:r>
            <a:r>
              <a:rPr lang="ru-RU" sz="3400" b="1" dirty="0" err="1"/>
              <a:t>известни</a:t>
            </a:r>
            <a:r>
              <a:rPr lang="ru-RU" sz="3400" b="1" dirty="0"/>
              <a:t> </a:t>
            </a:r>
            <a:r>
              <a:rPr lang="ru-RU" sz="3400" b="1" dirty="0" err="1"/>
              <a:t>също</a:t>
            </a:r>
            <a:r>
              <a:rPr lang="ru-RU" sz="3400" b="1" dirty="0"/>
              <a:t> </a:t>
            </a:r>
            <a:r>
              <a:rPr lang="ru-RU" sz="3400" b="1" dirty="0" err="1"/>
              <a:t>като</a:t>
            </a:r>
            <a:r>
              <a:rPr lang="ru-RU" sz="3400" b="1" dirty="0"/>
              <a:t> </a:t>
            </a:r>
            <a:r>
              <a:rPr lang="ru-RU" sz="3400" b="1" dirty="0" err="1"/>
              <a:t>видеокарти</a:t>
            </a:r>
            <a:r>
              <a:rPr lang="ru-RU" sz="3400" b="1" dirty="0"/>
              <a:t>)</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0609D4CA-B1D0-3089-D068-490228C7C3A0}"/>
              </a:ext>
            </a:extLst>
          </p:cNvPr>
          <p:cNvSpPr>
            <a:spLocks noGrp="1"/>
          </p:cNvSpPr>
          <p:nvPr>
            <p:ph idx="1"/>
          </p:nvPr>
        </p:nvSpPr>
        <p:spPr>
          <a:xfrm>
            <a:off x="793660" y="2599509"/>
            <a:ext cx="10143668" cy="3435531"/>
          </a:xfrm>
        </p:spPr>
        <p:txBody>
          <a:bodyPr anchor="ctr">
            <a:normAutofit/>
          </a:bodyPr>
          <a:lstStyle/>
          <a:p>
            <a:pPr algn="just"/>
            <a:r>
              <a:rPr lang="ru-RU" sz="2400" dirty="0" err="1"/>
              <a:t>Някои</a:t>
            </a:r>
            <a:r>
              <a:rPr lang="ru-RU" sz="2400" dirty="0"/>
              <a:t> общи характеристики на </a:t>
            </a:r>
            <a:r>
              <a:rPr lang="ru-RU" sz="2400" dirty="0" err="1"/>
              <a:t>съвременните</a:t>
            </a:r>
            <a:r>
              <a:rPr lang="ru-RU" sz="2400" dirty="0"/>
              <a:t> </a:t>
            </a:r>
            <a:r>
              <a:rPr lang="ru-RU" sz="2400" dirty="0" err="1"/>
              <a:t>графични</a:t>
            </a:r>
            <a:r>
              <a:rPr lang="ru-RU" sz="2400" dirty="0"/>
              <a:t> </a:t>
            </a:r>
            <a:r>
              <a:rPr lang="ru-RU" sz="2400" dirty="0" err="1"/>
              <a:t>карти</a:t>
            </a:r>
            <a:r>
              <a:rPr lang="ru-RU" sz="2400" dirty="0"/>
              <a:t> </a:t>
            </a:r>
            <a:r>
              <a:rPr lang="ru-RU" sz="2400" dirty="0" err="1"/>
              <a:t>включват</a:t>
            </a:r>
            <a:r>
              <a:rPr lang="ru-RU" sz="2400" dirty="0"/>
              <a:t> </a:t>
            </a:r>
            <a:r>
              <a:rPr lang="ru-RU" sz="2400" dirty="0" err="1"/>
              <a:t>поддръжка</a:t>
            </a:r>
            <a:r>
              <a:rPr lang="ru-RU" sz="2400" dirty="0"/>
              <a:t> за дисплеи с </a:t>
            </a:r>
            <a:r>
              <a:rPr lang="ru-RU" sz="2400" dirty="0" err="1"/>
              <a:t>висока</a:t>
            </a:r>
            <a:r>
              <a:rPr lang="ru-RU" sz="2400" dirty="0"/>
              <a:t> </a:t>
            </a:r>
            <a:r>
              <a:rPr lang="ru-RU" sz="2400" dirty="0" err="1"/>
              <a:t>разделителна</a:t>
            </a:r>
            <a:r>
              <a:rPr lang="ru-RU" sz="2400" dirty="0"/>
              <a:t> </a:t>
            </a:r>
            <a:r>
              <a:rPr lang="ru-RU" sz="2400" dirty="0" err="1"/>
              <a:t>способност</a:t>
            </a:r>
            <a:r>
              <a:rPr lang="ru-RU" sz="2400" dirty="0"/>
              <a:t>, </a:t>
            </a:r>
            <a:r>
              <a:rPr lang="ru-RU" sz="2400" dirty="0" err="1"/>
              <a:t>поддръжка</a:t>
            </a:r>
            <a:r>
              <a:rPr lang="ru-RU" sz="2400" dirty="0"/>
              <a:t> за множество дисплеи и </a:t>
            </a:r>
            <a:r>
              <a:rPr lang="ru-RU" sz="2400" dirty="0" err="1"/>
              <a:t>поддръжка</a:t>
            </a:r>
            <a:r>
              <a:rPr lang="ru-RU" sz="2400" dirty="0"/>
              <a:t> за </a:t>
            </a:r>
            <a:r>
              <a:rPr lang="ru-RU" sz="2400" dirty="0" err="1"/>
              <a:t>различни</a:t>
            </a:r>
            <a:r>
              <a:rPr lang="ru-RU" sz="2400" dirty="0"/>
              <a:t> 3D </a:t>
            </a:r>
            <a:r>
              <a:rPr lang="ru-RU" sz="2400" dirty="0" err="1"/>
              <a:t>графични</a:t>
            </a:r>
            <a:r>
              <a:rPr lang="ru-RU" sz="2400" dirty="0"/>
              <a:t> технологии. </a:t>
            </a:r>
            <a:r>
              <a:rPr lang="ru-RU" sz="2400" dirty="0" err="1"/>
              <a:t>Графичните</a:t>
            </a:r>
            <a:r>
              <a:rPr lang="ru-RU" sz="2400" dirty="0"/>
              <a:t> </a:t>
            </a:r>
            <a:r>
              <a:rPr lang="ru-RU" sz="2400" dirty="0" err="1"/>
              <a:t>карти</a:t>
            </a:r>
            <a:r>
              <a:rPr lang="ru-RU" sz="2400" dirty="0"/>
              <a:t> </a:t>
            </a:r>
            <a:r>
              <a:rPr lang="ru-RU" sz="2400" dirty="0" err="1"/>
              <a:t>могат</a:t>
            </a:r>
            <a:r>
              <a:rPr lang="ru-RU" sz="2400" dirty="0"/>
              <a:t> да се </a:t>
            </a:r>
            <a:r>
              <a:rPr lang="ru-RU" sz="2400" dirty="0" err="1"/>
              <a:t>предлагат</a:t>
            </a:r>
            <a:r>
              <a:rPr lang="ru-RU" sz="2400" dirty="0"/>
              <a:t> и </a:t>
            </a:r>
            <a:r>
              <a:rPr lang="ru-RU" sz="2400" dirty="0" err="1"/>
              <a:t>със</a:t>
            </a:r>
            <a:r>
              <a:rPr lang="ru-RU" sz="2400" dirty="0"/>
              <a:t> </a:t>
            </a:r>
            <a:r>
              <a:rPr lang="ru-RU" sz="2400" dirty="0" err="1"/>
              <a:t>специализирани</a:t>
            </a:r>
            <a:r>
              <a:rPr lang="ru-RU" sz="2400" dirty="0"/>
              <a:t> функции </a:t>
            </a:r>
            <a:r>
              <a:rPr lang="ru-RU" sz="2400" dirty="0" err="1"/>
              <a:t>като</a:t>
            </a:r>
            <a:r>
              <a:rPr lang="ru-RU" sz="2400" dirty="0"/>
              <a:t> </a:t>
            </a:r>
            <a:r>
              <a:rPr lang="ru-RU" sz="2400" dirty="0" err="1"/>
              <a:t>поддръжка</a:t>
            </a:r>
            <a:r>
              <a:rPr lang="ru-RU" sz="2400" dirty="0"/>
              <a:t> за VR или </a:t>
            </a:r>
            <a:r>
              <a:rPr lang="ru-RU" sz="2400" dirty="0" err="1"/>
              <a:t>проследяване</a:t>
            </a:r>
            <a:r>
              <a:rPr lang="ru-RU" sz="2400" dirty="0"/>
              <a:t> на </a:t>
            </a:r>
            <a:r>
              <a:rPr lang="ru-RU" sz="2400" dirty="0" err="1"/>
              <a:t>лъчи</a:t>
            </a:r>
            <a:r>
              <a:rPr lang="ru-RU" sz="2400" dirty="0"/>
              <a:t>, </a:t>
            </a:r>
            <a:r>
              <a:rPr lang="ru-RU" sz="2400" dirty="0" err="1"/>
              <a:t>които</a:t>
            </a:r>
            <a:r>
              <a:rPr lang="ru-RU" sz="2400" dirty="0"/>
              <a:t> </a:t>
            </a:r>
            <a:r>
              <a:rPr lang="ru-RU" sz="2400" dirty="0" err="1"/>
              <a:t>са</a:t>
            </a:r>
            <a:r>
              <a:rPr lang="ru-RU" sz="2400" dirty="0"/>
              <a:t> </a:t>
            </a:r>
            <a:r>
              <a:rPr lang="ru-RU" sz="2400" dirty="0" err="1"/>
              <a:t>полезни</a:t>
            </a:r>
            <a:r>
              <a:rPr lang="ru-RU" sz="2400" dirty="0"/>
              <a:t> за </a:t>
            </a:r>
            <a:r>
              <a:rPr lang="ru-RU" sz="2400" dirty="0" err="1"/>
              <a:t>определени</a:t>
            </a:r>
            <a:r>
              <a:rPr lang="ru-RU" sz="2400" dirty="0"/>
              <a:t> приложения.</a:t>
            </a:r>
            <a:endParaRPr lang="en-US" sz="2400" dirty="0"/>
          </a:p>
        </p:txBody>
      </p:sp>
    </p:spTree>
    <p:extLst>
      <p:ext uri="{BB962C8B-B14F-4D97-AF65-F5344CB8AC3E}">
        <p14:creationId xmlns:p14="http://schemas.microsoft.com/office/powerpoint/2010/main" val="2168518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8DC42FBA-C3F4-3D2E-0578-8226C8FF7233}"/>
              </a:ext>
            </a:extLst>
          </p:cNvPr>
          <p:cNvSpPr>
            <a:spLocks noGrp="1"/>
          </p:cNvSpPr>
          <p:nvPr>
            <p:ph type="title"/>
          </p:nvPr>
        </p:nvSpPr>
        <p:spPr>
          <a:xfrm>
            <a:off x="808638" y="386930"/>
            <a:ext cx="9236700" cy="1188950"/>
          </a:xfrm>
        </p:spPr>
        <p:txBody>
          <a:bodyPr anchor="b">
            <a:normAutofit/>
          </a:bodyPr>
          <a:lstStyle/>
          <a:p>
            <a:pPr algn="ctr"/>
            <a:r>
              <a:rPr lang="en-US" sz="3400" b="1" dirty="0"/>
              <a:t>2D </a:t>
            </a:r>
            <a:r>
              <a:rPr lang="bg-BG" sz="3400" b="1" dirty="0"/>
              <a:t>и </a:t>
            </a:r>
            <a:r>
              <a:rPr lang="en-US" sz="3400" b="1" dirty="0"/>
              <a:t>3D </a:t>
            </a:r>
            <a:r>
              <a:rPr lang="bg-BG" sz="3400" b="1" dirty="0"/>
              <a:t>ускорение </a:t>
            </a:r>
            <a:r>
              <a:rPr lang="en-US" sz="3400" b="1" dirty="0"/>
              <a:t>(SLI, CrossFire </a:t>
            </a:r>
            <a:r>
              <a:rPr lang="bg-BG" sz="3400" b="1" dirty="0"/>
              <a:t>и </a:t>
            </a:r>
            <a:r>
              <a:rPr lang="en-US" sz="3400" b="1" dirty="0"/>
              <a:t>CrossFireX)</a:t>
            </a:r>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7E936372-80DB-208F-53B2-0F09B9E4DA9C}"/>
              </a:ext>
            </a:extLst>
          </p:cNvPr>
          <p:cNvSpPr>
            <a:spLocks noGrp="1"/>
          </p:cNvSpPr>
          <p:nvPr>
            <p:ph idx="1"/>
          </p:nvPr>
        </p:nvSpPr>
        <p:spPr>
          <a:xfrm>
            <a:off x="793660" y="2599509"/>
            <a:ext cx="10143668" cy="3435531"/>
          </a:xfrm>
        </p:spPr>
        <p:txBody>
          <a:bodyPr anchor="ctr">
            <a:normAutofit/>
          </a:bodyPr>
          <a:lstStyle/>
          <a:p>
            <a:pPr algn="just"/>
            <a:r>
              <a:rPr lang="ru-RU" sz="2400" dirty="0"/>
              <a:t>SLI (Scalable Link Interface) е технология, разработена от NVIDIA, която позволява няколко графични карти да се използват заедно за подобряване на производителността в приложения, които изискват високопроизводителна графика. При SLI конфигурация две или повече графични карти са инсталирани в един компютър и са свързани чрез специален SLI мост. След това графичните карти работят заедно, за да разделят работното натоварване и да осигурят по-добра производителност, отколкото една карта може да осигури сама по себе си.</a:t>
            </a:r>
            <a:endParaRPr lang="en-US" sz="2400" dirty="0"/>
          </a:p>
        </p:txBody>
      </p:sp>
    </p:spTree>
    <p:extLst>
      <p:ext uri="{BB962C8B-B14F-4D97-AF65-F5344CB8AC3E}">
        <p14:creationId xmlns:p14="http://schemas.microsoft.com/office/powerpoint/2010/main" val="1945643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6897E7D9-1EE7-C970-AD1D-CB66D3F23A04}"/>
              </a:ext>
            </a:extLst>
          </p:cNvPr>
          <p:cNvSpPr>
            <a:spLocks noGrp="1"/>
          </p:cNvSpPr>
          <p:nvPr>
            <p:ph type="title"/>
          </p:nvPr>
        </p:nvSpPr>
        <p:spPr/>
        <p:txBody>
          <a:bodyPr anchor="b">
            <a:normAutofit/>
          </a:bodyPr>
          <a:lstStyle/>
          <a:p>
            <a:pPr algn="ctr"/>
            <a:r>
              <a:rPr lang="ru-RU" sz="3400" b="1" dirty="0"/>
              <a:t>2D и 3D ускорение (SLI, CrossFire и </a:t>
            </a:r>
            <a:r>
              <a:rPr lang="ru-RU" sz="3400" b="1" dirty="0" err="1"/>
              <a:t>CrossFireX</a:t>
            </a:r>
            <a:r>
              <a:rPr lang="ru-RU" sz="3400" b="1" dirty="0"/>
              <a:t>)</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0935" y="2888598"/>
            <a:ext cx="4716205" cy="264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 xmlns:a16="http://schemas.microsoft.com/office/drawing/2014/main" id="{404853D6-A5E1-FC74-AB88-C45A0E283A03}"/>
              </a:ext>
            </a:extLst>
          </p:cNvPr>
          <p:cNvSpPr>
            <a:spLocks noGrp="1"/>
          </p:cNvSpPr>
          <p:nvPr>
            <p:ph sz="half" idx="1"/>
          </p:nvPr>
        </p:nvSpPr>
        <p:spPr>
          <a:xfrm>
            <a:off x="510081" y="2249812"/>
            <a:ext cx="5181600" cy="4608188"/>
          </a:xfrm>
        </p:spPr>
        <p:txBody>
          <a:bodyPr anchor="ctr">
            <a:normAutofit lnSpcReduction="10000"/>
          </a:bodyPr>
          <a:lstStyle/>
          <a:p>
            <a:pPr algn="just"/>
            <a:r>
              <a:rPr lang="ru-RU" sz="2400" dirty="0"/>
              <a:t>SLI се използва най-често в игри и други взискателни приложения, където една графична карта може да не е в състояние да осигури необходимата производителност. Използвайки множество графични карти в SLI конфигурация, потребителите могат да постигнат значително по-добро качество на графиката и по-високи честоти на кадрите. Въпреки това, не всички графични карти са съвместими със SLI и не всички приложения го поддържат.</a:t>
            </a:r>
            <a:endParaRPr lang="en-US" sz="2400" dirty="0"/>
          </a:p>
          <a:p>
            <a:endParaRPr lang="en-US" sz="2400" dirty="0"/>
          </a:p>
        </p:txBody>
      </p:sp>
    </p:spTree>
    <p:extLst>
      <p:ext uri="{BB962C8B-B14F-4D97-AF65-F5344CB8AC3E}">
        <p14:creationId xmlns:p14="http://schemas.microsoft.com/office/powerpoint/2010/main" val="1509396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0E5507EE-E363-D308-9EAD-F478772404F1}"/>
              </a:ext>
            </a:extLst>
          </p:cNvPr>
          <p:cNvSpPr>
            <a:spLocks noGrp="1"/>
          </p:cNvSpPr>
          <p:nvPr>
            <p:ph type="title"/>
          </p:nvPr>
        </p:nvSpPr>
        <p:spPr>
          <a:xfrm>
            <a:off x="808638" y="386930"/>
            <a:ext cx="9236700" cy="1188950"/>
          </a:xfrm>
        </p:spPr>
        <p:txBody>
          <a:bodyPr anchor="b">
            <a:normAutofit/>
          </a:bodyPr>
          <a:lstStyle/>
          <a:p>
            <a:pPr algn="ctr"/>
            <a:r>
              <a:rPr lang="ru-RU" sz="3400" b="1" dirty="0"/>
              <a:t>2D и 3D ускорение (SLI, CrossFire и </a:t>
            </a:r>
            <a:r>
              <a:rPr lang="ru-RU" sz="3400" b="1" dirty="0" err="1"/>
              <a:t>CrossFireX</a:t>
            </a:r>
            <a:r>
              <a:rPr lang="ru-RU" sz="3400" b="1" dirty="0"/>
              <a:t>)</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42AE9B7E-0F26-FBD6-158A-6FF04465AEB2}"/>
              </a:ext>
            </a:extLst>
          </p:cNvPr>
          <p:cNvSpPr>
            <a:spLocks noGrp="1"/>
          </p:cNvSpPr>
          <p:nvPr>
            <p:ph idx="1"/>
          </p:nvPr>
        </p:nvSpPr>
        <p:spPr>
          <a:xfrm>
            <a:off x="793660" y="2599509"/>
            <a:ext cx="10143668" cy="3435531"/>
          </a:xfrm>
        </p:spPr>
        <p:txBody>
          <a:bodyPr anchor="ctr">
            <a:normAutofit/>
          </a:bodyPr>
          <a:lstStyle/>
          <a:p>
            <a:pPr algn="just"/>
            <a:r>
              <a:rPr lang="ru-RU" sz="2400" dirty="0"/>
              <a:t>AMD CrossFire е технология, която позволява няколко графични карти да се използват заедно за подобряване на производителността в приложения, които изискват високопроизводителна графика. В конфигурация CrossFire две или повече графични карти са инсталирани в един компютър и са свързани с помощта на специален CrossFire мост. След това графичните карти работят заедно, за да разделят работното натоварване и да осигурят по-добра производителност, отколкото една карта може да осигури сама по себе си.</a:t>
            </a:r>
            <a:endParaRPr lang="en-US" sz="2400" dirty="0"/>
          </a:p>
        </p:txBody>
      </p:sp>
    </p:spTree>
    <p:extLst>
      <p:ext uri="{BB962C8B-B14F-4D97-AF65-F5344CB8AC3E}">
        <p14:creationId xmlns:p14="http://schemas.microsoft.com/office/powerpoint/2010/main" val="726717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B9662A31-0116-F4CA-5923-097F136730DB}"/>
              </a:ext>
            </a:extLst>
          </p:cNvPr>
          <p:cNvSpPr>
            <a:spLocks noGrp="1"/>
          </p:cNvSpPr>
          <p:nvPr>
            <p:ph type="title"/>
          </p:nvPr>
        </p:nvSpPr>
        <p:spPr>
          <a:xfrm>
            <a:off x="808638" y="386930"/>
            <a:ext cx="9236700" cy="1188950"/>
          </a:xfrm>
        </p:spPr>
        <p:txBody>
          <a:bodyPr anchor="b">
            <a:normAutofit/>
          </a:bodyPr>
          <a:lstStyle/>
          <a:p>
            <a:pPr algn="ctr"/>
            <a:r>
              <a:rPr lang="ru-RU" sz="3400" b="1" dirty="0"/>
              <a:t>2D и 3D ускорение (SLI, CrossFire и </a:t>
            </a:r>
            <a:r>
              <a:rPr lang="ru-RU" sz="3400" b="1" dirty="0" err="1"/>
              <a:t>CrossFireX</a:t>
            </a:r>
            <a:r>
              <a:rPr lang="ru-RU" sz="3400" b="1" dirty="0"/>
              <a:t>)</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6780C223-00B3-1305-A058-CBC8B14B73F0}"/>
              </a:ext>
            </a:extLst>
          </p:cNvPr>
          <p:cNvSpPr>
            <a:spLocks noGrp="1"/>
          </p:cNvSpPr>
          <p:nvPr>
            <p:ph idx="1"/>
          </p:nvPr>
        </p:nvSpPr>
        <p:spPr>
          <a:xfrm>
            <a:off x="793660" y="2599509"/>
            <a:ext cx="10143668" cy="3435531"/>
          </a:xfrm>
        </p:spPr>
        <p:txBody>
          <a:bodyPr anchor="ctr">
            <a:normAutofit/>
          </a:bodyPr>
          <a:lstStyle/>
          <a:p>
            <a:pPr algn="just"/>
            <a:r>
              <a:rPr lang="ru-RU" sz="2400" dirty="0"/>
              <a:t>CrossFire е подобна на SLI технологията на NVIDIA, но е разработена от AMD и е съвместима само с графични карти на AMD. Подобно на SLI, CrossFire се използва най-често в игри и други взискателни приложения, където една графична карта може да не е в състояние да осигури необходимата производителност. Използвайки множество графични карти в конфигурация CrossFire, потребителите могат да постигнат значително по-добро качество на графиката и по-високи честоти на кадрите. Въпреки това, не всички графични карти са съвместими с CrossFire и не всички приложения го поддържат.</a:t>
            </a:r>
            <a:endParaRPr lang="en-US" sz="2400" dirty="0"/>
          </a:p>
        </p:txBody>
      </p:sp>
    </p:spTree>
    <p:extLst>
      <p:ext uri="{BB962C8B-B14F-4D97-AF65-F5344CB8AC3E}">
        <p14:creationId xmlns:p14="http://schemas.microsoft.com/office/powerpoint/2010/main" val="2047652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B9662A31-0116-F4CA-5923-097F136730DB}"/>
              </a:ext>
            </a:extLst>
          </p:cNvPr>
          <p:cNvSpPr>
            <a:spLocks noGrp="1"/>
          </p:cNvSpPr>
          <p:nvPr>
            <p:ph type="title"/>
          </p:nvPr>
        </p:nvSpPr>
        <p:spPr>
          <a:xfrm>
            <a:off x="808638" y="386930"/>
            <a:ext cx="9236700" cy="1188950"/>
          </a:xfrm>
        </p:spPr>
        <p:txBody>
          <a:bodyPr anchor="b">
            <a:normAutofit/>
          </a:bodyPr>
          <a:lstStyle/>
          <a:p>
            <a:pPr algn="ctr"/>
            <a:r>
              <a:rPr lang="bg-BG" sz="3400" b="1" dirty="0"/>
              <a:t>Въпроси</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6780C223-00B3-1305-A058-CBC8B14B73F0}"/>
              </a:ext>
            </a:extLst>
          </p:cNvPr>
          <p:cNvSpPr>
            <a:spLocks noGrp="1"/>
          </p:cNvSpPr>
          <p:nvPr>
            <p:ph idx="1"/>
          </p:nvPr>
        </p:nvSpPr>
        <p:spPr>
          <a:xfrm>
            <a:off x="793660" y="2599509"/>
            <a:ext cx="10143668" cy="3435531"/>
          </a:xfrm>
        </p:spPr>
        <p:txBody>
          <a:bodyPr anchor="ctr">
            <a:normAutofit/>
          </a:bodyPr>
          <a:lstStyle/>
          <a:p>
            <a:pPr algn="just"/>
            <a:r>
              <a:rPr lang="ru-RU" sz="2400" dirty="0"/>
              <a:t>Какво е видео система?</a:t>
            </a:r>
          </a:p>
          <a:p>
            <a:pPr algn="just"/>
            <a:r>
              <a:rPr lang="ru-RU" sz="2400" dirty="0"/>
              <a:t>Какво е SLI?</a:t>
            </a:r>
          </a:p>
          <a:p>
            <a:pPr algn="just"/>
            <a:r>
              <a:rPr lang="ru-RU" sz="2400" dirty="0"/>
              <a:t>Какво е CrossFire?</a:t>
            </a:r>
          </a:p>
          <a:p>
            <a:pPr algn="just"/>
            <a:r>
              <a:rPr lang="ru-RU" sz="2400" dirty="0"/>
              <a:t>Разлики между SLI и CrossFire?</a:t>
            </a:r>
          </a:p>
          <a:p>
            <a:pPr algn="just"/>
            <a:r>
              <a:rPr lang="ru-RU" sz="2400" dirty="0"/>
              <a:t>Характеристики на видео система.</a:t>
            </a:r>
          </a:p>
          <a:p>
            <a:endParaRPr lang="en-US" sz="2400" dirty="0"/>
          </a:p>
        </p:txBody>
      </p:sp>
    </p:spTree>
    <p:extLst>
      <p:ext uri="{BB962C8B-B14F-4D97-AF65-F5344CB8AC3E}">
        <p14:creationId xmlns:p14="http://schemas.microsoft.com/office/powerpoint/2010/main" val="650284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B9662A31-0116-F4CA-5923-097F136730DB}"/>
              </a:ext>
            </a:extLst>
          </p:cNvPr>
          <p:cNvSpPr>
            <a:spLocks noGrp="1"/>
          </p:cNvSpPr>
          <p:nvPr>
            <p:ph type="title"/>
          </p:nvPr>
        </p:nvSpPr>
        <p:spPr>
          <a:xfrm>
            <a:off x="808638" y="386930"/>
            <a:ext cx="9236700" cy="1188950"/>
          </a:xfrm>
        </p:spPr>
        <p:txBody>
          <a:bodyPr anchor="b">
            <a:normAutofit/>
          </a:bodyPr>
          <a:lstStyle/>
          <a:p>
            <a:pPr algn="ctr"/>
            <a:r>
              <a:rPr lang="bg-BG" sz="3400" b="1" dirty="0"/>
              <a:t>Източници</a:t>
            </a:r>
            <a:endParaRPr lang="en-US" sz="3400" b="1" dirty="0"/>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6780C223-00B3-1305-A058-CBC8B14B73F0}"/>
              </a:ext>
            </a:extLst>
          </p:cNvPr>
          <p:cNvSpPr>
            <a:spLocks noGrp="1"/>
          </p:cNvSpPr>
          <p:nvPr>
            <p:ph idx="1"/>
          </p:nvPr>
        </p:nvSpPr>
        <p:spPr>
          <a:xfrm>
            <a:off x="1024165" y="2389694"/>
            <a:ext cx="10143668" cy="4093470"/>
          </a:xfrm>
        </p:spPr>
        <p:txBody>
          <a:bodyPr anchor="ctr">
            <a:normAutofit/>
          </a:bodyPr>
          <a:lstStyle/>
          <a:p>
            <a:pPr algn="just"/>
            <a:r>
              <a:rPr lang="ru-RU" sz="2400" dirty="0">
                <a:hlinkClick r:id="rId2"/>
              </a:rPr>
              <a:t>https://bg.wikipedia.org/wiki/%</a:t>
            </a:r>
            <a:r>
              <a:rPr lang="ru-RU" sz="2400" dirty="0" smtClean="0">
                <a:hlinkClick r:id="rId2"/>
              </a:rPr>
              <a:t>D0%92%D0%B8%D0%B4%D0%B5%D0%BE%D0%BA%D0%B0%D1%80%D1%82%D0%B0</a:t>
            </a:r>
            <a:endParaRPr lang="ru-RU" sz="2400" dirty="0"/>
          </a:p>
          <a:p>
            <a:pPr algn="just"/>
            <a:r>
              <a:rPr lang="ru-RU" sz="2400" dirty="0">
                <a:hlinkClick r:id="rId3"/>
              </a:rPr>
              <a:t>http://</a:t>
            </a:r>
            <a:r>
              <a:rPr lang="ru-RU" sz="2400" dirty="0" smtClean="0">
                <a:hlinkClick r:id="rId3"/>
              </a:rPr>
              <a:t>tuj.asenevtsi.com/CA/CA117.htm</a:t>
            </a:r>
            <a:endParaRPr lang="ru-RU" sz="2400" dirty="0" smtClean="0"/>
          </a:p>
          <a:p>
            <a:pPr algn="just"/>
            <a:endParaRPr lang="ru-RU" sz="2400" dirty="0"/>
          </a:p>
          <a:p>
            <a:endParaRPr lang="ru-RU" sz="2400" dirty="0"/>
          </a:p>
          <a:p>
            <a:endParaRPr lang="ru-RU" sz="2400" dirty="0"/>
          </a:p>
          <a:p>
            <a:endParaRPr lang="ru-RU" sz="2400" dirty="0"/>
          </a:p>
          <a:p>
            <a:pPr algn="r"/>
            <a:r>
              <a:rPr lang="ru-RU" sz="1300" dirty="0"/>
              <a:t>Изготвил: Димитър Янев 12Д </a:t>
            </a:r>
          </a:p>
          <a:p>
            <a:endParaRPr lang="en-US" sz="2400" dirty="0"/>
          </a:p>
        </p:txBody>
      </p:sp>
    </p:spTree>
    <p:extLst>
      <p:ext uri="{BB962C8B-B14F-4D97-AF65-F5344CB8AC3E}">
        <p14:creationId xmlns:p14="http://schemas.microsoft.com/office/powerpoint/2010/main" val="1593700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1250</Words>
  <Application>Microsoft Office PowerPoint</Application>
  <PresentationFormat>Custom</PresentationFormat>
  <Paragraphs>64</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Видео система – блокова схема, характеристики и същност. Видео адаптери – класификация и интерфейси. 2D и 3D ускорение(SLI, Crossfire и Crossfire X)</vt:lpstr>
      <vt:lpstr>Съдържание</vt:lpstr>
      <vt:lpstr>Видео система – блокова схема</vt:lpstr>
      <vt:lpstr>Видео система – блокова схема</vt:lpstr>
      <vt:lpstr>Какво е видео система?</vt:lpstr>
      <vt:lpstr>Видео система - характеристики</vt:lpstr>
      <vt:lpstr>Видео система - характеристики</vt:lpstr>
      <vt:lpstr>Видео система - характеристики</vt:lpstr>
      <vt:lpstr>Видео система - характеристики</vt:lpstr>
      <vt:lpstr>Видео адаптери (известни също като видеокарти)</vt:lpstr>
      <vt:lpstr>Видео адаптери (известни също като видеокарти)</vt:lpstr>
      <vt:lpstr>Видео адаптери (известни също като видеокарти)</vt:lpstr>
      <vt:lpstr>2D и 3D ускорение (SLI, CrossFire и CrossFireX)</vt:lpstr>
      <vt:lpstr>2D и 3D ускорение (SLI, CrossFire и CrossFireX)</vt:lpstr>
      <vt:lpstr>2D и 3D ускорение (SLI, CrossFire и CrossFireX)</vt:lpstr>
      <vt:lpstr>2D и 3D ускорение (SLI, CrossFire и CrossFireX)</vt:lpstr>
      <vt:lpstr>Въпроси</vt:lpstr>
      <vt:lpstr>Източници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Видео система – блокова схема, характеристики и същност. Видео адаптери – класификация и интерфейси. 2D и 3D ускорение(SLI, Crossfire и Crossfire X)</dc:title>
  <dc:creator>Димитър Я. Янев</dc:creator>
  <cp:lastModifiedBy>PC-0</cp:lastModifiedBy>
  <cp:revision>6</cp:revision>
  <dcterms:created xsi:type="dcterms:W3CDTF">2022-12-14T18:12:17Z</dcterms:created>
  <dcterms:modified xsi:type="dcterms:W3CDTF">2022-12-20T06:30:07Z</dcterms:modified>
</cp:coreProperties>
</file>