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0" r:id="rId6"/>
    <p:sldId id="278" r:id="rId7"/>
    <p:sldId id="279" r:id="rId8"/>
    <p:sldId id="280" r:id="rId9"/>
    <p:sldId id="261" r:id="rId10"/>
    <p:sldId id="263" r:id="rId11"/>
    <p:sldId id="262" r:id="rId12"/>
    <p:sldId id="266" r:id="rId13"/>
    <p:sldId id="267" r:id="rId14"/>
    <p:sldId id="268" r:id="rId15"/>
    <p:sldId id="281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82" r:id="rId25"/>
    <p:sldId id="283" r:id="rId26"/>
    <p:sldId id="284" r:id="rId27"/>
    <p:sldId id="259" r:id="rId28"/>
    <p:sldId id="25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-77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9D6D0DA4-A4BF-7392-347B-B5347697E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C2D9E29-E762-FECE-B7A8-9C01F27C14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xmlns="" id="{51AB6E6B-8DB8-8112-098B-7372477B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xmlns="" id="{454EE260-F050-E211-4F9F-64485A496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xmlns="" id="{D305C1A0-224C-D240-FB40-177D4750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6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D199E06-8B34-CB48-BB7F-70B637A6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FBCF1B35-8B23-AD7F-1D2A-DEB901D4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xmlns="" id="{8287FC2D-019E-99F6-4104-D547A184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xmlns="" id="{406A57FF-5CDA-277A-4291-F09DBEB30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xmlns="" id="{6AC4DED3-6E54-CAC6-EDC5-3EED6CD7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71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9FC7AD7A-657B-D52B-29D1-3D295FA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C6B78E25-97EC-C7C0-492E-F7B96DD0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xmlns="" id="{3D42208C-9446-741E-8463-5369E6F42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xmlns="" id="{30639A69-3A00-A956-0896-E6FE0835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xmlns="" id="{FD408153-C6A4-CE6E-04E4-B4FE917F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4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D5DD568-9DDB-AA97-E87E-F417304A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3F6DBC13-3B60-A305-FFFD-AFA4BD2ABD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0CD947F4-8B7C-C236-4340-68D12E8E6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xmlns="" id="{BC05648C-B734-B57D-2C31-B017BD8C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xmlns="" id="{6E0DA6BE-054A-DEAA-AF17-373A8C83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xmlns="" id="{689DF1A5-A0A8-F85F-E50B-8CEDCF87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48044F3-3292-8B27-2E5B-F48850B9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A8C7B4C1-2E39-B4A3-9A1F-489C31764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xmlns="" id="{1380F7AC-5F49-0507-0D1C-2BF24AAAF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xmlns="" id="{F3A8925F-B153-061A-2191-5DE17FEDE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xmlns="" id="{269EBAB6-A8D9-5535-35AC-C89553CBA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Контейнер за дата 6">
            <a:extLst>
              <a:ext uri="{FF2B5EF4-FFF2-40B4-BE49-F238E27FC236}">
                <a16:creationId xmlns:a16="http://schemas.microsoft.com/office/drawing/2014/main" xmlns="" id="{E2D56D0F-9A4C-074A-F760-883CA4DE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8" name="Контейнер за долния колонтитул 7">
            <a:extLst>
              <a:ext uri="{FF2B5EF4-FFF2-40B4-BE49-F238E27FC236}">
                <a16:creationId xmlns:a16="http://schemas.microsoft.com/office/drawing/2014/main" xmlns="" id="{7EBE8211-A39E-0204-6219-8A54AB527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>
            <a:extLst>
              <a:ext uri="{FF2B5EF4-FFF2-40B4-BE49-F238E27FC236}">
                <a16:creationId xmlns:a16="http://schemas.microsoft.com/office/drawing/2014/main" xmlns="" id="{F48287E0-DE6D-2869-5BAD-ED86985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1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67F4B5A-825B-1BA7-3B83-C07A8320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xmlns="" id="{98AB4D5C-747E-9CBD-FB7F-8554CE17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xmlns="" id="{F3F84BDD-9DEB-5E2A-1901-45504E9F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xmlns="" id="{284EDD73-D495-66A5-A67D-7338D6D2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4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xmlns="" id="{E88A00CC-BF0E-5C24-62F6-4F6CFEFEC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3" name="Контейнер за долния колонтитул 2">
            <a:extLst>
              <a:ext uri="{FF2B5EF4-FFF2-40B4-BE49-F238E27FC236}">
                <a16:creationId xmlns:a16="http://schemas.microsoft.com/office/drawing/2014/main" xmlns="" id="{D56D956E-28CD-75F9-0C51-98B17CCF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>
            <a:extLst>
              <a:ext uri="{FF2B5EF4-FFF2-40B4-BE49-F238E27FC236}">
                <a16:creationId xmlns:a16="http://schemas.microsoft.com/office/drawing/2014/main" xmlns="" id="{B42D1D86-0046-4EA0-C979-BA84AE1C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3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18FEF8C1-AAA6-13CF-DAB9-7FB1CF2A2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xmlns="" id="{523857BE-B3E6-C0F1-7EAE-D29FA036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xmlns="" id="{042E717E-63CF-24F7-3534-9B50EA470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xmlns="" id="{C46B845E-B809-B54E-254B-CB24FB5C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xmlns="" id="{F61A3CF2-D62E-08ED-39CB-60F29FD1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xmlns="" id="{2E1B84A5-EFC4-D508-B5CD-20AD16E6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84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20313AFF-78FF-F5B4-980F-BF737C0BC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xmlns="" id="{D6997F4A-62EE-D048-2BF7-7BF7B9A7C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xmlns="" id="{AE6C758E-3CA6-536C-77E5-1C3EEBD3D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xmlns="" id="{FD442694-239C-2687-434A-23DEDAC1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xmlns="" id="{D4F05525-F596-CCB8-9F4C-A1D041A6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xmlns="" id="{F5C2029B-60F3-D92C-EA65-4155DF1C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3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C8E2FE64-9DEB-4B2A-BD79-CAEA190A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xmlns="" id="{182196E3-6328-4731-C1D4-706A7CE0B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xmlns="" id="{B5531EB8-D79C-0FF8-EBF4-0A892A72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xmlns="" id="{8D552CE8-99BF-5E7D-6A39-18F0D9A6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xmlns="" id="{4FAB0F34-B8CB-043A-C319-E27E7ED0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1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>
            <a:extLst>
              <a:ext uri="{FF2B5EF4-FFF2-40B4-BE49-F238E27FC236}">
                <a16:creationId xmlns:a16="http://schemas.microsoft.com/office/drawing/2014/main" xmlns="" id="{22E2C2B4-D0D1-99EB-4A75-A942B334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xmlns="" id="{13EED860-62F9-9995-1686-0EB7CB77D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xmlns="" id="{718A2144-0ECA-7098-5C24-572119F38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xmlns="" id="{26762062-7F2B-7EA8-5251-C50A67D0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xmlns="" id="{C42FEC82-D48F-34A7-F34F-83623841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5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xmlns="" id="{B5C5F5C1-7211-C4A4-FE8C-6D02C28C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xmlns="" id="{1E0F862C-17C1-37DA-0B09-53CC82232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xmlns="" id="{F32FAE23-9DC1-6BE5-5B42-A8875EA0B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99B8B-0151-42D2-A03A-58F4EB446235}" type="datetimeFigureOut">
              <a:rPr lang="en-US" smtClean="0"/>
              <a:t>12/20/2022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xmlns="" id="{DFAA7619-CFCA-A310-DB8B-3E6933AD2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xmlns="" id="{1885A898-8040-A00E-48D6-90A814F7D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1537A-1F30-4FEB-9452-E70656658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1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27.xml"/><Relationship Id="rId3" Type="http://schemas.openxmlformats.org/officeDocument/2006/relationships/slide" Target="slide5.xml"/><Relationship Id="rId7" Type="http://schemas.openxmlformats.org/officeDocument/2006/relationships/slide" Target="slide14.xml"/><Relationship Id="rId12" Type="http://schemas.openxmlformats.org/officeDocument/2006/relationships/slide" Target="slide2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11" Type="http://schemas.openxmlformats.org/officeDocument/2006/relationships/slide" Target="slide23.xml"/><Relationship Id="rId5" Type="http://schemas.openxmlformats.org/officeDocument/2006/relationships/slide" Target="slide9.xml"/><Relationship Id="rId10" Type="http://schemas.openxmlformats.org/officeDocument/2006/relationships/slide" Target="slide22.xml"/><Relationship Id="rId4" Type="http://schemas.openxmlformats.org/officeDocument/2006/relationships/slide" Target="slide6.xml"/><Relationship Id="rId9" Type="http://schemas.openxmlformats.org/officeDocument/2006/relationships/slide" Target="slide20.xml"/><Relationship Id="rId14" Type="http://schemas.openxmlformats.org/officeDocument/2006/relationships/slide" Target="slide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tronicscoach.com/difference-between-led-and-oled.html" TargetMode="External"/><Relationship Id="rId7" Type="http://schemas.openxmlformats.org/officeDocument/2006/relationships/hyperlink" Target="https://www.ledsupply.com/blog/what-you-need-to-know-about-leds/" TargetMode="External"/><Relationship Id="rId2" Type="http://schemas.openxmlformats.org/officeDocument/2006/relationships/hyperlink" Target="https://www.expromo.eu/en/led-display-fact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ercialledlights.com/blog/lighting-articles/led-technology/" TargetMode="External"/><Relationship Id="rId5" Type="http://schemas.openxmlformats.org/officeDocument/2006/relationships/hyperlink" Target="https://www.livemint.com/Money/TMOgwfDICGLrczdyfkmNXN/Are-lights-increasing-your-electricity-bill.html" TargetMode="External"/><Relationship Id="rId4" Type="http://schemas.openxmlformats.org/officeDocument/2006/relationships/hyperlink" Target="https://www.digitaltrends.com/home-theater/qled-vs-oled-t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xmlns="" id="{5A59F003-E00A-43F9-91DC-CC54E3B874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xmlns="" id="{371C1F90-88B2-0283-F887-67764A7BE8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45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4A4382-E3AD-430A-9A1F-DFA3E0E77A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9999E9AC-5757-1876-9950-61D6EFE92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bg-BG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Съвременни технологии.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LED, OLED, QLED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79F40191-0F44-4FD1-82CC-ACB507C14BE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EED24C93-F442-4553-C9A3-61BAC8753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Теодор Стефанов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0935743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883E0ECC-91B7-7175-5CCC-E76F3E273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879"/>
            <a:ext cx="9144000" cy="668289"/>
          </a:xfrm>
        </p:spPr>
        <p:txBody>
          <a:bodyPr>
            <a:normAutofit/>
          </a:bodyPr>
          <a:lstStyle/>
          <a:p>
            <a:r>
              <a:rPr lang="bg-BG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Съдържание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5143D154-F59A-570E-0E6D-4EEFB136D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41009"/>
            <a:ext cx="9144000" cy="5634112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История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hlinkClick r:id="rId3" action="ppaction://hlinksldjump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Същност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sldjump"/>
              </a:rPr>
              <a:t>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sldjump"/>
              </a:rPr>
              <a:t>Светодиоди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Монитори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,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дисплеи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Какво 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sldjump"/>
              </a:rPr>
              <a:t>RGB?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Какво 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Surface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Maunt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sldjump"/>
              </a:rPr>
              <a:t> Device?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Колко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мощност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използва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LED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 дисплей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/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sldjump"/>
              </a:rPr>
              <a:t>крушка?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9" action="ppaction://hlinksldjump"/>
              </a:rPr>
              <a:t>Резолюция на дисплея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Принцип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LED </a:t>
            </a:r>
            <a:r>
              <a:rPr lang="bg-BG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 action="ppaction://hlinksldjump"/>
              </a:rPr>
              <a:t>диод</a:t>
            </a:r>
            <a:endParaRPr lang="bg-BG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1" action="ppaction://hlinksldjump"/>
              </a:rPr>
              <a:t>OLED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2" action="ppaction://hlinksldjump"/>
              </a:rPr>
              <a:t>QLED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13" action="ppaction://hlinksldjump"/>
              </a:rPr>
              <a:t>Въпроси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  <a:hlinkClick r:id="rId14" action="ppaction://hlinksldjump"/>
              </a:rPr>
              <a:t>Източници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655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ECC07320-C2CA-4E29-8481-9D9E143C77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3AB7624-861A-422E-67F4-E1F66BE40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04233" y="305272"/>
            <a:ext cx="3973385" cy="876349"/>
          </a:xfrm>
          <a:noFill/>
        </p:spPr>
        <p:txBody>
          <a:bodyPr>
            <a:normAutofit/>
          </a:bodyPr>
          <a:lstStyle/>
          <a:p>
            <a:pPr algn="l"/>
            <a:r>
              <a:rPr lang="bg-BG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A6516FF-734B-FFE4-6210-A831861B7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88328" y="1486893"/>
            <a:ext cx="5199099" cy="5065835"/>
          </a:xfrm>
          <a:noFill/>
        </p:spPr>
        <p:txBody>
          <a:bodyPr>
            <a:normAutofit fontScale="85000" lnSpcReduction="20000"/>
          </a:bodyPr>
          <a:lstStyle/>
          <a:p>
            <a:pPr algn="l">
              <a:lnSpc>
                <a:spcPct val="170000"/>
              </a:lnSpc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Първият светодиод 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създаден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руския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изобретател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Олег Лосев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1927 г. В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продължение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много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години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било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произвеждат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само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инфрачервени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червени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жълти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намират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всичко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от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дистанционни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управления до радио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часовници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B40EE90-D50D-A561-5EF7-3442B00E5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42" r="12627"/>
          <a:stretch/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67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61B2A784-4501-42A8-86DF-DB27DE39508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25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4D0D435-2B75-CAEB-87E4-00B5A247FD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l="13708" r="1962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09BA9ECA-D214-0202-FE14-3FBB8E2C8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5499" y="1757057"/>
            <a:ext cx="6161078" cy="2041219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1994 г.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японският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учен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Шуджи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Накамура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успя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демонстрира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светодиод. След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последвани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бели и зелени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поставяйки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LED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революцията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виждаме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осветлението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дисплея.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BD53A9B-9757-4152-AC12-68721FC8A1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964811"/>
            <a:ext cx="4803820" cy="4928378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Картина, която съдържа мъж, лице, костюм, дрехи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DFC2EA9F-6B6E-342E-D33E-037D54419D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757" r="1" b="23758"/>
          <a:stretch/>
        </p:blipFill>
        <p:spPr>
          <a:xfrm>
            <a:off x="20" y="1129284"/>
            <a:ext cx="4617700" cy="4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7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28">
            <a:extLst>
              <a:ext uri="{FF2B5EF4-FFF2-40B4-BE49-F238E27FC236}">
                <a16:creationId xmlns:a16="http://schemas.microsoft.com/office/drawing/2014/main" xmlns="" id="{464EC53C-35C4-4E84-AFE2-A7D0818526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Rectangle">
            <a:extLst>
              <a:ext uri="{FF2B5EF4-FFF2-40B4-BE49-F238E27FC236}">
                <a16:creationId xmlns:a16="http://schemas.microsoft.com/office/drawing/2014/main" xmlns="" id="{9A3F5928-D955-456A-97B5-AA390B8CE9D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Картина, която съдържа козметика, замъгляване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F4042D28-EE82-0996-7A2A-7EF55EE19D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6250"/>
          <a:stretch/>
        </p:blipFill>
        <p:spPr>
          <a:xfrm>
            <a:off x="-8858" y="0"/>
            <a:ext cx="12191980" cy="685800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52B9E532-702F-F27C-DE3A-636C8B05B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2" y="1122705"/>
            <a:ext cx="9679449" cy="546507"/>
          </a:xfrm>
        </p:spPr>
        <p:txBody>
          <a:bodyPr anchor="b">
            <a:normAutofit/>
          </a:bodyPr>
          <a:lstStyle/>
          <a:p>
            <a:r>
              <a:rPr lang="bg-BG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Същност на </a:t>
            </a: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71F6FF8B-EE86-97FD-656D-7A5D8EA91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5335" y="2147688"/>
            <a:ext cx="7821330" cy="3071401"/>
          </a:xfrm>
        </p:spPr>
        <p:txBody>
          <a:bodyPr anchor="ctr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Светодиодите (Light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Emitting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Diodes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малки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полупроводници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излъчват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видима светлина,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електрически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ток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преминава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тях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електрическата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оптична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енергия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чрез носители,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инжектират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светодиода чрез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електроди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след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което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рекомбинират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произведат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xmlns="" id="{56020367-4FD5-4596-8E10-C5F095CD8D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raphic 13">
            <a:extLst>
              <a:ext uri="{FF2B5EF4-FFF2-40B4-BE49-F238E27FC236}">
                <a16:creationId xmlns:a16="http://schemas.microsoft.com/office/drawing/2014/main" xmlns="" id="{C5CB530E-515E-412C-9DF1-5F8FFBD6F38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44954" y="2875093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Graphic 12">
            <a:extLst>
              <a:ext uri="{FF2B5EF4-FFF2-40B4-BE49-F238E27FC236}">
                <a16:creationId xmlns:a16="http://schemas.microsoft.com/office/drawing/2014/main" xmlns="" id="{712D4376-A578-4FF1-94FC-245E7A6A48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903734" y="31043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Graphic 15">
            <a:extLst>
              <a:ext uri="{FF2B5EF4-FFF2-40B4-BE49-F238E27FC236}">
                <a16:creationId xmlns:a16="http://schemas.microsoft.com/office/drawing/2014/main" xmlns="" id="{AEA7509D-F04F-40CB-A0B3-EEF16499CC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29414" y="361953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89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xmlns="" id="{C7D023E4-8DE1-436E-9847-ED6A4B4B04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E4556D3F-F9E0-4DD4-A96F-6A8297B9240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xmlns="" id="{86D4FF5D-6473-4BE3-A6EC-40CE250274A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xmlns="" id="{993888FB-861F-4B4A-819C-BEB6D558A8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CF248E89-64AE-5824-AF0E-B4C8CBB0CA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00" r="21615"/>
          <a:stretch/>
        </p:blipFill>
        <p:spPr>
          <a:xfrm>
            <a:off x="7355437" y="1014574"/>
            <a:ext cx="4730214" cy="472744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65EABBED-2B80-4B13-A7A8-1D34C4A0274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73A7A746-A7C1-443C-9B24-406D2224527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D71425D-6031-4121-BA40-815DACCD0EF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67A43343-A25B-49D5-9967-D5647ADF708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F066E434-22B6-48A1-BC19-A80163E8198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5470CE2-E5F8-489C-84E9-775AE8D3E3B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12435DD6-F0FB-492A-9267-CE09EC2C5D6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5B17117C-64EA-4B8B-9DDC-D10E947C46D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CD6F39F-38A4-A79A-8887-69CA5329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5633531" cy="2226769"/>
          </a:xfrm>
        </p:spPr>
        <p:txBody>
          <a:bodyPr anchor="ctr">
            <a:normAutofit/>
          </a:bodyPr>
          <a:lstStyle/>
          <a:p>
            <a:pPr algn="l"/>
            <a:r>
              <a:rPr lang="bg-BG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FB1AE500-4AB9-1DC7-7E4C-645640DE1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21" y="3516814"/>
            <a:ext cx="7329315" cy="3080934"/>
          </a:xfrm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Светодиодите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разчитат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полупроводник за своя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източник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светлина. Това е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уникална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технология,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предлага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значителни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технологични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предимства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много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по-голям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потенциал за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непрекъснат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напредък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Най-общо казано,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полупроводници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направени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алуминиев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галиев арсенид (</a:t>
            </a:r>
            <a:r>
              <a:rPr lang="ru-RU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AlGaAs</a:t>
            </a:r>
            <a:r>
              <a:rPr lang="ru-RU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43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71B2258F-86CA-4D4D-8270-BC05FCDEBF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xmlns="" id="{283D8B7D-2A05-F0BB-7EC3-4CD5737E4E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5614" r="549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EB282A76-5EA4-28BE-7C7A-317BD4E28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5016" y="1195754"/>
            <a:ext cx="9144000" cy="412183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този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материал 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легиран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той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или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свободни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или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създаде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дупки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материала,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отидат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Когато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полупроводникът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той е известен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материал от N-тип,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тъй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отрицателно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заредени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частици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Когато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дупки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полупроводника, той е известен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P-тип материал,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тъй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допълнителни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положително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заредени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частици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271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B5A8AFA4-5C32-4100-9C6D-839A47E15F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6B5F253-7949-47C2-9DBD-1570ECDA22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85799" y="685800"/>
            <a:ext cx="5421703" cy="5486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FF3E300-55A9-0212-F278-43C362D4E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8426" y="3193366"/>
            <a:ext cx="3444948" cy="543126"/>
          </a:xfrm>
        </p:spPr>
        <p:txBody>
          <a:bodyPr anchor="b">
            <a:normAutofit/>
          </a:bodyPr>
          <a:lstStyle/>
          <a:p>
            <a:r>
              <a:rPr lang="bg-BG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Слоеве на </a:t>
            </a:r>
            <a:r>
              <a:rPr lang="en-US" sz="3000" dirty="0">
                <a:solidFill>
                  <a:srgbClr val="59595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9336C4A7-4A72-D95C-1C4B-204A7FB700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17" b="161"/>
          <a:stretch/>
        </p:blipFill>
        <p:spPr>
          <a:xfrm>
            <a:off x="6276754" y="685800"/>
            <a:ext cx="5410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61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91DC736-0EF8-4F87-9146-EBF1D2EE4D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xmlns="" id="{211425E6-AC35-27CB-3FC6-5200479F5A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89" b="28077"/>
          <a:stretch/>
        </p:blipFill>
        <p:spPr>
          <a:xfrm>
            <a:off x="3207434" y="36576"/>
            <a:ext cx="8984566" cy="658367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97CD68E-23E3-4007-8847-CD0944C4F7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4E30583C-2045-54CE-60AE-57A508DF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564" y="845381"/>
            <a:ext cx="4023360" cy="436443"/>
          </a:xfrm>
        </p:spPr>
        <p:txBody>
          <a:bodyPr anchor="b">
            <a:noAutofit/>
          </a:bodyPr>
          <a:lstStyle/>
          <a:p>
            <a:pPr algn="l"/>
            <a:r>
              <a:rPr lang="bg-BG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дисплеи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E04655C2-5794-7DC5-D24B-9D0275E39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564" y="1281824"/>
            <a:ext cx="5107361" cy="468339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 LED дисплей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множество близко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разположени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Чрез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промяна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яркостта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всеки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светодиод,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заедно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 на дисплея.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799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CC07320-C2CA-4E29-8481-9D9E143C778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34785216-77F6-9A73-EBD1-B00ECF1F8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5950" y="1842867"/>
            <a:ext cx="5196050" cy="4332849"/>
          </a:xfrm>
          <a:noFill/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Светодиодът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твърди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подвижни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части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често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формован в прозрачна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пластмаса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гарантира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издръжливост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Когато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светодиодът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свети, той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излъчва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почти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нулева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топлина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намалява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проблема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охлаждането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части.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Картина 4" descr="Картина, която съдържа лице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C1FC28A0-559D-8357-A73E-68C581C877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3" r="995" b="-2"/>
          <a:stretch/>
        </p:blipFill>
        <p:spPr>
          <a:xfrm>
            <a:off x="20" y="10"/>
            <a:ext cx="699288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3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E91DC736-0EF8-4F87-9146-EBF1D2EE4D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Картина, която съдържа растение, дърво, палм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36CD2B13-EDE7-52E1-3FDD-309F603246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886" r="-1" b="-1"/>
          <a:stretch/>
        </p:blipFill>
        <p:spPr>
          <a:xfrm>
            <a:off x="4262511" y="10"/>
            <a:ext cx="792948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97CD68E-23E3-4007-8847-CD0944C4F7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158AB374-8853-1F28-3DED-883858F9FC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42" y="2095335"/>
            <a:ext cx="6231989" cy="314563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ярко цветно изображение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адитивното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смесване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цветовете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нови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чрез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смесване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светлина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Светодиодът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излъчва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електрическа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луминесценция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748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Картина 3" descr="Картина, която съдържа сград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0ED4F2B4-E978-AC2F-23E1-6637EC6AF2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8" t="19067" r="7354" b="2"/>
          <a:stretch/>
        </p:blipFill>
        <p:spPr>
          <a:xfrm>
            <a:off x="1856934" y="1"/>
            <a:ext cx="10335065" cy="6857999"/>
          </a:xfrm>
          <a:prstGeom prst="rect">
            <a:avLst/>
          </a:prstGeom>
        </p:spPr>
      </p:pic>
      <p:sp>
        <p:nvSpPr>
          <p:cNvPr id="18" name="Freeform: Shape 13">
            <a:extLst>
              <a:ext uri="{FF2B5EF4-FFF2-40B4-BE49-F238E27FC236}">
                <a16:creationId xmlns:a16="http://schemas.microsoft.com/office/drawing/2014/main" xmlns="" id="{D928DD85-BB99-450D-A702-2683E029628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5">
            <a:extLst>
              <a:ext uri="{FF2B5EF4-FFF2-40B4-BE49-F238E27FC236}">
                <a16:creationId xmlns:a16="http://schemas.microsoft.com/office/drawing/2014/main" xmlns="" id="{240E5BD2-4019-4012-A1AA-628900E659E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D39AFC4A-E8AE-40A3-2442-CA1913D3C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1" y="0"/>
            <a:ext cx="5106572" cy="3572688"/>
          </a:xfrm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дисплеят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състои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червени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зелени и сини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монтирани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във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фиксиран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три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цвята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комбинират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пиксел. Чрез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интензитета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милиарди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Когато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гледате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екрана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определено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разстояние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масивът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цветни пиксели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вижда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9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xmlns="" id="{A8CCCB6D-5162-4AAE-A5E3-3AC55410DBC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0BCD8C04-CC7B-40EF-82EB-E9821F79BB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70" y="2458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Картина, която съдържа мида, безгръбначни, мекотело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AD5022C2-A239-224F-54B7-1543AE6B12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4281" r="14394" b="-1"/>
          <a:stretch/>
        </p:blipFill>
        <p:spPr>
          <a:xfrm>
            <a:off x="-170" y="10"/>
            <a:ext cx="8450317" cy="6857990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8336AF1-2DBE-569C-D956-60616E116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4988" y="363166"/>
            <a:ext cx="4620584" cy="441656"/>
          </a:xfrm>
        </p:spPr>
        <p:txBody>
          <a:bodyPr>
            <a:noAutofit/>
          </a:bodyPr>
          <a:lstStyle/>
          <a:p>
            <a:pPr algn="l"/>
            <a:r>
              <a:rPr lang="bg-BG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</a:t>
            </a: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RGB?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3EDA354D-C09B-3062-2EA3-CCA68E4CD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042" y="1915931"/>
            <a:ext cx="5962785" cy="24217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 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съкращение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червено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зелено 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синьо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Това 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схема,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факта, че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всички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видими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смесени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три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в почти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всички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видове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дисплеи,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включително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 дисплеи.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6EF8E9A4-A8F6-FC64-6DB3-CD60641D76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85" r="7169"/>
          <a:stretch/>
        </p:blipFill>
        <p:spPr>
          <a:xfrm>
            <a:off x="6229215" y="-2458"/>
            <a:ext cx="5962785" cy="685800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8008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1DD1A8A-57D5-4A81-AD04-532B043C56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6D920A2-72C8-1DDE-38A8-2E39F9F45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43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07891EC-4501-44ED-A8C8-B11B6DB767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B8DBFDB6-AD29-0561-22E9-E80A8E0EE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01" y="415106"/>
            <a:ext cx="10058400" cy="6084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bg-BG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Какво е </a:t>
            </a: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Mount Device?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E2F6A9CA-2C73-7505-8A71-54B54EA6E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468" y="1616935"/>
            <a:ext cx="6850967" cy="222698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Mount Device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устройство за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повърхностен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монтаж. Това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електронни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повърхностно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монтирани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печатна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платка – а не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чрез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запояване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металния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щифт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долната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страна на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платката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98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6295E7F-EA66-480B-B001-C8BE7CD619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320040" y="4892040"/>
            <a:ext cx="11548872" cy="1645920"/>
          </a:xfrm>
          <a:prstGeom prst="rect">
            <a:avLst/>
          </a:prstGeom>
          <a:solidFill>
            <a:srgbClr val="262626"/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429E097-AE4B-7EF1-97D2-828C90357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686" y="5273372"/>
            <a:ext cx="7484787" cy="1264588"/>
          </a:xfrm>
        </p:spPr>
        <p:txBody>
          <a:bodyPr anchor="ctr">
            <a:normAutofit/>
          </a:bodyPr>
          <a:lstStyle/>
          <a:p>
            <a:pPr algn="r"/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Surface Mount Device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CD469C11-B697-0EBC-B141-EE0DB1340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2119" y="5091763"/>
            <a:ext cx="2871195" cy="1264587"/>
          </a:xfrm>
        </p:spPr>
        <p:txBody>
          <a:bodyPr anchor="ctr">
            <a:normAutofit/>
          </a:bodyPr>
          <a:lstStyle/>
          <a:p>
            <a:pPr algn="l"/>
            <a:r>
              <a:rPr lang="bg-BG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на действие</a:t>
            </a:r>
            <a:endParaRPr lang="en-US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EB535B6A-5CA2-45BF-9204-7E015A54C8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05" r="-1" b="-1"/>
          <a:stretch/>
        </p:blipFill>
        <p:spPr>
          <a:xfrm>
            <a:off x="320040" y="320040"/>
            <a:ext cx="11548872" cy="446227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E126E481-B945-4179-BD79-05E96E9B29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65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1B2258F-86CA-4D4D-8270-BC05FCDEBF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abstract genetic concept">
            <a:extLst>
              <a:ext uri="{FF2B5EF4-FFF2-40B4-BE49-F238E27FC236}">
                <a16:creationId xmlns:a16="http://schemas.microsoft.com/office/drawing/2014/main" xmlns="" id="{EB3030CE-E8D5-CE0E-8E4F-F90F9A36D6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24459" b="19291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9A814D69-3C6E-7620-8DA2-CD952542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8572" y="731519"/>
            <a:ext cx="8074856" cy="2992902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  <a:spcBef>
                <a:spcPts val="1200"/>
              </a:spcBef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LED дисплея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SMD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концепцията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малко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по-различно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SMD дисплей е LED дисплей, при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диоди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поставени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малка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пластмасова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капсула,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която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повърхностно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монтирана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печатните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платки на дисплея. Когато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диодите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капсуловани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този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начин, те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заемат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много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малко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място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което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възможно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производството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дисплеи с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разстояние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между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диодите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по-висока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резолюция.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657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!!BGRectangle">
            <a:extLst>
              <a:ext uri="{FF2B5EF4-FFF2-40B4-BE49-F238E27FC236}">
                <a16:creationId xmlns:a16="http://schemas.microsoft.com/office/drawing/2014/main" xmlns="" id="{F1611BA9-268A-49A6-84F8-FC91536686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20EB187-900F-4AF5-813B-101456D9FD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Картина 5" descr="Картина, която съдържа текст, електроник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8F061B98-6438-FC22-9BE1-5101F9992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624DA7BB-E3BC-448C-CDAE-0E9881543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432" y="348173"/>
            <a:ext cx="6897171" cy="1522830"/>
          </a:xfrm>
        </p:spPr>
        <p:txBody>
          <a:bodyPr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sz="3000" dirty="0">
                <a:solidFill>
                  <a:srgbClr val="FFFFFF"/>
                </a:solidFill>
              </a:rPr>
              <a:t/>
            </a:r>
            <a:br>
              <a:rPr lang="ru-RU" sz="3000" dirty="0">
                <a:solidFill>
                  <a:srgbClr val="FFFFFF"/>
                </a:solidFill>
              </a:rPr>
            </a:br>
            <a:r>
              <a:rPr lang="bg-BG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Колко мощност използва </a:t>
            </a: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bg-BG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дисплей</a:t>
            </a:r>
            <a:r>
              <a:rPr lang="en-US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bg-BG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крушка</a:t>
            </a:r>
            <a:r>
              <a:rPr lang="ru-RU" sz="3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BCB4558E-8206-975F-93ED-B4D259EE7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4376" y="2180491"/>
            <a:ext cx="7051916" cy="2970919"/>
          </a:xfrm>
        </p:spPr>
        <p:txBody>
          <a:bodyPr anchor="ctr">
            <a:noAutofit/>
          </a:bodyPr>
          <a:lstStyle/>
          <a:p>
            <a:pPr algn="r">
              <a:lnSpc>
                <a:spcPct val="15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високоенергийно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ефективна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технология,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оттук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широкото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енергоспестяващи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крушки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днес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диодите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LED дисплея,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зависи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вида на дисплея,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яркостта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употребата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!!Line">
            <a:extLst>
              <a:ext uri="{FF2B5EF4-FFF2-40B4-BE49-F238E27FC236}">
                <a16:creationId xmlns:a16="http://schemas.microsoft.com/office/drawing/2014/main" xmlns="" id="{1825D5AF-D278-4D9A-A4F5-A1A1D3507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059936" y="2286000"/>
            <a:ext cx="27432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Картина 6">
            <a:extLst>
              <a:ext uri="{FF2B5EF4-FFF2-40B4-BE49-F238E27FC236}">
                <a16:creationId xmlns:a16="http://schemas.microsoft.com/office/drawing/2014/main" xmlns="" id="{C068939C-B6A3-7A80-26E6-FDB3D2198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88" y="2336143"/>
            <a:ext cx="3684108" cy="268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415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A3C47C2-33A2-44B2-BEAB-FEB679075C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0" y="-3324"/>
            <a:ext cx="12192000" cy="686132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xmlns="" id="{AD182BA8-54AD-4D9F-8264-B0FA8BB47D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1246925" y="-479"/>
            <a:ext cx="9468701" cy="6858478"/>
          </a:xfrm>
          <a:custGeom>
            <a:avLst/>
            <a:gdLst>
              <a:gd name="connsiteX0" fmla="*/ 0 w 8078051"/>
              <a:gd name="connsiteY0" fmla="*/ 0 h 5829300"/>
              <a:gd name="connsiteX1" fmla="*/ 4453793 w 8078051"/>
              <a:gd name="connsiteY1" fmla="*/ 0 h 5829300"/>
              <a:gd name="connsiteX2" fmla="*/ 5363426 w 8078051"/>
              <a:gd name="connsiteY2" fmla="*/ 0 h 5829300"/>
              <a:gd name="connsiteX3" fmla="*/ 5368184 w 8078051"/>
              <a:gd name="connsiteY3" fmla="*/ 0 h 5829300"/>
              <a:gd name="connsiteX4" fmla="*/ 8078051 w 8078051"/>
              <a:gd name="connsiteY4" fmla="*/ 5829300 h 5829300"/>
              <a:gd name="connsiteX5" fmla="*/ 1743926 w 8078051"/>
              <a:gd name="connsiteY5" fmla="*/ 5829300 h 5829300"/>
              <a:gd name="connsiteX6" fmla="*/ 1744148 w 8078051"/>
              <a:gd name="connsiteY6" fmla="*/ 5828822 h 5829300"/>
              <a:gd name="connsiteX7" fmla="*/ 0 w 8078051"/>
              <a:gd name="connsiteY7" fmla="*/ 5828822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78051" h="5829300">
                <a:moveTo>
                  <a:pt x="0" y="0"/>
                </a:moveTo>
                <a:lnTo>
                  <a:pt x="4453793" y="0"/>
                </a:lnTo>
                <a:lnTo>
                  <a:pt x="5363426" y="0"/>
                </a:lnTo>
                <a:lnTo>
                  <a:pt x="5368184" y="0"/>
                </a:lnTo>
                <a:lnTo>
                  <a:pt x="8078051" y="5829300"/>
                </a:lnTo>
                <a:lnTo>
                  <a:pt x="1743926" y="5829300"/>
                </a:lnTo>
                <a:lnTo>
                  <a:pt x="1744148" y="5828822"/>
                </a:lnTo>
                <a:lnTo>
                  <a:pt x="0" y="5828822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xmlns="" id="{4ED83379-0499-45E1-AB78-6AA230F9644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V="1">
            <a:off x="-1" y="-479"/>
            <a:ext cx="9324977" cy="6858479"/>
          </a:xfrm>
          <a:custGeom>
            <a:avLst/>
            <a:gdLst>
              <a:gd name="connsiteX0" fmla="*/ 1246925 w 9324977"/>
              <a:gd name="connsiteY0" fmla="*/ 0 h 6858479"/>
              <a:gd name="connsiteX1" fmla="*/ 5076797 w 9324977"/>
              <a:gd name="connsiteY1" fmla="*/ 0 h 6858479"/>
              <a:gd name="connsiteX2" fmla="*/ 6143025 w 9324977"/>
              <a:gd name="connsiteY2" fmla="*/ 0 h 6858479"/>
              <a:gd name="connsiteX3" fmla="*/ 6148602 w 9324977"/>
              <a:gd name="connsiteY3" fmla="*/ 0 h 6858479"/>
              <a:gd name="connsiteX4" fmla="*/ 9324977 w 9324977"/>
              <a:gd name="connsiteY4" fmla="*/ 6858478 h 6858479"/>
              <a:gd name="connsiteX5" fmla="*/ 3359025 w 9324977"/>
              <a:gd name="connsiteY5" fmla="*/ 6858478 h 6858479"/>
              <a:gd name="connsiteX6" fmla="*/ 3359025 w 9324977"/>
              <a:gd name="connsiteY6" fmla="*/ 6858479 h 6858479"/>
              <a:gd name="connsiteX7" fmla="*/ 0 w 9324977"/>
              <a:gd name="connsiteY7" fmla="*/ 6858479 h 6858479"/>
              <a:gd name="connsiteX8" fmla="*/ 0 w 9324977"/>
              <a:gd name="connsiteY8" fmla="*/ 479 h 6858479"/>
              <a:gd name="connsiteX9" fmla="*/ 1246925 w 9324977"/>
              <a:gd name="connsiteY9" fmla="*/ 479 h 6858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24977" h="6858479">
                <a:moveTo>
                  <a:pt x="1246925" y="0"/>
                </a:moveTo>
                <a:lnTo>
                  <a:pt x="5076797" y="0"/>
                </a:lnTo>
                <a:lnTo>
                  <a:pt x="6143025" y="0"/>
                </a:lnTo>
                <a:lnTo>
                  <a:pt x="6148602" y="0"/>
                </a:lnTo>
                <a:lnTo>
                  <a:pt x="9324977" y="6858478"/>
                </a:lnTo>
                <a:lnTo>
                  <a:pt x="3359025" y="6858478"/>
                </a:lnTo>
                <a:lnTo>
                  <a:pt x="3359025" y="6858479"/>
                </a:lnTo>
                <a:lnTo>
                  <a:pt x="0" y="6858479"/>
                </a:lnTo>
                <a:lnTo>
                  <a:pt x="0" y="479"/>
                </a:lnTo>
                <a:lnTo>
                  <a:pt x="1246925" y="479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669A82B-8E24-6BBD-BE46-1E497D8D6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944" y="801858"/>
            <a:ext cx="5858022" cy="5184633"/>
          </a:xfrm>
        </p:spPr>
        <p:txBody>
          <a:bodyPr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което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показва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оказва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влияние. LED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дисплеите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изображения чрез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включване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регулиране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яркостта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цветните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Следователно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изцяло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бяло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 с черен текст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много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повече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осветени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и много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повече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отколкото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бял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текст на черен фон.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821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665DBBEF-238B-476B-96AB-8AAC3224ECE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928C2C2-F43A-97D3-3144-C9B71DC5C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745" y="1237957"/>
            <a:ext cx="3901985" cy="3145285"/>
          </a:xfrm>
        </p:spPr>
        <p:txBody>
          <a:bodyPr>
            <a:normAutofit/>
          </a:bodyPr>
          <a:lstStyle/>
          <a:p>
            <a:pPr algn="l">
              <a:lnSpc>
                <a:spcPct val="160000"/>
              </a:lnSpc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на енергиен разход при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LED,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компактни луминесцентни лампи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флуоресцентни лампи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такива с нажежаема жичка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xmlns="" id="{3FCFB1DE-0B7E-48CC-BA90-B2AB0889F9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xmlns="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 descr="Картина, която съдържа мас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5069E603-C309-2020-B77C-67784C0EB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730" y="299643"/>
            <a:ext cx="7695027" cy="6125072"/>
          </a:xfrm>
          <a:prstGeom prst="rect">
            <a:avLst/>
          </a:prstGeom>
        </p:spPr>
      </p:pic>
      <p:pic>
        <p:nvPicPr>
          <p:cNvPr id="6" name="Графика 5" descr="Lights On with solid fill">
            <a:extLst>
              <a:ext uri="{FF2B5EF4-FFF2-40B4-BE49-F238E27FC236}">
                <a16:creationId xmlns:a16="http://schemas.microsoft.com/office/drawing/2014/main" xmlns="" id="{92F7BFDF-77DE-AFA5-0AFA-4FCD0AA5C0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71165" y="344658"/>
            <a:ext cx="914400" cy="914400"/>
          </a:xfrm>
          <a:prstGeom prst="rect">
            <a:avLst/>
          </a:prstGeom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xmlns="" id="{5EB378D4-2D56-DAC2-CA5C-5D5D817391A1}"/>
              </a:ext>
            </a:extLst>
          </p:cNvPr>
          <p:cNvSpPr txBox="1"/>
          <p:nvPr/>
        </p:nvSpPr>
        <p:spPr>
          <a:xfrm>
            <a:off x="164396" y="4676376"/>
            <a:ext cx="3452091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Извод: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 по-скъп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е най-енергоефективен и с най-дълъг живот</a:t>
            </a:r>
          </a:p>
        </p:txBody>
      </p:sp>
    </p:spTree>
    <p:extLst>
      <p:ext uri="{BB962C8B-B14F-4D97-AF65-F5344CB8AC3E}">
        <p14:creationId xmlns:p14="http://schemas.microsoft.com/office/powerpoint/2010/main" val="421625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6C4118A-B523-45D9-B427-8E05B2DEA6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85565CC6-6513-43CD-452B-769A82C1B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754" y="182879"/>
            <a:ext cx="6281576" cy="795131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Резолюция на дисплея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9B1A472D-B042-071B-B20F-77B6D6404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758463"/>
            <a:ext cx="8032653" cy="4684540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Разстоянието между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LED дисплея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разделителната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дисплея. Разстоянието до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центъра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съседната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измерва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центъра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всяка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червени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зелени и сини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Това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разстояние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известно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пиксела. Всяка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група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диоди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пиксел.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Картина, която съдържа растение, замъгляване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0460AC51-49A4-525E-98B8-84872312D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35" r="15437" b="-1"/>
          <a:stretch/>
        </p:blipFill>
        <p:spPr>
          <a:xfrm>
            <a:off x="7891975" y="1086729"/>
            <a:ext cx="4300025" cy="468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640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xmlns="" id="{36C4118A-B523-45D9-B427-8E05B2DEA6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D6513021-BB6D-6F78-0C65-3AB63212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08295"/>
            <a:ext cx="7807569" cy="4412829"/>
          </a:xfrm>
          <a:noFill/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Ако един LED дисплей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пикселна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1 см,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може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 x 100 пиксела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квадратен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метър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дисплей.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Разделителната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дисплея се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дава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двойка числа,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показват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ширината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височината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пиксели. Ако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x 8-метров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екран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1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пиксела, той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разделителна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600 x 800 пиксела.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LED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екрани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със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стъпка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пикселите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няколко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сантиметра до един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милиметър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артина 3" descr="Картина, която съдържа текст, монитор, електроника, закрито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AEF916F8-46F3-4CBD-885D-36C1CE42A3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29" r="8061"/>
          <a:stretch/>
        </p:blipFill>
        <p:spPr>
          <a:xfrm>
            <a:off x="8117058" y="1308295"/>
            <a:ext cx="4074942" cy="40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6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1825AC39-5F85-4CAA-8A81-A1287086B2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95DA4D23-37FC-4B90-8188-F0377C5FF4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xmlns="" id="{A7A4B465-FBCC-4CD4-89A1-82992A7B47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909E572F-9CDC-4214-9D42-FF00176495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FFA1406-49F2-4E6C-2DD9-94829989E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723406"/>
            <a:ext cx="3453617" cy="3826728"/>
          </a:xfrm>
        </p:spPr>
        <p:txBody>
          <a:bodyPr anchor="b">
            <a:normAutofit/>
          </a:bodyPr>
          <a:lstStyle/>
          <a:p>
            <a:pPr>
              <a:lnSpc>
                <a:spcPct val="150000"/>
              </a:lnSpc>
            </a:pPr>
            <a:r>
              <a:rPr lang="bg-BG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на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bg-BG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диод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7A8C5871-9C13-2E84-6A72-52A351302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454" y="4778734"/>
            <a:ext cx="3220917" cy="1452160"/>
          </a:xfrm>
        </p:spPr>
        <p:txBody>
          <a:bodyPr anchor="t">
            <a:normAutofit/>
          </a:bodyPr>
          <a:lstStyle/>
          <a:p>
            <a:endParaRPr lang="en-US" sz="20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9565BFC8-5E0A-88D9-D788-7DD7B4C01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251" y="1199211"/>
            <a:ext cx="6631341" cy="445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94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xmlns="" id="{605494DE-B078-4D87-BB01-C84320618D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xmlns="" id="{9A0576B0-CD8C-4661-95C8-A9F2CE7CDD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467712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xmlns="" id="{3FF60E2B-3919-423C-B1FF-56CDE66811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467712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EE0DF477-3A81-8B2A-058F-9B61FD214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976" y="154734"/>
            <a:ext cx="3308130" cy="485409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OLED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3B9FC06-067A-6222-7E6D-27739DC25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7712" y="-154744"/>
            <a:ext cx="4724288" cy="6260122"/>
          </a:xfrm>
        </p:spPr>
        <p:txBody>
          <a:bodyPr>
            <a:noAutofit/>
          </a:bodyPr>
          <a:lstStyle/>
          <a:p>
            <a:pPr algn="l">
              <a:lnSpc>
                <a:spcPct val="160000"/>
              </a:lnSpc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означава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 Light Emitting Diode (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Диод за излъчване на органична светлина).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ята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при OLED се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чрез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използването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органични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съединения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въглеродна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основа. Тук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тънки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слоеве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органичен материал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поставени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между два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проводящи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подредба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излъчва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ярка светлина при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прилагане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ток.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xmlns="" id="{9AC94336-E41C-F147-611F-03E8AE2B0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76" y="643467"/>
            <a:ext cx="610527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87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605494DE-B078-4D87-BB01-C84320618D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332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A0576B0-CD8C-4661-95C8-A9F2CE7CDD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467712" y="-3324"/>
            <a:ext cx="4724288" cy="6861324"/>
          </a:xfrm>
          <a:prstGeom prst="rect">
            <a:avLst/>
          </a:prstGeom>
          <a:solidFill>
            <a:srgbClr val="000000">
              <a:alpha val="8039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3FF60E2B-3919-423C-B1FF-56CDE668116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467712" y="0"/>
            <a:ext cx="4319042" cy="6858000"/>
          </a:xfrm>
          <a:custGeom>
            <a:avLst/>
            <a:gdLst>
              <a:gd name="connsiteX0" fmla="*/ 0 w 4319042"/>
              <a:gd name="connsiteY0" fmla="*/ 0 h 6858000"/>
              <a:gd name="connsiteX1" fmla="*/ 1142888 w 4319042"/>
              <a:gd name="connsiteY1" fmla="*/ 0 h 6858000"/>
              <a:gd name="connsiteX2" fmla="*/ 4319042 w 4319042"/>
              <a:gd name="connsiteY2" fmla="*/ 6858000 h 6858000"/>
              <a:gd name="connsiteX3" fmla="*/ 0 w 43190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9042" h="6858000">
                <a:moveTo>
                  <a:pt x="0" y="0"/>
                </a:moveTo>
                <a:lnTo>
                  <a:pt x="1142888" y="0"/>
                </a:lnTo>
                <a:lnTo>
                  <a:pt x="431904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74814095-8A71-0ADB-3E9F-3EA5B407C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7816" y="0"/>
            <a:ext cx="4724288" cy="675249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Основната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разлика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между LED и OLED е, че LED не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принципа на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самоосветяване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тъй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нуждае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подсветка за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работа. OLED 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самоосветяващо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устройство,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тъй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изисква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подсветка, за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започне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си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резултат на което 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консумира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по-малко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енергия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за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в сравнение с LED 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реагира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по-бързо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Картина 3" descr="Картина, която съдържа текст, електроника, дисплей, монитор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C47949C7-3267-6104-339A-BA49CD695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19439"/>
            <a:ext cx="6274296" cy="40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9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1DD1A8A-57D5-4A81-AD04-532B043C56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Картина, която съдържа карта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9D7B5D5F-7E16-95DB-486F-1859D7EEDB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05" b="12868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007891EC-4501-44ED-A8C8-B11B6DB767A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774A16F4-7C36-694E-5146-B27FDFA8D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889" y="719350"/>
            <a:ext cx="10058400" cy="58035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QLED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24EA17A-1608-2E87-D7D5-F1BD99CA0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757" y="1760421"/>
            <a:ext cx="6874664" cy="405650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QLED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означава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квантов диод,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излъчващ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светлина. Т</a:t>
            </a:r>
            <a:r>
              <a:rPr lang="bg-BG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ехнологията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използва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малки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наночастици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наречени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точки, за да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увеличи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яркост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цвят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Технологията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първоначално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беше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представена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Sony </a:t>
            </a:r>
            <a:r>
              <a:rPr lang="ru-RU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през</a:t>
            </a:r>
            <a:r>
              <a:rPr lang="ru-RU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2013 г.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към момента достига до 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8000 </a:t>
            </a:r>
            <a:r>
              <a:rPr lang="bg-B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пиксела резолюция.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85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xmlns="" id="{C7D023E4-8DE1-436E-9847-ED6A4B4B04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BBE71B7-604F-4EE5-A1D6-8BF54379E9C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xmlns="" id="{69286C48-991E-4090-987B-591B2F2D0F1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xmlns="" id="{3EFE3706-E3FA-4FDF-8CE3-8D95E590973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Картина 3" descr="Картина, която съдържа текст, електроника, дисплей&#10;&#10;Описанието е генерирано автоматично">
            <a:extLst>
              <a:ext uri="{FF2B5EF4-FFF2-40B4-BE49-F238E27FC236}">
                <a16:creationId xmlns:a16="http://schemas.microsoft.com/office/drawing/2014/main" xmlns="" id="{20DD08CC-D45F-BDB3-5EF1-C39DCAE241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45" r="-2" b="3764"/>
          <a:stretch/>
        </p:blipFill>
        <p:spPr>
          <a:xfrm>
            <a:off x="6803647" y="653615"/>
            <a:ext cx="4730214" cy="554000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5F9EFB72-B60F-422D-971E-C24825AEE8A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96AC91B1-DA8F-4B7C-8F19-EAD0230FDE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F574F99F-B751-4D87-BA11-3C46B23284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E2689BC8-34CD-4994-A63C-303D060D347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xmlns="" id="{4FB58919-6D82-4792-A54B-25087F08EC3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96C7E2AA-81C6-4D67-A16D-5D4951FE78A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05C699FD-2DD5-457C-A3C3-C5644B193712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xmlns="" id="{6C2D6726-764D-4E53-A647-ED320297A2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5435074D-69B5-9B54-616D-43751A394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812" y="253218"/>
            <a:ext cx="6365875" cy="6343392"/>
          </a:xfrm>
        </p:spPr>
        <p:txBody>
          <a:bodyPr anchor="t">
            <a:normAutofit fontScale="92500" lnSpcReduction="10000"/>
          </a:bodyPr>
          <a:lstStyle/>
          <a:p>
            <a:pPr algn="l">
              <a:lnSpc>
                <a:spcPct val="150000"/>
              </a:lnSpc>
            </a:pP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QLED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източникът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подсветка е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направен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 слой сини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върху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добавени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слой от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червени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зелени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точки.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Тези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точки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могат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бъдат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добавени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такава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прецизност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че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комбинацията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RGB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създава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перфектна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бяла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светлина, без да се жертва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нито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</a:t>
            </a:r>
            <a:r>
              <a:rPr lang="bg-BG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 нит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яркост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Тази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перфектна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бяла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 е точно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това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от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което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цветният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филтър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нуждае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за да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генерира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милиарди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цветове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които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виждаме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екрана</a:t>
            </a:r>
            <a:r>
              <a:rPr lang="ru-RU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QLED </a:t>
            </a:r>
            <a:r>
              <a:rPr lang="bg-BG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надминава 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LED </a:t>
            </a:r>
            <a:r>
              <a:rPr lang="bg-BG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</a:t>
            </a:r>
            <a:r>
              <a:rPr lang="bg-BG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във почти всяка една характеристика.</a:t>
            </a:r>
            <a:endParaRPr lang="en-US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977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F0E50394-152D-EC24-BEB2-92903E3B9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301"/>
            <a:ext cx="9144000" cy="485409"/>
          </a:xfrm>
        </p:spPr>
        <p:txBody>
          <a:bodyPr>
            <a:normAutofit fontScale="90000"/>
          </a:bodyPr>
          <a:lstStyle/>
          <a:p>
            <a:r>
              <a:rPr lang="bg-BG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CE032A20-6ECB-6454-CBD9-245B68473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3323" y="2264898"/>
            <a:ext cx="9111175" cy="3063241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Какво 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LED, OLED, QLED?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Каква е разликата в устройството?</a:t>
            </a:r>
          </a:p>
          <a:p>
            <a:pPr algn="just">
              <a:lnSpc>
                <a:spcPct val="150000"/>
              </a:lnSpc>
            </a:pP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Какво 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Колко </a:t>
            </a:r>
            <a:r>
              <a:rPr lang="bg-B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енергийноефективен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какъв полупроводников материал е изграден </a:t>
            </a:r>
            <a:r>
              <a:rPr lang="bg-B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светодиода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LED?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bg-B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Кога навлиза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QLED?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94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76EFD3D9-44F0-4267-BCC1-1613E79D82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xmlns="" id="{A779A851-95D6-41AF-937A-B0E4B7F6FA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xmlns="" id="{953FB2E7-B6CB-429C-81EB-D9516D6D5C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2EC40DB1-B719-4A13-9A4D-0966B4B278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xmlns="" id="{3316543E-B956-05B2-5F93-11A66D109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872" y="982272"/>
            <a:ext cx="3388419" cy="4560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kern="120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Източници</a:t>
            </a:r>
            <a:endParaRPr lang="en-US" sz="2800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xmlns="" id="{82211336-CFF3-412D-868A-6679C1004C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xmlns="" id="{A7E3902E-7FE5-A078-3259-8F696B632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2909" y="1463040"/>
            <a:ext cx="6474469" cy="5140908"/>
          </a:xfr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https://www.expromo.eu/en/led-display-facts/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https://electronicscoach.com/difference-between-led-and-oled.html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https://www.digitaltrends.com/home-theater/qled-vs-oled-tv/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https://www.livemint.com/Money/TMOgwfDICGLrczdyfkmNXN/Are-lights-increasing-your-electricity-bill.html</a:t>
            </a:r>
            <a:endParaRPr lang="en-US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https://commercialledlights.com/blog/lighting-articles/led-technology/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https://www.ledsupply.com/blog/what-you-need-to-know-about-leds/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51530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TM04033937[[fn=Следа от самолет]]</Template>
  <TotalTime>202</TotalTime>
  <Words>1219</Words>
  <Application>Microsoft Office PowerPoint</Application>
  <PresentationFormat>Custom</PresentationFormat>
  <Paragraphs>66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Тема на Office</vt:lpstr>
      <vt:lpstr>Съвременни технологии.  LED, OLED, QLED</vt:lpstr>
      <vt:lpstr>Съдържание</vt:lpstr>
      <vt:lpstr>История</vt:lpstr>
      <vt:lpstr>PowerPoint Presentation</vt:lpstr>
      <vt:lpstr>Същност на LED</vt:lpstr>
      <vt:lpstr>Светодиоди</vt:lpstr>
      <vt:lpstr>PowerPoint Presentation</vt:lpstr>
      <vt:lpstr>Слоеве на LED</vt:lpstr>
      <vt:lpstr>Монитори, дисплеи</vt:lpstr>
      <vt:lpstr>PowerPoint Presentation</vt:lpstr>
      <vt:lpstr>PowerPoint Presentation</vt:lpstr>
      <vt:lpstr>PowerPoint Presentation</vt:lpstr>
      <vt:lpstr>КАКВО Е RGB?</vt:lpstr>
      <vt:lpstr>Какво е Surface Mount Device?</vt:lpstr>
      <vt:lpstr>Surface Mount Device</vt:lpstr>
      <vt:lpstr>PowerPoint Presentation</vt:lpstr>
      <vt:lpstr> Колко мощност използва LED дисплей/крушка?</vt:lpstr>
      <vt:lpstr>PowerPoint Presentation</vt:lpstr>
      <vt:lpstr>PowerPoint Presentation</vt:lpstr>
      <vt:lpstr>Резолюция на дисплея</vt:lpstr>
      <vt:lpstr>PowerPoint Presentation</vt:lpstr>
      <vt:lpstr>Принцип на LED диод</vt:lpstr>
      <vt:lpstr>OLED</vt:lpstr>
      <vt:lpstr>PowerPoint Presentation</vt:lpstr>
      <vt:lpstr>QLED</vt:lpstr>
      <vt:lpstr>PowerPoint Presentation</vt:lpstr>
      <vt:lpstr>Тест</vt:lpstr>
      <vt:lpstr>Източници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Съвременни технологии – LED, OLED, QLED</dc:title>
  <dc:creator>Теодор С. Стефанов</dc:creator>
  <cp:lastModifiedBy>PC-0</cp:lastModifiedBy>
  <cp:revision>35</cp:revision>
  <dcterms:created xsi:type="dcterms:W3CDTF">2022-12-19T17:06:47Z</dcterms:created>
  <dcterms:modified xsi:type="dcterms:W3CDTF">2022-12-20T11:36:28Z</dcterms:modified>
</cp:coreProperties>
</file>