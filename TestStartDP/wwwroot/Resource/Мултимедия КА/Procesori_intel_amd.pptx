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танас Д. Енчев" initials="АДЕ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12-14T23:16:28.857" idx="1">
    <p:pos x="2835" y="707"/>
    <p:text>С</p:text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5ECFBB-941F-B51D-A1A3-CC1D8DCA5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5CA8CB2-0E4B-437B-017F-DAE2C7CCF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C5260E-D3E8-50C9-813A-EBD5111E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BCF5C4E-84A5-EAF1-1EDF-809A0E48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3496B3A-C6A2-7F76-4B50-2D420520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8329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DC328B-DF96-295A-8CF7-4C778684A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DBE85C-A4F2-F36F-5D7D-7A946F704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DD152A0-7981-550A-F5B5-3305AE52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F57DC3-30EE-092E-F0ED-9C339084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1C05AC-DFC1-515F-6506-005580C0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8635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FF203A-9E05-3761-A5F8-6FE58A75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428484-0583-8F54-0AE6-CEB5AE949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AE41B5-D58C-3289-5143-D37718E5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EA9638-A3BA-629C-5DA5-16750C8B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8FE34E-B83F-0FAA-CC5A-A3AB645A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1650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0FC82F-1313-769B-B700-62C0CC62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E6621-B2B0-B39B-0646-20AC5484E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B24C7C0-331E-A328-88E0-55FF0F815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D9C68CC-D2B5-2449-08D8-098CA605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0B025E4-FBD3-CD01-397B-7515E704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936CF38-5959-9E7C-58E7-75E71F0F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0218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6277E0-71FA-F8D0-EA14-D0CE3EA9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BA7772-BE95-7507-5005-A6B956684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DAC0133-F055-9D49-7356-24435C39E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62DA133-6E1A-8A55-C4F6-7F991E87A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6B730B2-9AF1-273E-3525-520B9EFED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A19748-FDFC-25D8-5FD3-7D32B2103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A846950-3FF8-5272-0A4D-FDFABAD0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42038E4-6C97-038E-4CA1-F971C97A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4349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7F8B4-B6C8-3616-C4D3-F6098431D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F5ED281-F8D6-A8F7-110E-8428C7F7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FC1AEEC-FF97-DC94-975F-3B1556C7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D1ACFBB-C4AF-8E4F-256D-D1DC482B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3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FADE15-C20B-588A-3EED-0DAA8F2B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F7B4BD7-24CF-CB55-69CD-F0DADED42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17AD1B-2615-7556-657F-2DAFFAFA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156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2169F7-8999-E794-6DC5-B2F01AB8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85A130-06B1-DFAE-7696-00D9F0BF1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3BF4461-7F71-7FDC-5F4C-32AB78175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D8C6B71-9E29-90B1-02A1-22B88BEE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BB94770-25A5-84B4-A16F-C75C0653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5343D9-BF52-0CE3-79C2-C428D725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435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D04132-EA55-6A03-A3E8-CBF6AA94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2378802-E607-FDDB-12EB-00DDAC20D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FC2941-801B-E410-1860-64FD53C86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A4A2863-4DC7-3F9B-350A-F4EAB9DCC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88F4A23-DE38-0A66-4E35-04D8E2CF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BE0217-296B-1AB4-7823-5753F858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9005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E7A656-80C4-96CE-3883-778BF00C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600C4B-C3E2-A5DD-04FB-BCDFEB820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8B7B63-3FC4-7ACE-830D-72EE43DF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5792AE-9B0B-2EC5-3229-FA54820E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F0A5228-6CE9-61CC-893A-0BE8C2FA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37351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2266025-C5CA-EF7F-002E-515B5F3C8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C527B17-87E2-A3AB-81F4-AD1E67AD6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E6AF1F-1D4E-1487-B038-F0CFF975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8C0C3-8E6C-5A76-B4E7-299CBCC3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D5255FD-C4FD-0DF6-4BB1-A579E118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3021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9F2DFF9-AF19-37D3-4A28-C9C9981F9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FA449B-86F3-06EA-49A1-822D24857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4E281B-9104-AB1A-73BB-F2F182013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0BAE7-E0D2-4741-AB70-6E94D641F653}" type="datetimeFigureOut">
              <a:rPr lang="x-none" smtClean="0"/>
              <a:t>12/20/2022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86E42C-71ED-8B4A-CDC2-41AD51E92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20AED2-4A90-D724-6FBF-5E2DAB96D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ED27-1DCB-5F4C-A165-701BFCC138D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6242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data.com/%D1%85%D0%B0%D1%80%D0%B4%D1%83%D0%B5%D1%80/%D0%B3%D0%BE%D0%BB%D1%8F%D0%BC%D0%B0%D1%82%D0%B0-%D0%BF%D1%80%D0%B5%D0%B7%D0%B5%D0%BD%D1%82%D0%B0%D1%86%D0%B8%D1%8F-%D0%BD%D0%B0-amd-%D0%BD%D0%B0-ces-2022-376238.html?amp=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data.com/%D1%85%D0%B0%D1%80%D0%B4%D1%83%D0%B5%D1%80/intel-architecture-day-intel-%D0%BF%D1%80%D0%B5%D0%B4%D1%81%D1%82%D0%B0%D0%B2%D0%B8-%D0%B0%D1%80%D1%85%D0%B8%D1%82%D0%B5%D0%BA%D1%82%D1%83%D1%80%D0%B0%D1%82%D0%B0-%D0%BD%D0%B0-%D0%BF%D1%80%D0%BE-366889.html?amp=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ldata.com/%D1%85%D0%B0%D1%80%D0%B4%D1%83%D0%B5%D1%80/intel-%D0%B4%D0%B0%D0%B2%D0%B0-%D0%BD%D0%BE%D0%B2%D0%B8-%D0%B8%D0%BC%D0%B5%D0%BD%D0%B0-%D0%BD%D0%B0-%D1%81%D0%B2%D0%BE%D0%B8%D1%82%D0%B5-%D1%82%D0%B5%D1%85%D0%BD%D0%BE%D0%BB%D0%BE%D0%B3%D0%B8%D1%87-365536.html?amp=1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data.com/%D1%85%D0%B0%D1%80%D0%B4%D1%83%D0%B5%D1%80/%D0%B7%D0%B0-%D1%82%D0%B0%D0%B7%D0%B8-%D0%B2%D0%B5%D1%87%D0%B5%D1%80-%D1%81%D0%B0-%D0%BE%D0%B1%D1%8F%D0%B2%D0%B5%D0%BD%D0%B8-%D0%BF%D1%80%D0%B5%D0%B7%D0%B5%D0%BD%D1%82%D0%B0%D1%86%D0%B8%D0%B8%D1%82-376149.html?amp=1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data.com/%D1%85%D0%B0%D1%80%D0%B4%D1%83%D0%B5%D1%80/%D0%BF%D1%80%D0%BE%D1%86%D0%B5%D1%81%D0%BE%D1%80%D0%B8%D1%82%D0%B5-amd-ryzen-5000-%D1%80%D1%8F%D0%B7%D0%BA%D0%BE-%D0%BF%D0%BE%D0%B5%D0%B2%D1%82%D0%B8%D0%BD%D1%8F%D1%85%D0%B0-%D0%BF%D0%BE-%D1%81%D0%BB-373672.html?amp=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kaldata.com/featured/%D0%B4%D0%BE%D0%BF%D1%8A%D0%BB%D0%BD%D0%B8%D1%82%D0%B5%D0%BB%D0%BD%D0%B0-%D0%B8%D0%BD%D1%84%D0%BE%D1%80%D0%BC%D0%B0%D1%86%D0%B8%D1%8F-%D0%B7%D0%B0-%D0%B7%D0%B0%D1%89%D0%B8%D1%82%D0%B0%D1%82%D0%B0-plut-349313.html?amp=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8">
            <a:extLst>
              <a:ext uri="{FF2B5EF4-FFF2-40B4-BE49-F238E27FC236}">
                <a16:creationId xmlns:a16="http://schemas.microsoft.com/office/drawing/2014/main" xmlns="" id="{0671A8AE-40A1-4631-A6B8-581AFF0654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BBDF4950-C8D2-75AF-A646-256B473F8B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" t="9091" r="2045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7" name="Rectangle 10">
            <a:extLst>
              <a:ext uri="{FF2B5EF4-FFF2-40B4-BE49-F238E27FC236}">
                <a16:creationId xmlns:a16="http://schemas.microsoft.com/office/drawing/2014/main" xmlns="" id="{AB58EF07-17C2-48CF-ABB0-EEF1F17CB8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36D59A-A994-494E-0533-22657A20D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Autofit/>
          </a:bodyPr>
          <a:lstStyle/>
          <a:p>
            <a:pPr algn="l"/>
            <a:r>
              <a:rPr lang="bg-BG" sz="3900" b="1" i="1" dirty="0"/>
              <a:t>СЪВРЕМЕННИ ПРОЦЕСОРИ НА </a:t>
            </a:r>
            <a:r>
              <a:rPr lang="en-GB" sz="3900" b="1" i="1" dirty="0"/>
              <a:t>Intel </a:t>
            </a:r>
            <a:r>
              <a:rPr lang="bg-BG" sz="3900" b="1" i="1" dirty="0"/>
              <a:t>и </a:t>
            </a:r>
            <a:r>
              <a:rPr lang="en-GB" sz="3900" b="1" i="1" dirty="0"/>
              <a:t>AMD, </a:t>
            </a:r>
            <a:r>
              <a:rPr lang="bg-BG" sz="3900" b="1" i="1" dirty="0"/>
              <a:t>АРИХИТЕКТУТИ И ХАРАКТЕРИСТИКИ</a:t>
            </a:r>
            <a:r>
              <a:rPr lang="en-GB" sz="3900" b="1" i="1" dirty="0"/>
              <a:t> </a:t>
            </a:r>
            <a:endParaRPr lang="x-none" sz="3900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04E5D93-2775-C4DF-700D-27A3921B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bg-BG" sz="2000" dirty="0"/>
              <a:t>Изготвил: Атанас Енчев </a:t>
            </a:r>
            <a:r>
              <a:rPr lang="bg-BG" sz="2000" dirty="0" err="1"/>
              <a:t>12д</a:t>
            </a:r>
            <a:endParaRPr lang="x-none" sz="2000" dirty="0"/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599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21A75659-5A6F-4F77-9679-678A00B9D8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3E9E0EFB-BEDA-B8E9-7145-D3BC5171EE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6" t="909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30A3A45-140E-431E-AED0-07EF836310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bg1"/>
              </a:gs>
              <a:gs pos="35000">
                <a:schemeClr val="bg1">
                  <a:alpha val="76000"/>
                </a:schemeClr>
              </a:gs>
              <a:gs pos="19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9DD748-4516-FFC5-05A6-3B270E48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bg-BG" sz="2800" dirty="0"/>
              <a:t>Съдържание</a:t>
            </a:r>
            <a:endParaRPr lang="x-none" sz="2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5D4142C-5077-457F-A6AD-3FECFDB396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7A5F0580-5EE9-419F-96EE-B6529EF6E7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406A63D2-0452-A1AC-DE30-13D0A75CC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9589" y="2443480"/>
            <a:ext cx="3438906" cy="3207258"/>
          </a:xfrm>
        </p:spPr>
        <p:txBody>
          <a:bodyPr anchor="t">
            <a:noAutofit/>
          </a:bodyPr>
          <a:lstStyle/>
          <a:p>
            <a:r>
              <a:rPr lang="en-GB" sz="1400" dirty="0"/>
              <a:t>Intel </a:t>
            </a:r>
            <a:r>
              <a:rPr lang="bg-BG" sz="1400" dirty="0"/>
              <a:t>през 2022 </a:t>
            </a:r>
            <a:r>
              <a:rPr lang="bg-BG" sz="1400"/>
              <a:t>година…………………..</a:t>
            </a:r>
            <a:endParaRPr lang="bg-BG" sz="1400" dirty="0"/>
          </a:p>
          <a:p>
            <a:r>
              <a:rPr lang="bg-BG" sz="1400" dirty="0"/>
              <a:t>Новите </a:t>
            </a:r>
            <a:r>
              <a:rPr lang="bg-BG" sz="1400" dirty="0" err="1"/>
              <a:t>декстоп</a:t>
            </a:r>
            <a:r>
              <a:rPr lang="bg-BG" sz="1400" dirty="0"/>
              <a:t> процесори </a:t>
            </a:r>
            <a:r>
              <a:rPr lang="en-GB" sz="1400" dirty="0"/>
              <a:t>Alder </a:t>
            </a:r>
            <a:r>
              <a:rPr lang="en-GB" sz="1400"/>
              <a:t>Lake…………………………………………</a:t>
            </a:r>
            <a:r>
              <a:rPr lang="bg-BG" sz="1400"/>
              <a:t>……..</a:t>
            </a:r>
            <a:endParaRPr lang="en-GB" sz="1400" dirty="0"/>
          </a:p>
          <a:p>
            <a:r>
              <a:rPr lang="en-GB" sz="1400" b="0" i="0">
                <a:effectLst/>
                <a:latin typeface="UICTFontTextStyleBody"/>
              </a:rPr>
              <a:t>Intel Core i9-12900KS………………</a:t>
            </a:r>
            <a:r>
              <a:rPr lang="bg-BG" sz="1400" b="0" i="0">
                <a:effectLst/>
                <a:latin typeface="UICTFontTextStyleBody"/>
              </a:rPr>
              <a:t>……..</a:t>
            </a:r>
            <a:endParaRPr lang="en-GB" sz="1400" b="0" i="0">
              <a:effectLst/>
              <a:latin typeface="UICTFontTextStyleBody"/>
            </a:endParaRPr>
          </a:p>
          <a:p>
            <a:r>
              <a:rPr lang="bg-BG" sz="1400">
                <a:effectLst/>
                <a:latin typeface=".AppleSystemUIFont"/>
              </a:rPr>
              <a:t>Мобилните процесори </a:t>
            </a:r>
            <a:r>
              <a:rPr lang="en-GB" sz="1400">
                <a:effectLst/>
                <a:latin typeface=".AppleSystemUIFont"/>
              </a:rPr>
              <a:t>Alder</a:t>
            </a:r>
            <a:r>
              <a:rPr lang="bg-BG" sz="1400">
                <a:effectLst/>
                <a:latin typeface=".AppleSystemUIFont"/>
              </a:rPr>
              <a:t> </a:t>
            </a:r>
            <a:r>
              <a:rPr lang="en-GB" sz="1400">
                <a:effectLst/>
                <a:latin typeface=".AppleSystemUIFont"/>
              </a:rPr>
              <a:t>Lake…………………………………………</a:t>
            </a:r>
            <a:r>
              <a:rPr lang="bg-BG" sz="1400">
                <a:effectLst/>
                <a:latin typeface=".AppleSystemUIFont"/>
              </a:rPr>
              <a:t>……..</a:t>
            </a:r>
          </a:p>
          <a:p>
            <a:r>
              <a:rPr lang="en-GB" sz="1400">
                <a:effectLst/>
                <a:latin typeface=".AppleSystemUIFont"/>
              </a:rPr>
              <a:t>AMD </a:t>
            </a:r>
            <a:r>
              <a:rPr lang="bg-BG" sz="1400">
                <a:effectLst/>
                <a:latin typeface=".AppleSystemUIFont"/>
              </a:rPr>
              <a:t>през 2022 година………………….</a:t>
            </a:r>
          </a:p>
          <a:p>
            <a:r>
              <a:rPr lang="en-US" sz="140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Ryzen 6000 (Rembrandt) – новото поколение мобилни хибридни процесори на AM</a:t>
            </a:r>
            <a:r>
              <a:rPr lang="bg-BG" sz="140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D…………………………</a:t>
            </a:r>
            <a:endParaRPr lang="bg-BG" sz="1400" i="0" u="none" strike="noStrike" kern="1200">
              <a:solidFill>
                <a:srgbClr val="FFFFFF"/>
              </a:solidFill>
              <a:latin typeface=".AppleSystemUIFont"/>
              <a:ea typeface="+mj-ea"/>
              <a:cs typeface="+mj-cs"/>
            </a:endParaRPr>
          </a:p>
          <a:p>
            <a:r>
              <a:rPr lang="bg-BG" sz="1400">
                <a:solidFill>
                  <a:srgbClr val="FFFFFF"/>
                </a:solidFill>
                <a:effectLst/>
                <a:latin typeface=".AppleSystemUIFont"/>
                <a:ea typeface="+mj-ea"/>
                <a:cs typeface="+mj-cs"/>
              </a:rPr>
              <a:t>Процесори за геймърски лаптопи..</a:t>
            </a:r>
          </a:p>
          <a:p>
            <a:r>
              <a:rPr lang="en-US" sz="140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Новият десктоп процесор Ryzen 7 5800X3</a:t>
            </a:r>
            <a:r>
              <a:rPr lang="bg-BG" sz="140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D…………………………………………..</a:t>
            </a:r>
          </a:p>
          <a:p>
            <a:r>
              <a:rPr lang="en-US" sz="140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Новият десктоп процесор Ryzen 7000 (Zen 4</a:t>
            </a:r>
            <a:r>
              <a:rPr lang="bg-BG" sz="140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)…………………………………………………</a:t>
            </a:r>
          </a:p>
          <a:p>
            <a:r>
              <a:rPr lang="bg-BG" sz="140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Тест по презентацията………………………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334561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xmlns="" id="{0671A8AE-40A1-4631-A6B8-581AFF0654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F202EABC-62F4-B1E6-B922-FBF969399E6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1" t="5117" r="2839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AB58EF07-17C2-48CF-ABB0-EEF1F17CB8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xmlns="" id="{1DCB7F9A-2C70-3F3D-675A-B5C0E5B7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Intel през 2022 година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xmlns="" id="{5B857B0E-2DEF-95DD-62C5-B85452A5C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745" y="4546920"/>
            <a:ext cx="4023359" cy="160826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800" b="0" i="1" u="none" strike="noStrike" dirty="0">
                <a:solidFill>
                  <a:schemeClr val="tx1"/>
                </a:solidFill>
                <a:effectLst/>
              </a:rPr>
              <a:t>Както се очакваше, по времето на голямото изложение </a:t>
            </a:r>
            <a:r>
              <a:rPr lang="en-US" sz="1800" b="0" i="1" u="none" strike="noStrike" dirty="0">
                <a:solidFill>
                  <a:schemeClr val="tx1"/>
                </a:solidFill>
                <a:effectLst/>
                <a:hlinkClick r:id="rId3"/>
              </a:rPr>
              <a:t>CES 2022</a:t>
            </a:r>
            <a:r>
              <a:rPr lang="en-US" sz="1800" b="0" i="1" u="none" strike="noStrike" dirty="0">
                <a:solidFill>
                  <a:schemeClr val="tx1"/>
                </a:solidFill>
                <a:effectLst/>
              </a:rPr>
              <a:t> компанията Intel официално представи редица свои нови потребителски продукти от различни сегменти. Съвсем скоро на пазара се очаква да излязат нови компютри и лаптопи, базирани на сега представените решения на Intel.</a:t>
            </a:r>
            <a:endParaRPr lang="en-US" sz="1800" i="1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025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9B76D444-2756-434F-AE61-96D69830C1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858487EB-C6A8-66D6-F455-A979D197E5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44" r="-1" b="4991"/>
          <a:stretch/>
        </p:blipFill>
        <p:spPr>
          <a:xfrm>
            <a:off x="320040" y="320040"/>
            <a:ext cx="11548872" cy="430346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27B6159-7734-4564-9E0F-C4BC43C36E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321564" y="4782312"/>
            <a:ext cx="11548872" cy="1755648"/>
          </a:xfrm>
          <a:prstGeom prst="rect">
            <a:avLst/>
          </a:prstGeom>
          <a:solidFill>
            <a:schemeClr val="tx1">
              <a:alpha val="93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25469B-75E0-1E02-6A18-3FD36693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009083"/>
            <a:ext cx="2889504" cy="1755648"/>
          </a:xfrm>
        </p:spPr>
        <p:txBody>
          <a:bodyPr anchor="ctr">
            <a:noAutofit/>
          </a:bodyPr>
          <a:lstStyle/>
          <a:p>
            <a:r>
              <a:rPr lang="bg-BG" sz="3100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Новите </a:t>
            </a:r>
            <a:r>
              <a:rPr lang="bg-BG" sz="3100" b="1" i="0" u="none" strike="noStrike" dirty="0" err="1">
                <a:solidFill>
                  <a:srgbClr val="111111"/>
                </a:solidFill>
                <a:effectLst/>
                <a:latin typeface="-apple-system"/>
              </a:rPr>
              <a:t>десктоп</a:t>
            </a:r>
            <a:r>
              <a:rPr lang="bg-BG" sz="3100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 процесори </a:t>
            </a:r>
            <a:r>
              <a:rPr lang="en-GB" sz="3100" b="1" i="0" u="none" strike="noStrike" dirty="0">
                <a:solidFill>
                  <a:srgbClr val="111111"/>
                </a:solidFill>
                <a:effectLst/>
                <a:latin typeface="-apple-system"/>
              </a:rPr>
              <a:t>Alder Lake</a:t>
            </a:r>
            <a:br>
              <a:rPr lang="en-GB" sz="3100" b="1" i="0" u="none" strike="noStrike" dirty="0">
                <a:solidFill>
                  <a:srgbClr val="111111"/>
                </a:solidFill>
                <a:effectLst/>
                <a:latin typeface="-apple-system"/>
              </a:rPr>
            </a:br>
            <a:endParaRPr lang="x-none" sz="310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2FFB46B-05BC-4950-B18A-9593FDAE6E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4059936" y="5237979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B8850AF-6FCA-CDD4-1626-E96BBEBBB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9976" y="5009083"/>
            <a:ext cx="6976872" cy="1345997"/>
          </a:xfrm>
        </p:spPr>
        <p:txBody>
          <a:bodyPr anchor="ctr">
            <a:noAutofit/>
          </a:bodyPr>
          <a:lstStyle/>
          <a:p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През есента на миналата година 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Intel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анонсира своите нови </a:t>
            </a:r>
            <a:r>
              <a:rPr lang="bg-BG" sz="1400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десктоп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 процесори 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Core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от 12 поколение с кодово име </a:t>
            </a:r>
            <a:r>
              <a:rPr lang="en-GB" sz="1400" b="0" i="0" u="none" strike="noStrike" dirty="0">
                <a:solidFill>
                  <a:srgbClr val="2789C6"/>
                </a:solidFill>
                <a:effectLst/>
                <a:latin typeface="-apple-system"/>
                <a:hlinkClick r:id="rId3"/>
              </a:rPr>
              <a:t>Alder Lake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.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Една от техните най-характерни особености е използването на хибридна архитектура, при която в един и същи чип са комбинирани както високопроизводителните процесорни ядра 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Performance,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така и икономичните ядра 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Efficient.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При това само ядрата 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Performance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поддържат многонишкова та работа. Тези чипове се произвеждат чрез технологичния процес </a:t>
            </a:r>
            <a:r>
              <a:rPr lang="en-GB" sz="1400" b="0" i="0" u="none" strike="noStrike" dirty="0">
                <a:solidFill>
                  <a:srgbClr val="2789C6"/>
                </a:solidFill>
                <a:effectLst/>
                <a:latin typeface="-apple-system"/>
                <a:hlinkClick r:id="rId4"/>
              </a:rPr>
              <a:t>Intel 7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.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Новите процесори от 12-то поколение поддържат работата с 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DDR5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оперативна памет (до 4800 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MT/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с) и 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PCI Express 5.0 </a:t>
            </a:r>
            <a:r>
              <a:rPr lang="bg-BG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интерфейса (до 16 линии)</a:t>
            </a:r>
            <a:endParaRPr lang="x-none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280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CD1C65BA-E1C9-E1F4-8ADF-A440551FE19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120497"/>
            <a:ext cx="12192000" cy="6778932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xmlns="" id="{C1E12634-18EC-3204-ADD2-75CB20B31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6609"/>
            <a:ext cx="9144000" cy="2387600"/>
          </a:xfrm>
        </p:spPr>
        <p:txBody>
          <a:bodyPr>
            <a:noAutofit/>
          </a:bodyPr>
          <a:lstStyle/>
          <a:p>
            <a:pPr algn="just"/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При първоначалния анонс, гамата процесори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Alder Lake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бе доста ограничена – само шест модела и по-точно едва три, ако не броим версиите с интегрирана графика и без графика. По време на изложението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CES 2022 Intel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показа нови десктоп процесори и анонсира още 22 модела, предназначение както за устройства от начално ниво, така и за високопроизводителни компютърни системи.</a:t>
            </a:r>
            <a:endParaRPr lang="x-none" sz="220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9C881C63-C082-C49F-F9FD-60F8E8321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42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just">
              <a:buFont typeface="Arial" panose="020B0604020202020204" pitchFamily="34" charset="0"/>
              <a:buChar char="•"/>
            </a:pP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За разлика от първата вълна, тези процесори са с блокиран множител. Едновременно с това новите чипове са малко по-икономични. Така например, при топ-модела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Core i9-12900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индексът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Processor Base Power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е едва 65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W,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докато в същото време при чипа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Core i9-12900K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той достига 125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W.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Сред новите чипове има версии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F (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без интегрирано графично ядро), както и още по-икономичните решения от серията Т с индекс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Processor Base Power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на ниво от 35 </a:t>
            </a:r>
            <a:r>
              <a:rPr lang="en-GB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W. </a:t>
            </a:r>
            <a:r>
              <a:rPr lang="bg-BG" sz="2200" b="0" i="0" u="none" strike="noStrike">
                <a:solidFill>
                  <a:srgbClr val="222222"/>
                </a:solidFill>
                <a:effectLst/>
                <a:latin typeface="-apple-system"/>
              </a:rPr>
              <a:t>Подробните технически характеристики са дадени в таблицата на следващата страница.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22226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CD6E38-078F-3411-8477-6C86DD48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509C39DF-FF1D-637B-FA3F-0489AB8B4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802" y="-139315"/>
            <a:ext cx="12903603" cy="7136629"/>
          </a:xfrm>
        </p:spPr>
      </p:pic>
    </p:spTree>
    <p:extLst>
      <p:ext uri="{BB962C8B-B14F-4D97-AF65-F5344CB8AC3E}">
        <p14:creationId xmlns:p14="http://schemas.microsoft.com/office/powerpoint/2010/main" val="50176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95A498BF-AD70-D942-D37B-907C72F4F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7106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72B223-D2EC-EC19-1682-EF8BBFEC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6" y="3057399"/>
            <a:ext cx="6075064" cy="765803"/>
          </a:xfrm>
        </p:spPr>
        <p:txBody>
          <a:bodyPr>
            <a:normAutofit fontScale="90000"/>
          </a:bodyPr>
          <a:lstStyle/>
          <a:p>
            <a:r>
              <a:rPr lang="en-GB" b="0" i="0" u="none" strike="noStrike">
                <a:solidFill>
                  <a:schemeClr val="bg1"/>
                </a:solidFill>
                <a:effectLst/>
                <a:latin typeface="-apple-system"/>
              </a:rPr>
              <a:t>Intel </a:t>
            </a:r>
            <a:r>
              <a:rPr lang="bg-BG" b="0" i="0" u="none" strike="noStrike">
                <a:solidFill>
                  <a:schemeClr val="bg1"/>
                </a:solidFill>
                <a:effectLst/>
                <a:latin typeface="-apple-system"/>
              </a:rPr>
              <a:t>накратко спомена и все още неизлезлият процесор </a:t>
            </a:r>
            <a:r>
              <a:rPr lang="en-GB" b="1" i="0" u="none" strike="noStrike">
                <a:solidFill>
                  <a:schemeClr val="bg1"/>
                </a:solidFill>
                <a:effectLst/>
                <a:latin typeface="-apple-system"/>
              </a:rPr>
              <a:t>Core i9-12900KS</a:t>
            </a:r>
            <a:r>
              <a:rPr lang="en-GB" b="0" i="0" u="none" strike="noStrike">
                <a:solidFill>
                  <a:schemeClr val="bg1"/>
                </a:solidFill>
                <a:effectLst/>
                <a:latin typeface="-apple-system"/>
              </a:rPr>
              <a:t>. </a:t>
            </a:r>
            <a:r>
              <a:rPr lang="bg-BG" b="0" i="0" u="none" strike="noStrike">
                <a:solidFill>
                  <a:schemeClr val="bg1"/>
                </a:solidFill>
                <a:effectLst/>
                <a:latin typeface="-apple-system"/>
              </a:rPr>
              <a:t>При този чип максималната тактова честота на едно ядро достига 5,5 </a:t>
            </a:r>
            <a:r>
              <a:rPr lang="en-GB" b="0" i="0" u="none" strike="noStrike">
                <a:solidFill>
                  <a:schemeClr val="bg1"/>
                </a:solidFill>
                <a:effectLst/>
                <a:latin typeface="-apple-system"/>
              </a:rPr>
              <a:t>GHz, </a:t>
            </a:r>
            <a:r>
              <a:rPr lang="bg-BG" b="0" i="0" u="none" strike="noStrike">
                <a:solidFill>
                  <a:schemeClr val="bg1"/>
                </a:solidFill>
                <a:effectLst/>
                <a:latin typeface="-apple-system"/>
              </a:rPr>
              <a:t>а при многоядрено натоварване тактовата честота отново превишава 5 </a:t>
            </a:r>
            <a:r>
              <a:rPr lang="en-GB" b="0" i="0" u="none" strike="noStrike">
                <a:solidFill>
                  <a:schemeClr val="bg1"/>
                </a:solidFill>
                <a:effectLst/>
                <a:latin typeface="-apple-system"/>
              </a:rPr>
              <a:t>GHz </a:t>
            </a:r>
            <a:r>
              <a:rPr lang="bg-BG" b="0" i="0" u="none" strike="noStrike">
                <a:solidFill>
                  <a:schemeClr val="bg1"/>
                </a:solidFill>
                <a:effectLst/>
                <a:latin typeface="-apple-system"/>
              </a:rPr>
              <a:t>и достига 5,2 </a:t>
            </a:r>
            <a:r>
              <a:rPr lang="en-GB" b="0" i="0" u="none" strike="noStrike">
                <a:solidFill>
                  <a:schemeClr val="bg1"/>
                </a:solidFill>
                <a:effectLst/>
                <a:latin typeface="-apple-system"/>
              </a:rPr>
              <a:t>GHz </a:t>
            </a:r>
            <a:r>
              <a:rPr lang="bg-BG" b="0" i="0" u="none" strike="noStrike">
                <a:solidFill>
                  <a:schemeClr val="bg1"/>
                </a:solidFill>
                <a:effectLst/>
                <a:latin typeface="-apple-system"/>
              </a:rPr>
              <a:t>при работата на всички ядра.</a:t>
            </a:r>
            <a:endParaRPr lang="x-non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21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!!Rectangle">
            <a:extLst>
              <a:ext uri="{FF2B5EF4-FFF2-40B4-BE49-F238E27FC236}">
                <a16:creationId xmlns:a16="http://schemas.microsoft.com/office/drawing/2014/main" xmlns="" id="{7C432AFE-B3D2-4BFF-BF8F-96C27AFF1A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57F81673-1381-7389-738C-3A7AC75384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" r="5086" b="-1"/>
          <a:stretch/>
        </p:blipFill>
        <p:spPr>
          <a:xfrm rot="10800000" flipH="1" flipV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E0CD7-5431-AA05-946F-57841789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GB" sz="5000" b="1" u="none" strike="noStrike">
                <a:effectLst/>
                <a:latin typeface="-apple-system"/>
              </a:rPr>
              <a:t>Core i9-12900KS</a:t>
            </a:r>
            <a:endParaRPr lang="x-none" sz="5000" b="1"/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98ABF4-9CA7-06D7-B349-53A161ED9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en-GB" sz="1900" b="0" i="0" u="none" strike="noStrike">
                <a:effectLst/>
                <a:latin typeface="-apple-system"/>
              </a:rPr>
              <a:t>Intel </a:t>
            </a:r>
            <a:r>
              <a:rPr lang="bg-BG" sz="1900" b="0" i="0" u="none" strike="noStrike">
                <a:effectLst/>
                <a:latin typeface="-apple-system"/>
              </a:rPr>
              <a:t>направи демонстрация на работата на процесора </a:t>
            </a:r>
            <a:r>
              <a:rPr lang="en-GB" sz="1900" b="0" i="0" u="none" strike="noStrike">
                <a:effectLst/>
                <a:latin typeface="-apple-system"/>
              </a:rPr>
              <a:t>Core i9-12900KS </a:t>
            </a:r>
            <a:r>
              <a:rPr lang="bg-BG" sz="1900" b="0" i="0" u="none" strike="noStrike">
                <a:effectLst/>
                <a:latin typeface="-apple-system"/>
              </a:rPr>
              <a:t>в режим на реално време с помощта на помощната програма </a:t>
            </a:r>
            <a:r>
              <a:rPr lang="en-GB" sz="1900" b="0" i="0" u="none" strike="noStrike">
                <a:effectLst/>
                <a:latin typeface="-apple-system"/>
              </a:rPr>
              <a:t>HWInfo, </a:t>
            </a:r>
            <a:r>
              <a:rPr lang="bg-BG" sz="1900" b="0" i="0" u="none" strike="noStrike">
                <a:effectLst/>
                <a:latin typeface="-apple-system"/>
              </a:rPr>
              <a:t>благодарение на която бяха показани тактовите честоти но всичките осем </a:t>
            </a:r>
            <a:r>
              <a:rPr lang="en-GB" sz="1900" b="0" i="0" u="none" strike="noStrike">
                <a:effectLst/>
                <a:latin typeface="-apple-system"/>
              </a:rPr>
              <a:t>P-</a:t>
            </a:r>
            <a:r>
              <a:rPr lang="bg-BG" sz="1900" b="0" i="0" u="none" strike="noStrike">
                <a:effectLst/>
                <a:latin typeface="-apple-system"/>
              </a:rPr>
              <a:t>ядра и на 8-те Е-ядра. Скрийншотът от миналия слайд показва, че процесорните ядра </a:t>
            </a:r>
            <a:r>
              <a:rPr lang="en-GB" sz="1900" b="0" i="0" u="none" strike="noStrike">
                <a:effectLst/>
                <a:latin typeface="-apple-system"/>
              </a:rPr>
              <a:t>Performance </a:t>
            </a:r>
            <a:r>
              <a:rPr lang="bg-BG" sz="1900" b="0" i="0" u="none" strike="noStrike">
                <a:effectLst/>
                <a:latin typeface="-apple-system"/>
              </a:rPr>
              <a:t>работят с тактова честота 5,2 </a:t>
            </a:r>
            <a:r>
              <a:rPr lang="en-GB" sz="1900" b="0" i="0" u="none" strike="noStrike">
                <a:effectLst/>
                <a:latin typeface="-apple-system"/>
              </a:rPr>
              <a:t>GHz, </a:t>
            </a:r>
            <a:r>
              <a:rPr lang="bg-BG" sz="1900" b="0" i="0" u="none" strike="noStrike">
                <a:effectLst/>
                <a:latin typeface="-apple-system"/>
              </a:rPr>
              <a:t>а ядрата </a:t>
            </a:r>
            <a:r>
              <a:rPr lang="en-GB" sz="1900" b="0" i="0" u="none" strike="noStrike">
                <a:effectLst/>
                <a:latin typeface="-apple-system"/>
              </a:rPr>
              <a:t>Efficient – </a:t>
            </a:r>
            <a:r>
              <a:rPr lang="bg-BG" sz="1900" b="0" i="0" u="none" strike="noStrike">
                <a:effectLst/>
                <a:latin typeface="-apple-system"/>
              </a:rPr>
              <a:t>с честота 4,0 </a:t>
            </a:r>
            <a:r>
              <a:rPr lang="en-GB" sz="1900" b="0" i="0" u="none" strike="noStrike">
                <a:effectLst/>
                <a:latin typeface="-apple-system"/>
              </a:rPr>
              <a:t>GHz. </a:t>
            </a:r>
            <a:r>
              <a:rPr lang="bg-BG" sz="1900" b="0" i="0" u="none" strike="noStrike">
                <a:effectLst/>
                <a:latin typeface="-apple-system"/>
              </a:rPr>
              <a:t>Интересно е, че по време на тази демонстрация процесорът на </a:t>
            </a:r>
            <a:r>
              <a:rPr lang="en-GB" sz="1900" b="0" i="0" u="none" strike="noStrike">
                <a:effectLst/>
                <a:latin typeface="-apple-system"/>
              </a:rPr>
              <a:t>Intel </a:t>
            </a:r>
            <a:r>
              <a:rPr lang="bg-BG" sz="1900" b="0" i="0" u="none" strike="noStrike">
                <a:effectLst/>
                <a:latin typeface="-apple-system"/>
              </a:rPr>
              <a:t>така и не можа да покаже честота от 5,5 </a:t>
            </a:r>
            <a:r>
              <a:rPr lang="en-GB" sz="1900" b="0" i="0" u="none" strike="noStrike">
                <a:effectLst/>
                <a:latin typeface="-apple-system"/>
              </a:rPr>
              <a:t>GHz </a:t>
            </a:r>
            <a:r>
              <a:rPr lang="bg-BG" sz="1900" b="0" i="0" u="none" strike="noStrike">
                <a:effectLst/>
                <a:latin typeface="-apple-system"/>
              </a:rPr>
              <a:t>за едно ядро.</a:t>
            </a:r>
          </a:p>
          <a:p>
            <a:r>
              <a:rPr lang="en-GB" sz="1900" b="0" i="0" u="none" strike="noStrike">
                <a:effectLst/>
                <a:latin typeface="-apple-system"/>
              </a:rPr>
              <a:t>Intel </a:t>
            </a:r>
            <a:r>
              <a:rPr lang="bg-BG" sz="1900" b="0" i="0" u="none" strike="noStrike">
                <a:effectLst/>
                <a:latin typeface="-apple-system"/>
              </a:rPr>
              <a:t>поясни, че суфиксът </a:t>
            </a:r>
            <a:r>
              <a:rPr lang="en-GB" sz="1900" b="0" i="0" u="none" strike="noStrike">
                <a:effectLst/>
                <a:latin typeface="-apple-system"/>
              </a:rPr>
              <a:t>S </a:t>
            </a:r>
            <a:r>
              <a:rPr lang="bg-BG" sz="1900" b="0" i="0" u="none" strike="noStrike">
                <a:effectLst/>
                <a:latin typeface="-apple-system"/>
              </a:rPr>
              <a:t>означава </a:t>
            </a:r>
            <a:r>
              <a:rPr lang="en-GB" sz="1900" b="0" i="0" u="none" strike="noStrike">
                <a:effectLst/>
                <a:latin typeface="-apple-system"/>
              </a:rPr>
              <a:t>Special Edition. </a:t>
            </a:r>
            <a:r>
              <a:rPr lang="bg-BG" sz="1900" b="0" i="0" u="none" strike="noStrike">
                <a:effectLst/>
                <a:latin typeface="-apple-system"/>
              </a:rPr>
              <a:t>От тези чипове ще има ограничени партиди. Те вече се произвеждат и </a:t>
            </a:r>
            <a:r>
              <a:rPr lang="en-GB" sz="1900" b="0" i="0" u="none" strike="noStrike">
                <a:effectLst/>
                <a:latin typeface="-apple-system"/>
              </a:rPr>
              <a:t>Intel </a:t>
            </a:r>
            <a:r>
              <a:rPr lang="bg-BG" sz="1900" b="0" i="0" u="none" strike="noStrike">
                <a:effectLst/>
                <a:latin typeface="-apple-system"/>
              </a:rPr>
              <a:t>е подготвил първите чипове за своите ОЕМ партньори, които трябва да ги получат най-късно в края на това тримесечие. Не бе съобщена друга информация.</a:t>
            </a:r>
          </a:p>
        </p:txBody>
      </p:sp>
    </p:spTree>
    <p:extLst>
      <p:ext uri="{BB962C8B-B14F-4D97-AF65-F5344CB8AC3E}">
        <p14:creationId xmlns:p14="http://schemas.microsoft.com/office/powerpoint/2010/main" val="402578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EB41C5C-0F34-4DDA-9D7C-5E717F35F6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336384" y="303591"/>
            <a:ext cx="4334256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86EF52-58EB-565E-0F4E-ECB6E245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40263"/>
            <a:ext cx="3822192" cy="1344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i="0" u="none" strike="noStrike" kern="1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Мобилните процесори Alder Lake</a:t>
            </a:r>
            <a:br>
              <a:rPr lang="en-US" sz="2800" b="1" i="0" u="none" strike="noStrike" kern="1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57E1E5E6-F385-4E9C-B201-BA5BDE5CAD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04088" y="2050687"/>
            <a:ext cx="3685032" cy="0"/>
          </a:xfrm>
          <a:prstGeom prst="line">
            <a:avLst/>
          </a:prstGeom>
          <a:ln w="2222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3A7F07-63AA-19D1-D58C-0B3183304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735096"/>
            <a:ext cx="3822192" cy="377301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b="0" i="0" u="none" strike="noStrike">
                <a:solidFill>
                  <a:schemeClr val="bg1"/>
                </a:solidFill>
                <a:effectLst/>
              </a:rPr>
              <a:t>По време на изложението CES 2022 Intel представи и своите нови мобилни процесори от 12 поколения, които също са с хибридна архитектура. На пазара ще излязат първи производителните чипове от серия Н, които има сравнително високо значение на Processor Base Power – 45 W. Всички мобилни процесори от фамилията  Alder Lake с хибридна архитектура имат както високопроизводителни, така и икономични процесорни ядра.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2F0A123A-C88F-8F6F-F1EF-1EBBCB306E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716" y="1735096"/>
            <a:ext cx="6596652" cy="377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07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>
            <a:extLst>
              <a:ext uri="{FF2B5EF4-FFF2-40B4-BE49-F238E27FC236}">
                <a16:creationId xmlns:a16="http://schemas.microsoft.com/office/drawing/2014/main" xmlns="" id="{B35C8221-635C-51AE-97EF-09101C18B7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5296"/>
            <a:ext cx="4487590" cy="220740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111E0F2-7039-11B3-898C-1253D880E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8473" y="498871"/>
            <a:ext cx="4163477" cy="5860257"/>
          </a:xfrm>
        </p:spPr>
        <p:txBody>
          <a:bodyPr>
            <a:normAutofit/>
          </a:bodyPr>
          <a:lstStyle/>
          <a:p>
            <a:r>
              <a:rPr lang="en-GB" sz="2200" b="0" i="0">
                <a:effectLst/>
                <a:latin typeface="UICTFontTextStyleBody"/>
              </a:rPr>
              <a:t>Intel </a:t>
            </a:r>
            <a:r>
              <a:rPr lang="bg-BG" sz="2200" b="0" i="0">
                <a:effectLst/>
                <a:latin typeface="UICTFontTextStyleBody"/>
              </a:rPr>
              <a:t>твърде смело заяви, че нейните нови мобилни процесори </a:t>
            </a:r>
            <a:r>
              <a:rPr lang="en-GB" sz="2200" b="0" i="0">
                <a:effectLst/>
                <a:latin typeface="UICTFontTextStyleBody"/>
              </a:rPr>
              <a:t>Alder Lake, </a:t>
            </a:r>
            <a:r>
              <a:rPr lang="bg-BG" sz="2200" b="0" i="0">
                <a:effectLst/>
                <a:latin typeface="UICTFontTextStyleBody"/>
              </a:rPr>
              <a:t>като например флагманският </a:t>
            </a:r>
            <a:r>
              <a:rPr lang="en-GB" sz="2200" b="0" i="0">
                <a:effectLst/>
                <a:latin typeface="UICTFontTextStyleBody"/>
              </a:rPr>
              <a:t>Core i9-12900HK </a:t>
            </a:r>
            <a:r>
              <a:rPr lang="bg-BG" sz="2200" b="0" i="0">
                <a:effectLst/>
                <a:latin typeface="UICTFontTextStyleBody"/>
              </a:rPr>
              <a:t>с повишена до 5 </a:t>
            </a:r>
            <a:r>
              <a:rPr lang="en-GB" sz="2200" b="0" i="0">
                <a:effectLst/>
                <a:latin typeface="UICTFontTextStyleBody"/>
              </a:rPr>
              <a:t>GHz </a:t>
            </a:r>
            <a:r>
              <a:rPr lang="bg-BG" sz="2200" b="0" i="0">
                <a:effectLst/>
                <a:latin typeface="UICTFontTextStyleBody"/>
              </a:rPr>
              <a:t>тактова честота, могат да изпреварят както </a:t>
            </a:r>
            <a:r>
              <a:rPr lang="en-GB" sz="2200" b="0" i="0">
                <a:effectLst/>
                <a:latin typeface="UICTFontTextStyleBody"/>
              </a:rPr>
              <a:t>AMD Ryzen 5900HX, </a:t>
            </a:r>
            <a:r>
              <a:rPr lang="bg-BG" sz="2200" b="0" i="0">
                <a:effectLst/>
                <a:latin typeface="UICTFontTextStyleBody"/>
              </a:rPr>
              <a:t>така и </a:t>
            </a:r>
            <a:r>
              <a:rPr lang="en-GB" sz="2200" b="0" i="0">
                <a:effectLst/>
                <a:latin typeface="UICTFontTextStyleBody"/>
              </a:rPr>
              <a:t>Apple M1 Max </a:t>
            </a:r>
            <a:r>
              <a:rPr lang="bg-BG" sz="2200" b="0" i="0">
                <a:effectLst/>
                <a:latin typeface="UICTFontTextStyleBody"/>
              </a:rPr>
              <a:t>в ежедневната работа и при игрите. Процесорният гигант твърди, че че </a:t>
            </a:r>
            <a:r>
              <a:rPr lang="en-GB" sz="2200" b="0" i="0">
                <a:effectLst/>
                <a:latin typeface="UICTFontTextStyleBody"/>
              </a:rPr>
              <a:t>Core i9-12900HK </a:t>
            </a:r>
            <a:r>
              <a:rPr lang="bg-BG" sz="2200" b="0" i="0">
                <a:effectLst/>
                <a:latin typeface="UICTFontTextStyleBody"/>
              </a:rPr>
              <a:t>при игрите осигурява ръст от 28% в сравнение с предишния чип </a:t>
            </a:r>
            <a:r>
              <a:rPr lang="en-GB" sz="2200" b="0" i="0">
                <a:effectLst/>
                <a:latin typeface="UICTFontTextStyleBody"/>
              </a:rPr>
              <a:t>Core i9-11980H. </a:t>
            </a:r>
            <a:r>
              <a:rPr lang="bg-BG" sz="2200" b="0" i="0">
                <a:effectLst/>
                <a:latin typeface="UICTFontTextStyleBody"/>
              </a:rPr>
              <a:t>Новият процесор демонстрира 44% ръст на производителността при бенчмарка </a:t>
            </a:r>
            <a:r>
              <a:rPr lang="en-GB" sz="2200" b="0" i="0">
                <a:effectLst/>
                <a:latin typeface="UICTFontTextStyleBody"/>
              </a:rPr>
              <a:t>PugetBench Premiere Pro </a:t>
            </a:r>
            <a:r>
              <a:rPr lang="bg-BG" sz="2200" b="0" i="0">
                <a:effectLst/>
                <a:latin typeface="UICTFontTextStyleBody"/>
              </a:rPr>
              <a:t>и осезателен ръст при </a:t>
            </a:r>
            <a:r>
              <a:rPr lang="en-GB" sz="2200" b="0" i="0">
                <a:effectLst/>
                <a:latin typeface="UICTFontTextStyleBody"/>
              </a:rPr>
              <a:t>Autodesk.</a:t>
            </a:r>
            <a:endParaRPr lang="en-GB" sz="2200">
              <a:effectLst/>
              <a:latin typeface=".AppleSystemUIFont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072710AF-5690-0899-C61A-8A9EB7BB3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918" y="1546439"/>
            <a:ext cx="7190609" cy="376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23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!!BGRectangle">
            <a:extLst>
              <a:ext uri="{FF2B5EF4-FFF2-40B4-BE49-F238E27FC236}">
                <a16:creationId xmlns:a16="http://schemas.microsoft.com/office/drawing/2014/main" xmlns="" id="{9B76D444-2756-434F-AE61-96D69830C1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D70522-4C5A-50EB-E9B0-B6030EEE3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182" y="932961"/>
            <a:ext cx="4887685" cy="1777419"/>
          </a:xfrm>
        </p:spPr>
        <p:txBody>
          <a:bodyPr anchor="b">
            <a:normAutofit/>
          </a:bodyPr>
          <a:lstStyle/>
          <a:p>
            <a:r>
              <a:rPr lang="en-GB" sz="4000"/>
              <a:t>AMD </a:t>
            </a:r>
            <a:r>
              <a:rPr lang="bg-BG" sz="4000"/>
              <a:t>през 2022 година</a:t>
            </a:r>
            <a:endParaRPr lang="x-none" sz="400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D68ADC7A-441C-CE70-11AB-0F54473A96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35" b="-2"/>
          <a:stretch/>
        </p:blipFill>
        <p:spPr>
          <a:xfrm>
            <a:off x="391903" y="573678"/>
            <a:ext cx="5103206" cy="5710645"/>
          </a:xfrm>
          <a:prstGeom prst="rect">
            <a:avLst/>
          </a:prstGeom>
        </p:spPr>
      </p:pic>
      <p:sp>
        <p:nvSpPr>
          <p:cNvPr id="12" name="!!Line">
            <a:extLst>
              <a:ext uri="{FF2B5EF4-FFF2-40B4-BE49-F238E27FC236}">
                <a16:creationId xmlns:a16="http://schemas.microsoft.com/office/drawing/2014/main" xmlns="" id="{0AF80B57-54E2-4D01-8731-3F38B0C56C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108192" y="1417320"/>
            <a:ext cx="9144" cy="4023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746AC13-A578-536B-0C0B-68E8430BC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182" y="2894529"/>
            <a:ext cx="4887685" cy="32101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bg-BG" sz="2200" b="0" i="0" u="none" strike="noStrike" dirty="0">
                <a:effectLst/>
                <a:latin typeface="-apple-system"/>
              </a:rPr>
              <a:t>На 4-ти януари по време на голямото изложение </a:t>
            </a:r>
            <a:r>
              <a:rPr lang="en-GB" sz="2200" b="0" i="0" u="none" strike="noStrike" dirty="0">
                <a:effectLst/>
                <a:latin typeface="-apple-system"/>
                <a:hlinkClick r:id="rId3"/>
              </a:rPr>
              <a:t>CES 2022</a:t>
            </a:r>
            <a:r>
              <a:rPr lang="en-GB" sz="2200" b="0" i="0" u="none" strike="noStrike" dirty="0">
                <a:effectLst/>
                <a:latin typeface="-apple-system"/>
              </a:rPr>
              <a:t> </a:t>
            </a:r>
            <a:r>
              <a:rPr lang="bg-BG" sz="2200" b="0" i="0" u="none" strike="noStrike" dirty="0">
                <a:effectLst/>
                <a:latin typeface="-apple-system"/>
              </a:rPr>
              <a:t>протече онлайн </a:t>
            </a:r>
            <a:r>
              <a:rPr lang="bg-BG" sz="2200" b="0" i="0" u="none" strike="noStrike" dirty="0" err="1">
                <a:effectLst/>
                <a:latin typeface="-apple-system"/>
              </a:rPr>
              <a:t>презентацията</a:t>
            </a:r>
            <a:r>
              <a:rPr lang="bg-BG" sz="2200" b="0" i="0" u="none" strike="noStrike" dirty="0">
                <a:effectLst/>
                <a:latin typeface="-apple-system"/>
              </a:rPr>
              <a:t> </a:t>
            </a:r>
            <a:r>
              <a:rPr lang="en-GB" sz="2200" b="1" i="0" u="none" strike="noStrike" dirty="0">
                <a:effectLst/>
                <a:latin typeface="-apple-system"/>
              </a:rPr>
              <a:t>AMD 2022 Product Premiere</a:t>
            </a:r>
            <a:r>
              <a:rPr lang="en-GB" sz="2200" b="0" i="0" u="none" strike="noStrike" dirty="0">
                <a:effectLst/>
                <a:latin typeface="-apple-system"/>
              </a:rPr>
              <a:t>, </a:t>
            </a:r>
            <a:r>
              <a:rPr lang="bg-BG" sz="2200" b="0" i="0" u="none" strike="noStrike" dirty="0">
                <a:effectLst/>
                <a:latin typeface="-apple-system"/>
              </a:rPr>
              <a:t>на която екипът на Лиза Су представи новото поколение мобилни процесори </a:t>
            </a:r>
            <a:r>
              <a:rPr lang="en-GB" sz="2200" b="0" i="0" u="none" strike="noStrike" dirty="0" err="1">
                <a:effectLst/>
                <a:latin typeface="-apple-system"/>
              </a:rPr>
              <a:t>Ryzen</a:t>
            </a:r>
            <a:r>
              <a:rPr lang="en-GB" sz="2200" b="0" i="0" u="none" strike="noStrike" dirty="0">
                <a:effectLst/>
                <a:latin typeface="-apple-system"/>
              </a:rPr>
              <a:t> 6000</a:t>
            </a:r>
            <a:endParaRPr lang="x-none" sz="2200" dirty="0"/>
          </a:p>
        </p:txBody>
      </p:sp>
    </p:spTree>
    <p:extLst>
      <p:ext uri="{BB962C8B-B14F-4D97-AF65-F5344CB8AC3E}">
        <p14:creationId xmlns:p14="http://schemas.microsoft.com/office/powerpoint/2010/main" val="217373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038CB10-1F5C-4D54-9DF7-12586DE5B0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27546" y="321732"/>
            <a:ext cx="7058307" cy="1964266"/>
          </a:xfrm>
          <a:prstGeom prst="rect">
            <a:avLst/>
          </a:prstGeom>
          <a:solidFill>
            <a:srgbClr val="6935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07D7CA-5596-ADDF-E8EE-FE45A4DA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516804"/>
            <a:ext cx="6594189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Ryzen 6000 (Rembrandt) – новото поколение мобилни хибридни процесори на AMD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6D30126-6314-4A93-B27E-5C66CF7819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29184" y="2432305"/>
            <a:ext cx="7056669" cy="4102852"/>
          </a:xfrm>
          <a:prstGeom prst="rect">
            <a:avLst/>
          </a:prstGeom>
          <a:solidFill>
            <a:srgbClr val="7F7F7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EFA9728E-0C15-0175-3549-61D1146B77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21" y="2660287"/>
            <a:ext cx="6483355" cy="364688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3ED6512-6858-4552-B699-9A97FE9A4E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165A63-76AE-E7A8-78E4-74721411C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90091" y="1123390"/>
            <a:ext cx="3424739" cy="485236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200" b="0" i="0">
                <a:solidFill>
                  <a:srgbClr val="FFFFFF"/>
                </a:solidFill>
                <a:effectLst/>
              </a:rPr>
              <a:t>Новите чипове са наследниците на миналогодишната серия </a:t>
            </a:r>
            <a:r>
              <a:rPr lang="en-US" sz="1200" b="0" i="0">
                <a:solidFill>
                  <a:srgbClr val="FFFFFF"/>
                </a:solidFill>
                <a:effectLst/>
                <a:hlinkClick r:id="rId3"/>
              </a:rPr>
              <a:t>Ryzen 5000</a:t>
            </a:r>
            <a:r>
              <a:rPr lang="en-US" sz="1200" b="0" i="0">
                <a:solidFill>
                  <a:srgbClr val="FFFFFF"/>
                </a:solidFill>
                <a:effectLst/>
              </a:rPr>
              <a:t>. Процесорите Ryzen 6000 се базират на x86 ядрата Zen 3+, интегрираната графика е RDNA от второ поколение, като самите чипове се произвежда чрез новия 6 нанометров технологичен процес на TSMC. Освен това, те са първите процесори на AMD, които могат да работят както с DDR5, така и с LPDDR5 оперативна памет. Освен това, Ryzen 6000 поддържат PCIe 4.0 и USB4 интерфейсите, и имат хардуерна поддръжка на Wi-Fi 6E/Bluetooth 5.2. И още, това са първите CPU с интегрирания процесор за осигуряване на информационна безопасност </a:t>
            </a:r>
            <a:r>
              <a:rPr lang="en-US" sz="1200" b="0" i="0">
                <a:solidFill>
                  <a:srgbClr val="FFFFFF"/>
                </a:solidFill>
                <a:effectLst/>
                <a:hlinkClick r:id="rId4"/>
              </a:rPr>
              <a:t>Microsoft Pluton</a:t>
            </a:r>
            <a:r>
              <a:rPr lang="en-US" sz="1200" b="0" i="0">
                <a:solidFill>
                  <a:srgbClr val="FFFFFF"/>
                </a:solidFill>
                <a:effectLst/>
              </a:rPr>
              <a:t>.</a:t>
            </a:r>
            <a:endParaRPr lang="en-US" sz="1200">
              <a:solidFill>
                <a:srgbClr val="FFFFFF"/>
              </a:solidFill>
              <a:effectLst/>
            </a:endParaRPr>
          </a:p>
          <a:p>
            <a:r>
              <a:rPr lang="en-US" sz="1200" b="0" i="0">
                <a:solidFill>
                  <a:srgbClr val="FFFFFF"/>
                </a:solidFill>
                <a:effectLst/>
              </a:rPr>
              <a:t>Процесорите Ryzen 6000 разполагат с до 8 ядра Zen 3+ с поддръжката на технологията за многонишкова работа SMT, имат интегриран графичен ускорител с RDNA 2 архитектура с 12 блока  Compute Units, което означава до 768 поточни процесора, плюс поддръжката на трасиране на лъчите. Наличен е контролер за DDR5-5200/LPDDR5-6400 оперативна памет. Процесорната фамилия Rembrandt има 10 модела, които са разделени на две серии: високопроизводителната серия H с TDP 35-45 W за геймърски лаптопи и икономичната серия U с TDP 15-28 W за ултрапортативни лаптопи. Едновременно с това AMD представи и процесорите Barcelo, които са леко модифицирани миналогодишни Ryzen 5000 (Cezanne). Флагманът на новата фамилия е процесорът </a:t>
            </a:r>
            <a:r>
              <a:rPr lang="en-US" sz="1200" b="1" i="0">
                <a:solidFill>
                  <a:srgbClr val="FFFFFF"/>
                </a:solidFill>
                <a:effectLst/>
              </a:rPr>
              <a:t>Ryzen 9 6980HX/HS</a:t>
            </a:r>
            <a:r>
              <a:rPr lang="en-US" sz="1200" b="0" i="0">
                <a:solidFill>
                  <a:srgbClr val="FFFFFF"/>
                </a:solidFill>
                <a:effectLst/>
              </a:rPr>
              <a:t> с 8 ядра/16 нишки, който може да работи с тактова честота 5,0 GHz</a:t>
            </a:r>
            <a:endParaRPr lang="en-US" sz="1200"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6297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28F64C6-FE22-4FC1-A763-DFCC514811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317636" y="4577975"/>
            <a:ext cx="11482938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88EA29-F1F1-708D-E2BD-F49DBB55F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25" y="4741948"/>
            <a:ext cx="10825663" cy="86203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200" b="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Архитектурните особености и различните нововъведения на процесорите Ryzen 6000 бяха дадени във вид на слайдове, които могат да се видят по-долу. По-подробно ще се спрем в друга статия.</a:t>
            </a:r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xmlns="" id="{34727DD1-63F8-95E8-79DA-E40F042F0C3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1" r="3" b="2814"/>
          <a:stretch/>
        </p:blipFill>
        <p:spPr>
          <a:xfrm>
            <a:off x="307840" y="321733"/>
            <a:ext cx="3793472" cy="2010551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xmlns="" id="{FB23C383-1000-DA69-74E1-61680D6D7D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296"/>
          <a:stretch/>
        </p:blipFill>
        <p:spPr>
          <a:xfrm>
            <a:off x="4194959" y="321735"/>
            <a:ext cx="3797570" cy="2010551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xmlns="" id="{AD4E44F9-47B2-D02B-3E28-A1E1930BDA2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6"/>
          <a:stretch/>
        </p:blipFill>
        <p:spPr>
          <a:xfrm>
            <a:off x="8086176" y="321734"/>
            <a:ext cx="3797984" cy="201055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xmlns="" id="{A1E008AE-D386-197A-5ABB-D87C4E7EF92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810"/>
          <a:stretch/>
        </p:blipFill>
        <p:spPr>
          <a:xfrm>
            <a:off x="307840" y="2423723"/>
            <a:ext cx="3794760" cy="2010551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xmlns="" id="{9DAE2F2B-B34F-6874-20B7-A729FBF99C8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383"/>
          <a:stretch/>
        </p:blipFill>
        <p:spPr>
          <a:xfrm>
            <a:off x="4190180" y="2422095"/>
            <a:ext cx="3794760" cy="2013804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F0EAB184-AA34-D704-5DDB-FDFE769ED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" r="1" b="2916"/>
          <a:stretch/>
        </p:blipFill>
        <p:spPr>
          <a:xfrm>
            <a:off x="8093394" y="2422097"/>
            <a:ext cx="3794760" cy="2010551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5C34627B-48E6-4F4D-B843-97717A86B4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27963" y="5694097"/>
            <a:ext cx="91440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057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7">
            <a:extLst>
              <a:ext uri="{FF2B5EF4-FFF2-40B4-BE49-F238E27FC236}">
                <a16:creationId xmlns:a16="http://schemas.microsoft.com/office/drawing/2014/main" xmlns="" id="{928F64C6-FE22-4FC1-A763-DFCC514811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317636" y="4577975"/>
            <a:ext cx="11482938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xmlns="" id="{429B62F0-42FA-BE2A-3CCE-57C9F01DBF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4507"/>
          <a:stretch/>
        </p:blipFill>
        <p:spPr>
          <a:xfrm>
            <a:off x="307840" y="321733"/>
            <a:ext cx="3793472" cy="2010551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A0864E0B-A30E-EF41-6460-E08356D74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296"/>
          <a:stretch/>
        </p:blipFill>
        <p:spPr>
          <a:xfrm>
            <a:off x="4194959" y="321735"/>
            <a:ext cx="3797570" cy="2010551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xmlns="" id="{46C37E3F-3B06-3A7F-E50C-504B2C22287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2" b="558"/>
          <a:stretch/>
        </p:blipFill>
        <p:spPr>
          <a:xfrm>
            <a:off x="8086176" y="321734"/>
            <a:ext cx="3797984" cy="201055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xmlns="" id="{5F9A0E82-425B-1106-6E3B-D4DF036633B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810"/>
          <a:stretch/>
        </p:blipFill>
        <p:spPr>
          <a:xfrm>
            <a:off x="307840" y="2423723"/>
            <a:ext cx="3794760" cy="201055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FB81C80F-D5FD-832E-856B-8FBECEA7768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6" r="1" b="390"/>
          <a:stretch/>
        </p:blipFill>
        <p:spPr>
          <a:xfrm>
            <a:off x="4190180" y="2422095"/>
            <a:ext cx="3794760" cy="2013804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39ADAE41-27AB-29F8-A7F2-AF7DF3041A5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4" r="1" b="1"/>
          <a:stretch/>
        </p:blipFill>
        <p:spPr>
          <a:xfrm>
            <a:off x="8093394" y="2422097"/>
            <a:ext cx="3794760" cy="2010551"/>
          </a:xfrm>
          <a:prstGeom prst="rect">
            <a:avLst/>
          </a:prstGeom>
        </p:spPr>
      </p:pic>
      <p:cxnSp>
        <p:nvCxnSpPr>
          <p:cNvPr id="26" name="Straight Connector 19">
            <a:extLst>
              <a:ext uri="{FF2B5EF4-FFF2-40B4-BE49-F238E27FC236}">
                <a16:creationId xmlns:a16="http://schemas.microsoft.com/office/drawing/2014/main" xmlns="" id="{5C34627B-48E6-4F4D-B843-97717A86B4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27963" y="5694097"/>
            <a:ext cx="91440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36B8478-013C-FD3C-99E9-F45E03247E56}"/>
              </a:ext>
            </a:extLst>
          </p:cNvPr>
          <p:cNvSpPr txBox="1"/>
          <p:nvPr/>
        </p:nvSpPr>
        <p:spPr>
          <a:xfrm>
            <a:off x="727962" y="5114293"/>
            <a:ext cx="1107261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GB" sz="22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AMD </a:t>
            </a:r>
            <a:r>
              <a:rPr lang="bg-BG" sz="22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представи своите официални тестове на производителността:</a:t>
            </a:r>
            <a:endParaRPr lang="x-none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57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xmlns="" id="{4038CB10-1F5C-4D54-9DF7-12586DE5B0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27546" y="321732"/>
            <a:ext cx="7058307" cy="1964266"/>
          </a:xfrm>
          <a:prstGeom prst="rect">
            <a:avLst/>
          </a:prstGeom>
          <a:solidFill>
            <a:srgbClr val="755C34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523D15-E8BC-12C5-8D42-14B9070F8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91260"/>
            <a:ext cx="6594189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dirty="0">
                <a:solidFill>
                  <a:srgbClr val="FFFFFF"/>
                </a:solidFill>
              </a:rPr>
              <a:t>Процесори за геймърски </a:t>
            </a:r>
            <a:r>
              <a:rPr lang="en-US" dirty="0">
                <a:solidFill>
                  <a:srgbClr val="FFFFFF"/>
                </a:solidFill>
              </a:rPr>
              <a:t>лаптопи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8EEC4769-9A0B-D671-7FC0-A7E74B6B04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2" b="-3"/>
          <a:stretch/>
        </p:blipFill>
        <p:spPr>
          <a:xfrm>
            <a:off x="327547" y="2454903"/>
            <a:ext cx="7058306" cy="4080254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xmlns="" id="{73ED6512-6858-4552-B699-9A97FE9A4E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56975" y="321732"/>
            <a:ext cx="431329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854A43-5140-E945-E0D8-CBDC7E91D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29319" y="917725"/>
            <a:ext cx="3424739" cy="48523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0" i="0" u="none" strike="noStrike">
                <a:solidFill>
                  <a:srgbClr val="FFFFFF"/>
                </a:solidFill>
                <a:effectLst/>
              </a:rPr>
              <a:t>Геймърски лаптопи с хибридните процесори Ryzen 6000 трябва да излязат на пазара през месец февруари тази година. Свои собствени модели са подготвили компаниите Acer, ROG, Alienware, HP, Lenovo и Razer. AMD от своя страна съобщи, че през 2022 година ще излязат над 200 различни модели лаптопи с новите процесори.</a:t>
            </a:r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673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1">
            <a:extLst>
              <a:ext uri="{FF2B5EF4-FFF2-40B4-BE49-F238E27FC236}">
                <a16:creationId xmlns:a16="http://schemas.microsoft.com/office/drawing/2014/main" xmlns="" id="{FC3D2873-2194-4FB0-BFBA-7E7EEB9848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6350857D-C37C-82B7-27A1-E5F676615B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8" r="19184" b="2"/>
          <a:stretch/>
        </p:blipFill>
        <p:spPr>
          <a:xfrm>
            <a:off x="8529321" y="10"/>
            <a:ext cx="3662680" cy="3401558"/>
          </a:xfrm>
          <a:custGeom>
            <a:avLst/>
            <a:gdLst/>
            <a:ahLst/>
            <a:cxnLst/>
            <a:rect l="l" t="t" r="r" b="b"/>
            <a:pathLst>
              <a:path w="3662680" h="3401568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xmlns="" id="{1ADE1FAD-B98C-7810-945E-78399B7E9C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3" r="16058"/>
          <a:stretch/>
        </p:blipFill>
        <p:spPr>
          <a:xfrm>
            <a:off x="5115314" y="10"/>
            <a:ext cx="4118110" cy="3401558"/>
          </a:xfrm>
          <a:custGeom>
            <a:avLst/>
            <a:gdLst/>
            <a:ahLst/>
            <a:cxnLst/>
            <a:rect l="l" t="t" r="r" b="b"/>
            <a:pathLst>
              <a:path w="4118110" h="3401568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C1C2DD6F-B41D-FAC8-AFF9-88B228BD85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2" r="-1" b="-1"/>
          <a:stretch/>
        </p:blipFill>
        <p:spPr>
          <a:xfrm>
            <a:off x="5168353" y="3456432"/>
            <a:ext cx="7023646" cy="3401568"/>
          </a:xfrm>
          <a:custGeom>
            <a:avLst/>
            <a:gdLst/>
            <a:ahLst/>
            <a:cxnLst/>
            <a:rect l="l" t="t" r="r" b="b"/>
            <a:pathLst>
              <a:path w="7023646" h="3401568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</p:spPr>
      </p:pic>
      <p:sp useBgFill="1">
        <p:nvSpPr>
          <p:cNvPr id="27" name="Freeform: Shape 13">
            <a:extLst>
              <a:ext uri="{FF2B5EF4-FFF2-40B4-BE49-F238E27FC236}">
                <a16:creationId xmlns:a16="http://schemas.microsoft.com/office/drawing/2014/main" xmlns="" id="{B228652A-FD81-4A3C-B164-2012BF4EE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5927943" cy="6858000"/>
          </a:xfrm>
          <a:custGeom>
            <a:avLst/>
            <a:gdLst>
              <a:gd name="connsiteX0" fmla="*/ 0 w 5927943"/>
              <a:gd name="connsiteY0" fmla="*/ 0 h 6858000"/>
              <a:gd name="connsiteX1" fmla="*/ 5129522 w 5927943"/>
              <a:gd name="connsiteY1" fmla="*/ 0 h 6858000"/>
              <a:gd name="connsiteX2" fmla="*/ 5289639 w 5927943"/>
              <a:gd name="connsiteY2" fmla="*/ 323150 h 6858000"/>
              <a:gd name="connsiteX3" fmla="*/ 5927943 w 5927943"/>
              <a:gd name="connsiteY3" fmla="*/ 3476847 h 6858000"/>
              <a:gd name="connsiteX4" fmla="*/ 5289639 w 5927943"/>
              <a:gd name="connsiteY4" fmla="*/ 6630545 h 6858000"/>
              <a:gd name="connsiteX5" fmla="*/ 5176937 w 5927943"/>
              <a:gd name="connsiteY5" fmla="*/ 6858000 h 6858000"/>
              <a:gd name="connsiteX6" fmla="*/ 0 w 592794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7943" h="6858000">
                <a:moveTo>
                  <a:pt x="0" y="0"/>
                </a:moveTo>
                <a:lnTo>
                  <a:pt x="5129522" y="0"/>
                </a:lnTo>
                <a:lnTo>
                  <a:pt x="5289639" y="323150"/>
                </a:lnTo>
                <a:cubicBezTo>
                  <a:pt x="5692631" y="1223391"/>
                  <a:pt x="5927943" y="2308646"/>
                  <a:pt x="5927943" y="3476847"/>
                </a:cubicBezTo>
                <a:cubicBezTo>
                  <a:pt x="5927943" y="4645048"/>
                  <a:pt x="5692631" y="5730304"/>
                  <a:pt x="5289639" y="6630545"/>
                </a:cubicBezTo>
                <a:lnTo>
                  <a:pt x="517693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8" name="Freeform: Shape 15">
            <a:extLst>
              <a:ext uri="{FF2B5EF4-FFF2-40B4-BE49-F238E27FC236}">
                <a16:creationId xmlns:a16="http://schemas.microsoft.com/office/drawing/2014/main" xmlns="" id="{FE8F25D8-4980-4C67-9E0C-7BE94C9CBF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5917310" cy="6858000"/>
          </a:xfrm>
          <a:custGeom>
            <a:avLst/>
            <a:gdLst>
              <a:gd name="connsiteX0" fmla="*/ 0 w 5917310"/>
              <a:gd name="connsiteY0" fmla="*/ 0 h 6858000"/>
              <a:gd name="connsiteX1" fmla="*/ 5118889 w 5917310"/>
              <a:gd name="connsiteY1" fmla="*/ 0 h 6858000"/>
              <a:gd name="connsiteX2" fmla="*/ 5279006 w 5917310"/>
              <a:gd name="connsiteY2" fmla="*/ 323150 h 6858000"/>
              <a:gd name="connsiteX3" fmla="*/ 5917310 w 5917310"/>
              <a:gd name="connsiteY3" fmla="*/ 3476847 h 6858000"/>
              <a:gd name="connsiteX4" fmla="*/ 5279006 w 5917310"/>
              <a:gd name="connsiteY4" fmla="*/ 6630545 h 6858000"/>
              <a:gd name="connsiteX5" fmla="*/ 5166304 w 5917310"/>
              <a:gd name="connsiteY5" fmla="*/ 6858000 h 6858000"/>
              <a:gd name="connsiteX6" fmla="*/ 0 w 591731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7310" h="6858000">
                <a:moveTo>
                  <a:pt x="0" y="0"/>
                </a:moveTo>
                <a:lnTo>
                  <a:pt x="5118889" y="0"/>
                </a:lnTo>
                <a:lnTo>
                  <a:pt x="5279006" y="323150"/>
                </a:lnTo>
                <a:cubicBezTo>
                  <a:pt x="5681998" y="1223391"/>
                  <a:pt x="5917310" y="2308646"/>
                  <a:pt x="5917310" y="3476847"/>
                </a:cubicBezTo>
                <a:cubicBezTo>
                  <a:pt x="5917310" y="4645048"/>
                  <a:pt x="5681998" y="5730304"/>
                  <a:pt x="5279006" y="6630545"/>
                </a:cubicBezTo>
                <a:lnTo>
                  <a:pt x="516630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6B1EA-CDAF-F0C0-2AEF-A06CB1D5E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527048"/>
            <a:ext cx="5020056" cy="27706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Новият десктоп процесор Ryzen 7 5800X3D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69F285-2D34-E89A-4ADE-E3364A206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912" y="4690872"/>
            <a:ext cx="4919472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Резултатите от официалните тестове на процесора Ryzen 7 5800X3D: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xmlns="" id="{1A214C69-1234-4E5D-91CD-BEA0020425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xmlns="" id="{F86E49C8-40C0-4E80-BAC0-9A66298F1D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822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5EBC18B6-E5C3-4AD1-97A4-E6A3477A0B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57DBFD-1CDB-9818-D8A4-BBE0C7389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2935541"/>
            <a:ext cx="6272784" cy="154533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Новият десктоп процесор Ryzen 7000 (Zen 4)</a:t>
            </a:r>
            <a:br>
              <a:rPr lang="en-US" sz="54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54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/>
            </a:r>
            <a:br>
              <a:rPr lang="en-US" sz="54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136A4AB6-B72B-4CC6-ADCF-BE807B6C3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A8470165-F9AE-3248-3B55-EA20B8AA7F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2" b="5656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35D540D-9486-4236-952A-F72DC52D79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8863B6-7606-B0A1-0D33-966BA70AA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b="0" i="0" u="none" strike="noStrike">
                <a:effectLst/>
              </a:rPr>
              <a:t>С процесорите Ryzen 7000 компанията AMD ще извърши преход към DDR5 оперативната памет и PCI Express 5.0 интерфейса. Тези чипове ще изискват и смяна на сокета – компанията ще се откаже от PGA и ще започне да използва LGA със 1718 контактни площадки. Ще бъде запазена съвместимостта с досегашните охладители и вентилатори за платформата AM4.</a:t>
            </a:r>
            <a:endParaRPr lang="en-US" sz="220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82306A7C-3F05-DE56-AF2A-367CCE1127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9" b="9294"/>
          <a:stretch/>
        </p:blipFill>
        <p:spPr>
          <a:xfrm>
            <a:off x="7684008" y="0"/>
            <a:ext cx="4507992" cy="224028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xmlns="" id="{DF0F5E38-2769-9FD4-8E54-C1512DDB7B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95"/>
          <a:stretch/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06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!!Rectangle">
            <a:extLst>
              <a:ext uri="{FF2B5EF4-FFF2-40B4-BE49-F238E27FC236}">
                <a16:creationId xmlns:a16="http://schemas.microsoft.com/office/drawing/2014/main" xmlns="" id="{7C432AFE-B3D2-4BFF-BF8F-96C27AFF1A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C574E7A2-439F-BED4-EFF9-7E978B0756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6239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8462B1-69F7-DDB6-5ED0-5BE60281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bg-BG" sz="5000" b="1"/>
              <a:t>Тест по презентацията</a:t>
            </a:r>
            <a:endParaRPr lang="x-none" sz="50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8C7365-2030-563C-4238-F9AEE8478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bg-BG" sz="2000"/>
              <a:t>1 въпрос: Как се наричаха новите </a:t>
            </a:r>
            <a:r>
              <a:rPr lang="en-GB" sz="2000"/>
              <a:t>Intel</a:t>
            </a:r>
            <a:r>
              <a:rPr lang="bg-BG" sz="2000"/>
              <a:t> декстоп процесори?</a:t>
            </a:r>
          </a:p>
          <a:p>
            <a:r>
              <a:rPr lang="bg-BG" sz="2000"/>
              <a:t>2 въпрос: За кой </a:t>
            </a:r>
            <a:r>
              <a:rPr lang="en-GB" sz="2000"/>
              <a:t>Intel </a:t>
            </a:r>
            <a:r>
              <a:rPr lang="bg-BG" sz="2000"/>
              <a:t>процесор си говорихме и какви са неговите характеристики?</a:t>
            </a:r>
          </a:p>
          <a:p>
            <a:r>
              <a:rPr lang="bg-BG" sz="2000"/>
              <a:t>3 въпрос: Кои бяха новите </a:t>
            </a:r>
            <a:r>
              <a:rPr lang="en-GB" sz="2000"/>
              <a:t>AMD </a:t>
            </a:r>
            <a:r>
              <a:rPr lang="bg-BG" sz="2000"/>
              <a:t>процесори, които разгледахме?</a:t>
            </a:r>
          </a:p>
          <a:p>
            <a:r>
              <a:rPr lang="bg-BG" sz="2000"/>
              <a:t>4 въпрос: Какво беше новото условие за приспособление на втория </a:t>
            </a:r>
            <a:r>
              <a:rPr lang="en-GB" sz="2000"/>
              <a:t>AMD </a:t>
            </a:r>
            <a:r>
              <a:rPr lang="bg-BG" sz="2000"/>
              <a:t>процесор, които разгледахме?</a:t>
            </a:r>
            <a:endParaRPr lang="x-none" sz="2000"/>
          </a:p>
        </p:txBody>
      </p:sp>
    </p:spTree>
    <p:extLst>
      <p:ext uri="{BB962C8B-B14F-4D97-AF65-F5344CB8AC3E}">
        <p14:creationId xmlns:p14="http://schemas.microsoft.com/office/powerpoint/2010/main" val="433000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EA2D4E34-CF13-EDC9-7A52-6CEC2A675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62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xmlns="" id="{87CC2527-562A-4F69-B487-4371E5B24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9BB5CA-10AA-1513-0A97-1EBA14AD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020" y="4567806"/>
            <a:ext cx="3852041" cy="18340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bg-BG" sz="6000" b="1"/>
              <a:t>Източници:</a:t>
            </a:r>
            <a:r>
              <a:rPr lang="bg-BG" sz="1400" b="1"/>
              <a:t/>
            </a:r>
            <a:br>
              <a:rPr lang="bg-BG" sz="1400" b="1"/>
            </a:br>
            <a:r>
              <a:rPr lang="en-GB" sz="1400" b="1"/>
              <a:t>https://www.kaldata.com/%D1%85%D0%B0%D1%80%D0%B4%D1%83%D0%B5%D1%80/%D0%B3%D0%BE%D0%BB%D1%8F%D0%BC%D0%B0%D1%82%D0%B0-%D0%BF%D1%80%D0%B5%D0%B7%D0%B5%D0%BD%D1%82%D0%B0%D1%86%D0%B8%D1%8F-%D0%BD%D0%B0-amd-%D0%BD%D0%B0-ces-2022-376238.html?amp=1</a:t>
            </a:r>
            <a:r>
              <a:rPr lang="bg-BG" sz="5400" b="1"/>
              <a:t/>
            </a:r>
            <a:br>
              <a:rPr lang="bg-BG" sz="5400" b="1"/>
            </a:br>
            <a:endParaRPr lang="en-US" sz="5400" b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BCDAEC91-5BCE-4B55-9CC0-43EF94CB73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34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Microsoft Office PowerPoint</Application>
  <PresentationFormat>Custom</PresentationFormat>
  <Paragraphs>45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 2013 - 2022</vt:lpstr>
      <vt:lpstr>СЪВРЕМЕННИ ПРОЦЕСОРИ НА Intel и AMD, АРИХИТЕКТУТИ И ХАРАКТЕРИСТИКИ </vt:lpstr>
      <vt:lpstr>Съдържание</vt:lpstr>
      <vt:lpstr>Intel през 2022 година</vt:lpstr>
      <vt:lpstr>Новите десктоп процесори Alder Lake </vt:lpstr>
      <vt:lpstr>При първоначалния анонс, гамата процесори Alder Lake бе доста ограничена – само шест модела и по-точно едва три, ако не броим версиите с интегрирана графика и без графика. По време на изложението CES 2022 Intel показа нови десктоп процесори и анонсира още 22 модела, предназначение както за устройства от начално ниво, така и за високопроизводителни компютърни системи.</vt:lpstr>
      <vt:lpstr>PowerPoint Presentation</vt:lpstr>
      <vt:lpstr>Intel накратко спомена и все още неизлезлият процесор Core i9-12900KS. При този чип максималната тактова честота на едно ядро достига 5,5 GHz, а при многоядрено натоварване тактовата честота отново превишава 5 GHz и достига 5,2 GHz при работата на всички ядра.</vt:lpstr>
      <vt:lpstr>Core i9-12900KS</vt:lpstr>
      <vt:lpstr>Мобилните процесори Alder Lake </vt:lpstr>
      <vt:lpstr>PowerPoint Presentation</vt:lpstr>
      <vt:lpstr>AMD през 2022 година</vt:lpstr>
      <vt:lpstr>Ryzen 6000 (Rembrandt) – новото поколение мобилни хибридни процесори на AMD</vt:lpstr>
      <vt:lpstr>Архитектурните особености и различните нововъведения на процесорите Ryzen 6000 бяха дадени във вид на слайдове, които могат да се видят по-долу. По-подробно ще се спрем в друга статия.</vt:lpstr>
      <vt:lpstr>PowerPoint Presentation</vt:lpstr>
      <vt:lpstr>Процесори за геймърски лаптопи</vt:lpstr>
      <vt:lpstr>Новият десктоп процесор Ryzen 7 5800X3D</vt:lpstr>
      <vt:lpstr>Новият десктоп процесор Ryzen 7000 (Zen 4)  </vt:lpstr>
      <vt:lpstr>Тест по презентацията</vt:lpstr>
      <vt:lpstr>Източници: https://www.kaldata.com/%D1%85%D0%B0%D1%80%D0%B4%D1%83%D0%B5%D1%80/%D0%B3%D0%BE%D0%BB%D1%8F%D0%BC%D0%B0%D1%82%D0%B0-%D0%BF%D1%80%D0%B5%D0%B7%D0%B5%D0%BD%D1%82%D0%B0%D1%86%D0%B8%D1%8F-%D0%BD%D0%B0-amd-%D0%BD%D0%B0-ces-2022-376238.html?amp=1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СЪВРЕМЕННИ ПРОЦЕСОРИ НА Intel и AMD, АРИХИТЕКТУТИ И ХАРАКТЕРИСТИКИ</dc:title>
  <dc:creator>Атанас Д. Енчев</dc:creator>
  <cp:lastModifiedBy>PC-0</cp:lastModifiedBy>
  <cp:revision>5</cp:revision>
  <dcterms:created xsi:type="dcterms:W3CDTF">2022-12-14T21:15:28Z</dcterms:created>
  <dcterms:modified xsi:type="dcterms:W3CDTF">2022-12-20T10:28:45Z</dcterms:modified>
</cp:coreProperties>
</file>