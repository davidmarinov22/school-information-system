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7"/>
  </p:notesMasterIdLst>
  <p:sldIdLst>
    <p:sldId id="256" r:id="rId2"/>
    <p:sldId id="332" r:id="rId3"/>
    <p:sldId id="257" r:id="rId4"/>
    <p:sldId id="328" r:id="rId5"/>
    <p:sldId id="337" r:id="rId6"/>
    <p:sldId id="330" r:id="rId7"/>
    <p:sldId id="329" r:id="rId8"/>
    <p:sldId id="331" r:id="rId9"/>
    <p:sldId id="315" r:id="rId10"/>
    <p:sldId id="314" r:id="rId11"/>
    <p:sldId id="323" r:id="rId12"/>
    <p:sldId id="324" r:id="rId13"/>
    <p:sldId id="338" r:id="rId14"/>
    <p:sldId id="339" r:id="rId15"/>
    <p:sldId id="326" r:id="rId16"/>
    <p:sldId id="325" r:id="rId17"/>
    <p:sldId id="327" r:id="rId18"/>
    <p:sldId id="336" r:id="rId19"/>
    <p:sldId id="318" r:id="rId20"/>
    <p:sldId id="316" r:id="rId21"/>
    <p:sldId id="319" r:id="rId22"/>
    <p:sldId id="320" r:id="rId23"/>
    <p:sldId id="321" r:id="rId24"/>
    <p:sldId id="340" r:id="rId25"/>
    <p:sldId id="322" r:id="rId26"/>
  </p:sldIdLst>
  <p:sldSz cx="9144000" cy="5143500" type="screen16x9"/>
  <p:notesSz cx="6858000" cy="9144000"/>
  <p:embeddedFontLst>
    <p:embeddedFont>
      <p:font typeface="PT Sans" panose="020B0604020202020204" charset="0"/>
      <p:regular r:id="rId28"/>
      <p:bold r:id="rId29"/>
      <p:italic r:id="rId30"/>
      <p:boldItalic r:id="rId31"/>
    </p:embeddedFont>
    <p:embeddedFont>
      <p:font typeface="Roboto Condensed Light" panose="020B0604020202020204" charset="0"/>
      <p:regular r:id="rId32"/>
      <p:italic r:id="rId33"/>
    </p:embeddedFont>
    <p:embeddedFont>
      <p:font typeface="Exo"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157208A-B2B1-42CA-8BFE-BF28F466D52D}">
  <a:tblStyle styleId="{5157208A-B2B1-42CA-8BFE-BF28F466D52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65" autoAdjust="0"/>
    <p:restoredTop sz="95226" autoAdjust="0"/>
  </p:normalViewPr>
  <p:slideViewPr>
    <p:cSldViewPr snapToGrid="0">
      <p:cViewPr varScale="1">
        <p:scale>
          <a:sx n="95" d="100"/>
          <a:sy n="95" d="100"/>
        </p:scale>
        <p:origin x="-672"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578982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5"/>
        <p:cNvGrpSpPr/>
        <p:nvPr/>
      </p:nvGrpSpPr>
      <p:grpSpPr>
        <a:xfrm>
          <a:off x="0" y="0"/>
          <a:ext cx="0" cy="0"/>
          <a:chOff x="0" y="0"/>
          <a:chExt cx="0" cy="0"/>
        </a:xfrm>
      </p:grpSpPr>
      <p:sp>
        <p:nvSpPr>
          <p:cNvPr id="2656" name="Google Shape;26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7" name="Google Shape;26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0"/>
        <p:cNvGrpSpPr/>
        <p:nvPr/>
      </p:nvGrpSpPr>
      <p:grpSpPr>
        <a:xfrm>
          <a:off x="0" y="0"/>
          <a:ext cx="0" cy="0"/>
          <a:chOff x="0" y="0"/>
          <a:chExt cx="0" cy="0"/>
        </a:xfrm>
      </p:grpSpPr>
      <p:sp>
        <p:nvSpPr>
          <p:cNvPr id="2721" name="Google Shape;2721;gf11272de0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2" name="Google Shape;2722;gf11272de0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732776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4" y="-27"/>
            <a:ext cx="9143711" cy="5143338"/>
            <a:chOff x="597550" y="708125"/>
            <a:chExt cx="6449225" cy="4193850"/>
          </a:xfrm>
        </p:grpSpPr>
        <p:sp>
          <p:nvSpPr>
            <p:cNvPr id="10" name="Google Shape;10;p2"/>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2"/>
          <p:cNvSpPr txBox="1">
            <a:spLocks noGrp="1"/>
          </p:cNvSpPr>
          <p:nvPr>
            <p:ph type="ctrTitle"/>
          </p:nvPr>
        </p:nvSpPr>
        <p:spPr>
          <a:xfrm>
            <a:off x="1317600" y="1193625"/>
            <a:ext cx="6508800" cy="1724400"/>
          </a:xfrm>
          <a:prstGeom prst="rect">
            <a:avLst/>
          </a:prstGeom>
          <a:effectLst>
            <a:outerShdw blurRad="142875" algn="bl" rotWithShape="0">
              <a:schemeClr val="accent2">
                <a:alpha val="38000"/>
              </a:schemeClr>
            </a:outerShdw>
          </a:effectLst>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9" name="Google Shape;49;p2"/>
          <p:cNvSpPr txBox="1">
            <a:spLocks noGrp="1"/>
          </p:cNvSpPr>
          <p:nvPr>
            <p:ph type="subTitle" idx="1"/>
          </p:nvPr>
        </p:nvSpPr>
        <p:spPr>
          <a:xfrm>
            <a:off x="2298150" y="3376773"/>
            <a:ext cx="4547700" cy="3063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50" name="Google Shape;50;p2"/>
          <p:cNvGrpSpPr/>
          <p:nvPr/>
        </p:nvGrpSpPr>
        <p:grpSpPr>
          <a:xfrm>
            <a:off x="-11" y="606814"/>
            <a:ext cx="1284435" cy="586800"/>
            <a:chOff x="-11" y="606814"/>
            <a:chExt cx="1284435" cy="586800"/>
          </a:xfrm>
        </p:grpSpPr>
        <p:sp>
          <p:nvSpPr>
            <p:cNvPr id="51" name="Google Shape;51;p2"/>
            <p:cNvSpPr/>
            <p:nvPr/>
          </p:nvSpPr>
          <p:spPr>
            <a:xfrm rot="-5400000">
              <a:off x="348812" y="25800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 name="Google Shape;52;p2"/>
            <p:cNvGrpSpPr/>
            <p:nvPr/>
          </p:nvGrpSpPr>
          <p:grpSpPr>
            <a:xfrm rot="10800000">
              <a:off x="-11" y="779178"/>
              <a:ext cx="883262" cy="242091"/>
              <a:chOff x="2300350" y="2601250"/>
              <a:chExt cx="2275275" cy="623625"/>
            </a:xfrm>
          </p:grpSpPr>
          <p:sp>
            <p:nvSpPr>
              <p:cNvPr id="53" name="Google Shape;53;p2"/>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 name="Google Shape;59;p2"/>
          <p:cNvGrpSpPr/>
          <p:nvPr/>
        </p:nvGrpSpPr>
        <p:grpSpPr>
          <a:xfrm rot="5400000">
            <a:off x="85100" y="1849625"/>
            <a:ext cx="98902" cy="553090"/>
            <a:chOff x="4898850" y="4820550"/>
            <a:chExt cx="98902" cy="553090"/>
          </a:xfrm>
        </p:grpSpPr>
        <p:sp>
          <p:nvSpPr>
            <p:cNvPr id="60" name="Google Shape;60;p2"/>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2"/>
          <p:cNvGrpSpPr/>
          <p:nvPr/>
        </p:nvGrpSpPr>
        <p:grpSpPr>
          <a:xfrm>
            <a:off x="-1414555" y="3058729"/>
            <a:ext cx="2297800" cy="347400"/>
            <a:chOff x="-1414555" y="3058729"/>
            <a:chExt cx="2297800" cy="347400"/>
          </a:xfrm>
        </p:grpSpPr>
        <p:sp>
          <p:nvSpPr>
            <p:cNvPr id="66" name="Google Shape;66;p2"/>
            <p:cNvSpPr/>
            <p:nvPr/>
          </p:nvSpPr>
          <p:spPr>
            <a:xfrm>
              <a:off x="-1414555" y="33380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111455" y="30587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 name="Google Shape;68;p2"/>
          <p:cNvGrpSpPr/>
          <p:nvPr/>
        </p:nvGrpSpPr>
        <p:grpSpPr>
          <a:xfrm flipH="1">
            <a:off x="-799254" y="4139005"/>
            <a:ext cx="1823016" cy="196994"/>
            <a:chOff x="7857346" y="4002005"/>
            <a:chExt cx="1823016" cy="196994"/>
          </a:xfrm>
        </p:grpSpPr>
        <p:sp>
          <p:nvSpPr>
            <p:cNvPr id="69" name="Google Shape;69;p2"/>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72;p2"/>
          <p:cNvSpPr/>
          <p:nvPr/>
        </p:nvSpPr>
        <p:spPr>
          <a:xfrm rot="10800000">
            <a:off x="8027645" y="247897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10800000">
            <a:off x="8557211" y="38590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5400000">
            <a:off x="8206162"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 name="Google Shape;75;p2"/>
          <p:cNvGrpSpPr/>
          <p:nvPr/>
        </p:nvGrpSpPr>
        <p:grpSpPr>
          <a:xfrm>
            <a:off x="7812807" y="997962"/>
            <a:ext cx="1520982" cy="302065"/>
            <a:chOff x="5642557" y="-150670"/>
            <a:chExt cx="1520982" cy="302065"/>
          </a:xfrm>
        </p:grpSpPr>
        <p:sp>
          <p:nvSpPr>
            <p:cNvPr id="76" name="Google Shape;76;p2"/>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2"/>
          <p:cNvGrpSpPr/>
          <p:nvPr/>
        </p:nvGrpSpPr>
        <p:grpSpPr>
          <a:xfrm>
            <a:off x="8495989" y="1713528"/>
            <a:ext cx="883262" cy="242091"/>
            <a:chOff x="2300350" y="2601250"/>
            <a:chExt cx="2275275" cy="623625"/>
          </a:xfrm>
        </p:grpSpPr>
        <p:sp>
          <p:nvSpPr>
            <p:cNvPr id="82" name="Google Shape;82;p2"/>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88;p2"/>
          <p:cNvGrpSpPr/>
          <p:nvPr/>
        </p:nvGrpSpPr>
        <p:grpSpPr>
          <a:xfrm>
            <a:off x="8267392" y="3231066"/>
            <a:ext cx="1105976" cy="133969"/>
            <a:chOff x="8183182" y="663852"/>
            <a:chExt cx="1475028" cy="178673"/>
          </a:xfrm>
        </p:grpSpPr>
        <p:grpSp>
          <p:nvGrpSpPr>
            <p:cNvPr id="89" name="Google Shape;89;p2"/>
            <p:cNvGrpSpPr/>
            <p:nvPr/>
          </p:nvGrpSpPr>
          <p:grpSpPr>
            <a:xfrm>
              <a:off x="8183182" y="774425"/>
              <a:ext cx="1178025" cy="68100"/>
              <a:chOff x="2024450" y="204150"/>
              <a:chExt cx="1178025" cy="68100"/>
            </a:xfrm>
          </p:grpSpPr>
          <p:sp>
            <p:nvSpPr>
              <p:cNvPr id="90" name="Google Shape;90;p2"/>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2"/>
            <p:cNvGrpSpPr/>
            <p:nvPr/>
          </p:nvGrpSpPr>
          <p:grpSpPr>
            <a:xfrm>
              <a:off x="8480185" y="663852"/>
              <a:ext cx="1178025" cy="68100"/>
              <a:chOff x="2024450" y="204150"/>
              <a:chExt cx="1178025" cy="68100"/>
            </a:xfrm>
          </p:grpSpPr>
          <p:sp>
            <p:nvSpPr>
              <p:cNvPr id="101" name="Google Shape;101;p2"/>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 name="Google Shape;111;p2"/>
          <p:cNvGrpSpPr/>
          <p:nvPr/>
        </p:nvGrpSpPr>
        <p:grpSpPr>
          <a:xfrm rot="5400000">
            <a:off x="8520259" y="3926674"/>
            <a:ext cx="302065" cy="1520982"/>
            <a:chOff x="-108754" y="2690919"/>
            <a:chExt cx="302065" cy="1520982"/>
          </a:xfrm>
        </p:grpSpPr>
        <p:sp>
          <p:nvSpPr>
            <p:cNvPr id="112" name="Google Shape;112;p2"/>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 name="Google Shape;117;p2"/>
          <p:cNvGrpSpPr/>
          <p:nvPr/>
        </p:nvGrpSpPr>
        <p:grpSpPr>
          <a:xfrm>
            <a:off x="1710357" y="-107958"/>
            <a:ext cx="1520982" cy="302065"/>
            <a:chOff x="5642557" y="-150670"/>
            <a:chExt cx="1520982" cy="302065"/>
          </a:xfrm>
        </p:grpSpPr>
        <p:sp>
          <p:nvSpPr>
            <p:cNvPr id="118" name="Google Shape;118;p2"/>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123;p2"/>
          <p:cNvGrpSpPr/>
          <p:nvPr/>
        </p:nvGrpSpPr>
        <p:grpSpPr>
          <a:xfrm>
            <a:off x="6420895" y="-1455296"/>
            <a:ext cx="347400" cy="2297800"/>
            <a:chOff x="6420895" y="-1455296"/>
            <a:chExt cx="347400" cy="2297800"/>
          </a:xfrm>
        </p:grpSpPr>
        <p:sp>
          <p:nvSpPr>
            <p:cNvPr id="124" name="Google Shape;124;p2"/>
            <p:cNvSpPr/>
            <p:nvPr/>
          </p:nvSpPr>
          <p:spPr>
            <a:xfrm rot="5400000">
              <a:off x="5457595" y="-4919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rot="5400000">
              <a:off x="5736895" y="-1888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2"/>
          <p:cNvSpPr/>
          <p:nvPr/>
        </p:nvSpPr>
        <p:spPr>
          <a:xfrm rot="10800000">
            <a:off x="1023762" y="4389464"/>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9"/>
        <p:cNvGrpSpPr/>
        <p:nvPr/>
      </p:nvGrpSpPr>
      <p:grpSpPr>
        <a:xfrm>
          <a:off x="0" y="0"/>
          <a:ext cx="0" cy="0"/>
          <a:chOff x="0" y="0"/>
          <a:chExt cx="0" cy="0"/>
        </a:xfrm>
      </p:grpSpPr>
      <p:grpSp>
        <p:nvGrpSpPr>
          <p:cNvPr id="230" name="Google Shape;230;p4"/>
          <p:cNvGrpSpPr/>
          <p:nvPr/>
        </p:nvGrpSpPr>
        <p:grpSpPr>
          <a:xfrm>
            <a:off x="-24" y="-27"/>
            <a:ext cx="9143711" cy="5143338"/>
            <a:chOff x="597550" y="708125"/>
            <a:chExt cx="6449225" cy="4193850"/>
          </a:xfrm>
        </p:grpSpPr>
        <p:sp>
          <p:nvSpPr>
            <p:cNvPr id="231" name="Google Shape;231;p4"/>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4"/>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4"/>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4"/>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9" name="Google Shape;269;p4"/>
          <p:cNvSpPr txBox="1">
            <a:spLocks noGrp="1"/>
          </p:cNvSpPr>
          <p:nvPr>
            <p:ph type="title"/>
          </p:nvPr>
        </p:nvSpPr>
        <p:spPr>
          <a:xfrm>
            <a:off x="713100" y="539400"/>
            <a:ext cx="7717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70" name="Google Shape;270;p4"/>
          <p:cNvSpPr txBox="1">
            <a:spLocks noGrp="1"/>
          </p:cNvSpPr>
          <p:nvPr>
            <p:ph type="body" idx="1"/>
          </p:nvPr>
        </p:nvSpPr>
        <p:spPr>
          <a:xfrm>
            <a:off x="713100" y="1187700"/>
            <a:ext cx="7717800" cy="34164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rgbClr val="434343"/>
              </a:buClr>
              <a:buSzPts val="120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grpSp>
        <p:nvGrpSpPr>
          <p:cNvPr id="271" name="Google Shape;271;p4"/>
          <p:cNvGrpSpPr/>
          <p:nvPr/>
        </p:nvGrpSpPr>
        <p:grpSpPr>
          <a:xfrm rot="5400000" flipH="1">
            <a:off x="7845446" y="144030"/>
            <a:ext cx="1823016" cy="296643"/>
            <a:chOff x="7857346" y="3902355"/>
            <a:chExt cx="1823016" cy="296643"/>
          </a:xfrm>
        </p:grpSpPr>
        <p:sp>
          <p:nvSpPr>
            <p:cNvPr id="272" name="Google Shape;272;p4"/>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 name="Google Shape;278;p4"/>
          <p:cNvSpPr/>
          <p:nvPr/>
        </p:nvSpPr>
        <p:spPr>
          <a:xfrm rot="5400000">
            <a:off x="8206161" y="42078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 name="Google Shape;279;p4"/>
          <p:cNvGrpSpPr/>
          <p:nvPr/>
        </p:nvGrpSpPr>
        <p:grpSpPr>
          <a:xfrm>
            <a:off x="8085946" y="4723543"/>
            <a:ext cx="1823016" cy="196994"/>
            <a:chOff x="8085946" y="4723543"/>
            <a:chExt cx="1823016" cy="196994"/>
          </a:xfrm>
        </p:grpSpPr>
        <p:sp>
          <p:nvSpPr>
            <p:cNvPr id="280" name="Google Shape;280;p4"/>
            <p:cNvSpPr/>
            <p:nvPr/>
          </p:nvSpPr>
          <p:spPr>
            <a:xfrm rot="10800000" flipH="1">
              <a:off x="8184816" y="4723543"/>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
            <p:cNvSpPr/>
            <p:nvPr/>
          </p:nvSpPr>
          <p:spPr>
            <a:xfrm rot="10800000" flipH="1">
              <a:off x="8085946" y="4828583"/>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
            <p:cNvSpPr/>
            <p:nvPr/>
          </p:nvSpPr>
          <p:spPr>
            <a:xfrm rot="10800000" flipH="1">
              <a:off x="8110687" y="4853293"/>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4"/>
          <p:cNvGrpSpPr/>
          <p:nvPr/>
        </p:nvGrpSpPr>
        <p:grpSpPr>
          <a:xfrm>
            <a:off x="-243064" y="160512"/>
            <a:ext cx="1105976" cy="133969"/>
            <a:chOff x="8183182" y="663852"/>
            <a:chExt cx="1475028" cy="178673"/>
          </a:xfrm>
        </p:grpSpPr>
        <p:grpSp>
          <p:nvGrpSpPr>
            <p:cNvPr id="284" name="Google Shape;284;p4"/>
            <p:cNvGrpSpPr/>
            <p:nvPr/>
          </p:nvGrpSpPr>
          <p:grpSpPr>
            <a:xfrm>
              <a:off x="8183182" y="774425"/>
              <a:ext cx="1178025" cy="68100"/>
              <a:chOff x="2024450" y="204150"/>
              <a:chExt cx="1178025" cy="68100"/>
            </a:xfrm>
          </p:grpSpPr>
          <p:sp>
            <p:nvSpPr>
              <p:cNvPr id="285" name="Google Shape;285;p4"/>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4"/>
            <p:cNvGrpSpPr/>
            <p:nvPr/>
          </p:nvGrpSpPr>
          <p:grpSpPr>
            <a:xfrm>
              <a:off x="8480185" y="663852"/>
              <a:ext cx="1178025" cy="68100"/>
              <a:chOff x="2024450" y="204150"/>
              <a:chExt cx="1178025" cy="68100"/>
            </a:xfrm>
          </p:grpSpPr>
          <p:sp>
            <p:nvSpPr>
              <p:cNvPr id="296" name="Google Shape;296;p4"/>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6" name="Google Shape;306;p4"/>
          <p:cNvSpPr/>
          <p:nvPr/>
        </p:nvSpPr>
        <p:spPr>
          <a:xfrm>
            <a:off x="-1568655" y="33635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
          <p:cNvSpPr/>
          <p:nvPr/>
        </p:nvSpPr>
        <p:spPr>
          <a:xfrm rot="10800000">
            <a:off x="12" y="3859064"/>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8"/>
        <p:cNvGrpSpPr/>
        <p:nvPr/>
      </p:nvGrpSpPr>
      <p:grpSpPr>
        <a:xfrm>
          <a:off x="0" y="0"/>
          <a:ext cx="0" cy="0"/>
          <a:chOff x="0" y="0"/>
          <a:chExt cx="0" cy="0"/>
        </a:xfrm>
      </p:grpSpPr>
      <p:grpSp>
        <p:nvGrpSpPr>
          <p:cNvPr id="309" name="Google Shape;309;p5"/>
          <p:cNvGrpSpPr/>
          <p:nvPr/>
        </p:nvGrpSpPr>
        <p:grpSpPr>
          <a:xfrm>
            <a:off x="-24" y="-27"/>
            <a:ext cx="9143711" cy="5143338"/>
            <a:chOff x="597550" y="708125"/>
            <a:chExt cx="6449225" cy="4193850"/>
          </a:xfrm>
        </p:grpSpPr>
        <p:sp>
          <p:nvSpPr>
            <p:cNvPr id="310" name="Google Shape;310;p5"/>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5"/>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5"/>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5"/>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5"/>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5"/>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5"/>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5"/>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5"/>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5"/>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8" name="Google Shape;348;p5"/>
          <p:cNvSpPr txBox="1">
            <a:spLocks noGrp="1"/>
          </p:cNvSpPr>
          <p:nvPr>
            <p:ph type="title"/>
          </p:nvPr>
        </p:nvSpPr>
        <p:spPr>
          <a:xfrm>
            <a:off x="713100" y="539400"/>
            <a:ext cx="7717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49" name="Google Shape;349;p5"/>
          <p:cNvSpPr txBox="1">
            <a:spLocks noGrp="1"/>
          </p:cNvSpPr>
          <p:nvPr>
            <p:ph type="title" idx="2"/>
          </p:nvPr>
        </p:nvSpPr>
        <p:spPr>
          <a:xfrm>
            <a:off x="1540500" y="2903250"/>
            <a:ext cx="26220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350" name="Google Shape;350;p5"/>
          <p:cNvSpPr txBox="1">
            <a:spLocks noGrp="1"/>
          </p:cNvSpPr>
          <p:nvPr>
            <p:ph type="subTitle" idx="1"/>
          </p:nvPr>
        </p:nvSpPr>
        <p:spPr>
          <a:xfrm>
            <a:off x="1540500" y="3299259"/>
            <a:ext cx="2622000" cy="96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5"/>
          <p:cNvSpPr txBox="1">
            <a:spLocks noGrp="1"/>
          </p:cNvSpPr>
          <p:nvPr>
            <p:ph type="title" idx="3"/>
          </p:nvPr>
        </p:nvSpPr>
        <p:spPr>
          <a:xfrm>
            <a:off x="4987075" y="2903250"/>
            <a:ext cx="2622000" cy="273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352" name="Google Shape;352;p5"/>
          <p:cNvSpPr txBox="1">
            <a:spLocks noGrp="1"/>
          </p:cNvSpPr>
          <p:nvPr>
            <p:ph type="subTitle" idx="4"/>
          </p:nvPr>
        </p:nvSpPr>
        <p:spPr>
          <a:xfrm>
            <a:off x="4987075" y="3299258"/>
            <a:ext cx="2622000" cy="96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53" name="Google Shape;353;p5"/>
          <p:cNvGrpSpPr/>
          <p:nvPr/>
        </p:nvGrpSpPr>
        <p:grpSpPr>
          <a:xfrm>
            <a:off x="1062892" y="4807516"/>
            <a:ext cx="1548000" cy="68100"/>
            <a:chOff x="3980838" y="4076181"/>
            <a:chExt cx="1548000" cy="68100"/>
          </a:xfrm>
        </p:grpSpPr>
        <p:sp>
          <p:nvSpPr>
            <p:cNvPr id="354" name="Google Shape;354;p5"/>
            <p:cNvSpPr/>
            <p:nvPr/>
          </p:nvSpPr>
          <p:spPr>
            <a:xfrm>
              <a:off x="398083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a:off x="410416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a:off x="422748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435081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p:nvPr/>
          </p:nvSpPr>
          <p:spPr>
            <a:xfrm>
              <a:off x="447413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
            <p:cNvSpPr/>
            <p:nvPr/>
          </p:nvSpPr>
          <p:spPr>
            <a:xfrm>
              <a:off x="459746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472078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p:nvPr/>
          </p:nvSpPr>
          <p:spPr>
            <a:xfrm>
              <a:off x="484411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
            <p:cNvSpPr/>
            <p:nvPr/>
          </p:nvSpPr>
          <p:spPr>
            <a:xfrm>
              <a:off x="496743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509076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521408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5337413"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5460738" y="4076181"/>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 name="Google Shape;367;p5"/>
          <p:cNvGrpSpPr/>
          <p:nvPr/>
        </p:nvGrpSpPr>
        <p:grpSpPr>
          <a:xfrm rot="5400000" flipH="1">
            <a:off x="-531622" y="163274"/>
            <a:ext cx="1823016" cy="296643"/>
            <a:chOff x="7857346" y="3902355"/>
            <a:chExt cx="1823016" cy="296643"/>
          </a:xfrm>
        </p:grpSpPr>
        <p:sp>
          <p:nvSpPr>
            <p:cNvPr id="368" name="Google Shape;368;p5"/>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 name="Google Shape;374;p5"/>
          <p:cNvGrpSpPr/>
          <p:nvPr/>
        </p:nvGrpSpPr>
        <p:grpSpPr>
          <a:xfrm>
            <a:off x="4664363" y="4961113"/>
            <a:ext cx="1520982" cy="302065"/>
            <a:chOff x="5642557" y="-150670"/>
            <a:chExt cx="1520982" cy="302065"/>
          </a:xfrm>
        </p:grpSpPr>
        <p:sp>
          <p:nvSpPr>
            <p:cNvPr id="375" name="Google Shape;375;p5"/>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380;p5"/>
          <p:cNvGrpSpPr/>
          <p:nvPr/>
        </p:nvGrpSpPr>
        <p:grpSpPr>
          <a:xfrm>
            <a:off x="1557957" y="-107958"/>
            <a:ext cx="1520982" cy="302065"/>
            <a:chOff x="5642557" y="-150670"/>
            <a:chExt cx="1520982" cy="302065"/>
          </a:xfrm>
        </p:grpSpPr>
        <p:sp>
          <p:nvSpPr>
            <p:cNvPr id="381" name="Google Shape;381;p5"/>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5"/>
          <p:cNvGrpSpPr/>
          <p:nvPr/>
        </p:nvGrpSpPr>
        <p:grpSpPr>
          <a:xfrm>
            <a:off x="7855739" y="297302"/>
            <a:ext cx="883262" cy="242091"/>
            <a:chOff x="2300350" y="2601250"/>
            <a:chExt cx="2275275" cy="623625"/>
          </a:xfrm>
        </p:grpSpPr>
        <p:sp>
          <p:nvSpPr>
            <p:cNvPr id="387" name="Google Shape;387;p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5"/>
          <p:cNvGrpSpPr/>
          <p:nvPr/>
        </p:nvGrpSpPr>
        <p:grpSpPr>
          <a:xfrm rot="10800000">
            <a:off x="-214148" y="2709227"/>
            <a:ext cx="883262" cy="242091"/>
            <a:chOff x="2300350" y="2601250"/>
            <a:chExt cx="2275275" cy="623625"/>
          </a:xfrm>
        </p:grpSpPr>
        <p:sp>
          <p:nvSpPr>
            <p:cNvPr id="394" name="Google Shape;394;p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0" name="Google Shape;400;p5"/>
          <p:cNvSpPr/>
          <p:nvPr/>
        </p:nvSpPr>
        <p:spPr>
          <a:xfrm rot="5400000" flipH="1">
            <a:off x="8198089" y="410275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 name="Google Shape;401;p5"/>
          <p:cNvGrpSpPr/>
          <p:nvPr/>
        </p:nvGrpSpPr>
        <p:grpSpPr>
          <a:xfrm rot="10800000" flipH="1">
            <a:off x="8250449" y="4623928"/>
            <a:ext cx="883262" cy="242091"/>
            <a:chOff x="2300350" y="2601250"/>
            <a:chExt cx="2275275" cy="623625"/>
          </a:xfrm>
        </p:grpSpPr>
        <p:sp>
          <p:nvSpPr>
            <p:cNvPr id="402" name="Google Shape;402;p5"/>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2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BLANK_13">
    <p:spTree>
      <p:nvGrpSpPr>
        <p:cNvPr id="1" name="Shape 2449"/>
        <p:cNvGrpSpPr/>
        <p:nvPr/>
      </p:nvGrpSpPr>
      <p:grpSpPr>
        <a:xfrm>
          <a:off x="0" y="0"/>
          <a:ext cx="0" cy="0"/>
          <a:chOff x="0" y="0"/>
          <a:chExt cx="0" cy="0"/>
        </a:xfrm>
      </p:grpSpPr>
      <p:grpSp>
        <p:nvGrpSpPr>
          <p:cNvPr id="2450" name="Google Shape;2450;p28"/>
          <p:cNvGrpSpPr/>
          <p:nvPr/>
        </p:nvGrpSpPr>
        <p:grpSpPr>
          <a:xfrm>
            <a:off x="-24" y="-27"/>
            <a:ext cx="9143711" cy="5143338"/>
            <a:chOff x="597550" y="708125"/>
            <a:chExt cx="6449225" cy="4193850"/>
          </a:xfrm>
        </p:grpSpPr>
        <p:sp>
          <p:nvSpPr>
            <p:cNvPr id="2451" name="Google Shape;2451;p28"/>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28"/>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28"/>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28"/>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28"/>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28"/>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28"/>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28"/>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28"/>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28"/>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28"/>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28"/>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28"/>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28"/>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28"/>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28"/>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28"/>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28"/>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28"/>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28"/>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28"/>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28"/>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28"/>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28"/>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28"/>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28"/>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28"/>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28"/>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28"/>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28"/>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28"/>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28"/>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28"/>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28"/>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28"/>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28"/>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28"/>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28"/>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9" name="Google Shape;2489;p28"/>
          <p:cNvGrpSpPr/>
          <p:nvPr/>
        </p:nvGrpSpPr>
        <p:grpSpPr>
          <a:xfrm rot="5400000">
            <a:off x="85100" y="1849625"/>
            <a:ext cx="98902" cy="553090"/>
            <a:chOff x="4898850" y="4820550"/>
            <a:chExt cx="98902" cy="553090"/>
          </a:xfrm>
        </p:grpSpPr>
        <p:sp>
          <p:nvSpPr>
            <p:cNvPr id="2490" name="Google Shape;2490;p28"/>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28"/>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28"/>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28"/>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28"/>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5" name="Google Shape;2495;p28"/>
          <p:cNvGrpSpPr/>
          <p:nvPr/>
        </p:nvGrpSpPr>
        <p:grpSpPr>
          <a:xfrm flipH="1">
            <a:off x="-839729" y="2843530"/>
            <a:ext cx="1823016" cy="196994"/>
            <a:chOff x="7857346" y="4002005"/>
            <a:chExt cx="1823016" cy="196994"/>
          </a:xfrm>
        </p:grpSpPr>
        <p:sp>
          <p:nvSpPr>
            <p:cNvPr id="2496" name="Google Shape;2496;p28"/>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28"/>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28"/>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9" name="Google Shape;2499;p28"/>
          <p:cNvSpPr/>
          <p:nvPr/>
        </p:nvSpPr>
        <p:spPr>
          <a:xfrm rot="5400000">
            <a:off x="8206149" y="3859075"/>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28"/>
          <p:cNvSpPr/>
          <p:nvPr/>
        </p:nvSpPr>
        <p:spPr>
          <a:xfrm>
            <a:off x="8206162" y="-348811"/>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1" name="Google Shape;2501;p28"/>
          <p:cNvGrpSpPr/>
          <p:nvPr/>
        </p:nvGrpSpPr>
        <p:grpSpPr>
          <a:xfrm>
            <a:off x="8267392" y="3231066"/>
            <a:ext cx="1105976" cy="133969"/>
            <a:chOff x="8183182" y="663852"/>
            <a:chExt cx="1475028" cy="178673"/>
          </a:xfrm>
        </p:grpSpPr>
        <p:grpSp>
          <p:nvGrpSpPr>
            <p:cNvPr id="2502" name="Google Shape;2502;p28"/>
            <p:cNvGrpSpPr/>
            <p:nvPr/>
          </p:nvGrpSpPr>
          <p:grpSpPr>
            <a:xfrm>
              <a:off x="8183182" y="774425"/>
              <a:ext cx="1178025" cy="68100"/>
              <a:chOff x="2024450" y="204150"/>
              <a:chExt cx="1178025" cy="68100"/>
            </a:xfrm>
          </p:grpSpPr>
          <p:sp>
            <p:nvSpPr>
              <p:cNvPr id="2503" name="Google Shape;2503;p28"/>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28"/>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28"/>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28"/>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28"/>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28"/>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28"/>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28"/>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28"/>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28"/>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3" name="Google Shape;2513;p28"/>
            <p:cNvGrpSpPr/>
            <p:nvPr/>
          </p:nvGrpSpPr>
          <p:grpSpPr>
            <a:xfrm>
              <a:off x="8480185" y="663852"/>
              <a:ext cx="1178025" cy="68100"/>
              <a:chOff x="2024450" y="204150"/>
              <a:chExt cx="1178025" cy="68100"/>
            </a:xfrm>
          </p:grpSpPr>
          <p:sp>
            <p:nvSpPr>
              <p:cNvPr id="2514" name="Google Shape;2514;p28"/>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28"/>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28"/>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28"/>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28"/>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28"/>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28"/>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28"/>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28"/>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28"/>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24" name="Google Shape;2524;p28"/>
          <p:cNvGrpSpPr/>
          <p:nvPr/>
        </p:nvGrpSpPr>
        <p:grpSpPr>
          <a:xfrm flipH="1">
            <a:off x="4834557" y="-107958"/>
            <a:ext cx="1520982" cy="302065"/>
            <a:chOff x="5642557" y="-150670"/>
            <a:chExt cx="1520982" cy="302065"/>
          </a:xfrm>
        </p:grpSpPr>
        <p:sp>
          <p:nvSpPr>
            <p:cNvPr id="2525" name="Google Shape;2525;p28"/>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28"/>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28"/>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28"/>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28"/>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0" name="Google Shape;2530;p28"/>
          <p:cNvGrpSpPr/>
          <p:nvPr/>
        </p:nvGrpSpPr>
        <p:grpSpPr>
          <a:xfrm>
            <a:off x="635870" y="-1455296"/>
            <a:ext cx="347400" cy="2297800"/>
            <a:chOff x="6420895" y="-1455296"/>
            <a:chExt cx="347400" cy="2297800"/>
          </a:xfrm>
        </p:grpSpPr>
        <p:sp>
          <p:nvSpPr>
            <p:cNvPr id="2531" name="Google Shape;2531;p28"/>
            <p:cNvSpPr/>
            <p:nvPr/>
          </p:nvSpPr>
          <p:spPr>
            <a:xfrm rot="5400000">
              <a:off x="5457595" y="-4919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28"/>
            <p:cNvSpPr/>
            <p:nvPr/>
          </p:nvSpPr>
          <p:spPr>
            <a:xfrm rot="5400000">
              <a:off x="5736895" y="-1888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33" name="Google Shape;2533;p28"/>
          <p:cNvSpPr/>
          <p:nvPr/>
        </p:nvSpPr>
        <p:spPr>
          <a:xfrm rot="-5400000">
            <a:off x="348812" y="4207689"/>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4" name="Google Shape;2534;p28"/>
          <p:cNvGrpSpPr/>
          <p:nvPr/>
        </p:nvGrpSpPr>
        <p:grpSpPr>
          <a:xfrm>
            <a:off x="333809" y="4164674"/>
            <a:ext cx="302065" cy="1520982"/>
            <a:chOff x="-108754" y="2690919"/>
            <a:chExt cx="302065" cy="1520982"/>
          </a:xfrm>
        </p:grpSpPr>
        <p:sp>
          <p:nvSpPr>
            <p:cNvPr id="2535" name="Google Shape;2535;p28"/>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28"/>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28"/>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28"/>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28"/>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0" name="Google Shape;2540;p28"/>
          <p:cNvGrpSpPr/>
          <p:nvPr/>
        </p:nvGrpSpPr>
        <p:grpSpPr>
          <a:xfrm>
            <a:off x="8490114" y="2144503"/>
            <a:ext cx="883262" cy="242091"/>
            <a:chOff x="2300350" y="2601250"/>
            <a:chExt cx="2275275" cy="623625"/>
          </a:xfrm>
        </p:grpSpPr>
        <p:sp>
          <p:nvSpPr>
            <p:cNvPr id="2541" name="Google Shape;2541;p28"/>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28"/>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28"/>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28"/>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28"/>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28"/>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BLANK_12">
    <p:spTree>
      <p:nvGrpSpPr>
        <p:cNvPr id="1" name="Shape 2547"/>
        <p:cNvGrpSpPr/>
        <p:nvPr/>
      </p:nvGrpSpPr>
      <p:grpSpPr>
        <a:xfrm>
          <a:off x="0" y="0"/>
          <a:ext cx="0" cy="0"/>
          <a:chOff x="0" y="0"/>
          <a:chExt cx="0" cy="0"/>
        </a:xfrm>
      </p:grpSpPr>
      <p:grpSp>
        <p:nvGrpSpPr>
          <p:cNvPr id="2548" name="Google Shape;2548;p29"/>
          <p:cNvGrpSpPr/>
          <p:nvPr/>
        </p:nvGrpSpPr>
        <p:grpSpPr>
          <a:xfrm>
            <a:off x="-24" y="-27"/>
            <a:ext cx="9143711" cy="5143338"/>
            <a:chOff x="597550" y="708125"/>
            <a:chExt cx="6449225" cy="4193850"/>
          </a:xfrm>
        </p:grpSpPr>
        <p:sp>
          <p:nvSpPr>
            <p:cNvPr id="2549" name="Google Shape;2549;p29"/>
            <p:cNvSpPr/>
            <p:nvPr/>
          </p:nvSpPr>
          <p:spPr>
            <a:xfrm>
              <a:off x="597550" y="4893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29"/>
            <p:cNvSpPr/>
            <p:nvPr/>
          </p:nvSpPr>
          <p:spPr>
            <a:xfrm>
              <a:off x="597550" y="4780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29"/>
            <p:cNvSpPr/>
            <p:nvPr/>
          </p:nvSpPr>
          <p:spPr>
            <a:xfrm>
              <a:off x="597550" y="466715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29"/>
            <p:cNvSpPr/>
            <p:nvPr/>
          </p:nvSpPr>
          <p:spPr>
            <a:xfrm>
              <a:off x="597550" y="4553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29"/>
            <p:cNvSpPr/>
            <p:nvPr/>
          </p:nvSpPr>
          <p:spPr>
            <a:xfrm>
              <a:off x="597550" y="4441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29"/>
            <p:cNvSpPr/>
            <p:nvPr/>
          </p:nvSpPr>
          <p:spPr>
            <a:xfrm>
              <a:off x="597550" y="4328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29"/>
            <p:cNvSpPr/>
            <p:nvPr/>
          </p:nvSpPr>
          <p:spPr>
            <a:xfrm>
              <a:off x="597550" y="421502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29"/>
            <p:cNvSpPr/>
            <p:nvPr/>
          </p:nvSpPr>
          <p:spPr>
            <a:xfrm>
              <a:off x="597550" y="4101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29"/>
            <p:cNvSpPr/>
            <p:nvPr/>
          </p:nvSpPr>
          <p:spPr>
            <a:xfrm>
              <a:off x="597550" y="3988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29"/>
            <p:cNvSpPr/>
            <p:nvPr/>
          </p:nvSpPr>
          <p:spPr>
            <a:xfrm>
              <a:off x="597550" y="3875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29"/>
            <p:cNvSpPr/>
            <p:nvPr/>
          </p:nvSpPr>
          <p:spPr>
            <a:xfrm>
              <a:off x="597550" y="37621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29"/>
            <p:cNvSpPr/>
            <p:nvPr/>
          </p:nvSpPr>
          <p:spPr>
            <a:xfrm>
              <a:off x="597550" y="36496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29"/>
            <p:cNvSpPr/>
            <p:nvPr/>
          </p:nvSpPr>
          <p:spPr>
            <a:xfrm>
              <a:off x="597550" y="35364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29"/>
            <p:cNvSpPr/>
            <p:nvPr/>
          </p:nvSpPr>
          <p:spPr>
            <a:xfrm>
              <a:off x="597550" y="342322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29"/>
            <p:cNvSpPr/>
            <p:nvPr/>
          </p:nvSpPr>
          <p:spPr>
            <a:xfrm>
              <a:off x="597550" y="3310000"/>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29"/>
            <p:cNvSpPr/>
            <p:nvPr/>
          </p:nvSpPr>
          <p:spPr>
            <a:xfrm>
              <a:off x="597550" y="3196775"/>
              <a:ext cx="6449225" cy="8375"/>
            </a:xfrm>
            <a:custGeom>
              <a:avLst/>
              <a:gdLst/>
              <a:ahLst/>
              <a:cxnLst/>
              <a:rect l="l" t="t" r="r" b="b"/>
              <a:pathLst>
                <a:path w="257969" h="335" extrusionOk="0">
                  <a:moveTo>
                    <a:pt x="0" y="0"/>
                  </a:moveTo>
                  <a:lnTo>
                    <a:pt x="257969" y="0"/>
                  </a:lnTo>
                  <a:lnTo>
                    <a:pt x="257969" y="334"/>
                  </a:lnTo>
                  <a:lnTo>
                    <a:pt x="0" y="33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29"/>
            <p:cNvSpPr/>
            <p:nvPr/>
          </p:nvSpPr>
          <p:spPr>
            <a:xfrm>
              <a:off x="597550" y="30835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29"/>
            <p:cNvSpPr/>
            <p:nvPr/>
          </p:nvSpPr>
          <p:spPr>
            <a:xfrm>
              <a:off x="597550" y="29703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29"/>
            <p:cNvSpPr/>
            <p:nvPr/>
          </p:nvSpPr>
          <p:spPr>
            <a:xfrm>
              <a:off x="597550" y="2857850"/>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29"/>
            <p:cNvSpPr/>
            <p:nvPr/>
          </p:nvSpPr>
          <p:spPr>
            <a:xfrm>
              <a:off x="597550" y="2744625"/>
              <a:ext cx="6449225" cy="7625"/>
            </a:xfrm>
            <a:custGeom>
              <a:avLst/>
              <a:gdLst/>
              <a:ahLst/>
              <a:cxnLst/>
              <a:rect l="l" t="t" r="r" b="b"/>
              <a:pathLst>
                <a:path w="257969" h="305" extrusionOk="0">
                  <a:moveTo>
                    <a:pt x="0" y="1"/>
                  </a:moveTo>
                  <a:lnTo>
                    <a:pt x="257969" y="1"/>
                  </a:lnTo>
                  <a:lnTo>
                    <a:pt x="257969" y="305"/>
                  </a:lnTo>
                  <a:lnTo>
                    <a:pt x="0" y="30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29"/>
            <p:cNvSpPr/>
            <p:nvPr/>
          </p:nvSpPr>
          <p:spPr>
            <a:xfrm>
              <a:off x="597550" y="263140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29"/>
            <p:cNvSpPr/>
            <p:nvPr/>
          </p:nvSpPr>
          <p:spPr>
            <a:xfrm>
              <a:off x="597550" y="251817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29"/>
            <p:cNvSpPr/>
            <p:nvPr/>
          </p:nvSpPr>
          <p:spPr>
            <a:xfrm>
              <a:off x="597550" y="24049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29"/>
            <p:cNvSpPr/>
            <p:nvPr/>
          </p:nvSpPr>
          <p:spPr>
            <a:xfrm>
              <a:off x="597550" y="22917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29"/>
            <p:cNvSpPr/>
            <p:nvPr/>
          </p:nvSpPr>
          <p:spPr>
            <a:xfrm>
              <a:off x="597550" y="21792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29"/>
            <p:cNvSpPr/>
            <p:nvPr/>
          </p:nvSpPr>
          <p:spPr>
            <a:xfrm>
              <a:off x="597550" y="20660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29"/>
            <p:cNvSpPr/>
            <p:nvPr/>
          </p:nvSpPr>
          <p:spPr>
            <a:xfrm>
              <a:off x="597550" y="1952825"/>
              <a:ext cx="6449225" cy="7625"/>
            </a:xfrm>
            <a:custGeom>
              <a:avLst/>
              <a:gdLst/>
              <a:ahLst/>
              <a:cxnLst/>
              <a:rect l="l" t="t" r="r" b="b"/>
              <a:pathLst>
                <a:path w="257969" h="305" extrusionOk="0">
                  <a:moveTo>
                    <a:pt x="0" y="1"/>
                  </a:moveTo>
                  <a:lnTo>
                    <a:pt x="257969" y="1"/>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29"/>
            <p:cNvSpPr/>
            <p:nvPr/>
          </p:nvSpPr>
          <p:spPr>
            <a:xfrm>
              <a:off x="597550" y="1839600"/>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29"/>
            <p:cNvSpPr/>
            <p:nvPr/>
          </p:nvSpPr>
          <p:spPr>
            <a:xfrm>
              <a:off x="597550" y="172637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29"/>
            <p:cNvSpPr/>
            <p:nvPr/>
          </p:nvSpPr>
          <p:spPr>
            <a:xfrm>
              <a:off x="597550" y="1613150"/>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29"/>
            <p:cNvSpPr/>
            <p:nvPr/>
          </p:nvSpPr>
          <p:spPr>
            <a:xfrm>
              <a:off x="597550" y="1499925"/>
              <a:ext cx="6449225" cy="8400"/>
            </a:xfrm>
            <a:custGeom>
              <a:avLst/>
              <a:gdLst/>
              <a:ahLst/>
              <a:cxnLst/>
              <a:rect l="l" t="t" r="r" b="b"/>
              <a:pathLst>
                <a:path w="257969" h="336"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29"/>
            <p:cNvSpPr/>
            <p:nvPr/>
          </p:nvSpPr>
          <p:spPr>
            <a:xfrm>
              <a:off x="597550" y="1387475"/>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29"/>
            <p:cNvSpPr/>
            <p:nvPr/>
          </p:nvSpPr>
          <p:spPr>
            <a:xfrm>
              <a:off x="597550" y="1274250"/>
              <a:ext cx="6449225" cy="7625"/>
            </a:xfrm>
            <a:custGeom>
              <a:avLst/>
              <a:gdLst/>
              <a:ahLst/>
              <a:cxnLst/>
              <a:rect l="l" t="t" r="r" b="b"/>
              <a:pathLst>
                <a:path w="257969" h="305" extrusionOk="0">
                  <a:moveTo>
                    <a:pt x="0" y="0"/>
                  </a:moveTo>
                  <a:lnTo>
                    <a:pt x="257969" y="0"/>
                  </a:lnTo>
                  <a:lnTo>
                    <a:pt x="257969" y="304"/>
                  </a:lnTo>
                  <a:lnTo>
                    <a:pt x="0" y="304"/>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29"/>
            <p:cNvSpPr/>
            <p:nvPr/>
          </p:nvSpPr>
          <p:spPr>
            <a:xfrm>
              <a:off x="597550" y="116102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29"/>
            <p:cNvSpPr/>
            <p:nvPr/>
          </p:nvSpPr>
          <p:spPr>
            <a:xfrm>
              <a:off x="597550" y="104780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29"/>
            <p:cNvSpPr/>
            <p:nvPr/>
          </p:nvSpPr>
          <p:spPr>
            <a:xfrm>
              <a:off x="597550" y="934575"/>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29"/>
            <p:cNvSpPr/>
            <p:nvPr/>
          </p:nvSpPr>
          <p:spPr>
            <a:xfrm>
              <a:off x="597550" y="821350"/>
              <a:ext cx="6449225" cy="8375"/>
            </a:xfrm>
            <a:custGeom>
              <a:avLst/>
              <a:gdLst/>
              <a:ahLst/>
              <a:cxnLst/>
              <a:rect l="l" t="t" r="r" b="b"/>
              <a:pathLst>
                <a:path w="257969" h="335" extrusionOk="0">
                  <a:moveTo>
                    <a:pt x="0" y="0"/>
                  </a:moveTo>
                  <a:lnTo>
                    <a:pt x="257969" y="0"/>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29"/>
            <p:cNvSpPr/>
            <p:nvPr/>
          </p:nvSpPr>
          <p:spPr>
            <a:xfrm>
              <a:off x="597550" y="708125"/>
              <a:ext cx="6449225" cy="8375"/>
            </a:xfrm>
            <a:custGeom>
              <a:avLst/>
              <a:gdLst/>
              <a:ahLst/>
              <a:cxnLst/>
              <a:rect l="l" t="t" r="r" b="b"/>
              <a:pathLst>
                <a:path w="257969" h="335" extrusionOk="0">
                  <a:moveTo>
                    <a:pt x="0" y="1"/>
                  </a:moveTo>
                  <a:lnTo>
                    <a:pt x="257969" y="1"/>
                  </a:lnTo>
                  <a:lnTo>
                    <a:pt x="257969" y="335"/>
                  </a:lnTo>
                  <a:lnTo>
                    <a:pt x="0" y="335"/>
                  </a:lnTo>
                  <a:close/>
                </a:path>
              </a:pathLst>
            </a:custGeom>
            <a:solidFill>
              <a:schemeClr val="dk1">
                <a:alpha val="5892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7" name="Google Shape;2587;p29"/>
          <p:cNvGrpSpPr/>
          <p:nvPr/>
        </p:nvGrpSpPr>
        <p:grpSpPr>
          <a:xfrm rot="5400000">
            <a:off x="85100" y="782825"/>
            <a:ext cx="98902" cy="553090"/>
            <a:chOff x="4898850" y="4820550"/>
            <a:chExt cx="98902" cy="553090"/>
          </a:xfrm>
        </p:grpSpPr>
        <p:sp>
          <p:nvSpPr>
            <p:cNvPr id="2588" name="Google Shape;2588;p29"/>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29"/>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29"/>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29"/>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29"/>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3" name="Google Shape;2593;p29"/>
          <p:cNvGrpSpPr/>
          <p:nvPr/>
        </p:nvGrpSpPr>
        <p:grpSpPr>
          <a:xfrm>
            <a:off x="-1414555" y="1991929"/>
            <a:ext cx="2297800" cy="347400"/>
            <a:chOff x="-1414555" y="3058729"/>
            <a:chExt cx="2297800" cy="347400"/>
          </a:xfrm>
        </p:grpSpPr>
        <p:sp>
          <p:nvSpPr>
            <p:cNvPr id="2594" name="Google Shape;2594;p29"/>
            <p:cNvSpPr/>
            <p:nvPr/>
          </p:nvSpPr>
          <p:spPr>
            <a:xfrm>
              <a:off x="-1414555" y="33380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29"/>
            <p:cNvSpPr/>
            <p:nvPr/>
          </p:nvSpPr>
          <p:spPr>
            <a:xfrm>
              <a:off x="-1111455" y="3058729"/>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6" name="Google Shape;2596;p29"/>
          <p:cNvGrpSpPr/>
          <p:nvPr/>
        </p:nvGrpSpPr>
        <p:grpSpPr>
          <a:xfrm flipH="1">
            <a:off x="-799254" y="3300805"/>
            <a:ext cx="1823016" cy="196994"/>
            <a:chOff x="7857346" y="4002005"/>
            <a:chExt cx="1823016" cy="196994"/>
          </a:xfrm>
        </p:grpSpPr>
        <p:sp>
          <p:nvSpPr>
            <p:cNvPr id="2597" name="Google Shape;2597;p29"/>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29"/>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29"/>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0" name="Google Shape;2600;p29"/>
          <p:cNvSpPr/>
          <p:nvPr/>
        </p:nvSpPr>
        <p:spPr>
          <a:xfrm rot="5400000">
            <a:off x="8204801" y="-349430"/>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29"/>
          <p:cNvSpPr/>
          <p:nvPr/>
        </p:nvSpPr>
        <p:spPr>
          <a:xfrm rot="10800000">
            <a:off x="7736612" y="4392838"/>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2" name="Google Shape;2602;p29"/>
          <p:cNvGrpSpPr/>
          <p:nvPr/>
        </p:nvGrpSpPr>
        <p:grpSpPr>
          <a:xfrm rot="5400000">
            <a:off x="8288664" y="2674962"/>
            <a:ext cx="883262" cy="242091"/>
            <a:chOff x="2300350" y="2601250"/>
            <a:chExt cx="2275275" cy="623625"/>
          </a:xfrm>
        </p:grpSpPr>
        <p:sp>
          <p:nvSpPr>
            <p:cNvPr id="2603" name="Google Shape;2603;p29"/>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29"/>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29"/>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29"/>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29"/>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29"/>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9" name="Google Shape;2609;p29"/>
          <p:cNvGrpSpPr/>
          <p:nvPr/>
        </p:nvGrpSpPr>
        <p:grpSpPr>
          <a:xfrm>
            <a:off x="8533046" y="-288388"/>
            <a:ext cx="302065" cy="1520982"/>
            <a:chOff x="-108754" y="2690919"/>
            <a:chExt cx="302065" cy="1520982"/>
          </a:xfrm>
        </p:grpSpPr>
        <p:sp>
          <p:nvSpPr>
            <p:cNvPr id="2610" name="Google Shape;2610;p29"/>
            <p:cNvSpPr/>
            <p:nvPr/>
          </p:nvSpPr>
          <p:spPr>
            <a:xfrm>
              <a:off x="-62388" y="2782841"/>
              <a:ext cx="209364" cy="1335580"/>
            </a:xfrm>
            <a:custGeom>
              <a:avLst/>
              <a:gdLst/>
              <a:ahLst/>
              <a:cxnLst/>
              <a:rect l="l" t="t" r="r" b="b"/>
              <a:pathLst>
                <a:path w="6719" h="42862" fill="none" extrusionOk="0">
                  <a:moveTo>
                    <a:pt x="0" y="42862"/>
                  </a:moveTo>
                  <a:lnTo>
                    <a:pt x="0" y="23799"/>
                  </a:lnTo>
                  <a:lnTo>
                    <a:pt x="6718" y="17056"/>
                  </a:lnTo>
                  <a:lnTo>
                    <a:pt x="6718"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29"/>
            <p:cNvSpPr/>
            <p:nvPr/>
          </p:nvSpPr>
          <p:spPr>
            <a:xfrm>
              <a:off x="101358" y="2690919"/>
              <a:ext cx="91953" cy="91953"/>
            </a:xfrm>
            <a:custGeom>
              <a:avLst/>
              <a:gdLst/>
              <a:ahLst/>
              <a:cxnLst/>
              <a:rect l="l" t="t" r="r" b="b"/>
              <a:pathLst>
                <a:path w="2951" h="2951" fill="none" extrusionOk="0">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29"/>
            <p:cNvSpPr/>
            <p:nvPr/>
          </p:nvSpPr>
          <p:spPr>
            <a:xfrm>
              <a:off x="125320" y="2714881"/>
              <a:ext cx="43281" cy="43281"/>
            </a:xfrm>
            <a:custGeom>
              <a:avLst/>
              <a:gdLst/>
              <a:ahLst/>
              <a:cxnLst/>
              <a:rect l="l" t="t" r="r" b="b"/>
              <a:pathLst>
                <a:path w="1389" h="1389" extrusionOk="0">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29"/>
            <p:cNvSpPr/>
            <p:nvPr/>
          </p:nvSpPr>
          <p:spPr>
            <a:xfrm>
              <a:off x="-108754" y="4119948"/>
              <a:ext cx="91953" cy="91953"/>
            </a:xfrm>
            <a:custGeom>
              <a:avLst/>
              <a:gdLst/>
              <a:ahLst/>
              <a:cxnLst/>
              <a:rect l="l" t="t" r="r" b="b"/>
              <a:pathLst>
                <a:path w="2951" h="2951" fill="none" extrusionOk="0">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29"/>
            <p:cNvSpPr/>
            <p:nvPr/>
          </p:nvSpPr>
          <p:spPr>
            <a:xfrm>
              <a:off x="-84013" y="4144658"/>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5" name="Google Shape;2615;p29"/>
          <p:cNvGrpSpPr/>
          <p:nvPr/>
        </p:nvGrpSpPr>
        <p:grpSpPr>
          <a:xfrm>
            <a:off x="1176957" y="-107958"/>
            <a:ext cx="1520982" cy="302065"/>
            <a:chOff x="5642557" y="-150670"/>
            <a:chExt cx="1520982" cy="302065"/>
          </a:xfrm>
        </p:grpSpPr>
        <p:sp>
          <p:nvSpPr>
            <p:cNvPr id="2616" name="Google Shape;2616;p29"/>
            <p:cNvSpPr/>
            <p:nvPr/>
          </p:nvSpPr>
          <p:spPr>
            <a:xfrm>
              <a:off x="5736006" y="-104304"/>
              <a:ext cx="1335611" cy="209364"/>
            </a:xfrm>
            <a:custGeom>
              <a:avLst/>
              <a:gdLst/>
              <a:ahLst/>
              <a:cxnLst/>
              <a:rect l="l" t="t" r="r" b="b"/>
              <a:pathLst>
                <a:path w="42863" h="6719" fill="none" extrusionOk="0">
                  <a:moveTo>
                    <a:pt x="1" y="0"/>
                  </a:moveTo>
                  <a:lnTo>
                    <a:pt x="19064" y="0"/>
                  </a:lnTo>
                  <a:lnTo>
                    <a:pt x="25782" y="6718"/>
                  </a:lnTo>
                  <a:lnTo>
                    <a:pt x="42862" y="6718"/>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29"/>
            <p:cNvSpPr/>
            <p:nvPr/>
          </p:nvSpPr>
          <p:spPr>
            <a:xfrm>
              <a:off x="7071586" y="59442"/>
              <a:ext cx="91953" cy="91953"/>
            </a:xfrm>
            <a:custGeom>
              <a:avLst/>
              <a:gdLst/>
              <a:ahLst/>
              <a:cxnLst/>
              <a:rect l="l" t="t" r="r" b="b"/>
              <a:pathLst>
                <a:path w="2951" h="2951" fill="none" extrusionOk="0">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29"/>
            <p:cNvSpPr/>
            <p:nvPr/>
          </p:nvSpPr>
          <p:spPr>
            <a:xfrm>
              <a:off x="7095517" y="84152"/>
              <a:ext cx="43281" cy="42533"/>
            </a:xfrm>
            <a:custGeom>
              <a:avLst/>
              <a:gdLst/>
              <a:ahLst/>
              <a:cxnLst/>
              <a:rect l="l" t="t" r="r" b="b"/>
              <a:pathLst>
                <a:path w="1389" h="1365" extrusionOk="0">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29"/>
            <p:cNvSpPr/>
            <p:nvPr/>
          </p:nvSpPr>
          <p:spPr>
            <a:xfrm>
              <a:off x="5642557" y="-150670"/>
              <a:ext cx="91953" cy="92732"/>
            </a:xfrm>
            <a:custGeom>
              <a:avLst/>
              <a:gdLst/>
              <a:ahLst/>
              <a:cxnLst/>
              <a:rect l="l" t="t" r="r" b="b"/>
              <a:pathLst>
                <a:path w="2951" h="2976" fill="none" extrusionOk="0">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29"/>
            <p:cNvSpPr/>
            <p:nvPr/>
          </p:nvSpPr>
          <p:spPr>
            <a:xfrm>
              <a:off x="5666488" y="-125929"/>
              <a:ext cx="43281" cy="43281"/>
            </a:xfrm>
            <a:custGeom>
              <a:avLst/>
              <a:gdLst/>
              <a:ahLst/>
              <a:cxnLst/>
              <a:rect l="l" t="t" r="r" b="b"/>
              <a:pathLst>
                <a:path w="1389" h="1389" extrusionOk="0">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1" name="Google Shape;2621;p29"/>
          <p:cNvGrpSpPr/>
          <p:nvPr/>
        </p:nvGrpSpPr>
        <p:grpSpPr>
          <a:xfrm>
            <a:off x="6420895" y="-1455296"/>
            <a:ext cx="347400" cy="2297800"/>
            <a:chOff x="6420895" y="-1455296"/>
            <a:chExt cx="347400" cy="2297800"/>
          </a:xfrm>
        </p:grpSpPr>
        <p:sp>
          <p:nvSpPr>
            <p:cNvPr id="2622" name="Google Shape;2622;p29"/>
            <p:cNvSpPr/>
            <p:nvPr/>
          </p:nvSpPr>
          <p:spPr>
            <a:xfrm rot="5400000">
              <a:off x="5457595" y="-4919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29"/>
            <p:cNvSpPr/>
            <p:nvPr/>
          </p:nvSpPr>
          <p:spPr>
            <a:xfrm rot="5400000">
              <a:off x="5736895" y="-188896"/>
              <a:ext cx="1994700" cy="68100"/>
            </a:xfrm>
            <a:prstGeom prst="roundRect">
              <a:avLst>
                <a:gd name="adj" fmla="val 50000"/>
              </a:avLst>
            </a:prstGeom>
            <a:gradFill>
              <a:gsLst>
                <a:gs pos="0">
                  <a:schemeClr val="lt2"/>
                </a:gs>
                <a:gs pos="100000">
                  <a:schemeClr val="accent2"/>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4" name="Google Shape;2624;p29"/>
          <p:cNvGrpSpPr/>
          <p:nvPr/>
        </p:nvGrpSpPr>
        <p:grpSpPr>
          <a:xfrm>
            <a:off x="-222733" y="4310689"/>
            <a:ext cx="1507157" cy="586800"/>
            <a:chOff x="-222733" y="4310689"/>
            <a:chExt cx="1507157" cy="586800"/>
          </a:xfrm>
        </p:grpSpPr>
        <p:sp>
          <p:nvSpPr>
            <p:cNvPr id="2625" name="Google Shape;2625;p29"/>
            <p:cNvSpPr/>
            <p:nvPr/>
          </p:nvSpPr>
          <p:spPr>
            <a:xfrm rot="-5400000">
              <a:off x="348812" y="3961876"/>
              <a:ext cx="586800" cy="1284425"/>
            </a:xfrm>
            <a:prstGeom prst="flowChartOffpageConnector">
              <a:avLst/>
            </a:prstGeom>
            <a:gradFill>
              <a:gsLst>
                <a:gs pos="0">
                  <a:schemeClr val="accent4"/>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6" name="Google Shape;2626;p29"/>
            <p:cNvGrpSpPr/>
            <p:nvPr/>
          </p:nvGrpSpPr>
          <p:grpSpPr>
            <a:xfrm>
              <a:off x="-222733" y="4537116"/>
              <a:ext cx="1105976" cy="133969"/>
              <a:chOff x="8183182" y="663852"/>
              <a:chExt cx="1475028" cy="178673"/>
            </a:xfrm>
          </p:grpSpPr>
          <p:grpSp>
            <p:nvGrpSpPr>
              <p:cNvPr id="2627" name="Google Shape;2627;p29"/>
              <p:cNvGrpSpPr/>
              <p:nvPr/>
            </p:nvGrpSpPr>
            <p:grpSpPr>
              <a:xfrm>
                <a:off x="8183182" y="774425"/>
                <a:ext cx="1178025" cy="68100"/>
                <a:chOff x="2024450" y="204150"/>
                <a:chExt cx="1178025" cy="68100"/>
              </a:xfrm>
            </p:grpSpPr>
            <p:sp>
              <p:nvSpPr>
                <p:cNvPr id="2628" name="Google Shape;2628;p2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2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2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2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2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2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2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2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2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2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8" name="Google Shape;2638;p29"/>
              <p:cNvGrpSpPr/>
              <p:nvPr/>
            </p:nvGrpSpPr>
            <p:grpSpPr>
              <a:xfrm>
                <a:off x="8480185" y="663852"/>
                <a:ext cx="1178025" cy="68100"/>
                <a:chOff x="2024450" y="204150"/>
                <a:chExt cx="1178025" cy="68100"/>
              </a:xfrm>
            </p:grpSpPr>
            <p:sp>
              <p:nvSpPr>
                <p:cNvPr id="2639" name="Google Shape;2639;p29"/>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29"/>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29"/>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29"/>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29"/>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29"/>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29"/>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29"/>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29"/>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29"/>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4"/>
            </a:gs>
            <a:gs pos="100000">
              <a:schemeClr val="dk1"/>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3200"/>
              <a:buFont typeface="Exo"/>
              <a:buNone/>
              <a:defRPr sz="3200" b="1">
                <a:solidFill>
                  <a:schemeClr val="lt1"/>
                </a:solidFill>
                <a:latin typeface="Exo"/>
                <a:ea typeface="Exo"/>
                <a:cs typeface="Exo"/>
                <a:sym typeface="Exo"/>
              </a:defRPr>
            </a:lvl1pPr>
            <a:lvl2pPr lvl="1">
              <a:spcBef>
                <a:spcPts val="0"/>
              </a:spcBef>
              <a:spcAft>
                <a:spcPts val="0"/>
              </a:spcAft>
              <a:buClr>
                <a:schemeClr val="lt1"/>
              </a:buClr>
              <a:buSzPts val="3200"/>
              <a:buFont typeface="Exo"/>
              <a:buNone/>
              <a:defRPr sz="3200">
                <a:solidFill>
                  <a:schemeClr val="lt1"/>
                </a:solidFill>
                <a:latin typeface="Exo"/>
                <a:ea typeface="Exo"/>
                <a:cs typeface="Exo"/>
                <a:sym typeface="Exo"/>
              </a:defRPr>
            </a:lvl2pPr>
            <a:lvl3pPr lvl="2">
              <a:spcBef>
                <a:spcPts val="0"/>
              </a:spcBef>
              <a:spcAft>
                <a:spcPts val="0"/>
              </a:spcAft>
              <a:buClr>
                <a:schemeClr val="lt1"/>
              </a:buClr>
              <a:buSzPts val="3200"/>
              <a:buFont typeface="Exo"/>
              <a:buNone/>
              <a:defRPr sz="3200">
                <a:solidFill>
                  <a:schemeClr val="lt1"/>
                </a:solidFill>
                <a:latin typeface="Exo"/>
                <a:ea typeface="Exo"/>
                <a:cs typeface="Exo"/>
                <a:sym typeface="Exo"/>
              </a:defRPr>
            </a:lvl3pPr>
            <a:lvl4pPr lvl="3">
              <a:spcBef>
                <a:spcPts val="0"/>
              </a:spcBef>
              <a:spcAft>
                <a:spcPts val="0"/>
              </a:spcAft>
              <a:buClr>
                <a:schemeClr val="lt1"/>
              </a:buClr>
              <a:buSzPts val="3200"/>
              <a:buFont typeface="Exo"/>
              <a:buNone/>
              <a:defRPr sz="3200">
                <a:solidFill>
                  <a:schemeClr val="lt1"/>
                </a:solidFill>
                <a:latin typeface="Exo"/>
                <a:ea typeface="Exo"/>
                <a:cs typeface="Exo"/>
                <a:sym typeface="Exo"/>
              </a:defRPr>
            </a:lvl4pPr>
            <a:lvl5pPr lvl="4">
              <a:spcBef>
                <a:spcPts val="0"/>
              </a:spcBef>
              <a:spcAft>
                <a:spcPts val="0"/>
              </a:spcAft>
              <a:buClr>
                <a:schemeClr val="lt1"/>
              </a:buClr>
              <a:buSzPts val="3200"/>
              <a:buFont typeface="Exo"/>
              <a:buNone/>
              <a:defRPr sz="3200">
                <a:solidFill>
                  <a:schemeClr val="lt1"/>
                </a:solidFill>
                <a:latin typeface="Exo"/>
                <a:ea typeface="Exo"/>
                <a:cs typeface="Exo"/>
                <a:sym typeface="Exo"/>
              </a:defRPr>
            </a:lvl5pPr>
            <a:lvl6pPr lvl="5">
              <a:spcBef>
                <a:spcPts val="0"/>
              </a:spcBef>
              <a:spcAft>
                <a:spcPts val="0"/>
              </a:spcAft>
              <a:buClr>
                <a:schemeClr val="lt1"/>
              </a:buClr>
              <a:buSzPts val="3200"/>
              <a:buFont typeface="Exo"/>
              <a:buNone/>
              <a:defRPr sz="3200">
                <a:solidFill>
                  <a:schemeClr val="lt1"/>
                </a:solidFill>
                <a:latin typeface="Exo"/>
                <a:ea typeface="Exo"/>
                <a:cs typeface="Exo"/>
                <a:sym typeface="Exo"/>
              </a:defRPr>
            </a:lvl6pPr>
            <a:lvl7pPr lvl="6">
              <a:spcBef>
                <a:spcPts val="0"/>
              </a:spcBef>
              <a:spcAft>
                <a:spcPts val="0"/>
              </a:spcAft>
              <a:buClr>
                <a:schemeClr val="lt1"/>
              </a:buClr>
              <a:buSzPts val="3200"/>
              <a:buFont typeface="Exo"/>
              <a:buNone/>
              <a:defRPr sz="3200">
                <a:solidFill>
                  <a:schemeClr val="lt1"/>
                </a:solidFill>
                <a:latin typeface="Exo"/>
                <a:ea typeface="Exo"/>
                <a:cs typeface="Exo"/>
                <a:sym typeface="Exo"/>
              </a:defRPr>
            </a:lvl7pPr>
            <a:lvl8pPr lvl="7">
              <a:spcBef>
                <a:spcPts val="0"/>
              </a:spcBef>
              <a:spcAft>
                <a:spcPts val="0"/>
              </a:spcAft>
              <a:buClr>
                <a:schemeClr val="lt1"/>
              </a:buClr>
              <a:buSzPts val="3200"/>
              <a:buFont typeface="Exo"/>
              <a:buNone/>
              <a:defRPr sz="3200">
                <a:solidFill>
                  <a:schemeClr val="lt1"/>
                </a:solidFill>
                <a:latin typeface="Exo"/>
                <a:ea typeface="Exo"/>
                <a:cs typeface="Exo"/>
                <a:sym typeface="Exo"/>
              </a:defRPr>
            </a:lvl8pPr>
            <a:lvl9pPr lvl="8">
              <a:spcBef>
                <a:spcPts val="0"/>
              </a:spcBef>
              <a:spcAft>
                <a:spcPts val="0"/>
              </a:spcAft>
              <a:buClr>
                <a:schemeClr val="lt1"/>
              </a:buClr>
              <a:buSzPts val="3200"/>
              <a:buFont typeface="Exo"/>
              <a:buNone/>
              <a:defRPr sz="3200">
                <a:solidFill>
                  <a:schemeClr val="lt1"/>
                </a:solidFill>
                <a:latin typeface="Exo"/>
                <a:ea typeface="Exo"/>
                <a:cs typeface="Exo"/>
                <a:sym typeface="Exo"/>
              </a:defRPr>
            </a:lvl9pPr>
          </a:lstStyle>
          <a:p>
            <a:endParaRPr/>
          </a:p>
        </p:txBody>
      </p:sp>
      <p:sp>
        <p:nvSpPr>
          <p:cNvPr id="7" name="Google Shape;7;p1"/>
          <p:cNvSpPr txBox="1">
            <a:spLocks noGrp="1"/>
          </p:cNvSpPr>
          <p:nvPr>
            <p:ph type="body" idx="1"/>
          </p:nvPr>
        </p:nvSpPr>
        <p:spPr>
          <a:xfrm>
            <a:off x="713100" y="1187700"/>
            <a:ext cx="7717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1pPr>
            <a:lvl2pPr marL="914400" lvl="1"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2pPr>
            <a:lvl3pPr marL="1371600" lvl="2"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3pPr>
            <a:lvl4pPr marL="1828800" lvl="3"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4pPr>
            <a:lvl5pPr marL="2286000" lvl="4"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5pPr>
            <a:lvl6pPr marL="2743200" lvl="5"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6pPr>
            <a:lvl7pPr marL="3200400" lvl="6"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7pPr>
            <a:lvl8pPr marL="3657600" lvl="7"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8pPr>
            <a:lvl9pPr marL="4114800" lvl="8" indent="-317500">
              <a:lnSpc>
                <a:spcPct val="115000"/>
              </a:lnSpc>
              <a:spcBef>
                <a:spcPts val="0"/>
              </a:spcBef>
              <a:spcAft>
                <a:spcPts val="0"/>
              </a:spcAft>
              <a:buClr>
                <a:schemeClr val="lt1"/>
              </a:buClr>
              <a:buSzPts val="1400"/>
              <a:buFont typeface="PT Sans"/>
              <a:buChar char="■"/>
              <a:defRPr>
                <a:solidFill>
                  <a:schemeClr val="lt1"/>
                </a:solidFill>
                <a:latin typeface="PT Sans"/>
                <a:ea typeface="PT Sans"/>
                <a:cs typeface="PT Sans"/>
                <a:sym typeface="P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8" r:id="rId4"/>
    <p:sldLayoutId id="2147483674" r:id="rId5"/>
    <p:sldLayoutId id="214748367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slideshare.net/dnaidenowa/ss-31117689?from_action=save" TargetMode="External"/><Relationship Id="rId2" Type="http://schemas.openxmlformats.org/officeDocument/2006/relationships/hyperlink" Target="https://www.google.com/search?q=form+factor&amp;tbm=isch&amp;ved=2ahUKEwjC_Nqm4P76AhVkYPEDHVA1DkgQ_AUoAXoECAIQAw&amp;dpr=1.25#imgrc=HeaXBxnkDRefEM" TargetMode="Externa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tscomputersblog.wordpress.com/polezni-temi-za-komputri/vsichko-za-dvu-tri-i-chetirikanalnata-ram-pam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58"/>
        <p:cNvGrpSpPr/>
        <p:nvPr/>
      </p:nvGrpSpPr>
      <p:grpSpPr>
        <a:xfrm>
          <a:off x="0" y="0"/>
          <a:ext cx="0" cy="0"/>
          <a:chOff x="0" y="0"/>
          <a:chExt cx="0" cy="0"/>
        </a:xfrm>
      </p:grpSpPr>
      <p:sp>
        <p:nvSpPr>
          <p:cNvPr id="2659" name="Google Shape;2659;p33"/>
          <p:cNvSpPr/>
          <p:nvPr/>
        </p:nvSpPr>
        <p:spPr>
          <a:xfrm>
            <a:off x="2130750" y="3329973"/>
            <a:ext cx="4882500" cy="399900"/>
          </a:xfrm>
          <a:prstGeom prst="roundRect">
            <a:avLst>
              <a:gd name="adj" fmla="val 50000"/>
            </a:avLst>
          </a:prstGeom>
          <a:gradFill>
            <a:gsLst>
              <a:gs pos="0">
                <a:schemeClr val="lt2"/>
              </a:gs>
              <a:gs pos="100000">
                <a:schemeClr val="accent2"/>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1" name="Google Shape;2661;p33"/>
          <p:cNvGrpSpPr/>
          <p:nvPr/>
        </p:nvGrpSpPr>
        <p:grpSpPr>
          <a:xfrm rot="10800000">
            <a:off x="2130739" y="4336003"/>
            <a:ext cx="883262" cy="242091"/>
            <a:chOff x="2300350" y="2601250"/>
            <a:chExt cx="2275275" cy="623625"/>
          </a:xfrm>
        </p:grpSpPr>
        <p:sp>
          <p:nvSpPr>
            <p:cNvPr id="2662" name="Google Shape;2662;p33"/>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33"/>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33"/>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33"/>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33"/>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33"/>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8" name="Google Shape;2668;p33"/>
          <p:cNvGrpSpPr/>
          <p:nvPr/>
        </p:nvGrpSpPr>
        <p:grpSpPr>
          <a:xfrm rot="-5400000" flipH="1">
            <a:off x="3660496" y="4881980"/>
            <a:ext cx="1823016" cy="296643"/>
            <a:chOff x="7857346" y="3902355"/>
            <a:chExt cx="1823016" cy="296643"/>
          </a:xfrm>
        </p:grpSpPr>
        <p:sp>
          <p:nvSpPr>
            <p:cNvPr id="2669" name="Google Shape;2669;p33"/>
            <p:cNvSpPr/>
            <p:nvPr/>
          </p:nvSpPr>
          <p:spPr>
            <a:xfrm>
              <a:off x="7956216" y="4048371"/>
              <a:ext cx="1724145" cy="150627"/>
            </a:xfrm>
            <a:custGeom>
              <a:avLst/>
              <a:gdLst/>
              <a:ahLst/>
              <a:cxnLst/>
              <a:rect l="l" t="t" r="r" b="b"/>
              <a:pathLst>
                <a:path w="55332" h="4834" fill="none" extrusionOk="0">
                  <a:moveTo>
                    <a:pt x="55331" y="4834"/>
                  </a:moveTo>
                  <a:lnTo>
                    <a:pt x="28930" y="4834"/>
                  </a:lnTo>
                  <a:lnTo>
                    <a:pt x="27294" y="3198"/>
                  </a:lnTo>
                  <a:lnTo>
                    <a:pt x="24072" y="0"/>
                  </a:lnTo>
                  <a:lnTo>
                    <a:pt x="1" y="0"/>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33"/>
            <p:cNvSpPr/>
            <p:nvPr/>
          </p:nvSpPr>
          <p:spPr>
            <a:xfrm>
              <a:off x="8453686" y="3902355"/>
              <a:ext cx="91953" cy="91953"/>
            </a:xfrm>
            <a:custGeom>
              <a:avLst/>
              <a:gdLst/>
              <a:ahLst/>
              <a:cxnLst/>
              <a:rect l="l" t="t" r="r" b="b"/>
              <a:pathLst>
                <a:path w="2951" h="2951" fill="none" extrusionOk="0">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33"/>
            <p:cNvSpPr/>
            <p:nvPr/>
          </p:nvSpPr>
          <p:spPr>
            <a:xfrm>
              <a:off x="8478396" y="3927096"/>
              <a:ext cx="43281" cy="42502"/>
            </a:xfrm>
            <a:custGeom>
              <a:avLst/>
              <a:gdLst/>
              <a:ahLst/>
              <a:cxnLst/>
              <a:rect l="l" t="t" r="r" b="b"/>
              <a:pathLst>
                <a:path w="1389" h="1364" extrusionOk="0">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33"/>
            <p:cNvSpPr/>
            <p:nvPr/>
          </p:nvSpPr>
          <p:spPr>
            <a:xfrm>
              <a:off x="7857346" y="4002005"/>
              <a:ext cx="91953" cy="91953"/>
            </a:xfrm>
            <a:custGeom>
              <a:avLst/>
              <a:gdLst/>
              <a:ahLst/>
              <a:cxnLst/>
              <a:rect l="l" t="t" r="r" b="b"/>
              <a:pathLst>
                <a:path w="2951" h="2951" fill="none" extrusionOk="0">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33"/>
            <p:cNvSpPr/>
            <p:nvPr/>
          </p:nvSpPr>
          <p:spPr>
            <a:xfrm>
              <a:off x="7882087" y="4026715"/>
              <a:ext cx="43281" cy="42533"/>
            </a:xfrm>
            <a:custGeom>
              <a:avLst/>
              <a:gdLst/>
              <a:ahLst/>
              <a:cxnLst/>
              <a:rect l="l" t="t" r="r" b="b"/>
              <a:pathLst>
                <a:path w="1389" h="1365" extrusionOk="0">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33"/>
            <p:cNvSpPr/>
            <p:nvPr/>
          </p:nvSpPr>
          <p:spPr>
            <a:xfrm>
              <a:off x="8545608" y="3948721"/>
              <a:ext cx="1134754" cy="175368"/>
            </a:xfrm>
            <a:custGeom>
              <a:avLst/>
              <a:gdLst/>
              <a:ahLst/>
              <a:cxnLst/>
              <a:rect l="l" t="t" r="r" b="b"/>
              <a:pathLst>
                <a:path w="36417" h="5628" fill="none" extrusionOk="0">
                  <a:moveTo>
                    <a:pt x="0" y="0"/>
                  </a:moveTo>
                  <a:lnTo>
                    <a:pt x="6049" y="0"/>
                  </a:lnTo>
                  <a:lnTo>
                    <a:pt x="8379" y="2330"/>
                  </a:lnTo>
                  <a:lnTo>
                    <a:pt x="11676" y="5627"/>
                  </a:lnTo>
                  <a:lnTo>
                    <a:pt x="36416" y="5627"/>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5" name="Google Shape;2675;p33"/>
          <p:cNvGrpSpPr/>
          <p:nvPr/>
        </p:nvGrpSpPr>
        <p:grpSpPr>
          <a:xfrm rot="5400000">
            <a:off x="2421400" y="552075"/>
            <a:ext cx="98902" cy="553090"/>
            <a:chOff x="4898850" y="4820550"/>
            <a:chExt cx="98902" cy="553090"/>
          </a:xfrm>
        </p:grpSpPr>
        <p:sp>
          <p:nvSpPr>
            <p:cNvPr id="2676" name="Google Shape;2676;p33"/>
            <p:cNvSpPr/>
            <p:nvPr/>
          </p:nvSpPr>
          <p:spPr>
            <a:xfrm>
              <a:off x="4898850" y="4820550"/>
              <a:ext cx="98902" cy="98902"/>
            </a:xfrm>
            <a:custGeom>
              <a:avLst/>
              <a:gdLst/>
              <a:ahLst/>
              <a:cxnLst/>
              <a:rect l="l" t="t" r="r" b="b"/>
              <a:pathLst>
                <a:path w="3174" h="3174" fill="none" extrusionOk="0">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33"/>
            <p:cNvSpPr/>
            <p:nvPr/>
          </p:nvSpPr>
          <p:spPr>
            <a:xfrm>
              <a:off x="4924339" y="4847971"/>
              <a:ext cx="46366" cy="43094"/>
            </a:xfrm>
            <a:custGeom>
              <a:avLst/>
              <a:gdLst/>
              <a:ahLst/>
              <a:cxnLst/>
              <a:rect l="l" t="t" r="r" b="b"/>
              <a:pathLst>
                <a:path w="1488" h="1383" extrusionOk="0">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33"/>
            <p:cNvSpPr/>
            <p:nvPr/>
          </p:nvSpPr>
          <p:spPr>
            <a:xfrm>
              <a:off x="4901935" y="5281687"/>
              <a:ext cx="91953" cy="91953"/>
            </a:xfrm>
            <a:custGeom>
              <a:avLst/>
              <a:gdLst/>
              <a:ahLst/>
              <a:cxnLst/>
              <a:rect l="l" t="t" r="r" b="b"/>
              <a:pathLst>
                <a:path w="2951" h="2951" fill="none" extrusionOk="0">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33"/>
            <p:cNvSpPr/>
            <p:nvPr/>
          </p:nvSpPr>
          <p:spPr>
            <a:xfrm>
              <a:off x="4925866" y="5306428"/>
              <a:ext cx="43281" cy="43281"/>
            </a:xfrm>
            <a:custGeom>
              <a:avLst/>
              <a:gdLst/>
              <a:ahLst/>
              <a:cxnLst/>
              <a:rect l="l" t="t" r="r" b="b"/>
              <a:pathLst>
                <a:path w="1389" h="1389" extrusionOk="0">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33"/>
            <p:cNvSpPr/>
            <p:nvPr/>
          </p:nvSpPr>
          <p:spPr>
            <a:xfrm>
              <a:off x="4942100" y="4917862"/>
              <a:ext cx="31" cy="358465"/>
            </a:xfrm>
            <a:custGeom>
              <a:avLst/>
              <a:gdLst/>
              <a:ahLst/>
              <a:cxnLst/>
              <a:rect l="l" t="t" r="r" b="b"/>
              <a:pathLst>
                <a:path w="1" h="11504" fill="none" extrusionOk="0">
                  <a:moveTo>
                    <a:pt x="0" y="11503"/>
                  </a:moveTo>
                  <a:lnTo>
                    <a:pt x="0" y="1"/>
                  </a:lnTo>
                </a:path>
              </a:pathLst>
            </a:custGeom>
            <a:noFill/>
            <a:ln w="190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1" name="Google Shape;2681;p33"/>
          <p:cNvGrpSpPr/>
          <p:nvPr/>
        </p:nvGrpSpPr>
        <p:grpSpPr>
          <a:xfrm>
            <a:off x="4505167" y="564628"/>
            <a:ext cx="1105976" cy="133969"/>
            <a:chOff x="8183182" y="663852"/>
            <a:chExt cx="1475028" cy="178673"/>
          </a:xfrm>
        </p:grpSpPr>
        <p:grpSp>
          <p:nvGrpSpPr>
            <p:cNvPr id="2682" name="Google Shape;2682;p33"/>
            <p:cNvGrpSpPr/>
            <p:nvPr/>
          </p:nvGrpSpPr>
          <p:grpSpPr>
            <a:xfrm>
              <a:off x="8183182" y="774425"/>
              <a:ext cx="1178025" cy="68100"/>
              <a:chOff x="2024450" y="204150"/>
              <a:chExt cx="1178025" cy="68100"/>
            </a:xfrm>
          </p:grpSpPr>
          <p:sp>
            <p:nvSpPr>
              <p:cNvPr id="2683" name="Google Shape;2683;p33"/>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33"/>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33"/>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33"/>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33"/>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33"/>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33"/>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33"/>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33"/>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33"/>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3" name="Google Shape;2693;p33"/>
            <p:cNvGrpSpPr/>
            <p:nvPr/>
          </p:nvGrpSpPr>
          <p:grpSpPr>
            <a:xfrm>
              <a:off x="8480185" y="663852"/>
              <a:ext cx="1178025" cy="68100"/>
              <a:chOff x="2024450" y="204150"/>
              <a:chExt cx="1178025" cy="68100"/>
            </a:xfrm>
          </p:grpSpPr>
          <p:sp>
            <p:nvSpPr>
              <p:cNvPr id="2694" name="Google Shape;2694;p33"/>
              <p:cNvSpPr/>
              <p:nvPr/>
            </p:nvSpPr>
            <p:spPr>
              <a:xfrm>
                <a:off x="20244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33"/>
              <p:cNvSpPr/>
              <p:nvPr/>
            </p:nvSpPr>
            <p:spPr>
              <a:xfrm>
                <a:off x="21477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33"/>
              <p:cNvSpPr/>
              <p:nvPr/>
            </p:nvSpPr>
            <p:spPr>
              <a:xfrm>
                <a:off x="22711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33"/>
              <p:cNvSpPr/>
              <p:nvPr/>
            </p:nvSpPr>
            <p:spPr>
              <a:xfrm>
                <a:off x="23944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33"/>
              <p:cNvSpPr/>
              <p:nvPr/>
            </p:nvSpPr>
            <p:spPr>
              <a:xfrm>
                <a:off x="25177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33"/>
              <p:cNvSpPr/>
              <p:nvPr/>
            </p:nvSpPr>
            <p:spPr>
              <a:xfrm>
                <a:off x="26410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33"/>
              <p:cNvSpPr/>
              <p:nvPr/>
            </p:nvSpPr>
            <p:spPr>
              <a:xfrm>
                <a:off x="276440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33"/>
              <p:cNvSpPr/>
              <p:nvPr/>
            </p:nvSpPr>
            <p:spPr>
              <a:xfrm>
                <a:off x="288772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33"/>
              <p:cNvSpPr/>
              <p:nvPr/>
            </p:nvSpPr>
            <p:spPr>
              <a:xfrm>
                <a:off x="3011050"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33"/>
              <p:cNvSpPr/>
              <p:nvPr/>
            </p:nvSpPr>
            <p:spPr>
              <a:xfrm>
                <a:off x="3134375" y="204150"/>
                <a:ext cx="68100" cy="68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04" name="Google Shape;2704;p33"/>
          <p:cNvGrpSpPr/>
          <p:nvPr/>
        </p:nvGrpSpPr>
        <p:grpSpPr>
          <a:xfrm>
            <a:off x="5447301" y="4536119"/>
            <a:ext cx="1252897" cy="51000"/>
            <a:chOff x="2915381" y="4104819"/>
            <a:chExt cx="1252897" cy="51000"/>
          </a:xfrm>
        </p:grpSpPr>
        <p:sp>
          <p:nvSpPr>
            <p:cNvPr id="2705" name="Google Shape;2705;p33"/>
            <p:cNvSpPr/>
            <p:nvPr/>
          </p:nvSpPr>
          <p:spPr>
            <a:xfrm>
              <a:off x="2915381"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33"/>
            <p:cNvSpPr/>
            <p:nvPr/>
          </p:nvSpPr>
          <p:spPr>
            <a:xfrm>
              <a:off x="3007850"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33"/>
            <p:cNvSpPr/>
            <p:nvPr/>
          </p:nvSpPr>
          <p:spPr>
            <a:xfrm>
              <a:off x="3100319"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33"/>
            <p:cNvSpPr/>
            <p:nvPr/>
          </p:nvSpPr>
          <p:spPr>
            <a:xfrm>
              <a:off x="3192788"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33"/>
            <p:cNvSpPr/>
            <p:nvPr/>
          </p:nvSpPr>
          <p:spPr>
            <a:xfrm>
              <a:off x="328525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33"/>
            <p:cNvSpPr/>
            <p:nvPr/>
          </p:nvSpPr>
          <p:spPr>
            <a:xfrm>
              <a:off x="3377726"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33"/>
            <p:cNvSpPr/>
            <p:nvPr/>
          </p:nvSpPr>
          <p:spPr>
            <a:xfrm>
              <a:off x="3470195"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33"/>
            <p:cNvSpPr/>
            <p:nvPr/>
          </p:nvSpPr>
          <p:spPr>
            <a:xfrm>
              <a:off x="3562664"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33"/>
            <p:cNvSpPr/>
            <p:nvPr/>
          </p:nvSpPr>
          <p:spPr>
            <a:xfrm>
              <a:off x="3655133"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33"/>
            <p:cNvSpPr/>
            <p:nvPr/>
          </p:nvSpPr>
          <p:spPr>
            <a:xfrm>
              <a:off x="3747602"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33"/>
            <p:cNvSpPr/>
            <p:nvPr/>
          </p:nvSpPr>
          <p:spPr>
            <a:xfrm>
              <a:off x="38400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33"/>
            <p:cNvSpPr/>
            <p:nvPr/>
          </p:nvSpPr>
          <p:spPr>
            <a:xfrm>
              <a:off x="39324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33"/>
            <p:cNvSpPr/>
            <p:nvPr/>
          </p:nvSpPr>
          <p:spPr>
            <a:xfrm>
              <a:off x="40248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33"/>
            <p:cNvSpPr/>
            <p:nvPr/>
          </p:nvSpPr>
          <p:spPr>
            <a:xfrm>
              <a:off x="4117277" y="4104819"/>
              <a:ext cx="51000" cy="5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9" name="Google Shape;2719;p33"/>
          <p:cNvSpPr txBox="1">
            <a:spLocks noGrp="1"/>
          </p:cNvSpPr>
          <p:nvPr>
            <p:ph type="ctrTitle"/>
          </p:nvPr>
        </p:nvSpPr>
        <p:spPr>
          <a:xfrm>
            <a:off x="1180398" y="1174966"/>
            <a:ext cx="6621055" cy="174302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bg-BG" sz="3600" dirty="0">
                <a:solidFill>
                  <a:schemeClr val="accent2"/>
                </a:solidFill>
              </a:rPr>
              <a:t>Архитектура на дънна платка</a:t>
            </a:r>
            <a:r>
              <a:rPr lang="en-US" sz="3600" dirty="0">
                <a:solidFill>
                  <a:schemeClr val="accent2"/>
                </a:solidFill>
              </a:rPr>
              <a:t>. </a:t>
            </a:r>
            <a:r>
              <a:rPr lang="bg-BG" sz="3600" dirty="0">
                <a:solidFill>
                  <a:schemeClr val="accent2"/>
                </a:solidFill>
              </a:rPr>
              <a:t>Основни компоненти. </a:t>
            </a:r>
            <a:r>
              <a:rPr lang="en-US" sz="3600" dirty="0">
                <a:solidFill>
                  <a:schemeClr val="accent2"/>
                </a:solidFill>
              </a:rPr>
              <a:t>Form Factor</a:t>
            </a:r>
            <a:endParaRPr sz="3200" dirty="0"/>
          </a:p>
        </p:txBody>
      </p:sp>
    </p:spTree>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BB679-3E63-9039-A2D3-D8509F849D68}"/>
              </a:ext>
            </a:extLst>
          </p:cNvPr>
          <p:cNvSpPr>
            <a:spLocks noGrp="1"/>
          </p:cNvSpPr>
          <p:nvPr>
            <p:ph type="title"/>
          </p:nvPr>
        </p:nvSpPr>
        <p:spPr/>
        <p:txBody>
          <a:bodyPr/>
          <a:lstStyle/>
          <a:p>
            <a:r>
              <a:rPr lang="bg-BG" dirty="0">
                <a:latin typeface="Pt sans" panose="020B0503020203020204" pitchFamily="34" charset="0"/>
              </a:rPr>
              <a:t>Теми</a:t>
            </a:r>
          </a:p>
        </p:txBody>
      </p:sp>
      <p:sp>
        <p:nvSpPr>
          <p:cNvPr id="3" name="Text Placeholder 2">
            <a:extLst>
              <a:ext uri="{FF2B5EF4-FFF2-40B4-BE49-F238E27FC236}">
                <a16:creationId xmlns:a16="http://schemas.microsoft.com/office/drawing/2014/main" xmlns="" id="{B7DF656F-1A84-FF76-0D67-C9B4286B08D3}"/>
              </a:ext>
            </a:extLst>
          </p:cNvPr>
          <p:cNvSpPr>
            <a:spLocks noGrp="1"/>
          </p:cNvSpPr>
          <p:nvPr>
            <p:ph type="body" idx="1"/>
          </p:nvPr>
        </p:nvSpPr>
        <p:spPr/>
        <p:txBody>
          <a:bodyPr/>
          <a:lstStyle/>
          <a:p>
            <a:r>
              <a:rPr lang="bg-BG" sz="1400" dirty="0"/>
              <a:t>ДЪННА ПЛАТКА</a:t>
            </a:r>
            <a:endParaRPr lang="en-US" sz="1400" dirty="0"/>
          </a:p>
          <a:p>
            <a:r>
              <a:rPr lang="bg-BG" sz="1400" dirty="0"/>
              <a:t>Двуканална архитектура</a:t>
            </a:r>
            <a:endParaRPr lang="en-US" sz="1400" dirty="0"/>
          </a:p>
          <a:p>
            <a:r>
              <a:rPr lang="bg-BG" sz="1400" dirty="0"/>
              <a:t>Триканална архитектура</a:t>
            </a:r>
            <a:endParaRPr lang="en-US" sz="1400" dirty="0"/>
          </a:p>
          <a:p>
            <a:r>
              <a:rPr lang="bg-BG" sz="1400" dirty="0"/>
              <a:t>Четириканална архитектура</a:t>
            </a:r>
            <a:endParaRPr lang="en-US" sz="1400" dirty="0"/>
          </a:p>
          <a:p>
            <a:r>
              <a:rPr lang="bg-BG" sz="1400" dirty="0"/>
              <a:t>ТИПОВЕ ПЛАТКИ</a:t>
            </a:r>
            <a:endParaRPr lang="en-US" sz="1400" dirty="0"/>
          </a:p>
          <a:p>
            <a:r>
              <a:rPr lang="bg-BG" sz="1400" dirty="0"/>
              <a:t>КОМПОНЕНТИ НА ДЪННА ПЛАТКА</a:t>
            </a:r>
            <a:endParaRPr lang="en-US" sz="1400" dirty="0"/>
          </a:p>
          <a:p>
            <a:r>
              <a:rPr lang="bg-BG" sz="1400" dirty="0"/>
              <a:t>КАКВО ПРЕДСТАВЛЯВА ЧИПСЕТА?</a:t>
            </a:r>
            <a:endParaRPr lang="en-US" sz="1400" dirty="0"/>
          </a:p>
          <a:p>
            <a:r>
              <a:rPr lang="bg-BG" sz="1400" dirty="0"/>
              <a:t>СОКЕТ</a:t>
            </a:r>
            <a:endParaRPr lang="en-US" sz="1400" dirty="0"/>
          </a:p>
          <a:p>
            <a:r>
              <a:rPr lang="en-US" sz="1400" dirty="0"/>
              <a:t>LGA </a:t>
            </a:r>
            <a:r>
              <a:rPr lang="bg-BG" sz="1400" dirty="0"/>
              <a:t>и </a:t>
            </a:r>
            <a:r>
              <a:rPr lang="en-US" sz="1400" dirty="0"/>
              <a:t>PGA</a:t>
            </a:r>
          </a:p>
          <a:p>
            <a:r>
              <a:rPr lang="bg-BG" sz="1400" dirty="0"/>
              <a:t>Разширителни слотове</a:t>
            </a:r>
            <a:endParaRPr lang="en-US" sz="1400" dirty="0"/>
          </a:p>
          <a:p>
            <a:r>
              <a:rPr lang="bg-BG" sz="1400" dirty="0"/>
              <a:t>СЛОТОВЕ ЗА </a:t>
            </a:r>
            <a:r>
              <a:rPr lang="en-US" sz="1400" dirty="0"/>
              <a:t>RAM</a:t>
            </a:r>
          </a:p>
          <a:p>
            <a:r>
              <a:rPr lang="bg-BG" sz="1400" dirty="0"/>
              <a:t>ОСНОВНИ КОМПОНЕНТИ</a:t>
            </a:r>
            <a:endParaRPr lang="en-US" sz="1400" dirty="0"/>
          </a:p>
          <a:p>
            <a:r>
              <a:rPr lang="bg-BG" sz="1400" dirty="0"/>
              <a:t>ФОРМ ФАКТОР</a:t>
            </a:r>
            <a:endParaRPr lang="en-US" sz="1400" dirty="0"/>
          </a:p>
          <a:p>
            <a:r>
              <a:rPr lang="bg-BG" sz="1400" dirty="0"/>
              <a:t>Излезли от употреба </a:t>
            </a:r>
            <a:r>
              <a:rPr lang="bg-BG" sz="1400" dirty="0" err="1"/>
              <a:t>форм</a:t>
            </a:r>
            <a:r>
              <a:rPr lang="bg-BG" sz="1400" dirty="0"/>
              <a:t>-фактори </a:t>
            </a:r>
          </a:p>
          <a:p>
            <a:r>
              <a:rPr lang="bg-BG" sz="1400" dirty="0"/>
              <a:t>Въпроси</a:t>
            </a:r>
          </a:p>
        </p:txBody>
      </p:sp>
    </p:spTree>
    <p:extLst>
      <p:ext uri="{BB962C8B-B14F-4D97-AF65-F5344CB8AC3E}">
        <p14:creationId xmlns:p14="http://schemas.microsoft.com/office/powerpoint/2010/main" val="2432077706"/>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23"/>
        <p:cNvGrpSpPr/>
        <p:nvPr/>
      </p:nvGrpSpPr>
      <p:grpSpPr>
        <a:xfrm>
          <a:off x="0" y="0"/>
          <a:ext cx="0" cy="0"/>
          <a:chOff x="0" y="0"/>
          <a:chExt cx="0" cy="0"/>
        </a:xfrm>
      </p:grpSpPr>
      <p:sp>
        <p:nvSpPr>
          <p:cNvPr id="2724" name="Google Shape;2724;p34"/>
          <p:cNvSpPr txBox="1">
            <a:spLocks noGrp="1"/>
          </p:cNvSpPr>
          <p:nvPr>
            <p:ph type="title"/>
          </p:nvPr>
        </p:nvSpPr>
        <p:spPr>
          <a:xfrm>
            <a:off x="713100" y="539400"/>
            <a:ext cx="7717800" cy="572700"/>
          </a:xfrm>
          <a:prstGeom prst="rect">
            <a:avLst/>
          </a:prstGeom>
          <a:effectLst>
            <a:outerShdw blurRad="142875" algn="bl" rotWithShape="0">
              <a:schemeClr val="accent2">
                <a:alpha val="4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bg-BG" sz="2800" dirty="0"/>
              <a:t>ДЪННА ПЛАТКА</a:t>
            </a:r>
            <a:endParaRPr sz="2800" dirty="0">
              <a:solidFill>
                <a:schemeClr val="accent2"/>
              </a:solidFill>
            </a:endParaRPr>
          </a:p>
        </p:txBody>
      </p:sp>
      <p:sp>
        <p:nvSpPr>
          <p:cNvPr id="2725" name="Google Shape;2725;p34"/>
          <p:cNvSpPr txBox="1">
            <a:spLocks noGrp="1"/>
          </p:cNvSpPr>
          <p:nvPr>
            <p:ph type="body" idx="1"/>
          </p:nvPr>
        </p:nvSpPr>
        <p:spPr>
          <a:xfrm>
            <a:off x="998515" y="1312606"/>
            <a:ext cx="7146971" cy="3399504"/>
          </a:xfrm>
          <a:prstGeom prst="rect">
            <a:avLst/>
          </a:prstGeom>
        </p:spPr>
        <p:txBody>
          <a:bodyPr spcFirstLastPara="1" wrap="square" lIns="91425" tIns="91425" rIns="91425" bIns="91425" anchor="t" anchorCtr="0">
            <a:noAutofit/>
          </a:bodyPr>
          <a:lstStyle/>
          <a:p>
            <a:pPr marL="0" lvl="0" indent="0" algn="just" rtl="0">
              <a:spcAft>
                <a:spcPts val="600"/>
              </a:spcAft>
              <a:buNone/>
            </a:pPr>
            <a:r>
              <a:rPr lang="ru-RU" sz="1800" kern="1200" dirty="0"/>
              <a:t> Дънната платка е един от най-важните компоненти в персоналния компютър. Голяма част от</a:t>
            </a:r>
            <a:r>
              <a:rPr lang="en-US" sz="1800" kern="1200" dirty="0"/>
              <a:t> </a:t>
            </a:r>
            <a:r>
              <a:rPr lang="ru-RU" sz="1800" kern="1200" dirty="0"/>
              <a:t>основната електроника е интегрирана върху обща печатна платка, наречена дънна платка или по 9-кратко-дъно. Тя свързва всички модули, служи за мост между процесора, паметта и контролерите на останалите устройства. Дънната платка съдържа интегралните чипове на CPU, RAM, ROM-BIOS, CHIPSET, слотове за разширение, конектори за FDD, HDD, CD/DVD-ROM/R/RW, конектор за захранващия</a:t>
            </a:r>
            <a:r>
              <a:rPr lang="en-US" sz="1800" kern="1200" dirty="0"/>
              <a:t> </a:t>
            </a:r>
            <a:r>
              <a:rPr lang="ru-RU" sz="1800" kern="1200" dirty="0"/>
              <a:t>блок, входно-изходни портове и др. </a:t>
            </a:r>
            <a:r>
              <a:rPr lang="ru-RU" sz="1800" kern="1200" dirty="0" err="1"/>
              <a:t>функционални</a:t>
            </a:r>
            <a:r>
              <a:rPr lang="en-US" sz="1800" kern="1200" dirty="0"/>
              <a:t> </a:t>
            </a:r>
            <a:r>
              <a:rPr lang="ru-RU" sz="1800" kern="1200" dirty="0" err="1"/>
              <a:t>блокове</a:t>
            </a:r>
            <a:r>
              <a:rPr lang="ru-RU" sz="1800" kern="1200" dirty="0"/>
              <a:t>.</a:t>
            </a:r>
            <a:r>
              <a:rPr lang="en-US" sz="1800" kern="1200" dirty="0"/>
              <a:t> </a:t>
            </a:r>
            <a:r>
              <a:rPr lang="ru-RU" sz="1800" kern="1200" dirty="0"/>
              <a:t>От нея в голяма степен зависят бързодействието, надеждността, стабилността на работа на системата, възможността за разширение и поставяне на по-нови компоненти.</a:t>
            </a:r>
            <a:endParaRPr lang="en-US" sz="1800" kern="1200" dirty="0"/>
          </a:p>
        </p:txBody>
      </p:sp>
      <p:grpSp>
        <p:nvGrpSpPr>
          <p:cNvPr id="2726" name="Google Shape;2726;p34"/>
          <p:cNvGrpSpPr/>
          <p:nvPr/>
        </p:nvGrpSpPr>
        <p:grpSpPr>
          <a:xfrm>
            <a:off x="7126489" y="852727"/>
            <a:ext cx="883262" cy="242091"/>
            <a:chOff x="2300350" y="2601250"/>
            <a:chExt cx="2275275" cy="623625"/>
          </a:xfrm>
        </p:grpSpPr>
        <p:sp>
          <p:nvSpPr>
            <p:cNvPr id="2727" name="Google Shape;2727;p34"/>
            <p:cNvSpPr/>
            <p:nvPr/>
          </p:nvSpPr>
          <p:spPr>
            <a:xfrm>
              <a:off x="2300350" y="2601250"/>
              <a:ext cx="392100" cy="623625"/>
            </a:xfrm>
            <a:custGeom>
              <a:avLst/>
              <a:gdLst/>
              <a:ahLst/>
              <a:cxnLst/>
              <a:rect l="l" t="t" r="r" b="b"/>
              <a:pathLst>
                <a:path w="15684" h="24945" extrusionOk="0">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34"/>
            <p:cNvSpPr/>
            <p:nvPr/>
          </p:nvSpPr>
          <p:spPr>
            <a:xfrm>
              <a:off x="2680075" y="2601250"/>
              <a:ext cx="389025" cy="623625"/>
            </a:xfrm>
            <a:custGeom>
              <a:avLst/>
              <a:gdLst/>
              <a:ahLst/>
              <a:cxnLst/>
              <a:rect l="l" t="t" r="r" b="b"/>
              <a:pathLst>
                <a:path w="15561" h="24945" extrusionOk="0">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34"/>
            <p:cNvSpPr/>
            <p:nvPr/>
          </p:nvSpPr>
          <p:spPr>
            <a:xfrm>
              <a:off x="3056725" y="2601250"/>
              <a:ext cx="389000" cy="623625"/>
            </a:xfrm>
            <a:custGeom>
              <a:avLst/>
              <a:gdLst/>
              <a:ahLst/>
              <a:cxnLst/>
              <a:rect l="l" t="t" r="r" b="b"/>
              <a:pathLst>
                <a:path w="15560" h="24945" extrusionOk="0">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34"/>
            <p:cNvSpPr/>
            <p:nvPr/>
          </p:nvSpPr>
          <p:spPr>
            <a:xfrm>
              <a:off x="3433350"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34"/>
            <p:cNvSpPr/>
            <p:nvPr/>
          </p:nvSpPr>
          <p:spPr>
            <a:xfrm>
              <a:off x="3810000" y="2601250"/>
              <a:ext cx="389000" cy="623625"/>
            </a:xfrm>
            <a:custGeom>
              <a:avLst/>
              <a:gdLst/>
              <a:ahLst/>
              <a:cxnLst/>
              <a:rect l="l" t="t" r="r" b="b"/>
              <a:pathLst>
                <a:path w="15560" h="24945" extrusionOk="0">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34"/>
            <p:cNvSpPr/>
            <p:nvPr/>
          </p:nvSpPr>
          <p:spPr>
            <a:xfrm>
              <a:off x="4186625" y="2601250"/>
              <a:ext cx="389000" cy="623625"/>
            </a:xfrm>
            <a:custGeom>
              <a:avLst/>
              <a:gdLst/>
              <a:ahLst/>
              <a:cxnLst/>
              <a:rect l="l" t="t" r="r" b="b"/>
              <a:pathLst>
                <a:path w="15560" h="24945" extrusionOk="0">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p14:dur="0" advTm="30000"/>
    </mc:Choice>
    <mc:Fallback xmlns="">
      <p:transition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B6A97B-38EE-F834-73DA-5968DCD2C719}"/>
              </a:ext>
            </a:extLst>
          </p:cNvPr>
          <p:cNvSpPr>
            <a:spLocks noGrp="1"/>
          </p:cNvSpPr>
          <p:nvPr>
            <p:ph type="title"/>
          </p:nvPr>
        </p:nvSpPr>
        <p:spPr>
          <a:xfrm>
            <a:off x="713100" y="497265"/>
            <a:ext cx="7717800" cy="572700"/>
          </a:xfrm>
        </p:spPr>
        <p:txBody>
          <a:bodyPr/>
          <a:lstStyle/>
          <a:p>
            <a:r>
              <a:rPr lang="bg-BG" dirty="0"/>
              <a:t>Двуканална архитектура</a:t>
            </a:r>
            <a:endParaRPr lang="en-US" dirty="0"/>
          </a:p>
        </p:txBody>
      </p:sp>
      <p:sp>
        <p:nvSpPr>
          <p:cNvPr id="3" name="Text Placeholder 2">
            <a:extLst>
              <a:ext uri="{FF2B5EF4-FFF2-40B4-BE49-F238E27FC236}">
                <a16:creationId xmlns:a16="http://schemas.microsoft.com/office/drawing/2014/main" xmlns="" id="{C20F7D03-358E-3824-3AB4-55F259D0F0FA}"/>
              </a:ext>
            </a:extLst>
          </p:cNvPr>
          <p:cNvSpPr>
            <a:spLocks noGrp="1"/>
          </p:cNvSpPr>
          <p:nvPr>
            <p:ph type="body" idx="1"/>
          </p:nvPr>
        </p:nvSpPr>
        <p:spPr>
          <a:xfrm>
            <a:off x="4869872" y="1187700"/>
            <a:ext cx="3561028" cy="3416400"/>
          </a:xfrm>
        </p:spPr>
        <p:txBody>
          <a:bodyPr/>
          <a:lstStyle/>
          <a:p>
            <a:pPr marL="152400" indent="0" algn="just">
              <a:buNone/>
            </a:pPr>
            <a:r>
              <a:rPr lang="ru-RU" sz="1400" dirty="0"/>
              <a:t>Двуканалната архитектура разширява броя на линиите за данни, налични в шината на паметта от 64 на 128. Това удвоява наличната честотна лента. Например, ако използвате DDR3-1333, максималната теоретична скорост на трансфер се е удвоила от 10 664MB/s (10.6GB/s) на 21 328MB/s (21.3GB/s).</a:t>
            </a:r>
            <a:endParaRPr lang="en-US" sz="1400" dirty="0"/>
          </a:p>
          <a:p>
            <a:pPr marL="152400" indent="0" algn="just">
              <a:buNone/>
            </a:pPr>
            <a:endParaRPr lang="en-US" sz="1400" dirty="0"/>
          </a:p>
          <a:p>
            <a:pPr marL="152400" indent="0" algn="just">
              <a:buNone/>
            </a:pPr>
            <a:r>
              <a:rPr lang="ru-RU" sz="1400" dirty="0"/>
              <a:t>Всеки модул памет, обаче, е 64-битово устройство. Ето защо, за да работи двуканалната архитектура, ще е необходимо да инсталирате два модула памет в паралел, предоставяйки налични 128 бита.</a:t>
            </a:r>
            <a:endParaRPr lang="en-US" sz="1400" dirty="0"/>
          </a:p>
        </p:txBody>
      </p:sp>
      <p:pic>
        <p:nvPicPr>
          <p:cNvPr id="4" name="Picture 3">
            <a:extLst>
              <a:ext uri="{FF2B5EF4-FFF2-40B4-BE49-F238E27FC236}">
                <a16:creationId xmlns:a16="http://schemas.microsoft.com/office/drawing/2014/main" xmlns="" id="{32880827-6C99-EAA3-07BB-5451E4E1BA09}"/>
              </a:ext>
            </a:extLst>
          </p:cNvPr>
          <p:cNvPicPr>
            <a:picLocks noChangeAspect="1"/>
          </p:cNvPicPr>
          <p:nvPr/>
        </p:nvPicPr>
        <p:blipFill>
          <a:blip r:embed="rId2"/>
          <a:stretch>
            <a:fillRect/>
          </a:stretch>
        </p:blipFill>
        <p:spPr>
          <a:xfrm>
            <a:off x="900135" y="1187700"/>
            <a:ext cx="3561028" cy="3500671"/>
          </a:xfrm>
          <a:prstGeom prst="rect">
            <a:avLst/>
          </a:prstGeom>
        </p:spPr>
      </p:pic>
      <p:sp>
        <p:nvSpPr>
          <p:cNvPr id="5" name="TextBox 4">
            <a:extLst>
              <a:ext uri="{FF2B5EF4-FFF2-40B4-BE49-F238E27FC236}">
                <a16:creationId xmlns:a16="http://schemas.microsoft.com/office/drawing/2014/main" xmlns="" id="{A85E763C-64C7-6641-5CC2-4957CA8C0B59}"/>
              </a:ext>
            </a:extLst>
          </p:cNvPr>
          <p:cNvSpPr txBox="1"/>
          <p:nvPr/>
        </p:nvSpPr>
        <p:spPr>
          <a:xfrm>
            <a:off x="970886" y="4688371"/>
            <a:ext cx="3244799" cy="307777"/>
          </a:xfrm>
          <a:prstGeom prst="rect">
            <a:avLst/>
          </a:prstGeom>
          <a:noFill/>
        </p:spPr>
        <p:txBody>
          <a:bodyPr wrap="none" rtlCol="0">
            <a:spAutoFit/>
          </a:bodyPr>
          <a:lstStyle/>
          <a:p>
            <a:r>
              <a:rPr lang="bg-BG" dirty="0">
                <a:solidFill>
                  <a:schemeClr val="bg1"/>
                </a:solidFill>
                <a:latin typeface="PT Sans" panose="020B0503020203020204" pitchFamily="34" charset="0"/>
              </a:rPr>
              <a:t>Как работи двуканалната архитектура.</a:t>
            </a:r>
            <a:endParaRPr lang="en-US" dirty="0">
              <a:solidFill>
                <a:schemeClr val="bg1"/>
              </a:solidFill>
              <a:latin typeface="PT Sans" panose="020B0503020203020204" pitchFamily="34" charset="0"/>
            </a:endParaRPr>
          </a:p>
        </p:txBody>
      </p:sp>
    </p:spTree>
    <p:extLst>
      <p:ext uri="{BB962C8B-B14F-4D97-AF65-F5344CB8AC3E}">
        <p14:creationId xmlns:p14="http://schemas.microsoft.com/office/powerpoint/2010/main" val="1377835710"/>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FCB1CD-B8A9-37E0-337A-C5154BA1AB6F}"/>
              </a:ext>
            </a:extLst>
          </p:cNvPr>
          <p:cNvSpPr>
            <a:spLocks noGrp="1"/>
          </p:cNvSpPr>
          <p:nvPr>
            <p:ph type="title"/>
          </p:nvPr>
        </p:nvSpPr>
        <p:spPr/>
        <p:txBody>
          <a:bodyPr/>
          <a:lstStyle/>
          <a:p>
            <a:r>
              <a:rPr lang="bg-BG" dirty="0"/>
              <a:t>Двуканална архитектура</a:t>
            </a:r>
          </a:p>
        </p:txBody>
      </p:sp>
      <p:sp>
        <p:nvSpPr>
          <p:cNvPr id="3" name="Text Placeholder 2">
            <a:extLst>
              <a:ext uri="{FF2B5EF4-FFF2-40B4-BE49-F238E27FC236}">
                <a16:creationId xmlns:a16="http://schemas.microsoft.com/office/drawing/2014/main" xmlns="" id="{DAFDDA31-ADDE-CBCF-971E-629A11ECB6D7}"/>
              </a:ext>
            </a:extLst>
          </p:cNvPr>
          <p:cNvSpPr>
            <a:spLocks noGrp="1"/>
          </p:cNvSpPr>
          <p:nvPr>
            <p:ph type="body" idx="1"/>
          </p:nvPr>
        </p:nvSpPr>
        <p:spPr/>
        <p:txBody>
          <a:bodyPr/>
          <a:lstStyle/>
          <a:p>
            <a:pPr marL="152400" indent="0" algn="just">
              <a:buNone/>
            </a:pPr>
            <a:r>
              <a:rPr lang="ru-RU" sz="1400" dirty="0"/>
              <a:t>Много хора имат проблем с визуализирането на тази идея. Затова нека да направим някои схеми. Първо, да предположим, че имаме система, която не поддържа двуканална функция (т.е. едноканална система). В този случай контролера на паметта, ще прехвърля 64 бита. Когато казваме, че шината за данни на паметта е 64 бита широка, това означава, че има 64 линии (да, физически линии на дънната платка), свързващи контролера на паметта и слотовете за памет. Тези линии са обозначени като D0 през D63. Шината за данни на паметта е споделена между всички слотове за памет. Адресната и контролната шина ще активират правилния слот, в зависимост от адреса от където данните трябва да се съхраняват или четат.</a:t>
            </a:r>
            <a:r>
              <a:rPr lang="en-US" sz="1400" dirty="0"/>
              <a:t> </a:t>
            </a:r>
          </a:p>
          <a:p>
            <a:pPr marL="152400" indent="0" algn="just">
              <a:buNone/>
            </a:pPr>
            <a:endParaRPr lang="en-US" sz="1400" dirty="0"/>
          </a:p>
          <a:p>
            <a:pPr marL="152400" indent="0" algn="just">
              <a:buNone/>
            </a:pPr>
            <a:r>
              <a:rPr lang="ru-RU" sz="1400" dirty="0"/>
              <a:t>Системи поддържащи двуканалната технология, шината за данни на паметта се разширява до 128 бита. Това означава, че 128 линии свързват контролера на паметта със слотовете за паметта. Тези линии са обозначени като D0 през D127. Тъй като всеки модул памет може да приема 64 бита наведнъж, два модула памет се използват за запълване на 128-битова шина данни. Виж фигура 4. Тъй като двата модула са достъпни по едно и също време, те трябва да бъдат идентични (същия капацитет, същите тайминги и същата честота).</a:t>
            </a:r>
          </a:p>
          <a:p>
            <a:pPr marL="152400" indent="0">
              <a:buNone/>
            </a:pPr>
            <a:endParaRPr lang="ru-RU" dirty="0"/>
          </a:p>
          <a:p>
            <a:pPr marL="152400" indent="0">
              <a:buNone/>
            </a:pPr>
            <a:endParaRPr lang="bg-BG" dirty="0"/>
          </a:p>
        </p:txBody>
      </p:sp>
    </p:spTree>
    <p:extLst>
      <p:ext uri="{BB962C8B-B14F-4D97-AF65-F5344CB8AC3E}">
        <p14:creationId xmlns:p14="http://schemas.microsoft.com/office/powerpoint/2010/main" val="3349113438"/>
      </p:ext>
    </p:extLst>
  </p:cSld>
  <p:clrMapOvr>
    <a:masterClrMapping/>
  </p:clrMapOvr>
  <mc:AlternateContent xmlns:mc="http://schemas.openxmlformats.org/markup-compatibility/2006" xmlns:p14="http://schemas.microsoft.com/office/powerpoint/2010/main">
    <mc:Choice Requires="p14">
      <p:transition spd="slow" p14:dur="2000" advTm="39000"/>
    </mc:Choice>
    <mc:Fallback xmlns="">
      <p:transition spd="slow" advTm="39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196561E1-E1CC-C13D-5217-03EA5288DA8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571" b="95429" l="3539" r="99697">
                        <a14:foregroundMark x1="39232" y1="51143" x2="3741" y2="33857"/>
                        <a14:foregroundMark x1="4044" y1="35000" x2="39029" y2="11143"/>
                        <a14:foregroundMark x1="39029" y1="11143" x2="50859" y2="15000"/>
                        <a14:foregroundMark x1="50859" y1="15000" x2="42872" y2="4857"/>
                        <a14:foregroundMark x1="42872" y1="4857" x2="88170" y2="20143"/>
                        <a14:foregroundMark x1="88170" y1="20143" x2="95652" y2="34714"/>
                        <a14:foregroundMark x1="95652" y1="34714" x2="93630" y2="49857"/>
                        <a14:foregroundMark x1="93630" y1="49857" x2="74216" y2="76000"/>
                        <a14:foregroundMark x1="74216" y1="76000" x2="70071" y2="90000"/>
                        <a14:foregroundMark x1="70071" y1="90000" x2="59252" y2="95571"/>
                        <a14:foregroundMark x1="59252" y1="95571" x2="33873" y2="82000"/>
                        <a14:foregroundMark x1="86249" y1="52000" x2="95652" y2="43286"/>
                        <a14:foregroundMark x1="95652" y1="43286" x2="95652" y2="43286"/>
                        <a14:foregroundMark x1="96259" y1="15143" x2="96259" y2="15143"/>
                        <a14:foregroundMark x1="95248" y1="18571" x2="95956" y2="15000"/>
                        <a14:foregroundMark x1="74115" y1="47857" x2="67543" y2="42571"/>
                        <a14:foregroundMark x1="69161" y1="44429" x2="79070" y2="52714"/>
                        <a14:foregroundMark x1="79070" y1="52714" x2="79070" y2="52714"/>
                        <a14:foregroundMark x1="78059" y1="44000" x2="67240" y2="56571"/>
                        <a14:foregroundMark x1="67240" y1="56571" x2="58746" y2="45429"/>
                        <a14:foregroundMark x1="58746" y1="45429" x2="75632" y2="46143"/>
                        <a14:foregroundMark x1="75632" y1="46143" x2="59757" y2="48000"/>
                        <a14:foregroundMark x1="59757" y1="48000" x2="64105" y2="37571"/>
                        <a14:foregroundMark x1="64105" y1="37571" x2="64105" y2="37571"/>
                        <a14:foregroundMark x1="85440" y1="14000" x2="83013" y2="10429"/>
                        <a14:foregroundMark x1="79879" y1="6857" x2="79373" y2="5714"/>
                        <a14:foregroundMark x1="60364" y1="43429" x2="62285" y2="42000"/>
                        <a14:foregroundMark x1="64206" y1="38286" x2="64206" y2="38286"/>
                        <a14:foregroundMark x1="64004" y1="38286" x2="54702" y2="45429"/>
                        <a14:foregroundMark x1="54702" y1="45429" x2="62386" y2="37857"/>
                        <a14:foregroundMark x1="62386" y1="37857" x2="56522" y2="48857"/>
                        <a14:foregroundMark x1="56522" y1="48857" x2="61072" y2="38857"/>
                        <a14:foregroundMark x1="61072" y1="38857" x2="61072" y2="38857"/>
                        <a14:foregroundMark x1="98079" y1="22857" x2="99697" y2="21571"/>
                      </a14:backgroundRemoval>
                    </a14:imgEffect>
                  </a14:imgLayer>
                </a14:imgProps>
              </a:ext>
            </a:extLst>
          </a:blip>
          <a:stretch>
            <a:fillRect/>
          </a:stretch>
        </p:blipFill>
        <p:spPr>
          <a:xfrm>
            <a:off x="1884217" y="161114"/>
            <a:ext cx="5375563" cy="3804747"/>
          </a:xfrm>
          <a:prstGeom prst="rect">
            <a:avLst/>
          </a:prstGeom>
        </p:spPr>
      </p:pic>
      <p:sp>
        <p:nvSpPr>
          <p:cNvPr id="3" name="TextBox 2">
            <a:extLst>
              <a:ext uri="{FF2B5EF4-FFF2-40B4-BE49-F238E27FC236}">
                <a16:creationId xmlns:a16="http://schemas.microsoft.com/office/drawing/2014/main" xmlns="" id="{ECE78095-79BB-4CD2-6FD6-3217BC12494F}"/>
              </a:ext>
            </a:extLst>
          </p:cNvPr>
          <p:cNvSpPr txBox="1"/>
          <p:nvPr/>
        </p:nvSpPr>
        <p:spPr>
          <a:xfrm>
            <a:off x="2705099" y="4405746"/>
            <a:ext cx="3733801" cy="369332"/>
          </a:xfrm>
          <a:prstGeom prst="rect">
            <a:avLst/>
          </a:prstGeom>
          <a:noFill/>
        </p:spPr>
        <p:txBody>
          <a:bodyPr wrap="square" rtlCol="0">
            <a:spAutoFit/>
          </a:bodyPr>
          <a:lstStyle/>
          <a:p>
            <a:r>
              <a:rPr lang="ru-RU" sz="1800" dirty="0">
                <a:solidFill>
                  <a:schemeClr val="bg1"/>
                </a:solidFill>
                <a:latin typeface="PT Sans" panose="020B0503020203020204" pitchFamily="34" charset="0"/>
              </a:rPr>
              <a:t>двуканален режим на Intel система</a:t>
            </a:r>
            <a:endParaRPr lang="en-US" sz="1800" dirty="0">
              <a:solidFill>
                <a:schemeClr val="bg1"/>
              </a:solidFill>
              <a:latin typeface="PT Sans" panose="020B0503020203020204" pitchFamily="34" charset="0"/>
            </a:endParaRPr>
          </a:p>
        </p:txBody>
      </p:sp>
    </p:spTree>
    <p:extLst>
      <p:ext uri="{BB962C8B-B14F-4D97-AF65-F5344CB8AC3E}">
        <p14:creationId xmlns:p14="http://schemas.microsoft.com/office/powerpoint/2010/main" val="300992889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02AC50-4375-909B-DF01-2A9A46873BD3}"/>
              </a:ext>
            </a:extLst>
          </p:cNvPr>
          <p:cNvSpPr>
            <a:spLocks noGrp="1"/>
          </p:cNvSpPr>
          <p:nvPr>
            <p:ph type="title"/>
          </p:nvPr>
        </p:nvSpPr>
        <p:spPr/>
        <p:txBody>
          <a:bodyPr/>
          <a:lstStyle/>
          <a:p>
            <a:r>
              <a:rPr lang="bg-BG" dirty="0"/>
              <a:t>Триканална архитектура</a:t>
            </a:r>
            <a:endParaRPr lang="en-US" dirty="0"/>
          </a:p>
        </p:txBody>
      </p:sp>
      <p:sp>
        <p:nvSpPr>
          <p:cNvPr id="3" name="Text Placeholder 2">
            <a:extLst>
              <a:ext uri="{FF2B5EF4-FFF2-40B4-BE49-F238E27FC236}">
                <a16:creationId xmlns:a16="http://schemas.microsoft.com/office/drawing/2014/main" xmlns="" id="{3FD0B48D-35BE-734F-2D17-EBC835FC9B3A}"/>
              </a:ext>
            </a:extLst>
          </p:cNvPr>
          <p:cNvSpPr>
            <a:spLocks noGrp="1"/>
          </p:cNvSpPr>
          <p:nvPr>
            <p:ph type="body" idx="1"/>
          </p:nvPr>
        </p:nvSpPr>
        <p:spPr>
          <a:xfrm>
            <a:off x="531194" y="1240582"/>
            <a:ext cx="4109386" cy="3363518"/>
          </a:xfrm>
        </p:spPr>
        <p:txBody>
          <a:bodyPr/>
          <a:lstStyle/>
          <a:p>
            <a:pPr marL="152400" indent="0" algn="just">
              <a:buNone/>
            </a:pPr>
            <a:r>
              <a:rPr lang="ru-RU" sz="1400" dirty="0"/>
              <a:t>Както можете да предположите от името, триканалната архитектура утроява наличната честотна лента на паметта. Това се постига чрез разширяване на шината данни на паметта до 192 бита, което се осъществява чрез достъп до три модула памет по едно и също време.</a:t>
            </a:r>
          </a:p>
          <a:p>
            <a:pPr marL="152400" indent="0" algn="just">
              <a:buNone/>
            </a:pPr>
            <a:endParaRPr lang="ru-RU" sz="1400" dirty="0"/>
          </a:p>
          <a:p>
            <a:pPr marL="152400" indent="0" algn="just">
              <a:buNone/>
            </a:pPr>
            <a:r>
              <a:rPr lang="ru-RU" sz="1400" dirty="0"/>
              <a:t>Триканалният режим например, е достъпен за Intel платформи със сокет LGA1366. Това означава, че можете да разрешите този режим при процесори Core i7, които използват този сокет. Тези процесори поддържат DDR3 памети до 1066MHz.</a:t>
            </a:r>
            <a:endParaRPr lang="en-US" sz="1400" dirty="0"/>
          </a:p>
        </p:txBody>
      </p:sp>
      <p:pic>
        <p:nvPicPr>
          <p:cNvPr id="4" name="Picture 3">
            <a:extLst>
              <a:ext uri="{FF2B5EF4-FFF2-40B4-BE49-F238E27FC236}">
                <a16:creationId xmlns:a16="http://schemas.microsoft.com/office/drawing/2014/main" xmlns="" id="{614B04B4-FAF1-4274-EB0E-A3FE2C31CB6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67" b="98500" l="625" r="99750">
                        <a14:foregroundMark x1="6625" y1="16833" x2="6625" y2="16833"/>
                        <a14:foregroundMark x1="2250" y1="6167" x2="14625" y2="11500"/>
                        <a14:foregroundMark x1="14625" y1="11500" x2="19625" y2="20000"/>
                        <a14:foregroundMark x1="19625" y1="20000" x2="27000" y2="15667"/>
                        <a14:foregroundMark x1="27000" y1="15667" x2="20875" y2="26667"/>
                        <a14:foregroundMark x1="20875" y1="26667" x2="44125" y2="11000"/>
                        <a14:foregroundMark x1="44125" y1="11000" x2="62875" y2="6333"/>
                        <a14:foregroundMark x1="62875" y1="6333" x2="68125" y2="11000"/>
                        <a14:foregroundMark x1="67875" y1="8667" x2="86375" y2="25333"/>
                        <a14:foregroundMark x1="86375" y1="25333" x2="96875" y2="42833"/>
                        <a14:foregroundMark x1="96875" y1="42833" x2="75750" y2="61167"/>
                        <a14:foregroundMark x1="75750" y1="61167" x2="59750" y2="68167"/>
                        <a14:foregroundMark x1="59750" y1="68167" x2="55875" y2="76500"/>
                        <a14:foregroundMark x1="55875" y1="76500" x2="22750" y2="96833"/>
                        <a14:foregroundMark x1="22750" y1="96833" x2="11875" y2="93333"/>
                        <a14:foregroundMark x1="11875" y1="93333" x2="19375" y2="75667"/>
                        <a14:foregroundMark x1="19375" y1="75667" x2="10125" y2="72000"/>
                        <a14:foregroundMark x1="10125" y1="72000" x2="6250" y2="62500"/>
                        <a14:foregroundMark x1="6250" y1="62500" x2="11000" y2="51333"/>
                        <a14:foregroundMark x1="11000" y1="51333" x2="8875" y2="32000"/>
                        <a14:foregroundMark x1="8875" y1="32000" x2="15750" y2="43833"/>
                        <a14:foregroundMark x1="15750" y1="43833" x2="7875" y2="38000"/>
                        <a14:foregroundMark x1="7875" y1="38000" x2="9250" y2="17000"/>
                        <a14:foregroundMark x1="9250" y1="17000" x2="3625" y2="11167"/>
                        <a14:foregroundMark x1="3625" y1="11167" x2="11500" y2="2333"/>
                        <a14:foregroundMark x1="11500" y1="2333" x2="20250" y2="333"/>
                        <a14:foregroundMark x1="20250" y1="333" x2="34750" y2="3667"/>
                        <a14:foregroundMark x1="34750" y1="3667" x2="50750" y2="3500"/>
                        <a14:foregroundMark x1="50750" y1="3500" x2="59875" y2="3500"/>
                        <a14:foregroundMark x1="59875" y1="3500" x2="40000" y2="6333"/>
                        <a14:foregroundMark x1="40000" y1="6333" x2="12125" y2="23500"/>
                        <a14:foregroundMark x1="12125" y1="23500" x2="7250" y2="38500"/>
                        <a14:foregroundMark x1="7250" y1="38500" x2="9500" y2="75500"/>
                        <a14:foregroundMark x1="9500" y1="75500" x2="18000" y2="57500"/>
                        <a14:foregroundMark x1="18000" y1="57500" x2="5375" y2="87667"/>
                        <a14:foregroundMark x1="5375" y1="87667" x2="38625" y2="81833"/>
                        <a14:foregroundMark x1="38625" y1="81833" x2="47875" y2="58333"/>
                        <a14:foregroundMark x1="47875" y1="58333" x2="36875" y2="38167"/>
                        <a14:foregroundMark x1="36875" y1="38167" x2="49125" y2="1000"/>
                        <a14:foregroundMark x1="49125" y1="1000" x2="63125" y2="7000"/>
                        <a14:foregroundMark x1="63125" y1="7000" x2="23625" y2="21167"/>
                        <a14:foregroundMark x1="23625" y1="21167" x2="8000" y2="14167"/>
                        <a14:foregroundMark x1="8000" y1="14167" x2="4250" y2="37500"/>
                        <a14:foregroundMark x1="4250" y1="37500" x2="15750" y2="54333"/>
                        <a14:foregroundMark x1="15750" y1="54333" x2="8625" y2="73167"/>
                        <a14:foregroundMark x1="8625" y1="73167" x2="21375" y2="67833"/>
                        <a14:foregroundMark x1="21375" y1="67833" x2="42750" y2="73167"/>
                        <a14:foregroundMark x1="42750" y1="73167" x2="59625" y2="72333"/>
                        <a14:foregroundMark x1="59625" y1="72333" x2="85875" y2="55500"/>
                        <a14:foregroundMark x1="85875" y1="55500" x2="89375" y2="42667"/>
                        <a14:foregroundMark x1="89375" y1="42667" x2="88125" y2="34500"/>
                        <a14:foregroundMark x1="90125" y1="32000" x2="91375" y2="31500"/>
                        <a14:foregroundMark x1="91375" y1="31500" x2="91375" y2="31500"/>
                        <a14:foregroundMark x1="91375" y1="31500" x2="92375" y2="31500"/>
                        <a14:foregroundMark x1="82500" y1="22167" x2="84375" y2="21167"/>
                        <a14:foregroundMark x1="75625" y1="15333" x2="77750" y2="13000"/>
                        <a14:foregroundMark x1="72500" y1="11500" x2="76250" y2="9833"/>
                        <a14:foregroundMark x1="64750" y1="9500" x2="56000" y2="167"/>
                        <a14:foregroundMark x1="2000" y1="7333" x2="4625" y2="16500"/>
                        <a14:foregroundMark x1="4625" y1="16500" x2="3500" y2="31333"/>
                        <a14:foregroundMark x1="3500" y1="31333" x2="3250" y2="31333"/>
                        <a14:foregroundMark x1="82250" y1="44333" x2="94750" y2="48000"/>
                        <a14:foregroundMark x1="11375" y1="86000" x2="11500" y2="95833"/>
                        <a14:foregroundMark x1="11500" y1="95833" x2="19375" y2="94333"/>
                        <a14:foregroundMark x1="19375" y1="94333" x2="26625" y2="96167"/>
                        <a14:foregroundMark x1="26625" y1="96167" x2="13625" y2="98500"/>
                        <a14:foregroundMark x1="13625" y1="98500" x2="43875" y2="80833"/>
                        <a14:foregroundMark x1="43875" y1="80833" x2="57000" y2="79333"/>
                        <a14:foregroundMark x1="57000" y1="79333" x2="99750" y2="47000"/>
                        <a14:foregroundMark x1="99750" y1="47000" x2="79625" y2="23833"/>
                        <a14:foregroundMark x1="79625" y1="23833" x2="75125" y2="8500"/>
                        <a14:foregroundMark x1="10375" y1="88833" x2="10750" y2="94167"/>
                        <a14:foregroundMark x1="9125" y1="91000" x2="625" y2="96500"/>
                        <a14:foregroundMark x1="9750" y1="95333" x2="7375" y2="95667"/>
                        <a14:foregroundMark x1="29250" y1="98500" x2="55250" y2="80333"/>
                        <a14:foregroundMark x1="86000" y1="57833" x2="90125" y2="56000"/>
                        <a14:foregroundMark x1="79250" y1="26500" x2="80000" y2="16833"/>
                        <a14:foregroundMark x1="81125" y1="18667" x2="78750" y2="17000"/>
                        <a14:foregroundMark x1="15250" y1="22833" x2="23500" y2="24333"/>
                      </a14:backgroundRemoval>
                    </a14:imgEffect>
                  </a14:imgLayer>
                </a14:imgProps>
              </a:ext>
            </a:extLst>
          </a:blip>
          <a:stretch>
            <a:fillRect/>
          </a:stretch>
        </p:blipFill>
        <p:spPr>
          <a:xfrm>
            <a:off x="5034330" y="1187700"/>
            <a:ext cx="3813693" cy="2860270"/>
          </a:xfrm>
          <a:prstGeom prst="rect">
            <a:avLst/>
          </a:prstGeom>
        </p:spPr>
      </p:pic>
      <p:sp>
        <p:nvSpPr>
          <p:cNvPr id="5" name="TextBox 4">
            <a:extLst>
              <a:ext uri="{FF2B5EF4-FFF2-40B4-BE49-F238E27FC236}">
                <a16:creationId xmlns:a16="http://schemas.microsoft.com/office/drawing/2014/main" xmlns="" id="{111EFF76-155A-CEE3-7A17-300A7726B980}"/>
              </a:ext>
            </a:extLst>
          </p:cNvPr>
          <p:cNvSpPr txBox="1"/>
          <p:nvPr/>
        </p:nvSpPr>
        <p:spPr>
          <a:xfrm>
            <a:off x="5226074" y="4234768"/>
            <a:ext cx="3430203" cy="738664"/>
          </a:xfrm>
          <a:prstGeom prst="rect">
            <a:avLst/>
          </a:prstGeom>
          <a:noFill/>
        </p:spPr>
        <p:txBody>
          <a:bodyPr wrap="square" rtlCol="0">
            <a:spAutoFit/>
          </a:bodyPr>
          <a:lstStyle/>
          <a:p>
            <a:pPr algn="just"/>
            <a:r>
              <a:rPr lang="ru-RU" b="0" i="0" dirty="0">
                <a:solidFill>
                  <a:schemeClr val="bg1"/>
                </a:solidFill>
                <a:effectLst/>
                <a:latin typeface="PT Sans" panose="020B0503020203020204" pitchFamily="34" charset="0"/>
              </a:rPr>
              <a:t>Триканален режим разрешен на дънна платка със сокет LGA1366 и шест слота за памет.</a:t>
            </a:r>
            <a:endParaRPr lang="en-US" dirty="0">
              <a:solidFill>
                <a:schemeClr val="bg1"/>
              </a:solidFill>
              <a:latin typeface="PT Sans" panose="020B0503020203020204" pitchFamily="34" charset="0"/>
            </a:endParaRPr>
          </a:p>
        </p:txBody>
      </p:sp>
    </p:spTree>
    <p:extLst>
      <p:ext uri="{BB962C8B-B14F-4D97-AF65-F5344CB8AC3E}">
        <p14:creationId xmlns:p14="http://schemas.microsoft.com/office/powerpoint/2010/main" val="303097475"/>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9A3B73-0B2F-C146-EF0E-1089E4ABB206}"/>
              </a:ext>
            </a:extLst>
          </p:cNvPr>
          <p:cNvSpPr>
            <a:spLocks noGrp="1"/>
          </p:cNvSpPr>
          <p:nvPr>
            <p:ph type="title"/>
          </p:nvPr>
        </p:nvSpPr>
        <p:spPr/>
        <p:txBody>
          <a:bodyPr/>
          <a:lstStyle/>
          <a:p>
            <a:r>
              <a:rPr lang="bg-BG" dirty="0"/>
              <a:t>Четириканална архитектура</a:t>
            </a:r>
            <a:endParaRPr lang="en-US" dirty="0"/>
          </a:p>
        </p:txBody>
      </p:sp>
      <p:sp>
        <p:nvSpPr>
          <p:cNvPr id="3" name="Text Placeholder 2">
            <a:extLst>
              <a:ext uri="{FF2B5EF4-FFF2-40B4-BE49-F238E27FC236}">
                <a16:creationId xmlns:a16="http://schemas.microsoft.com/office/drawing/2014/main" xmlns="" id="{989B5EA8-A433-D968-6CAC-59F73474B583}"/>
              </a:ext>
            </a:extLst>
          </p:cNvPr>
          <p:cNvSpPr>
            <a:spLocks noGrp="1"/>
          </p:cNvSpPr>
          <p:nvPr>
            <p:ph type="body" idx="1"/>
          </p:nvPr>
        </p:nvSpPr>
        <p:spPr>
          <a:xfrm>
            <a:off x="4572000" y="1187700"/>
            <a:ext cx="3858900" cy="3416400"/>
          </a:xfrm>
        </p:spPr>
        <p:txBody>
          <a:bodyPr/>
          <a:lstStyle/>
          <a:p>
            <a:pPr marL="152400" indent="0" algn="just">
              <a:buNone/>
            </a:pPr>
            <a:r>
              <a:rPr lang="ru-RU" sz="1400" dirty="0">
                <a:solidFill>
                  <a:schemeClr val="bg1"/>
                </a:solidFill>
              </a:rPr>
              <a:t>Четириканалната архитектура учетворява наличната честотна лента на паметта. Това се постига чрез разширяване на шината данни до 256 бита, което се постига чрез достъп до четири модула памет по едно и също време.</a:t>
            </a:r>
          </a:p>
          <a:p>
            <a:pPr marL="152400" indent="0" algn="just">
              <a:buNone/>
            </a:pPr>
            <a:endParaRPr lang="ru-RU" sz="1400" dirty="0">
              <a:solidFill>
                <a:schemeClr val="bg1"/>
              </a:solidFill>
            </a:endParaRPr>
          </a:p>
          <a:p>
            <a:pPr marL="152400" indent="0" algn="just">
              <a:buNone/>
            </a:pPr>
            <a:r>
              <a:rPr lang="ru-RU" sz="1400" dirty="0">
                <a:solidFill>
                  <a:schemeClr val="bg1"/>
                </a:solidFill>
              </a:rPr>
              <a:t>Например, този режим е достъпен за Intel платформи със сокет LGА2011. Това означава, че можете да разрешите този режим за Core i7 процесори, които използват този сокет. Тези процесори поддържат DDR3 до 2133MHz.</a:t>
            </a:r>
            <a:endParaRPr lang="en-US" sz="1400" dirty="0">
              <a:solidFill>
                <a:schemeClr val="bg1"/>
              </a:solidFill>
            </a:endParaRPr>
          </a:p>
        </p:txBody>
      </p:sp>
      <p:pic>
        <p:nvPicPr>
          <p:cNvPr id="4" name="Picture 3">
            <a:extLst>
              <a:ext uri="{FF2B5EF4-FFF2-40B4-BE49-F238E27FC236}">
                <a16:creationId xmlns:a16="http://schemas.microsoft.com/office/drawing/2014/main" xmlns="" id="{6601B0D7-5DFF-1BE0-9527-B5A02A8852A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63" b="90244" l="2000" r="99375">
                        <a14:foregroundMark x1="23750" y1="12946" x2="40500" y2="6379"/>
                        <a14:foregroundMark x1="40500" y1="6379" x2="75625" y2="14822"/>
                        <a14:foregroundMark x1="75625" y1="14822" x2="84000" y2="7505"/>
                        <a14:foregroundMark x1="84000" y1="7505" x2="83500" y2="20450"/>
                        <a14:foregroundMark x1="80375" y1="33208" x2="87875" y2="47655"/>
                        <a14:foregroundMark x1="87875" y1="47655" x2="88625" y2="59475"/>
                        <a14:foregroundMark x1="88625" y1="59475" x2="84375" y2="69043"/>
                        <a14:foregroundMark x1="84375" y1="69043" x2="92250" y2="78799"/>
                        <a14:foregroundMark x1="92250" y1="78799" x2="96375" y2="66417"/>
                        <a14:foregroundMark x1="96375" y1="66417" x2="98625" y2="47467"/>
                        <a14:foregroundMark x1="98625" y1="47467" x2="91750" y2="8443"/>
                        <a14:foregroundMark x1="91750" y1="8443" x2="60500" y2="2439"/>
                        <a14:foregroundMark x1="60500" y1="2439" x2="73875" y2="4690"/>
                        <a14:foregroundMark x1="73875" y1="4690" x2="88125" y2="3565"/>
                        <a14:foregroundMark x1="88125" y1="3565" x2="94250" y2="10507"/>
                        <a14:foregroundMark x1="94250" y1="10507" x2="56375" y2="13508"/>
                        <a14:foregroundMark x1="56375" y1="13508" x2="44375" y2="1876"/>
                        <a14:foregroundMark x1="44375" y1="1876" x2="23625" y2="938"/>
                        <a14:foregroundMark x1="23625" y1="938" x2="21625" y2="7692"/>
                        <a14:foregroundMark x1="15000" y1="37899" x2="6000" y2="57974"/>
                        <a14:foregroundMark x1="6000" y1="57974" x2="6000" y2="57974"/>
                        <a14:foregroundMark x1="7375" y1="58537" x2="2000" y2="58912"/>
                        <a14:foregroundMark x1="13375" y1="65854" x2="21250" y2="70356"/>
                        <a14:foregroundMark x1="21250" y1="70356" x2="23125" y2="69794"/>
                        <a14:foregroundMark x1="11750" y1="67730" x2="21250" y2="71482"/>
                        <a14:foregroundMark x1="87625" y1="49531" x2="99375" y2="45403"/>
                        <a14:foregroundMark x1="74750" y1="9006" x2="65125" y2="8068"/>
                        <a14:foregroundMark x1="98017" y1="67917" x2="98750" y2="63790"/>
                        <a14:foregroundMark x1="97850" y1="68856" x2="98017" y2="67917"/>
                        <a14:foregroundMark x1="97683" y1="69794" x2="97850" y2="68856"/>
                        <a14:foregroundMark x1="96250" y1="77861" x2="97683" y2="69794"/>
                        <a14:foregroundMark x1="94375" y1="90244" x2="90750" y2="90244"/>
                        <a14:foregroundMark x1="4000" y1="50657" x2="4250" y2="48968"/>
                        <a14:foregroundMark x1="6375" y1="48780" x2="6250" y2="47280"/>
                        <a14:backgroundMark x1="96750" y1="90244" x2="96750" y2="90244"/>
                        <a14:backgroundMark x1="99625" y1="69794" x2="99625" y2="69794"/>
                        <a14:backgroundMark x1="99625" y1="68856" x2="99625" y2="68856"/>
                        <a14:backgroundMark x1="99625" y1="67917" x2="99625" y2="67917"/>
                        <a14:backgroundMark x1="99500" y1="66979" x2="99500" y2="66229"/>
                        <a14:backgroundMark x1="99500" y1="66229" x2="99875" y2="63977"/>
                      </a14:backgroundRemoval>
                    </a14:imgEffect>
                  </a14:imgLayer>
                </a14:imgProps>
              </a:ext>
            </a:extLst>
          </a:blip>
          <a:stretch>
            <a:fillRect/>
          </a:stretch>
        </p:blipFill>
        <p:spPr>
          <a:xfrm>
            <a:off x="899160" y="1314316"/>
            <a:ext cx="3489960" cy="2325186"/>
          </a:xfrm>
          <a:prstGeom prst="rect">
            <a:avLst/>
          </a:prstGeom>
        </p:spPr>
      </p:pic>
      <p:sp>
        <p:nvSpPr>
          <p:cNvPr id="5" name="TextBox 4">
            <a:extLst>
              <a:ext uri="{FF2B5EF4-FFF2-40B4-BE49-F238E27FC236}">
                <a16:creationId xmlns:a16="http://schemas.microsoft.com/office/drawing/2014/main" xmlns="" id="{15E11C32-FC58-469D-954E-DFB56F19ADCB}"/>
              </a:ext>
            </a:extLst>
          </p:cNvPr>
          <p:cNvSpPr txBox="1"/>
          <p:nvPr/>
        </p:nvSpPr>
        <p:spPr>
          <a:xfrm>
            <a:off x="861060" y="3651884"/>
            <a:ext cx="3436620" cy="738664"/>
          </a:xfrm>
          <a:prstGeom prst="rect">
            <a:avLst/>
          </a:prstGeom>
          <a:noFill/>
        </p:spPr>
        <p:txBody>
          <a:bodyPr wrap="square" rtlCol="0">
            <a:spAutoFit/>
          </a:bodyPr>
          <a:lstStyle/>
          <a:p>
            <a:r>
              <a:rPr lang="ru-RU" dirty="0">
                <a:solidFill>
                  <a:schemeClr val="bg1"/>
                </a:solidFill>
              </a:rPr>
              <a:t>Разрешен четириканален режим на дънна платка със сокет LGA2011 с осем сокета за памет.</a:t>
            </a:r>
            <a:endParaRPr lang="en-US" dirty="0">
              <a:solidFill>
                <a:schemeClr val="bg1"/>
              </a:solidFill>
            </a:endParaRPr>
          </a:p>
        </p:txBody>
      </p:sp>
    </p:spTree>
    <p:extLst>
      <p:ext uri="{BB962C8B-B14F-4D97-AF65-F5344CB8AC3E}">
        <p14:creationId xmlns:p14="http://schemas.microsoft.com/office/powerpoint/2010/main" val="1738875262"/>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C7D991-6D25-9139-5529-844626B8B11A}"/>
              </a:ext>
            </a:extLst>
          </p:cNvPr>
          <p:cNvSpPr>
            <a:spLocks noGrp="1"/>
          </p:cNvSpPr>
          <p:nvPr>
            <p:ph type="title"/>
          </p:nvPr>
        </p:nvSpPr>
        <p:spPr/>
        <p:txBody>
          <a:bodyPr/>
          <a:lstStyle/>
          <a:p>
            <a:r>
              <a:rPr lang="bg-BG" dirty="0"/>
              <a:t>ТИПОВЕ ПЛАТКИ</a:t>
            </a:r>
            <a:endParaRPr lang="en-US" dirty="0"/>
          </a:p>
        </p:txBody>
      </p:sp>
      <p:sp>
        <p:nvSpPr>
          <p:cNvPr id="3" name="Text Placeholder 2">
            <a:extLst>
              <a:ext uri="{FF2B5EF4-FFF2-40B4-BE49-F238E27FC236}">
                <a16:creationId xmlns:a16="http://schemas.microsoft.com/office/drawing/2014/main" xmlns="" id="{ACD8AA95-B76C-5E24-F109-3201DA7B669A}"/>
              </a:ext>
            </a:extLst>
          </p:cNvPr>
          <p:cNvSpPr>
            <a:spLocks noGrp="1"/>
          </p:cNvSpPr>
          <p:nvPr>
            <p:ph type="body" idx="1"/>
          </p:nvPr>
        </p:nvSpPr>
        <p:spPr/>
        <p:txBody>
          <a:bodyPr/>
          <a:lstStyle/>
          <a:p>
            <a:pPr marL="152400" indent="0" algn="just">
              <a:buNone/>
            </a:pPr>
            <a:r>
              <a:rPr lang="ru-RU" sz="1600" b="1" dirty="0"/>
              <a:t>Популярни са 3 типа платки</a:t>
            </a:r>
            <a:r>
              <a:rPr lang="en-US" sz="1600" b="1" dirty="0"/>
              <a:t>:</a:t>
            </a:r>
          </a:p>
          <a:p>
            <a:pPr algn="just"/>
            <a:r>
              <a:rPr lang="ru-RU" sz="1600" dirty="0"/>
              <a:t>Backplane – шинно ориентирани платки, при които на дънната платка има една шина с много сигнали, а всички останали компоненти са в разширителни платки. </a:t>
            </a:r>
            <a:endParaRPr lang="en-US" sz="1600" dirty="0"/>
          </a:p>
          <a:p>
            <a:pPr algn="just"/>
            <a:r>
              <a:rPr lang="ru-RU" sz="1600" dirty="0"/>
              <a:t>Едноплаткови – на дънната платка са разположени всички компоненти </a:t>
            </a:r>
            <a:endParaRPr lang="en-US" sz="1600" dirty="0"/>
          </a:p>
          <a:p>
            <a:pPr algn="just"/>
            <a:r>
              <a:rPr lang="ru-RU" sz="1600" dirty="0"/>
              <a:t>Processor Complex Design – на дънната платка са разположени CPU, RAM, ROM-BIOS, CHIPSET и разширителни слотове, в които се поставят разширителни платки с останалите компоненти (видеоконтролери, мрежови карти, звукови карти, модеми и др.)</a:t>
            </a:r>
            <a:endParaRPr lang="en-US" sz="1600" dirty="0"/>
          </a:p>
        </p:txBody>
      </p:sp>
    </p:spTree>
    <p:extLst>
      <p:ext uri="{BB962C8B-B14F-4D97-AF65-F5344CB8AC3E}">
        <p14:creationId xmlns:p14="http://schemas.microsoft.com/office/powerpoint/2010/main" val="1787196680"/>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CE35C9-9EED-60E2-08CC-84B4C140CB41}"/>
              </a:ext>
            </a:extLst>
          </p:cNvPr>
          <p:cNvSpPr>
            <a:spLocks noGrp="1"/>
          </p:cNvSpPr>
          <p:nvPr>
            <p:ph type="title"/>
          </p:nvPr>
        </p:nvSpPr>
        <p:spPr>
          <a:xfrm>
            <a:off x="713099" y="266555"/>
            <a:ext cx="7717800" cy="572700"/>
          </a:xfrm>
        </p:spPr>
        <p:txBody>
          <a:bodyPr/>
          <a:lstStyle/>
          <a:p>
            <a:pPr algn="ctr"/>
            <a:r>
              <a:rPr lang="bg-BG" dirty="0"/>
              <a:t>КОМПОНЕНТИ НА ДЪННА ПЛАТКА</a:t>
            </a:r>
            <a:endParaRPr lang="en-US" dirty="0"/>
          </a:p>
        </p:txBody>
      </p:sp>
      <p:pic>
        <p:nvPicPr>
          <p:cNvPr id="8" name="Picture 7">
            <a:extLst>
              <a:ext uri="{FF2B5EF4-FFF2-40B4-BE49-F238E27FC236}">
                <a16:creationId xmlns:a16="http://schemas.microsoft.com/office/drawing/2014/main" xmlns="" id="{69F83D6E-B555-7731-5BF7-2CAE2F1A5681}"/>
              </a:ext>
            </a:extLst>
          </p:cNvPr>
          <p:cNvPicPr>
            <a:picLocks noChangeAspect="1"/>
          </p:cNvPicPr>
          <p:nvPr/>
        </p:nvPicPr>
        <p:blipFill>
          <a:blip r:embed="rId2"/>
          <a:stretch>
            <a:fillRect/>
          </a:stretch>
        </p:blipFill>
        <p:spPr>
          <a:xfrm>
            <a:off x="1775747" y="905623"/>
            <a:ext cx="5592505" cy="4237877"/>
          </a:xfrm>
          <a:prstGeom prst="rect">
            <a:avLst/>
          </a:prstGeom>
        </p:spPr>
      </p:pic>
    </p:spTree>
    <p:extLst>
      <p:ext uri="{BB962C8B-B14F-4D97-AF65-F5344CB8AC3E}">
        <p14:creationId xmlns:p14="http://schemas.microsoft.com/office/powerpoint/2010/main" val="3970419518"/>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712" y="388480"/>
            <a:ext cx="7717800" cy="572700"/>
          </a:xfrm>
        </p:spPr>
        <p:txBody>
          <a:bodyPr/>
          <a:lstStyle/>
          <a:p>
            <a:r>
              <a:rPr lang="bg-BG" dirty="0"/>
              <a:t>КАКВО ПРЕДСТАВЛЯВА ЧИПСЕТА</a:t>
            </a:r>
            <a:r>
              <a:rPr lang="en-US" dirty="0"/>
              <a:t>?</a:t>
            </a:r>
          </a:p>
        </p:txBody>
      </p:sp>
      <p:sp>
        <p:nvSpPr>
          <p:cNvPr id="3" name="Text Placeholder 2"/>
          <p:cNvSpPr>
            <a:spLocks noGrp="1"/>
          </p:cNvSpPr>
          <p:nvPr>
            <p:ph type="body" idx="1"/>
          </p:nvPr>
        </p:nvSpPr>
        <p:spPr>
          <a:xfrm>
            <a:off x="381740" y="1038687"/>
            <a:ext cx="8211844" cy="3565413"/>
          </a:xfrm>
        </p:spPr>
        <p:txBody>
          <a:bodyPr/>
          <a:lstStyle/>
          <a:p>
            <a:pPr marL="152400" indent="0" algn="just">
              <a:buNone/>
            </a:pPr>
            <a:r>
              <a:rPr lang="ru-RU" sz="1400" dirty="0"/>
              <a:t>Накратко, чипсета действа като комуникационен център и контролер на трафика на дънната платка и определя какви</a:t>
            </a:r>
            <a:r>
              <a:rPr lang="en-US" sz="1400" dirty="0"/>
              <a:t> </a:t>
            </a:r>
            <a:r>
              <a:rPr lang="ru-RU" sz="1400" dirty="0"/>
              <a:t>компоненти са съвместими със съответната дънна платка – включително процесор, оперативна памет (RAM), твърди дискове и графични карти.</a:t>
            </a:r>
          </a:p>
          <a:p>
            <a:pPr marL="152400" indent="0" algn="just">
              <a:buNone/>
            </a:pPr>
            <a:r>
              <a:rPr lang="ru-RU" sz="1400" dirty="0"/>
              <a:t>Накратко, чипсетът действа като комуникационен център на дънната платка и контролер за трафик и в крайна сметка определя кои компоненти са съвместими с дънната платка - включително процесора, RAM, твърдите дискове и графичните карти. Той диктува и бъдещите ви опции за разширяване и до каква степен вашата система може да се овърклокне.</a:t>
            </a:r>
          </a:p>
          <a:p>
            <a:pPr marL="152400" indent="0" algn="just">
              <a:buNone/>
            </a:pPr>
            <a:r>
              <a:rPr lang="ru-RU" sz="1400" dirty="0"/>
              <a:t>Тези три критерия са важни, когато се разглежда коя дънна платка да се купува. Нека поговорим малко за това защо.</a:t>
            </a:r>
          </a:p>
          <a:p>
            <a:pPr marL="152400" indent="0" algn="just">
              <a:buNone/>
            </a:pPr>
            <a:r>
              <a:rPr lang="ru-RU" sz="1400" dirty="0"/>
              <a:t>Чипсет в работата с компютри обикновено означава „набор от специализирани чипове“, седящи на дънната платка или разширителна платка. В персоналните компютри (ПК), базирани на Интел Пентиум архитектурата, терминът засяга често специфична група чипове на дънната платка: Северен Мост (Northbridge) и Южен мост (Southbridge). Северният мост свързва процесора към високоскоростни устройства, особено оперативната памет, графичните контролери, а южният мост се свързва с по-бавната периферия (като PCI или Isa). Най-модерните чипсети съдържат също и интегрирана периферия като например: вграден лан контролер, USB контролер и аудио контролер.</a:t>
            </a:r>
          </a:p>
          <a:p>
            <a:pPr marL="152400" indent="0" algn="just">
              <a:buNone/>
            </a:pPr>
            <a:endParaRPr lang="en-US" dirty="0"/>
          </a:p>
        </p:txBody>
      </p:sp>
    </p:spTree>
    <p:extLst>
      <p:ext uri="{BB962C8B-B14F-4D97-AF65-F5344CB8AC3E}">
        <p14:creationId xmlns:p14="http://schemas.microsoft.com/office/powerpoint/2010/main" val="2093172028"/>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712" y="344091"/>
            <a:ext cx="7717800" cy="572700"/>
          </a:xfrm>
        </p:spPr>
        <p:txBody>
          <a:bodyPr/>
          <a:lstStyle/>
          <a:p>
            <a:r>
              <a:rPr lang="bg-BG" dirty="0"/>
              <a:t>СОКЕТ</a:t>
            </a:r>
            <a:endParaRPr lang="en-US" dirty="0"/>
          </a:p>
        </p:txBody>
      </p:sp>
      <p:sp>
        <p:nvSpPr>
          <p:cNvPr id="3" name="Text Placeholder 2"/>
          <p:cNvSpPr>
            <a:spLocks noGrp="1"/>
          </p:cNvSpPr>
          <p:nvPr>
            <p:ph type="body" idx="1"/>
          </p:nvPr>
        </p:nvSpPr>
        <p:spPr>
          <a:xfrm>
            <a:off x="130629" y="1169945"/>
            <a:ext cx="4704361" cy="3416400"/>
          </a:xfrm>
        </p:spPr>
        <p:txBody>
          <a:bodyPr/>
          <a:lstStyle/>
          <a:p>
            <a:pPr marL="152400" indent="0" algn="just">
              <a:buNone/>
            </a:pPr>
            <a:r>
              <a:rPr lang="bg-BG" sz="1400" b="1" dirty="0"/>
              <a:t>Сокет – процесорно гнездо</a:t>
            </a:r>
            <a:endParaRPr lang="en-US" sz="1400" dirty="0"/>
          </a:p>
          <a:p>
            <a:pPr marL="152400" indent="0" algn="just">
              <a:buNone/>
            </a:pPr>
            <a:r>
              <a:rPr lang="bg-BG" sz="1400" dirty="0"/>
              <a:t>Процесорните гнезда са в основата на всеки компютър. Те правят единствената най-важна връзка на вашия компютър, връзка, без която компютърът ви абсолютно не може да </a:t>
            </a:r>
            <a:r>
              <a:rPr lang="bg-BG" sz="1400" dirty="0" smtClean="0"/>
              <a:t>работи.</a:t>
            </a:r>
            <a:r>
              <a:rPr lang="en-US" sz="1400" dirty="0"/>
              <a:t> </a:t>
            </a:r>
            <a:r>
              <a:rPr lang="bg-BG" sz="1400" dirty="0" smtClean="0"/>
              <a:t>Процесорът </a:t>
            </a:r>
            <a:r>
              <a:rPr lang="bg-BG" sz="1400" dirty="0"/>
              <a:t>е микрочип. Както всички микрочипове, той има съединители, които излизат от него, което му позволява да се свързва и да взаимодейства с платка. Тези връзки позволяват на данните да влязат в чипа, да бъдат обработени и да изтекат обратно към платката. В случай на процесор, платката е дънна </a:t>
            </a:r>
            <a:r>
              <a:rPr lang="bg-BG" sz="1400" dirty="0" smtClean="0"/>
              <a:t>платка.</a:t>
            </a:r>
            <a:r>
              <a:rPr lang="en-US" sz="1400" dirty="0"/>
              <a:t> </a:t>
            </a:r>
            <a:r>
              <a:rPr lang="bg-BG" sz="1400" dirty="0" smtClean="0"/>
              <a:t>Процесорните </a:t>
            </a:r>
            <a:r>
              <a:rPr lang="bg-BG" sz="1400" dirty="0"/>
              <a:t>гнезда често имат стотици конектори и тези конектори обикновено са златни.</a:t>
            </a:r>
            <a:endParaRPr lang="en-US" sz="1400" dirty="0"/>
          </a:p>
          <a:p>
            <a:pPr marL="152400" indent="0" algn="just">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4990" y="1296139"/>
            <a:ext cx="4309009" cy="2805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9421034"/>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B256E4-7F8B-FC8A-F2B8-2975841E3360}"/>
              </a:ext>
            </a:extLst>
          </p:cNvPr>
          <p:cNvSpPr>
            <a:spLocks noGrp="1"/>
          </p:cNvSpPr>
          <p:nvPr>
            <p:ph type="title"/>
          </p:nvPr>
        </p:nvSpPr>
        <p:spPr/>
        <p:txBody>
          <a:bodyPr/>
          <a:lstStyle/>
          <a:p>
            <a:r>
              <a:rPr lang="en-US" dirty="0"/>
              <a:t>LGA </a:t>
            </a:r>
            <a:r>
              <a:rPr lang="bg-BG" dirty="0"/>
              <a:t>и </a:t>
            </a:r>
            <a:r>
              <a:rPr lang="en-US" dirty="0"/>
              <a:t>PGA</a:t>
            </a:r>
            <a:endParaRPr lang="bg-BG" dirty="0"/>
          </a:p>
        </p:txBody>
      </p:sp>
      <p:sp>
        <p:nvSpPr>
          <p:cNvPr id="3" name="Text Placeholder 2">
            <a:extLst>
              <a:ext uri="{FF2B5EF4-FFF2-40B4-BE49-F238E27FC236}">
                <a16:creationId xmlns:a16="http://schemas.microsoft.com/office/drawing/2014/main" xmlns="" id="{081C8E70-2E2B-DCDF-CA5A-4DC8F15A3827}"/>
              </a:ext>
            </a:extLst>
          </p:cNvPr>
          <p:cNvSpPr>
            <a:spLocks noGrp="1"/>
          </p:cNvSpPr>
          <p:nvPr>
            <p:ph type="body" idx="1"/>
          </p:nvPr>
        </p:nvSpPr>
        <p:spPr>
          <a:xfrm>
            <a:off x="713100" y="1187700"/>
            <a:ext cx="3680306" cy="3416400"/>
          </a:xfrm>
        </p:spPr>
        <p:txBody>
          <a:bodyPr/>
          <a:lstStyle/>
          <a:p>
            <a:pPr marL="152400" indent="0">
              <a:buNone/>
            </a:pPr>
            <a:r>
              <a:rPr lang="en-US" sz="1400" dirty="0"/>
              <a:t>LGA (Land Grid Array)</a:t>
            </a:r>
          </a:p>
          <a:p>
            <a:pPr marL="152400" indent="0">
              <a:buNone/>
            </a:pPr>
            <a:r>
              <a:rPr lang="ru-RU" sz="1400" dirty="0"/>
              <a:t>През последните години Intel стана известна с този тип гнезда. Може би сте чували за процесори Intel Core и дънни платки на Intel, които се предлагат с гнезда като LGA 1156, LGA 1200, LGA 2011 и т.н.</a:t>
            </a:r>
            <a:endParaRPr lang="en-US" sz="1400" dirty="0"/>
          </a:p>
          <a:p>
            <a:pPr marL="152400" indent="0">
              <a:buNone/>
            </a:pPr>
            <a:endParaRPr lang="ru-RU" sz="1400" dirty="0"/>
          </a:p>
          <a:p>
            <a:pPr marL="152400" indent="0">
              <a:buNone/>
            </a:pPr>
            <a:r>
              <a:rPr lang="ru-RU" sz="1400" dirty="0" err="1"/>
              <a:t>Лесен</a:t>
            </a:r>
            <a:r>
              <a:rPr lang="ru-RU" sz="1400" dirty="0"/>
              <a:t> начин да си припомните </a:t>
            </a:r>
            <a:r>
              <a:rPr lang="ru-RU" sz="1400" dirty="0" err="1"/>
              <a:t>какъв</a:t>
            </a:r>
            <a:r>
              <a:rPr lang="ru-RU" sz="1400" dirty="0"/>
              <a:t> вид </a:t>
            </a:r>
            <a:r>
              <a:rPr lang="ru-RU" sz="1400" dirty="0" err="1"/>
              <a:t>процесори</a:t>
            </a:r>
            <a:r>
              <a:rPr lang="ru-RU" sz="1400" dirty="0"/>
              <a:t> </a:t>
            </a:r>
            <a:r>
              <a:rPr lang="ru-RU" sz="1400" dirty="0" err="1"/>
              <a:t>означават</a:t>
            </a:r>
            <a:r>
              <a:rPr lang="ru-RU" sz="1400" dirty="0"/>
              <a:t> </a:t>
            </a:r>
            <a:r>
              <a:rPr lang="en-US" sz="1400" dirty="0"/>
              <a:t>LGA </a:t>
            </a:r>
            <a:r>
              <a:rPr lang="ru-RU" sz="1400" dirty="0"/>
              <a:t>и </a:t>
            </a:r>
            <a:r>
              <a:rPr lang="en-US" sz="1400" dirty="0"/>
              <a:t>PGA </a:t>
            </a:r>
            <a:r>
              <a:rPr lang="ru-RU" sz="1400" dirty="0"/>
              <a:t>е, </a:t>
            </a:r>
            <a:r>
              <a:rPr lang="ru-RU" sz="1400" dirty="0" err="1"/>
              <a:t>като</a:t>
            </a:r>
            <a:r>
              <a:rPr lang="ru-RU" sz="1400" dirty="0"/>
              <a:t> </a:t>
            </a:r>
            <a:r>
              <a:rPr lang="ru-RU" sz="1400" dirty="0" err="1"/>
              <a:t>използвате</a:t>
            </a:r>
            <a:r>
              <a:rPr lang="ru-RU" sz="1400" dirty="0"/>
              <a:t> </a:t>
            </a:r>
            <a:r>
              <a:rPr lang="ru-RU" sz="1400" dirty="0" err="1"/>
              <a:t>техните</a:t>
            </a:r>
            <a:r>
              <a:rPr lang="ru-RU" sz="1400" dirty="0"/>
              <a:t> имена – </a:t>
            </a:r>
            <a:r>
              <a:rPr lang="en-US" sz="1400" dirty="0"/>
              <a:t>Land Grid Array </a:t>
            </a:r>
            <a:r>
              <a:rPr lang="ru-RU" sz="1400" dirty="0"/>
              <a:t>и </a:t>
            </a:r>
            <a:r>
              <a:rPr lang="en-US" sz="1400" dirty="0"/>
              <a:t>Pin Grid Array. LGA – </a:t>
            </a:r>
            <a:r>
              <a:rPr lang="ru-RU" sz="1400" dirty="0" err="1"/>
              <a:t>Земя</a:t>
            </a:r>
            <a:r>
              <a:rPr lang="ru-RU" sz="1400" dirty="0"/>
              <a:t>, </a:t>
            </a:r>
            <a:r>
              <a:rPr lang="ru-RU" sz="1400" dirty="0" err="1"/>
              <a:t>т.е.д</a:t>
            </a:r>
            <a:r>
              <a:rPr lang="ru-RU" sz="1400" dirty="0"/>
              <a:t>., Плоски – </a:t>
            </a:r>
            <a:r>
              <a:rPr lang="ru-RU" sz="1400" dirty="0" err="1"/>
              <a:t>процесори</a:t>
            </a:r>
            <a:r>
              <a:rPr lang="ru-RU" sz="1400" dirty="0"/>
              <a:t> без </a:t>
            </a:r>
            <a:r>
              <a:rPr lang="ru-RU" sz="1400" dirty="0" err="1"/>
              <a:t>щифтове</a:t>
            </a:r>
            <a:r>
              <a:rPr lang="ru-RU" sz="1400" dirty="0"/>
              <a:t>, гнезда за </a:t>
            </a:r>
            <a:r>
              <a:rPr lang="ru-RU" sz="1400" dirty="0" err="1"/>
              <a:t>дънна</a:t>
            </a:r>
            <a:r>
              <a:rPr lang="ru-RU" sz="1400" dirty="0"/>
              <a:t> платка с </a:t>
            </a:r>
            <a:r>
              <a:rPr lang="ru-RU" sz="1400" dirty="0" err="1"/>
              <a:t>щифтове</a:t>
            </a:r>
            <a:r>
              <a:rPr lang="ru-RU" sz="1400" dirty="0"/>
              <a:t>. </a:t>
            </a:r>
            <a:r>
              <a:rPr lang="en-US" sz="1400" dirty="0"/>
              <a:t>PGA – </a:t>
            </a:r>
            <a:r>
              <a:rPr lang="ru-RU" sz="1400" dirty="0" err="1"/>
              <a:t>щифтове</a:t>
            </a:r>
            <a:r>
              <a:rPr lang="ru-RU" sz="1400" dirty="0"/>
              <a:t>, </a:t>
            </a:r>
            <a:r>
              <a:rPr lang="ru-RU" sz="1400" dirty="0" err="1"/>
              <a:t>т.е.д</a:t>
            </a:r>
            <a:r>
              <a:rPr lang="ru-RU" sz="1400" dirty="0"/>
              <a:t>., </a:t>
            </a:r>
            <a:r>
              <a:rPr lang="en-US" sz="1400" dirty="0"/>
              <a:t>Not Flat – </a:t>
            </a:r>
            <a:r>
              <a:rPr lang="ru-RU" sz="1400" dirty="0" err="1"/>
              <a:t>процесори</a:t>
            </a:r>
            <a:r>
              <a:rPr lang="ru-RU" sz="1400" dirty="0"/>
              <a:t> с </a:t>
            </a:r>
            <a:r>
              <a:rPr lang="ru-RU" sz="1400" dirty="0" err="1"/>
              <a:t>щифтове</a:t>
            </a:r>
            <a:r>
              <a:rPr lang="ru-RU" sz="1400" dirty="0"/>
              <a:t>, гнезда за </a:t>
            </a:r>
            <a:r>
              <a:rPr lang="ru-RU" sz="1400" dirty="0" err="1"/>
              <a:t>дънна</a:t>
            </a:r>
            <a:r>
              <a:rPr lang="ru-RU" sz="1400" dirty="0"/>
              <a:t> платка без </a:t>
            </a:r>
            <a:r>
              <a:rPr lang="ru-RU" sz="1400" dirty="0" err="1"/>
              <a:t>щифтове</a:t>
            </a:r>
            <a:r>
              <a:rPr lang="ru-RU" sz="1400" dirty="0"/>
              <a:t>.</a:t>
            </a:r>
            <a:endParaRPr lang="en-US" sz="1400" dirty="0"/>
          </a:p>
        </p:txBody>
      </p:sp>
      <p:sp>
        <p:nvSpPr>
          <p:cNvPr id="4" name="TextBox 3">
            <a:extLst>
              <a:ext uri="{FF2B5EF4-FFF2-40B4-BE49-F238E27FC236}">
                <a16:creationId xmlns:a16="http://schemas.microsoft.com/office/drawing/2014/main" xmlns="" id="{A7338D4C-CE8C-B53D-6CD6-E1D732F0FE02}"/>
              </a:ext>
            </a:extLst>
          </p:cNvPr>
          <p:cNvSpPr txBox="1"/>
          <p:nvPr/>
        </p:nvSpPr>
        <p:spPr>
          <a:xfrm>
            <a:off x="4848780" y="1196681"/>
            <a:ext cx="3260651" cy="3133061"/>
          </a:xfrm>
          <a:prstGeom prst="rect">
            <a:avLst/>
          </a:prstGeom>
          <a:noFill/>
        </p:spPr>
        <p:txBody>
          <a:bodyPr wrap="square" rtlCol="0">
            <a:spAutoFit/>
          </a:bodyPr>
          <a:lstStyle/>
          <a:p>
            <a:r>
              <a:rPr lang="en-US" dirty="0">
                <a:solidFill>
                  <a:schemeClr val="bg1"/>
                </a:solidFill>
                <a:latin typeface="Pt sans" panose="020B0503020203020204" pitchFamily="34" charset="0"/>
              </a:rPr>
              <a:t>PGA (Pin Grid Array)</a:t>
            </a:r>
          </a:p>
          <a:p>
            <a:r>
              <a:rPr lang="en-US" dirty="0">
                <a:solidFill>
                  <a:schemeClr val="bg1"/>
                </a:solidFill>
                <a:latin typeface="Pt sans" panose="020B0503020203020204" pitchFamily="34" charset="0"/>
              </a:rPr>
              <a:t>Pin Grid Array (PGA) </a:t>
            </a:r>
            <a:r>
              <a:rPr lang="bg-BG" dirty="0">
                <a:solidFill>
                  <a:schemeClr val="bg1"/>
                </a:solidFill>
                <a:latin typeface="Pt sans" panose="020B0503020203020204" pitchFamily="34" charset="0"/>
              </a:rPr>
              <a:t>се превърна в отличителен белег на </a:t>
            </a:r>
            <a:r>
              <a:rPr lang="en-US" dirty="0">
                <a:solidFill>
                  <a:schemeClr val="bg1"/>
                </a:solidFill>
                <a:latin typeface="Pt sans" panose="020B0503020203020204" pitchFamily="34" charset="0"/>
              </a:rPr>
              <a:t>AMD (</a:t>
            </a:r>
            <a:r>
              <a:rPr lang="bg-BG" dirty="0">
                <a:solidFill>
                  <a:schemeClr val="bg1"/>
                </a:solidFill>
                <a:latin typeface="Pt sans" panose="020B0503020203020204" pitchFamily="34" charset="0"/>
              </a:rPr>
              <a:t>въпреки че платформата </a:t>
            </a:r>
            <a:r>
              <a:rPr lang="en-US" dirty="0">
                <a:solidFill>
                  <a:schemeClr val="bg1"/>
                </a:solidFill>
                <a:latin typeface="Pt sans" panose="020B0503020203020204" pitchFamily="34" charset="0"/>
              </a:rPr>
              <a:t>HEDT </a:t>
            </a:r>
            <a:r>
              <a:rPr lang="bg-BG" dirty="0">
                <a:solidFill>
                  <a:schemeClr val="bg1"/>
                </a:solidFill>
                <a:latin typeface="Pt sans" panose="020B0503020203020204" pitchFamily="34" charset="0"/>
              </a:rPr>
              <a:t>използва цокли </a:t>
            </a:r>
            <a:r>
              <a:rPr lang="en-US" dirty="0">
                <a:solidFill>
                  <a:schemeClr val="bg1"/>
                </a:solidFill>
                <a:latin typeface="Pt sans" panose="020B0503020203020204" pitchFamily="34" charset="0"/>
              </a:rPr>
              <a:t>LGA) </a:t>
            </a:r>
            <a:r>
              <a:rPr lang="bg-BG" dirty="0">
                <a:solidFill>
                  <a:schemeClr val="bg1"/>
                </a:solidFill>
                <a:latin typeface="Pt sans" panose="020B0503020203020204" pitchFamily="34" charset="0"/>
              </a:rPr>
              <a:t>благодарение на широкото му използване в потребителските платформи. Дори сокетът на най-новото поколение процесори </a:t>
            </a:r>
            <a:r>
              <a:rPr lang="en-US" dirty="0">
                <a:solidFill>
                  <a:schemeClr val="bg1"/>
                </a:solidFill>
                <a:latin typeface="Pt sans" panose="020B0503020203020204" pitchFamily="34" charset="0"/>
              </a:rPr>
              <a:t>Ryzen, AM4, </a:t>
            </a:r>
            <a:r>
              <a:rPr lang="bg-BG" dirty="0">
                <a:solidFill>
                  <a:schemeClr val="bg1"/>
                </a:solidFill>
                <a:latin typeface="Pt sans" panose="020B0503020203020204" pitchFamily="34" charset="0"/>
              </a:rPr>
              <a:t>е </a:t>
            </a:r>
            <a:r>
              <a:rPr lang="en-US" dirty="0">
                <a:solidFill>
                  <a:schemeClr val="bg1"/>
                </a:solidFill>
                <a:latin typeface="Pt sans" panose="020B0503020203020204" pitchFamily="34" charset="0"/>
              </a:rPr>
              <a:t>PGA.</a:t>
            </a:r>
          </a:p>
          <a:p>
            <a:endParaRPr lang="en-US" dirty="0">
              <a:solidFill>
                <a:schemeClr val="bg1"/>
              </a:solidFill>
              <a:latin typeface="Pt sans" panose="020B0503020203020204" pitchFamily="34" charset="0"/>
            </a:endParaRPr>
          </a:p>
          <a:p>
            <a:r>
              <a:rPr lang="bg-BG" dirty="0">
                <a:solidFill>
                  <a:schemeClr val="bg1"/>
                </a:solidFill>
                <a:latin typeface="Pt sans" panose="020B0503020203020204" pitchFamily="34" charset="0"/>
              </a:rPr>
              <a:t>Можете да мислите за </a:t>
            </a:r>
            <a:r>
              <a:rPr lang="en-US" dirty="0">
                <a:solidFill>
                  <a:schemeClr val="bg1"/>
                </a:solidFill>
                <a:latin typeface="Pt sans" panose="020B0503020203020204" pitchFamily="34" charset="0"/>
              </a:rPr>
              <a:t>PGA </a:t>
            </a:r>
            <a:r>
              <a:rPr lang="bg-BG" dirty="0">
                <a:solidFill>
                  <a:schemeClr val="bg1"/>
                </a:solidFill>
                <a:latin typeface="Pt sans" panose="020B0503020203020204" pitchFamily="34" charset="0"/>
              </a:rPr>
              <a:t>като за противоположност на </a:t>
            </a:r>
            <a:r>
              <a:rPr lang="en-US" dirty="0">
                <a:solidFill>
                  <a:schemeClr val="bg1"/>
                </a:solidFill>
                <a:latin typeface="Pt sans" panose="020B0503020203020204" pitchFamily="34" charset="0"/>
              </a:rPr>
              <a:t>LGA </a:t>
            </a:r>
            <a:r>
              <a:rPr lang="bg-BG" dirty="0">
                <a:solidFill>
                  <a:schemeClr val="bg1"/>
                </a:solidFill>
                <a:latin typeface="Pt sans" panose="020B0503020203020204" pitchFamily="34" charset="0"/>
              </a:rPr>
              <a:t>гнездото, т.е. изводите са върху процесорния чип.</a:t>
            </a:r>
          </a:p>
        </p:txBody>
      </p:sp>
    </p:spTree>
    <p:extLst>
      <p:ext uri="{BB962C8B-B14F-4D97-AF65-F5344CB8AC3E}">
        <p14:creationId xmlns:p14="http://schemas.microsoft.com/office/powerpoint/2010/main" val="3272720383"/>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813580-3E07-2420-2792-CDEC4888D1E3}"/>
              </a:ext>
            </a:extLst>
          </p:cNvPr>
          <p:cNvSpPr>
            <a:spLocks noGrp="1"/>
          </p:cNvSpPr>
          <p:nvPr>
            <p:ph type="title"/>
          </p:nvPr>
        </p:nvSpPr>
        <p:spPr/>
        <p:txBody>
          <a:bodyPr/>
          <a:lstStyle/>
          <a:p>
            <a:r>
              <a:rPr lang="en-US" dirty="0"/>
              <a:t>LGA </a:t>
            </a:r>
            <a:r>
              <a:rPr lang="bg-BG" dirty="0"/>
              <a:t>и </a:t>
            </a:r>
            <a:r>
              <a:rPr lang="en-US" dirty="0"/>
              <a:t>PGA</a:t>
            </a:r>
            <a:endParaRPr lang="bg-BG" dirty="0"/>
          </a:p>
        </p:txBody>
      </p:sp>
      <p:sp>
        <p:nvSpPr>
          <p:cNvPr id="3" name="Text Placeholder 2">
            <a:extLst>
              <a:ext uri="{FF2B5EF4-FFF2-40B4-BE49-F238E27FC236}">
                <a16:creationId xmlns:a16="http://schemas.microsoft.com/office/drawing/2014/main" xmlns="" id="{ACE4A80B-1B7B-17AD-3373-F58B9C43A997}"/>
              </a:ext>
            </a:extLst>
          </p:cNvPr>
          <p:cNvSpPr>
            <a:spLocks noGrp="1"/>
          </p:cNvSpPr>
          <p:nvPr>
            <p:ph type="body" idx="1"/>
          </p:nvPr>
        </p:nvSpPr>
        <p:spPr>
          <a:xfrm>
            <a:off x="2156137" y="2520204"/>
            <a:ext cx="5281869" cy="1855295"/>
          </a:xfrm>
        </p:spPr>
        <p:txBody>
          <a:bodyPr/>
          <a:lstStyle/>
          <a:p>
            <a:endParaRPr lang="bg-BG" dirty="0"/>
          </a:p>
        </p:txBody>
      </p:sp>
      <p:pic>
        <p:nvPicPr>
          <p:cNvPr id="1026" name="Picture 2" descr="Каква е разликата между LGA и PGA ? - YouTube">
            <a:extLst>
              <a:ext uri="{FF2B5EF4-FFF2-40B4-BE49-F238E27FC236}">
                <a16:creationId xmlns:a16="http://schemas.microsoft.com/office/drawing/2014/main" xmlns="" id="{011AB92F-A549-57DC-A509-181A03FE7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037" y="1394816"/>
            <a:ext cx="6257925" cy="3520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2797314"/>
      </p:ext>
    </p:extLst>
  </p:cSld>
  <p:clrMapOvr>
    <a:masterClrMapping/>
  </p:clrMapOvr>
  <mc:AlternateContent xmlns:mc="http://schemas.openxmlformats.org/markup-compatibility/2006" xmlns:p14="http://schemas.microsoft.com/office/powerpoint/2010/main">
    <mc:Choice Requires="p14">
      <p:transition spd="slow" p14:dur="2000" advTm="7000"/>
    </mc:Choice>
    <mc:Fallback xmlns="">
      <p:transition spd="slow" advTm="7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5A6480-D995-0D69-BA15-685A60366F88}"/>
              </a:ext>
            </a:extLst>
          </p:cNvPr>
          <p:cNvSpPr>
            <a:spLocks noGrp="1"/>
          </p:cNvSpPr>
          <p:nvPr>
            <p:ph type="title"/>
          </p:nvPr>
        </p:nvSpPr>
        <p:spPr/>
        <p:txBody>
          <a:bodyPr/>
          <a:lstStyle/>
          <a:p>
            <a:r>
              <a:rPr lang="bg-BG" dirty="0"/>
              <a:t>Разширителни слотове</a:t>
            </a:r>
            <a:endParaRPr lang="en-US" dirty="0"/>
          </a:p>
        </p:txBody>
      </p:sp>
      <p:sp>
        <p:nvSpPr>
          <p:cNvPr id="3" name="Text Placeholder 2">
            <a:extLst>
              <a:ext uri="{FF2B5EF4-FFF2-40B4-BE49-F238E27FC236}">
                <a16:creationId xmlns:a16="http://schemas.microsoft.com/office/drawing/2014/main" xmlns="" id="{0786174D-8D3D-30FD-4DFD-C3CC04CC47CD}"/>
              </a:ext>
            </a:extLst>
          </p:cNvPr>
          <p:cNvSpPr>
            <a:spLocks noGrp="1"/>
          </p:cNvSpPr>
          <p:nvPr>
            <p:ph type="body" idx="1"/>
          </p:nvPr>
        </p:nvSpPr>
        <p:spPr/>
        <p:txBody>
          <a:bodyPr/>
          <a:lstStyle/>
          <a:p>
            <a:pPr marL="152400" indent="0">
              <a:buNone/>
            </a:pPr>
            <a:r>
              <a:rPr lang="ru-RU" sz="1400" dirty="0"/>
              <a:t>AGP(само видео карти може на тази шина) - 1x, 2x, 4x, 8х(разновидности)</a:t>
            </a:r>
          </a:p>
          <a:p>
            <a:pPr>
              <a:buFont typeface="Wingdings" panose="05000000000000000000" pitchFamily="2" charset="2"/>
              <a:buChar char="§"/>
            </a:pPr>
            <a:r>
              <a:rPr lang="ru-RU" sz="1400" dirty="0"/>
              <a:t>1x - 266MBps скорост на трансфер 3.3V, 66MHz</a:t>
            </a:r>
          </a:p>
          <a:p>
            <a:pPr>
              <a:buFont typeface="Wingdings" panose="05000000000000000000" pitchFamily="2" charset="2"/>
              <a:buChar char="§"/>
            </a:pPr>
            <a:r>
              <a:rPr lang="ru-RU" sz="1400" dirty="0"/>
              <a:t>2х - 533Mbps скорост на трансфер 3.3V, 66MHz</a:t>
            </a:r>
          </a:p>
          <a:p>
            <a:pPr>
              <a:buFont typeface="Wingdings" panose="05000000000000000000" pitchFamily="2" charset="2"/>
              <a:buChar char="§"/>
            </a:pPr>
            <a:r>
              <a:rPr lang="ru-RU" sz="1400" dirty="0"/>
              <a:t>4х - 1066Mbps скорост на трансфер 1.5V, 66MHz</a:t>
            </a:r>
          </a:p>
          <a:p>
            <a:pPr>
              <a:buFont typeface="Wingdings" panose="05000000000000000000" pitchFamily="2" charset="2"/>
              <a:buChar char="§"/>
            </a:pPr>
            <a:r>
              <a:rPr lang="ru-RU" sz="1400" dirty="0"/>
              <a:t>8х - 2133Mbps скорост на трансфер 0,8V, 66MHz</a:t>
            </a:r>
          </a:p>
          <a:p>
            <a:pPr marL="152400" indent="0">
              <a:buNone/>
            </a:pPr>
            <a:r>
              <a:rPr lang="ru-RU" sz="1400" dirty="0"/>
              <a:t>PCI - няколко разновидности - 32 битова шина</a:t>
            </a:r>
          </a:p>
          <a:p>
            <a:pPr>
              <a:buFont typeface="Wingdings" panose="05000000000000000000" pitchFamily="2" charset="2"/>
              <a:buChar char="§"/>
            </a:pPr>
            <a:r>
              <a:rPr lang="ru-RU" sz="1400" dirty="0"/>
              <a:t>1.0 - 33MHz честота, 132Mbps скорост на трансфер 3.3 или 5V</a:t>
            </a:r>
          </a:p>
          <a:p>
            <a:pPr>
              <a:buFont typeface="Wingdings" panose="05000000000000000000" pitchFamily="2" charset="2"/>
              <a:buChar char="§"/>
            </a:pPr>
            <a:r>
              <a:rPr lang="ru-RU" sz="1400" dirty="0"/>
              <a:t>2.0 - 66MHz честота, 266Mbps скорост на трансфер 3.3 или 5V</a:t>
            </a:r>
          </a:p>
          <a:p>
            <a:pPr>
              <a:buFont typeface="Wingdings" panose="05000000000000000000" pitchFamily="2" charset="2"/>
              <a:buChar char="§"/>
            </a:pPr>
            <a:r>
              <a:rPr lang="ru-RU" sz="1400" dirty="0"/>
              <a:t>2.1 - 66MHz честота, 64bit шина, 533Mbps скорост на трансфер 3.3 или 5V</a:t>
            </a:r>
          </a:p>
          <a:p>
            <a:pPr>
              <a:buFont typeface="Wingdings" panose="05000000000000000000" pitchFamily="2" charset="2"/>
              <a:buChar char="§"/>
            </a:pPr>
            <a:r>
              <a:rPr lang="ru-RU" sz="1400" dirty="0"/>
              <a:t>2.2 - 133MHz честота, 64 bit шина, 1066Mbps скорост на трансфер, 3.3 или 5V</a:t>
            </a:r>
          </a:p>
          <a:p>
            <a:pPr>
              <a:buFont typeface="Wingdings" panose="05000000000000000000" pitchFamily="2" charset="2"/>
              <a:buChar char="§"/>
            </a:pPr>
            <a:r>
              <a:rPr lang="ru-RU" sz="1400" dirty="0"/>
              <a:t>PCIe - 64 битова шина на 133MHz, 32000 Mbps, 3.3v или 1,5V</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1386856429"/>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594" y="0"/>
            <a:ext cx="7984811"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150772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ED5A79-5E54-BD9C-571C-8EAE0580AC3F}"/>
              </a:ext>
            </a:extLst>
          </p:cNvPr>
          <p:cNvSpPr>
            <a:spLocks noGrp="1"/>
          </p:cNvSpPr>
          <p:nvPr>
            <p:ph type="title"/>
          </p:nvPr>
        </p:nvSpPr>
        <p:spPr/>
        <p:txBody>
          <a:bodyPr/>
          <a:lstStyle/>
          <a:p>
            <a:r>
              <a:rPr lang="bg-BG" dirty="0"/>
              <a:t>СЛОТОВЕ ЗА </a:t>
            </a:r>
            <a:r>
              <a:rPr lang="en-US" dirty="0"/>
              <a:t>RAM</a:t>
            </a:r>
          </a:p>
        </p:txBody>
      </p:sp>
      <p:sp>
        <p:nvSpPr>
          <p:cNvPr id="3" name="Text Placeholder 2">
            <a:extLst>
              <a:ext uri="{FF2B5EF4-FFF2-40B4-BE49-F238E27FC236}">
                <a16:creationId xmlns:a16="http://schemas.microsoft.com/office/drawing/2014/main" xmlns="" id="{C23B8289-B83A-5AC9-8654-ADD6318C6123}"/>
              </a:ext>
            </a:extLst>
          </p:cNvPr>
          <p:cNvSpPr>
            <a:spLocks noGrp="1"/>
          </p:cNvSpPr>
          <p:nvPr>
            <p:ph type="body" idx="1"/>
          </p:nvPr>
        </p:nvSpPr>
        <p:spPr/>
        <p:txBody>
          <a:bodyPr/>
          <a:lstStyle/>
          <a:p>
            <a:pPr marL="152400" indent="0" algn="just">
              <a:buNone/>
            </a:pPr>
            <a:r>
              <a:rPr lang="ru-RU" sz="1400" dirty="0"/>
              <a:t>Паметта се управлява от схема, наречена контролер на паметта. В момента, повечето процесори имат този вграден компонент, така че процесора има шина на паметта свързваща процесора към RAM паметта. На по-старите процесори обаче, тази схема се намира в чипсета на дънната платка и по-точно в чипа на северния мост. ( Memory Controller Hub.) В този случай, процесора не кореспондира директно с RAM паметта; процесора кореспондира с чипа на северния мост и този чип кореспондира с паметта. Първият вариант предвижда по-добра производителност, тъй като не е „посредник” при комуникацията между процесора и паметта. На фигури 1 и 2, сме сравнили двата подхода.RAM паметта е свързана към контролера на паметта чрез серия от линии, известни като „шина на паметта”. Тези линии са разделени в три групи: данни, адрес и контрол. - Линиите от шината данни, ще пренасят информация, която се чете (трансфер от паметта към контролера на паметта), или пише (трансфер от контролера на паметта към паметта). Линиите на адресната шина „казват” на модулите на паметта къде точно (кой адрес) данните трябва да бъдат съхранени. </a:t>
            </a:r>
            <a:endParaRPr lang="en-US" sz="1400" dirty="0"/>
          </a:p>
        </p:txBody>
      </p:sp>
    </p:spTree>
    <p:extLst>
      <p:ext uri="{BB962C8B-B14F-4D97-AF65-F5344CB8AC3E}">
        <p14:creationId xmlns:p14="http://schemas.microsoft.com/office/powerpoint/2010/main" val="3562733638"/>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AC47C5A-AB63-E2C0-7B30-194FCBA57EA1}"/>
              </a:ext>
            </a:extLst>
          </p:cNvPr>
          <p:cNvSpPr>
            <a:spLocks noGrp="1"/>
          </p:cNvSpPr>
          <p:nvPr>
            <p:ph type="title" idx="2"/>
          </p:nvPr>
        </p:nvSpPr>
        <p:spPr>
          <a:xfrm>
            <a:off x="807042" y="452229"/>
            <a:ext cx="2622000" cy="593959"/>
          </a:xfrm>
        </p:spPr>
        <p:txBody>
          <a:bodyPr/>
          <a:lstStyle/>
          <a:p>
            <a:r>
              <a:rPr lang="ru-RU" dirty="0">
                <a:latin typeface="PT Sans" panose="020B0503020203020204" pitchFamily="34" charset="0"/>
              </a:rPr>
              <a:t>С интегриран контролер на паметта</a:t>
            </a:r>
            <a:endParaRPr lang="bg-BG" dirty="0">
              <a:latin typeface="PT Sans" panose="020B0503020203020204" pitchFamily="34" charset="0"/>
            </a:endParaRPr>
          </a:p>
        </p:txBody>
      </p:sp>
      <p:pic>
        <p:nvPicPr>
          <p:cNvPr id="8" name="Picture 7">
            <a:extLst>
              <a:ext uri="{FF2B5EF4-FFF2-40B4-BE49-F238E27FC236}">
                <a16:creationId xmlns:a16="http://schemas.microsoft.com/office/drawing/2014/main" xmlns="" id="{F90480A9-9118-B1A1-543C-BC62B46CA3CA}"/>
              </a:ext>
            </a:extLst>
          </p:cNvPr>
          <p:cNvPicPr>
            <a:picLocks noChangeAspect="1"/>
          </p:cNvPicPr>
          <p:nvPr/>
        </p:nvPicPr>
        <p:blipFill>
          <a:blip r:embed="rId2"/>
          <a:stretch>
            <a:fillRect/>
          </a:stretch>
        </p:blipFill>
        <p:spPr>
          <a:xfrm>
            <a:off x="0" y="1595092"/>
            <a:ext cx="4236084" cy="3548408"/>
          </a:xfrm>
          <a:prstGeom prst="rect">
            <a:avLst/>
          </a:prstGeom>
        </p:spPr>
      </p:pic>
      <p:sp>
        <p:nvSpPr>
          <p:cNvPr id="5" name="Title 4">
            <a:extLst>
              <a:ext uri="{FF2B5EF4-FFF2-40B4-BE49-F238E27FC236}">
                <a16:creationId xmlns:a16="http://schemas.microsoft.com/office/drawing/2014/main" xmlns="" id="{7040494F-44E7-6588-96B9-5C7711B0995D}"/>
              </a:ext>
            </a:extLst>
          </p:cNvPr>
          <p:cNvSpPr>
            <a:spLocks noGrp="1"/>
          </p:cNvSpPr>
          <p:nvPr>
            <p:ph type="title" idx="3"/>
          </p:nvPr>
        </p:nvSpPr>
        <p:spPr>
          <a:xfrm>
            <a:off x="5209604" y="401780"/>
            <a:ext cx="2960875" cy="694855"/>
          </a:xfrm>
        </p:spPr>
        <p:txBody>
          <a:bodyPr/>
          <a:lstStyle/>
          <a:p>
            <a:r>
              <a:rPr lang="ru-RU" i="0" dirty="0">
                <a:solidFill>
                  <a:schemeClr val="bg1"/>
                </a:solidFill>
                <a:effectLst/>
                <a:latin typeface="PT Sans" panose="020B0503020203020204" pitchFamily="34" charset="0"/>
              </a:rPr>
              <a:t>Без интегриран контролер на паметта</a:t>
            </a:r>
            <a:endParaRPr lang="bg-BG" dirty="0">
              <a:solidFill>
                <a:schemeClr val="bg1"/>
              </a:solidFill>
              <a:latin typeface="PT Sans" panose="020B0503020203020204" pitchFamily="34" charset="0"/>
            </a:endParaRPr>
          </a:p>
        </p:txBody>
      </p:sp>
      <p:pic>
        <p:nvPicPr>
          <p:cNvPr id="9" name="Picture 8">
            <a:extLst>
              <a:ext uri="{FF2B5EF4-FFF2-40B4-BE49-F238E27FC236}">
                <a16:creationId xmlns:a16="http://schemas.microsoft.com/office/drawing/2014/main" xmlns="" id="{0C1283A5-4931-68B9-1937-7B03F07007A4}"/>
              </a:ext>
            </a:extLst>
          </p:cNvPr>
          <p:cNvPicPr>
            <a:picLocks noChangeAspect="1"/>
          </p:cNvPicPr>
          <p:nvPr/>
        </p:nvPicPr>
        <p:blipFill>
          <a:blip r:embed="rId3"/>
          <a:stretch>
            <a:fillRect/>
          </a:stretch>
        </p:blipFill>
        <p:spPr>
          <a:xfrm>
            <a:off x="4236084" y="1595092"/>
            <a:ext cx="4907916" cy="2834879"/>
          </a:xfrm>
          <a:prstGeom prst="rect">
            <a:avLst/>
          </a:prstGeom>
        </p:spPr>
      </p:pic>
    </p:spTree>
    <p:extLst>
      <p:ext uri="{BB962C8B-B14F-4D97-AF65-F5344CB8AC3E}">
        <p14:creationId xmlns:p14="http://schemas.microsoft.com/office/powerpoint/2010/main" val="3075965826"/>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CDA3BE-D042-E0C6-4027-423A515BEA8E}"/>
              </a:ext>
            </a:extLst>
          </p:cNvPr>
          <p:cNvSpPr>
            <a:spLocks noGrp="1"/>
          </p:cNvSpPr>
          <p:nvPr>
            <p:ph type="title"/>
          </p:nvPr>
        </p:nvSpPr>
        <p:spPr/>
        <p:txBody>
          <a:bodyPr/>
          <a:lstStyle/>
          <a:p>
            <a:r>
              <a:rPr lang="bg-BG" dirty="0"/>
              <a:t>ОСНОВНИ КОМПОНЕНТИ</a:t>
            </a:r>
            <a:endParaRPr lang="en-US" dirty="0"/>
          </a:p>
        </p:txBody>
      </p:sp>
      <p:sp>
        <p:nvSpPr>
          <p:cNvPr id="3" name="Text Placeholder 2">
            <a:extLst>
              <a:ext uri="{FF2B5EF4-FFF2-40B4-BE49-F238E27FC236}">
                <a16:creationId xmlns:a16="http://schemas.microsoft.com/office/drawing/2014/main" xmlns="" id="{3FE08D97-879D-1712-62A4-5A2C4CE9EDFA}"/>
              </a:ext>
            </a:extLst>
          </p:cNvPr>
          <p:cNvSpPr>
            <a:spLocks noGrp="1"/>
          </p:cNvSpPr>
          <p:nvPr>
            <p:ph type="body" idx="1"/>
          </p:nvPr>
        </p:nvSpPr>
        <p:spPr/>
        <p:txBody>
          <a:bodyPr/>
          <a:lstStyle/>
          <a:p>
            <a:pPr algn="just">
              <a:buFont typeface="Wingdings" panose="05000000000000000000" pitchFamily="2" charset="2"/>
              <a:buChar char="§"/>
            </a:pPr>
            <a:r>
              <a:rPr lang="ru-RU" sz="1400" dirty="0"/>
              <a:t>Конектори за входно-изходни устройства : </a:t>
            </a:r>
          </a:p>
          <a:p>
            <a:pPr algn="just">
              <a:buFont typeface="Wingdings" panose="05000000000000000000" pitchFamily="2" charset="2"/>
              <a:buChar char="§"/>
            </a:pPr>
            <a:r>
              <a:rPr lang="ru-RU" sz="1400" dirty="0"/>
              <a:t>D – образен – мъжки и женски с различен брой пинове 15 и 25. Използва се при серийни (COM1 иCOM2) и паралелни портове (LPT1) </a:t>
            </a:r>
          </a:p>
          <a:p>
            <a:pPr algn="just">
              <a:buFont typeface="Wingdings" panose="05000000000000000000" pitchFamily="2" charset="2"/>
              <a:buChar char="§"/>
            </a:pPr>
            <a:r>
              <a:rPr lang="ru-RU" sz="1400" dirty="0"/>
              <a:t>USB конектор – правоъгълен конектор с език вътре в него </a:t>
            </a:r>
          </a:p>
          <a:p>
            <a:pPr algn="just">
              <a:buFont typeface="Wingdings" panose="05000000000000000000" pitchFamily="2" charset="2"/>
              <a:buChar char="§"/>
            </a:pPr>
            <a:r>
              <a:rPr lang="ru-RU" sz="1400" dirty="0"/>
              <a:t>Mini DIN конектор тип PS/2 – за свързване на клавиатура и мишка </a:t>
            </a:r>
          </a:p>
          <a:p>
            <a:pPr algn="just">
              <a:buFont typeface="Wingdings" panose="05000000000000000000" pitchFamily="2" charset="2"/>
              <a:buChar char="§"/>
            </a:pPr>
            <a:r>
              <a:rPr lang="ru-RU" sz="1400" dirty="0"/>
              <a:t>RJ45 – за свързване на UTP кабел към мрежовата карта</a:t>
            </a:r>
            <a:endParaRPr lang="en-US" sz="1400" dirty="0"/>
          </a:p>
          <a:p>
            <a:pPr algn="just">
              <a:buFont typeface="Wingdings" panose="05000000000000000000" pitchFamily="2" charset="2"/>
              <a:buChar char="§"/>
            </a:pPr>
            <a:r>
              <a:rPr lang="ru-RU" sz="1400" dirty="0"/>
              <a:t>Тактов генератор- това е кварцов генератор, който при включване на захранването започва да генерира основна честота 14.31814 MHz.</a:t>
            </a:r>
          </a:p>
          <a:p>
            <a:pPr algn="just">
              <a:buFont typeface="Wingdings" panose="05000000000000000000" pitchFamily="2" charset="2"/>
              <a:buChar char="§"/>
            </a:pPr>
            <a:r>
              <a:rPr lang="ru-RU" sz="1400" dirty="0"/>
              <a:t>Конектор за захранващия блок. Захранващият блок се свързва към електрическата мрежа от 220 V, за да осигури необходимото напрежение. Има 2 вида захранващи блокове: AT и ATX. </a:t>
            </a:r>
            <a:endParaRPr lang="en-US" sz="1400" dirty="0"/>
          </a:p>
          <a:p>
            <a:pPr algn="just">
              <a:buFont typeface="Wingdings" panose="05000000000000000000" pitchFamily="2" charset="2"/>
              <a:buChar char="§"/>
            </a:pPr>
            <a:r>
              <a:rPr lang="ru-RU" sz="1400" dirty="0"/>
              <a:t>Схеми за следене на състоянието на системата.Предвидени са за наблюдение на напреженията, контрол на активността на вентилаторите и за измерване на различни температури - на процесора, вътрешността на компютъра.</a:t>
            </a:r>
            <a:endParaRPr lang="en-US" sz="1400" dirty="0"/>
          </a:p>
        </p:txBody>
      </p:sp>
    </p:spTree>
    <p:extLst>
      <p:ext uri="{BB962C8B-B14F-4D97-AF65-F5344CB8AC3E}">
        <p14:creationId xmlns:p14="http://schemas.microsoft.com/office/powerpoint/2010/main" val="2146321762"/>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1F4186-6E2D-3DF5-B53A-5BD123CBE8D3}"/>
              </a:ext>
            </a:extLst>
          </p:cNvPr>
          <p:cNvSpPr>
            <a:spLocks noGrp="1"/>
          </p:cNvSpPr>
          <p:nvPr>
            <p:ph type="title"/>
          </p:nvPr>
        </p:nvSpPr>
        <p:spPr>
          <a:xfrm>
            <a:off x="713100" y="450909"/>
            <a:ext cx="7717800" cy="572700"/>
          </a:xfrm>
        </p:spPr>
        <p:txBody>
          <a:bodyPr/>
          <a:lstStyle/>
          <a:p>
            <a:r>
              <a:rPr lang="bg-BG" dirty="0"/>
              <a:t>ОСНОВНИ КОМПОНЕНТИ</a:t>
            </a:r>
            <a:endParaRPr lang="en-US" dirty="0"/>
          </a:p>
        </p:txBody>
      </p:sp>
      <p:sp>
        <p:nvSpPr>
          <p:cNvPr id="3" name="Text Placeholder 2">
            <a:extLst>
              <a:ext uri="{FF2B5EF4-FFF2-40B4-BE49-F238E27FC236}">
                <a16:creationId xmlns:a16="http://schemas.microsoft.com/office/drawing/2014/main" xmlns="" id="{74C61965-E952-CCD8-92F2-8F1E55197A29}"/>
              </a:ext>
            </a:extLst>
          </p:cNvPr>
          <p:cNvSpPr>
            <a:spLocks noGrp="1"/>
          </p:cNvSpPr>
          <p:nvPr>
            <p:ph type="body" idx="1"/>
          </p:nvPr>
        </p:nvSpPr>
        <p:spPr/>
        <p:txBody>
          <a:bodyPr/>
          <a:lstStyle/>
          <a:p>
            <a:pPr algn="just">
              <a:buFont typeface="Wingdings" panose="05000000000000000000" pitchFamily="2" charset="2"/>
              <a:buChar char="§"/>
            </a:pPr>
            <a:r>
              <a:rPr lang="ru-RU" sz="1600" dirty="0"/>
              <a:t>Памет ROM-BIOS. BIOS е софтуерът, който е записан на един ROM чип, поставен на дънната платка и поемащ управлението на връзката между апаратната част и операционната система на компютъра.</a:t>
            </a:r>
            <a:endParaRPr lang="en-US" sz="1600" dirty="0"/>
          </a:p>
          <a:p>
            <a:pPr algn="just">
              <a:buFont typeface="Wingdings" panose="05000000000000000000" pitchFamily="2" charset="2"/>
              <a:buChar char="§"/>
            </a:pPr>
            <a:r>
              <a:rPr lang="ru-RU" sz="1600" dirty="0"/>
              <a:t>CMOS-RAM с батерия и часовник за реално време. Тук се задават дата, час, типа на дисковите устройства и други важни параметри.Данните се запомнят и след изключване на захранването. За запазване на данните в тази памет е необходимо допълнително захранване на чипа, за което се използва акумулатор или литиева батерия. В новите дъни платки CMOSRAM паметта и часовникът са вградени в чипсета, а батерията е на дънната платка. CMOS-Setup позволява да се сложи защита както на цялата система, така и на достъпа до нейните настройки. </a:t>
            </a:r>
          </a:p>
          <a:p>
            <a:pPr algn="just">
              <a:buFont typeface="Wingdings" panose="05000000000000000000" pitchFamily="2" charset="2"/>
              <a:buChar char="§"/>
            </a:pPr>
            <a:endParaRPr lang="en-US" sz="1400" dirty="0"/>
          </a:p>
        </p:txBody>
      </p:sp>
    </p:spTree>
    <p:extLst>
      <p:ext uri="{BB962C8B-B14F-4D97-AF65-F5344CB8AC3E}">
        <p14:creationId xmlns:p14="http://schemas.microsoft.com/office/powerpoint/2010/main" val="1185284638"/>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D763F2-3F58-1AFB-886C-08C917C770A1}"/>
              </a:ext>
            </a:extLst>
          </p:cNvPr>
          <p:cNvSpPr>
            <a:spLocks noGrp="1"/>
          </p:cNvSpPr>
          <p:nvPr>
            <p:ph type="title"/>
          </p:nvPr>
        </p:nvSpPr>
        <p:spPr>
          <a:xfrm>
            <a:off x="713100" y="367950"/>
            <a:ext cx="7717800" cy="572700"/>
          </a:xfrm>
        </p:spPr>
        <p:txBody>
          <a:bodyPr/>
          <a:lstStyle/>
          <a:p>
            <a:r>
              <a:rPr lang="bg-BG" dirty="0"/>
              <a:t>ФОРМ ФАКТОР</a:t>
            </a:r>
            <a:endParaRPr lang="en-US" dirty="0"/>
          </a:p>
        </p:txBody>
      </p:sp>
      <p:sp>
        <p:nvSpPr>
          <p:cNvPr id="3" name="Text Placeholder 2">
            <a:extLst>
              <a:ext uri="{FF2B5EF4-FFF2-40B4-BE49-F238E27FC236}">
                <a16:creationId xmlns:a16="http://schemas.microsoft.com/office/drawing/2014/main" xmlns="" id="{104E9ACA-F9DC-22BD-81BD-A68BC1EC87FC}"/>
              </a:ext>
            </a:extLst>
          </p:cNvPr>
          <p:cNvSpPr>
            <a:spLocks noGrp="1"/>
          </p:cNvSpPr>
          <p:nvPr>
            <p:ph type="body" idx="1"/>
          </p:nvPr>
        </p:nvSpPr>
        <p:spPr>
          <a:xfrm>
            <a:off x="713100" y="940650"/>
            <a:ext cx="7717800" cy="3663450"/>
          </a:xfrm>
        </p:spPr>
        <p:txBody>
          <a:bodyPr/>
          <a:lstStyle/>
          <a:p>
            <a:pPr marL="152400" indent="0" algn="just">
              <a:buNone/>
            </a:pPr>
            <a:r>
              <a:rPr lang="ru-RU" sz="1400" dirty="0"/>
              <a:t>Терминът форм-фактор се отнася до физическата форма и размери на платката, както и конектори, отвори за винтове и други особености, които определят в каква кутия тя може да се инсталира. Като синоним може да се използва понятието типоразмер. </a:t>
            </a:r>
          </a:p>
          <a:p>
            <a:pPr marL="152400" indent="0">
              <a:buNone/>
            </a:pPr>
            <a:endParaRPr lang="ru-RU" sz="1400" dirty="0"/>
          </a:p>
          <a:p>
            <a:pPr marL="152400" indent="0">
              <a:buNone/>
            </a:pPr>
            <a:r>
              <a:rPr lang="bg-BG" sz="1400" dirty="0"/>
              <a:t>Излезли от употреба форм-фактори </a:t>
            </a:r>
          </a:p>
          <a:p>
            <a:pPr marL="323850" indent="-171450">
              <a:buFont typeface="Wingdings" panose="05000000000000000000" pitchFamily="2" charset="2"/>
              <a:buChar char="§"/>
            </a:pPr>
            <a:r>
              <a:rPr lang="en-US" sz="1400" dirty="0"/>
              <a:t>Baby-AT (PC </a:t>
            </a:r>
            <a:r>
              <a:rPr lang="bg-BG" sz="1400" dirty="0"/>
              <a:t>и </a:t>
            </a:r>
            <a:r>
              <a:rPr lang="en-US" sz="1400" dirty="0"/>
              <a:t>XT) </a:t>
            </a:r>
            <a:endParaRPr lang="bg-BG" sz="1400" dirty="0"/>
          </a:p>
          <a:p>
            <a:pPr marL="323850" indent="-171450">
              <a:buFont typeface="Wingdings" panose="05000000000000000000" pitchFamily="2" charset="2"/>
              <a:buChar char="§"/>
            </a:pPr>
            <a:r>
              <a:rPr lang="bg-BG" sz="1400" dirty="0"/>
              <a:t>Пълноформатен </a:t>
            </a:r>
            <a:r>
              <a:rPr lang="en-US" sz="1400" dirty="0"/>
              <a:t>AT (full-size AT) </a:t>
            </a:r>
            <a:endParaRPr lang="bg-BG" sz="1400" dirty="0"/>
          </a:p>
          <a:p>
            <a:pPr marL="323850" indent="-171450">
              <a:buFont typeface="Wingdings" panose="05000000000000000000" pitchFamily="2" charset="2"/>
              <a:buChar char="§"/>
            </a:pPr>
            <a:r>
              <a:rPr lang="en-US" sz="1400" dirty="0"/>
              <a:t>LPX (</a:t>
            </a:r>
            <a:r>
              <a:rPr lang="bg-BG" sz="1400" dirty="0"/>
              <a:t>получастен) </a:t>
            </a:r>
          </a:p>
          <a:p>
            <a:pPr marL="323850" indent="-171450">
              <a:buFont typeface="Wingdings" panose="05000000000000000000" pitchFamily="2" charset="2"/>
              <a:buChar char="§"/>
            </a:pPr>
            <a:r>
              <a:rPr lang="en-US" sz="1400" dirty="0"/>
              <a:t>NLX</a:t>
            </a:r>
            <a:endParaRPr lang="bg-BG" sz="1400" dirty="0"/>
          </a:p>
          <a:p>
            <a:pPr marL="323850" indent="-171450">
              <a:buFont typeface="Wingdings" panose="05000000000000000000" pitchFamily="2" charset="2"/>
              <a:buChar char="§"/>
            </a:pPr>
            <a:r>
              <a:rPr lang="en-US" sz="1400" dirty="0"/>
              <a:t>WTX</a:t>
            </a:r>
            <a:endParaRPr lang="bg-BG" sz="1400" dirty="0"/>
          </a:p>
          <a:p>
            <a:pPr marL="323850" indent="-171450">
              <a:buFont typeface="Wingdings" panose="05000000000000000000" pitchFamily="2" charset="2"/>
              <a:buChar char="§"/>
            </a:pPr>
            <a:r>
              <a:rPr lang="en-US" sz="1400" dirty="0"/>
              <a:t>BTX, </a:t>
            </a:r>
            <a:r>
              <a:rPr lang="en-US" sz="1400" dirty="0" err="1"/>
              <a:t>microBTX</a:t>
            </a:r>
            <a:r>
              <a:rPr lang="en-US" sz="1400" dirty="0"/>
              <a:t>, </a:t>
            </a:r>
            <a:r>
              <a:rPr lang="en-US" sz="1400" dirty="0" err="1"/>
              <a:t>picoBTX</a:t>
            </a:r>
            <a:r>
              <a:rPr lang="en-US" sz="1400" dirty="0"/>
              <a:t> </a:t>
            </a:r>
            <a:endParaRPr lang="bg-BG" sz="1400" dirty="0"/>
          </a:p>
          <a:p>
            <a:pPr marL="152400" indent="0">
              <a:buNone/>
            </a:pPr>
            <a:r>
              <a:rPr lang="bg-BG" sz="1400" dirty="0"/>
              <a:t>Съвременни форм-фактори. Включват </a:t>
            </a:r>
            <a:r>
              <a:rPr lang="en-US" sz="1400" dirty="0"/>
              <a:t>ATX </a:t>
            </a:r>
            <a:r>
              <a:rPr lang="bg-BG" sz="1400" dirty="0"/>
              <a:t>и неговите варианти: </a:t>
            </a:r>
          </a:p>
          <a:p>
            <a:pPr marL="323850" indent="-171450">
              <a:buFont typeface="Wingdings" panose="05000000000000000000" pitchFamily="2" charset="2"/>
              <a:buChar char="§"/>
            </a:pPr>
            <a:r>
              <a:rPr lang="en-US" sz="1400" dirty="0"/>
              <a:t>ATX</a:t>
            </a:r>
            <a:endParaRPr lang="bg-BG" sz="1400" dirty="0"/>
          </a:p>
          <a:p>
            <a:pPr marL="323850" indent="-171450">
              <a:buFont typeface="Wingdings" panose="05000000000000000000" pitchFamily="2" charset="2"/>
              <a:buChar char="§"/>
            </a:pPr>
            <a:r>
              <a:rPr lang="en-US" sz="1400" dirty="0" err="1"/>
              <a:t>microATX</a:t>
            </a:r>
            <a:endParaRPr lang="bg-BG" sz="1400" dirty="0"/>
          </a:p>
          <a:p>
            <a:pPr marL="323850" indent="-171450">
              <a:buFont typeface="Wingdings" panose="05000000000000000000" pitchFamily="2" charset="2"/>
              <a:buChar char="§"/>
            </a:pPr>
            <a:r>
              <a:rPr lang="en-US" sz="1400" dirty="0" err="1"/>
              <a:t>FlexATX</a:t>
            </a:r>
            <a:endParaRPr lang="bg-BG" sz="1400" dirty="0"/>
          </a:p>
          <a:p>
            <a:pPr marL="323850" indent="-171450">
              <a:buFont typeface="Wingdings" panose="05000000000000000000" pitchFamily="2" charset="2"/>
              <a:buChar char="§"/>
            </a:pPr>
            <a:r>
              <a:rPr lang="en-US" sz="1400" dirty="0"/>
              <a:t>DTX/Mini-DTX</a:t>
            </a:r>
            <a:endParaRPr lang="bg-BG" sz="1400" dirty="0"/>
          </a:p>
          <a:p>
            <a:pPr marL="323850" indent="-171450">
              <a:buFont typeface="Wingdings" panose="05000000000000000000" pitchFamily="2" charset="2"/>
              <a:buChar char="§"/>
            </a:pPr>
            <a:r>
              <a:rPr lang="en-US" sz="1400" dirty="0"/>
              <a:t>ITX/Mini-ITX </a:t>
            </a:r>
          </a:p>
        </p:txBody>
      </p:sp>
    </p:spTree>
    <p:extLst>
      <p:ext uri="{BB962C8B-B14F-4D97-AF65-F5344CB8AC3E}">
        <p14:creationId xmlns:p14="http://schemas.microsoft.com/office/powerpoint/2010/main" val="2410336200"/>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82631D-21AA-A86B-DF1D-18EAA9782A32}"/>
              </a:ext>
            </a:extLst>
          </p:cNvPr>
          <p:cNvSpPr>
            <a:spLocks noGrp="1"/>
          </p:cNvSpPr>
          <p:nvPr>
            <p:ph type="title"/>
          </p:nvPr>
        </p:nvSpPr>
        <p:spPr/>
        <p:txBody>
          <a:bodyPr/>
          <a:lstStyle/>
          <a:p>
            <a:r>
              <a:rPr lang="bg-BG" dirty="0"/>
              <a:t>Съвременни форм-фактори</a:t>
            </a:r>
            <a:endParaRPr lang="en-US" dirty="0"/>
          </a:p>
        </p:txBody>
      </p:sp>
      <p:pic>
        <p:nvPicPr>
          <p:cNvPr id="1026" name="Picture 2" descr="Types Of Motherboards: Types And Form Factors Explained In 2022">
            <a:extLst>
              <a:ext uri="{FF2B5EF4-FFF2-40B4-BE49-F238E27FC236}">
                <a16:creationId xmlns:a16="http://schemas.microsoft.com/office/drawing/2014/main" xmlns="" id="{3FE49502-930A-8E8C-AED8-B21D27775E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397" y="1340642"/>
            <a:ext cx="7851206" cy="3323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65077"/>
      </p:ext>
    </p:extLst>
  </p:cSld>
  <p:clrMapOvr>
    <a:masterClrMapping/>
  </p:clrMapOvr>
  <mc:AlternateContent xmlns:mc="http://schemas.openxmlformats.org/markup-compatibility/2006" xmlns:p14="http://schemas.microsoft.com/office/powerpoint/2010/main">
    <mc:Choice Requires="p14">
      <p:transition spd="slow" p14:dur="2000" advTm="7000"/>
    </mc:Choice>
    <mc:Fallback xmlns="">
      <p:transition spd="slow" advTm="7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D6AC58-255D-B964-AA8E-36EFC0AE668E}"/>
              </a:ext>
            </a:extLst>
          </p:cNvPr>
          <p:cNvSpPr>
            <a:spLocks noGrp="1"/>
          </p:cNvSpPr>
          <p:nvPr>
            <p:ph type="title"/>
          </p:nvPr>
        </p:nvSpPr>
        <p:spPr/>
        <p:txBody>
          <a:bodyPr/>
          <a:lstStyle/>
          <a:p>
            <a:r>
              <a:rPr lang="bg-BG" dirty="0"/>
              <a:t>Излезли от употреба форм-фактори </a:t>
            </a:r>
            <a:endParaRPr lang="en-US" dirty="0"/>
          </a:p>
        </p:txBody>
      </p:sp>
      <p:pic>
        <p:nvPicPr>
          <p:cNvPr id="2052" name="Picture 4" descr="What is ITX?">
            <a:extLst>
              <a:ext uri="{FF2B5EF4-FFF2-40B4-BE49-F238E27FC236}">
                <a16:creationId xmlns:a16="http://schemas.microsoft.com/office/drawing/2014/main" xmlns="" id="{B5C82369-AFAD-699C-FDBE-AD920B8644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118" y="1471613"/>
            <a:ext cx="7649764" cy="3671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1337925"/>
      </p:ext>
    </p:extLst>
  </p:cSld>
  <p:clrMapOvr>
    <a:masterClrMapping/>
  </p:clrMapOvr>
  <mc:AlternateContent xmlns:mc="http://schemas.openxmlformats.org/markup-compatibility/2006" xmlns:p14="http://schemas.microsoft.com/office/powerpoint/2010/main">
    <mc:Choice Requires="p14">
      <p:transition spd="slow" p14:dur="2000" advTm="7000"/>
    </mc:Choice>
    <mc:Fallback xmlns="">
      <p:transition spd="slow" advTm="7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CCCAE7-2354-1138-C477-53ED8C69D840}"/>
              </a:ext>
            </a:extLst>
          </p:cNvPr>
          <p:cNvSpPr>
            <a:spLocks noGrp="1"/>
          </p:cNvSpPr>
          <p:nvPr>
            <p:ph type="title"/>
          </p:nvPr>
        </p:nvSpPr>
        <p:spPr/>
        <p:txBody>
          <a:bodyPr/>
          <a:lstStyle/>
          <a:p>
            <a:r>
              <a:rPr lang="bg-BG" dirty="0"/>
              <a:t>Въпроси</a:t>
            </a:r>
          </a:p>
        </p:txBody>
      </p:sp>
      <p:sp>
        <p:nvSpPr>
          <p:cNvPr id="3" name="Text Placeholder 2">
            <a:extLst>
              <a:ext uri="{FF2B5EF4-FFF2-40B4-BE49-F238E27FC236}">
                <a16:creationId xmlns:a16="http://schemas.microsoft.com/office/drawing/2014/main" xmlns="" id="{A90665E5-81A8-BD45-FD38-8EB47336B7C1}"/>
              </a:ext>
            </a:extLst>
          </p:cNvPr>
          <p:cNvSpPr>
            <a:spLocks noGrp="1"/>
          </p:cNvSpPr>
          <p:nvPr>
            <p:ph type="body" idx="1"/>
          </p:nvPr>
        </p:nvSpPr>
        <p:spPr>
          <a:xfrm>
            <a:off x="713100" y="1371600"/>
            <a:ext cx="7717800" cy="3232500"/>
          </a:xfrm>
        </p:spPr>
        <p:txBody>
          <a:bodyPr/>
          <a:lstStyle/>
          <a:p>
            <a:pPr>
              <a:buFont typeface="Wingdings" panose="05000000000000000000" pitchFamily="2" charset="2"/>
              <a:buChar char="§"/>
            </a:pPr>
            <a:r>
              <a:rPr lang="bg-BG" sz="2000" dirty="0"/>
              <a:t>Каква е основната разлика между </a:t>
            </a:r>
            <a:r>
              <a:rPr lang="en-US" sz="2000" dirty="0"/>
              <a:t>LGA </a:t>
            </a:r>
            <a:r>
              <a:rPr lang="bg-BG" sz="2000" dirty="0"/>
              <a:t>и</a:t>
            </a:r>
            <a:r>
              <a:rPr lang="en-US" sz="2000" dirty="0"/>
              <a:t> PGA?</a:t>
            </a:r>
          </a:p>
          <a:p>
            <a:pPr>
              <a:buFont typeface="Wingdings" panose="05000000000000000000" pitchFamily="2" charset="2"/>
              <a:buChar char="§"/>
            </a:pPr>
            <a:r>
              <a:rPr lang="bg-BG" sz="2000" dirty="0"/>
              <a:t>Какви тип са съвременните дънни платки?</a:t>
            </a:r>
          </a:p>
          <a:p>
            <a:pPr>
              <a:buFont typeface="Wingdings" panose="05000000000000000000" pitchFamily="2" charset="2"/>
              <a:buChar char="§"/>
            </a:pPr>
            <a:r>
              <a:rPr lang="bg-BG" sz="2000" dirty="0"/>
              <a:t>Избройте няколко съвременни дънни платки?</a:t>
            </a:r>
          </a:p>
          <a:p>
            <a:pPr>
              <a:buFont typeface="Wingdings" panose="05000000000000000000" pitchFamily="2" charset="2"/>
              <a:buChar char="§"/>
            </a:pPr>
            <a:r>
              <a:rPr lang="bg-BG" sz="2000" dirty="0"/>
              <a:t>Каква роля изпълнява </a:t>
            </a:r>
            <a:r>
              <a:rPr lang="en-US" sz="2000" dirty="0"/>
              <a:t>CMOS- RAM?</a:t>
            </a:r>
          </a:p>
          <a:p>
            <a:pPr>
              <a:buFont typeface="Wingdings" panose="05000000000000000000" pitchFamily="2" charset="2"/>
              <a:buChar char="§"/>
            </a:pPr>
            <a:r>
              <a:rPr lang="bg-BG" sz="2000" dirty="0"/>
              <a:t>Коя е главната разлика между </a:t>
            </a:r>
            <a:r>
              <a:rPr lang="en-US" sz="2000" dirty="0"/>
              <a:t>AGP </a:t>
            </a:r>
            <a:r>
              <a:rPr lang="bg-BG" sz="2000" dirty="0"/>
              <a:t>и </a:t>
            </a:r>
            <a:r>
              <a:rPr lang="en-US" sz="2000" dirty="0"/>
              <a:t>PCI</a:t>
            </a:r>
            <a:r>
              <a:rPr lang="bg-BG" sz="2000" dirty="0"/>
              <a:t>?</a:t>
            </a:r>
          </a:p>
          <a:p>
            <a:pPr>
              <a:buFont typeface="Wingdings" panose="05000000000000000000" pitchFamily="2" charset="2"/>
              <a:buChar char="§"/>
            </a:pPr>
            <a:r>
              <a:rPr lang="bg-BG" sz="2000" dirty="0"/>
              <a:t>Каква роля изпълнява </a:t>
            </a:r>
            <a:r>
              <a:rPr lang="bg-BG" sz="2000" dirty="0" err="1"/>
              <a:t>сокетът</a:t>
            </a:r>
            <a:r>
              <a:rPr lang="bg-BG" sz="2000" dirty="0"/>
              <a:t>?</a:t>
            </a:r>
          </a:p>
        </p:txBody>
      </p:sp>
    </p:spTree>
    <p:extLst>
      <p:ext uri="{BB962C8B-B14F-4D97-AF65-F5344CB8AC3E}">
        <p14:creationId xmlns:p14="http://schemas.microsoft.com/office/powerpoint/2010/main" val="4021292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5F0781-D3DC-1104-687B-59965EB04AC3}"/>
              </a:ext>
            </a:extLst>
          </p:cNvPr>
          <p:cNvSpPr>
            <a:spLocks noGrp="1"/>
          </p:cNvSpPr>
          <p:nvPr>
            <p:ph type="title"/>
          </p:nvPr>
        </p:nvSpPr>
        <p:spPr/>
        <p:txBody>
          <a:bodyPr/>
          <a:lstStyle/>
          <a:p>
            <a:r>
              <a:rPr lang="bg-BG" dirty="0"/>
              <a:t>ИЗТОЧНИЦИ</a:t>
            </a:r>
            <a:endParaRPr lang="en-US" dirty="0"/>
          </a:p>
        </p:txBody>
      </p:sp>
      <p:sp>
        <p:nvSpPr>
          <p:cNvPr id="3" name="Text Placeholder 2">
            <a:extLst>
              <a:ext uri="{FF2B5EF4-FFF2-40B4-BE49-F238E27FC236}">
                <a16:creationId xmlns:a16="http://schemas.microsoft.com/office/drawing/2014/main" xmlns="" id="{6D6CF9D4-956E-951F-F537-9E054121B7D0}"/>
              </a:ext>
            </a:extLst>
          </p:cNvPr>
          <p:cNvSpPr>
            <a:spLocks noGrp="1"/>
          </p:cNvSpPr>
          <p:nvPr>
            <p:ph type="body" idx="1"/>
          </p:nvPr>
        </p:nvSpPr>
        <p:spPr/>
        <p:txBody>
          <a:bodyPr/>
          <a:lstStyle/>
          <a:p>
            <a:pPr>
              <a:buFont typeface="Wingdings" panose="05000000000000000000" pitchFamily="2" charset="2"/>
              <a:buChar char="§"/>
            </a:pPr>
            <a:r>
              <a:rPr lang="en-US" sz="1600" dirty="0">
                <a:hlinkClick r:id="rId2"/>
              </a:rPr>
              <a:t>https://www.google.com/search?q=form+factor&amp;tbm=isch&amp;ved=2ahUKEwjC_Nqm4P76AhVkYPEDHVA1DkgQ_AUoAXoECAIQAw&amp;dpr=1.25#imgrc=HeaXBxnkDRefEM</a:t>
            </a:r>
            <a:endParaRPr lang="bg-BG" sz="1600" dirty="0"/>
          </a:p>
          <a:p>
            <a:pPr>
              <a:buFont typeface="Wingdings" panose="05000000000000000000" pitchFamily="2" charset="2"/>
              <a:buChar char="§"/>
            </a:pPr>
            <a:r>
              <a:rPr lang="en-US" sz="1600" dirty="0">
                <a:hlinkClick r:id="rId3"/>
              </a:rPr>
              <a:t>https://www.slideshare.net/dnaidenowa/ss-31117689?from_action=save</a:t>
            </a:r>
            <a:endParaRPr lang="en-US" sz="1600" dirty="0"/>
          </a:p>
          <a:p>
            <a:pPr>
              <a:buFont typeface="Wingdings" panose="05000000000000000000" pitchFamily="2" charset="2"/>
              <a:buChar char="§"/>
            </a:pPr>
            <a:r>
              <a:rPr lang="en-US" sz="1600" dirty="0">
                <a:hlinkClick r:id="rId4"/>
              </a:rPr>
              <a:t>https://tscomputersblog.wordpress.com/polezni-temi-za-komputri/vsichko-za-dvu-tri-i-chetirikanalnata-ram-pamet/</a:t>
            </a:r>
            <a:endParaRPr lang="en-US" sz="1600" dirty="0"/>
          </a:p>
          <a:p>
            <a:pPr>
              <a:buFont typeface="Wingdings" panose="05000000000000000000" pitchFamily="2" charset="2"/>
              <a:buChar char="§"/>
            </a:pPr>
            <a:endParaRPr lang="en-US" sz="1600" dirty="0"/>
          </a:p>
        </p:txBody>
      </p:sp>
      <p:pic>
        <p:nvPicPr>
          <p:cNvPr id="4" name="Picture 3">
            <a:extLst>
              <a:ext uri="{FF2B5EF4-FFF2-40B4-BE49-F238E27FC236}">
                <a16:creationId xmlns:a16="http://schemas.microsoft.com/office/drawing/2014/main" xmlns="" id="{C055CBCC-22A1-70B2-9B68-318DF2646C7A}"/>
              </a:ext>
            </a:extLst>
          </p:cNvPr>
          <p:cNvPicPr>
            <a:picLocks noChangeAspect="1"/>
          </p:cNvPicPr>
          <p:nvPr/>
        </p:nvPicPr>
        <p:blipFill>
          <a:blip r:embed="rId5"/>
          <a:stretch>
            <a:fillRect/>
          </a:stretch>
        </p:blipFill>
        <p:spPr>
          <a:xfrm>
            <a:off x="23990" y="4417549"/>
            <a:ext cx="4548010" cy="524301"/>
          </a:xfrm>
          <a:prstGeom prst="rect">
            <a:avLst/>
          </a:prstGeom>
        </p:spPr>
      </p:pic>
    </p:spTree>
    <p:extLst>
      <p:ext uri="{BB962C8B-B14F-4D97-AF65-F5344CB8AC3E}">
        <p14:creationId xmlns:p14="http://schemas.microsoft.com/office/powerpoint/2010/main" val="2028887555"/>
      </p:ext>
    </p:extLst>
  </p:cSld>
  <p:clrMapOvr>
    <a:masterClrMapping/>
  </p:clrMapOvr>
  <mc:AlternateContent xmlns:mc="http://schemas.openxmlformats.org/markup-compatibility/2006" xmlns:p14="http://schemas.microsoft.com/office/powerpoint/2010/main">
    <mc:Choice Requires="p14">
      <p:transition spd="slow" p14:dur="2000" advTm="7000"/>
    </mc:Choice>
    <mc:Fallback xmlns="">
      <p:transition spd="slow" advTm="7000"/>
    </mc:Fallback>
  </mc:AlternateContent>
</p:sld>
</file>

<file path=ppt/theme/theme1.xml><?xml version="1.0" encoding="utf-8"?>
<a:theme xmlns:a="http://schemas.openxmlformats.org/drawingml/2006/main"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9360</TotalTime>
  <Words>2076</Words>
  <Application>Microsoft Office PowerPoint</Application>
  <PresentationFormat>On-screen Show (16:9)</PresentationFormat>
  <Paragraphs>120</Paragraphs>
  <Slides>25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PT Sans</vt:lpstr>
      <vt:lpstr>Roboto Condensed Light</vt:lpstr>
      <vt:lpstr>Exo</vt:lpstr>
      <vt:lpstr>Wingdings</vt:lpstr>
      <vt:lpstr>Data Center Business Plan by Slidesgo</vt:lpstr>
      <vt:lpstr>Архитектура на дънна платка. Основни компоненти. Form Factor</vt:lpstr>
      <vt:lpstr>Теми</vt:lpstr>
      <vt:lpstr>ДЪННА ПЛАТКА</vt:lpstr>
      <vt:lpstr>Двуканална архитектура</vt:lpstr>
      <vt:lpstr>Двуканална архитектура</vt:lpstr>
      <vt:lpstr>PowerPoint Presentation</vt:lpstr>
      <vt:lpstr>Триканална архитектура</vt:lpstr>
      <vt:lpstr>Четириканална архитектура</vt:lpstr>
      <vt:lpstr>ТИПОВЕ ПЛАТКИ</vt:lpstr>
      <vt:lpstr>КОМПОНЕНТИ НА ДЪННА ПЛАТКА</vt:lpstr>
      <vt:lpstr>КАКВО ПРЕДСТАВЛЯВА ЧИПСЕТА?</vt:lpstr>
      <vt:lpstr>СОКЕТ</vt:lpstr>
      <vt:lpstr>LGA и PGA</vt:lpstr>
      <vt:lpstr>LGA и PGA</vt:lpstr>
      <vt:lpstr>Разширителни слотове</vt:lpstr>
      <vt:lpstr>PowerPoint Presentation</vt:lpstr>
      <vt:lpstr>СЛОТОВЕ ЗА RAM</vt:lpstr>
      <vt:lpstr>С интегриран контролер на паметта</vt:lpstr>
      <vt:lpstr>ОСНОВНИ КОМПОНЕНТИ</vt:lpstr>
      <vt:lpstr>ОСНОВНИ КОМПОНЕНТИ</vt:lpstr>
      <vt:lpstr>ФОРМ ФАКТОР</vt:lpstr>
      <vt:lpstr>Съвременни форм-фактори</vt:lpstr>
      <vt:lpstr>Излезли от употреба форм-фактори </vt:lpstr>
      <vt:lpstr>Въпроси</vt:lpstr>
      <vt:lpstr>ИЗТОЧНИЦИ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Архитектура на дънна платка</dc:title>
  <dc:creator>Alexander</dc:creator>
  <cp:lastModifiedBy>PC-0</cp:lastModifiedBy>
  <cp:revision>18</cp:revision>
  <dcterms:modified xsi:type="dcterms:W3CDTF">2022-12-15T07:07:08Z</dcterms:modified>
</cp:coreProperties>
</file>