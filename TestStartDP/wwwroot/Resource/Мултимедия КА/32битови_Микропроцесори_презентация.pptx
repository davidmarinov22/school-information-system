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60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69" r:id="rId14"/>
    <p:sldId id="272" r:id="rId15"/>
    <p:sldId id="271" r:id="rId16"/>
    <p:sldId id="273" r:id="rId17"/>
    <p:sldId id="274" r:id="rId18"/>
    <p:sldId id="275" r:id="rId19"/>
    <p:sldId id="277" r:id="rId20"/>
    <p:sldId id="276" r:id="rId21"/>
    <p:sldId id="278" r:id="rId22"/>
    <p:sldId id="280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0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2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8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9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7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82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96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1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02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60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A69A5-C7D3-4966-9866-5495785C0541}" type="datetimeFigureOut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FFF74-76B7-4880-BD0A-0EBADBB15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1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3" Type="http://schemas.openxmlformats.org/officeDocument/2006/relationships/slide" Target="slide3.xml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" Type="http://schemas.openxmlformats.org/officeDocument/2006/relationships/image" Target="../media/image2.png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9.xml"/><Relationship Id="rId7" Type="http://schemas.openxmlformats.org/officeDocument/2006/relationships/slide" Target="slide14.xml"/><Relationship Id="rId12" Type="http://schemas.openxmlformats.org/officeDocument/2006/relationships/slide" Target="slide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11" Type="http://schemas.openxmlformats.org/officeDocument/2006/relationships/slide" Target="slide7.xml"/><Relationship Id="rId5" Type="http://schemas.openxmlformats.org/officeDocument/2006/relationships/slide" Target="slide11.xml"/><Relationship Id="rId10" Type="http://schemas.openxmlformats.org/officeDocument/2006/relationships/slide" Target="slide17.xml"/><Relationship Id="rId4" Type="http://schemas.openxmlformats.org/officeDocument/2006/relationships/slide" Target="slide10.xml"/><Relationship Id="rId9" Type="http://schemas.openxmlformats.org/officeDocument/2006/relationships/slide" Target="slide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htrakov.net/Phys_CPU_Arch/Lect_06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List_of_Intel_processors" TargetMode="External"/><Relationship Id="rId4" Type="http://schemas.openxmlformats.org/officeDocument/2006/relationships/hyperlink" Target="https://en.wikipedia.org/wiki/List_of_AMD_processo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44620"/>
            <a:ext cx="9144000" cy="2387600"/>
          </a:xfrm>
        </p:spPr>
        <p:txBody>
          <a:bodyPr>
            <a:noAutofit/>
          </a:bodyPr>
          <a:lstStyle/>
          <a:p>
            <a:r>
              <a:rPr lang="bg-BG" sz="58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Микропроцесори – история, характеристики. 32-битови процесори</a:t>
            </a:r>
            <a:endParaRPr lang="en-US" sz="58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33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884" y="661814"/>
            <a:ext cx="10515600" cy="659910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6885" y="1321724"/>
            <a:ext cx="4398818" cy="4351338"/>
          </a:xfrm>
        </p:spPr>
        <p:txBody>
          <a:bodyPr>
            <a:normAutofit fontScale="85000" lnSpcReduction="20000"/>
          </a:bodyPr>
          <a:lstStyle/>
          <a:p>
            <a:pPr marL="342900" indent="-342900"/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История на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Intel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микропроцесори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3)</a:t>
            </a:r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История на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AMD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микропроцесори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4)</a:t>
            </a:r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 особености на 32-битовите процесори (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слайд 5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/>
              </a:rPr>
              <a:t>слайд 6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RISC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CISC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микроархитектури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7)</a:t>
            </a:r>
          </a:p>
          <a:p>
            <a:pPr marL="342900" indent="-342900"/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Харвардска и Фоннойманова архитектура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8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/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Източници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(слайд 22)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1833" y="1321724"/>
            <a:ext cx="6041967" cy="48603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32-битови процесори: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Процесор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i80386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9)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Процесор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i80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4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86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10)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Процесори Pentium и Pentium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MMX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11)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Процесор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Pentium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Pro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12)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 action="ppaction://hlinksldjump"/>
              </a:rPr>
              <a:t>Процесор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 action="ppaction://hlinksldjump"/>
              </a:rPr>
              <a:t>Pentium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3" action="ppaction://hlinksldjump"/>
              </a:rPr>
              <a:t>II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3" action="ppaction://hlinksldjump"/>
              </a:rPr>
              <a:t>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 action="ppaction://hlinksldjump"/>
              </a:rPr>
              <a:t>Процесор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4" action="ppaction://hlinksldjump"/>
              </a:rPr>
              <a:t>Celeron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4" action="ppaction://hlinksldjump"/>
              </a:rPr>
              <a:t>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5" action="ppaction://hlinksldjump"/>
              </a:rPr>
              <a:t>Процесор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5" action="ppaction://hlinksldjump"/>
              </a:rPr>
              <a:t>Pentium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5" action="ppaction://hlinksldjump"/>
              </a:rPr>
              <a:t>III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5" action="ppaction://hlinksldjump"/>
              </a:rPr>
              <a:t>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 action="ppaction://hlinksldjump"/>
              </a:rPr>
              <a:t>Процесори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 action="ppaction://hlinksldjump"/>
              </a:rPr>
              <a:t>Pentium IV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 action="ppaction://hlinksldjump"/>
              </a:rPr>
              <a:t>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 action="ppaction://hlinksldjump"/>
              </a:rPr>
              <a:t>Pentium IV Extreme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6" action="ppaction://hlinksldjump"/>
              </a:rPr>
              <a:t>Edition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6" action="ppaction://hlinksldjump"/>
              </a:rPr>
              <a:t>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16)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7" action="ppaction://hlinksldjump"/>
              </a:rPr>
              <a:t>Процесор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7" action="ppaction://hlinksldjump"/>
              </a:rPr>
              <a:t>AMD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7" action="ppaction://hlinksldjump"/>
              </a:rPr>
              <a:t>K5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7" action="ppaction://hlinksldjump"/>
              </a:rPr>
              <a:t>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17)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8" action="ppaction://hlinksldjump"/>
              </a:rPr>
              <a:t>Процесор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8" action="ppaction://hlinksldjump"/>
              </a:rPr>
              <a:t>AMD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8" action="ppaction://hlinksldjump"/>
              </a:rPr>
              <a:t>K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8" action="ppaction://hlinksldjump"/>
              </a:rPr>
              <a:t>6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18)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9" action="ppaction://hlinksldjump"/>
              </a:rPr>
              <a:t>Процесор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9" action="ppaction://hlinksldjump"/>
              </a:rPr>
              <a:t>AMD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9" action="ppaction://hlinksldjump"/>
              </a:rPr>
              <a:t>Athlon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9" action="ppaction://hlinksldjump"/>
              </a:rPr>
              <a:t>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19)</a:t>
            </a:r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0" action="ppaction://hlinksldjump"/>
              </a:rPr>
              <a:t>Процесор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0" action="ppaction://hlinksldjump"/>
              </a:rPr>
              <a:t>AMD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0" action="ppaction://hlinksldjump"/>
              </a:rPr>
              <a:t>Duron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0" action="ppaction://hlinksldjump"/>
              </a:rPr>
              <a:t>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20)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1" action="ppaction://hlinksldjump"/>
              </a:rPr>
              <a:t>Процесор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1" action="ppaction://hlinksldjump"/>
              </a:rPr>
              <a:t>Cyrix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1" action="ppaction://hlinksldjump"/>
              </a:rPr>
              <a:t>6x86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1" action="ppaction://hlinksldjump"/>
              </a:rPr>
              <a:t>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(слайд 21)</a:t>
            </a:r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51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на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</a:t>
            </a:r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микропроцесори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Първият микропроцесор, който Intel пускат в продажба през 1971г.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4004. Той е представител за забележителния напредък в технологията на интегралните схеми, тъй като „смалява“ централния процесор на компютъра. През 1972 година Intel пуска в продажба процесора i8008. Разликата от процесора i4004 се състои в това, че i8008 притежава 8-битова шина за данни. През 1974 година се появява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8-битовия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i8080. Следващият етап в развитието на микропроцесорите Intel става i8085. Той излиза през 1976г., а след него през 1978г. се появява първият 16-битов процесор i8086. Наред с основния микропроцесор е разработен и аритметичен копроцесор i8087, който се включва към i8086 за изпълнение на операции с числа с плаваща запетая. На следващата година се появява i8088 – същият микропроцесор, но с 8-битова шина за данни.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През 1982г.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икропроцесорът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i80286 отбелязва нов етап в развитието на архитектурата на процесорните устройства. През 1985г. се появява първият 32-битов микропроцесор i80386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86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9569"/>
            <a:ext cx="10515600" cy="915035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на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микропроцесори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48054"/>
            <a:ext cx="6743148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1975г. AMD създава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Am9080,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който 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клонинг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8-битов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процесор на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8080. След като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x86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микропроцесорите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1978г., заедно с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сключват споразумение за обмен на технологии. От 1982г.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започват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масово производство на Intel-лицензирани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8086 и 8088 процесори,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до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1984г. създават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 Am286 клонинг на процесора 80286 на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Intel. През 1986г.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преминава към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 със собствения си процесор Am29000. През 1991 г.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представя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своя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 Am386 чип.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Създавайки свои собствени чипове, AMD започва да се конкурира директно с Intel.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8173" r="7280"/>
          <a:stretch/>
        </p:blipFill>
        <p:spPr>
          <a:xfrm>
            <a:off x="7711035" y="2257320"/>
            <a:ext cx="3942133" cy="23468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12481" y="4234864"/>
            <a:ext cx="3539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/>
              <a:t>Първият </a:t>
            </a:r>
            <a:r>
              <a:rPr lang="en-GB" dirty="0"/>
              <a:t>AMD </a:t>
            </a:r>
            <a:r>
              <a:rPr lang="bg-BG" dirty="0"/>
              <a:t>процесор (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Am9080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24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 особености на 32-битовите процесори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502712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Конвейерна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на инструкциите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въведени са вътрешни конвейери за изпълнение на инструкциите, което им позволява да изпълняват няколко инструкции едновременно.</a:t>
            </a:r>
          </a:p>
          <a:p>
            <a:pPr marL="0" indent="0" algn="just">
              <a:buNone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кеш памет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повишаване на производителността на процесора. Използва се за съхранение на инструкции и данни. Логически организирана като памет с произволен достъп, а физически реализирана като бърза статична памет с високо бързодействие.</a:t>
            </a:r>
          </a:p>
          <a:p>
            <a:pPr marL="0" indent="0" algn="just">
              <a:buNone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Суперскаларна архитектура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няколко операции се изпълняват едновременно в четири паралелно работещи устройства: две за обработка на целочислени данни, едно за обработка на числа с плаваща запетая и едно за команди с условен преход.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83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 особености на 32-битовите процесори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8348"/>
            <a:ext cx="10515600" cy="528689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32-битовите процесори имат три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режима на работа: </a:t>
            </a:r>
          </a:p>
          <a:p>
            <a:pPr marL="0" indent="0" algn="just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Реален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може да работи само 1 програма. Не съществува вградена защита, която да предпазва отделните програми да се презаписват в паметта една върху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друга, така че,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ако работят повече от една програми, всяка от тях може да доведе цялата система до срив 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забиване.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Защитен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програмите, работещи в този режим са защитени от презапис една върху друга в паметта.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Защитният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поддържа многозадачност – паралелно изпълнение на няколко програми, което на практика се постига с последователното превключване на задачите.</a:t>
            </a:r>
          </a:p>
          <a:p>
            <a:pPr marL="0" indent="0" algn="just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Виртуален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предназначен за работа на програми, ориентирани за процесор i8086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i8088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режим със защита.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Вградено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 за управление на паметта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предназначено е да преобразува логически адрес във физически. При 32-битовите процесори е вградено в микропроцесора.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39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CISC </a:t>
            </a:r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микроархитектури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 („Reduced Instruction Set Computing“)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микроархитектурата е характерно, че имаме не много наброй инструкции, но добре оптимизирани и извършващи повече функции, които се изпълняват за един такт.</a:t>
            </a:r>
          </a:p>
          <a:p>
            <a:pPr algn="just"/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CISC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(„Complex Instruction Set Computing“)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микроархитектурата съдържа повече и по-сложни инструкции, които се изпълняват за повече от един такт.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07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Харвардска и Ф</a:t>
            </a:r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оннойманова </a:t>
            </a:r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3139"/>
            <a:ext cx="6389894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Харвардската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представлява разделяне на потоците на командите и данните, като кеш-паметта се разделя на два блока – за команди и данни. Тази архитектура има отделно пространство за памет, данни и инструкции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При фонноймановата архитектура данните на програмата и данните за инструкции се съхраняват в една обща памет.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276" y="1516120"/>
            <a:ext cx="3428309" cy="2184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541" y="4174098"/>
            <a:ext cx="3901778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7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1780"/>
            <a:ext cx="10515600" cy="847899"/>
          </a:xfrm>
        </p:spPr>
        <p:txBody>
          <a:bodyPr>
            <a:norm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i80386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396538"/>
            <a:ext cx="5944985" cy="486355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bg-B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pPr algn="just"/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– 25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 – PGA132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8x32-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битови регистри с общо предназначение</a:t>
            </a:r>
          </a:p>
          <a:p>
            <a:pPr algn="just"/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x16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битови сегментни регистри</a:t>
            </a:r>
          </a:p>
          <a:p>
            <a:pPr algn="just"/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32-битов флагов регистър</a:t>
            </a:r>
          </a:p>
          <a:p>
            <a:pPr algn="just"/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32-битови управляващи регистри</a:t>
            </a:r>
          </a:p>
          <a:p>
            <a:pPr algn="just"/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32-битов програмен брояч</a:t>
            </a:r>
          </a:p>
          <a:p>
            <a:pPr algn="just"/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за проверка на вътрешната памет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562897" y="1396538"/>
            <a:ext cx="5181600" cy="105571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Процесорът има 5 разновидности в различни ценови класове –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DX, SX, 80376, SL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3318" t="16606" r="12213" b="14304"/>
          <a:stretch/>
        </p:blipFill>
        <p:spPr>
          <a:xfrm>
            <a:off x="7349142" y="2601897"/>
            <a:ext cx="3609109" cy="336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7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i80</a:t>
            </a:r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86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349"/>
            <a:ext cx="5587538" cy="483861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–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120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32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32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 486</a:t>
            </a:r>
          </a:p>
          <a:p>
            <a:pPr algn="just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кеш – 8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KB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Една инструкция се изпълнява за 2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такта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 кеш от първо ниво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Пакетен режим на паметта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 математически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копроцесор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VESA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разширителна шина</a:t>
            </a:r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2614" y="1568552"/>
            <a:ext cx="6021186" cy="473054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Съществуват разновидности на i80486, отличаващи се по липса на копроцесор и вътрешна кеш памет при SX, с удвояване на процесорната честота при DX2 или утрояване на честота на процесора при DX4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822" y="3276359"/>
            <a:ext cx="3174769" cy="317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8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6071"/>
            <a:ext cx="10515600" cy="748780"/>
          </a:xfrm>
        </p:spPr>
        <p:txBody>
          <a:bodyPr>
            <a:norm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Процесори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Pentium </a:t>
            </a:r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Pentium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MMX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04851"/>
            <a:ext cx="6172200" cy="5207616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60-66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по-късно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75-200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данни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64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32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4/7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кеш – 8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KB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 данни и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KB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 инструкции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 математически копроцесор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Има два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конвейра за данни, което позволява изпълнението на 2 инструкции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едновременно</a:t>
            </a:r>
          </a:p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Суперскаларна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74130" y="1404851"/>
            <a:ext cx="4279669" cy="441521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Pentium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MMX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има същите характеристики като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Pentium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но включва така наречената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MMX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технология, което са 57 нови инструкции.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255" y="3429297"/>
            <a:ext cx="3065418" cy="284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9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Pentium Pro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98934"/>
            <a:ext cx="5181600" cy="48303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150-200 MHz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данни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64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32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кеш – 8KB за данни и 8KB  за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кеш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256KB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 математически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копроцесор</a:t>
            </a:r>
          </a:p>
          <a:p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Характеризира се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като многочипов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корпуса има 2 кристала – за процесора и за L2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кеша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601" y="1638415"/>
            <a:ext cx="5165199" cy="4351338"/>
          </a:xfrm>
        </p:spPr>
      </p:pic>
    </p:spTree>
    <p:extLst>
      <p:ext uri="{BB962C8B-B14F-4D97-AF65-F5344CB8AC3E}">
        <p14:creationId xmlns:p14="http://schemas.microsoft.com/office/powerpoint/2010/main" val="228376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5328"/>
            <a:ext cx="10515600" cy="779166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Pentium</a:t>
            </a:r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346662"/>
            <a:ext cx="4598325" cy="5212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233-450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64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32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lot 1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кеш –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KB 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кеш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256KB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512KB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Има суперскаларна архитектура с три 12 фазови конвейера (изпълнява три инструкции за такт)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6524" y="1775152"/>
            <a:ext cx="5917276" cy="3186950"/>
          </a:xfrm>
        </p:spPr>
        <p:txBody>
          <a:bodyPr>
            <a:normAutofit/>
          </a:bodyPr>
          <a:lstStyle/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Вградено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 за операции с плаваща запетая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MMX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</a:t>
            </a: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Характеризира се със своята SEC касета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085" y="3677571"/>
            <a:ext cx="4982154" cy="256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1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Celeron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376893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–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64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32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1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кеш – 32KB 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кеш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няма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9734" y="1533791"/>
            <a:ext cx="620406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Процесорът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Celeron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е базиран на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Pentium II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е предназначен за евтини компютри.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4109" t="14393" r="2133" b="13826"/>
          <a:stretch/>
        </p:blipFill>
        <p:spPr>
          <a:xfrm>
            <a:off x="6019801" y="2859354"/>
            <a:ext cx="4089862" cy="313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0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8300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Pentium</a:t>
            </a:r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24414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–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450-1400MHz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64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32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pPr marL="0" indent="0">
              <a:buNone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19650" y="1424414"/>
            <a:ext cx="5834149" cy="4351338"/>
          </a:xfrm>
        </p:spPr>
        <p:txBody>
          <a:bodyPr>
            <a:normAutofit/>
          </a:bodyPr>
          <a:lstStyle/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ocket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370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кеш – 32KB </a:t>
            </a: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кеш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512KB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на половината от честотата на ядрото)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KB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(при пълна честота)</a:t>
            </a: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Вградено устройство за операции с плаваща запетая (FPU)</a:t>
            </a:r>
          </a:p>
          <a:p>
            <a:pPr algn="just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 технология – 70 нови инструкции, които повишават производителността</a:t>
            </a:r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702431"/>
            <a:ext cx="4340629" cy="230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8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Процесори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Pentium</a:t>
            </a:r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Pentium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Edition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305098"/>
            <a:ext cx="9619211" cy="52453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  <a:endParaRPr lang="en-GB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честота –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1,3-3,8GHz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– 64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– 36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– 32 бита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ocket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423/ 478/ LGA775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кеш – 16КВ за данни 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12КВ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следене на изпълнението 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кеш – 256KB,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512KB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1МВ или 2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МВ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NetBurst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микроархитектура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Хипер-конвейерна технология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SSE2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- 144 нови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 и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SSE3 - 157 нови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Усъвършенстван математически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копроцесор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Pentium IV Extreme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Edition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е със същите характеристики като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Pentium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като за първи път е вграден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кеш - 2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679" y="2924291"/>
            <a:ext cx="2765459" cy="362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15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" y="2751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AMD K5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454727"/>
            <a:ext cx="9228513" cy="47222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честота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75-166 MHz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–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–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– 32 бита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4/7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кеш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16KB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инструкции и 8KB за данни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 синхронен математически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копроцесор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 за управление на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Суперскаларна архитектура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инамично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 на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инструкциите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Високо производително устройство за операции с плаваща запетая (FPU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5" y="1454727"/>
            <a:ext cx="3793153" cy="378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5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63741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–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166-300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– 32 бита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– 32 бита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– 32 бита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 кеш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32KB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инструкции 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32KB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данни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Вграден синхронен математически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копроцесор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Суперскаларна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MMX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198" y="1690688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3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Athlon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–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500-1400MHz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– 32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– 32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– 32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A/ Slot A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 кеш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128KB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кеш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512KB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външен)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997" y="1944299"/>
            <a:ext cx="4811684" cy="411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9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Duron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–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600-1800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– 32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– 32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– 32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 кеш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64KB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кеш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512KB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външен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Процесорът е проектиран за евтини конфигурации.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865" y="1690688"/>
            <a:ext cx="4488873" cy="448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9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Cyrix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6x86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452703"/>
            <a:ext cx="544846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 честота –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33M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за данни – 64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шина – 36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 – 32 бита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5/7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кеш –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64КВ 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MMX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оддържа динамично изпълнение на инструкциите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4138" y="1452703"/>
            <a:ext cx="6625243" cy="4120853"/>
          </a:xfrm>
        </p:spPr>
        <p:txBody>
          <a:bodyPr>
            <a:normAutofit/>
          </a:bodyPr>
          <a:lstStyle/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Включва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две оптимизиращи суперконвейерни у-ва за операции и две у-ва за операции с плаваща запетая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8600" t="8939" r="9918" b="10732"/>
          <a:stretch/>
        </p:blipFill>
        <p:spPr>
          <a:xfrm>
            <a:off x="6397765" y="2421465"/>
            <a:ext cx="3937988" cy="395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2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Въпроси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793"/>
            <a:ext cx="10515600" cy="4614170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Кой е първият 32-битов процесор? </a:t>
            </a:r>
            <a:r>
              <a:rPr lang="bg-BG" sz="2200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/отговор/</a:t>
            </a:r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При кой процесор се появява кеш от първо ниво?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/отговор/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С какво се характеризира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MMX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технологията?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/отговор/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кой процесор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шина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става 36-битова?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/>
              </a:rPr>
              <a:t>/отговор/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Кой процесор е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предназначен за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евтини конфигурации?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/отговор/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При кой процесор за първи път е вграден кеш от трето ниво?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/отговор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/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Кои са трите режима на работа при 32-битовите процесори?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/отговор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/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Кой е първият 32-битов процесор на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AMD?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/отговор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/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 Каква е разликата между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микроархитектурите?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/отговор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/</a:t>
            </a:r>
            <a:endParaRPr lang="bg-BG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суперскаларна архитектура?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/отговор/</a:t>
            </a:r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92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Източници: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Тетрадка по Компютърни архитектури (11 клас)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www.shtrakov.net/Phys_CPU_Arch/Lect_06.pdf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en.wikipedia.org/wiki/List_of_AMD_processors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en.wikipedia.org/wiki/List_of_Intel_processors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Снимки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29105" y="6176963"/>
            <a:ext cx="3283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Антон Попов, №2, 12“г“ клас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122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1216</Words>
  <Application>Microsoft Office PowerPoint</Application>
  <PresentationFormat>Widescreen</PresentationFormat>
  <Paragraphs>225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Микропроцесори – история, характеристики. 32-битови процесори</vt:lpstr>
      <vt:lpstr>Съдържание:</vt:lpstr>
      <vt:lpstr>История на Intel микропроцесори</vt:lpstr>
      <vt:lpstr>История на AMD микропроцесори</vt:lpstr>
      <vt:lpstr>Общи особености на 32-битовите процесори</vt:lpstr>
      <vt:lpstr>Общи особености на 32-битовите процесори</vt:lpstr>
      <vt:lpstr>RISC и CISC микроархитектури</vt:lpstr>
      <vt:lpstr>Харвардска и Фоннойманова архитектура</vt:lpstr>
      <vt:lpstr>Процесор i80386</vt:lpstr>
      <vt:lpstr>Процесор i80486</vt:lpstr>
      <vt:lpstr>Процесори Pentium и Pentium MMX</vt:lpstr>
      <vt:lpstr>Процесор Pentium Pro</vt:lpstr>
      <vt:lpstr>Процесор Pentium II</vt:lpstr>
      <vt:lpstr>Процесор Celeron</vt:lpstr>
      <vt:lpstr>Процесор Pentium III</vt:lpstr>
      <vt:lpstr>Процесори Pentium IV и Pentium IV Extreme Edition</vt:lpstr>
      <vt:lpstr>Процесор AMD K5</vt:lpstr>
      <vt:lpstr>Процесор AMD K6</vt:lpstr>
      <vt:lpstr>Процесор AMD Athlon</vt:lpstr>
      <vt:lpstr>Процесор AMD Duron</vt:lpstr>
      <vt:lpstr>Процесор Cyrix 6x86</vt:lpstr>
      <vt:lpstr>Въпроси:</vt:lpstr>
      <vt:lpstr>Източници: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Микропроцесори – история, характеристики. 32-битови процесори</dc:title>
  <dc:creator>Toni</dc:creator>
  <cp:lastModifiedBy>Toni</cp:lastModifiedBy>
  <cp:revision>135</cp:revision>
  <dcterms:created xsi:type="dcterms:W3CDTF">2022-10-24T17:09:42Z</dcterms:created>
  <dcterms:modified xsi:type="dcterms:W3CDTF">2022-12-15T18:00:11Z</dcterms:modified>
</cp:coreProperties>
</file>