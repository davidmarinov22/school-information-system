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93" r:id="rId4"/>
    <p:sldId id="257" r:id="rId5"/>
    <p:sldId id="258" r:id="rId6"/>
    <p:sldId id="268" r:id="rId7"/>
    <p:sldId id="269" r:id="rId8"/>
    <p:sldId id="270" r:id="rId9"/>
    <p:sldId id="271" r:id="rId10"/>
    <p:sldId id="289" r:id="rId11"/>
    <p:sldId id="274" r:id="rId12"/>
    <p:sldId id="290" r:id="rId13"/>
    <p:sldId id="275" r:id="rId14"/>
    <p:sldId id="276" r:id="rId15"/>
    <p:sldId id="277" r:id="rId16"/>
    <p:sldId id="288" r:id="rId17"/>
    <p:sldId id="278" r:id="rId18"/>
    <p:sldId id="280" r:id="rId19"/>
    <p:sldId id="281" r:id="rId20"/>
    <p:sldId id="282" r:id="rId21"/>
    <p:sldId id="283" r:id="rId22"/>
    <p:sldId id="287" r:id="rId23"/>
    <p:sldId id="285" r:id="rId24"/>
    <p:sldId id="284" r:id="rId25"/>
    <p:sldId id="291" r:id="rId26"/>
    <p:sldId id="29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AD3C5-AC82-97D2-83A9-4373AA6E04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AC7B5DB-83A9-A66B-82E9-C195AC6469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D706AFA-E2A6-CB61-59A8-09B138B69D21}"/>
              </a:ext>
            </a:extLst>
          </p:cNvPr>
          <p:cNvSpPr>
            <a:spLocks noGrp="1"/>
          </p:cNvSpPr>
          <p:nvPr>
            <p:ph type="dt" sz="half" idx="10"/>
          </p:nvPr>
        </p:nvSpPr>
        <p:spPr/>
        <p:txBody>
          <a:bodyPr/>
          <a:lstStyle/>
          <a:p>
            <a:fld id="{74B39436-6C22-4B86-B47D-EC6B90285FD0}" type="datetimeFigureOut">
              <a:rPr lang="en-GB" smtClean="0"/>
              <a:t>05/12/2022</a:t>
            </a:fld>
            <a:endParaRPr lang="en-GB"/>
          </a:p>
        </p:txBody>
      </p:sp>
      <p:sp>
        <p:nvSpPr>
          <p:cNvPr id="5" name="Footer Placeholder 4">
            <a:extLst>
              <a:ext uri="{FF2B5EF4-FFF2-40B4-BE49-F238E27FC236}">
                <a16:creationId xmlns:a16="http://schemas.microsoft.com/office/drawing/2014/main" id="{960C18BB-EF17-84CF-0653-50976C9975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FB14845-F43D-2137-12F6-029D4C24F690}"/>
              </a:ext>
            </a:extLst>
          </p:cNvPr>
          <p:cNvSpPr>
            <a:spLocks noGrp="1"/>
          </p:cNvSpPr>
          <p:nvPr>
            <p:ph type="sldNum" sz="quarter" idx="12"/>
          </p:nvPr>
        </p:nvSpPr>
        <p:spPr/>
        <p:txBody>
          <a:bodyPr/>
          <a:lstStyle/>
          <a:p>
            <a:fld id="{3A599664-89A2-4526-9500-5D3B5B332CC7}" type="slidenum">
              <a:rPr lang="en-GB" smtClean="0"/>
              <a:t>‹#›</a:t>
            </a:fld>
            <a:endParaRPr lang="en-GB"/>
          </a:p>
        </p:txBody>
      </p:sp>
    </p:spTree>
    <p:extLst>
      <p:ext uri="{BB962C8B-B14F-4D97-AF65-F5344CB8AC3E}">
        <p14:creationId xmlns:p14="http://schemas.microsoft.com/office/powerpoint/2010/main" val="90891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6871D-2778-1081-2199-3001D7A46C4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55C28A5-3AB0-FFCA-C095-3E0F674E16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F0D2627-9EF3-84F0-484A-9D74E4EBE433}"/>
              </a:ext>
            </a:extLst>
          </p:cNvPr>
          <p:cNvSpPr>
            <a:spLocks noGrp="1"/>
          </p:cNvSpPr>
          <p:nvPr>
            <p:ph type="dt" sz="half" idx="10"/>
          </p:nvPr>
        </p:nvSpPr>
        <p:spPr/>
        <p:txBody>
          <a:bodyPr/>
          <a:lstStyle/>
          <a:p>
            <a:fld id="{74B39436-6C22-4B86-B47D-EC6B90285FD0}" type="datetimeFigureOut">
              <a:rPr lang="en-GB" smtClean="0"/>
              <a:t>05/12/2022</a:t>
            </a:fld>
            <a:endParaRPr lang="en-GB"/>
          </a:p>
        </p:txBody>
      </p:sp>
      <p:sp>
        <p:nvSpPr>
          <p:cNvPr id="5" name="Footer Placeholder 4">
            <a:extLst>
              <a:ext uri="{FF2B5EF4-FFF2-40B4-BE49-F238E27FC236}">
                <a16:creationId xmlns:a16="http://schemas.microsoft.com/office/drawing/2014/main" id="{F2CD7276-6867-B5E9-518B-3F84706B6C3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BFEEF20-8DAF-EFE1-949E-2051E99C0ACB}"/>
              </a:ext>
            </a:extLst>
          </p:cNvPr>
          <p:cNvSpPr>
            <a:spLocks noGrp="1"/>
          </p:cNvSpPr>
          <p:nvPr>
            <p:ph type="sldNum" sz="quarter" idx="12"/>
          </p:nvPr>
        </p:nvSpPr>
        <p:spPr/>
        <p:txBody>
          <a:bodyPr/>
          <a:lstStyle/>
          <a:p>
            <a:fld id="{3A599664-89A2-4526-9500-5D3B5B332CC7}" type="slidenum">
              <a:rPr lang="en-GB" smtClean="0"/>
              <a:t>‹#›</a:t>
            </a:fld>
            <a:endParaRPr lang="en-GB"/>
          </a:p>
        </p:txBody>
      </p:sp>
    </p:spTree>
    <p:extLst>
      <p:ext uri="{BB962C8B-B14F-4D97-AF65-F5344CB8AC3E}">
        <p14:creationId xmlns:p14="http://schemas.microsoft.com/office/powerpoint/2010/main" val="3719420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67A4F-97E7-C666-AE53-199DD32961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7C71372-F56D-E5EC-8360-9D7C98B644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9B0AB1-1F10-9A40-1E2D-72656F8406B6}"/>
              </a:ext>
            </a:extLst>
          </p:cNvPr>
          <p:cNvSpPr>
            <a:spLocks noGrp="1"/>
          </p:cNvSpPr>
          <p:nvPr>
            <p:ph type="dt" sz="half" idx="10"/>
          </p:nvPr>
        </p:nvSpPr>
        <p:spPr/>
        <p:txBody>
          <a:bodyPr/>
          <a:lstStyle/>
          <a:p>
            <a:fld id="{74B39436-6C22-4B86-B47D-EC6B90285FD0}" type="datetimeFigureOut">
              <a:rPr lang="en-GB" smtClean="0"/>
              <a:t>05/12/2022</a:t>
            </a:fld>
            <a:endParaRPr lang="en-GB"/>
          </a:p>
        </p:txBody>
      </p:sp>
      <p:sp>
        <p:nvSpPr>
          <p:cNvPr id="5" name="Footer Placeholder 4">
            <a:extLst>
              <a:ext uri="{FF2B5EF4-FFF2-40B4-BE49-F238E27FC236}">
                <a16:creationId xmlns:a16="http://schemas.microsoft.com/office/drawing/2014/main" id="{AE3A4E48-D95B-0A19-C6D2-25F900D4D52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E8291D-B473-6040-794B-5C0098FB9FD6}"/>
              </a:ext>
            </a:extLst>
          </p:cNvPr>
          <p:cNvSpPr>
            <a:spLocks noGrp="1"/>
          </p:cNvSpPr>
          <p:nvPr>
            <p:ph type="sldNum" sz="quarter" idx="12"/>
          </p:nvPr>
        </p:nvSpPr>
        <p:spPr/>
        <p:txBody>
          <a:bodyPr/>
          <a:lstStyle/>
          <a:p>
            <a:fld id="{3A599664-89A2-4526-9500-5D3B5B332CC7}" type="slidenum">
              <a:rPr lang="en-GB" smtClean="0"/>
              <a:t>‹#›</a:t>
            </a:fld>
            <a:endParaRPr lang="en-GB"/>
          </a:p>
        </p:txBody>
      </p:sp>
    </p:spTree>
    <p:extLst>
      <p:ext uri="{BB962C8B-B14F-4D97-AF65-F5344CB8AC3E}">
        <p14:creationId xmlns:p14="http://schemas.microsoft.com/office/powerpoint/2010/main" val="1496117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F8F3D-B32D-4581-E031-0284B38DC6F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B94FA6D-A135-0ABD-737F-D2A33F9348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5587660-9670-ADA2-D127-6B2AABB33F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4679ADF-06FF-7099-7608-2AE3C424019D}"/>
              </a:ext>
            </a:extLst>
          </p:cNvPr>
          <p:cNvSpPr>
            <a:spLocks noGrp="1"/>
          </p:cNvSpPr>
          <p:nvPr>
            <p:ph type="dt" sz="half" idx="10"/>
          </p:nvPr>
        </p:nvSpPr>
        <p:spPr/>
        <p:txBody>
          <a:bodyPr/>
          <a:lstStyle/>
          <a:p>
            <a:fld id="{74B39436-6C22-4B86-B47D-EC6B90285FD0}" type="datetimeFigureOut">
              <a:rPr lang="en-GB" smtClean="0"/>
              <a:t>05/12/2022</a:t>
            </a:fld>
            <a:endParaRPr lang="en-GB"/>
          </a:p>
        </p:txBody>
      </p:sp>
      <p:sp>
        <p:nvSpPr>
          <p:cNvPr id="6" name="Footer Placeholder 5">
            <a:extLst>
              <a:ext uri="{FF2B5EF4-FFF2-40B4-BE49-F238E27FC236}">
                <a16:creationId xmlns:a16="http://schemas.microsoft.com/office/drawing/2014/main" id="{80BB85C6-E8E1-A906-7ADC-86FAF656CD8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FC18026-7D79-D18D-D7DE-83BF742D178D}"/>
              </a:ext>
            </a:extLst>
          </p:cNvPr>
          <p:cNvSpPr>
            <a:spLocks noGrp="1"/>
          </p:cNvSpPr>
          <p:nvPr>
            <p:ph type="sldNum" sz="quarter" idx="12"/>
          </p:nvPr>
        </p:nvSpPr>
        <p:spPr/>
        <p:txBody>
          <a:bodyPr/>
          <a:lstStyle/>
          <a:p>
            <a:fld id="{3A599664-89A2-4526-9500-5D3B5B332CC7}" type="slidenum">
              <a:rPr lang="en-GB" smtClean="0"/>
              <a:t>‹#›</a:t>
            </a:fld>
            <a:endParaRPr lang="en-GB"/>
          </a:p>
        </p:txBody>
      </p:sp>
    </p:spTree>
    <p:extLst>
      <p:ext uri="{BB962C8B-B14F-4D97-AF65-F5344CB8AC3E}">
        <p14:creationId xmlns:p14="http://schemas.microsoft.com/office/powerpoint/2010/main" val="18361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45F6C-A880-877A-6C40-A09A3D8CEDC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C677144-B210-D856-9466-FE32B0B18C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35C855-F473-EF4C-7BEF-A20E44CABE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2B9B228-42FA-0EE8-6683-F45200CEA5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A8887E-38A4-545D-C2E2-2B4600B91A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F21ED95-9DC3-61C2-B834-1CE299DDD897}"/>
              </a:ext>
            </a:extLst>
          </p:cNvPr>
          <p:cNvSpPr>
            <a:spLocks noGrp="1"/>
          </p:cNvSpPr>
          <p:nvPr>
            <p:ph type="dt" sz="half" idx="10"/>
          </p:nvPr>
        </p:nvSpPr>
        <p:spPr/>
        <p:txBody>
          <a:bodyPr/>
          <a:lstStyle/>
          <a:p>
            <a:fld id="{74B39436-6C22-4B86-B47D-EC6B90285FD0}" type="datetimeFigureOut">
              <a:rPr lang="en-GB" smtClean="0"/>
              <a:t>05/12/2022</a:t>
            </a:fld>
            <a:endParaRPr lang="en-GB"/>
          </a:p>
        </p:txBody>
      </p:sp>
      <p:sp>
        <p:nvSpPr>
          <p:cNvPr id="8" name="Footer Placeholder 7">
            <a:extLst>
              <a:ext uri="{FF2B5EF4-FFF2-40B4-BE49-F238E27FC236}">
                <a16:creationId xmlns:a16="http://schemas.microsoft.com/office/drawing/2014/main" id="{4F478A91-F00B-4F71-CEFF-666AE1C334D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13C19C9-0692-DB5E-2DE7-A412CEC68F4C}"/>
              </a:ext>
            </a:extLst>
          </p:cNvPr>
          <p:cNvSpPr>
            <a:spLocks noGrp="1"/>
          </p:cNvSpPr>
          <p:nvPr>
            <p:ph type="sldNum" sz="quarter" idx="12"/>
          </p:nvPr>
        </p:nvSpPr>
        <p:spPr/>
        <p:txBody>
          <a:bodyPr/>
          <a:lstStyle/>
          <a:p>
            <a:fld id="{3A599664-89A2-4526-9500-5D3B5B332CC7}" type="slidenum">
              <a:rPr lang="en-GB" smtClean="0"/>
              <a:t>‹#›</a:t>
            </a:fld>
            <a:endParaRPr lang="en-GB"/>
          </a:p>
        </p:txBody>
      </p:sp>
    </p:spTree>
    <p:extLst>
      <p:ext uri="{BB962C8B-B14F-4D97-AF65-F5344CB8AC3E}">
        <p14:creationId xmlns:p14="http://schemas.microsoft.com/office/powerpoint/2010/main" val="2665381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30516-CB3C-A8AF-43A9-F8F59743627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99B49AC-3B2B-AEC4-DBCA-EB61B985F6C2}"/>
              </a:ext>
            </a:extLst>
          </p:cNvPr>
          <p:cNvSpPr>
            <a:spLocks noGrp="1"/>
          </p:cNvSpPr>
          <p:nvPr>
            <p:ph type="dt" sz="half" idx="10"/>
          </p:nvPr>
        </p:nvSpPr>
        <p:spPr/>
        <p:txBody>
          <a:bodyPr/>
          <a:lstStyle/>
          <a:p>
            <a:fld id="{74B39436-6C22-4B86-B47D-EC6B90285FD0}" type="datetimeFigureOut">
              <a:rPr lang="en-GB" smtClean="0"/>
              <a:t>05/12/2022</a:t>
            </a:fld>
            <a:endParaRPr lang="en-GB"/>
          </a:p>
        </p:txBody>
      </p:sp>
      <p:sp>
        <p:nvSpPr>
          <p:cNvPr id="4" name="Footer Placeholder 3">
            <a:extLst>
              <a:ext uri="{FF2B5EF4-FFF2-40B4-BE49-F238E27FC236}">
                <a16:creationId xmlns:a16="http://schemas.microsoft.com/office/drawing/2014/main" id="{E0FC38BC-E8B2-1E35-6B71-C730A74370C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37B56CE-9497-6902-9983-E22144BBEF7D}"/>
              </a:ext>
            </a:extLst>
          </p:cNvPr>
          <p:cNvSpPr>
            <a:spLocks noGrp="1"/>
          </p:cNvSpPr>
          <p:nvPr>
            <p:ph type="sldNum" sz="quarter" idx="12"/>
          </p:nvPr>
        </p:nvSpPr>
        <p:spPr/>
        <p:txBody>
          <a:bodyPr/>
          <a:lstStyle/>
          <a:p>
            <a:fld id="{3A599664-89A2-4526-9500-5D3B5B332CC7}" type="slidenum">
              <a:rPr lang="en-GB" smtClean="0"/>
              <a:t>‹#›</a:t>
            </a:fld>
            <a:endParaRPr lang="en-GB"/>
          </a:p>
        </p:txBody>
      </p:sp>
    </p:spTree>
    <p:extLst>
      <p:ext uri="{BB962C8B-B14F-4D97-AF65-F5344CB8AC3E}">
        <p14:creationId xmlns:p14="http://schemas.microsoft.com/office/powerpoint/2010/main" val="3694382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B83E69-2955-28D0-B3E9-899347E81793}"/>
              </a:ext>
            </a:extLst>
          </p:cNvPr>
          <p:cNvSpPr>
            <a:spLocks noGrp="1"/>
          </p:cNvSpPr>
          <p:nvPr>
            <p:ph type="dt" sz="half" idx="10"/>
          </p:nvPr>
        </p:nvSpPr>
        <p:spPr/>
        <p:txBody>
          <a:bodyPr/>
          <a:lstStyle/>
          <a:p>
            <a:fld id="{74B39436-6C22-4B86-B47D-EC6B90285FD0}" type="datetimeFigureOut">
              <a:rPr lang="en-GB" smtClean="0"/>
              <a:t>05/12/2022</a:t>
            </a:fld>
            <a:endParaRPr lang="en-GB"/>
          </a:p>
        </p:txBody>
      </p:sp>
      <p:sp>
        <p:nvSpPr>
          <p:cNvPr id="3" name="Footer Placeholder 2">
            <a:extLst>
              <a:ext uri="{FF2B5EF4-FFF2-40B4-BE49-F238E27FC236}">
                <a16:creationId xmlns:a16="http://schemas.microsoft.com/office/drawing/2014/main" id="{33C54248-8325-9F9E-2BE0-434025C4053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67093EF-F3F9-1096-DB15-4551BA8C842D}"/>
              </a:ext>
            </a:extLst>
          </p:cNvPr>
          <p:cNvSpPr>
            <a:spLocks noGrp="1"/>
          </p:cNvSpPr>
          <p:nvPr>
            <p:ph type="sldNum" sz="quarter" idx="12"/>
          </p:nvPr>
        </p:nvSpPr>
        <p:spPr/>
        <p:txBody>
          <a:bodyPr/>
          <a:lstStyle/>
          <a:p>
            <a:fld id="{3A599664-89A2-4526-9500-5D3B5B332CC7}" type="slidenum">
              <a:rPr lang="en-GB" smtClean="0"/>
              <a:t>‹#›</a:t>
            </a:fld>
            <a:endParaRPr lang="en-GB"/>
          </a:p>
        </p:txBody>
      </p:sp>
    </p:spTree>
    <p:extLst>
      <p:ext uri="{BB962C8B-B14F-4D97-AF65-F5344CB8AC3E}">
        <p14:creationId xmlns:p14="http://schemas.microsoft.com/office/powerpoint/2010/main" val="37089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EF65F-E239-203E-E916-D498B20BE7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11DA3E0-B22C-F990-9C55-DC2AE6E52E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B3F1C11-A94D-D55E-BBC6-7007250B7F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B18CCC-C236-B265-A6C7-F244ED702ED5}"/>
              </a:ext>
            </a:extLst>
          </p:cNvPr>
          <p:cNvSpPr>
            <a:spLocks noGrp="1"/>
          </p:cNvSpPr>
          <p:nvPr>
            <p:ph type="dt" sz="half" idx="10"/>
          </p:nvPr>
        </p:nvSpPr>
        <p:spPr/>
        <p:txBody>
          <a:bodyPr/>
          <a:lstStyle/>
          <a:p>
            <a:fld id="{74B39436-6C22-4B86-B47D-EC6B90285FD0}" type="datetimeFigureOut">
              <a:rPr lang="en-GB" smtClean="0"/>
              <a:t>05/12/2022</a:t>
            </a:fld>
            <a:endParaRPr lang="en-GB"/>
          </a:p>
        </p:txBody>
      </p:sp>
      <p:sp>
        <p:nvSpPr>
          <p:cNvPr id="6" name="Footer Placeholder 5">
            <a:extLst>
              <a:ext uri="{FF2B5EF4-FFF2-40B4-BE49-F238E27FC236}">
                <a16:creationId xmlns:a16="http://schemas.microsoft.com/office/drawing/2014/main" id="{C6FB793C-6BDB-BDA4-4996-2F0B0103C97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CF89525-8F60-B3FF-88E4-6954166ADAF4}"/>
              </a:ext>
            </a:extLst>
          </p:cNvPr>
          <p:cNvSpPr>
            <a:spLocks noGrp="1"/>
          </p:cNvSpPr>
          <p:nvPr>
            <p:ph type="sldNum" sz="quarter" idx="12"/>
          </p:nvPr>
        </p:nvSpPr>
        <p:spPr/>
        <p:txBody>
          <a:bodyPr/>
          <a:lstStyle/>
          <a:p>
            <a:fld id="{3A599664-89A2-4526-9500-5D3B5B332CC7}" type="slidenum">
              <a:rPr lang="en-GB" smtClean="0"/>
              <a:t>‹#›</a:t>
            </a:fld>
            <a:endParaRPr lang="en-GB"/>
          </a:p>
        </p:txBody>
      </p:sp>
    </p:spTree>
    <p:extLst>
      <p:ext uri="{BB962C8B-B14F-4D97-AF65-F5344CB8AC3E}">
        <p14:creationId xmlns:p14="http://schemas.microsoft.com/office/powerpoint/2010/main" val="396819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ADBF0-E37E-5662-1EAB-B21E86BD56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402A8A4-8B21-8DEB-E267-881F3DEA4C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DDC7881-6539-F943-2549-27886AEA17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EA8F31-662E-83D2-C325-EA81BE338738}"/>
              </a:ext>
            </a:extLst>
          </p:cNvPr>
          <p:cNvSpPr>
            <a:spLocks noGrp="1"/>
          </p:cNvSpPr>
          <p:nvPr>
            <p:ph type="dt" sz="half" idx="10"/>
          </p:nvPr>
        </p:nvSpPr>
        <p:spPr/>
        <p:txBody>
          <a:bodyPr/>
          <a:lstStyle/>
          <a:p>
            <a:fld id="{74B39436-6C22-4B86-B47D-EC6B90285FD0}" type="datetimeFigureOut">
              <a:rPr lang="en-GB" smtClean="0"/>
              <a:t>05/12/2022</a:t>
            </a:fld>
            <a:endParaRPr lang="en-GB"/>
          </a:p>
        </p:txBody>
      </p:sp>
      <p:sp>
        <p:nvSpPr>
          <p:cNvPr id="6" name="Footer Placeholder 5">
            <a:extLst>
              <a:ext uri="{FF2B5EF4-FFF2-40B4-BE49-F238E27FC236}">
                <a16:creationId xmlns:a16="http://schemas.microsoft.com/office/drawing/2014/main" id="{5B5CE70A-E6A3-3AA3-A9DF-90A1758BF26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12DAF03-169A-7617-FC99-4596229CB0F5}"/>
              </a:ext>
            </a:extLst>
          </p:cNvPr>
          <p:cNvSpPr>
            <a:spLocks noGrp="1"/>
          </p:cNvSpPr>
          <p:nvPr>
            <p:ph type="sldNum" sz="quarter" idx="12"/>
          </p:nvPr>
        </p:nvSpPr>
        <p:spPr/>
        <p:txBody>
          <a:bodyPr/>
          <a:lstStyle/>
          <a:p>
            <a:fld id="{3A599664-89A2-4526-9500-5D3B5B332CC7}" type="slidenum">
              <a:rPr lang="en-GB" smtClean="0"/>
              <a:t>‹#›</a:t>
            </a:fld>
            <a:endParaRPr lang="en-GB"/>
          </a:p>
        </p:txBody>
      </p:sp>
    </p:spTree>
    <p:extLst>
      <p:ext uri="{BB962C8B-B14F-4D97-AF65-F5344CB8AC3E}">
        <p14:creationId xmlns:p14="http://schemas.microsoft.com/office/powerpoint/2010/main" val="627052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E875-9E10-2799-6CAB-10D3132B203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418017C-82FB-48B6-F6DA-96AFE21EE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E5BB8F-926D-B449-439D-63E02674ADD4}"/>
              </a:ext>
            </a:extLst>
          </p:cNvPr>
          <p:cNvSpPr>
            <a:spLocks noGrp="1"/>
          </p:cNvSpPr>
          <p:nvPr>
            <p:ph type="dt" sz="half" idx="10"/>
          </p:nvPr>
        </p:nvSpPr>
        <p:spPr/>
        <p:txBody>
          <a:bodyPr/>
          <a:lstStyle/>
          <a:p>
            <a:fld id="{74B39436-6C22-4B86-B47D-EC6B90285FD0}" type="datetimeFigureOut">
              <a:rPr lang="en-GB" smtClean="0"/>
              <a:t>05/12/2022</a:t>
            </a:fld>
            <a:endParaRPr lang="en-GB"/>
          </a:p>
        </p:txBody>
      </p:sp>
      <p:sp>
        <p:nvSpPr>
          <p:cNvPr id="5" name="Footer Placeholder 4">
            <a:extLst>
              <a:ext uri="{FF2B5EF4-FFF2-40B4-BE49-F238E27FC236}">
                <a16:creationId xmlns:a16="http://schemas.microsoft.com/office/drawing/2014/main" id="{113890E0-6385-2B8E-93D4-DAA99BC718C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4A8101-9D4C-A925-1397-9BA246B35A76}"/>
              </a:ext>
            </a:extLst>
          </p:cNvPr>
          <p:cNvSpPr>
            <a:spLocks noGrp="1"/>
          </p:cNvSpPr>
          <p:nvPr>
            <p:ph type="sldNum" sz="quarter" idx="12"/>
          </p:nvPr>
        </p:nvSpPr>
        <p:spPr/>
        <p:txBody>
          <a:bodyPr/>
          <a:lstStyle/>
          <a:p>
            <a:fld id="{3A599664-89A2-4526-9500-5D3B5B332CC7}" type="slidenum">
              <a:rPr lang="en-GB" smtClean="0"/>
              <a:t>‹#›</a:t>
            </a:fld>
            <a:endParaRPr lang="en-GB"/>
          </a:p>
        </p:txBody>
      </p:sp>
    </p:spTree>
    <p:extLst>
      <p:ext uri="{BB962C8B-B14F-4D97-AF65-F5344CB8AC3E}">
        <p14:creationId xmlns:p14="http://schemas.microsoft.com/office/powerpoint/2010/main" val="480319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B214D1-4716-7474-ED26-2C07A670DC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D641100-BFF3-0698-B31A-7EBD62161F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8D99BBA-EF97-4D6B-8329-7FB964E1F450}"/>
              </a:ext>
            </a:extLst>
          </p:cNvPr>
          <p:cNvSpPr>
            <a:spLocks noGrp="1"/>
          </p:cNvSpPr>
          <p:nvPr>
            <p:ph type="dt" sz="half" idx="10"/>
          </p:nvPr>
        </p:nvSpPr>
        <p:spPr/>
        <p:txBody>
          <a:bodyPr/>
          <a:lstStyle/>
          <a:p>
            <a:fld id="{74B39436-6C22-4B86-B47D-EC6B90285FD0}" type="datetimeFigureOut">
              <a:rPr lang="en-GB" smtClean="0"/>
              <a:t>05/12/2022</a:t>
            </a:fld>
            <a:endParaRPr lang="en-GB"/>
          </a:p>
        </p:txBody>
      </p:sp>
      <p:sp>
        <p:nvSpPr>
          <p:cNvPr id="5" name="Footer Placeholder 4">
            <a:extLst>
              <a:ext uri="{FF2B5EF4-FFF2-40B4-BE49-F238E27FC236}">
                <a16:creationId xmlns:a16="http://schemas.microsoft.com/office/drawing/2014/main" id="{4BCB39CE-68FB-B2E6-0933-F058E61E6F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FBC5E78-49C6-A593-D69F-F01F69D03922}"/>
              </a:ext>
            </a:extLst>
          </p:cNvPr>
          <p:cNvSpPr>
            <a:spLocks noGrp="1"/>
          </p:cNvSpPr>
          <p:nvPr>
            <p:ph type="sldNum" sz="quarter" idx="12"/>
          </p:nvPr>
        </p:nvSpPr>
        <p:spPr/>
        <p:txBody>
          <a:bodyPr/>
          <a:lstStyle/>
          <a:p>
            <a:fld id="{3A599664-89A2-4526-9500-5D3B5B332CC7}" type="slidenum">
              <a:rPr lang="en-GB" smtClean="0"/>
              <a:t>‹#›</a:t>
            </a:fld>
            <a:endParaRPr lang="en-GB"/>
          </a:p>
        </p:txBody>
      </p:sp>
    </p:spTree>
    <p:extLst>
      <p:ext uri="{BB962C8B-B14F-4D97-AF65-F5344CB8AC3E}">
        <p14:creationId xmlns:p14="http://schemas.microsoft.com/office/powerpoint/2010/main" val="2255733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B0D32F-AB9B-7ABA-B3AE-DF004BD6CB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EF7315D-486B-F78A-3B44-46E2531C70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E34BAFD-0C10-883E-0567-012719B86F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B39436-6C22-4B86-B47D-EC6B90285FD0}" type="datetimeFigureOut">
              <a:rPr lang="en-GB" smtClean="0"/>
              <a:t>05/12/2022</a:t>
            </a:fld>
            <a:endParaRPr lang="en-GB"/>
          </a:p>
        </p:txBody>
      </p:sp>
      <p:sp>
        <p:nvSpPr>
          <p:cNvPr id="5" name="Footer Placeholder 4">
            <a:extLst>
              <a:ext uri="{FF2B5EF4-FFF2-40B4-BE49-F238E27FC236}">
                <a16:creationId xmlns:a16="http://schemas.microsoft.com/office/drawing/2014/main" id="{D1B224C9-02EA-765D-3F88-AC46F6FD02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5F98D38-D9CF-CC9E-134D-EBBE39B8BE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599664-89A2-4526-9500-5D3B5B332CC7}" type="slidenum">
              <a:rPr lang="en-GB" smtClean="0"/>
              <a:t>‹#›</a:t>
            </a:fld>
            <a:endParaRPr lang="en-GB"/>
          </a:p>
        </p:txBody>
      </p:sp>
    </p:spTree>
    <p:extLst>
      <p:ext uri="{BB962C8B-B14F-4D97-AF65-F5344CB8AC3E}">
        <p14:creationId xmlns:p14="http://schemas.microsoft.com/office/powerpoint/2010/main" val="5769534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4.xml"/><Relationship Id="rId13" Type="http://schemas.openxmlformats.org/officeDocument/2006/relationships/slide" Target="slide25.xml"/><Relationship Id="rId3" Type="http://schemas.openxmlformats.org/officeDocument/2006/relationships/slide" Target="slide3.xml"/><Relationship Id="rId7" Type="http://schemas.openxmlformats.org/officeDocument/2006/relationships/slide" Target="slide13.xml"/><Relationship Id="rId12" Type="http://schemas.openxmlformats.org/officeDocument/2006/relationships/slide" Target="slide24.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 Target="slide9.xml"/><Relationship Id="rId11" Type="http://schemas.openxmlformats.org/officeDocument/2006/relationships/slide" Target="slide21.xml"/><Relationship Id="rId5" Type="http://schemas.openxmlformats.org/officeDocument/2006/relationships/slide" Target="slide7.xml"/><Relationship Id="rId10" Type="http://schemas.openxmlformats.org/officeDocument/2006/relationships/slide" Target="slide19.xml"/><Relationship Id="rId4" Type="http://schemas.openxmlformats.org/officeDocument/2006/relationships/slide" Target="slide6.xml"/><Relationship Id="rId9" Type="http://schemas.openxmlformats.org/officeDocument/2006/relationships/slide" Target="slide1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5.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8.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5.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8.xml"/><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8.xml"/><Relationship Id="rId4" Type="http://schemas.microsoft.com/office/2007/relationships/hdphoto" Target="../media/hdphoto3.wdp"/></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4.png"/><Relationship Id="rId5" Type="http://schemas.openxmlformats.org/officeDocument/2006/relationships/slide" Target="slide25.xml"/><Relationship Id="rId4" Type="http://schemas.microsoft.com/office/2007/relationships/hdphoto" Target="../media/hdphoto4.wdp"/></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8.xml"/><Relationship Id="rId4" Type="http://schemas.microsoft.com/office/2007/relationships/hdphoto" Target="../media/hdphoto5.wdp"/></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slide" Target="slide17.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slide" Target="slide3.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82590A9-A55F-EA82-64B6-6CACD4E9E608}"/>
              </a:ext>
            </a:extLst>
          </p:cNvPr>
          <p:cNvPicPr>
            <a:picLocks noChangeAspect="1"/>
          </p:cNvPicPr>
          <p:nvPr/>
        </p:nvPicPr>
        <p:blipFill>
          <a:blip r:embed="rId2"/>
          <a:stretch>
            <a:fillRect/>
          </a:stretch>
        </p:blipFill>
        <p:spPr>
          <a:xfrm>
            <a:off x="0" y="-1"/>
            <a:ext cx="12192000" cy="6858000"/>
          </a:xfrm>
          <a:prstGeom prst="rect">
            <a:avLst/>
          </a:prstGeom>
        </p:spPr>
      </p:pic>
      <p:sp>
        <p:nvSpPr>
          <p:cNvPr id="2" name="Title 1">
            <a:extLst>
              <a:ext uri="{FF2B5EF4-FFF2-40B4-BE49-F238E27FC236}">
                <a16:creationId xmlns:a16="http://schemas.microsoft.com/office/drawing/2014/main" id="{E6A9DE66-440B-899A-66EB-7B3C23C0C05A}"/>
              </a:ext>
            </a:extLst>
          </p:cNvPr>
          <p:cNvSpPr>
            <a:spLocks noGrp="1"/>
          </p:cNvSpPr>
          <p:nvPr>
            <p:ph type="ctrTitle"/>
          </p:nvPr>
        </p:nvSpPr>
        <p:spPr>
          <a:xfrm>
            <a:off x="-342900" y="2366962"/>
            <a:ext cx="6019800" cy="2124075"/>
          </a:xfrm>
        </p:spPr>
        <p:txBody>
          <a:bodyPr/>
          <a:lstStyle/>
          <a:p>
            <a:r>
              <a:rPr lang="bg-BG" dirty="0">
                <a:solidFill>
                  <a:schemeClr val="bg1"/>
                </a:solidFill>
                <a:latin typeface="Times New Roman" panose="02020603050405020304" pitchFamily="18" charset="0"/>
                <a:cs typeface="Times New Roman" panose="02020603050405020304" pitchFamily="18" charset="0"/>
              </a:rPr>
              <a:t>Рам памети</a:t>
            </a:r>
            <a:endParaRPr lang="en-GB"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384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180E3FB-B283-DCA5-55B6-0CC645047633}"/>
              </a:ext>
            </a:extLst>
          </p:cNvPr>
          <p:cNvPicPr>
            <a:picLocks noChangeAspect="1"/>
          </p:cNvPicPr>
          <p:nvPr/>
        </p:nvPicPr>
        <p:blipFill>
          <a:blip r:embed="rId2"/>
          <a:stretch>
            <a:fillRect/>
          </a:stretch>
        </p:blipFill>
        <p:spPr>
          <a:xfrm>
            <a:off x="-1" y="1"/>
            <a:ext cx="12192001" cy="6857999"/>
          </a:xfrm>
          <a:prstGeom prst="rect">
            <a:avLst/>
          </a:prstGeom>
        </p:spPr>
      </p:pic>
      <p:sp>
        <p:nvSpPr>
          <p:cNvPr id="2" name="Title 1">
            <a:extLst>
              <a:ext uri="{FF2B5EF4-FFF2-40B4-BE49-F238E27FC236}">
                <a16:creationId xmlns:a16="http://schemas.microsoft.com/office/drawing/2014/main" id="{0029FDD2-AF6F-61CB-5184-3F0C88CA914F}"/>
              </a:ext>
            </a:extLst>
          </p:cNvPr>
          <p:cNvSpPr>
            <a:spLocks noGrp="1"/>
          </p:cNvSpPr>
          <p:nvPr>
            <p:ph type="ctrTitle"/>
          </p:nvPr>
        </p:nvSpPr>
        <p:spPr>
          <a:xfrm>
            <a:off x="1524000" y="264203"/>
            <a:ext cx="9144000" cy="1237280"/>
          </a:xfrm>
        </p:spPr>
        <p:txBody>
          <a:bodyPr>
            <a:normAutofit/>
          </a:bodyPr>
          <a:lstStyle/>
          <a:p>
            <a:r>
              <a:rPr lang="bg-BG" sz="4000" dirty="0">
                <a:solidFill>
                  <a:schemeClr val="bg1"/>
                </a:solidFill>
                <a:latin typeface="Times New Roman" panose="02020603050405020304" pitchFamily="18" charset="0"/>
                <a:cs typeface="Times New Roman" panose="02020603050405020304" pitchFamily="18" charset="0"/>
              </a:rPr>
              <a:t>Съдържание</a:t>
            </a:r>
            <a:endParaRPr lang="en-GB" sz="4800" dirty="0">
              <a:solidFill>
                <a:schemeClr val="bg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E28280D-08DA-6DEF-0CF5-5085FE50AE13}"/>
              </a:ext>
            </a:extLst>
          </p:cNvPr>
          <p:cNvSpPr>
            <a:spLocks noGrp="1"/>
          </p:cNvSpPr>
          <p:nvPr>
            <p:ph type="subTitle" idx="1"/>
          </p:nvPr>
        </p:nvSpPr>
        <p:spPr>
          <a:xfrm>
            <a:off x="581025" y="1590675"/>
            <a:ext cx="11468099" cy="5114925"/>
          </a:xfrm>
        </p:spPr>
        <p:txBody>
          <a:bodyPr/>
          <a:lstStyle/>
          <a:p>
            <a:pPr marL="342900" indent="-342900" algn="l">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val="tx"/>
                    </a:ext>
                  </a:extLst>
                </a:hlinkClick>
              </a:rPr>
              <a:t>O</a:t>
            </a:r>
            <a:r>
              <a:rPr lang="bg-BG" dirty="0">
                <a:solidFill>
                  <a:schemeClr val="bg1"/>
                </a:solidFill>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val="tx"/>
                    </a:ext>
                  </a:extLst>
                </a:hlinkClick>
              </a:rPr>
              <a:t>пределение</a:t>
            </a:r>
            <a:endParaRPr lang="bg-BG" dirty="0">
              <a:solidFill>
                <a:schemeClr val="bg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bg-BG" dirty="0">
                <a:solidFill>
                  <a:schemeClr val="bg1"/>
                </a:solidFill>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val="tx"/>
                    </a:ext>
                  </a:extLst>
                </a:hlinkClick>
              </a:rPr>
              <a:t>Въведение</a:t>
            </a:r>
            <a:endParaRPr lang="bg-BG" dirty="0">
              <a:solidFill>
                <a:schemeClr val="bg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bg-BG" dirty="0">
                <a:solidFill>
                  <a:schemeClr val="bg1"/>
                </a:solidFill>
                <a:latin typeface="Times New Roman" panose="02020603050405020304" pitchFamily="18" charset="0"/>
                <a:cs typeface="Times New Roman" panose="02020603050405020304" pitchFamily="18" charset="0"/>
                <a:hlinkClick r:id="rId5" action="ppaction://hlinksldjump">
                  <a:extLst>
                    <a:ext uri="{A12FA001-AC4F-418D-AE19-62706E023703}">
                      <ahyp:hlinkClr xmlns:ahyp="http://schemas.microsoft.com/office/drawing/2018/hyperlinkcolor" val="tx"/>
                    </a:ext>
                  </a:extLst>
                </a:hlinkClick>
              </a:rPr>
              <a:t>Достъп до </a:t>
            </a:r>
            <a:r>
              <a:rPr lang="en-US" dirty="0">
                <a:solidFill>
                  <a:schemeClr val="bg1"/>
                </a:solidFill>
                <a:latin typeface="Times New Roman" panose="02020603050405020304" pitchFamily="18" charset="0"/>
                <a:cs typeface="Times New Roman" panose="02020603050405020304" pitchFamily="18" charset="0"/>
                <a:hlinkClick r:id="rId5" action="ppaction://hlinksldjump">
                  <a:extLst>
                    <a:ext uri="{A12FA001-AC4F-418D-AE19-62706E023703}">
                      <ahyp:hlinkClr xmlns:ahyp="http://schemas.microsoft.com/office/drawing/2018/hyperlinkcolor" val="tx"/>
                    </a:ext>
                  </a:extLst>
                </a:hlinkClick>
              </a:rPr>
              <a:t>DRAM</a:t>
            </a:r>
            <a:endParaRPr lang="en-US" dirty="0">
              <a:solidFill>
                <a:schemeClr val="bg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bg-BG" dirty="0">
                <a:solidFill>
                  <a:schemeClr val="bg1"/>
                </a:solidFill>
                <a:latin typeface="Times New Roman" panose="02020603050405020304" pitchFamily="18" charset="0"/>
                <a:cs typeface="Times New Roman" panose="02020603050405020304" pitchFamily="18" charset="0"/>
                <a:hlinkClick r:id="rId6" action="ppaction://hlinksldjump">
                  <a:extLst>
                    <a:ext uri="{A12FA001-AC4F-418D-AE19-62706E023703}">
                      <ahyp:hlinkClr xmlns:ahyp="http://schemas.microsoft.com/office/drawing/2018/hyperlinkcolor" val="tx"/>
                    </a:ext>
                  </a:extLst>
                </a:hlinkClick>
              </a:rPr>
              <a:t>Видове </a:t>
            </a:r>
            <a:r>
              <a:rPr lang="en-US" dirty="0">
                <a:solidFill>
                  <a:schemeClr val="bg1"/>
                </a:solidFill>
                <a:latin typeface="Times New Roman" panose="02020603050405020304" pitchFamily="18" charset="0"/>
                <a:cs typeface="Times New Roman" panose="02020603050405020304" pitchFamily="18" charset="0"/>
                <a:hlinkClick r:id="rId6" action="ppaction://hlinksldjump">
                  <a:extLst>
                    <a:ext uri="{A12FA001-AC4F-418D-AE19-62706E023703}">
                      <ahyp:hlinkClr xmlns:ahyp="http://schemas.microsoft.com/office/drawing/2018/hyperlinkcolor" val="tx"/>
                    </a:ext>
                  </a:extLst>
                </a:hlinkClick>
              </a:rPr>
              <a:t>DRAM</a:t>
            </a:r>
            <a:endParaRPr lang="en-US" dirty="0">
              <a:solidFill>
                <a:schemeClr val="bg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GB" sz="2400" dirty="0">
                <a:solidFill>
                  <a:schemeClr val="bg1"/>
                </a:solidFill>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val="tx"/>
                    </a:ext>
                  </a:extLst>
                </a:hlinkClick>
              </a:rPr>
              <a:t>Single Data Rate (SDR) Synchronous DRAM (SDRAM)</a:t>
            </a:r>
            <a:endParaRPr lang="en-GB" sz="2400" dirty="0">
              <a:solidFill>
                <a:schemeClr val="bg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GB" dirty="0">
                <a:solidFill>
                  <a:schemeClr val="bg1"/>
                </a:solidFill>
                <a:latin typeface="Times New Roman" panose="02020603050405020304" pitchFamily="18" charset="0"/>
                <a:cs typeface="Times New Roman" panose="02020603050405020304" pitchFamily="18" charset="0"/>
                <a:hlinkClick r:id="rId8" action="ppaction://hlinksldjump">
                  <a:extLst>
                    <a:ext uri="{A12FA001-AC4F-418D-AE19-62706E023703}">
                      <ahyp:hlinkClr xmlns:ahyp="http://schemas.microsoft.com/office/drawing/2018/hyperlinkcolor" val="tx"/>
                    </a:ext>
                  </a:extLst>
                </a:hlinkClick>
              </a:rPr>
              <a:t>Double Data Rate (DDR) Synchronous DRAM (SDRAM) </a:t>
            </a:r>
            <a:endParaRPr lang="en-GB" dirty="0">
              <a:solidFill>
                <a:schemeClr val="bg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GB" sz="2400" dirty="0">
                <a:solidFill>
                  <a:schemeClr val="bg1"/>
                </a:solidFill>
                <a:latin typeface="Times New Roman" panose="02020603050405020304" pitchFamily="18" charset="0"/>
                <a:cs typeface="Times New Roman" panose="02020603050405020304" pitchFamily="18" charset="0"/>
                <a:hlinkClick r:id="rId9" action="ppaction://hlinksldjump">
                  <a:extLst>
                    <a:ext uri="{A12FA001-AC4F-418D-AE19-62706E023703}">
                      <ahyp:hlinkClr xmlns:ahyp="http://schemas.microsoft.com/office/drawing/2018/hyperlinkcolor" val="tx"/>
                    </a:ext>
                  </a:extLst>
                </a:hlinkClick>
              </a:rPr>
              <a:t>DDR2 SDRAM</a:t>
            </a:r>
            <a:endParaRPr lang="en-GB" sz="2400" dirty="0">
              <a:solidFill>
                <a:schemeClr val="bg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GB" dirty="0">
                <a:solidFill>
                  <a:schemeClr val="bg1"/>
                </a:solidFill>
                <a:latin typeface="Times New Roman" panose="02020603050405020304" pitchFamily="18" charset="0"/>
                <a:cs typeface="Times New Roman" panose="02020603050405020304" pitchFamily="18" charset="0"/>
                <a:hlinkClick r:id="rId10" action="ppaction://hlinksldjump">
                  <a:extLst>
                    <a:ext uri="{A12FA001-AC4F-418D-AE19-62706E023703}">
                      <ahyp:hlinkClr xmlns:ahyp="http://schemas.microsoft.com/office/drawing/2018/hyperlinkcolor" val="tx"/>
                    </a:ext>
                  </a:extLst>
                </a:hlinkClick>
              </a:rPr>
              <a:t>DDR3 SDRAM </a:t>
            </a:r>
            <a:endParaRPr lang="en-GB" dirty="0">
              <a:solidFill>
                <a:schemeClr val="bg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GB" dirty="0">
                <a:solidFill>
                  <a:schemeClr val="bg1"/>
                </a:solidFill>
                <a:latin typeface="Times New Roman" panose="02020603050405020304" pitchFamily="18" charset="0"/>
                <a:cs typeface="Times New Roman" panose="02020603050405020304" pitchFamily="18" charset="0"/>
                <a:hlinkClick r:id="rId11" action="ppaction://hlinksldjump">
                  <a:extLst>
                    <a:ext uri="{A12FA001-AC4F-418D-AE19-62706E023703}">
                      <ahyp:hlinkClr xmlns:ahyp="http://schemas.microsoft.com/office/drawing/2018/hyperlinkcolor" val="tx"/>
                    </a:ext>
                  </a:extLst>
                </a:hlinkClick>
              </a:rPr>
              <a:t>DDR4 SDRAM</a:t>
            </a:r>
            <a:endParaRPr lang="en-GB" dirty="0">
              <a:solidFill>
                <a:schemeClr val="bg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GB" dirty="0">
                <a:solidFill>
                  <a:schemeClr val="bg1"/>
                </a:solidFill>
                <a:latin typeface="Times New Roman" panose="02020603050405020304" pitchFamily="18" charset="0"/>
                <a:cs typeface="Times New Roman" panose="02020603050405020304" pitchFamily="18" charset="0"/>
                <a:hlinkClick r:id="rId12" action="ppaction://hlinksldjump">
                  <a:extLst>
                    <a:ext uri="{A12FA001-AC4F-418D-AE19-62706E023703}">
                      <ahyp:hlinkClr xmlns:ahyp="http://schemas.microsoft.com/office/drawing/2018/hyperlinkcolor" val="tx"/>
                    </a:ext>
                  </a:extLst>
                </a:hlinkClick>
              </a:rPr>
              <a:t>DDR5 SDRAM </a:t>
            </a:r>
            <a:endParaRPr lang="en-GB" dirty="0">
              <a:solidFill>
                <a:schemeClr val="bg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bg-BG" dirty="0">
                <a:solidFill>
                  <a:schemeClr val="bg1"/>
                </a:solidFill>
                <a:latin typeface="Times New Roman" panose="02020603050405020304" pitchFamily="18" charset="0"/>
                <a:cs typeface="Times New Roman" panose="02020603050405020304" pitchFamily="18" charset="0"/>
                <a:hlinkClick r:id="rId13" action="ppaction://hlinksldjump">
                  <a:extLst>
                    <a:ext uri="{A12FA001-AC4F-418D-AE19-62706E023703}">
                      <ahyp:hlinkClr xmlns:ahyp="http://schemas.microsoft.com/office/drawing/2018/hyperlinkcolor" val="tx"/>
                    </a:ext>
                  </a:extLst>
                </a:hlinkClick>
              </a:rPr>
              <a:t>Тест</a:t>
            </a:r>
            <a:endParaRPr lang="en-GB" sz="2400" dirty="0">
              <a:solidFill>
                <a:schemeClr val="bg1"/>
              </a:solidFill>
              <a:latin typeface="Times New Roman" panose="02020603050405020304" pitchFamily="18" charset="0"/>
              <a:cs typeface="Times New Roman" panose="02020603050405020304" pitchFamily="18" charset="0"/>
            </a:endParaRPr>
          </a:p>
          <a:p>
            <a:pPr algn="l"/>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endParaRPr lang="bg-BG" dirty="0">
              <a:solidFill>
                <a:schemeClr val="bg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endParaRPr lang="bg-BG" dirty="0">
              <a:solidFill>
                <a:schemeClr val="bg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endParaRPr lang="bg-BG" dirty="0">
              <a:solidFill>
                <a:schemeClr val="bg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endParaRPr lang="en-GB"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35422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FD9D51-F33D-A5DF-D5CB-B4BBF0527B2F}"/>
              </a:ext>
            </a:extLst>
          </p:cNvPr>
          <p:cNvPicPr>
            <a:picLocks noChangeAspect="1"/>
          </p:cNvPicPr>
          <p:nvPr/>
        </p:nvPicPr>
        <p:blipFill>
          <a:blip r:embed="rId2"/>
          <a:stretch>
            <a:fillRect/>
          </a:stretch>
        </p:blipFill>
        <p:spPr>
          <a:xfrm>
            <a:off x="0" y="-4764"/>
            <a:ext cx="12192001" cy="6858001"/>
          </a:xfrm>
          <a:prstGeom prst="rect">
            <a:avLst/>
          </a:prstGeom>
        </p:spPr>
      </p:pic>
      <p:sp>
        <p:nvSpPr>
          <p:cNvPr id="2" name="Title 1">
            <a:extLst>
              <a:ext uri="{FF2B5EF4-FFF2-40B4-BE49-F238E27FC236}">
                <a16:creationId xmlns:a16="http://schemas.microsoft.com/office/drawing/2014/main" id="{AE5256E2-210B-0F99-82C2-C4C03A2004DB}"/>
              </a:ext>
            </a:extLst>
          </p:cNvPr>
          <p:cNvSpPr>
            <a:spLocks noGrp="1"/>
          </p:cNvSpPr>
          <p:nvPr>
            <p:ph type="title"/>
          </p:nvPr>
        </p:nvSpPr>
        <p:spPr>
          <a:xfrm>
            <a:off x="300831" y="457200"/>
            <a:ext cx="11590337" cy="733425"/>
          </a:xfrm>
        </p:spPr>
        <p:txBody>
          <a:bodyPr>
            <a:normAutofit/>
          </a:bodyPr>
          <a:lstStyle/>
          <a:p>
            <a:pPr algn="ctr"/>
            <a:r>
              <a:rPr lang="bg-BG" sz="4000" dirty="0">
                <a:solidFill>
                  <a:schemeClr val="bg1"/>
                </a:solidFill>
                <a:latin typeface="Times New Roman" panose="02020603050405020304" pitchFamily="18" charset="0"/>
                <a:cs typeface="Times New Roman" panose="02020603050405020304" pitchFamily="18" charset="0"/>
              </a:rPr>
              <a:t>Определение</a:t>
            </a:r>
            <a:endParaRPr lang="en-GB" sz="4000" dirty="0">
              <a:solidFill>
                <a:schemeClr val="bg1"/>
              </a:solidFill>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DEC5E70A-ED62-F40A-6D6F-B1C090AC9055}"/>
              </a:ext>
            </a:extLst>
          </p:cNvPr>
          <p:cNvSpPr>
            <a:spLocks noGrp="1"/>
          </p:cNvSpPr>
          <p:nvPr>
            <p:ph type="body" sz="half" idx="2"/>
          </p:nvPr>
        </p:nvSpPr>
        <p:spPr>
          <a:xfrm>
            <a:off x="300831" y="1440135"/>
            <a:ext cx="11590337" cy="2475304"/>
          </a:xfrm>
        </p:spPr>
        <p:txBody>
          <a:bodyPr>
            <a:normAutofit lnSpcReduction="10000"/>
          </a:bodyPr>
          <a:lstStyle/>
          <a:p>
            <a:pPr algn="l"/>
            <a:r>
              <a:rPr lang="ru-RU" sz="2400" u="sng" dirty="0">
                <a:solidFill>
                  <a:schemeClr val="bg1"/>
                </a:solidFill>
                <a:effectLst/>
                <a:latin typeface="Times New Roman" panose="02020603050405020304" pitchFamily="18" charset="0"/>
              </a:rPr>
              <a:t>RAM паметта </a:t>
            </a:r>
            <a:r>
              <a:rPr lang="ru-RU" sz="2400" b="1" u="sng" dirty="0">
                <a:solidFill>
                  <a:schemeClr val="bg1"/>
                </a:solidFill>
                <a:effectLst/>
                <a:latin typeface="Times New Roman" panose="02020603050405020304" pitchFamily="18" charset="0"/>
              </a:rPr>
              <a:t>(</a:t>
            </a:r>
            <a:r>
              <a:rPr lang="ru-RU" sz="2400" b="0" u="sng" dirty="0">
                <a:solidFill>
                  <a:schemeClr val="bg1"/>
                </a:solidFill>
                <a:effectLst/>
                <a:latin typeface="Times New Roman" panose="02020603050405020304" pitchFamily="18" charset="0"/>
              </a:rPr>
              <a:t>random access memory)</a:t>
            </a:r>
            <a:r>
              <a:rPr lang="ru-RU" sz="2400" u="sng" dirty="0">
                <a:solidFill>
                  <a:schemeClr val="bg1"/>
                </a:solidFill>
                <a:latin typeface="Times New Roman" panose="02020603050405020304" pitchFamily="18" charset="0"/>
              </a:rPr>
              <a:t> </a:t>
            </a:r>
            <a:r>
              <a:rPr lang="ru-RU" sz="2400" b="0" u="sng" dirty="0">
                <a:solidFill>
                  <a:schemeClr val="bg1"/>
                </a:solidFill>
                <a:effectLst/>
                <a:latin typeface="Times New Roman" panose="02020603050405020304" pitchFamily="18" charset="0"/>
              </a:rPr>
              <a:t>е вид памет, която позволява достъп и за четене, и за запис, до произволна част от данните без ограничения. Това я отличава от ROM паметта ( read only memory), която позволява само четене, и от паметта с последователен достъп, при която могат да се извършват действия само в определен ред.</a:t>
            </a:r>
          </a:p>
          <a:p>
            <a:pPr algn="l"/>
            <a:r>
              <a:rPr lang="ru-RU" sz="2400" b="0" dirty="0">
                <a:solidFill>
                  <a:schemeClr val="bg1"/>
                </a:solidFill>
                <a:effectLst/>
                <a:latin typeface="Times New Roman" panose="02020603050405020304" pitchFamily="18" charset="0"/>
              </a:rPr>
              <a:t>RAM паметта може да бъде изпълнена чрез интегрални схемиили на магнитни носители.</a:t>
            </a:r>
          </a:p>
          <a:p>
            <a:endParaRPr lang="en-GB" sz="2000" dirty="0">
              <a:solidFill>
                <a:schemeClr val="bg1"/>
              </a:solidFill>
            </a:endParaRPr>
          </a:p>
        </p:txBody>
      </p:sp>
      <p:pic>
        <p:nvPicPr>
          <p:cNvPr id="8" name="Content Placeholder 7">
            <a:extLst>
              <a:ext uri="{FF2B5EF4-FFF2-40B4-BE49-F238E27FC236}">
                <a16:creationId xmlns:a16="http://schemas.microsoft.com/office/drawing/2014/main" id="{8700EF65-3F55-59D5-20DB-C6917768BC0A}"/>
              </a:ext>
            </a:extLst>
          </p:cNvPr>
          <p:cNvPicPr>
            <a:picLocks noGrp="1" noChangeAspect="1"/>
          </p:cNvPicPr>
          <p:nvPr>
            <p:ph idx="1"/>
          </p:nvPr>
        </p:nvPicPr>
        <p:blipFill>
          <a:blip r:embed="rId3"/>
          <a:stretch>
            <a:fillRect/>
          </a:stretch>
        </p:blipFill>
        <p:spPr>
          <a:xfrm>
            <a:off x="3009899" y="3915439"/>
            <a:ext cx="6172200" cy="2432049"/>
          </a:xfrm>
        </p:spPr>
      </p:pic>
      <p:pic>
        <p:nvPicPr>
          <p:cNvPr id="10" name="Graphic 9" descr="Arrow Horizontal U turn">
            <a:hlinkClick r:id="rId4" action="ppaction://hlinksldjump"/>
            <a:extLst>
              <a:ext uri="{FF2B5EF4-FFF2-40B4-BE49-F238E27FC236}">
                <a16:creationId xmlns:a16="http://schemas.microsoft.com/office/drawing/2014/main" id="{170DFC63-807C-36FB-3FFD-5D61DD82F15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20888" y="-4763"/>
            <a:ext cx="461964" cy="46196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192062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DC748A2-C536-1ED3-E036-348FCE8209A9}"/>
              </a:ext>
            </a:extLst>
          </p:cNvPr>
          <p:cNvPicPr>
            <a:picLocks noChangeAspect="1"/>
          </p:cNvPicPr>
          <p:nvPr/>
        </p:nvPicPr>
        <p:blipFill>
          <a:blip r:embed="rId2"/>
          <a:stretch>
            <a:fillRect/>
          </a:stretch>
        </p:blipFill>
        <p:spPr>
          <a:xfrm>
            <a:off x="0" y="0"/>
            <a:ext cx="12192001" cy="6858001"/>
          </a:xfrm>
          <a:prstGeom prst="rect">
            <a:avLst/>
          </a:prstGeom>
        </p:spPr>
      </p:pic>
      <p:sp>
        <p:nvSpPr>
          <p:cNvPr id="4" name="Text Placeholder 3">
            <a:extLst>
              <a:ext uri="{FF2B5EF4-FFF2-40B4-BE49-F238E27FC236}">
                <a16:creationId xmlns:a16="http://schemas.microsoft.com/office/drawing/2014/main" id="{1D8F0D0C-A294-CBA6-EBD2-C35548EF7D53}"/>
              </a:ext>
            </a:extLst>
          </p:cNvPr>
          <p:cNvSpPr>
            <a:spLocks noGrp="1"/>
          </p:cNvSpPr>
          <p:nvPr>
            <p:ph type="body" sz="half" idx="2"/>
          </p:nvPr>
        </p:nvSpPr>
        <p:spPr>
          <a:xfrm>
            <a:off x="839788" y="1704974"/>
            <a:ext cx="5256212" cy="4343400"/>
          </a:xfrm>
        </p:spPr>
        <p:txBody>
          <a:bodyPr>
            <a:noAutofit/>
          </a:bodyPr>
          <a:lstStyle/>
          <a:p>
            <a:endParaRPr lang="bg-BG" sz="2400" dirty="0">
              <a:solidFill>
                <a:schemeClr val="bg1"/>
              </a:solidFill>
              <a:latin typeface="Times New Roman" panose="02020603050405020304" pitchFamily="18" charset="0"/>
              <a:cs typeface="Times New Roman" panose="02020603050405020304" pitchFamily="18" charset="0"/>
            </a:endParaRPr>
          </a:p>
          <a:p>
            <a:r>
              <a:rPr lang="bg-BG" sz="2400" u="sng" dirty="0">
                <a:solidFill>
                  <a:schemeClr val="bg1"/>
                </a:solidFill>
                <a:latin typeface="Times New Roman" panose="02020603050405020304" pitchFamily="18" charset="0"/>
                <a:cs typeface="Times New Roman" panose="02020603050405020304" pitchFamily="18" charset="0"/>
              </a:rPr>
              <a:t>Оперативна рам памет е памет с произволен достъп и се нарича така, защото до всяко място от паметта(до всяка нейна клетка) се осъществява достъп толкова бързо, колкото и до произволно друго място на компютъра. Паметта се явява буфер между </a:t>
            </a:r>
            <a:r>
              <a:rPr lang="en-US" sz="2400" u="sng" dirty="0">
                <a:solidFill>
                  <a:schemeClr val="bg1"/>
                </a:solidFill>
                <a:latin typeface="Times New Roman" panose="02020603050405020304" pitchFamily="18" charset="0"/>
                <a:cs typeface="Times New Roman" panose="02020603050405020304" pitchFamily="18" charset="0"/>
              </a:rPr>
              <a:t>CPU </a:t>
            </a:r>
            <a:r>
              <a:rPr lang="bg-BG" sz="2400" u="sng" dirty="0">
                <a:solidFill>
                  <a:schemeClr val="bg1"/>
                </a:solidFill>
                <a:latin typeface="Times New Roman" panose="02020603050405020304" pitchFamily="18" charset="0"/>
                <a:cs typeface="Times New Roman" panose="02020603050405020304" pitchFamily="18" charset="0"/>
              </a:rPr>
              <a:t>и останалите компютърни компоненти. </a:t>
            </a:r>
            <a:endParaRPr lang="en-GB" sz="2400" u="sng" dirty="0">
              <a:solidFill>
                <a:schemeClr val="bg1"/>
              </a:solidFill>
              <a:latin typeface="Times New Roman" panose="02020603050405020304" pitchFamily="18" charset="0"/>
              <a:cs typeface="Times New Roman" panose="02020603050405020304" pitchFamily="18" charset="0"/>
            </a:endParaRPr>
          </a:p>
        </p:txBody>
      </p:sp>
      <p:pic>
        <p:nvPicPr>
          <p:cNvPr id="1026" name="Picture 2" descr="Видове RAM">
            <a:extLst>
              <a:ext uri="{FF2B5EF4-FFF2-40B4-BE49-F238E27FC236}">
                <a16:creationId xmlns:a16="http://schemas.microsoft.com/office/drawing/2014/main" id="{0BDF99D7-F5A5-7E65-8272-BC17331A689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968512" y="2694795"/>
            <a:ext cx="4383700" cy="2363759"/>
          </a:xfrm>
          <a:prstGeom prst="rect">
            <a:avLst/>
          </a:prstGeom>
          <a:noFill/>
          <a:extLst>
            <a:ext uri="{909E8E84-426E-40DD-AFC4-6F175D3DCCD1}">
              <a14:hiddenFill xmlns:a14="http://schemas.microsoft.com/office/drawing/2010/main">
                <a:solidFill>
                  <a:srgbClr val="FFFFFF"/>
                </a:solidFill>
              </a14:hiddenFill>
            </a:ext>
          </a:extLst>
        </p:spPr>
      </p:pic>
      <p:pic>
        <p:nvPicPr>
          <p:cNvPr id="8" name="Graphic 7" descr="Arrow Horizontal U turn">
            <a:hlinkClick r:id="rId4" action="ppaction://hlinksldjump"/>
            <a:extLst>
              <a:ext uri="{FF2B5EF4-FFF2-40B4-BE49-F238E27FC236}">
                <a16:creationId xmlns:a16="http://schemas.microsoft.com/office/drawing/2014/main" id="{357A1247-3CBF-38F5-4DC0-B0F8B87535D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20888" y="-4763"/>
            <a:ext cx="461964" cy="46196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869532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44A37C7-15F7-5BB8-9D82-78B1780EF162}"/>
              </a:ext>
            </a:extLst>
          </p:cNvPr>
          <p:cNvPicPr>
            <a:picLocks noChangeAspect="1"/>
          </p:cNvPicPr>
          <p:nvPr/>
        </p:nvPicPr>
        <p:blipFill>
          <a:blip r:embed="rId2"/>
          <a:stretch>
            <a:fillRect/>
          </a:stretch>
        </p:blipFill>
        <p:spPr>
          <a:xfrm>
            <a:off x="-1" y="1"/>
            <a:ext cx="12192001" cy="6858000"/>
          </a:xfrm>
          <a:prstGeom prst="rect">
            <a:avLst/>
          </a:prstGeom>
        </p:spPr>
      </p:pic>
      <p:sp>
        <p:nvSpPr>
          <p:cNvPr id="4" name="Text Placeholder 3">
            <a:extLst>
              <a:ext uri="{FF2B5EF4-FFF2-40B4-BE49-F238E27FC236}">
                <a16:creationId xmlns:a16="http://schemas.microsoft.com/office/drawing/2014/main" id="{A08444E9-FAF1-0E42-33AA-B819CA456A00}"/>
              </a:ext>
            </a:extLst>
          </p:cNvPr>
          <p:cNvSpPr>
            <a:spLocks noGrp="1"/>
          </p:cNvSpPr>
          <p:nvPr>
            <p:ph type="body" sz="half" idx="2"/>
          </p:nvPr>
        </p:nvSpPr>
        <p:spPr>
          <a:xfrm>
            <a:off x="7101681" y="1925637"/>
            <a:ext cx="3932237" cy="3811588"/>
          </a:xfrm>
        </p:spPr>
        <p:txBody>
          <a:bodyPr>
            <a:normAutofit/>
          </a:bodyPr>
          <a:lstStyle/>
          <a:p>
            <a:r>
              <a:rPr lang="bg-BG" sz="2400" dirty="0">
                <a:solidFill>
                  <a:schemeClr val="bg1"/>
                </a:solidFill>
                <a:latin typeface="Times New Roman" panose="02020603050405020304" pitchFamily="18" charset="0"/>
                <a:cs typeface="Times New Roman" panose="02020603050405020304" pitchFamily="18" charset="0"/>
              </a:rPr>
              <a:t>Рам паметта е енергозависима(за да може да държи информацията и трябва електричен ток). На нея се записват програми, данни и др. При персоналните компютри оперативната памет може да бъде от порядъка на 64 </a:t>
            </a:r>
            <a:r>
              <a:rPr lang="en-US" sz="2400" dirty="0">
                <a:solidFill>
                  <a:schemeClr val="bg1"/>
                </a:solidFill>
                <a:latin typeface="Times New Roman" panose="02020603050405020304" pitchFamily="18" charset="0"/>
                <a:cs typeface="Times New Roman" panose="02020603050405020304" pitchFamily="18" charset="0"/>
              </a:rPr>
              <a:t>MB; 128 MB; 256 MB; 512 MB; 1CB </a:t>
            </a:r>
            <a:r>
              <a:rPr lang="bg-BG" sz="2400" dirty="0">
                <a:solidFill>
                  <a:schemeClr val="bg1"/>
                </a:solidFill>
                <a:latin typeface="Times New Roman" panose="02020603050405020304" pitchFamily="18" charset="0"/>
                <a:cs typeface="Times New Roman" panose="02020603050405020304" pitchFamily="18" charset="0"/>
              </a:rPr>
              <a:t>и тн.</a:t>
            </a:r>
            <a:endParaRPr lang="en-GB" sz="2400" dirty="0">
              <a:solidFill>
                <a:schemeClr val="bg1"/>
              </a:solidFill>
              <a:latin typeface="Times New Roman" panose="02020603050405020304" pitchFamily="18" charset="0"/>
              <a:cs typeface="Times New Roman" panose="02020603050405020304" pitchFamily="18" charset="0"/>
            </a:endParaRPr>
          </a:p>
        </p:txBody>
      </p:sp>
      <p:pic>
        <p:nvPicPr>
          <p:cNvPr id="5" name="Content Placeholder 4" descr="RAM Памет Kingston Technology ValueRAM 4GB DDR3 1600MHz с цена от лв -  Sravni.bg">
            <a:extLst>
              <a:ext uri="{FF2B5EF4-FFF2-40B4-BE49-F238E27FC236}">
                <a16:creationId xmlns:a16="http://schemas.microsoft.com/office/drawing/2014/main" id="{D866F76D-DF25-81EC-F64C-157E20F9BF61}"/>
              </a:ext>
            </a:extLst>
          </p:cNvPr>
          <p:cNvPicPr>
            <a:picLocks noGrp="1" noChangeAspect="1" noChangeArrowheads="1"/>
          </p:cNvPicPr>
          <p:nvPr>
            <p:ph idx="1"/>
          </p:nvPr>
        </p:nvPicPr>
        <p:blipFill>
          <a:blip r:embed="rId3">
            <a:extLst>
              <a:ext uri="{BEBA8EAE-BF5A-486C-A8C5-ECC9F3942E4B}">
                <a14:imgProps xmlns:a14="http://schemas.microsoft.com/office/drawing/2010/main">
                  <a14:imgLayer r:embed="rId4">
                    <a14:imgEffect>
                      <a14:backgroundRemoval t="10000" b="90000" l="6000" r="96267">
                        <a14:foregroundMark x1="9133" y1="66933" x2="9933" y2="68467"/>
                        <a14:foregroundMark x1="10067" y1="64733" x2="8933" y2="56333"/>
                        <a14:foregroundMark x1="7000" y1="63400" x2="6000" y2="58133"/>
                        <a14:foregroundMark x1="14800" y1="74533" x2="19067" y2="75333"/>
                        <a14:foregroundMark x1="18533" y1="75733" x2="15000" y2="74133"/>
                        <a14:foregroundMark x1="14600" y1="75333" x2="19667" y2="75533"/>
                        <a14:foregroundMark x1="88867" y1="41667" x2="91200" y2="32000"/>
                        <a14:foregroundMark x1="91200" y1="32000" x2="89867" y2="29800"/>
                        <a14:foregroundMark x1="93733" y1="38400" x2="93533" y2="34867"/>
                        <a14:foregroundMark x1="93933" y1="38200" x2="94733" y2="34867"/>
                        <a14:foregroundMark x1="96267" y1="37600" x2="93733" y2="35800"/>
                      </a14:backgroundRemoval>
                    </a14:imgEffect>
                  </a14:imgLayer>
                </a14:imgProps>
              </a:ext>
              <a:ext uri="{28A0092B-C50C-407E-A947-70E740481C1C}">
                <a14:useLocalDpi xmlns:a14="http://schemas.microsoft.com/office/drawing/2010/main" val="0"/>
              </a:ext>
            </a:extLst>
          </a:blip>
          <a:srcRect/>
          <a:stretch>
            <a:fillRect/>
          </a:stretch>
        </p:blipFill>
        <p:spPr bwMode="auto">
          <a:xfrm>
            <a:off x="1158082" y="1273175"/>
            <a:ext cx="4873625" cy="487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3159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6498FC1-885D-2692-A678-A01903D10133}"/>
              </a:ext>
            </a:extLst>
          </p:cNvPr>
          <p:cNvPicPr>
            <a:picLocks noChangeAspect="1"/>
          </p:cNvPicPr>
          <p:nvPr/>
        </p:nvPicPr>
        <p:blipFill>
          <a:blip r:embed="rId2"/>
          <a:stretch>
            <a:fillRect/>
          </a:stretch>
        </p:blipFill>
        <p:spPr>
          <a:xfrm>
            <a:off x="-14835" y="1"/>
            <a:ext cx="12206835" cy="6858000"/>
          </a:xfrm>
          <a:prstGeom prst="rect">
            <a:avLst/>
          </a:prstGeom>
        </p:spPr>
      </p:pic>
      <p:sp>
        <p:nvSpPr>
          <p:cNvPr id="2" name="Title 1">
            <a:extLst>
              <a:ext uri="{FF2B5EF4-FFF2-40B4-BE49-F238E27FC236}">
                <a16:creationId xmlns:a16="http://schemas.microsoft.com/office/drawing/2014/main" id="{949A9A91-6726-D5F0-E87A-AA093AE8777E}"/>
              </a:ext>
            </a:extLst>
          </p:cNvPr>
          <p:cNvSpPr>
            <a:spLocks noGrp="1"/>
          </p:cNvSpPr>
          <p:nvPr>
            <p:ph type="title"/>
          </p:nvPr>
        </p:nvSpPr>
        <p:spPr>
          <a:xfrm>
            <a:off x="4120071" y="337351"/>
            <a:ext cx="3937021" cy="654728"/>
          </a:xfrm>
        </p:spPr>
        <p:txBody>
          <a:bodyPr>
            <a:noAutofit/>
          </a:bodyPr>
          <a:lstStyle/>
          <a:p>
            <a:pPr algn="ctr"/>
            <a:r>
              <a:rPr lang="bg-BG" sz="4000" dirty="0">
                <a:solidFill>
                  <a:schemeClr val="bg1"/>
                </a:solidFill>
                <a:latin typeface="Times New Roman" panose="02020603050405020304" pitchFamily="18" charset="0"/>
                <a:cs typeface="Times New Roman" panose="02020603050405020304" pitchFamily="18" charset="0"/>
              </a:rPr>
              <a:t>Въведение</a:t>
            </a:r>
            <a:endParaRPr lang="en-GB" dirty="0">
              <a:solidFill>
                <a:schemeClr val="bg1"/>
              </a:solidFill>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631DBE4C-2577-CF40-4C92-266FBD3054F6}"/>
              </a:ext>
            </a:extLst>
          </p:cNvPr>
          <p:cNvPicPr>
            <a:picLocks noGrp="1" noChangeAspect="1"/>
          </p:cNvPicPr>
          <p:nvPr>
            <p:ph idx="1"/>
          </p:nvPr>
        </p:nvPicPr>
        <p:blipFill rotWithShape="1">
          <a:blip r:embed="rId3"/>
          <a:srcRect l="1298" t="2895" r="1312" b="2634"/>
          <a:stretch/>
        </p:blipFill>
        <p:spPr>
          <a:xfrm>
            <a:off x="6301277" y="1897064"/>
            <a:ext cx="5341971" cy="3063871"/>
          </a:xfrm>
        </p:spPr>
      </p:pic>
      <p:sp>
        <p:nvSpPr>
          <p:cNvPr id="4" name="Text Placeholder 3">
            <a:extLst>
              <a:ext uri="{FF2B5EF4-FFF2-40B4-BE49-F238E27FC236}">
                <a16:creationId xmlns:a16="http://schemas.microsoft.com/office/drawing/2014/main" id="{1C37045E-1044-138C-FA5E-36284519694A}"/>
              </a:ext>
            </a:extLst>
          </p:cNvPr>
          <p:cNvSpPr>
            <a:spLocks noGrp="1"/>
          </p:cNvSpPr>
          <p:nvPr>
            <p:ph type="body" sz="half" idx="2"/>
          </p:nvPr>
        </p:nvSpPr>
        <p:spPr>
          <a:xfrm>
            <a:off x="266700" y="1329429"/>
            <a:ext cx="5901657" cy="5086906"/>
          </a:xfrm>
        </p:spPr>
        <p:txBody>
          <a:bodyPr>
            <a:normAutofit/>
          </a:bodyPr>
          <a:lstStyle/>
          <a:p>
            <a:r>
              <a:rPr lang="ru-RU" sz="2400" dirty="0">
                <a:solidFill>
                  <a:schemeClr val="bg1"/>
                </a:solidFill>
                <a:latin typeface="Times New Roman" panose="02020603050405020304" pitchFamily="18" charset="0"/>
                <a:cs typeface="Times New Roman" panose="02020603050405020304" pitchFamily="18" charset="0"/>
              </a:rPr>
              <a:t>При персоналните компютри се използва два вида RAM - динамична (DRAM) и статична (SRAM). Статичната памет, използвана при персоналните компютри, се нарича кеш памет. Времето за достъп до клетка от статичната памет е много по-малко отколкото времето за достъп при динамичната памет. Причината за това е начина на функциониране на запомнящите клетки при двата вида памети. Докато при SRAM запомнящият елемент е D тригер, то при DRAM запомнящият елемент е интегрален кондензатор (използва се капацитета между изводите дрейн и сорс на интегрален транзистор).</a:t>
            </a:r>
            <a:endParaRPr lang="en-GB" sz="2000" dirty="0">
              <a:solidFill>
                <a:schemeClr val="bg1"/>
              </a:solidFill>
              <a:latin typeface="Times New Roman" panose="02020603050405020304" pitchFamily="18" charset="0"/>
              <a:cs typeface="Times New Roman" panose="02020603050405020304" pitchFamily="18" charset="0"/>
            </a:endParaRPr>
          </a:p>
        </p:txBody>
      </p:sp>
      <p:pic>
        <p:nvPicPr>
          <p:cNvPr id="8" name="Graphic 7" descr="Arrow Horizontal U turn">
            <a:hlinkClick r:id="rId4" action="ppaction://hlinksldjump"/>
            <a:extLst>
              <a:ext uri="{FF2B5EF4-FFF2-40B4-BE49-F238E27FC236}">
                <a16:creationId xmlns:a16="http://schemas.microsoft.com/office/drawing/2014/main" id="{5C309A5B-5834-47F4-20B1-AABB113C35E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20888" y="-4763"/>
            <a:ext cx="461964" cy="46196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41380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6CEB0C-346B-3B75-B51C-9BBB148289DF}"/>
              </a:ext>
            </a:extLst>
          </p:cNvPr>
          <p:cNvPicPr>
            <a:picLocks noChangeAspect="1"/>
          </p:cNvPicPr>
          <p:nvPr/>
        </p:nvPicPr>
        <p:blipFill>
          <a:blip r:embed="rId2"/>
          <a:stretch>
            <a:fillRect/>
          </a:stretch>
        </p:blipFill>
        <p:spPr>
          <a:xfrm>
            <a:off x="-1" y="1"/>
            <a:ext cx="12192001" cy="6858000"/>
          </a:xfrm>
          <a:prstGeom prst="rect">
            <a:avLst/>
          </a:prstGeom>
        </p:spPr>
      </p:pic>
      <p:sp>
        <p:nvSpPr>
          <p:cNvPr id="2" name="Title 1">
            <a:extLst>
              <a:ext uri="{FF2B5EF4-FFF2-40B4-BE49-F238E27FC236}">
                <a16:creationId xmlns:a16="http://schemas.microsoft.com/office/drawing/2014/main" id="{1F668558-BB69-178B-850F-C4EB87492E5A}"/>
              </a:ext>
            </a:extLst>
          </p:cNvPr>
          <p:cNvSpPr>
            <a:spLocks noGrp="1"/>
          </p:cNvSpPr>
          <p:nvPr>
            <p:ph type="title"/>
          </p:nvPr>
        </p:nvSpPr>
        <p:spPr>
          <a:xfrm>
            <a:off x="737416" y="520408"/>
            <a:ext cx="5120459" cy="752473"/>
          </a:xfrm>
        </p:spPr>
        <p:txBody>
          <a:bodyPr>
            <a:normAutofit/>
          </a:bodyPr>
          <a:lstStyle/>
          <a:p>
            <a:r>
              <a:rPr lang="bg-BG" sz="4000" dirty="0">
                <a:solidFill>
                  <a:schemeClr val="bg1"/>
                </a:solidFill>
                <a:latin typeface="Times New Roman" panose="02020603050405020304" pitchFamily="18" charset="0"/>
                <a:cs typeface="Times New Roman" panose="02020603050405020304" pitchFamily="18" charset="0"/>
              </a:rPr>
              <a:t>Достъп до </a:t>
            </a:r>
            <a:r>
              <a:rPr lang="en-US" sz="4000" dirty="0">
                <a:solidFill>
                  <a:schemeClr val="bg1"/>
                </a:solidFill>
                <a:latin typeface="Times New Roman" panose="02020603050405020304" pitchFamily="18" charset="0"/>
                <a:cs typeface="Times New Roman" panose="02020603050405020304" pitchFamily="18" charset="0"/>
              </a:rPr>
              <a:t>DRAM</a:t>
            </a:r>
            <a:endParaRPr lang="en-GB" sz="4000" dirty="0">
              <a:solidFill>
                <a:schemeClr val="bg1"/>
              </a:solidFill>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6A3872FE-7990-8FBB-FB91-4632BF260C0E}"/>
              </a:ext>
            </a:extLst>
          </p:cNvPr>
          <p:cNvPicPr>
            <a:picLocks noGrp="1" noChangeAspect="1"/>
          </p:cNvPicPr>
          <p:nvPr>
            <p:ph idx="1"/>
          </p:nvPr>
        </p:nvPicPr>
        <p:blipFill rotWithShape="1">
          <a:blip r:embed="rId3"/>
          <a:srcRect l="2943" t="13307" r="2107"/>
          <a:stretch/>
        </p:blipFill>
        <p:spPr>
          <a:xfrm>
            <a:off x="7934326" y="3019690"/>
            <a:ext cx="3581400" cy="2200010"/>
          </a:xfrm>
        </p:spPr>
      </p:pic>
      <p:sp>
        <p:nvSpPr>
          <p:cNvPr id="4" name="Text Placeholder 3">
            <a:extLst>
              <a:ext uri="{FF2B5EF4-FFF2-40B4-BE49-F238E27FC236}">
                <a16:creationId xmlns:a16="http://schemas.microsoft.com/office/drawing/2014/main" id="{14A0FA50-FBDE-369F-6A3A-0D02F4B7BDE6}"/>
              </a:ext>
            </a:extLst>
          </p:cNvPr>
          <p:cNvSpPr>
            <a:spLocks noGrp="1"/>
          </p:cNvSpPr>
          <p:nvPr>
            <p:ph type="body" sz="half" idx="2"/>
          </p:nvPr>
        </p:nvSpPr>
        <p:spPr>
          <a:xfrm>
            <a:off x="289018" y="2012803"/>
            <a:ext cx="7111908" cy="4105276"/>
          </a:xfrm>
        </p:spPr>
        <p:txBody>
          <a:bodyPr>
            <a:noAutofit/>
          </a:bodyPr>
          <a:lstStyle/>
          <a:p>
            <a:r>
              <a:rPr lang="ru-RU" sz="2400" dirty="0">
                <a:solidFill>
                  <a:schemeClr val="bg1"/>
                </a:solidFill>
                <a:latin typeface="Times New Roman" panose="02020603050405020304" pitchFamily="18" charset="0"/>
                <a:cs typeface="Times New Roman" panose="02020603050405020304" pitchFamily="18" charset="0"/>
              </a:rPr>
              <a:t>Една компютърна конфигурация, ако използва само оперативна памет (DRAM), няма да е ефективна. Причината за това е, че CPU ще е стотици пъти по-бърз от оперативната памет. Ако програмата, която се изпълнява от CPU, е в DRAM, то микропроцесорът трябва да изчаква всеки път, когато се налага да извлече операционния код на следващата инструкция. </a:t>
            </a:r>
            <a:r>
              <a:rPr lang="ru-RU" sz="2400" u="sng" dirty="0">
                <a:solidFill>
                  <a:schemeClr val="bg1"/>
                </a:solidFill>
                <a:latin typeface="Times New Roman" panose="02020603050405020304" pitchFamily="18" charset="0"/>
                <a:cs typeface="Times New Roman" panose="02020603050405020304" pitchFamily="18" charset="0"/>
              </a:rPr>
              <a:t>Решението е да се използва бърза SRAM (кеш) с която CPU да работи. В този случай някой трябва да зарежда кеша с инструкции и данни, когато е необходимо. Тъй като кеш паметта е скъпа, тя е с много по-малък размер от DRAM</a:t>
            </a:r>
            <a:endParaRPr lang="en-GB" sz="2400" u="sng"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2D2BFCF-420C-073C-E659-2E531660975A}"/>
              </a:ext>
            </a:extLst>
          </p:cNvPr>
          <p:cNvSpPr txBox="1"/>
          <p:nvPr/>
        </p:nvSpPr>
        <p:spPr>
          <a:xfrm>
            <a:off x="8020050" y="5219700"/>
            <a:ext cx="3581400" cy="369332"/>
          </a:xfrm>
          <a:prstGeom prst="rect">
            <a:avLst/>
          </a:prstGeom>
          <a:noFill/>
        </p:spPr>
        <p:txBody>
          <a:bodyPr wrap="square" rtlCol="0">
            <a:spAutoFit/>
          </a:bodyPr>
          <a:lstStyle/>
          <a:p>
            <a:pPr algn="r"/>
            <a:r>
              <a:rPr lang="en-US" dirty="0">
                <a:solidFill>
                  <a:schemeClr val="bg1"/>
                </a:solidFill>
                <a:latin typeface="Times New Roman" panose="02020603050405020304" pitchFamily="18" charset="0"/>
                <a:cs typeface="Times New Roman" panose="02020603050405020304" pitchFamily="18" charset="0"/>
              </a:rPr>
              <a:t>SRAM</a:t>
            </a:r>
            <a:endParaRPr lang="en-GB" dirty="0">
              <a:solidFill>
                <a:schemeClr val="bg1"/>
              </a:solidFill>
              <a:latin typeface="Times New Roman" panose="02020603050405020304" pitchFamily="18" charset="0"/>
              <a:cs typeface="Times New Roman" panose="02020603050405020304" pitchFamily="18" charset="0"/>
            </a:endParaRPr>
          </a:p>
        </p:txBody>
      </p:sp>
      <p:pic>
        <p:nvPicPr>
          <p:cNvPr id="9" name="Graphic 8" descr="Arrow Horizontal U turn">
            <a:hlinkClick r:id="rId4" action="ppaction://hlinksldjump"/>
            <a:extLst>
              <a:ext uri="{FF2B5EF4-FFF2-40B4-BE49-F238E27FC236}">
                <a16:creationId xmlns:a16="http://schemas.microsoft.com/office/drawing/2014/main" id="{669F0E1D-FDDD-AC32-16F4-A25A61D5BDE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20888" y="-4763"/>
            <a:ext cx="461964" cy="46196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33590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CD79C8-DBBB-2815-2DFC-E6243FCC41B6}"/>
              </a:ext>
            </a:extLst>
          </p:cNvPr>
          <p:cNvPicPr>
            <a:picLocks noChangeAspect="1"/>
          </p:cNvPicPr>
          <p:nvPr/>
        </p:nvPicPr>
        <p:blipFill>
          <a:blip r:embed="rId2"/>
          <a:stretch>
            <a:fillRect/>
          </a:stretch>
        </p:blipFill>
        <p:spPr>
          <a:xfrm>
            <a:off x="-1" y="1"/>
            <a:ext cx="12192001" cy="6858000"/>
          </a:xfrm>
          <a:prstGeom prst="rect">
            <a:avLst/>
          </a:prstGeom>
        </p:spPr>
      </p:pic>
      <p:sp>
        <p:nvSpPr>
          <p:cNvPr id="4" name="Text Placeholder 3">
            <a:extLst>
              <a:ext uri="{FF2B5EF4-FFF2-40B4-BE49-F238E27FC236}">
                <a16:creationId xmlns:a16="http://schemas.microsoft.com/office/drawing/2014/main" id="{F867B237-1946-0F1B-DBB6-E698DB4ACA28}"/>
              </a:ext>
            </a:extLst>
          </p:cNvPr>
          <p:cNvSpPr>
            <a:spLocks noGrp="1"/>
          </p:cNvSpPr>
          <p:nvPr>
            <p:ph type="body" sz="half" idx="2"/>
          </p:nvPr>
        </p:nvSpPr>
        <p:spPr>
          <a:xfrm>
            <a:off x="762793" y="1457325"/>
            <a:ext cx="10666412" cy="4538708"/>
          </a:xfrm>
        </p:spPr>
        <p:txBody>
          <a:bodyPr>
            <a:normAutofit/>
          </a:bodyPr>
          <a:lstStyle/>
          <a:p>
            <a:r>
              <a:rPr lang="ru-RU" sz="2400" dirty="0">
                <a:solidFill>
                  <a:schemeClr val="bg1"/>
                </a:solidFill>
                <a:latin typeface="Times New Roman" panose="02020603050405020304" pitchFamily="18" charset="0"/>
                <a:cs typeface="Times New Roman" panose="02020603050405020304" pitchFamily="18" charset="0"/>
              </a:rPr>
              <a:t>Управлението на паметта при компютрите се реализира от чипсета – по-точно от северния мост при чипсети с мостова архитектура или Memory Controller Hub (MCH) при хъбова архитектура. Ако разликата в бързодействието на CPU и DRAM е много голяма може да се наложи да се използват няколко нива на кеширане. Кешът, който е най-близо до CPU се нарича кеш от ниво 1 (L1 кеш). Съвременните процесори са с 3 и повече нива на кеш. За да няма забавяне при комуникацията между CPU и кеш, кешът най-често се интегрира на една подложка с CPU. Съвременните процесори нямат физически достъп до оперативната памет. Те адресират само L1 кеш. Синхронизирането на работата на цялата система CPUSRAM-DRAM се реализира от чипсета.</a:t>
            </a:r>
            <a:endParaRPr lang="en-GB"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7399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F5AAB40-C42C-5ED7-0DD9-607D0902A01F}"/>
              </a:ext>
            </a:extLst>
          </p:cNvPr>
          <p:cNvPicPr>
            <a:picLocks noChangeAspect="1"/>
          </p:cNvPicPr>
          <p:nvPr/>
        </p:nvPicPr>
        <p:blipFill>
          <a:blip r:embed="rId2"/>
          <a:stretch>
            <a:fillRect/>
          </a:stretch>
        </p:blipFill>
        <p:spPr>
          <a:xfrm>
            <a:off x="0" y="0"/>
            <a:ext cx="12192001" cy="6858000"/>
          </a:xfrm>
          <a:prstGeom prst="rect">
            <a:avLst/>
          </a:prstGeom>
        </p:spPr>
      </p:pic>
      <p:sp>
        <p:nvSpPr>
          <p:cNvPr id="2" name="Title 1">
            <a:extLst>
              <a:ext uri="{FF2B5EF4-FFF2-40B4-BE49-F238E27FC236}">
                <a16:creationId xmlns:a16="http://schemas.microsoft.com/office/drawing/2014/main" id="{78BB2C42-A886-1555-8B3C-432178A66C7A}"/>
              </a:ext>
            </a:extLst>
          </p:cNvPr>
          <p:cNvSpPr>
            <a:spLocks noGrp="1"/>
          </p:cNvSpPr>
          <p:nvPr>
            <p:ph type="title"/>
          </p:nvPr>
        </p:nvSpPr>
        <p:spPr>
          <a:xfrm>
            <a:off x="839788" y="457200"/>
            <a:ext cx="11262587" cy="865573"/>
          </a:xfrm>
        </p:spPr>
        <p:txBody>
          <a:bodyPr>
            <a:normAutofit/>
          </a:bodyPr>
          <a:lstStyle/>
          <a:p>
            <a:pPr algn="ctr"/>
            <a:r>
              <a:rPr lang="bg-BG" sz="4000" dirty="0">
                <a:solidFill>
                  <a:schemeClr val="bg1"/>
                </a:solidFill>
                <a:latin typeface="Times New Roman" panose="02020603050405020304" pitchFamily="18" charset="0"/>
                <a:cs typeface="Times New Roman" panose="02020603050405020304" pitchFamily="18" charset="0"/>
              </a:rPr>
              <a:t>Видове </a:t>
            </a:r>
            <a:r>
              <a:rPr lang="en-US" sz="4000" dirty="0">
                <a:solidFill>
                  <a:schemeClr val="bg1"/>
                </a:solidFill>
                <a:latin typeface="Times New Roman" panose="02020603050405020304" pitchFamily="18" charset="0"/>
                <a:cs typeface="Times New Roman" panose="02020603050405020304" pitchFamily="18" charset="0"/>
              </a:rPr>
              <a:t>DRAM</a:t>
            </a:r>
            <a:endParaRPr lang="en-GB" sz="4000" dirty="0">
              <a:solidFill>
                <a:schemeClr val="bg1"/>
              </a:solidFill>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D6A880A4-8913-761F-638B-C7BED05B7BC2}"/>
              </a:ext>
            </a:extLst>
          </p:cNvPr>
          <p:cNvSpPr>
            <a:spLocks noGrp="1"/>
          </p:cNvSpPr>
          <p:nvPr>
            <p:ph type="body" sz="half" idx="2"/>
          </p:nvPr>
        </p:nvSpPr>
        <p:spPr>
          <a:xfrm>
            <a:off x="6297613" y="1858392"/>
            <a:ext cx="5256212" cy="4847208"/>
          </a:xfrm>
        </p:spPr>
        <p:txBody>
          <a:bodyPr>
            <a:normAutofit lnSpcReduction="10000"/>
          </a:bodyPr>
          <a:lstStyle/>
          <a:p>
            <a:r>
              <a:rPr lang="ru-RU" sz="2400" dirty="0">
                <a:solidFill>
                  <a:schemeClr val="bg1"/>
                </a:solidFill>
                <a:latin typeface="Times New Roman" panose="02020603050405020304" pitchFamily="18" charset="0"/>
                <a:cs typeface="Times New Roman" panose="02020603050405020304" pitchFamily="18" charset="0"/>
              </a:rPr>
              <a:t>Във времето при персоналните компютри са се използвали различни видове DRAM. При първите персонални компютри оперативната памет се формира от група интегрални схеми DRAM, които се намират на дънната платка. Това решение не се използва отдавна, тъй като не позволява промяна на обема на инсталираната оперативна памет. За да е възможно това, започва да се произвеждат модули, които съдържат определен брой интегрални схеми DRAM. Тези модули се поставят в специални слотове на дънната платка. </a:t>
            </a:r>
            <a:endParaRPr lang="en-GB" sz="2000" dirty="0">
              <a:solidFill>
                <a:schemeClr val="bg1"/>
              </a:solidFill>
              <a:latin typeface="Times New Roman" panose="02020603050405020304" pitchFamily="18" charset="0"/>
              <a:cs typeface="Times New Roman" panose="02020603050405020304" pitchFamily="18" charset="0"/>
            </a:endParaRPr>
          </a:p>
        </p:txBody>
      </p:sp>
      <p:pic>
        <p:nvPicPr>
          <p:cNvPr id="6146" name="Picture 2" descr="What is DRAM (Dynamic Random Access Memory)? | HP® Tech Takes">
            <a:extLst>
              <a:ext uri="{FF2B5EF4-FFF2-40B4-BE49-F238E27FC236}">
                <a16:creationId xmlns:a16="http://schemas.microsoft.com/office/drawing/2014/main" id="{437D7B98-0577-CE98-2CDE-4D85819C79E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2889" b="90000" l="3100" r="96000">
                        <a14:foregroundMark x1="18200" y1="3556" x2="5700" y2="3111"/>
                        <a14:foregroundMark x1="3360" y1="38056" x2="3200" y2="40444"/>
                        <a14:foregroundMark x1="3621" y1="34150" x2="3545" y2="35287"/>
                        <a14:foregroundMark x1="5700" y1="3111" x2="3993" y2="28610"/>
                        <a14:foregroundMark x1="3200" y1="40444" x2="3600" y2="83778"/>
                        <a14:foregroundMark x1="3600" y1="83778" x2="30009" y2="91630"/>
                        <a14:foregroundMark x1="57303" y1="90915" x2="70700" y2="90222"/>
                        <a14:foregroundMark x1="43439" y1="91631" x2="53045" y2="91135"/>
                        <a14:foregroundMark x1="70700" y1="90222" x2="74460" y2="90798"/>
                        <a14:foregroundMark x1="86712" y1="91268" x2="90700" y2="91111"/>
                        <a14:foregroundMark x1="90700" y1="91111" x2="96500" y2="79111"/>
                        <a14:foregroundMark x1="96500" y1="79111" x2="97102" y2="67333"/>
                        <a14:foregroundMark x1="94800" y1="28444" x2="94600" y2="27111"/>
                        <a14:foregroundMark x1="96677" y1="40961" x2="96180" y2="37647"/>
                        <a14:foregroundMark x1="94600" y1="27111" x2="96000" y2="6667"/>
                        <a14:foregroundMark x1="96000" y1="6667" x2="10900" y2="3111"/>
                        <a14:foregroundMark x1="8400" y1="91556" x2="3000" y2="72889"/>
                        <a14:foregroundMark x1="5365" y1="36483" x2="5700" y2="31333"/>
                        <a14:foregroundMark x1="3000" y1="72889" x2="5353" y2="36667"/>
                        <a14:foregroundMark x1="5700" y1="31333" x2="3100" y2="14000"/>
                        <a14:foregroundMark x1="3100" y1="14000" x2="6800" y2="3111"/>
                        <a14:foregroundMark x1="70100" y1="88889" x2="87800" y2="86222"/>
                        <a14:backgroundMark x1="97500" y1="45333" x2="97500" y2="67333"/>
                        <a14:backgroundMark x1="95900" y1="36444" x2="96200" y2="28000"/>
                        <a14:backgroundMark x1="95400" y1="28444" x2="95400" y2="35333"/>
                        <a14:backgroundMark x1="96400" y1="35778" x2="96700" y2="37111"/>
                        <a14:backgroundMark x1="97900" y1="41333" x2="97500" y2="47778"/>
                        <a14:backgroundMark x1="29700" y1="92667" x2="42600" y2="94444"/>
                        <a14:backgroundMark x1="54600" y1="94000" x2="55000" y2="81778"/>
                        <a14:backgroundMark x1="55100" y1="88889" x2="55300" y2="94667"/>
                        <a14:backgroundMark x1="55000" y1="85333" x2="54800" y2="81778"/>
                        <a14:backgroundMark x1="72200" y1="95111" x2="82200" y2="92889"/>
                        <a14:backgroundMark x1="82200" y1="92889" x2="86100" y2="93333"/>
                        <a14:backgroundMark x1="3800" y1="35333" x2="3100" y2="25556"/>
                        <a14:backgroundMark x1="3900" y1="37111" x2="2700" y2="34667"/>
                        <a14:backgroundMark x1="4300" y1="35333" x2="2700" y2="25556"/>
                        <a14:backgroundMark x1="4400" y1="31556" x2="2400" y2="26222"/>
                        <a14:backgroundMark x1="3600" y1="35778" x2="3000" y2="34444"/>
                        <a14:backgroundMark x1="4700" y1="32667" x2="2500" y2="24889"/>
                      </a14:backgroundRemoval>
                    </a14:imgEffect>
                  </a14:imgLayer>
                </a14:imgProps>
              </a:ext>
              <a:ext uri="{28A0092B-C50C-407E-A947-70E740481C1C}">
                <a14:useLocalDpi xmlns:a14="http://schemas.microsoft.com/office/drawing/2010/main" val="0"/>
              </a:ext>
            </a:extLst>
          </a:blip>
          <a:srcRect/>
          <a:stretch>
            <a:fillRect/>
          </a:stretch>
        </p:blipFill>
        <p:spPr bwMode="auto">
          <a:xfrm>
            <a:off x="200819" y="2496568"/>
            <a:ext cx="6029325" cy="27131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39548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918BA8E-E057-BE19-639B-6B0E1CB99225}"/>
              </a:ext>
            </a:extLst>
          </p:cNvPr>
          <p:cNvPicPr>
            <a:picLocks noChangeAspect="1"/>
          </p:cNvPicPr>
          <p:nvPr/>
        </p:nvPicPr>
        <p:blipFill>
          <a:blip r:embed="rId2"/>
          <a:stretch>
            <a:fillRect/>
          </a:stretch>
        </p:blipFill>
        <p:spPr>
          <a:xfrm>
            <a:off x="-1" y="0"/>
            <a:ext cx="12192001" cy="6858000"/>
          </a:xfrm>
          <a:prstGeom prst="rect">
            <a:avLst/>
          </a:prstGeom>
        </p:spPr>
      </p:pic>
      <p:sp>
        <p:nvSpPr>
          <p:cNvPr id="4" name="Text Placeholder 3">
            <a:extLst>
              <a:ext uri="{FF2B5EF4-FFF2-40B4-BE49-F238E27FC236}">
                <a16:creationId xmlns:a16="http://schemas.microsoft.com/office/drawing/2014/main" id="{44FD423D-2B3D-CE2E-D60A-263BD33F4A27}"/>
              </a:ext>
            </a:extLst>
          </p:cNvPr>
          <p:cNvSpPr>
            <a:spLocks noGrp="1"/>
          </p:cNvSpPr>
          <p:nvPr>
            <p:ph type="body" sz="half" idx="2"/>
          </p:nvPr>
        </p:nvSpPr>
        <p:spPr>
          <a:xfrm>
            <a:off x="620713" y="800101"/>
            <a:ext cx="6246812" cy="5373688"/>
          </a:xfrm>
        </p:spPr>
        <p:txBody>
          <a:bodyPr>
            <a:normAutofit/>
          </a:bodyPr>
          <a:lstStyle/>
          <a:p>
            <a:r>
              <a:rPr lang="ru-RU" sz="2400" dirty="0">
                <a:solidFill>
                  <a:schemeClr val="bg1"/>
                </a:solidFill>
                <a:latin typeface="Times New Roman" panose="02020603050405020304" pitchFamily="18" charset="0"/>
                <a:cs typeface="Times New Roman" panose="02020603050405020304" pitchFamily="18" charset="0"/>
              </a:rPr>
              <a:t>Така става възможно инсталирането на различен обем оперативна памет, в зависимост от предназначението на компютъра и от финансовите възможности на потребителите на компютърна техника. Минималното количество оперативна памет зависи от операционната система, която е инсталирана. Максималното количество зависи от приложенията, които ще използвате и финансовите ви възможности. Видът на DRAM и теоретичния максимален обем на оперативната памет, зависи от използвания чипсет.</a:t>
            </a:r>
            <a:endParaRPr lang="en-GB" sz="2400" dirty="0"/>
          </a:p>
        </p:txBody>
      </p:sp>
      <p:pic>
        <p:nvPicPr>
          <p:cNvPr id="8194" name="Picture 2" descr="Kingston DRAM 16GB 4800MT/s DDR5 Non-ECC CL40 SODIMM 1Rx8 EAN: 740617327113  - Компютърни компоненти - MegaComp.bg">
            <a:extLst>
              <a:ext uri="{FF2B5EF4-FFF2-40B4-BE49-F238E27FC236}">
                <a16:creationId xmlns:a16="http://schemas.microsoft.com/office/drawing/2014/main" id="{EAFEAEB7-264E-1669-755D-6EB63B8930C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7302" b="75556" l="24500" r="75167">
                        <a14:foregroundMark x1="25000" y1="30476" x2="24500" y2="39683"/>
                        <a14:foregroundMark x1="25833" y1="43810" x2="24667" y2="69524"/>
                        <a14:foregroundMark x1="73333" y1="69841" x2="75333" y2="56825"/>
                        <a14:foregroundMark x1="75333" y1="56825" x2="73833" y2="45079"/>
                        <a14:foregroundMark x1="73833" y1="45079" x2="75167" y2="32698"/>
                        <a14:foregroundMark x1="75167" y1="32698" x2="73167" y2="29524"/>
                        <a14:foregroundMark x1="75000" y1="64444" x2="75167" y2="69841"/>
                      </a14:backgroundRemoval>
                    </a14:imgEffect>
                  </a14:imgLayer>
                </a14:imgProps>
              </a:ext>
              <a:ext uri="{28A0092B-C50C-407E-A947-70E740481C1C}">
                <a14:useLocalDpi xmlns:a14="http://schemas.microsoft.com/office/drawing/2010/main" val="0"/>
              </a:ext>
            </a:extLst>
          </a:blip>
          <a:srcRect l="18923" t="21340" r="20408" b="18342"/>
          <a:stretch/>
        </p:blipFill>
        <p:spPr bwMode="auto">
          <a:xfrm>
            <a:off x="6781800" y="2209800"/>
            <a:ext cx="4662905"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1720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A8AED7-AD4D-C679-7B49-5D24A14B92A4}"/>
              </a:ext>
            </a:extLst>
          </p:cNvPr>
          <p:cNvPicPr>
            <a:picLocks noChangeAspect="1"/>
          </p:cNvPicPr>
          <p:nvPr/>
        </p:nvPicPr>
        <p:blipFill>
          <a:blip r:embed="rId2"/>
          <a:stretch>
            <a:fillRect/>
          </a:stretch>
        </p:blipFill>
        <p:spPr>
          <a:xfrm>
            <a:off x="-1" y="1"/>
            <a:ext cx="12192001" cy="6858000"/>
          </a:xfrm>
          <a:prstGeom prst="rect">
            <a:avLst/>
          </a:prstGeom>
        </p:spPr>
      </p:pic>
      <p:sp>
        <p:nvSpPr>
          <p:cNvPr id="4" name="Text Placeholder 3">
            <a:extLst>
              <a:ext uri="{FF2B5EF4-FFF2-40B4-BE49-F238E27FC236}">
                <a16:creationId xmlns:a16="http://schemas.microsoft.com/office/drawing/2014/main" id="{99415553-C429-94D5-9C25-CFBA53B294A3}"/>
              </a:ext>
            </a:extLst>
          </p:cNvPr>
          <p:cNvSpPr>
            <a:spLocks noGrp="1"/>
          </p:cNvSpPr>
          <p:nvPr>
            <p:ph type="body" sz="half" idx="2"/>
          </p:nvPr>
        </p:nvSpPr>
        <p:spPr>
          <a:xfrm>
            <a:off x="674387" y="1429305"/>
            <a:ext cx="10879438" cy="4296792"/>
          </a:xfrm>
        </p:spPr>
        <p:txBody>
          <a:bodyPr>
            <a:normAutofit fontScale="85000" lnSpcReduction="20000"/>
          </a:bodyPr>
          <a:lstStyle/>
          <a:p>
            <a:r>
              <a:rPr lang="ru-RU" sz="2800" dirty="0">
                <a:solidFill>
                  <a:schemeClr val="bg1"/>
                </a:solidFill>
                <a:latin typeface="Times New Roman" panose="02020603050405020304" pitchFamily="18" charset="0"/>
                <a:cs typeface="Times New Roman" panose="02020603050405020304" pitchFamily="18" charset="0"/>
              </a:rPr>
              <a:t>Един от първите DRAM модули, използвани при персоналните компютри, е Fast Page Mode (FPM). Те се анонсира на пазара през 1995 година. Тези модули се захранват с 5V. Те са 32 битови с време за достъп 70 ns или 60 ns. Една страница (page) се формира от n последователни клетки от паметта – един ред от запомнящата матрица. Тази организация на достъпа позволява ускоряване на производителността при достъп до множество последователни адреси от DRAM. Наименованието на модулите е Single In-Line Memory Module (SIMM) и те имат 30 или 72 извода. Едно подобрение на FPM модулите са Extended Data Out (EDO) модулите, които започват да се използват през 1996 година. Те се захранват с 3.3 V. Модулите са 64-битови, а честотата на синхронизация е 66 MHz. Бързодействието при четене на EDO паметите е с 15% по-добро от FPM само благодарение на буфериране на данните на изхода. Това буфериране позволява докато чипсета чете текущо извлечените данни от буфера да се стартира нов цикъл за четене (конвейеризация на операция четене). Модули FPM и EDO няма да бъдат разглеждани, тъй като те отдавна не се използват.</a:t>
            </a:r>
            <a:endParaRPr lang="en-GB"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26182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432B03-B976-DBEF-7CDF-76E06B07091C}"/>
              </a:ext>
            </a:extLst>
          </p:cNvPr>
          <p:cNvPicPr>
            <a:picLocks noChangeAspect="1"/>
          </p:cNvPicPr>
          <p:nvPr/>
        </p:nvPicPr>
        <p:blipFill>
          <a:blip r:embed="rId2"/>
          <a:stretch>
            <a:fillRect/>
          </a:stretch>
        </p:blipFill>
        <p:spPr>
          <a:xfrm>
            <a:off x="-2" y="0"/>
            <a:ext cx="12192001" cy="6858000"/>
          </a:xfrm>
          <a:prstGeom prst="rect">
            <a:avLst/>
          </a:prstGeom>
        </p:spPr>
      </p:pic>
      <p:pic>
        <p:nvPicPr>
          <p:cNvPr id="9218" name="Picture 2" descr="Fast Page Mode DRAM Controller">
            <a:extLst>
              <a:ext uri="{FF2B5EF4-FFF2-40B4-BE49-F238E27FC236}">
                <a16:creationId xmlns:a16="http://schemas.microsoft.com/office/drawing/2014/main" id="{73EE944A-FF28-961A-2DC2-6C5C1D44B3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5643" y="756844"/>
            <a:ext cx="5700713" cy="448343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8037A20-E4F8-EB55-7283-878B8C8DEBBF}"/>
              </a:ext>
            </a:extLst>
          </p:cNvPr>
          <p:cNvSpPr txBox="1"/>
          <p:nvPr/>
        </p:nvSpPr>
        <p:spPr>
          <a:xfrm>
            <a:off x="4069556" y="5240673"/>
            <a:ext cx="4876800" cy="369332"/>
          </a:xfrm>
          <a:prstGeom prst="rect">
            <a:avLst/>
          </a:prstGeom>
          <a:noFill/>
        </p:spPr>
        <p:txBody>
          <a:bodyPr wrap="square" rtlCol="0">
            <a:spAutoFit/>
          </a:bodyPr>
          <a:lstStyle/>
          <a:p>
            <a:pPr algn="r"/>
            <a:r>
              <a:rPr lang="en-GB" dirty="0">
                <a:solidFill>
                  <a:schemeClr val="bg1"/>
                </a:solidFill>
                <a:latin typeface="Times New Roman" panose="02020603050405020304" pitchFamily="18" charset="0"/>
                <a:cs typeface="Times New Roman" panose="02020603050405020304" pitchFamily="18" charset="0"/>
              </a:rPr>
              <a:t>Fast Page Mode DRAM Controller</a:t>
            </a:r>
            <a:endParaRPr lang="fr-FR" b="1" dirty="0">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7772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26DCB75-191F-45CD-5244-1469B48B9DD2}"/>
              </a:ext>
            </a:extLst>
          </p:cNvPr>
          <p:cNvPicPr>
            <a:picLocks noChangeAspect="1"/>
          </p:cNvPicPr>
          <p:nvPr/>
        </p:nvPicPr>
        <p:blipFill>
          <a:blip r:embed="rId2"/>
          <a:stretch>
            <a:fillRect/>
          </a:stretch>
        </p:blipFill>
        <p:spPr>
          <a:xfrm>
            <a:off x="-1" y="1"/>
            <a:ext cx="12192001" cy="6858000"/>
          </a:xfrm>
          <a:prstGeom prst="rect">
            <a:avLst/>
          </a:prstGeom>
        </p:spPr>
      </p:pic>
      <p:sp>
        <p:nvSpPr>
          <p:cNvPr id="2" name="Title 1">
            <a:extLst>
              <a:ext uri="{FF2B5EF4-FFF2-40B4-BE49-F238E27FC236}">
                <a16:creationId xmlns:a16="http://schemas.microsoft.com/office/drawing/2014/main" id="{31EF937F-F0B7-9E10-CE71-04F6D55398F4}"/>
              </a:ext>
            </a:extLst>
          </p:cNvPr>
          <p:cNvSpPr>
            <a:spLocks noGrp="1"/>
          </p:cNvSpPr>
          <p:nvPr>
            <p:ph type="title"/>
          </p:nvPr>
        </p:nvSpPr>
        <p:spPr>
          <a:xfrm>
            <a:off x="121898" y="267567"/>
            <a:ext cx="11860551" cy="1075458"/>
          </a:xfrm>
        </p:spPr>
        <p:txBody>
          <a:bodyPr>
            <a:normAutofit fontScale="90000"/>
          </a:bodyPr>
          <a:lstStyle/>
          <a:p>
            <a:r>
              <a:rPr lang="en-GB" sz="4400" dirty="0">
                <a:solidFill>
                  <a:schemeClr val="bg1"/>
                </a:solidFill>
                <a:latin typeface="Times New Roman" panose="02020603050405020304" pitchFamily="18" charset="0"/>
                <a:cs typeface="Times New Roman" panose="02020603050405020304" pitchFamily="18" charset="0"/>
              </a:rPr>
              <a:t>Single Data Rate (SDR) Synchronous DRAM (SDRAM)</a:t>
            </a:r>
          </a:p>
        </p:txBody>
      </p:sp>
      <p:pic>
        <p:nvPicPr>
          <p:cNvPr id="6" name="Content Placeholder 5">
            <a:extLst>
              <a:ext uri="{FF2B5EF4-FFF2-40B4-BE49-F238E27FC236}">
                <a16:creationId xmlns:a16="http://schemas.microsoft.com/office/drawing/2014/main" id="{05AD46ED-15F0-7EDB-3193-B52F8128C0B8}"/>
              </a:ext>
            </a:extLst>
          </p:cNvPr>
          <p:cNvPicPr>
            <a:picLocks noGrp="1" noChangeAspect="1"/>
          </p:cNvPicPr>
          <p:nvPr>
            <p:ph idx="1"/>
          </p:nvPr>
        </p:nvPicPr>
        <p:blipFill>
          <a:blip r:embed="rId3"/>
          <a:stretch>
            <a:fillRect/>
          </a:stretch>
        </p:blipFill>
        <p:spPr>
          <a:xfrm>
            <a:off x="2074305" y="3618141"/>
            <a:ext cx="8043390" cy="2098647"/>
          </a:xfrm>
        </p:spPr>
      </p:pic>
      <p:sp>
        <p:nvSpPr>
          <p:cNvPr id="4" name="Text Placeholder 3">
            <a:extLst>
              <a:ext uri="{FF2B5EF4-FFF2-40B4-BE49-F238E27FC236}">
                <a16:creationId xmlns:a16="http://schemas.microsoft.com/office/drawing/2014/main" id="{99415553-C429-94D5-9C25-CFBA53B294A3}"/>
              </a:ext>
            </a:extLst>
          </p:cNvPr>
          <p:cNvSpPr>
            <a:spLocks noGrp="1"/>
          </p:cNvSpPr>
          <p:nvPr>
            <p:ph type="body" sz="half" idx="2"/>
          </p:nvPr>
        </p:nvSpPr>
        <p:spPr>
          <a:xfrm>
            <a:off x="465762" y="1659633"/>
            <a:ext cx="11260476" cy="1857652"/>
          </a:xfrm>
        </p:spPr>
        <p:txBody>
          <a:bodyPr>
            <a:normAutofit/>
          </a:bodyPr>
          <a:lstStyle/>
          <a:p>
            <a:r>
              <a:rPr lang="ru-RU" sz="2400" dirty="0">
                <a:solidFill>
                  <a:schemeClr val="bg1"/>
                </a:solidFill>
                <a:latin typeface="Times New Roman" panose="02020603050405020304" pitchFamily="18" charset="0"/>
                <a:cs typeface="Times New Roman" panose="02020603050405020304" pitchFamily="18" charset="0"/>
              </a:rPr>
              <a:t>Модулите SDR SDRAM са синхронна динамична памет, обменът с която се синхронизира по преден фронт на синхроимпулсите. </a:t>
            </a:r>
            <a:r>
              <a:rPr lang="ru-RU" sz="2400" u="sng" dirty="0">
                <a:solidFill>
                  <a:schemeClr val="bg1"/>
                </a:solidFill>
                <a:latin typeface="Times New Roman" panose="02020603050405020304" pitchFamily="18" charset="0"/>
                <a:cs typeface="Times New Roman" panose="02020603050405020304" pitchFamily="18" charset="0"/>
              </a:rPr>
              <a:t>Тези модули са 64-битови</a:t>
            </a:r>
            <a:r>
              <a:rPr lang="ru-RU" sz="2400" dirty="0">
                <a:solidFill>
                  <a:schemeClr val="bg1"/>
                </a:solidFill>
                <a:latin typeface="Times New Roman" panose="02020603050405020304" pitchFamily="18" charset="0"/>
                <a:cs typeface="Times New Roman" panose="02020603050405020304" pitchFamily="18" charset="0"/>
              </a:rPr>
              <a:t>, захранват се с 3.3V и имат 168 извода. Модулите се означават като PC-Х, където числото X (66, 100 или 133) е честотата на такта на синхронизация в MHz. Следователно, времето за достъп до паметта е съответно 15 ns, 10 ns или 7.5 ns. </a:t>
            </a:r>
            <a:endParaRPr lang="en-GB" sz="2400"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D30515A-9CED-AFB4-3A46-1CE6268CEF1D}"/>
              </a:ext>
            </a:extLst>
          </p:cNvPr>
          <p:cNvSpPr txBox="1"/>
          <p:nvPr/>
        </p:nvSpPr>
        <p:spPr>
          <a:xfrm>
            <a:off x="5154967" y="5817644"/>
            <a:ext cx="4915380" cy="369332"/>
          </a:xfrm>
          <a:prstGeom prst="rect">
            <a:avLst/>
          </a:prstGeom>
          <a:noFill/>
        </p:spPr>
        <p:txBody>
          <a:bodyPr wrap="square" rtlCol="0">
            <a:spAutoFit/>
          </a:bodyPr>
          <a:lstStyle/>
          <a:p>
            <a:pPr algn="r"/>
            <a:r>
              <a:rPr lang="bg-BG" dirty="0">
                <a:solidFill>
                  <a:schemeClr val="bg1"/>
                </a:solidFill>
                <a:latin typeface="Times New Roman" panose="02020603050405020304" pitchFamily="18" charset="0"/>
                <a:cs typeface="Times New Roman" panose="02020603050405020304" pitchFamily="18" charset="0"/>
              </a:rPr>
              <a:t>Модул </a:t>
            </a:r>
            <a:r>
              <a:rPr lang="en-GB" dirty="0">
                <a:solidFill>
                  <a:schemeClr val="bg1"/>
                </a:solidFill>
                <a:latin typeface="Times New Roman" panose="02020603050405020304" pitchFamily="18" charset="0"/>
                <a:cs typeface="Times New Roman" panose="02020603050405020304" pitchFamily="18" charset="0"/>
              </a:rPr>
              <a:t>SDR SDRAM (PC-100)</a:t>
            </a:r>
          </a:p>
        </p:txBody>
      </p:sp>
    </p:spTree>
    <p:extLst>
      <p:ext uri="{BB962C8B-B14F-4D97-AF65-F5344CB8AC3E}">
        <p14:creationId xmlns:p14="http://schemas.microsoft.com/office/powerpoint/2010/main" val="39745989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10184CF-A3ED-FA78-E428-5264FECF3E10}"/>
              </a:ext>
            </a:extLst>
          </p:cNvPr>
          <p:cNvPicPr>
            <a:picLocks noChangeAspect="1"/>
          </p:cNvPicPr>
          <p:nvPr/>
        </p:nvPicPr>
        <p:blipFill>
          <a:blip r:embed="rId2"/>
          <a:stretch>
            <a:fillRect/>
          </a:stretch>
        </p:blipFill>
        <p:spPr>
          <a:xfrm>
            <a:off x="-1" y="1"/>
            <a:ext cx="12192001" cy="6858000"/>
          </a:xfrm>
          <a:prstGeom prst="rect">
            <a:avLst/>
          </a:prstGeom>
        </p:spPr>
      </p:pic>
      <p:sp>
        <p:nvSpPr>
          <p:cNvPr id="2" name="Title 1">
            <a:extLst>
              <a:ext uri="{FF2B5EF4-FFF2-40B4-BE49-F238E27FC236}">
                <a16:creationId xmlns:a16="http://schemas.microsoft.com/office/drawing/2014/main" id="{31EF937F-F0B7-9E10-CE71-04F6D55398F4}"/>
              </a:ext>
            </a:extLst>
          </p:cNvPr>
          <p:cNvSpPr>
            <a:spLocks noGrp="1"/>
          </p:cNvSpPr>
          <p:nvPr>
            <p:ph type="title"/>
          </p:nvPr>
        </p:nvSpPr>
        <p:spPr>
          <a:xfrm>
            <a:off x="-1" y="722215"/>
            <a:ext cx="12192001" cy="781050"/>
          </a:xfrm>
        </p:spPr>
        <p:txBody>
          <a:bodyPr>
            <a:normAutofit/>
          </a:bodyPr>
          <a:lstStyle/>
          <a:p>
            <a:pPr algn="ctr"/>
            <a:r>
              <a:rPr lang="en-GB" sz="4000" dirty="0">
                <a:solidFill>
                  <a:schemeClr val="bg1"/>
                </a:solidFill>
                <a:latin typeface="Times New Roman" panose="02020603050405020304" pitchFamily="18" charset="0"/>
                <a:cs typeface="Times New Roman" panose="02020603050405020304" pitchFamily="18" charset="0"/>
              </a:rPr>
              <a:t>Double Data Rate (DDR) Synchronous DRAM (SDRAM) </a:t>
            </a:r>
          </a:p>
        </p:txBody>
      </p:sp>
      <p:pic>
        <p:nvPicPr>
          <p:cNvPr id="6" name="Content Placeholder 5">
            <a:extLst>
              <a:ext uri="{FF2B5EF4-FFF2-40B4-BE49-F238E27FC236}">
                <a16:creationId xmlns:a16="http://schemas.microsoft.com/office/drawing/2014/main" id="{CD21FB43-A8EE-7A18-2793-D497AF48794B}"/>
              </a:ext>
            </a:extLst>
          </p:cNvPr>
          <p:cNvPicPr>
            <a:picLocks noGrp="1" noChangeAspect="1"/>
          </p:cNvPicPr>
          <p:nvPr>
            <p:ph idx="1"/>
          </p:nvPr>
        </p:nvPicPr>
        <p:blipFill>
          <a:blip r:embed="rId3"/>
          <a:stretch>
            <a:fillRect/>
          </a:stretch>
        </p:blipFill>
        <p:spPr>
          <a:xfrm>
            <a:off x="1729350" y="3322468"/>
            <a:ext cx="9268288" cy="2299723"/>
          </a:xfrm>
        </p:spPr>
      </p:pic>
      <p:sp>
        <p:nvSpPr>
          <p:cNvPr id="4" name="Text Placeholder 3">
            <a:extLst>
              <a:ext uri="{FF2B5EF4-FFF2-40B4-BE49-F238E27FC236}">
                <a16:creationId xmlns:a16="http://schemas.microsoft.com/office/drawing/2014/main" id="{99415553-C429-94D5-9C25-CFBA53B294A3}"/>
              </a:ext>
            </a:extLst>
          </p:cNvPr>
          <p:cNvSpPr>
            <a:spLocks noGrp="1"/>
          </p:cNvSpPr>
          <p:nvPr>
            <p:ph type="body" sz="half" idx="2"/>
          </p:nvPr>
        </p:nvSpPr>
        <p:spPr>
          <a:xfrm>
            <a:off x="768766" y="1986379"/>
            <a:ext cx="11189455" cy="1191827"/>
          </a:xfrm>
        </p:spPr>
        <p:txBody>
          <a:bodyPr>
            <a:normAutofit/>
          </a:bodyPr>
          <a:lstStyle/>
          <a:p>
            <a:r>
              <a:rPr lang="ru-RU" sz="2400" dirty="0">
                <a:solidFill>
                  <a:schemeClr val="bg1"/>
                </a:solidFill>
                <a:latin typeface="Times New Roman" panose="02020603050405020304" pitchFamily="18" charset="0"/>
                <a:cs typeface="Times New Roman" panose="02020603050405020304" pitchFamily="18" charset="0"/>
              </a:rPr>
              <a:t>Към 2000 година обемът (до 256 MiB) и бързодействието на SDR SDRAM станаха недостатъчни и тя бе заменена от DDR SDRAM. Тази памет е 64-битова и има по-ниска консумация на енергия, тъй като се захранва с 2.5V.</a:t>
            </a:r>
            <a:endParaRPr lang="en-GB" sz="2400"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A16BE55-6B79-B6F2-8944-B53EE4C9C2D8}"/>
              </a:ext>
            </a:extLst>
          </p:cNvPr>
          <p:cNvSpPr txBox="1"/>
          <p:nvPr/>
        </p:nvSpPr>
        <p:spPr>
          <a:xfrm>
            <a:off x="8069802" y="5766453"/>
            <a:ext cx="2927836" cy="369332"/>
          </a:xfrm>
          <a:prstGeom prst="rect">
            <a:avLst/>
          </a:prstGeom>
          <a:noFill/>
        </p:spPr>
        <p:txBody>
          <a:bodyPr wrap="square" rtlCol="0">
            <a:spAutoFit/>
          </a:bodyPr>
          <a:lstStyle/>
          <a:p>
            <a:pPr algn="r"/>
            <a:r>
              <a:rPr lang="bg-BG" dirty="0">
                <a:solidFill>
                  <a:schemeClr val="bg1"/>
                </a:solidFill>
                <a:latin typeface="Times New Roman" panose="02020603050405020304" pitchFamily="18" charset="0"/>
                <a:cs typeface="Times New Roman" panose="02020603050405020304" pitchFamily="18" charset="0"/>
              </a:rPr>
              <a:t>Модул </a:t>
            </a:r>
            <a:r>
              <a:rPr lang="en-GB" dirty="0">
                <a:solidFill>
                  <a:schemeClr val="bg1"/>
                </a:solidFill>
                <a:latin typeface="Times New Roman" panose="02020603050405020304" pitchFamily="18" charset="0"/>
                <a:cs typeface="Times New Roman" panose="02020603050405020304" pitchFamily="18" charset="0"/>
              </a:rPr>
              <a:t>DDR SDRAM</a:t>
            </a:r>
          </a:p>
        </p:txBody>
      </p:sp>
    </p:spTree>
    <p:extLst>
      <p:ext uri="{BB962C8B-B14F-4D97-AF65-F5344CB8AC3E}">
        <p14:creationId xmlns:p14="http://schemas.microsoft.com/office/powerpoint/2010/main" val="35783533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F475E5D-F762-B8C5-79A8-88F1D05F5B7A}"/>
              </a:ext>
            </a:extLst>
          </p:cNvPr>
          <p:cNvPicPr>
            <a:picLocks noChangeAspect="1"/>
          </p:cNvPicPr>
          <p:nvPr/>
        </p:nvPicPr>
        <p:blipFill>
          <a:blip r:embed="rId2"/>
          <a:stretch>
            <a:fillRect/>
          </a:stretch>
        </p:blipFill>
        <p:spPr>
          <a:xfrm>
            <a:off x="-1" y="1"/>
            <a:ext cx="12192001" cy="6858000"/>
          </a:xfrm>
          <a:prstGeom prst="rect">
            <a:avLst/>
          </a:prstGeom>
        </p:spPr>
      </p:pic>
      <p:sp>
        <p:nvSpPr>
          <p:cNvPr id="4" name="Text Placeholder 3">
            <a:extLst>
              <a:ext uri="{FF2B5EF4-FFF2-40B4-BE49-F238E27FC236}">
                <a16:creationId xmlns:a16="http://schemas.microsoft.com/office/drawing/2014/main" id="{99415553-C429-94D5-9C25-CFBA53B294A3}"/>
              </a:ext>
            </a:extLst>
          </p:cNvPr>
          <p:cNvSpPr>
            <a:spLocks noGrp="1"/>
          </p:cNvSpPr>
          <p:nvPr>
            <p:ph type="body" sz="half" idx="2"/>
          </p:nvPr>
        </p:nvSpPr>
        <p:spPr>
          <a:xfrm>
            <a:off x="461322" y="1602418"/>
            <a:ext cx="11269354" cy="1973062"/>
          </a:xfrm>
        </p:spPr>
        <p:txBody>
          <a:bodyPr>
            <a:noAutofit/>
          </a:bodyPr>
          <a:lstStyle/>
          <a:p>
            <a:r>
              <a:rPr lang="ru-RU" sz="2400" dirty="0">
                <a:solidFill>
                  <a:schemeClr val="bg1"/>
                </a:solidFill>
                <a:latin typeface="Times New Roman" panose="02020603050405020304" pitchFamily="18" charset="0"/>
                <a:cs typeface="Times New Roman" panose="02020603050405020304" pitchFamily="18" charset="0"/>
              </a:rPr>
              <a:t>Наименованието, съгласно стандарта, на паметите е DDR-XXX, където числото XXX е ефективната честота на синхронизация. Тя е два пъти по-висока отколкото физическата тактова честота. Причината за това е, че DDR синхронизира както по преден, така и по заден фронт на синхроимпулсите. Наименованието на модулите е PC-YYYY, където YYYY е пиковата скорост на обмен в MiB/s.</a:t>
            </a:r>
            <a:endParaRPr lang="en-GB" sz="2400" dirty="0">
              <a:solidFill>
                <a:schemeClr val="bg1"/>
              </a:solidFill>
              <a:latin typeface="Times New Roman" panose="02020603050405020304" pitchFamily="18" charset="0"/>
              <a:cs typeface="Times New Roman" panose="02020603050405020304" pitchFamily="18" charset="0"/>
            </a:endParaRPr>
          </a:p>
        </p:txBody>
      </p:sp>
      <p:pic>
        <p:nvPicPr>
          <p:cNvPr id="10242" name="Picture 2" descr="Ddr Ram Памет Овен - Безплатни векторни графики в Pixabay">
            <a:extLst>
              <a:ext uri="{FF2B5EF4-FFF2-40B4-BE49-F238E27FC236}">
                <a16:creationId xmlns:a16="http://schemas.microsoft.com/office/drawing/2014/main" id="{15BE4C32-BCC1-A69F-20FB-3904C3DA63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8662" y="3361678"/>
            <a:ext cx="60960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56772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ECF451-E2D7-4580-1BFC-5B5CE15F4A42}"/>
              </a:ext>
            </a:extLst>
          </p:cNvPr>
          <p:cNvPicPr>
            <a:picLocks noChangeAspect="1"/>
          </p:cNvPicPr>
          <p:nvPr/>
        </p:nvPicPr>
        <p:blipFill>
          <a:blip r:embed="rId2"/>
          <a:stretch>
            <a:fillRect/>
          </a:stretch>
        </p:blipFill>
        <p:spPr>
          <a:xfrm>
            <a:off x="-1" y="1"/>
            <a:ext cx="12192001" cy="6858000"/>
          </a:xfrm>
          <a:prstGeom prst="rect">
            <a:avLst/>
          </a:prstGeom>
        </p:spPr>
      </p:pic>
      <p:sp>
        <p:nvSpPr>
          <p:cNvPr id="2" name="Title 1">
            <a:extLst>
              <a:ext uri="{FF2B5EF4-FFF2-40B4-BE49-F238E27FC236}">
                <a16:creationId xmlns:a16="http://schemas.microsoft.com/office/drawing/2014/main" id="{755E7DD6-8767-C5C5-95B7-8D0F57F18B53}"/>
              </a:ext>
            </a:extLst>
          </p:cNvPr>
          <p:cNvSpPr>
            <a:spLocks noGrp="1"/>
          </p:cNvSpPr>
          <p:nvPr>
            <p:ph type="title"/>
          </p:nvPr>
        </p:nvSpPr>
        <p:spPr>
          <a:xfrm>
            <a:off x="838200" y="470517"/>
            <a:ext cx="10515600" cy="1220172"/>
          </a:xfrm>
        </p:spPr>
        <p:txBody>
          <a:bodyPr>
            <a:normAutofit/>
          </a:bodyPr>
          <a:lstStyle/>
          <a:p>
            <a:pPr algn="ctr"/>
            <a:r>
              <a:rPr lang="bg-BG" sz="4000" dirty="0">
                <a:solidFill>
                  <a:schemeClr val="bg1"/>
                </a:solidFill>
                <a:latin typeface="Times New Roman" panose="02020603050405020304" pitchFamily="18" charset="0"/>
                <a:cs typeface="Times New Roman" panose="02020603050405020304" pitchFamily="18" charset="0"/>
              </a:rPr>
              <a:t>Параметри на </a:t>
            </a:r>
            <a:r>
              <a:rPr lang="en-GB" sz="4000" dirty="0">
                <a:solidFill>
                  <a:schemeClr val="bg1"/>
                </a:solidFill>
                <a:latin typeface="Times New Roman" panose="02020603050405020304" pitchFamily="18" charset="0"/>
                <a:cs typeface="Times New Roman" panose="02020603050405020304" pitchFamily="18" charset="0"/>
              </a:rPr>
              <a:t>DDR SDRAM</a:t>
            </a:r>
            <a:endParaRPr lang="en-GB" sz="4000" dirty="0">
              <a:solidFill>
                <a:schemeClr val="bg1"/>
              </a:solidFill>
            </a:endParaRPr>
          </a:p>
        </p:txBody>
      </p:sp>
      <p:pic>
        <p:nvPicPr>
          <p:cNvPr id="3" name="Content Placeholder 5">
            <a:extLst>
              <a:ext uri="{FF2B5EF4-FFF2-40B4-BE49-F238E27FC236}">
                <a16:creationId xmlns:a16="http://schemas.microsoft.com/office/drawing/2014/main" id="{F5936653-FA4C-5026-0D42-8C477B98A90E}"/>
              </a:ext>
            </a:extLst>
          </p:cNvPr>
          <p:cNvPicPr>
            <a:picLocks noChangeAspect="1"/>
          </p:cNvPicPr>
          <p:nvPr/>
        </p:nvPicPr>
        <p:blipFill>
          <a:blip r:embed="rId3"/>
          <a:stretch>
            <a:fillRect/>
          </a:stretch>
        </p:blipFill>
        <p:spPr>
          <a:xfrm>
            <a:off x="1517099" y="2361460"/>
            <a:ext cx="9157801" cy="3737499"/>
          </a:xfrm>
          <a:prstGeom prst="rect">
            <a:avLst/>
          </a:prstGeom>
        </p:spPr>
      </p:pic>
    </p:spTree>
    <p:extLst>
      <p:ext uri="{BB962C8B-B14F-4D97-AF65-F5344CB8AC3E}">
        <p14:creationId xmlns:p14="http://schemas.microsoft.com/office/powerpoint/2010/main" val="37786817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A862F4C-4833-E15C-DFCE-0FDDF17DA27A}"/>
              </a:ext>
            </a:extLst>
          </p:cNvPr>
          <p:cNvPicPr>
            <a:picLocks noChangeAspect="1"/>
          </p:cNvPicPr>
          <p:nvPr/>
        </p:nvPicPr>
        <p:blipFill>
          <a:blip r:embed="rId2"/>
          <a:stretch>
            <a:fillRect/>
          </a:stretch>
        </p:blipFill>
        <p:spPr>
          <a:xfrm>
            <a:off x="0" y="0"/>
            <a:ext cx="12192001" cy="6858000"/>
          </a:xfrm>
          <a:prstGeom prst="rect">
            <a:avLst/>
          </a:prstGeom>
        </p:spPr>
      </p:pic>
      <p:sp>
        <p:nvSpPr>
          <p:cNvPr id="2" name="Title 1">
            <a:extLst>
              <a:ext uri="{FF2B5EF4-FFF2-40B4-BE49-F238E27FC236}">
                <a16:creationId xmlns:a16="http://schemas.microsoft.com/office/drawing/2014/main" id="{BEF976C4-BF3A-01D3-DB71-F75B0BB51218}"/>
              </a:ext>
            </a:extLst>
          </p:cNvPr>
          <p:cNvSpPr>
            <a:spLocks noGrp="1"/>
          </p:cNvSpPr>
          <p:nvPr>
            <p:ph type="title"/>
          </p:nvPr>
        </p:nvSpPr>
        <p:spPr>
          <a:xfrm>
            <a:off x="3944145" y="707851"/>
            <a:ext cx="4303710" cy="752383"/>
          </a:xfrm>
        </p:spPr>
        <p:txBody>
          <a:bodyPr>
            <a:normAutofit/>
          </a:bodyPr>
          <a:lstStyle/>
          <a:p>
            <a:r>
              <a:rPr lang="en-GB" sz="4000" dirty="0">
                <a:solidFill>
                  <a:schemeClr val="bg1"/>
                </a:solidFill>
                <a:latin typeface="Times New Roman" panose="02020603050405020304" pitchFamily="18" charset="0"/>
                <a:cs typeface="Times New Roman" panose="02020603050405020304" pitchFamily="18" charset="0"/>
              </a:rPr>
              <a:t>DDR2 SDRAM</a:t>
            </a:r>
          </a:p>
        </p:txBody>
      </p:sp>
      <p:sp>
        <p:nvSpPr>
          <p:cNvPr id="4" name="Text Placeholder 3">
            <a:extLst>
              <a:ext uri="{FF2B5EF4-FFF2-40B4-BE49-F238E27FC236}">
                <a16:creationId xmlns:a16="http://schemas.microsoft.com/office/drawing/2014/main" id="{280E040B-922B-B47B-D41E-694C8AEA2ED8}"/>
              </a:ext>
            </a:extLst>
          </p:cNvPr>
          <p:cNvSpPr>
            <a:spLocks noGrp="1"/>
          </p:cNvSpPr>
          <p:nvPr>
            <p:ph type="body" sz="half" idx="2"/>
          </p:nvPr>
        </p:nvSpPr>
        <p:spPr>
          <a:xfrm>
            <a:off x="839790" y="1931455"/>
            <a:ext cx="5694176" cy="4926545"/>
          </a:xfrm>
        </p:spPr>
        <p:txBody>
          <a:bodyPr>
            <a:noAutofit/>
          </a:bodyPr>
          <a:lstStyle/>
          <a:p>
            <a:r>
              <a:rPr lang="ru-RU" sz="2400" dirty="0">
                <a:solidFill>
                  <a:schemeClr val="bg1"/>
                </a:solidFill>
                <a:latin typeface="Times New Roman" panose="02020603050405020304" pitchFamily="18" charset="0"/>
                <a:cs typeface="Times New Roman" panose="02020603050405020304" pitchFamily="18" charset="0"/>
              </a:rPr>
              <a:t>Следващата във времето SDRAM е DDR2. Паметта се анонсира на пазара през 2003 година. </a:t>
            </a:r>
            <a:r>
              <a:rPr lang="ru-RU" sz="2400" u="sng" dirty="0">
                <a:solidFill>
                  <a:schemeClr val="bg1"/>
                </a:solidFill>
                <a:latin typeface="Times New Roman" panose="02020603050405020304" pitchFamily="18" charset="0"/>
                <a:cs typeface="Times New Roman" panose="02020603050405020304" pitchFamily="18" charset="0"/>
              </a:rPr>
              <a:t>Тези памети са 64-битови</a:t>
            </a:r>
            <a:r>
              <a:rPr lang="ru-RU" sz="2400" dirty="0">
                <a:solidFill>
                  <a:schemeClr val="bg1"/>
                </a:solidFill>
                <a:latin typeface="Times New Roman" panose="02020603050405020304" pitchFamily="18" charset="0"/>
                <a:cs typeface="Times New Roman" panose="02020603050405020304" pitchFamily="18" charset="0"/>
              </a:rPr>
              <a:t> и се захранват с 1.8V. Броят на изводите е 240</a:t>
            </a:r>
            <a:r>
              <a:rPr lang="en-US" sz="2400" dirty="0">
                <a:solidFill>
                  <a:schemeClr val="bg1"/>
                </a:solidFill>
                <a:latin typeface="Times New Roman" panose="02020603050405020304" pitchFamily="18" charset="0"/>
                <a:cs typeface="Times New Roman" panose="02020603050405020304" pitchFamily="18" charset="0"/>
              </a:rPr>
              <a:t>.</a:t>
            </a:r>
          </a:p>
          <a:p>
            <a:r>
              <a:rPr lang="ru-RU" sz="2400" dirty="0">
                <a:solidFill>
                  <a:schemeClr val="bg1"/>
                </a:solidFill>
                <a:latin typeface="Times New Roman" panose="02020603050405020304" pitchFamily="18" charset="0"/>
                <a:cs typeface="Times New Roman" panose="02020603050405020304" pitchFamily="18" charset="0"/>
              </a:rPr>
              <a:t>При DDR2 за един такт на физическия тактов сигнал се прочитат 2 пъти повече данни отколкото при DDR и 4 пъти повече данни отколкото при SDR. Следователно, за един такт се извличат 4 х 64 бита или 256 бита. За да е възможно това са необходими 4 предни фронта за стробиране на данните в рамките на един такт на CLK. Това се постига чрез технология 4n-prefetch.</a:t>
            </a:r>
            <a:endParaRPr lang="en-GB" sz="2400" dirty="0">
              <a:solidFill>
                <a:schemeClr val="bg1"/>
              </a:solidFill>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792ED1CE-A5E2-0F2E-9FD1-CBAF293447A7}"/>
              </a:ext>
            </a:extLst>
          </p:cNvPr>
          <p:cNvPicPr>
            <a:picLocks noGrp="1" noChangeAspect="1" noChangeArrowheads="1"/>
          </p:cNvPicPr>
          <p:nvPr>
            <p:ph idx="1"/>
          </p:nvPr>
        </p:nvPicPr>
        <p:blipFill rotWithShape="1">
          <a:blip r:embed="rId3">
            <a:extLst>
              <a:ext uri="{BEBA8EAE-BF5A-486C-A8C5-ECC9F3942E4B}">
                <a14:imgProps xmlns:a14="http://schemas.microsoft.com/office/drawing/2010/main">
                  <a14:imgLayer r:embed="rId4">
                    <a14:imgEffect>
                      <a14:backgroundRemoval t="13508" b="79925" l="7500" r="92500">
                        <a14:foregroundMark x1="82500" y1="50094" x2="91875" y2="45779"/>
                        <a14:foregroundMark x1="93925" y1="57148" x2="94750" y2="61726"/>
                        <a14:foregroundMark x1="91875" y1="45779" x2="93882" y2="56914"/>
                        <a14:foregroundMark x1="93579" y1="71000" x2="92859" y2="76702"/>
                        <a14:foregroundMark x1="94750" y1="61726" x2="93738" y2="69741"/>
                        <a14:foregroundMark x1="91026" y1="79596" x2="80500" y2="79925"/>
                        <a14:foregroundMark x1="80500" y1="79925" x2="79375" y2="79174"/>
                        <a14:foregroundMark x1="20625" y1="79174" x2="10500" y2="75235"/>
                        <a14:foregroundMark x1="9625" y1="71295" x2="7375" y2="61163"/>
                        <a14:foregroundMark x1="10500" y1="75235" x2="10250" y2="74109"/>
                        <a14:foregroundMark x1="7375" y1="61163" x2="7500" y2="45966"/>
                        <a14:foregroundMark x1="7500" y1="45966" x2="12625" y2="42589"/>
                        <a14:backgroundMark x1="9750" y1="71295" x2="9750" y2="74109"/>
                        <a14:backgroundMark x1="94625" y1="54034" x2="95500" y2="46717"/>
                        <a14:backgroundMark x1="95125" y1="63602" x2="95875" y2="57598"/>
                        <a14:backgroundMark x1="93000" y1="71482" x2="93375" y2="71482"/>
                        <a14:backgroundMark x1="92125" y1="77861" x2="93000" y2="78612"/>
                        <a14:backgroundMark x1="93375" y1="78049" x2="94750" y2="62477"/>
                      </a14:backgroundRemoval>
                    </a14:imgEffect>
                  </a14:imgLayer>
                </a14:imgProps>
              </a:ext>
              <a:ext uri="{28A0092B-C50C-407E-A947-70E740481C1C}">
                <a14:useLocalDpi xmlns:a14="http://schemas.microsoft.com/office/drawing/2010/main" val="0"/>
              </a:ext>
            </a:extLst>
          </a:blip>
          <a:srcRect l="3539" t="5534" r="2465" b="11720"/>
          <a:stretch/>
        </p:blipFill>
        <p:spPr bwMode="auto">
          <a:xfrm>
            <a:off x="6977847" y="2037192"/>
            <a:ext cx="4589755" cy="26918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CC50A67-B290-9E35-1E7D-3B0D058F8725}"/>
              </a:ext>
            </a:extLst>
          </p:cNvPr>
          <p:cNvSpPr txBox="1"/>
          <p:nvPr/>
        </p:nvSpPr>
        <p:spPr>
          <a:xfrm>
            <a:off x="7816492" y="4912381"/>
            <a:ext cx="3751110" cy="379651"/>
          </a:xfrm>
          <a:prstGeom prst="rect">
            <a:avLst/>
          </a:prstGeom>
          <a:noFill/>
        </p:spPr>
        <p:txBody>
          <a:bodyPr wrap="square" rtlCol="0">
            <a:spAutoFit/>
          </a:bodyPr>
          <a:lstStyle/>
          <a:p>
            <a:pPr algn="r"/>
            <a:r>
              <a:rPr lang="bg-BG" dirty="0">
                <a:solidFill>
                  <a:schemeClr val="bg1"/>
                </a:solidFill>
                <a:latin typeface="Times New Roman" panose="02020603050405020304" pitchFamily="18" charset="0"/>
                <a:cs typeface="Times New Roman" panose="02020603050405020304" pitchFamily="18" charset="0"/>
              </a:rPr>
              <a:t>Модул </a:t>
            </a:r>
            <a:r>
              <a:rPr lang="en-GB" dirty="0">
                <a:solidFill>
                  <a:schemeClr val="bg1"/>
                </a:solidFill>
                <a:latin typeface="Times New Roman" panose="02020603050405020304" pitchFamily="18" charset="0"/>
                <a:cs typeface="Times New Roman" panose="02020603050405020304" pitchFamily="18" charset="0"/>
              </a:rPr>
              <a:t>DDR2 SDRAM (PC2-6400)</a:t>
            </a:r>
          </a:p>
        </p:txBody>
      </p:sp>
      <p:pic>
        <p:nvPicPr>
          <p:cNvPr id="10" name="Graphic 9" descr="Arrow Horizontal U turn">
            <a:hlinkClick r:id="rId5" action="ppaction://hlinksldjump"/>
            <a:extLst>
              <a:ext uri="{FF2B5EF4-FFF2-40B4-BE49-F238E27FC236}">
                <a16:creationId xmlns:a16="http://schemas.microsoft.com/office/drawing/2014/main" id="{6BAC0F00-5C4F-6EB4-99D3-F0A012461C8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520888" y="-4763"/>
            <a:ext cx="461964" cy="46196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826030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A6C8C6-B2E2-278F-5FB3-29C8F035FC4A}"/>
              </a:ext>
            </a:extLst>
          </p:cNvPr>
          <p:cNvPicPr>
            <a:picLocks noChangeAspect="1"/>
          </p:cNvPicPr>
          <p:nvPr/>
        </p:nvPicPr>
        <p:blipFill>
          <a:blip r:embed="rId2"/>
          <a:stretch>
            <a:fillRect/>
          </a:stretch>
        </p:blipFill>
        <p:spPr>
          <a:xfrm>
            <a:off x="-1" y="1"/>
            <a:ext cx="12192001" cy="6858000"/>
          </a:xfrm>
          <a:prstGeom prst="rect">
            <a:avLst/>
          </a:prstGeom>
        </p:spPr>
      </p:pic>
      <p:sp>
        <p:nvSpPr>
          <p:cNvPr id="2" name="Title 1">
            <a:extLst>
              <a:ext uri="{FF2B5EF4-FFF2-40B4-BE49-F238E27FC236}">
                <a16:creationId xmlns:a16="http://schemas.microsoft.com/office/drawing/2014/main" id="{592D290B-57EE-B18D-4118-64842E2723D0}"/>
              </a:ext>
            </a:extLst>
          </p:cNvPr>
          <p:cNvSpPr>
            <a:spLocks noGrp="1"/>
          </p:cNvSpPr>
          <p:nvPr>
            <p:ph type="title"/>
          </p:nvPr>
        </p:nvSpPr>
        <p:spPr>
          <a:xfrm>
            <a:off x="838200" y="745724"/>
            <a:ext cx="10515600" cy="944964"/>
          </a:xfrm>
        </p:spPr>
        <p:txBody>
          <a:bodyPr>
            <a:normAutofit/>
          </a:bodyPr>
          <a:lstStyle/>
          <a:p>
            <a:pPr algn="ctr"/>
            <a:r>
              <a:rPr lang="bg-BG" sz="4000" dirty="0">
                <a:solidFill>
                  <a:schemeClr val="bg1"/>
                </a:solidFill>
                <a:latin typeface="Times New Roman" panose="02020603050405020304" pitchFamily="18" charset="0"/>
                <a:cs typeface="Times New Roman" panose="02020603050405020304" pitchFamily="18" charset="0"/>
              </a:rPr>
              <a:t>Параметри на </a:t>
            </a:r>
            <a:r>
              <a:rPr lang="en-GB" sz="4000" dirty="0">
                <a:solidFill>
                  <a:schemeClr val="bg1"/>
                </a:solidFill>
                <a:latin typeface="Times New Roman" panose="02020603050405020304" pitchFamily="18" charset="0"/>
                <a:cs typeface="Times New Roman" panose="02020603050405020304" pitchFamily="18" charset="0"/>
              </a:rPr>
              <a:t>DDR2 SDRAM</a:t>
            </a:r>
          </a:p>
        </p:txBody>
      </p:sp>
      <p:pic>
        <p:nvPicPr>
          <p:cNvPr id="3" name="Picture 2">
            <a:extLst>
              <a:ext uri="{FF2B5EF4-FFF2-40B4-BE49-F238E27FC236}">
                <a16:creationId xmlns:a16="http://schemas.microsoft.com/office/drawing/2014/main" id="{C40EF767-4EB4-E88E-8E29-61E0103E2B79}"/>
              </a:ext>
            </a:extLst>
          </p:cNvPr>
          <p:cNvPicPr>
            <a:picLocks noChangeAspect="1"/>
          </p:cNvPicPr>
          <p:nvPr/>
        </p:nvPicPr>
        <p:blipFill>
          <a:blip r:embed="rId3"/>
          <a:stretch>
            <a:fillRect/>
          </a:stretch>
        </p:blipFill>
        <p:spPr>
          <a:xfrm>
            <a:off x="1544695" y="2296262"/>
            <a:ext cx="9102610" cy="3971373"/>
          </a:xfrm>
          <a:prstGeom prst="rect">
            <a:avLst/>
          </a:prstGeom>
        </p:spPr>
      </p:pic>
    </p:spTree>
    <p:extLst>
      <p:ext uri="{BB962C8B-B14F-4D97-AF65-F5344CB8AC3E}">
        <p14:creationId xmlns:p14="http://schemas.microsoft.com/office/powerpoint/2010/main" val="37512324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7FAE475-C2E2-1D5B-1439-54103EF24DCB}"/>
              </a:ext>
            </a:extLst>
          </p:cNvPr>
          <p:cNvPicPr>
            <a:picLocks noChangeAspect="1"/>
          </p:cNvPicPr>
          <p:nvPr/>
        </p:nvPicPr>
        <p:blipFill>
          <a:blip r:embed="rId2"/>
          <a:stretch>
            <a:fillRect/>
          </a:stretch>
        </p:blipFill>
        <p:spPr>
          <a:xfrm>
            <a:off x="-1" y="1"/>
            <a:ext cx="12192001" cy="6858000"/>
          </a:xfrm>
          <a:prstGeom prst="rect">
            <a:avLst/>
          </a:prstGeom>
        </p:spPr>
      </p:pic>
      <p:sp>
        <p:nvSpPr>
          <p:cNvPr id="2" name="Title 1">
            <a:extLst>
              <a:ext uri="{FF2B5EF4-FFF2-40B4-BE49-F238E27FC236}">
                <a16:creationId xmlns:a16="http://schemas.microsoft.com/office/drawing/2014/main" id="{2D979B5A-E14C-AA47-9034-82C7B8EB90DD}"/>
              </a:ext>
            </a:extLst>
          </p:cNvPr>
          <p:cNvSpPr>
            <a:spLocks noGrp="1"/>
          </p:cNvSpPr>
          <p:nvPr>
            <p:ph type="title"/>
          </p:nvPr>
        </p:nvSpPr>
        <p:spPr>
          <a:xfrm>
            <a:off x="3702965" y="728675"/>
            <a:ext cx="4786066" cy="805649"/>
          </a:xfrm>
        </p:spPr>
        <p:txBody>
          <a:bodyPr>
            <a:normAutofit/>
          </a:bodyPr>
          <a:lstStyle/>
          <a:p>
            <a:pPr algn="ctr"/>
            <a:r>
              <a:rPr lang="en-GB" sz="4000" dirty="0">
                <a:solidFill>
                  <a:schemeClr val="bg1"/>
                </a:solidFill>
                <a:latin typeface="Times New Roman" panose="02020603050405020304" pitchFamily="18" charset="0"/>
                <a:cs typeface="Times New Roman" panose="02020603050405020304" pitchFamily="18" charset="0"/>
              </a:rPr>
              <a:t>DDR3 SDRAM </a:t>
            </a:r>
          </a:p>
        </p:txBody>
      </p:sp>
      <p:sp>
        <p:nvSpPr>
          <p:cNvPr id="4" name="Text Placeholder 3">
            <a:extLst>
              <a:ext uri="{FF2B5EF4-FFF2-40B4-BE49-F238E27FC236}">
                <a16:creationId xmlns:a16="http://schemas.microsoft.com/office/drawing/2014/main" id="{8AEE0780-8AEF-CA55-0714-938A737EE63E}"/>
              </a:ext>
            </a:extLst>
          </p:cNvPr>
          <p:cNvSpPr>
            <a:spLocks noGrp="1"/>
          </p:cNvSpPr>
          <p:nvPr>
            <p:ph type="body" sz="half" idx="2"/>
          </p:nvPr>
        </p:nvSpPr>
        <p:spPr>
          <a:xfrm>
            <a:off x="112448" y="2382049"/>
            <a:ext cx="11967099" cy="3400148"/>
          </a:xfrm>
        </p:spPr>
        <p:txBody>
          <a:bodyPr>
            <a:normAutofit/>
          </a:bodyPr>
          <a:lstStyle/>
          <a:p>
            <a:r>
              <a:rPr lang="ru-RU" sz="2400" dirty="0">
                <a:solidFill>
                  <a:schemeClr val="bg1"/>
                </a:solidFill>
                <a:latin typeface="Times New Roman" panose="02020603050405020304" pitchFamily="18" charset="0"/>
                <a:cs typeface="Times New Roman" panose="02020603050405020304" pitchFamily="18" charset="0"/>
              </a:rPr>
              <a:t>През 2007 година на пазара се анонсира DDR3 SDRAM. Тази памет е 64-битова и се захранва с 1.5V. Максималният обем е 8 GiB. </a:t>
            </a:r>
            <a:endParaRPr lang="en-US" sz="2400" dirty="0">
              <a:solidFill>
                <a:schemeClr val="bg1"/>
              </a:solidFill>
              <a:latin typeface="Times New Roman" panose="02020603050405020304" pitchFamily="18" charset="0"/>
              <a:cs typeface="Times New Roman" panose="02020603050405020304" pitchFamily="18" charset="0"/>
            </a:endParaRPr>
          </a:p>
          <a:p>
            <a:r>
              <a:rPr lang="ru-RU" sz="2400" dirty="0">
                <a:solidFill>
                  <a:schemeClr val="bg1"/>
                </a:solidFill>
                <a:latin typeface="Times New Roman" panose="02020603050405020304" pitchFamily="18" charset="0"/>
                <a:cs typeface="Times New Roman" panose="02020603050405020304" pitchFamily="18" charset="0"/>
              </a:rPr>
              <a:t>При DDR3 за един такт на физическия тактов сигнал се прочитат 2 пъти повече данни отколкото при DDR2, 4 пъти повече данни отколкото при DDR и 8 пъти повече данни отколкото при SDR. Следователно, за един такт се извличат 8 х 64 бита или 512 бита. За да е възможно това са необходими 8 предни фронта за стробиране на данните в рамките на 8 един такт на CLK. Това се постига чрез технология 8n-prefetch. Реализацията на 8n-prefetch изисква 8 изходни и 8 входни буфера, а мултиплексора при операция четене трябва да е 8-входов.</a:t>
            </a:r>
            <a:endParaRPr lang="en-GB"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22967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B13CAD-A92E-940D-548A-B5D5E7C32032}"/>
              </a:ext>
            </a:extLst>
          </p:cNvPr>
          <p:cNvPicPr>
            <a:picLocks noChangeAspect="1"/>
          </p:cNvPicPr>
          <p:nvPr/>
        </p:nvPicPr>
        <p:blipFill>
          <a:blip r:embed="rId2"/>
          <a:stretch>
            <a:fillRect/>
          </a:stretch>
        </p:blipFill>
        <p:spPr>
          <a:xfrm>
            <a:off x="-1" y="1"/>
            <a:ext cx="12192001" cy="6858000"/>
          </a:xfrm>
          <a:prstGeom prst="rect">
            <a:avLst/>
          </a:prstGeom>
        </p:spPr>
      </p:pic>
      <p:sp>
        <p:nvSpPr>
          <p:cNvPr id="2" name="Title 1">
            <a:extLst>
              <a:ext uri="{FF2B5EF4-FFF2-40B4-BE49-F238E27FC236}">
                <a16:creationId xmlns:a16="http://schemas.microsoft.com/office/drawing/2014/main" id="{61C59B68-9889-C5DD-4B9F-DCC3570CD5A8}"/>
              </a:ext>
            </a:extLst>
          </p:cNvPr>
          <p:cNvSpPr>
            <a:spLocks noGrp="1"/>
          </p:cNvSpPr>
          <p:nvPr>
            <p:ph type="title"/>
          </p:nvPr>
        </p:nvSpPr>
        <p:spPr/>
        <p:txBody>
          <a:bodyPr>
            <a:normAutofit/>
          </a:bodyPr>
          <a:lstStyle/>
          <a:p>
            <a:pPr algn="ctr"/>
            <a:r>
              <a:rPr lang="bg-BG" sz="4000" dirty="0">
                <a:solidFill>
                  <a:schemeClr val="bg1"/>
                </a:solidFill>
                <a:latin typeface="Times New Roman" panose="02020603050405020304" pitchFamily="18" charset="0"/>
                <a:cs typeface="Times New Roman" panose="02020603050405020304" pitchFamily="18" charset="0"/>
              </a:rPr>
              <a:t>Параметри на </a:t>
            </a:r>
            <a:r>
              <a:rPr lang="en-GB" sz="4000" dirty="0">
                <a:solidFill>
                  <a:schemeClr val="bg1"/>
                </a:solidFill>
                <a:latin typeface="Times New Roman" panose="02020603050405020304" pitchFamily="18" charset="0"/>
                <a:cs typeface="Times New Roman" panose="02020603050405020304" pitchFamily="18" charset="0"/>
              </a:rPr>
              <a:t>DDR3 SDRAM</a:t>
            </a:r>
          </a:p>
        </p:txBody>
      </p:sp>
      <p:pic>
        <p:nvPicPr>
          <p:cNvPr id="3" name="Content Placeholder 5">
            <a:extLst>
              <a:ext uri="{FF2B5EF4-FFF2-40B4-BE49-F238E27FC236}">
                <a16:creationId xmlns:a16="http://schemas.microsoft.com/office/drawing/2014/main" id="{E42242BB-446E-422E-7573-08EE1984835F}"/>
              </a:ext>
            </a:extLst>
          </p:cNvPr>
          <p:cNvPicPr>
            <a:picLocks noChangeAspect="1"/>
          </p:cNvPicPr>
          <p:nvPr/>
        </p:nvPicPr>
        <p:blipFill>
          <a:blip r:embed="rId3"/>
          <a:stretch>
            <a:fillRect/>
          </a:stretch>
        </p:blipFill>
        <p:spPr>
          <a:xfrm>
            <a:off x="1518672" y="1997475"/>
            <a:ext cx="8874049" cy="4396235"/>
          </a:xfrm>
          <a:prstGeom prst="rect">
            <a:avLst/>
          </a:prstGeom>
        </p:spPr>
      </p:pic>
    </p:spTree>
    <p:extLst>
      <p:ext uri="{BB962C8B-B14F-4D97-AF65-F5344CB8AC3E}">
        <p14:creationId xmlns:p14="http://schemas.microsoft.com/office/powerpoint/2010/main" val="24904157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050D0ED-1B06-B511-A873-5B2DCED90337}"/>
              </a:ext>
            </a:extLst>
          </p:cNvPr>
          <p:cNvPicPr>
            <a:picLocks noChangeAspect="1"/>
          </p:cNvPicPr>
          <p:nvPr/>
        </p:nvPicPr>
        <p:blipFill>
          <a:blip r:embed="rId2"/>
          <a:stretch>
            <a:fillRect/>
          </a:stretch>
        </p:blipFill>
        <p:spPr>
          <a:xfrm>
            <a:off x="-1" y="0"/>
            <a:ext cx="12192001" cy="6858000"/>
          </a:xfrm>
          <a:prstGeom prst="rect">
            <a:avLst/>
          </a:prstGeom>
        </p:spPr>
      </p:pic>
      <p:sp>
        <p:nvSpPr>
          <p:cNvPr id="2" name="Title 1">
            <a:extLst>
              <a:ext uri="{FF2B5EF4-FFF2-40B4-BE49-F238E27FC236}">
                <a16:creationId xmlns:a16="http://schemas.microsoft.com/office/drawing/2014/main" id="{FAB2F078-D692-C0F1-55E3-DD4F127A420B}"/>
              </a:ext>
            </a:extLst>
          </p:cNvPr>
          <p:cNvSpPr>
            <a:spLocks noGrp="1"/>
          </p:cNvSpPr>
          <p:nvPr>
            <p:ph type="title"/>
          </p:nvPr>
        </p:nvSpPr>
        <p:spPr>
          <a:xfrm>
            <a:off x="3867150" y="266911"/>
            <a:ext cx="3833647" cy="971338"/>
          </a:xfrm>
        </p:spPr>
        <p:txBody>
          <a:bodyPr>
            <a:normAutofit/>
          </a:bodyPr>
          <a:lstStyle/>
          <a:p>
            <a:pPr algn="ctr"/>
            <a:r>
              <a:rPr lang="en-GB" sz="4000" dirty="0">
                <a:solidFill>
                  <a:schemeClr val="bg1"/>
                </a:solidFill>
                <a:latin typeface="Times New Roman" panose="02020603050405020304" pitchFamily="18" charset="0"/>
                <a:cs typeface="Times New Roman" panose="02020603050405020304" pitchFamily="18" charset="0"/>
              </a:rPr>
              <a:t>DDR4 SDRAM</a:t>
            </a:r>
          </a:p>
        </p:txBody>
      </p:sp>
      <p:sp>
        <p:nvSpPr>
          <p:cNvPr id="4" name="Text Placeholder 3">
            <a:extLst>
              <a:ext uri="{FF2B5EF4-FFF2-40B4-BE49-F238E27FC236}">
                <a16:creationId xmlns:a16="http://schemas.microsoft.com/office/drawing/2014/main" id="{0D3DB64F-0AAB-83C6-DF9C-9DC39DD70A9D}"/>
              </a:ext>
            </a:extLst>
          </p:cNvPr>
          <p:cNvSpPr>
            <a:spLocks noGrp="1"/>
          </p:cNvSpPr>
          <p:nvPr>
            <p:ph type="body" sz="half" idx="2"/>
          </p:nvPr>
        </p:nvSpPr>
        <p:spPr>
          <a:xfrm>
            <a:off x="558965" y="2410639"/>
            <a:ext cx="3932237" cy="3811588"/>
          </a:xfrm>
        </p:spPr>
        <p:txBody>
          <a:bodyPr>
            <a:normAutofit/>
          </a:bodyPr>
          <a:lstStyle/>
          <a:p>
            <a:r>
              <a:rPr lang="ru-RU" sz="2400" dirty="0">
                <a:solidFill>
                  <a:schemeClr val="bg1"/>
                </a:solidFill>
                <a:latin typeface="Times New Roman" panose="02020603050405020304" pitchFamily="18" charset="0"/>
                <a:cs typeface="Times New Roman" panose="02020603050405020304" pitchFamily="18" charset="0"/>
              </a:rPr>
              <a:t>През 2014 година на пазара се анонсират памети DDR4 SDRAM. Захранващото напрежение на тези памети е 1.2V. Броят на изводите е 288. Максималният обем DDR4 памет, който може да се инсталира e до 512 GiB.</a:t>
            </a:r>
            <a:endParaRPr lang="en-GB" sz="2400" dirty="0">
              <a:solidFill>
                <a:schemeClr val="bg1"/>
              </a:solidFill>
              <a:latin typeface="Times New Roman" panose="02020603050405020304" pitchFamily="18" charset="0"/>
              <a:cs typeface="Times New Roman" panose="02020603050405020304" pitchFamily="18" charset="0"/>
            </a:endParaRPr>
          </a:p>
        </p:txBody>
      </p:sp>
      <p:pic>
        <p:nvPicPr>
          <p:cNvPr id="5122" name="Picture 2" descr="Kingston 8GB DDR4 SDRAM Memory Module at Amazon.com">
            <a:extLst>
              <a:ext uri="{FF2B5EF4-FFF2-40B4-BE49-F238E27FC236}">
                <a16:creationId xmlns:a16="http://schemas.microsoft.com/office/drawing/2014/main" id="{DA75EF5C-69DF-623C-7456-ECD3E79A36FB}"/>
              </a:ext>
            </a:extLst>
          </p:cNvPr>
          <p:cNvPicPr>
            <a:picLocks noGrp="1" noChangeAspect="1" noChangeArrowheads="1"/>
          </p:cNvPicPr>
          <p:nvPr>
            <p:ph idx="1"/>
          </p:nvPr>
        </p:nvPicPr>
        <p:blipFill>
          <a:blip r:embed="rId3">
            <a:extLst>
              <a:ext uri="{BEBA8EAE-BF5A-486C-A8C5-ECC9F3942E4B}">
                <a14:imgProps xmlns:a14="http://schemas.microsoft.com/office/drawing/2010/main">
                  <a14:imgLayer r:embed="rId4">
                    <a14:imgEffect>
                      <a14:backgroundRemoval t="10000" b="90000" l="2875" r="95833">
                        <a14:foregroundMark x1="10583" y1="80733" x2="3167" y2="75533"/>
                        <a14:foregroundMark x1="2955" y1="35892" x2="2875" y2="21000"/>
                        <a14:foregroundMark x1="3167" y1="75533" x2="3042" y2="52339"/>
                        <a14:foregroundMark x1="4899" y1="20341" x2="9833" y2="18733"/>
                        <a14:foregroundMark x1="2875" y1="21000" x2="3895" y2="20668"/>
                        <a14:foregroundMark x1="92757" y1="19202" x2="96083" y2="20000"/>
                        <a14:foregroundMark x1="87750" y1="18000" x2="92706" y2="19190"/>
                        <a14:foregroundMark x1="95973" y1="43798" x2="95833" y2="73867"/>
                        <a14:foregroundMark x1="96083" y1="20000" x2="96019" y2="33739"/>
                        <a14:foregroundMark x1="95833" y1="73867" x2="89375" y2="81200"/>
                        <a14:foregroundMark x1="89375" y1="81200" x2="88542" y2="80933"/>
                        <a14:backgroundMark x1="2417" y1="35800" x2="1958" y2="42667"/>
                        <a14:backgroundMark x1="96083" y1="41467" x2="96083" y2="36000"/>
                        <a14:backgroundMark x1="95458" y1="41467" x2="96708" y2="42933"/>
                        <a14:backgroundMark x1="95458" y1="37000" x2="96542" y2="35000"/>
                        <a14:backgroundMark x1="96708" y1="34800" x2="95625" y2="35267"/>
                        <a14:backgroundMark x1="3792" y1="40733" x2="2250" y2="52067"/>
                        <a14:backgroundMark x1="3667" y1="37733" x2="2583" y2="20733"/>
                        <a14:backgroundMark x1="6583" y1="69867" x2="5333" y2="69133"/>
                        <a14:backgroundMark x1="4750" y1="61933" x2="4750" y2="61933"/>
                        <a14:backgroundMark x1="4750" y1="21467" x2="4750" y2="21467"/>
                        <a14:backgroundMark x1="4417" y1="21467" x2="4417" y2="21467"/>
                        <a14:backgroundMark x1="3958" y1="20467" x2="4583" y2="20000"/>
                        <a14:backgroundMark x1="4875" y1="21200" x2="4417" y2="20933"/>
                        <a14:backgroundMark x1="5042" y1="20933" x2="4583" y2="19733"/>
                        <a14:backgroundMark x1="4875" y1="20467" x2="4125" y2="20933"/>
                        <a14:backgroundMark x1="93167" y1="20933" x2="92708" y2="19200"/>
                        <a14:backgroundMark x1="92833" y1="69333" x2="92375" y2="68600"/>
                      </a14:backgroundRemoval>
                    </a14:imgEffect>
                  </a14:imgLayer>
                </a14:imgProps>
              </a:ext>
              <a:ext uri="{28A0092B-C50C-407E-A947-70E740481C1C}">
                <a14:useLocalDpi xmlns:a14="http://schemas.microsoft.com/office/drawing/2010/main" val="0"/>
              </a:ext>
            </a:extLst>
          </a:blip>
          <a:srcRect/>
          <a:stretch>
            <a:fillRect/>
          </a:stretch>
        </p:blipFill>
        <p:spPr bwMode="auto">
          <a:xfrm>
            <a:off x="5255501" y="2119312"/>
            <a:ext cx="617220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50977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44573D-E016-802C-38E4-C190BD8BB53D}"/>
              </a:ext>
            </a:extLst>
          </p:cNvPr>
          <p:cNvPicPr>
            <a:picLocks noChangeAspect="1"/>
          </p:cNvPicPr>
          <p:nvPr/>
        </p:nvPicPr>
        <p:blipFill>
          <a:blip r:embed="rId2"/>
          <a:stretch>
            <a:fillRect/>
          </a:stretch>
        </p:blipFill>
        <p:spPr>
          <a:xfrm>
            <a:off x="-1" y="1"/>
            <a:ext cx="12192001" cy="6858000"/>
          </a:xfrm>
          <a:prstGeom prst="rect">
            <a:avLst/>
          </a:prstGeom>
        </p:spPr>
      </p:pic>
      <p:pic>
        <p:nvPicPr>
          <p:cNvPr id="3" name="Content Placeholder 5">
            <a:extLst>
              <a:ext uri="{FF2B5EF4-FFF2-40B4-BE49-F238E27FC236}">
                <a16:creationId xmlns:a16="http://schemas.microsoft.com/office/drawing/2014/main" id="{7743DC0E-7CCC-3D71-F1BA-6AEE316AB200}"/>
              </a:ext>
            </a:extLst>
          </p:cNvPr>
          <p:cNvPicPr>
            <a:picLocks noChangeAspect="1"/>
          </p:cNvPicPr>
          <p:nvPr/>
        </p:nvPicPr>
        <p:blipFill>
          <a:blip r:embed="rId3"/>
          <a:stretch>
            <a:fillRect/>
          </a:stretch>
        </p:blipFill>
        <p:spPr>
          <a:xfrm>
            <a:off x="1892512" y="1798665"/>
            <a:ext cx="8406975" cy="4635382"/>
          </a:xfrm>
          <a:prstGeom prst="rect">
            <a:avLst/>
          </a:prstGeom>
        </p:spPr>
      </p:pic>
      <p:sp>
        <p:nvSpPr>
          <p:cNvPr id="4" name="Title 3">
            <a:extLst>
              <a:ext uri="{FF2B5EF4-FFF2-40B4-BE49-F238E27FC236}">
                <a16:creationId xmlns:a16="http://schemas.microsoft.com/office/drawing/2014/main" id="{34F57BFA-4C31-6E77-363A-278A3CC49640}"/>
              </a:ext>
            </a:extLst>
          </p:cNvPr>
          <p:cNvSpPr txBox="1">
            <a:spLocks noGrp="1"/>
          </p:cNvSpPr>
          <p:nvPr>
            <p:ph type="title"/>
          </p:nvPr>
        </p:nvSpPr>
        <p:spPr>
          <a:xfrm>
            <a:off x="838200" y="704741"/>
            <a:ext cx="10515600" cy="646331"/>
          </a:xfrm>
          <a:prstGeom prst="rect">
            <a:avLst/>
          </a:prstGeom>
          <a:noFill/>
        </p:spPr>
        <p:txBody>
          <a:bodyPr wrap="square" rtlCol="0">
            <a:spAutoFit/>
          </a:bodyPr>
          <a:lstStyle/>
          <a:p>
            <a:pPr algn="ctr"/>
            <a:r>
              <a:rPr lang="bg-BG" sz="4000" dirty="0">
                <a:solidFill>
                  <a:schemeClr val="bg1"/>
                </a:solidFill>
                <a:latin typeface="Times New Roman" panose="02020603050405020304" pitchFamily="18" charset="0"/>
                <a:cs typeface="Times New Roman" panose="02020603050405020304" pitchFamily="18" charset="0"/>
              </a:rPr>
              <a:t>Параметри на </a:t>
            </a:r>
            <a:r>
              <a:rPr lang="en-GB" sz="4000" dirty="0">
                <a:solidFill>
                  <a:schemeClr val="bg1"/>
                </a:solidFill>
                <a:latin typeface="Times New Roman" panose="02020603050405020304" pitchFamily="18" charset="0"/>
                <a:cs typeface="Times New Roman" panose="02020603050405020304" pitchFamily="18" charset="0"/>
              </a:rPr>
              <a:t>DDR4 SDRAM</a:t>
            </a:r>
          </a:p>
        </p:txBody>
      </p:sp>
    </p:spTree>
    <p:extLst>
      <p:ext uri="{BB962C8B-B14F-4D97-AF65-F5344CB8AC3E}">
        <p14:creationId xmlns:p14="http://schemas.microsoft.com/office/powerpoint/2010/main" val="161923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596236-BD0C-DA78-F6DA-F132EAFB580F}"/>
              </a:ext>
            </a:extLst>
          </p:cNvPr>
          <p:cNvPicPr>
            <a:picLocks noChangeAspect="1"/>
          </p:cNvPicPr>
          <p:nvPr/>
        </p:nvPicPr>
        <p:blipFill>
          <a:blip r:embed="rId2"/>
          <a:stretch>
            <a:fillRect/>
          </a:stretch>
        </p:blipFill>
        <p:spPr>
          <a:xfrm>
            <a:off x="-1" y="0"/>
            <a:ext cx="12192001" cy="6858000"/>
          </a:xfrm>
          <a:prstGeom prst="rect">
            <a:avLst/>
          </a:prstGeom>
        </p:spPr>
      </p:pic>
      <p:sp>
        <p:nvSpPr>
          <p:cNvPr id="2" name="TextBox 1">
            <a:extLst>
              <a:ext uri="{FF2B5EF4-FFF2-40B4-BE49-F238E27FC236}">
                <a16:creationId xmlns:a16="http://schemas.microsoft.com/office/drawing/2014/main" id="{FF46CA16-B15A-5659-CFBD-0F0E32C3B331}"/>
              </a:ext>
            </a:extLst>
          </p:cNvPr>
          <p:cNvSpPr txBox="1"/>
          <p:nvPr/>
        </p:nvSpPr>
        <p:spPr>
          <a:xfrm>
            <a:off x="488272" y="1443841"/>
            <a:ext cx="11215456" cy="3970318"/>
          </a:xfrm>
          <a:prstGeom prst="rect">
            <a:avLst/>
          </a:prstGeom>
          <a:noFill/>
        </p:spPr>
        <p:txBody>
          <a:bodyPr wrap="square" rtlCol="0">
            <a:spAutoFit/>
          </a:bodyPr>
          <a:lstStyle/>
          <a:p>
            <a:r>
              <a:rPr lang="ru-RU" sz="2800" dirty="0">
                <a:solidFill>
                  <a:schemeClr val="bg1"/>
                </a:solidFill>
                <a:latin typeface="Times New Roman" panose="02020603050405020304" pitchFamily="18" charset="0"/>
                <a:cs typeface="Times New Roman" panose="02020603050405020304" pitchFamily="18" charset="0"/>
              </a:rPr>
              <a:t>При DDR4 за един такт на физическия тактов сигнал се прочитат 2 пъти повече данни отколкото при DDR3, 4 пъти повече данни отколкото при DDR2 и 8 пъти повече данни отколкото при DDR и 16 пъти повече данни отколкото при SDR. Следователно, за един такт се извличат 16 х 64 бита или 1024 бита. За да е възможно това са необходими 16 предни фронта за стробиране на данните в рамките на един такт на CLK. Това се постига чрез технология 16n-prefetch. Реализацията на 16n-prefetch изисква 16 изходни и 16 входни буфера, а мултиплексора при операция четене трябва да е 16-входов. </a:t>
            </a:r>
            <a:endParaRPr lang="en-GB" sz="2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27504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79A1A9-A2D5-B4C8-5D8B-E53ABFC7034C}"/>
              </a:ext>
            </a:extLst>
          </p:cNvPr>
          <p:cNvPicPr>
            <a:picLocks noChangeAspect="1"/>
          </p:cNvPicPr>
          <p:nvPr/>
        </p:nvPicPr>
        <p:blipFill>
          <a:blip r:embed="rId2"/>
          <a:stretch>
            <a:fillRect/>
          </a:stretch>
        </p:blipFill>
        <p:spPr>
          <a:xfrm>
            <a:off x="0" y="0"/>
            <a:ext cx="12192001" cy="6858000"/>
          </a:xfrm>
          <a:prstGeom prst="rect">
            <a:avLst/>
          </a:prstGeom>
        </p:spPr>
      </p:pic>
      <p:sp>
        <p:nvSpPr>
          <p:cNvPr id="2" name="Title 1">
            <a:extLst>
              <a:ext uri="{FF2B5EF4-FFF2-40B4-BE49-F238E27FC236}">
                <a16:creationId xmlns:a16="http://schemas.microsoft.com/office/drawing/2014/main" id="{C51EE93A-E637-B3F3-C9C5-44EAACC36EA7}"/>
              </a:ext>
            </a:extLst>
          </p:cNvPr>
          <p:cNvSpPr>
            <a:spLocks noGrp="1"/>
          </p:cNvSpPr>
          <p:nvPr>
            <p:ph type="title"/>
          </p:nvPr>
        </p:nvSpPr>
        <p:spPr>
          <a:xfrm>
            <a:off x="4246896" y="843379"/>
            <a:ext cx="3932237" cy="741285"/>
          </a:xfrm>
        </p:spPr>
        <p:txBody>
          <a:bodyPr>
            <a:normAutofit/>
          </a:bodyPr>
          <a:lstStyle/>
          <a:p>
            <a:pPr algn="ctr"/>
            <a:r>
              <a:rPr lang="en-GB" sz="4000" dirty="0">
                <a:solidFill>
                  <a:schemeClr val="bg1"/>
                </a:solidFill>
                <a:latin typeface="Times New Roman" panose="02020603050405020304" pitchFamily="18" charset="0"/>
                <a:cs typeface="Times New Roman" panose="02020603050405020304" pitchFamily="18" charset="0"/>
              </a:rPr>
              <a:t>DDR5 SDRAM </a:t>
            </a:r>
          </a:p>
        </p:txBody>
      </p:sp>
      <p:sp>
        <p:nvSpPr>
          <p:cNvPr id="4" name="Text Placeholder 3">
            <a:extLst>
              <a:ext uri="{FF2B5EF4-FFF2-40B4-BE49-F238E27FC236}">
                <a16:creationId xmlns:a16="http://schemas.microsoft.com/office/drawing/2014/main" id="{939B5B53-9501-B41E-28C0-03394CF70EF5}"/>
              </a:ext>
            </a:extLst>
          </p:cNvPr>
          <p:cNvSpPr>
            <a:spLocks noGrp="1"/>
          </p:cNvSpPr>
          <p:nvPr>
            <p:ph type="body" sz="half" idx="2"/>
          </p:nvPr>
        </p:nvSpPr>
        <p:spPr>
          <a:xfrm>
            <a:off x="839788" y="2057398"/>
            <a:ext cx="5373227" cy="4698507"/>
          </a:xfrm>
        </p:spPr>
        <p:txBody>
          <a:bodyPr>
            <a:normAutofit lnSpcReduction="10000"/>
          </a:bodyPr>
          <a:lstStyle/>
          <a:p>
            <a:r>
              <a:rPr lang="ru-RU" sz="2400" dirty="0">
                <a:solidFill>
                  <a:schemeClr val="bg1"/>
                </a:solidFill>
                <a:latin typeface="Times New Roman" panose="02020603050405020304" pitchFamily="18" charset="0"/>
                <a:cs typeface="Times New Roman" panose="02020603050405020304" pitchFamily="18" charset="0"/>
              </a:rPr>
              <a:t>През 2019 година JEDEC финализира стандарта DDR5 SDRAM. Тези модули се захранват с 1.1 V, като по този начин се намалява консумацията на енергия. Модулите DDR5 имат вградени регулатори на напрежение. Поради високата цена на паметите се очаква те да се използват само за сървърни платформи и 5G комуникационни платформи. DDR5 поддържа скорост до 51.2 GB/s на модул. Поддръжката на DDR5 за персонални компютри и лаптопи зависи основно от фирмите производители на чипсети</a:t>
            </a:r>
            <a:endParaRPr lang="en-GB" sz="2400" dirty="0">
              <a:solidFill>
                <a:schemeClr val="bg1"/>
              </a:solidFill>
              <a:latin typeface="Times New Roman" panose="02020603050405020304" pitchFamily="18" charset="0"/>
              <a:cs typeface="Times New Roman" panose="02020603050405020304" pitchFamily="18" charset="0"/>
            </a:endParaRPr>
          </a:p>
        </p:txBody>
      </p:sp>
      <p:pic>
        <p:nvPicPr>
          <p:cNvPr id="3074" name="Picture 2" descr="DDR5 SDRAM - Wikipedia">
            <a:extLst>
              <a:ext uri="{FF2B5EF4-FFF2-40B4-BE49-F238E27FC236}">
                <a16:creationId xmlns:a16="http://schemas.microsoft.com/office/drawing/2014/main" id="{5E404B6E-AB69-45F7-0996-FA5BE655E1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5894" y="2057398"/>
            <a:ext cx="5373227" cy="3586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10856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CA58FF-80CB-1962-507F-7FCF1370F283}"/>
              </a:ext>
            </a:extLst>
          </p:cNvPr>
          <p:cNvPicPr>
            <a:picLocks noChangeAspect="1"/>
          </p:cNvPicPr>
          <p:nvPr/>
        </p:nvPicPr>
        <p:blipFill>
          <a:blip r:embed="rId2"/>
          <a:stretch>
            <a:fillRect/>
          </a:stretch>
        </p:blipFill>
        <p:spPr>
          <a:xfrm>
            <a:off x="-1" y="0"/>
            <a:ext cx="12192001" cy="6858000"/>
          </a:xfrm>
          <a:prstGeom prst="rect">
            <a:avLst/>
          </a:prstGeom>
        </p:spPr>
      </p:pic>
      <p:sp>
        <p:nvSpPr>
          <p:cNvPr id="2" name="Title 1">
            <a:extLst>
              <a:ext uri="{FF2B5EF4-FFF2-40B4-BE49-F238E27FC236}">
                <a16:creationId xmlns:a16="http://schemas.microsoft.com/office/drawing/2014/main" id="{8EB6634D-2823-2CC4-3A03-CDC41F0A43C8}"/>
              </a:ext>
            </a:extLst>
          </p:cNvPr>
          <p:cNvSpPr>
            <a:spLocks noGrp="1"/>
          </p:cNvSpPr>
          <p:nvPr>
            <p:ph type="ctrTitle"/>
          </p:nvPr>
        </p:nvSpPr>
        <p:spPr>
          <a:xfrm>
            <a:off x="1524000" y="266701"/>
            <a:ext cx="9144000" cy="914399"/>
          </a:xfrm>
        </p:spPr>
        <p:txBody>
          <a:bodyPr>
            <a:normAutofit/>
          </a:bodyPr>
          <a:lstStyle/>
          <a:p>
            <a:r>
              <a:rPr lang="bg-BG" sz="4000" dirty="0">
                <a:solidFill>
                  <a:schemeClr val="bg1"/>
                </a:solidFill>
                <a:latin typeface="Times New Roman" panose="02020603050405020304" pitchFamily="18" charset="0"/>
                <a:cs typeface="Times New Roman" panose="02020603050405020304" pitchFamily="18" charset="0"/>
              </a:rPr>
              <a:t>Тест</a:t>
            </a:r>
            <a:endParaRPr lang="en-GB" sz="4000" dirty="0">
              <a:solidFill>
                <a:schemeClr val="bg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86DAD2C-0258-EFEC-6539-8447A332E56C}"/>
              </a:ext>
            </a:extLst>
          </p:cNvPr>
          <p:cNvSpPr>
            <a:spLocks noGrp="1"/>
          </p:cNvSpPr>
          <p:nvPr>
            <p:ph type="subTitle" idx="1"/>
          </p:nvPr>
        </p:nvSpPr>
        <p:spPr>
          <a:xfrm>
            <a:off x="1524000" y="1381125"/>
            <a:ext cx="9144000" cy="5210174"/>
          </a:xfrm>
        </p:spPr>
        <p:txBody>
          <a:bodyPr/>
          <a:lstStyle/>
          <a:p>
            <a:pPr algn="l"/>
            <a:r>
              <a:rPr lang="bg-BG" dirty="0">
                <a:solidFill>
                  <a:schemeClr val="bg1"/>
                </a:solidFill>
                <a:latin typeface="Times New Roman" panose="02020603050405020304" pitchFamily="18" charset="0"/>
                <a:cs typeface="Times New Roman" panose="02020603050405020304" pitchFamily="18" charset="0"/>
              </a:rPr>
              <a:t>1. Обяснете какво е Рам памет?</a:t>
            </a:r>
          </a:p>
          <a:p>
            <a:pPr algn="l"/>
            <a:r>
              <a:rPr lang="bg-BG" sz="1800" dirty="0">
                <a:solidFill>
                  <a:schemeClr val="bg1"/>
                </a:solidFill>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val="tx"/>
                    </a:ext>
                  </a:extLst>
                </a:hlinkClick>
              </a:rPr>
              <a:t>Отговор</a:t>
            </a:r>
            <a:r>
              <a:rPr lang="bg-BG" dirty="0">
                <a:solidFill>
                  <a:schemeClr val="bg1"/>
                </a:solidFill>
                <a:latin typeface="Times New Roman" panose="02020603050405020304" pitchFamily="18" charset="0"/>
                <a:cs typeface="Times New Roman" panose="02020603050405020304" pitchFamily="18" charset="0"/>
              </a:rPr>
              <a:t> </a:t>
            </a:r>
          </a:p>
          <a:p>
            <a:pPr algn="l"/>
            <a:r>
              <a:rPr lang="bg-BG" dirty="0">
                <a:solidFill>
                  <a:schemeClr val="bg1"/>
                </a:solidFill>
                <a:latin typeface="Times New Roman" panose="02020603050405020304" pitchFamily="18" charset="0"/>
                <a:cs typeface="Times New Roman" panose="02020603050405020304" pitchFamily="18" charset="0"/>
              </a:rPr>
              <a:t>2. Каква е разликата между Ром и Рам</a:t>
            </a:r>
          </a:p>
          <a:p>
            <a:pPr algn="l"/>
            <a:r>
              <a:rPr lang="bg-BG" sz="1800" dirty="0">
                <a:solidFill>
                  <a:schemeClr val="bg1"/>
                </a:solidFill>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val="tx"/>
                    </a:ext>
                  </a:extLst>
                </a:hlinkClick>
              </a:rPr>
              <a:t>Отговор</a:t>
            </a:r>
            <a:endParaRPr lang="bg-BG" sz="1800" dirty="0">
              <a:solidFill>
                <a:schemeClr val="bg1"/>
              </a:solidFill>
              <a:latin typeface="Times New Roman" panose="02020603050405020304" pitchFamily="18" charset="0"/>
              <a:cs typeface="Times New Roman" panose="02020603050405020304" pitchFamily="18" charset="0"/>
            </a:endParaRPr>
          </a:p>
          <a:p>
            <a:pPr algn="l"/>
            <a:r>
              <a:rPr lang="bg-BG" dirty="0">
                <a:solidFill>
                  <a:schemeClr val="bg1"/>
                </a:solidFill>
                <a:latin typeface="Times New Roman" panose="02020603050405020304" pitchFamily="18" charset="0"/>
                <a:cs typeface="Times New Roman" panose="02020603050405020304" pitchFamily="18" charset="0"/>
              </a:rPr>
              <a:t>3. Избройте всички познати видове Рам памети</a:t>
            </a:r>
          </a:p>
          <a:p>
            <a:pPr algn="l"/>
            <a:r>
              <a:rPr lang="bg-BG" sz="1800" dirty="0">
                <a:solidFill>
                  <a:schemeClr val="bg1"/>
                </a:solidFill>
                <a:latin typeface="Times New Roman" panose="02020603050405020304" pitchFamily="18" charset="0"/>
                <a:cs typeface="Times New Roman" panose="02020603050405020304" pitchFamily="18" charset="0"/>
                <a:hlinkClick r:id="rId5" action="ppaction://hlinksldjump">
                  <a:extLst>
                    <a:ext uri="{A12FA001-AC4F-418D-AE19-62706E023703}">
                      <ahyp:hlinkClr xmlns:ahyp="http://schemas.microsoft.com/office/drawing/2018/hyperlinkcolor" val="tx"/>
                    </a:ext>
                  </a:extLst>
                </a:hlinkClick>
              </a:rPr>
              <a:t>Отговор</a:t>
            </a:r>
            <a:endParaRPr lang="bg-BG" sz="1800" dirty="0">
              <a:solidFill>
                <a:schemeClr val="bg1"/>
              </a:solidFill>
              <a:latin typeface="Times New Roman" panose="02020603050405020304" pitchFamily="18" charset="0"/>
              <a:cs typeface="Times New Roman" panose="02020603050405020304" pitchFamily="18" charset="0"/>
            </a:endParaRPr>
          </a:p>
          <a:p>
            <a:pPr algn="l"/>
            <a:r>
              <a:rPr lang="bg-BG" dirty="0">
                <a:solidFill>
                  <a:schemeClr val="bg1"/>
                </a:solidFill>
                <a:latin typeface="Times New Roman" panose="02020603050405020304" pitchFamily="18" charset="0"/>
                <a:cs typeface="Times New Roman" panose="02020603050405020304" pitchFamily="18" charset="0"/>
              </a:rPr>
              <a:t>4. За какво се използва </a:t>
            </a:r>
            <a:r>
              <a:rPr lang="en-US" dirty="0">
                <a:solidFill>
                  <a:schemeClr val="bg1"/>
                </a:solidFill>
                <a:latin typeface="Times New Roman" panose="02020603050405020304" pitchFamily="18" charset="0"/>
                <a:cs typeface="Times New Roman" panose="02020603050405020304" pitchFamily="18" charset="0"/>
              </a:rPr>
              <a:t>SRAM</a:t>
            </a:r>
          </a:p>
          <a:p>
            <a:pPr algn="l"/>
            <a:r>
              <a:rPr lang="bg-BG" sz="1800" dirty="0">
                <a:solidFill>
                  <a:schemeClr val="bg1"/>
                </a:solidFill>
                <a:latin typeface="Times New Roman" panose="02020603050405020304" pitchFamily="18" charset="0"/>
                <a:cs typeface="Times New Roman" panose="02020603050405020304" pitchFamily="18" charset="0"/>
                <a:hlinkClick r:id="rId6" action="ppaction://hlinksldjump">
                  <a:extLst>
                    <a:ext uri="{A12FA001-AC4F-418D-AE19-62706E023703}">
                      <ahyp:hlinkClr xmlns:ahyp="http://schemas.microsoft.com/office/drawing/2018/hyperlinkcolor" val="tx"/>
                    </a:ext>
                  </a:extLst>
                </a:hlinkClick>
              </a:rPr>
              <a:t>Отговор</a:t>
            </a:r>
            <a:endParaRPr lang="en-US" sz="2400" dirty="0">
              <a:solidFill>
                <a:schemeClr val="bg1"/>
              </a:solidFill>
              <a:latin typeface="Times New Roman" panose="02020603050405020304" pitchFamily="18" charset="0"/>
              <a:cs typeface="Times New Roman" panose="02020603050405020304" pitchFamily="18" charset="0"/>
            </a:endParaRPr>
          </a:p>
          <a:p>
            <a:pPr algn="l"/>
            <a:r>
              <a:rPr lang="en-US" dirty="0">
                <a:solidFill>
                  <a:schemeClr val="bg1"/>
                </a:solidFill>
                <a:latin typeface="Times New Roman" panose="02020603050405020304" pitchFamily="18" charset="0"/>
                <a:cs typeface="Times New Roman" panose="02020603050405020304" pitchFamily="18" charset="0"/>
              </a:rPr>
              <a:t>5. </a:t>
            </a:r>
            <a:r>
              <a:rPr lang="bg-BG" dirty="0">
                <a:solidFill>
                  <a:schemeClr val="bg1"/>
                </a:solidFill>
                <a:latin typeface="Times New Roman" panose="02020603050405020304" pitchFamily="18" charset="0"/>
                <a:cs typeface="Times New Roman" panose="02020603050405020304" pitchFamily="18" charset="0"/>
              </a:rPr>
              <a:t>Колко битови са </a:t>
            </a:r>
            <a:r>
              <a:rPr lang="en-US" dirty="0">
                <a:solidFill>
                  <a:schemeClr val="bg1"/>
                </a:solidFill>
                <a:latin typeface="Times New Roman" panose="02020603050405020304" pitchFamily="18" charset="0"/>
                <a:cs typeface="Times New Roman" panose="02020603050405020304" pitchFamily="18" charset="0"/>
              </a:rPr>
              <a:t>DDR </a:t>
            </a:r>
            <a:r>
              <a:rPr lang="bg-BG" dirty="0">
                <a:solidFill>
                  <a:schemeClr val="bg1"/>
                </a:solidFill>
                <a:latin typeface="Times New Roman" panose="02020603050405020304" pitchFamily="18" charset="0"/>
                <a:cs typeface="Times New Roman" panose="02020603050405020304" pitchFamily="18" charset="0"/>
              </a:rPr>
              <a:t>паметите?</a:t>
            </a:r>
            <a:endParaRPr lang="en-US" dirty="0">
              <a:solidFill>
                <a:schemeClr val="bg1"/>
              </a:solidFill>
              <a:latin typeface="Times New Roman" panose="02020603050405020304" pitchFamily="18" charset="0"/>
              <a:cs typeface="Times New Roman" panose="02020603050405020304" pitchFamily="18" charset="0"/>
            </a:endParaRPr>
          </a:p>
          <a:p>
            <a:pPr algn="l"/>
            <a:r>
              <a:rPr lang="bg-BG" sz="1800" dirty="0">
                <a:solidFill>
                  <a:schemeClr val="bg1"/>
                </a:solidFill>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val="tx"/>
                    </a:ext>
                  </a:extLst>
                </a:hlinkClick>
              </a:rPr>
              <a:t>Отговор</a:t>
            </a:r>
            <a:endParaRPr lang="en-US" dirty="0">
              <a:solidFill>
                <a:schemeClr val="bg1"/>
              </a:solidFill>
              <a:latin typeface="Times New Roman" panose="02020603050405020304" pitchFamily="18" charset="0"/>
              <a:cs typeface="Times New Roman" panose="02020603050405020304" pitchFamily="18" charset="0"/>
            </a:endParaRPr>
          </a:p>
          <a:p>
            <a:pPr algn="l"/>
            <a:endParaRPr lang="en-US" dirty="0">
              <a:solidFill>
                <a:schemeClr val="bg1"/>
              </a:solidFill>
              <a:latin typeface="Times New Roman" panose="02020603050405020304" pitchFamily="18" charset="0"/>
              <a:cs typeface="Times New Roman" panose="02020603050405020304" pitchFamily="18" charset="0"/>
            </a:endParaRPr>
          </a:p>
          <a:p>
            <a:pPr marL="457200" indent="-457200" algn="l">
              <a:buAutoNum type="arabicPeriod"/>
            </a:pPr>
            <a:endParaRPr lang="bg-BG" dirty="0">
              <a:solidFill>
                <a:schemeClr val="bg1"/>
              </a:solidFill>
              <a:latin typeface="Times New Roman" panose="02020603050405020304" pitchFamily="18" charset="0"/>
              <a:cs typeface="Times New Roman" panose="02020603050405020304" pitchFamily="18" charset="0"/>
            </a:endParaRPr>
          </a:p>
          <a:p>
            <a:pPr marL="457200" indent="-457200" algn="l">
              <a:buAutoNum type="arabicPeriod"/>
            </a:pPr>
            <a:endParaRPr lang="en-GB"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7890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B8E65F-2648-F30A-29B2-14C7B4140895}"/>
              </a:ext>
            </a:extLst>
          </p:cNvPr>
          <p:cNvPicPr>
            <a:picLocks noChangeAspect="1"/>
          </p:cNvPicPr>
          <p:nvPr/>
        </p:nvPicPr>
        <p:blipFill>
          <a:blip r:embed="rId2"/>
          <a:stretch>
            <a:fillRect/>
          </a:stretch>
        </p:blipFill>
        <p:spPr>
          <a:xfrm>
            <a:off x="0" y="0"/>
            <a:ext cx="12192001" cy="6858000"/>
          </a:xfrm>
          <a:prstGeom prst="rect">
            <a:avLst/>
          </a:prstGeom>
        </p:spPr>
      </p:pic>
      <p:sp>
        <p:nvSpPr>
          <p:cNvPr id="2" name="Title 1">
            <a:extLst>
              <a:ext uri="{FF2B5EF4-FFF2-40B4-BE49-F238E27FC236}">
                <a16:creationId xmlns:a16="http://schemas.microsoft.com/office/drawing/2014/main" id="{E5812C00-4C90-AB53-E9B2-76650488366C}"/>
              </a:ext>
            </a:extLst>
          </p:cNvPr>
          <p:cNvSpPr>
            <a:spLocks noGrp="1"/>
          </p:cNvSpPr>
          <p:nvPr>
            <p:ph type="title"/>
          </p:nvPr>
        </p:nvSpPr>
        <p:spPr/>
        <p:txBody>
          <a:bodyPr>
            <a:normAutofit/>
          </a:bodyPr>
          <a:lstStyle/>
          <a:p>
            <a:r>
              <a:rPr lang="bg-BG" sz="4800" dirty="0">
                <a:solidFill>
                  <a:schemeClr val="bg1"/>
                </a:solidFill>
                <a:latin typeface="Times New Roman" panose="02020603050405020304" pitchFamily="18" charset="0"/>
                <a:cs typeface="Times New Roman" panose="02020603050405020304" pitchFamily="18" charset="0"/>
              </a:rPr>
              <a:t>Източници на информация</a:t>
            </a:r>
            <a:r>
              <a:rPr lang="en-US" sz="4800" dirty="0">
                <a:solidFill>
                  <a:schemeClr val="bg1"/>
                </a:solidFill>
                <a:latin typeface="Times New Roman" panose="02020603050405020304" pitchFamily="18" charset="0"/>
                <a:cs typeface="Times New Roman" panose="02020603050405020304" pitchFamily="18" charset="0"/>
              </a:rPr>
              <a:t>:</a:t>
            </a:r>
            <a:endParaRPr lang="en-GB" sz="4800" dirty="0">
              <a:solidFill>
                <a:schemeClr val="bg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B983CBD-3F6A-78EF-4B7E-ECF888249C3D}"/>
              </a:ext>
            </a:extLst>
          </p:cNvPr>
          <p:cNvSpPr txBox="1">
            <a:spLocks/>
          </p:cNvSpPr>
          <p:nvPr/>
        </p:nvSpPr>
        <p:spPr>
          <a:xfrm>
            <a:off x="5772151" y="6265068"/>
            <a:ext cx="6419849" cy="4556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bg-BG" sz="2400" dirty="0">
                <a:solidFill>
                  <a:schemeClr val="bg1"/>
                </a:solidFill>
                <a:latin typeface="Times New Roman" panose="02020603050405020304" pitchFamily="18" charset="0"/>
                <a:cs typeface="Times New Roman" panose="02020603050405020304" pitchFamily="18" charset="0"/>
              </a:rPr>
              <a:t>Изготвено от: Йоана Колева 10г клас 11номер</a:t>
            </a:r>
            <a:endParaRPr lang="en-GB" sz="2400"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E8DABE5-5AAE-A31E-6141-DF9FD8644D49}"/>
              </a:ext>
            </a:extLst>
          </p:cNvPr>
          <p:cNvSpPr txBox="1"/>
          <p:nvPr/>
        </p:nvSpPr>
        <p:spPr>
          <a:xfrm>
            <a:off x="771525" y="1971675"/>
            <a:ext cx="11049000" cy="954107"/>
          </a:xfrm>
          <a:prstGeom prst="rect">
            <a:avLst/>
          </a:prstGeom>
          <a:noFill/>
        </p:spPr>
        <p:txBody>
          <a:bodyPr wrap="square" rtlCol="0">
            <a:spAutoFit/>
          </a:bodyPr>
          <a:lstStyle/>
          <a:p>
            <a:pPr marL="457200" indent="-457200">
              <a:buFont typeface="Wingdings" panose="05000000000000000000" pitchFamily="2" charset="2"/>
              <a:buChar char="Ø"/>
            </a:pPr>
            <a:r>
              <a:rPr lang="bg-BG" sz="2800" dirty="0">
                <a:solidFill>
                  <a:schemeClr val="bg1"/>
                </a:solidFill>
                <a:latin typeface="Times New Roman" panose="02020603050405020304" pitchFamily="18" charset="0"/>
                <a:cs typeface="Times New Roman" panose="02020603050405020304" pitchFamily="18" charset="0"/>
              </a:rPr>
              <a:t>Интернет</a:t>
            </a:r>
          </a:p>
          <a:p>
            <a:pPr marL="457200" indent="-457200">
              <a:buFont typeface="Wingdings" panose="05000000000000000000" pitchFamily="2" charset="2"/>
              <a:buChar char="Ø"/>
            </a:pPr>
            <a:r>
              <a:rPr lang="bg-BG" sz="2800" dirty="0">
                <a:solidFill>
                  <a:schemeClr val="bg1"/>
                </a:solidFill>
                <a:latin typeface="Times New Roman" panose="02020603050405020304" pitchFamily="18" charset="0"/>
                <a:cs typeface="Times New Roman" panose="02020603050405020304" pitchFamily="18" charset="0"/>
              </a:rPr>
              <a:t>Записки по компютърни системи</a:t>
            </a:r>
            <a:r>
              <a:rPr lang="en-US" sz="2800" dirty="0">
                <a:solidFill>
                  <a:schemeClr val="bg1"/>
                </a:solidFill>
                <a:latin typeface="Times New Roman" panose="02020603050405020304" pitchFamily="18" charset="0"/>
                <a:cs typeface="Times New Roman" panose="02020603050405020304" pitchFamily="18" charset="0"/>
              </a:rPr>
              <a:t> 9 </a:t>
            </a:r>
            <a:r>
              <a:rPr lang="bg-BG" sz="2800" dirty="0">
                <a:solidFill>
                  <a:schemeClr val="bg1"/>
                </a:solidFill>
                <a:latin typeface="Times New Roman" panose="02020603050405020304" pitchFamily="18" charset="0"/>
                <a:cs typeface="Times New Roman" panose="02020603050405020304" pitchFamily="18" charset="0"/>
              </a:rPr>
              <a:t>клас</a:t>
            </a:r>
            <a:endParaRPr lang="en-GB" sz="2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4367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926</TotalTime>
  <Words>1705</Words>
  <Application>Microsoft Office PowerPoint</Application>
  <PresentationFormat>Widescreen</PresentationFormat>
  <Paragraphs>72</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Times New Roman</vt:lpstr>
      <vt:lpstr>Wingdings</vt:lpstr>
      <vt:lpstr>Office Theme</vt:lpstr>
      <vt:lpstr>Рам памети</vt:lpstr>
      <vt:lpstr>Съдържание</vt:lpstr>
      <vt:lpstr>Определение</vt:lpstr>
      <vt:lpstr>PowerPoint Presentation</vt:lpstr>
      <vt:lpstr>PowerPoint Presentation</vt:lpstr>
      <vt:lpstr>Въведение</vt:lpstr>
      <vt:lpstr>Достъп до DRAM</vt:lpstr>
      <vt:lpstr>PowerPoint Presentation</vt:lpstr>
      <vt:lpstr>Видове DRAM</vt:lpstr>
      <vt:lpstr>PowerPoint Presentation</vt:lpstr>
      <vt:lpstr>PowerPoint Presentation</vt:lpstr>
      <vt:lpstr>PowerPoint Presentation</vt:lpstr>
      <vt:lpstr>Single Data Rate (SDR) Synchronous DRAM (SDRAM)</vt:lpstr>
      <vt:lpstr>Double Data Rate (DDR) Synchronous DRAM (SDRAM) </vt:lpstr>
      <vt:lpstr>PowerPoint Presentation</vt:lpstr>
      <vt:lpstr>Параметри на DDR SDRAM</vt:lpstr>
      <vt:lpstr>DDR2 SDRAM</vt:lpstr>
      <vt:lpstr>Параметри на DDR2 SDRAM</vt:lpstr>
      <vt:lpstr>DDR3 SDRAM </vt:lpstr>
      <vt:lpstr>Параметри на DDR3 SDRAM</vt:lpstr>
      <vt:lpstr>DDR4 SDRAM</vt:lpstr>
      <vt:lpstr>Параметри на DDR4 SDRAM</vt:lpstr>
      <vt:lpstr>PowerPoint Presentation</vt:lpstr>
      <vt:lpstr>DDR5 SDRAM </vt:lpstr>
      <vt:lpstr>Тест</vt:lpstr>
      <vt:lpstr>Източници на информация:</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Рам памети</dc:title>
  <dc:creator>yo ko</dc:creator>
  <cp:lastModifiedBy>yo ko</cp:lastModifiedBy>
  <cp:revision>15</cp:revision>
  <dcterms:created xsi:type="dcterms:W3CDTF">2022-12-04T15:54:09Z</dcterms:created>
  <dcterms:modified xsi:type="dcterms:W3CDTF">2022-12-05T07:30:01Z</dcterms:modified>
</cp:coreProperties>
</file>