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2D0D563-651A-4767-B4EF-E29FE10A507F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Untitled Section" id="{6F61299D-0948-4230-AB99-39CB601FE427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C999-42D2-4D2A-92F3-BD66E5CCF1B8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2E94-0786-4100-8DAA-ABAFF4DF9B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C999-42D2-4D2A-92F3-BD66E5CCF1B8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2E94-0786-4100-8DAA-ABAFF4DF9B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C999-42D2-4D2A-92F3-BD66E5CCF1B8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2E94-0786-4100-8DAA-ABAFF4DF9B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C999-42D2-4D2A-92F3-BD66E5CCF1B8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2E94-0786-4100-8DAA-ABAFF4DF9BA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C999-42D2-4D2A-92F3-BD66E5CCF1B8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2E94-0786-4100-8DAA-ABAFF4DF9B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C999-42D2-4D2A-92F3-BD66E5CCF1B8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2E94-0786-4100-8DAA-ABAFF4DF9B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C999-42D2-4D2A-92F3-BD66E5CCF1B8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2E94-0786-4100-8DAA-ABAFF4DF9B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C999-42D2-4D2A-92F3-BD66E5CCF1B8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F3F2E94-0786-4100-8DAA-ABAFF4DF9B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C999-42D2-4D2A-92F3-BD66E5CCF1B8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2E94-0786-4100-8DAA-ABAFF4DF9B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C999-42D2-4D2A-92F3-BD66E5CCF1B8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2E94-0786-4100-8DAA-ABAFF4DF9B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5C999-42D2-4D2A-92F3-BD66E5CCF1B8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2E94-0786-4100-8DAA-ABAFF4DF9B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6695C999-42D2-4D2A-92F3-BD66E5CCF1B8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3F3F2E94-0786-4100-8DAA-ABAFF4DF9BA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bg.wikipedia.org/wiki/%D0%9A%D0%BE%D0%BC%D0%BF%D1%8E%D1%82%D1%8A%D1%80%D0%BD%D0%B0_%D0%B0%D1%80%D1%85%D0%B8%D1%82%D0%B5%D0%BA%D1%82%D1%83%D1%80%D0%B0" TargetMode="External"/><Relationship Id="rId2" Type="http://schemas.openxmlformats.org/officeDocument/2006/relationships/hyperlink" Target="https://bg.wikipedia.org/wiki/%D0%9A%D0%BE%D0%BC%D0%BF%D1%8E%D1%82%D1%8A%D1%80%D0%BD%D0%B0_%D0%BF%D0%B0%D0%BC%D0%B5%D1%8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g.if-koubou.com/articles/how-to/how-to-upgrade-or-replace-your-pcs-ram.html" TargetMode="External"/><Relationship Id="rId4" Type="http://schemas.openxmlformats.org/officeDocument/2006/relationships/hyperlink" Target="https://windowsinstalirane.com/%D0%BF%D0%BE%D1%81%D1%82%D0%B0%D0%B2%D1%8F%D0%BD%D0%B5-%D0%BD%D0%B0-ram-%D0%BF%D0%B0%D0%BC%D0%B5%D1%82-%D0%B8-%D0%BF%D0%BE%D0%B2%D1%80%D0%B5%D0%B4%D0%B8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bg-BG" sz="4000" dirty="0" smtClean="0"/>
              <a:t>Памети, видове архитектури, характеристики, инсталиране на рам памети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719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algn="l"/>
            <a:r>
              <a:rPr lang="bg-BG" sz="4000" dirty="0" smtClean="0"/>
              <a:t>Съдържание</a:t>
            </a:r>
            <a:r>
              <a:rPr lang="bg-BG" sz="4000" dirty="0"/>
              <a:t>;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458200" cy="5410200"/>
          </a:xfrm>
        </p:spPr>
        <p:txBody>
          <a:bodyPr>
            <a:normAutofit fontScale="85000" lnSpcReduction="20000"/>
          </a:bodyPr>
          <a:lstStyle/>
          <a:p>
            <a:r>
              <a:rPr lang="ru-RU" sz="2400" dirty="0"/>
              <a:t>1.Видове компютърна памет и техните </a:t>
            </a:r>
            <a:r>
              <a:rPr lang="ru-RU" sz="2400" dirty="0" smtClean="0"/>
              <a:t>характеристики.</a:t>
            </a:r>
          </a:p>
          <a:p>
            <a:r>
              <a:rPr lang="bg-BG" sz="2400" dirty="0"/>
              <a:t>1.1 </a:t>
            </a:r>
            <a:r>
              <a:rPr lang="bg-BG" sz="2400" dirty="0" smtClean="0"/>
              <a:t>Функции.</a:t>
            </a:r>
            <a:endParaRPr lang="bg-BG" sz="2400" dirty="0"/>
          </a:p>
          <a:p>
            <a:r>
              <a:rPr lang="ru-RU" sz="2400" dirty="0" smtClean="0"/>
              <a:t>1.2 Видове </a:t>
            </a:r>
            <a:r>
              <a:rPr lang="ru-RU" sz="2400" dirty="0"/>
              <a:t>компютърна </a:t>
            </a:r>
            <a:r>
              <a:rPr lang="ru-RU" sz="2400" dirty="0" smtClean="0"/>
              <a:t>памет.</a:t>
            </a:r>
          </a:p>
          <a:p>
            <a:r>
              <a:rPr lang="en-US" sz="2400" dirty="0"/>
              <a:t>1.3 </a:t>
            </a:r>
            <a:r>
              <a:rPr lang="en-US" sz="2400" dirty="0" smtClean="0"/>
              <a:t>RAM</a:t>
            </a:r>
            <a:endParaRPr lang="bg-BG" sz="2400" dirty="0" smtClean="0"/>
          </a:p>
          <a:p>
            <a:r>
              <a:rPr lang="en-US" sz="2400" dirty="0"/>
              <a:t>1.4 </a:t>
            </a:r>
            <a:r>
              <a:rPr lang="en-US" sz="2400" dirty="0" smtClean="0"/>
              <a:t>SRAM</a:t>
            </a:r>
            <a:endParaRPr lang="bg-BG" sz="2400" dirty="0" smtClean="0"/>
          </a:p>
          <a:p>
            <a:r>
              <a:rPr lang="en-US" sz="2400" dirty="0"/>
              <a:t>1.5 </a:t>
            </a:r>
            <a:r>
              <a:rPr lang="en-US" sz="2400" dirty="0" smtClean="0"/>
              <a:t>DRAM</a:t>
            </a:r>
            <a:endParaRPr lang="bg-BG" sz="2400" dirty="0" smtClean="0"/>
          </a:p>
          <a:p>
            <a:r>
              <a:rPr lang="en-US" sz="2400" dirty="0"/>
              <a:t>1.6 </a:t>
            </a:r>
            <a:r>
              <a:rPr lang="en-US" sz="2400" dirty="0" smtClean="0"/>
              <a:t>ROM</a:t>
            </a:r>
            <a:endParaRPr lang="bg-BG" sz="2400" dirty="0" smtClean="0"/>
          </a:p>
          <a:p>
            <a:r>
              <a:rPr lang="bg-BG" sz="2400" dirty="0"/>
              <a:t>2. Компютърна </a:t>
            </a:r>
            <a:r>
              <a:rPr lang="bg-BG" sz="2400" dirty="0" smtClean="0"/>
              <a:t>архитектура.</a:t>
            </a:r>
          </a:p>
          <a:p>
            <a:r>
              <a:rPr lang="bg-BG" sz="2400" dirty="0"/>
              <a:t>2.1 Класове компютърни </a:t>
            </a:r>
            <a:r>
              <a:rPr lang="bg-BG" sz="2400" dirty="0" smtClean="0"/>
              <a:t>архитектури.</a:t>
            </a:r>
          </a:p>
          <a:p>
            <a:r>
              <a:rPr lang="bg-BG" sz="2400" dirty="0"/>
              <a:t>3.Инсталиране на </a:t>
            </a:r>
            <a:r>
              <a:rPr lang="en-US" sz="2400" dirty="0"/>
              <a:t>RAM </a:t>
            </a:r>
            <a:r>
              <a:rPr lang="bg-BG" sz="2400" dirty="0" smtClean="0"/>
              <a:t>модули.</a:t>
            </a:r>
          </a:p>
          <a:p>
            <a:r>
              <a:rPr lang="en-US" sz="2400" dirty="0"/>
              <a:t>3.1 C</a:t>
            </a:r>
            <a:r>
              <a:rPr lang="bg-BG" sz="2400" dirty="0" smtClean="0"/>
              <a:t>тандарти.</a:t>
            </a:r>
          </a:p>
          <a:p>
            <a:r>
              <a:rPr lang="bg-BG" sz="2400" dirty="0"/>
              <a:t>3.2Многоканален </a:t>
            </a:r>
            <a:r>
              <a:rPr lang="bg-BG" sz="2400" dirty="0" smtClean="0"/>
              <a:t>режим.</a:t>
            </a:r>
            <a:endParaRPr lang="en-US" sz="2400" dirty="0" smtClean="0"/>
          </a:p>
          <a:p>
            <a:r>
              <a:rPr lang="ru-RU" sz="2400" dirty="0"/>
              <a:t>3.3 Проблеми и повреди на </a:t>
            </a:r>
            <a:r>
              <a:rPr lang="ru-RU" sz="2400" dirty="0" smtClean="0"/>
              <a:t>RAM.</a:t>
            </a:r>
          </a:p>
          <a:p>
            <a:r>
              <a:rPr lang="ru-RU" sz="2400" dirty="0" smtClean="0"/>
              <a:t>4. Въпроси и задачи.</a:t>
            </a:r>
          </a:p>
          <a:p>
            <a:r>
              <a:rPr lang="ru-RU" sz="2400" dirty="0" smtClean="0"/>
              <a:t>5.Съдържание.</a:t>
            </a:r>
            <a:endParaRPr lang="bg-BG" sz="2400" dirty="0" smtClean="0"/>
          </a:p>
          <a:p>
            <a:endParaRPr lang="bg-BG" sz="2400" dirty="0" smtClean="0"/>
          </a:p>
          <a:p>
            <a:endParaRPr lang="bg-BG" sz="2400" dirty="0" smtClean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70086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 smtClean="0"/>
              <a:t/>
            </a:r>
            <a:br>
              <a:rPr lang="ru-RU" sz="3600" dirty="0" smtClean="0"/>
            </a:br>
            <a:r>
              <a:rPr lang="ru-RU" sz="3600" dirty="0"/>
              <a:t/>
            </a:r>
            <a:br>
              <a:rPr lang="ru-RU" sz="3600" dirty="0"/>
            </a:br>
            <a:r>
              <a:rPr lang="ru-RU" sz="3600" dirty="0" smtClean="0"/>
              <a:t>1.Видове </a:t>
            </a:r>
            <a:r>
              <a:rPr lang="ru-RU" sz="3600" dirty="0" smtClean="0"/>
              <a:t>компютърна памет и </a:t>
            </a:r>
            <a:r>
              <a:rPr lang="ru-RU" sz="3600" dirty="0" smtClean="0"/>
              <a:t/>
            </a:r>
            <a:br>
              <a:rPr lang="ru-RU" sz="3600" dirty="0" smtClean="0"/>
            </a:br>
            <a:r>
              <a:rPr lang="ru-RU" sz="3600" dirty="0"/>
              <a:t/>
            </a:r>
            <a:br>
              <a:rPr lang="ru-RU" sz="3600" dirty="0"/>
            </a:br>
            <a:r>
              <a:rPr lang="ru-RU" sz="3600" dirty="0" smtClean="0"/>
              <a:t>техните </a:t>
            </a:r>
            <a:r>
              <a:rPr lang="ru-RU" sz="3600" dirty="0" smtClean="0"/>
              <a:t>характеристики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00628"/>
            <a:ext cx="9144000" cy="4842972"/>
          </a:xfrm>
        </p:spPr>
        <p:txBody>
          <a:bodyPr>
            <a:normAutofit fontScale="85000" lnSpcReduction="20000"/>
          </a:bodyPr>
          <a:lstStyle/>
          <a:p>
            <a:pPr algn="just"/>
            <a:endParaRPr lang="ru-RU" sz="2400" dirty="0" smtClean="0"/>
          </a:p>
          <a:p>
            <a:pPr algn="just"/>
            <a:endParaRPr lang="ru-RU" sz="2400" dirty="0" smtClean="0"/>
          </a:p>
          <a:p>
            <a:pPr algn="just"/>
            <a:endParaRPr lang="ru-RU" sz="2400" dirty="0"/>
          </a:p>
          <a:p>
            <a:pPr algn="just"/>
            <a:r>
              <a:rPr lang="ru-RU" sz="3400" dirty="0" smtClean="0"/>
              <a:t>Най </a:t>
            </a:r>
            <a:r>
              <a:rPr lang="ru-RU" sz="3400" dirty="0" smtClean="0"/>
              <a:t>-общо казано, за да може компютърът да функционира ефективно и правилно, са му необходими четири видове компютърна памет. </a:t>
            </a:r>
            <a:endParaRPr lang="ru-RU" sz="3400" dirty="0" smtClean="0"/>
          </a:p>
          <a:p>
            <a:pPr algn="just"/>
            <a:r>
              <a:rPr lang="ru-RU" sz="3400" dirty="0" smtClean="0"/>
              <a:t>Паметта </a:t>
            </a:r>
            <a:r>
              <a:rPr lang="ru-RU" sz="3400" dirty="0" smtClean="0"/>
              <a:t>на компютър или компютърната памет, както често я наричат ​​някои хора, не е нищо повече от устройство, което служи за съхраняване на данни и инструкции по цифров път. За това имаме различни видове компютърна памет, всеки от които има набор от уникални и специфични характеристики.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804769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81000"/>
            <a:ext cx="24657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sz="2800" dirty="0" smtClean="0"/>
              <a:t>1.1 </a:t>
            </a:r>
            <a:r>
              <a:rPr lang="bg-BG" sz="3600" dirty="0" smtClean="0"/>
              <a:t>Функции</a:t>
            </a:r>
            <a:endParaRPr lang="en-US" sz="3600" dirty="0"/>
          </a:p>
        </p:txBody>
      </p:sp>
      <p:sp>
        <p:nvSpPr>
          <p:cNvPr id="3" name="Rectangle 2"/>
          <p:cNvSpPr/>
          <p:nvPr/>
        </p:nvSpPr>
        <p:spPr>
          <a:xfrm>
            <a:off x="304800" y="1115544"/>
            <a:ext cx="84582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/>
              <a:t>Всички видове компютърна памет които съществуват са описани с общи параметри, повечето от които пораждат различни класификации според критериите, използвани за тяхното определяне. Това са: устройството и капацитетът за съхранение, времето и вида на достъпа, времето на цикъла, стабилността, функционалността, между другото:</a:t>
            </a:r>
          </a:p>
          <a:p>
            <a:pPr algn="just"/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3682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smtClean="0"/>
              <a:t>1.2</a:t>
            </a:r>
            <a:r>
              <a:rPr lang="ru-RU" sz="3600" dirty="0" smtClean="0"/>
              <a:t> Какви видове компютърна памет съществуват?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2400" dirty="0" smtClean="0"/>
              <a:t>Както вече споменахме, работата на компютър зависи от поне четири видове компютърна памет. След това ще дадем подробности за всеки от тях.</a:t>
            </a:r>
          </a:p>
          <a:p>
            <a:r>
              <a:rPr lang="en-US" sz="2400" dirty="0" smtClean="0"/>
              <a:t>RAM</a:t>
            </a:r>
          </a:p>
          <a:p>
            <a:r>
              <a:rPr lang="en-US" sz="2400" dirty="0" smtClean="0"/>
              <a:t>SRAM</a:t>
            </a:r>
          </a:p>
          <a:p>
            <a:r>
              <a:rPr lang="en-US" sz="2400" dirty="0" smtClean="0"/>
              <a:t>DRAM</a:t>
            </a:r>
          </a:p>
          <a:p>
            <a:r>
              <a:rPr lang="en-US" sz="2400" dirty="0" smtClean="0"/>
              <a:t>ROM</a:t>
            </a:r>
            <a:endParaRPr lang="bg-BG" sz="2400" dirty="0" smtClean="0"/>
          </a:p>
          <a:p>
            <a:r>
              <a:rPr lang="en-US" sz="2400" dirty="0" smtClean="0"/>
              <a:t>EPROM</a:t>
            </a:r>
          </a:p>
          <a:p>
            <a:r>
              <a:rPr lang="en-US" sz="2400" dirty="0" smtClean="0"/>
              <a:t>EEPROM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43090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algn="l"/>
            <a:r>
              <a:rPr lang="en-US" sz="2800" dirty="0" smtClean="0"/>
              <a:t>1</a:t>
            </a:r>
            <a:r>
              <a:rPr lang="bg-BG" sz="2800" dirty="0" smtClean="0"/>
              <a:t>.3 </a:t>
            </a:r>
            <a:r>
              <a:rPr lang="en-US" sz="3200" dirty="0" smtClean="0"/>
              <a:t>RAM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610600" cy="5562600"/>
          </a:xfrm>
        </p:spPr>
        <p:txBody>
          <a:bodyPr>
            <a:noAutofit/>
          </a:bodyPr>
          <a:lstStyle/>
          <a:p>
            <a:pPr algn="just"/>
            <a:r>
              <a:rPr lang="ru-RU" sz="2400" dirty="0" smtClean="0"/>
              <a:t>RAM , известна още като памет с произволен достъп и означава, че всяка част от нея може да бъде достъпна по всяко време. Освен това той е най -популярният сред всички видове компютърна памет там.</a:t>
            </a:r>
            <a:endParaRPr lang="en-US" sz="2400" dirty="0" smtClean="0"/>
          </a:p>
          <a:p>
            <a:pPr algn="just"/>
            <a:endParaRPr lang="ru-RU" sz="2400" dirty="0" smtClean="0"/>
          </a:p>
          <a:p>
            <a:pPr algn="just"/>
            <a:r>
              <a:rPr lang="ru-RU" sz="2400" dirty="0" smtClean="0"/>
              <a:t>Най -общо казано, RAM паметта съхранява данни и програмни инструкции, необходими и използвани от процесора. Освен това, тя се счита за променлива и памет за четене / запис, тъй като изпълнява и двете функции.</a:t>
            </a:r>
            <a:endParaRPr lang="en-US" sz="2400" dirty="0" smtClean="0"/>
          </a:p>
          <a:p>
            <a:pPr algn="just"/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2790438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en-US" sz="2800" dirty="0" smtClean="0"/>
              <a:t>1.4 SRAM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Autofit/>
          </a:bodyPr>
          <a:lstStyle/>
          <a:p>
            <a:pPr algn="just"/>
            <a:r>
              <a:rPr lang="ru-RU" sz="2400" dirty="0" smtClean="0"/>
              <a:t>Най -общо казано, това е статична RAM памет, която поддържа информацията, докато компютърът е включен. Освен това, той осигурява намален достъп и време на цикъл, което се изразява в висока скорост на предаване на данни.</a:t>
            </a:r>
          </a:p>
          <a:p>
            <a:pPr algn="just"/>
            <a:endParaRPr lang="ru-RU" sz="2400" dirty="0" smtClean="0"/>
          </a:p>
          <a:p>
            <a:pPr algn="just"/>
            <a:r>
              <a:rPr lang="ru-RU" sz="2400" dirty="0" smtClean="0"/>
              <a:t>Това обаче е памет с нисък капацитет за съхранение. От друга страна, SRAM паметта служи като мост между DRAM и CPU, тоест действа като вид кеш памет.</a:t>
            </a:r>
          </a:p>
          <a:p>
            <a:pPr algn="just"/>
            <a:endParaRPr lang="ru-RU" sz="2400" dirty="0" smtClean="0"/>
          </a:p>
          <a:p>
            <a:pPr algn="just"/>
            <a:r>
              <a:rPr lang="ru-RU" sz="2400" dirty="0" smtClean="0"/>
              <a:t>Освен това тази памет е лесна за работа, тъй като достъпът до шините за данни и адреси е директен. И накрая, можем да говорим за два вида SRAM памет: асинхронна и синхронна.</a:t>
            </a:r>
          </a:p>
        </p:txBody>
      </p:sp>
    </p:spTree>
    <p:extLst>
      <p:ext uri="{BB962C8B-B14F-4D97-AF65-F5344CB8AC3E}">
        <p14:creationId xmlns:p14="http://schemas.microsoft.com/office/powerpoint/2010/main" val="1856389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2800" dirty="0" smtClean="0"/>
              <a:t>1.5</a:t>
            </a:r>
            <a:r>
              <a:rPr lang="en-US" sz="2400" dirty="0" smtClean="0"/>
              <a:t> </a:t>
            </a:r>
            <a:r>
              <a:rPr lang="en-US" sz="3200" dirty="0" smtClean="0"/>
              <a:t>DRAM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ru-RU" sz="2400" dirty="0" smtClean="0"/>
              <a:t>По принцип DRAM паметта е динамичен тип RAM, голяма и ниска скорост. По този начин този тип памет губи информацията, която съхранява, когато оборудването спре да получава захранване.</a:t>
            </a:r>
          </a:p>
          <a:p>
            <a:pPr algn="just"/>
            <a:endParaRPr lang="ru-RU" sz="2400" dirty="0" smtClean="0"/>
          </a:p>
          <a:p>
            <a:pPr algn="just"/>
            <a:r>
              <a:rPr lang="ru-RU" sz="2400" dirty="0" smtClean="0"/>
              <a:t>В тази връзка това е основната причина, поради която този тип памет трябва постоянно да се опреснява или зарежда отново, за да не се губят данни. Най -общо казано, DRAM паметта има по -голям капацитет за съхранение от SRAM паметта.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52906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en-US" sz="2800" dirty="0" smtClean="0"/>
              <a:t>1.6 </a:t>
            </a:r>
            <a:r>
              <a:rPr lang="en-US" sz="3200" dirty="0" smtClean="0"/>
              <a:t>ROM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562600"/>
          </a:xfrm>
        </p:spPr>
        <p:txBody>
          <a:bodyPr>
            <a:normAutofit/>
          </a:bodyPr>
          <a:lstStyle/>
          <a:p>
            <a:pPr algn="just"/>
            <a:r>
              <a:rPr lang="ru-RU" dirty="0" smtClean="0"/>
              <a:t>ROM е средна по размер, енергонезависима памет само за четене. С други думи, данните се четат и използват, но не се променят; Освен това информацията се съхранява за постоянно, без да се губи дори когато компютърът се изтощи.</a:t>
            </a:r>
          </a:p>
          <a:p>
            <a:pPr algn="just"/>
            <a:endParaRPr lang="ru-RU" dirty="0" smtClean="0"/>
          </a:p>
          <a:p>
            <a:pPr algn="just"/>
            <a:r>
              <a:rPr lang="ru-RU" dirty="0" smtClean="0"/>
              <a:t>Що се отнася до работата му, ROM съдържа всички инструкции, необходими на компютъра за работа, които са известни като инструкции за стартиране или BIOS на компютъра. По този начин, когато компютърът е включен, той осъществява достъп до тази памет, за да вземе това, което му е необходимо за стартиране, както и да знае информацията, свързана с неговия хардуер.</a:t>
            </a:r>
          </a:p>
          <a:p>
            <a:pPr algn="just"/>
            <a:endParaRPr lang="ru-RU" dirty="0" smtClean="0"/>
          </a:p>
          <a:p>
            <a:pPr algn="just"/>
            <a:r>
              <a:rPr lang="ru-RU" dirty="0" smtClean="0"/>
              <a:t>От друга страна, информацията, съхранявана в този тип памет, не може да бъде променена; в някои случаи обаче е възможно да се промени с голяма трудност. Най -общо съхранението на данни в тази памет се случва по време на нейното производство, така че те се записват за постоянно, дори когато компютърът не е захранван.</a:t>
            </a:r>
          </a:p>
          <a:p>
            <a:pPr algn="just"/>
            <a:endParaRPr lang="ru-RU" sz="34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464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3200" dirty="0" smtClean="0"/>
              <a:t>2. Компютърна </a:t>
            </a:r>
            <a:r>
              <a:rPr lang="bg-BG" sz="3200" dirty="0"/>
              <a:t>архитектура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ru-RU" sz="2400" dirty="0"/>
              <a:t>Компютърната архитектура е съвкупност от характеристики и параметри, определящи функционалната, логическа и структурна организация на компютрите. Това понятие включва принципите на построяване и функциониране на компютърните системи, заедно с основните програмни средства за работата му. Архитектурата на съвременните компютърни системи е многостепенна йерархия на апаратните и програмни средства, които изграждат системата.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3997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990600"/>
            <a:ext cx="7848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Според друго </a:t>
            </a:r>
            <a:r>
              <a:rPr lang="ru-RU" dirty="0" smtClean="0"/>
              <a:t>определение </a:t>
            </a:r>
            <a:r>
              <a:rPr lang="ru-RU" dirty="0"/>
              <a:t>това е набор от дисциплини, описващи функционалността, организацията и реализацията на компютърните системи. Някои я дефинират като описваща програмния модел и способностите на компютъра, но не и конкретната им реализация</a:t>
            </a:r>
            <a:r>
              <a:rPr lang="ru-RU" dirty="0" smtClean="0"/>
              <a:t>. </a:t>
            </a:r>
            <a:r>
              <a:rPr lang="ru-RU" dirty="0"/>
              <a:t>Според други компютърната архитектура включва набора от инструкции, микроархитектурата, организацията на логиката и реализацията.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124200"/>
            <a:ext cx="50292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865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bg-BG" sz="2800" dirty="0" smtClean="0"/>
              <a:t>2.1</a:t>
            </a:r>
            <a:r>
              <a:rPr lang="en-US" sz="2800" dirty="0" smtClean="0"/>
              <a:t> </a:t>
            </a:r>
            <a:r>
              <a:rPr lang="bg-BG" sz="3200" dirty="0" smtClean="0"/>
              <a:t>Класове </a:t>
            </a:r>
            <a:r>
              <a:rPr lang="bg-BG" sz="3200" dirty="0"/>
              <a:t>компютърни архитектури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458200" cy="4525963"/>
          </a:xfrm>
        </p:spPr>
        <p:txBody>
          <a:bodyPr>
            <a:normAutofit/>
          </a:bodyPr>
          <a:lstStyle/>
          <a:p>
            <a:pPr algn="just"/>
            <a:r>
              <a:rPr lang="ru-RU" sz="2400" dirty="0" smtClean="0"/>
              <a:t>Архитектура </a:t>
            </a:r>
            <a:r>
              <a:rPr lang="ru-RU" sz="2400" dirty="0"/>
              <a:t>– компоненти и организация на </a:t>
            </a:r>
            <a:r>
              <a:rPr lang="ru-RU" sz="2400" dirty="0" smtClean="0"/>
              <a:t>системата</a:t>
            </a:r>
          </a:p>
          <a:p>
            <a:pPr algn="just"/>
            <a:r>
              <a:rPr lang="en-US" sz="2400" dirty="0"/>
              <a:t>K</a:t>
            </a:r>
            <a:r>
              <a:rPr lang="ru-RU" sz="2400" dirty="0" smtClean="0"/>
              <a:t>ласификация </a:t>
            </a:r>
            <a:r>
              <a:rPr lang="ru-RU" sz="2400" dirty="0"/>
              <a:t>на Michаel Flynn (1966) по управление на потока инструкции и потока данни (операнди) – SISD, SIMD, MISD и MIMD архитектури – (1.3.2</a:t>
            </a:r>
            <a:r>
              <a:rPr lang="ru-RU" sz="2400" dirty="0" smtClean="0"/>
              <a:t>)</a:t>
            </a:r>
            <a:endParaRPr lang="en-US" sz="2400" dirty="0" smtClean="0"/>
          </a:p>
          <a:p>
            <a:pPr algn="just"/>
            <a:r>
              <a:rPr lang="ru-RU" sz="2400" dirty="0"/>
              <a:t>SIMD – за векторна обработка, фина </a:t>
            </a:r>
            <a:r>
              <a:rPr lang="ru-RU" sz="2400" dirty="0" smtClean="0"/>
              <a:t>грануларност</a:t>
            </a:r>
            <a:endParaRPr lang="en-US" sz="2400" dirty="0" smtClean="0"/>
          </a:p>
          <a:p>
            <a:pPr algn="just"/>
            <a:r>
              <a:rPr lang="ru-RU" sz="2400" dirty="0"/>
              <a:t>MISD – за конвейрна обработка (обработнащи фази върху вектор) – систолични масиви</a:t>
            </a:r>
          </a:p>
          <a:p>
            <a:pPr algn="just"/>
            <a:r>
              <a:rPr lang="ru-RU" sz="2400" dirty="0"/>
              <a:t>MIMD – обикновено с локална и глобална памет; за средна и едра грануларност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38908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 smtClean="0"/>
              <a:t>3.</a:t>
            </a:r>
            <a:r>
              <a:rPr lang="bg-BG" sz="3200" dirty="0" smtClean="0"/>
              <a:t>Инсталиране </a:t>
            </a:r>
            <a:r>
              <a:rPr lang="bg-BG" sz="3200" dirty="0"/>
              <a:t>на </a:t>
            </a:r>
            <a:r>
              <a:rPr lang="en-US" sz="3200" dirty="0"/>
              <a:t>RAM </a:t>
            </a:r>
            <a:r>
              <a:rPr lang="bg-BG" sz="3200" dirty="0"/>
              <a:t>модули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763000" cy="4525963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ru-RU" sz="2400" b="0" dirty="0"/>
              <a:t>Когато се инсталирате или замените RAM, трябва да фокусирате вниманието си върху няколко нюанса. Този тип или стандартни платформи, многоканален режим и директно по време на инсталацията - видове ключалки и местоположението на клавишите. Освен това ще анализираме всички работни моменти по-подробно и ще покажем самия процес на практика.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4073645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/>
              <a:t>3.1 </a:t>
            </a:r>
            <a:r>
              <a:rPr lang="en-US" sz="3200" dirty="0" smtClean="0"/>
              <a:t>C</a:t>
            </a:r>
            <a:r>
              <a:rPr lang="bg-BG" sz="3200" dirty="0" smtClean="0"/>
              <a:t>тандарти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10600" cy="4525963"/>
          </a:xfrm>
        </p:spPr>
        <p:txBody>
          <a:bodyPr>
            <a:normAutofit/>
          </a:bodyPr>
          <a:lstStyle/>
          <a:p>
            <a:pPr algn="just"/>
            <a:r>
              <a:rPr lang="ru-RU" sz="2400" dirty="0"/>
              <a:t>Преди да инсталирате ремъка, трябва да сте сигурни, че отговарят на стандарта на наличните съединители. Ако дънната платка е свързана с DDR4 съединители, модулите трябва да бъдат от същия тип. Можете да разберете каква памет поддържа дънната платка, като посетите уеб сайта на производителя или прочетете пълните инструкции.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1164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sz="2800" dirty="0" smtClean="0"/>
              <a:t>3.2</a:t>
            </a:r>
            <a:r>
              <a:rPr lang="bg-BG" sz="3200" dirty="0"/>
              <a:t>Многоканален режим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00628"/>
            <a:ext cx="8458200" cy="3579849"/>
          </a:xfrm>
        </p:spPr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ru-RU" sz="2400" b="0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400" b="0" dirty="0" smtClean="0"/>
              <a:t>Чрез </a:t>
            </a:r>
            <a:r>
              <a:rPr lang="ru-RU" sz="2400" b="0" dirty="0"/>
              <a:t>многоканален режим разбираме увеличаването на честотната лента на паметта поради паралелната работа на няколко модула. Потребителските компютри най-често включват два канала, сървърните платформи или дънните платки за ентусиастите имат четириканални контролери, а по-новите процесори и чипове вече могат да работят с шест канала. Както може би предполагате, </a:t>
            </a:r>
            <a:r>
              <a:rPr lang="ru-RU" sz="2400" b="0" dirty="0" smtClean="0"/>
              <a:t>пропускателнат</a:t>
            </a:r>
            <a:r>
              <a:rPr lang="en-US" sz="2400" b="0" dirty="0" smtClean="0"/>
              <a:t>a </a:t>
            </a:r>
            <a:r>
              <a:rPr lang="ru-RU" sz="2400" b="0" dirty="0" smtClean="0"/>
              <a:t>способност </a:t>
            </a:r>
            <a:r>
              <a:rPr lang="ru-RU" sz="2400" b="0" dirty="0"/>
              <a:t>се увеличава пропорционално на броя на каналите.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1042066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8600" y="533400"/>
            <a:ext cx="8458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/>
              <a:t>В повечето случаи използваме обикновени настолни платформи, които могат да работят в режим на двуканален канал. За да го активирате, трябва да инсталирате четен брой модули със същата честота и обем. Вярно е, че в някои случаи се пускат неподходящи ленти в "двуканалния", но това се случва рядко.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799" y="2841725"/>
            <a:ext cx="4267201" cy="371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204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610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/>
              <a:t>Ако има само два съединителя за "RAM" на дънната платка, няма нужда да мислиш нищо и да разбереш. Просто инсталирайте две ленти, попълвайки всички налични слотове. Ако има повече места, например четири, модулите трябва да бъдат инсталирани според определена схема. Обикновено каналите се маркират с многоцветни конектори, което помага на потребителя да направи правилния избор.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276600"/>
            <a:ext cx="50292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19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3200" dirty="0" smtClean="0"/>
              <a:t>3.3 </a:t>
            </a:r>
            <a:r>
              <a:rPr lang="ru-RU" sz="3200" dirty="0" smtClean="0"/>
              <a:t>Проблеми </a:t>
            </a:r>
            <a:r>
              <a:rPr lang="ru-RU" sz="3200" dirty="0"/>
              <a:t>и повреди на RAM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00628"/>
            <a:ext cx="8534400" cy="3928572"/>
          </a:xfrm>
        </p:spPr>
        <p:txBody>
          <a:bodyPr>
            <a:normAutofit fontScale="62500" lnSpcReduction="2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3400" dirty="0"/>
              <a:t>В случай, че новопоставената RAM памет не може да бъде открита, значи е възникнал проблем. На първо време е добре отново да отворите компютъра си да погледнете дали тя е поставена правилно. Ако всичко е наред може да опитате да сложите паметта в друг слот. При една проверка ще разберете дали когато е поставена в новия слот компютъра ви я разпознава. Ако е така значи проблема, който възниква при първото и поставяне е в слота. Добре е да потърсите специалист да го поправи, защото това може да предизвика допълнителни проблеми в бъдеще, които ще са доста по-скъпи</a:t>
            </a:r>
            <a:r>
              <a:rPr lang="ru-RU" sz="3400" dirty="0" smtClean="0"/>
              <a:t>.</a:t>
            </a:r>
            <a:endParaRPr lang="ru-RU" sz="34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3400" dirty="0"/>
              <a:t>В случай, че поставите RAM паметта в друг слот и тя отново не иска да бъде разпозната най-вероятно проблема е в нея.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2151678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00628"/>
            <a:ext cx="8610600" cy="3579849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ru-RU" sz="2400" dirty="0"/>
              <a:t>За да бъдете напълно сигурни вземете нова памет и опитайте с нея. Ако резултатът е положителен и RAM паметта бъде разпозната, значи проблема е бил в нея. Не се опитвайте да слагате отново неизправната карта, не я оставяйте в компютъра си. Най-добре е да е извадена и да бъде изхвърлена, защото може да нанесе повреди, ако бъде вътре в устройството.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29489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59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4</a:t>
            </a:r>
            <a:r>
              <a:rPr lang="en-US" dirty="0" smtClean="0"/>
              <a:t>.</a:t>
            </a:r>
            <a:r>
              <a:rPr lang="bg-BG" dirty="0" smtClean="0"/>
              <a:t>Въпроси и задачи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1.Какви видове памети има?</a:t>
            </a:r>
          </a:p>
          <a:p>
            <a:r>
              <a:rPr lang="bg-BG" dirty="0" smtClean="0"/>
              <a:t>2.Какви са характеристиките на видовете памети?</a:t>
            </a:r>
          </a:p>
          <a:p>
            <a:r>
              <a:rPr lang="bg-BG" dirty="0" smtClean="0"/>
              <a:t>3.Описване на видовете компютърни архитектури и техните характеристики?</a:t>
            </a:r>
          </a:p>
          <a:p>
            <a:r>
              <a:rPr lang="bg-BG" dirty="0" smtClean="0"/>
              <a:t>Инсталиране на рам памети и възможни повреди и проблеми на рам при инсталиране?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601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1143000"/>
          </a:xfrm>
        </p:spPr>
        <p:txBody>
          <a:bodyPr/>
          <a:lstStyle/>
          <a:p>
            <a:r>
              <a:rPr lang="bg-BG" dirty="0" smtClean="0"/>
              <a:t>5.Съдържание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000" dirty="0" smtClean="0">
                <a:hlinkClick r:id="rId2"/>
              </a:rPr>
              <a:t>https://bg.wikipedia.org/wiki/%D0%9A%D0%BE%D0%BC%D0%BF%D1%8E%D1%82%D1%8A%D1%80%D0%BD%D0%B0_%D0%BF%D0%B0%D0%BC%D0%B5%D1%82</a:t>
            </a:r>
            <a:endParaRPr lang="bg-BG" sz="2000" dirty="0" smtClean="0"/>
          </a:p>
          <a:p>
            <a:r>
              <a:rPr lang="en-US" sz="2000" dirty="0" smtClean="0">
                <a:hlinkClick r:id="rId3"/>
              </a:rPr>
              <a:t>https://bg.wikipedia.org/wiki/%D0%9A%D0%BE%D0%BC%D0%BF%D1%8E%D1%82%D1%8A%D1%80%D0%BD%D0%B0_%D0%B0%D1%80%D1%85%D0%B8%D1%82%D0%B5%D0%BA%D1%82%D1%83%D1%80%D0%B0</a:t>
            </a:r>
            <a:endParaRPr lang="bg-BG" sz="2000" dirty="0"/>
          </a:p>
          <a:p>
            <a:r>
              <a:rPr lang="en-US" sz="2200" dirty="0" smtClean="0">
                <a:hlinkClick r:id="rId4"/>
              </a:rPr>
              <a:t>https://windowsinstalirane.com/%D0%BF%D0%BE%D1%81%D1%82%D0%B0%D0%B2%D1%8F%D0%BD%D0%B5-%D0%BD%D0%B0-ram-%D0%BF%D0%B0%D0%BC%D0%B5%D1%82-%D0%B8-%D0%BF%D0%BE%D0%B2%D1%80%D0%B5%D0%B4%D0%B8/</a:t>
            </a:r>
            <a:endParaRPr lang="bg-BG" sz="2200" dirty="0" smtClean="0"/>
          </a:p>
          <a:p>
            <a:r>
              <a:rPr lang="en-US" sz="2200" dirty="0" smtClean="0">
                <a:hlinkClick r:id="rId5"/>
              </a:rPr>
              <a:t>https://bg.if-koubou.com/articles/how-to/how-to-upgrade-or-replace-your-pcs-ram.html</a:t>
            </a:r>
            <a:endParaRPr lang="en-US" sz="2200" dirty="0"/>
          </a:p>
        </p:txBody>
      </p:sp>
      <p:sp>
        <p:nvSpPr>
          <p:cNvPr id="4" name="TextBox 3"/>
          <p:cNvSpPr txBox="1"/>
          <p:nvPr/>
        </p:nvSpPr>
        <p:spPr>
          <a:xfrm>
            <a:off x="1905000" y="4648200"/>
            <a:ext cx="2801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 smtClean="0"/>
              <a:t>Изготвил; Борислав Бонов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3614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250</TotalTime>
  <Words>1482</Words>
  <Application>Microsoft Office PowerPoint</Application>
  <PresentationFormat>On-screen Show (4:3)</PresentationFormat>
  <Paragraphs>87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Angles</vt:lpstr>
      <vt:lpstr>Памети, видове архитектури, характеристики, инсталиране на рам памети</vt:lpstr>
      <vt:lpstr>Съдържание;</vt:lpstr>
      <vt:lpstr>  1.Видове компютърна памет и   техните характеристики</vt:lpstr>
      <vt:lpstr>PowerPoint Presentation</vt:lpstr>
      <vt:lpstr>1.2 Какви видове компютърна памет съществуват?</vt:lpstr>
      <vt:lpstr>1.3 RAM</vt:lpstr>
      <vt:lpstr>1.4 SRAM</vt:lpstr>
      <vt:lpstr>1.5 DRAM</vt:lpstr>
      <vt:lpstr>1.6 ROM</vt:lpstr>
      <vt:lpstr>2. Компютърна архитектура</vt:lpstr>
      <vt:lpstr>PowerPoint Presentation</vt:lpstr>
      <vt:lpstr>2.1 Класове компютърни архитектури</vt:lpstr>
      <vt:lpstr>3.Инсталиране на RAM модули</vt:lpstr>
      <vt:lpstr>3.1 Cтандарти</vt:lpstr>
      <vt:lpstr>3.2Многоканален режим</vt:lpstr>
      <vt:lpstr>PowerPoint Presentation</vt:lpstr>
      <vt:lpstr>PowerPoint Presentation</vt:lpstr>
      <vt:lpstr>3.3 Проблеми и повреди на RAM</vt:lpstr>
      <vt:lpstr>PowerPoint Presentation</vt:lpstr>
      <vt:lpstr>PowerPoint Presentation</vt:lpstr>
      <vt:lpstr>4.Въпроси и задачи</vt:lpstr>
      <vt:lpstr>5.Съдържание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Памети, видове архитектури, характеристики, инсталиране на рам памети</dc:title>
  <dc:creator>PC-32</dc:creator>
  <cp:lastModifiedBy>PC-0</cp:lastModifiedBy>
  <cp:revision>18</cp:revision>
  <dcterms:created xsi:type="dcterms:W3CDTF">2022-12-19T07:48:39Z</dcterms:created>
  <dcterms:modified xsi:type="dcterms:W3CDTF">2022-12-21T07:21:30Z</dcterms:modified>
</cp:coreProperties>
</file>