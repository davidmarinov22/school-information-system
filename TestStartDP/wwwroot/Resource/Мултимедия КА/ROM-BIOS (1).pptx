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3082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4575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2084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6284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6377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47683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8037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60487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2920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00532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40601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62571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32011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9206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41529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07095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07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936A5C9-9B2B-4221-B576-7344BF11475A}" type="datetimeFigureOut">
              <a:rPr lang="bg-BG" smtClean="0"/>
              <a:t>20.12.2022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45C1706-F9E7-4951-A3B7-2EB01C60561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770736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6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8.xml"/><Relationship Id="rId9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10" Type="http://schemas.openxmlformats.org/officeDocument/2006/relationships/slide" Target="slide14.xml"/><Relationship Id="rId4" Type="http://schemas.openxmlformats.org/officeDocument/2006/relationships/slide" Target="slide5.xml"/><Relationship Id="rId9" Type="http://schemas.openxmlformats.org/officeDocument/2006/relationships/slide" Target="slide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skalo.com/nezabravka/files/2013/10/ROM.pdf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A6B27D25-BBDA-282B-9D36-6E84C18F29BE}"/>
              </a:ext>
            </a:extLst>
          </p:cNvPr>
          <p:cNvSpPr txBox="1"/>
          <p:nvPr/>
        </p:nvSpPr>
        <p:spPr>
          <a:xfrm>
            <a:off x="0" y="2659559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ROM-BIOS</a:t>
            </a:r>
            <a:endParaRPr lang="bg-BG" sz="4400"/>
          </a:p>
        </p:txBody>
      </p:sp>
    </p:spTree>
    <p:extLst>
      <p:ext uri="{BB962C8B-B14F-4D97-AF65-F5344CB8AC3E}">
        <p14:creationId xmlns:p14="http://schemas.microsoft.com/office/powerpoint/2010/main" val="585634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C05E1E97-2AB6-80C8-431A-6865C7FA4E43}"/>
              </a:ext>
            </a:extLst>
          </p:cNvPr>
          <p:cNvSpPr txBox="1"/>
          <p:nvPr/>
        </p:nvSpPr>
        <p:spPr>
          <a:xfrm>
            <a:off x="0" y="59355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000"/>
              <a:t>	Съдържание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181F2CC2-17F4-2492-0470-E7C0737EF820}"/>
              </a:ext>
            </a:extLst>
          </p:cNvPr>
          <p:cNvSpPr txBox="1"/>
          <p:nvPr/>
        </p:nvSpPr>
        <p:spPr>
          <a:xfrm>
            <a:off x="660399" y="1828799"/>
            <a:ext cx="61722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bg-BG" sz="2400">
                <a:hlinkClick r:id="rId2" action="ppaction://hlinksldjump"/>
              </a:rPr>
              <a:t>Определение</a:t>
            </a:r>
            <a:endParaRPr lang="bg-BG" sz="2400"/>
          </a:p>
          <a:p>
            <a:pPr marL="457200" indent="-457200" algn="just">
              <a:buFont typeface="+mj-lt"/>
              <a:buAutoNum type="arabicPeriod"/>
            </a:pPr>
            <a:r>
              <a:rPr lang="bg-BG" sz="2400">
                <a:hlinkClick r:id="rId3" action="ppaction://hlinksldjump"/>
              </a:rPr>
              <a:t>Основни функции</a:t>
            </a:r>
            <a:endParaRPr lang="bg-BG" sz="2400"/>
          </a:p>
          <a:p>
            <a:pPr marL="457200" indent="-457200" algn="just">
              <a:buFont typeface="+mj-lt"/>
              <a:buAutoNum type="arabicPeriod"/>
            </a:pPr>
            <a:r>
              <a:rPr lang="bg-BG" sz="2400">
                <a:hlinkClick r:id="rId4" action="ppaction://hlinksldjump"/>
              </a:rPr>
              <a:t>Видове </a:t>
            </a:r>
            <a:r>
              <a:rPr lang="en-US" sz="2400">
                <a:hlinkClick r:id="rId4" action="ppaction://hlinksldjump"/>
              </a:rPr>
              <a:t>ROM </a:t>
            </a:r>
            <a:r>
              <a:rPr lang="bg-BG" sz="2400">
                <a:hlinkClick r:id="rId4" action="ppaction://hlinksldjump"/>
              </a:rPr>
              <a:t>и техните характеристки</a:t>
            </a:r>
            <a:endParaRPr lang="bg-BG" sz="2400"/>
          </a:p>
          <a:p>
            <a:pPr marL="457200" indent="-457200" algn="just">
              <a:buFont typeface="+mj-lt"/>
              <a:buAutoNum type="arabicPeriod"/>
            </a:pPr>
            <a:r>
              <a:rPr lang="bg-BG" sz="2400">
                <a:hlinkClick r:id="rId5" action="ppaction://hlinksldjump"/>
              </a:rPr>
              <a:t>Работа с флаш </a:t>
            </a:r>
            <a:r>
              <a:rPr lang="en-US" sz="2400">
                <a:hlinkClick r:id="rId5" action="ppaction://hlinksldjump"/>
              </a:rPr>
              <a:t>ROM</a:t>
            </a:r>
            <a:endParaRPr lang="bg-BG" sz="2400"/>
          </a:p>
          <a:p>
            <a:pPr marL="457200" indent="-457200" algn="just">
              <a:buFont typeface="+mj-lt"/>
              <a:buAutoNum type="arabicPeriod"/>
            </a:pPr>
            <a:r>
              <a:rPr lang="bg-BG" sz="2400">
                <a:hlinkClick r:id="rId6" action="ppaction://hlinksldjump"/>
              </a:rPr>
              <a:t>Конфигуриране и настройване на </a:t>
            </a:r>
            <a:r>
              <a:rPr lang="en-US" sz="2400">
                <a:hlinkClick r:id="rId6" action="ppaction://hlinksldjump"/>
              </a:rPr>
              <a:t>ROM</a:t>
            </a:r>
            <a:endParaRPr lang="bg-BG" sz="2400"/>
          </a:p>
          <a:p>
            <a:pPr marL="457200" indent="-457200" algn="just">
              <a:buFont typeface="+mj-lt"/>
              <a:buAutoNum type="arabicPeriod"/>
            </a:pPr>
            <a:r>
              <a:rPr lang="bg-BG" sz="2400">
                <a:hlinkClick r:id="rId7" action="ppaction://hlinksldjump"/>
              </a:rPr>
              <a:t>Нулиране на настройките на </a:t>
            </a:r>
            <a:r>
              <a:rPr lang="en-US" sz="2400">
                <a:hlinkClick r:id="rId7" action="ppaction://hlinksldjump"/>
              </a:rPr>
              <a:t>BIOS setup</a:t>
            </a:r>
            <a:endParaRPr lang="bg-BG" sz="2400"/>
          </a:p>
          <a:p>
            <a:pPr marL="457200" indent="-457200" algn="just">
              <a:buFont typeface="+mj-lt"/>
              <a:buAutoNum type="arabicPeriod"/>
            </a:pPr>
            <a:r>
              <a:rPr lang="bg-BG" sz="2400">
                <a:hlinkClick r:id="rId8" action="ppaction://hlinksldjump"/>
              </a:rPr>
              <a:t>Обновяване (надграждане) на флаш </a:t>
            </a:r>
            <a:r>
              <a:rPr lang="en-US" sz="2400">
                <a:hlinkClick r:id="rId8" action="ppaction://hlinksldjump"/>
              </a:rPr>
              <a:t>BIOS</a:t>
            </a:r>
            <a:endParaRPr lang="bg-BG" sz="2400"/>
          </a:p>
          <a:p>
            <a:pPr marL="457200" indent="-457200" algn="just">
              <a:buFont typeface="+mj-lt"/>
              <a:buAutoNum type="arabicPeriod"/>
            </a:pPr>
            <a:r>
              <a:rPr lang="bg-BG" sz="2400">
                <a:hlinkClick r:id="rId9" action="ppaction://hlinksldjump"/>
              </a:rPr>
              <a:t>Тест</a:t>
            </a:r>
            <a:endParaRPr lang="bg-BG" sz="2400"/>
          </a:p>
          <a:p>
            <a:pPr marL="457200" indent="-457200" algn="just">
              <a:buFont typeface="+mj-lt"/>
              <a:buAutoNum type="arabicPeriod"/>
            </a:pPr>
            <a:r>
              <a:rPr lang="bg-BG" sz="2400"/>
              <a:t>Източници</a:t>
            </a:r>
          </a:p>
        </p:txBody>
      </p:sp>
    </p:spTree>
    <p:extLst>
      <p:ext uri="{BB962C8B-B14F-4D97-AF65-F5344CB8AC3E}">
        <p14:creationId xmlns:p14="http://schemas.microsoft.com/office/powerpoint/2010/main" val="45712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3FD2CA0E-D8A8-C218-6AE9-A61F4BF7D998}"/>
              </a:ext>
            </a:extLst>
          </p:cNvPr>
          <p:cNvSpPr txBox="1"/>
          <p:nvPr/>
        </p:nvSpPr>
        <p:spPr>
          <a:xfrm>
            <a:off x="0" y="72189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000"/>
              <a:t>Определение</a:t>
            </a:r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8839C189-1FC2-F4B6-A078-3A029AA12793}"/>
              </a:ext>
            </a:extLst>
          </p:cNvPr>
          <p:cNvSpPr txBox="1"/>
          <p:nvPr/>
        </p:nvSpPr>
        <p:spPr>
          <a:xfrm>
            <a:off x="866273" y="2227818"/>
            <a:ext cx="10459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/>
              <a:t>BIOS (</a:t>
            </a:r>
            <a:r>
              <a:rPr lang="bg-BG" sz="2400"/>
              <a:t>базова входно/изходна система) описва всички драйвери в една система, които работят заедно и оформят същинската връзка между софтуера и хардуера в нея. Този сбор от програми се зарежда веднага когато системата се включи, дори преди операционната система.</a:t>
            </a:r>
          </a:p>
        </p:txBody>
      </p:sp>
    </p:spTree>
    <p:extLst>
      <p:ext uri="{BB962C8B-B14F-4D97-AF65-F5344CB8AC3E}">
        <p14:creationId xmlns:p14="http://schemas.microsoft.com/office/powerpoint/2010/main" val="388692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C4A97E5C-193F-04F9-0BFB-02C15D182359}"/>
              </a:ext>
            </a:extLst>
          </p:cNvPr>
          <p:cNvSpPr txBox="1"/>
          <p:nvPr/>
        </p:nvSpPr>
        <p:spPr>
          <a:xfrm>
            <a:off x="866273" y="2227818"/>
            <a:ext cx="104594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sz="2400"/>
              <a:t>В компютърните конфигурации </a:t>
            </a:r>
            <a:r>
              <a:rPr lang="en-US" sz="2400"/>
              <a:t>BIOS</a:t>
            </a:r>
            <a:r>
              <a:rPr lang="bg-BG" sz="2400"/>
              <a:t>-ът е разпределен между три източника: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/>
              <a:t>ROM </a:t>
            </a:r>
            <a:r>
              <a:rPr lang="bg-BG" sz="2400"/>
              <a:t> на дънна платка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/>
              <a:t>ROM </a:t>
            </a:r>
            <a:r>
              <a:rPr lang="bg-BG" sz="2400"/>
              <a:t> на адаптерни карти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bg-BG" sz="2400"/>
              <a:t>Драйвери на устройства, заредени в </a:t>
            </a:r>
            <a:r>
              <a:rPr lang="en-US" sz="2400"/>
              <a:t>RAM </a:t>
            </a:r>
            <a:r>
              <a:rPr lang="bg-BG" sz="2400"/>
              <a:t>паметта от диск</a:t>
            </a:r>
          </a:p>
          <a:p>
            <a:pPr algn="just"/>
            <a:r>
              <a:rPr lang="bg-BG" sz="2400"/>
              <a:t>Собствен </a:t>
            </a:r>
            <a:r>
              <a:rPr lang="en-US" sz="2400"/>
              <a:t>BIOS </a:t>
            </a:r>
            <a:r>
              <a:rPr lang="bg-BG" sz="2400"/>
              <a:t>имат следните разширителби карти: видео карти; </a:t>
            </a:r>
            <a:r>
              <a:rPr lang="en-US" sz="2400"/>
              <a:t>SCSI </a:t>
            </a:r>
            <a:r>
              <a:rPr lang="bg-BG" sz="2400"/>
              <a:t>адпатери; мрежови карти; карти за надграждане на </a:t>
            </a:r>
            <a:r>
              <a:rPr lang="en-US" sz="2400"/>
              <a:t>IDE </a:t>
            </a:r>
            <a:r>
              <a:rPr lang="bg-BG" sz="2400"/>
              <a:t>или флопидисковия контролер; </a:t>
            </a:r>
            <a:r>
              <a:rPr lang="en-US" sz="2400"/>
              <a:t>Y2K</a:t>
            </a:r>
            <a:r>
              <a:rPr lang="bg-BG" sz="2400"/>
              <a:t> карти.</a:t>
            </a:r>
          </a:p>
        </p:txBody>
      </p:sp>
    </p:spTree>
    <p:extLst>
      <p:ext uri="{BB962C8B-B14F-4D97-AF65-F5344CB8AC3E}">
        <p14:creationId xmlns:p14="http://schemas.microsoft.com/office/powerpoint/2010/main" val="216410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61EC3C2E-DE49-32FB-AA82-9A8E673AC558}"/>
              </a:ext>
            </a:extLst>
          </p:cNvPr>
          <p:cNvSpPr txBox="1"/>
          <p:nvPr/>
        </p:nvSpPr>
        <p:spPr>
          <a:xfrm>
            <a:off x="866273" y="2227818"/>
            <a:ext cx="10459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sz="2400"/>
              <a:t>Частта, която се съдържа в </a:t>
            </a:r>
            <a:r>
              <a:rPr lang="en-US" sz="2400"/>
              <a:t>ROM </a:t>
            </a:r>
            <a:r>
              <a:rPr lang="bg-BG" sz="2400"/>
              <a:t>чиповете на дънната платка, така и на някои адаптерни карти, понякога се нарича фърмуер (</a:t>
            </a:r>
            <a:r>
              <a:rPr lang="en-US" sz="2400"/>
              <a:t>firmware), </a:t>
            </a:r>
            <a:r>
              <a:rPr lang="bg-BG" sz="2400"/>
              <a:t>това наименование е давано на софтуера, който се съхранява в чипове а не на диска и по тази причина някои хора смятат, че </a:t>
            </a:r>
            <a:r>
              <a:rPr lang="en-US" sz="2400"/>
              <a:t>BIOS </a:t>
            </a:r>
            <a:r>
              <a:rPr lang="bg-BG" sz="2400"/>
              <a:t>е хардуерен компонент.  </a:t>
            </a:r>
          </a:p>
        </p:txBody>
      </p:sp>
    </p:spTree>
    <p:extLst>
      <p:ext uri="{BB962C8B-B14F-4D97-AF65-F5344CB8AC3E}">
        <p14:creationId xmlns:p14="http://schemas.microsoft.com/office/powerpoint/2010/main" val="8516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A3A2F3F3-150F-D3B3-BFDB-B48950348E4A}"/>
              </a:ext>
            </a:extLst>
          </p:cNvPr>
          <p:cNvSpPr txBox="1"/>
          <p:nvPr/>
        </p:nvSpPr>
        <p:spPr>
          <a:xfrm>
            <a:off x="0" y="72189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000"/>
              <a:t>Основни функции</a:t>
            </a:r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7EB41D43-0515-6944-8903-6D16012E0AB3}"/>
              </a:ext>
            </a:extLst>
          </p:cNvPr>
          <p:cNvSpPr txBox="1"/>
          <p:nvPr/>
        </p:nvSpPr>
        <p:spPr>
          <a:xfrm>
            <a:off x="624625" y="1627831"/>
            <a:ext cx="1110170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/>
              <a:t>BIOS</a:t>
            </a:r>
            <a:r>
              <a:rPr lang="bg-BG" sz="2400"/>
              <a:t> има четири основни функции: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/>
              <a:t>POST</a:t>
            </a:r>
            <a:r>
              <a:rPr lang="bg-BG" sz="2400"/>
              <a:t> </a:t>
            </a:r>
            <a:r>
              <a:rPr lang="en-US" sz="2400"/>
              <a:t>(power on self test) – </a:t>
            </a:r>
            <a:r>
              <a:rPr lang="bg-BG" sz="2400"/>
              <a:t>самотестване при включване на захранването.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/>
              <a:t>Setup </a:t>
            </a:r>
            <a:r>
              <a:rPr lang="bg-BG" sz="2400"/>
              <a:t>(настройка) – програма за конфигуриране и настройване на системата.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/>
              <a:t>Bootstrap loader</a:t>
            </a:r>
            <a:r>
              <a:rPr lang="bg-BG" sz="2400"/>
              <a:t> (програма за първоначално зареждане) – програма, която чете дисковите устройства, търсейки валиден главен запис за зареждане. Ако се открие такъв, кодът в него се изпълнява, след това тази програма продължава процеса, зареждайки в паметта сектора за зареждане на операционната система, а след това се зареждат основните файлове на операционната система.</a:t>
            </a:r>
          </a:p>
        </p:txBody>
      </p:sp>
    </p:spTree>
    <p:extLst>
      <p:ext uri="{BB962C8B-B14F-4D97-AF65-F5344CB8AC3E}">
        <p14:creationId xmlns:p14="http://schemas.microsoft.com/office/powerpoint/2010/main" val="775683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9DFD7FBA-AB77-52E9-8C8C-D712241A6EE3}"/>
              </a:ext>
            </a:extLst>
          </p:cNvPr>
          <p:cNvSpPr txBox="1"/>
          <p:nvPr/>
        </p:nvSpPr>
        <p:spPr>
          <a:xfrm>
            <a:off x="389467" y="942031"/>
            <a:ext cx="11413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/>
              <a:t>BIOS</a:t>
            </a:r>
            <a:r>
              <a:rPr lang="bg-BG" sz="2400"/>
              <a:t> – наименованието се отнася за сбора от действителните драйвери, използвани като интерфейс между хардуера и опрецаионната система, когато системата зареди. Когато се изпълнява </a:t>
            </a:r>
            <a:r>
              <a:rPr lang="en-US" sz="2400"/>
              <a:t>Windows </a:t>
            </a:r>
            <a:r>
              <a:rPr lang="bg-BG" sz="2400"/>
              <a:t>в </a:t>
            </a:r>
            <a:r>
              <a:rPr lang="en-US" sz="2400"/>
              <a:t>safe mode </a:t>
            </a:r>
            <a:r>
              <a:rPr lang="bg-BG" sz="2400"/>
              <a:t>или </a:t>
            </a:r>
            <a:r>
              <a:rPr lang="en-US" sz="2400"/>
              <a:t>DOS</a:t>
            </a:r>
            <a:r>
              <a:rPr lang="bg-BG" sz="2400"/>
              <a:t>, се използват само </a:t>
            </a:r>
            <a:r>
              <a:rPr lang="en-US" sz="2400"/>
              <a:t>ROM</a:t>
            </a:r>
            <a:r>
              <a:rPr lang="bg-BG" sz="2400"/>
              <a:t>-базираните драйвери на </a:t>
            </a:r>
            <a:r>
              <a:rPr lang="en-US" sz="2400"/>
              <a:t>BIOS,</a:t>
            </a:r>
            <a:r>
              <a:rPr lang="bg-BG" sz="2400"/>
              <a:t> а от диска не се зареждат никакви.</a:t>
            </a:r>
          </a:p>
        </p:txBody>
      </p:sp>
      <p:pic>
        <p:nvPicPr>
          <p:cNvPr id="2050" name="Picture 2" descr="PC BIOS Settings - YouTube">
            <a:extLst>
              <a:ext uri="{FF2B5EF4-FFF2-40B4-BE49-F238E27FC236}">
                <a16:creationId xmlns:a16="http://schemas.microsoft.com/office/drawing/2014/main" id="{4D35025F-7D8E-D66E-4819-76562D5AA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532" y="2717800"/>
            <a:ext cx="6637867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8DB1DBF3-5498-2B9B-82D1-FCF8FBA24C72}"/>
              </a:ext>
            </a:extLst>
          </p:cNvPr>
          <p:cNvSpPr txBox="1"/>
          <p:nvPr/>
        </p:nvSpPr>
        <p:spPr>
          <a:xfrm>
            <a:off x="3031066" y="6451600"/>
            <a:ext cx="188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Setup </a:t>
            </a:r>
            <a:r>
              <a:rPr lang="bg-BG"/>
              <a:t>на </a:t>
            </a:r>
            <a:r>
              <a:rPr lang="en-US"/>
              <a:t>BIOS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94659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259664D4-821B-FAEF-12AA-D023F0388B55}"/>
              </a:ext>
            </a:extLst>
          </p:cNvPr>
          <p:cNvSpPr txBox="1"/>
          <p:nvPr/>
        </p:nvSpPr>
        <p:spPr>
          <a:xfrm>
            <a:off x="0" y="72189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000"/>
              <a:t>Видове </a:t>
            </a:r>
            <a:r>
              <a:rPr lang="en-US" sz="4000"/>
              <a:t>ROM </a:t>
            </a:r>
            <a:r>
              <a:rPr lang="bg-BG" sz="4000"/>
              <a:t>и техните характеристки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B98A73B2-8665-D3E5-2100-2DF654E8F13E}"/>
              </a:ext>
            </a:extLst>
          </p:cNvPr>
          <p:cNvSpPr txBox="1"/>
          <p:nvPr/>
        </p:nvSpPr>
        <p:spPr>
          <a:xfrm>
            <a:off x="313267" y="1429780"/>
            <a:ext cx="91524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/>
              <a:t>ROM</a:t>
            </a:r>
            <a:r>
              <a:rPr lang="bg-BG" sz="2400"/>
              <a:t> чиповете са четири типа: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/>
              <a:t>ROM</a:t>
            </a:r>
            <a:r>
              <a:rPr lang="bg-BG" sz="2400"/>
              <a:t> (истински или масков) – силициев чип, на който данните са записани чрез фотолитографски процес с помощта на маска. Те отдавна не се използват поради липса на гъвкавост</a:t>
            </a:r>
            <a:r>
              <a:rPr lang="en-US" sz="240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/>
              <a:t>PROM – </a:t>
            </a:r>
            <a:r>
              <a:rPr lang="bg-BG" sz="2400"/>
              <a:t>памет, която при производството е празна и трябва да се програмира с необходимите данни. Използва се програматор, който прогаря нулите в чипа, този процес е ноебратим.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4CABE0E2-C870-CFF3-4695-C3C37BC82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58" b="94211" l="1000" r="98000">
                        <a14:foregroundMark x1="90333" y1="22105" x2="92333" y2="60526"/>
                        <a14:foregroundMark x1="92333" y1="60526" x2="90667" y2="70000"/>
                        <a14:foregroundMark x1="94667" y1="47368" x2="98000" y2="18947"/>
                        <a14:foregroundMark x1="98000" y1="18947" x2="69333" y2="8421"/>
                        <a14:foregroundMark x1="95333" y1="44211" x2="85000" y2="94211"/>
                        <a14:foregroundMark x1="52667" y1="78947" x2="76333" y2="83158"/>
                        <a14:foregroundMark x1="76333" y1="83158" x2="57000" y2="81053"/>
                        <a14:foregroundMark x1="57000" y1="81053" x2="84333" y2="90000"/>
                        <a14:foregroundMark x1="64667" y1="85263" x2="83333" y2="90000"/>
                        <a14:foregroundMark x1="83333" y1="90000" x2="83667" y2="93158"/>
                        <a14:foregroundMark x1="82333" y1="93158" x2="62000" y2="84211"/>
                        <a14:foregroundMark x1="31000" y1="90526" x2="48000" y2="24737"/>
                        <a14:foregroundMark x1="48000" y1="24737" x2="44013" y2="19571"/>
                        <a14:foregroundMark x1="28521" y1="12481" x2="17720" y2="20126"/>
                        <a14:foregroundMark x1="8718" y1="46594" x2="7333" y2="51579"/>
                        <a14:foregroundMark x1="7333" y1="51579" x2="16333" y2="78947"/>
                        <a14:foregroundMark x1="16333" y1="78947" x2="7000" y2="76842"/>
                        <a14:foregroundMark x1="42667" y1="40000" x2="44667" y2="40000"/>
                        <a14:foregroundMark x1="39333" y1="39474" x2="44000" y2="41579"/>
                        <a14:foregroundMark x1="37667" y1="40000" x2="44667" y2="42105"/>
                        <a14:foregroundMark x1="24667" y1="43684" x2="28667" y2="43158"/>
                        <a14:foregroundMark x1="21333" y1="37368" x2="16774" y2="36504"/>
                        <a14:foregroundMark x1="25000" y1="44211" x2="26333" y2="51053"/>
                        <a14:foregroundMark x1="1333" y1="71579" x2="8000" y2="75789"/>
                        <a14:foregroundMark x1="14000" y1="78947" x2="30000" y2="88421"/>
                        <a14:foregroundMark x1="30000" y1="88421" x2="8667" y2="77895"/>
                        <a14:foregroundMark x1="23333" y1="4211" x2="42366" y2="12475"/>
                        <a14:foregroundMark x1="42000" y1="14211" x2="42667" y2="11579"/>
                        <a14:foregroundMark x1="41667" y1="11579" x2="50333" y2="16316"/>
                        <a14:backgroundMark x1="49667" y1="55263" x2="49667" y2="55263"/>
                        <a14:backgroundMark x1="17000" y1="19474" x2="6667" y2="44737"/>
                        <a14:backgroundMark x1="6667" y1="44737" x2="16333" y2="22105"/>
                        <a14:backgroundMark x1="16333" y1="22105" x2="16333" y2="22105"/>
                        <a14:backgroundMark x1="6333" y1="51053" x2="8333" y2="45263"/>
                        <a14:backgroundMark x1="23333" y1="2632" x2="24002" y2="2836"/>
                        <a14:backgroundMark x1="51337" y1="14355" x2="54333" y2="15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87934" y="1619250"/>
            <a:ext cx="2857500" cy="1809750"/>
          </a:xfrm>
          <a:prstGeom prst="rect">
            <a:avLst/>
          </a:prstGeom>
        </p:spPr>
      </p:pic>
      <p:pic>
        <p:nvPicPr>
          <p:cNvPr id="3074" name="Picture 2" descr="What is PROM (Programmable ROM)?">
            <a:extLst>
              <a:ext uri="{FF2B5EF4-FFF2-40B4-BE49-F238E27FC236}">
                <a16:creationId xmlns:a16="http://schemas.microsoft.com/office/drawing/2014/main" id="{61276DE2-B18B-6AF4-359F-D260BEEE04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5" r="695" b="5330"/>
          <a:stretch/>
        </p:blipFill>
        <p:spPr bwMode="auto">
          <a:xfrm>
            <a:off x="4182533" y="4340726"/>
            <a:ext cx="3344334" cy="21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072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379150E8-4E0E-3DAB-2CEF-F7F491AF5CCA}"/>
              </a:ext>
            </a:extLst>
          </p:cNvPr>
          <p:cNvSpPr txBox="1"/>
          <p:nvPr/>
        </p:nvSpPr>
        <p:spPr>
          <a:xfrm>
            <a:off x="296334" y="904846"/>
            <a:ext cx="915246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/>
              <a:t>EPROM</a:t>
            </a:r>
            <a:r>
              <a:rPr lang="bg-BG" sz="2400"/>
              <a:t> – вариация на </a:t>
            </a:r>
            <a:r>
              <a:rPr lang="en-US" sz="2400"/>
              <a:t>PROM</a:t>
            </a:r>
            <a:r>
              <a:rPr lang="bg-BG" sz="2400"/>
              <a:t>, популярна в миналото, при която паметта може да се изтрива чрез ултравиолетова светлина, през специално кварцово прозорче. Прозорщето обикновено е покрито с непрозрачна лепнка, която предпазва кристала от непреднамерено излагане на УВ светлина.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/>
              <a:t>EEPROM (</a:t>
            </a:r>
            <a:r>
              <a:rPr lang="bg-BG" sz="2400"/>
              <a:t>флаш </a:t>
            </a:r>
            <a:r>
              <a:rPr lang="en-US" sz="2400"/>
              <a:t>ROM)</a:t>
            </a:r>
            <a:r>
              <a:rPr lang="bg-BG" sz="2400"/>
              <a:t> – чиповете се индентифицират по техните 28хххх и 29хххх номера и липсата на прозорче върху тях. </a:t>
            </a:r>
            <a:r>
              <a:rPr lang="ru-RU" sz="2400"/>
              <a:t>Използвайки EEPROM, или флаш ROM, можете да изтриете и препрограмирате ROM паметта на дънната платка в едно PC, необходима е само специална програма, осигурена от Web сайта на производителя на дънната платка, чрез която се създава зареждаема дискета с изображението на новия BIOS и програмата за обновяване.</a:t>
            </a:r>
            <a:endParaRPr lang="bg-BG" sz="2400"/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5A4EB696-5E7E-B8C4-9D36-98E3BE181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263" b="94413" l="2254" r="93803">
                        <a14:foregroundMark x1="1690" y1="13408" x2="5070" y2="53073"/>
                        <a14:foregroundMark x1="5070" y1="53073" x2="18028" y2="88827"/>
                        <a14:foregroundMark x1="18028" y1="88827" x2="37746" y2="91061"/>
                        <a14:foregroundMark x1="37746" y1="91061" x2="81972" y2="87709"/>
                        <a14:foregroundMark x1="81972" y1="87709" x2="96901" y2="54749"/>
                        <a14:foregroundMark x1="96901" y1="54749" x2="93803" y2="13408"/>
                        <a14:foregroundMark x1="93803" y1="13408" x2="2254" y2="12291"/>
                        <a14:foregroundMark x1="7324" y1="10615" x2="6479" y2="8939"/>
                        <a14:foregroundMark x1="6197" y1="7263" x2="6197" y2="7263"/>
                        <a14:foregroundMark x1="7324" y1="7263" x2="7324" y2="7821"/>
                        <a14:foregroundMark x1="28451" y1="8380" x2="29577" y2="8380"/>
                        <a14:foregroundMark x1="29577" y1="8380" x2="29577" y2="8380"/>
                        <a14:foregroundMark x1="29577" y1="8380" x2="29577" y2="8380"/>
                        <a14:foregroundMark x1="7042" y1="92737" x2="7042" y2="92737"/>
                        <a14:foregroundMark x1="7324" y1="91620" x2="7324" y2="91620"/>
                        <a14:foregroundMark x1="14648" y1="91620" x2="14648" y2="91620"/>
                        <a14:foregroundMark x1="22817" y1="92179" x2="22817" y2="92179"/>
                        <a14:foregroundMark x1="29014" y1="93296" x2="29014" y2="93296"/>
                        <a14:foregroundMark x1="36056" y1="94413" x2="36056" y2="94413"/>
                        <a14:foregroundMark x1="44225" y1="93296" x2="44225" y2="93296"/>
                        <a14:foregroundMark x1="52394" y1="93296" x2="52394" y2="93296"/>
                        <a14:foregroundMark x1="59155" y1="93855" x2="59155" y2="93855"/>
                        <a14:foregroundMark x1="66761" y1="94413" x2="66761" y2="94413"/>
                        <a14:foregroundMark x1="72958" y1="93296" x2="72958" y2="93296"/>
                        <a14:foregroundMark x1="81690" y1="93296" x2="81690" y2="93296"/>
                        <a14:foregroundMark x1="88732" y1="92737" x2="88732" y2="92737"/>
                        <a14:foregroundMark x1="89859" y1="9497" x2="89859" y2="9497"/>
                        <a14:foregroundMark x1="82254" y1="10056" x2="82254" y2="10056"/>
                        <a14:foregroundMark x1="74648" y1="11732" x2="74648" y2="11732"/>
                        <a14:foregroundMark x1="59718" y1="8939" x2="59718" y2="8939"/>
                        <a14:foregroundMark x1="52676" y1="10056" x2="52676" y2="10056"/>
                        <a14:foregroundMark x1="46197" y1="10056" x2="46197" y2="10056"/>
                        <a14:foregroundMark x1="37183" y1="8939" x2="37183" y2="8939"/>
                        <a14:foregroundMark x1="49859" y1="50838" x2="49859" y2="50838"/>
                        <a14:foregroundMark x1="49296" y1="49162" x2="52113" y2="42458"/>
                        <a14:foregroundMark x1="44507" y1="55307" x2="52958" y2="48603"/>
                        <a14:foregroundMark x1="41690" y1="43017" x2="62817" y2="41899"/>
                        <a14:foregroundMark x1="62817" y1="41899" x2="63099" y2="418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0758" y="1151467"/>
            <a:ext cx="2631242" cy="1326739"/>
          </a:xfrm>
          <a:prstGeom prst="rect">
            <a:avLst/>
          </a:prstGeom>
        </p:spPr>
      </p:pic>
      <p:pic>
        <p:nvPicPr>
          <p:cNvPr id="4098" name="Picture 2" descr="How Embedded EEPROM and Flash Memory Devices Differ - Total Phase Blog">
            <a:extLst>
              <a:ext uri="{FF2B5EF4-FFF2-40B4-BE49-F238E27FC236}">
                <a16:creationId xmlns:a16="http://schemas.microsoft.com/office/drawing/2014/main" id="{064F24CA-AFBC-24DB-6F19-3003F50EC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929" y="3383008"/>
            <a:ext cx="2315730" cy="173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8889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0C44CDE1-369F-E54C-8BDC-D1F8909E8057}"/>
              </a:ext>
            </a:extLst>
          </p:cNvPr>
          <p:cNvSpPr txBox="1"/>
          <p:nvPr/>
        </p:nvSpPr>
        <p:spPr>
          <a:xfrm>
            <a:off x="283633" y="1311246"/>
            <a:ext cx="116247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/>
              <a:t>При EEPROM и флаш се използва на практика една и съща технология. Допълнителната декодираща логика, която позволява съдържанието да се изменя по блокове, а не изцяло, логиката за програмиране и "зарядни помпи" за генериране на напреженията за програмиране са реализирани в паметите EEPROM само отчасти, докато във флаш-паметите са вградени изцяло. Ето защо при използване на EEPROM е необходима и допълнителна логика, която е реализирана на дънната платка, докато паметите флаш не се нуждаят от нея. От 1994 година насам на практика всяка дънна платка за PC използва флаш RO</a:t>
            </a:r>
            <a:r>
              <a:rPr lang="en-US" sz="2400"/>
              <a:t>M</a:t>
            </a:r>
            <a:r>
              <a:rPr lang="ru-RU" sz="2400"/>
              <a:t>.</a:t>
            </a:r>
            <a:endParaRPr lang="bg-BG" sz="2400"/>
          </a:p>
        </p:txBody>
      </p:sp>
    </p:spTree>
    <p:extLst>
      <p:ext uri="{BB962C8B-B14F-4D97-AF65-F5344CB8AC3E}">
        <p14:creationId xmlns:p14="http://schemas.microsoft.com/office/powerpoint/2010/main" val="35352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169BB9C7-7EE3-2207-BA9B-F4439DAD0EA5}"/>
              </a:ext>
            </a:extLst>
          </p:cNvPr>
          <p:cNvSpPr txBox="1"/>
          <p:nvPr/>
        </p:nvSpPr>
        <p:spPr>
          <a:xfrm>
            <a:off x="0" y="72189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000"/>
              <a:t>Работа с флаш </a:t>
            </a:r>
            <a:r>
              <a:rPr lang="en-US" sz="4000"/>
              <a:t>ROM</a:t>
            </a:r>
            <a:endParaRPr lang="bg-BG" sz="4000"/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4A169814-976F-32F9-11BB-8B585F67692B}"/>
              </a:ext>
            </a:extLst>
          </p:cNvPr>
          <p:cNvSpPr txBox="1"/>
          <p:nvPr/>
        </p:nvSpPr>
        <p:spPr>
          <a:xfrm>
            <a:off x="283633" y="2437314"/>
            <a:ext cx="11624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sz="2400"/>
              <a:t>При работа с флаш ром се извършват следните дейности: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/>
              <a:t>конфигуриране и настройване на системата</a:t>
            </a:r>
            <a:endParaRPr lang="bg-BG" sz="24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/>
              <a:t>нулиране на настройките, в частност на паролата за достъп до BIOS или цялата система</a:t>
            </a:r>
            <a:endParaRPr lang="bg-BG" sz="24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bg-BG" sz="2400"/>
              <a:t>обновяване (</a:t>
            </a:r>
            <a:r>
              <a:rPr lang="en-GB" sz="2400"/>
              <a:t>upgrade) </a:t>
            </a:r>
            <a:r>
              <a:rPr lang="bg-BG" sz="2400"/>
              <a:t>на </a:t>
            </a:r>
            <a:r>
              <a:rPr lang="en-GB" sz="2400"/>
              <a:t>BIOS</a:t>
            </a:r>
            <a:endParaRPr lang="bg-BG" sz="24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/>
              <a:t>откриване на грешки в хардуера по време на POST процедурата</a:t>
            </a:r>
            <a:endParaRPr lang="bg-BG" sz="2400"/>
          </a:p>
        </p:txBody>
      </p:sp>
    </p:spTree>
    <p:extLst>
      <p:ext uri="{BB962C8B-B14F-4D97-AF65-F5344CB8AC3E}">
        <p14:creationId xmlns:p14="http://schemas.microsoft.com/office/powerpoint/2010/main" val="3175157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CD825D02-F43B-8C86-4F18-65C213169B4D}"/>
              </a:ext>
            </a:extLst>
          </p:cNvPr>
          <p:cNvSpPr txBox="1"/>
          <p:nvPr/>
        </p:nvSpPr>
        <p:spPr>
          <a:xfrm>
            <a:off x="0" y="72189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000"/>
              <a:t>Конфигуриране и настройване на </a:t>
            </a:r>
            <a:r>
              <a:rPr lang="en-US" sz="4000"/>
              <a:t>ROM</a:t>
            </a:r>
            <a:endParaRPr lang="bg-BG" sz="4000"/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79E980AA-B790-90AC-978D-34A7EC233B07}"/>
              </a:ext>
            </a:extLst>
          </p:cNvPr>
          <p:cNvSpPr txBox="1"/>
          <p:nvPr/>
        </p:nvSpPr>
        <p:spPr>
          <a:xfrm>
            <a:off x="283633" y="1726114"/>
            <a:ext cx="116247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i="1"/>
              <a:t>Настройките, зададени </a:t>
            </a:r>
            <a:r>
              <a:rPr lang="en-US" sz="2400" i="1"/>
              <a:t>BIOS setup</a:t>
            </a:r>
            <a:r>
              <a:rPr lang="ru-RU" sz="2400" i="1"/>
              <a:t>, се съхраняват в специален чип, наречен RTC/NVRAM</a:t>
            </a:r>
            <a:r>
              <a:rPr lang="ru-RU" sz="2400"/>
              <a:t>, което означава real-time clock/nonvolatile RAM. Този чип често се нарича CMOS-RAM, тъй като се изработва по CMOS технология</a:t>
            </a:r>
            <a:r>
              <a:rPr lang="en-US" sz="2400"/>
              <a:t>. </a:t>
            </a:r>
            <a:r>
              <a:rPr lang="ru-RU" sz="2400"/>
              <a:t>CMOS чиповете имат изключително малка консумация, така че за поддръжката им е достатъчна батерия, която може да издържи няколко години. Всеки път, когато компютърната система се зарежда, тя прочита съхранените в CMOS RAM чипа параметри, за да разбере как трябва да се конфигурира. С други думи, съществува връзка между BlOS-a и CMOS RAM паметта, но това са две коренно различни части от системата</a:t>
            </a:r>
            <a:r>
              <a:rPr lang="en-US" sz="2400"/>
              <a:t>.</a:t>
            </a:r>
            <a:endParaRPr lang="bg-BG" sz="2400"/>
          </a:p>
        </p:txBody>
      </p:sp>
    </p:spTree>
    <p:extLst>
      <p:ext uri="{BB962C8B-B14F-4D97-AF65-F5344CB8AC3E}">
        <p14:creationId xmlns:p14="http://schemas.microsoft.com/office/powerpoint/2010/main" val="203577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1765BC29-4A2A-5FA1-5BD6-A59DA37572C1}"/>
              </a:ext>
            </a:extLst>
          </p:cNvPr>
          <p:cNvSpPr txBox="1"/>
          <p:nvPr/>
        </p:nvSpPr>
        <p:spPr>
          <a:xfrm>
            <a:off x="0" y="72189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000"/>
              <a:t>Нулиране на настройките на </a:t>
            </a:r>
            <a:r>
              <a:rPr lang="en-US" sz="4000"/>
              <a:t>BIOS setup</a:t>
            </a:r>
            <a:endParaRPr lang="bg-BG" sz="4000"/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A2C906C7-4381-DA35-C4E5-09EA78730C6D}"/>
              </a:ext>
            </a:extLst>
          </p:cNvPr>
          <p:cNvSpPr txBox="1"/>
          <p:nvPr/>
        </p:nvSpPr>
        <p:spPr>
          <a:xfrm>
            <a:off x="283633" y="2090172"/>
            <a:ext cx="116247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/>
              <a:t>Понякога, когато потребителят е забравил паролата за BIOS или PC не се стартира коректно поради грешно конфигуриран BIOS-Setup, се налага изчистване на паметта на RTC/NVRAM чипа. Най-често употребяваните начини за това са чрез преместване на специален джъмпер (мостче) за 1-2 минути или чрез изваждане за няколко минути на литиевата батерийка от гнездото й. По-подробно за конфигурирането на системата чрез BIOS Setup и за нулирането на RTC/NVRAM чипа може да се прочете в главата RTC/CMOS-RAM. </a:t>
            </a:r>
            <a:endParaRPr lang="bg-BG" sz="2400"/>
          </a:p>
        </p:txBody>
      </p:sp>
    </p:spTree>
    <p:extLst>
      <p:ext uri="{BB962C8B-B14F-4D97-AF65-F5344CB8AC3E}">
        <p14:creationId xmlns:p14="http://schemas.microsoft.com/office/powerpoint/2010/main" val="4108863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D240F324-5532-F878-F40D-A482C914E43B}"/>
              </a:ext>
            </a:extLst>
          </p:cNvPr>
          <p:cNvSpPr txBox="1"/>
          <p:nvPr/>
        </p:nvSpPr>
        <p:spPr>
          <a:xfrm>
            <a:off x="0" y="72189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000"/>
              <a:t>Обновяване (надграждане) на флаш </a:t>
            </a:r>
            <a:r>
              <a:rPr lang="en-US" sz="4000"/>
              <a:t>BIOS</a:t>
            </a:r>
            <a:endParaRPr lang="bg-BG" sz="4000"/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CCB5A3D6-D587-70F4-8AC3-F662E26DFF67}"/>
              </a:ext>
            </a:extLst>
          </p:cNvPr>
          <p:cNvSpPr txBox="1"/>
          <p:nvPr/>
        </p:nvSpPr>
        <p:spPr>
          <a:xfrm>
            <a:off x="338666" y="1606603"/>
            <a:ext cx="115146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/>
              <a:t>Макар че обновяването на BIOS не е особено сложна процедура, то крие доста голям риск, тъй като системата може да стане неработоспособна, и затова се препоръчва да се извършва само, когато действително има нужда, и то от квалифициран специалист. </a:t>
            </a:r>
          </a:p>
          <a:p>
            <a:pPr algn="just"/>
            <a:r>
              <a:rPr lang="ru-RU" sz="2400"/>
              <a:t>Най-честите причини, налагащи надграждане на BIOS, са някакви грешки в текущо инсталирания BIOS или допълнително инсталиране на хардуер, който не се поддържа от този BIOS: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/>
              <a:t>добавяне на поддръжка за процесори от по-нов тип и с по-висока скорост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/>
              <a:t>добавяне на поддръжка на АТА твърди дискове с капацитет по-голям от 8.4GB или 137GB (48-bit LBA)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bg-BG" sz="2400"/>
              <a:t>поддръжка на нови стандарти за твърди дискове: например </a:t>
            </a:r>
            <a:r>
              <a:rPr lang="en-GB" sz="2400"/>
              <a:t>Ultra-DMA/100, UltraDMA/133 ATA, SATA</a:t>
            </a:r>
            <a:endParaRPr lang="ru-RU" sz="2400"/>
          </a:p>
          <a:p>
            <a:pPr algn="just"/>
            <a:endParaRPr lang="bg-BG" sz="2400"/>
          </a:p>
        </p:txBody>
      </p:sp>
    </p:spTree>
    <p:extLst>
      <p:ext uri="{BB962C8B-B14F-4D97-AF65-F5344CB8AC3E}">
        <p14:creationId xmlns:p14="http://schemas.microsoft.com/office/powerpoint/2010/main" val="3635372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A7B95E3D-3EC4-B5EC-C770-6B2047671DFE}"/>
              </a:ext>
            </a:extLst>
          </p:cNvPr>
          <p:cNvSpPr txBox="1"/>
          <p:nvPr/>
        </p:nvSpPr>
        <p:spPr>
          <a:xfrm>
            <a:off x="338667" y="718235"/>
            <a:ext cx="11709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/>
              <a:t>поддръжка на зареждаеми (bootable) ATAPI CD-ROM устройства (спецификация El Torito)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/>
              <a:t>поддръжка на зареждаеми устройства LS-120 (120MB) или Iomega Zip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/>
              <a:t>поддръжка на зареждаеми USB устройства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/>
              <a:t>бърз POST за намаляване времето за зареждане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/>
              <a:t>Plug and Play </a:t>
            </a:r>
            <a:r>
              <a:rPr lang="bg-BG" sz="2400"/>
              <a:t>поддръжка и съвместимост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/>
              <a:t>поправка на проблеми, свързани с календара и високосните години</a:t>
            </a:r>
            <a:endParaRPr lang="bg-BG" sz="2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/>
              <a:t>поправка на проблеми, свързани с определен хардуер или софтуер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/>
              <a:t>поддръжка на ACPI управление на захранването (енергоспестяващи функции)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/>
              <a:t>поддръжка на наблюдение и управление на температурата и скоростта на вентилаторите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/>
              <a:t>поддръжка на USB клавиатура и мишка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/>
              <a:t>поддръжка на откриване на непозволено отваряне на кутията</a:t>
            </a:r>
            <a:endParaRPr lang="bg-BG" sz="2400"/>
          </a:p>
        </p:txBody>
      </p:sp>
    </p:spTree>
    <p:extLst>
      <p:ext uri="{BB962C8B-B14F-4D97-AF65-F5344CB8AC3E}">
        <p14:creationId xmlns:p14="http://schemas.microsoft.com/office/powerpoint/2010/main" val="668047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96547BC4-5E9A-739C-FE29-60D09E672FA0}"/>
              </a:ext>
            </a:extLst>
          </p:cNvPr>
          <p:cNvSpPr txBox="1"/>
          <p:nvPr/>
        </p:nvSpPr>
        <p:spPr>
          <a:xfrm>
            <a:off x="0" y="72189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000"/>
              <a:t>Тест</a:t>
            </a:r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0697D741-0973-65C4-32DC-847E2D1B0879}"/>
              </a:ext>
            </a:extLst>
          </p:cNvPr>
          <p:cNvSpPr txBox="1"/>
          <p:nvPr/>
        </p:nvSpPr>
        <p:spPr>
          <a:xfrm>
            <a:off x="1507066" y="1718733"/>
            <a:ext cx="39454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/>
              <a:t>1. Дайте определение за </a:t>
            </a:r>
            <a:r>
              <a:rPr lang="en-US"/>
              <a:t>BIOS.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>
                <a:hlinkClick r:id="rId2" action="ppaction://hlinksldjump"/>
              </a:rPr>
              <a:t>Отговор</a:t>
            </a: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/>
              <a:t>2. Къде може да се намира </a:t>
            </a:r>
            <a:r>
              <a:rPr lang="en-US"/>
              <a:t>BIOS</a:t>
            </a:r>
            <a:r>
              <a:rPr lang="bg-BG"/>
              <a:t>?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>
                <a:hlinkClick r:id="rId3" action="ppaction://hlinksldjump"/>
              </a:rPr>
              <a:t>Отговор</a:t>
            </a: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/>
              <a:t>3. Защо понякога </a:t>
            </a:r>
            <a:r>
              <a:rPr lang="en-US"/>
              <a:t>ROM </a:t>
            </a:r>
            <a:r>
              <a:rPr lang="bg-BG"/>
              <a:t>се  наименува </a:t>
            </a:r>
            <a:r>
              <a:rPr lang="en-US"/>
              <a:t>firmware?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>
                <a:hlinkClick r:id="rId4" action="ppaction://hlinksldjump"/>
              </a:rPr>
              <a:t>Отговор</a:t>
            </a: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/>
              <a:t>4. Кои са основните функции на </a:t>
            </a:r>
            <a:r>
              <a:rPr lang="en-US"/>
              <a:t>BIOS?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>
                <a:hlinkClick r:id="rId5" action="ppaction://hlinksldjump"/>
              </a:rPr>
              <a:t>Отговор</a:t>
            </a: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/>
              <a:t>5. Кои са различните видове </a:t>
            </a:r>
            <a:r>
              <a:rPr lang="en-US"/>
              <a:t>ROM?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>
                <a:hlinkClick r:id="rId6" action="ppaction://hlinksldjump"/>
              </a:rPr>
              <a:t>Отговор</a:t>
            </a:r>
            <a:endParaRPr lang="en-US"/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D093D2D9-027C-7647-B31B-5EBC7AF01D6B}"/>
              </a:ext>
            </a:extLst>
          </p:cNvPr>
          <p:cNvSpPr txBox="1"/>
          <p:nvPr/>
        </p:nvSpPr>
        <p:spPr>
          <a:xfrm>
            <a:off x="6739467" y="1718733"/>
            <a:ext cx="394546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/>
              <a:t>6. Кои дейности се извършват при работа с флаш </a:t>
            </a:r>
            <a:r>
              <a:rPr lang="en-US"/>
              <a:t>ROM?</a:t>
            </a: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>
                <a:hlinkClick r:id="rId7" action="ppaction://hlinksldjump"/>
              </a:rPr>
              <a:t>Отговор</a:t>
            </a: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/>
              <a:t>7. Как се нарича чипът в който се съхраняват настройките на </a:t>
            </a:r>
            <a:r>
              <a:rPr lang="en-US"/>
              <a:t>BIOS setup?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>
                <a:hlinkClick r:id="rId8" action="ppaction://hlinksldjump"/>
              </a:rPr>
              <a:t>Отговор</a:t>
            </a: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/>
              <a:t>8. Как се нулират настройките на </a:t>
            </a:r>
            <a:r>
              <a:rPr lang="en-US"/>
              <a:t>BIOS setup?</a:t>
            </a: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>
                <a:hlinkClick r:id="rId9" action="ppaction://hlinksldjump"/>
              </a:rPr>
              <a:t>Отговор </a:t>
            </a: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/>
              <a:t>9. Избройте три причини поради койте е необходимо да се направи обновяване на флаш </a:t>
            </a:r>
            <a:r>
              <a:rPr lang="en-US"/>
              <a:t>BIOS.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>
                <a:hlinkClick r:id="rId10" action="ppaction://hlinksldjump"/>
              </a:rPr>
              <a:t>Отговор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62058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2D5992D9-B0C3-F28D-D28A-87617D423C6C}"/>
              </a:ext>
            </a:extLst>
          </p:cNvPr>
          <p:cNvSpPr txBox="1"/>
          <p:nvPr/>
        </p:nvSpPr>
        <p:spPr>
          <a:xfrm>
            <a:off x="0" y="72189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000"/>
              <a:t>Източници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D494C4C8-9433-A9D9-6A19-3EFBDF87F4D8}"/>
              </a:ext>
            </a:extLst>
          </p:cNvPr>
          <p:cNvSpPr txBox="1"/>
          <p:nvPr/>
        </p:nvSpPr>
        <p:spPr>
          <a:xfrm>
            <a:off x="626533" y="2108200"/>
            <a:ext cx="804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hlinkClick r:id="rId2"/>
              </a:rPr>
              <a:t>http://www.daskalo.com/nezabravka/files/2013/10/ROM.pdf</a:t>
            </a:r>
            <a:r>
              <a:rPr lang="bg-BG"/>
              <a:t> 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E7E9548D-D93B-A127-D1D8-37A263809C93}"/>
              </a:ext>
            </a:extLst>
          </p:cNvPr>
          <p:cNvSpPr txBox="1"/>
          <p:nvPr/>
        </p:nvSpPr>
        <p:spPr>
          <a:xfrm>
            <a:off x="10117667" y="6341533"/>
            <a:ext cx="216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100"/>
              <a:t>Калоян Йончев 10г. 13н.</a:t>
            </a:r>
          </a:p>
        </p:txBody>
      </p:sp>
    </p:spTree>
    <p:extLst>
      <p:ext uri="{BB962C8B-B14F-4D97-AF65-F5344CB8AC3E}">
        <p14:creationId xmlns:p14="http://schemas.microsoft.com/office/powerpoint/2010/main" val="25181553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ен">
  <a:themeElements>
    <a:clrScheme name="Небесен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Небесен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ен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Небесен</Template>
  <TotalTime>142</TotalTime>
  <Words>1264</Words>
  <Application>Microsoft Office PowerPoint</Application>
  <PresentationFormat>Широк екран</PresentationFormat>
  <Paragraphs>89</Paragraphs>
  <Slides>17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Небесен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Калоян Р. Йончев</dc:creator>
  <cp:lastModifiedBy>Калоян Р. Йончев</cp:lastModifiedBy>
  <cp:revision>1</cp:revision>
  <dcterms:created xsi:type="dcterms:W3CDTF">2022-12-20T19:59:35Z</dcterms:created>
  <dcterms:modified xsi:type="dcterms:W3CDTF">2022-12-20T22:22:12Z</dcterms:modified>
</cp:coreProperties>
</file>