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31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6" r:id="rId30"/>
    <p:sldId id="306" r:id="rId31"/>
    <p:sldId id="307" r:id="rId32"/>
    <p:sldId id="308" r:id="rId33"/>
    <p:sldId id="310" r:id="rId34"/>
    <p:sldId id="309" r:id="rId35"/>
    <p:sldId id="315" r:id="rId36"/>
    <p:sldId id="314" r:id="rId37"/>
    <p:sldId id="313" r:id="rId38"/>
    <p:sldId id="312" r:id="rId39"/>
    <p:sldId id="311" r:id="rId40"/>
    <p:sldId id="283" r:id="rId41"/>
    <p:sldId id="284" r:id="rId42"/>
    <p:sldId id="294" r:id="rId43"/>
    <p:sldId id="293" r:id="rId44"/>
    <p:sldId id="292" r:id="rId45"/>
    <p:sldId id="291" r:id="rId46"/>
    <p:sldId id="290" r:id="rId47"/>
    <p:sldId id="289" r:id="rId48"/>
    <p:sldId id="288" r:id="rId49"/>
    <p:sldId id="287" r:id="rId50"/>
    <p:sldId id="286" r:id="rId51"/>
    <p:sldId id="295" r:id="rId52"/>
    <p:sldId id="305" r:id="rId53"/>
    <p:sldId id="304" r:id="rId54"/>
    <p:sldId id="303" r:id="rId55"/>
    <p:sldId id="302" r:id="rId56"/>
    <p:sldId id="301" r:id="rId57"/>
    <p:sldId id="300" r:id="rId58"/>
    <p:sldId id="299" r:id="rId59"/>
    <p:sldId id="298" r:id="rId60"/>
    <p:sldId id="297" r:id="rId61"/>
    <p:sldId id="316" r:id="rId62"/>
    <p:sldId id="285" r:id="rId6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40" autoAdjust="0"/>
    <p:restoredTop sz="96395" autoAdjust="0"/>
  </p:normalViewPr>
  <p:slideViewPr>
    <p:cSldViewPr snapToGrid="0">
      <p:cViewPr>
        <p:scale>
          <a:sx n="85" d="100"/>
          <a:sy n="85" d="100"/>
        </p:scale>
        <p:origin x="-102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0755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088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219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2243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4464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676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2196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1619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034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2047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35941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4017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61258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24320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31848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59825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81617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B0C89D-4C3C-4D75-9054-EE483275AF7B}" type="datetimeFigureOut">
              <a:rPr lang="bg-BG" smtClean="0"/>
              <a:t>16.3.2023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B9B7-D9BB-4AA9-9CA9-2F35CE3A3CD4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61224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slide" Target="slide40.xml"/><Relationship Id="rId3" Type="http://schemas.openxmlformats.org/officeDocument/2006/relationships/slide" Target="slide6.xml"/><Relationship Id="rId7" Type="http://schemas.openxmlformats.org/officeDocument/2006/relationships/slide" Target="slide29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4.xml"/><Relationship Id="rId5" Type="http://schemas.openxmlformats.org/officeDocument/2006/relationships/slide" Target="slide10.xml"/><Relationship Id="rId10" Type="http://schemas.openxmlformats.org/officeDocument/2006/relationships/slide" Target="slide54.xml"/><Relationship Id="rId4" Type="http://schemas.openxmlformats.org/officeDocument/2006/relationships/slide" Target="slide7.xml"/><Relationship Id="rId9" Type="http://schemas.openxmlformats.org/officeDocument/2006/relationships/slide" Target="slide4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skalo.com/nezabravka/files/2013/10/Osobenosti-na-habovata-arhitektura.pdf" TargetMode="External"/><Relationship Id="rId2" Type="http://schemas.openxmlformats.org/officeDocument/2006/relationships/hyperlink" Target="https://dokumen.tips/download/link/-5584b22dd8b42a9c768b474b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askalo.com/nezabravka/files/2013/10/Osobenosti-na-arhitekturata-North-South-Bridg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841" y="1778924"/>
            <a:ext cx="8825658" cy="1770611"/>
          </a:xfrm>
        </p:spPr>
        <p:txBody>
          <a:bodyPr/>
          <a:lstStyle/>
          <a:p>
            <a:pPr algn="ctr"/>
            <a:r>
              <a:rPr lang="bg-BG" sz="3600" b="1" dirty="0" smtClean="0">
                <a:solidFill>
                  <a:srgbClr val="FF9900"/>
                </a:solidFill>
              </a:rPr>
              <a:t>Архитектури на дънните платки. Съпоставка между Мостова и Хъбова архитектура </a:t>
            </a:r>
            <a:endParaRPr lang="bg-BG" sz="3600" b="1" dirty="0">
              <a:solidFill>
                <a:srgbClr val="FF99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77897" y="6442364"/>
            <a:ext cx="4314103" cy="415636"/>
          </a:xfrm>
        </p:spPr>
        <p:txBody>
          <a:bodyPr>
            <a:normAutofit/>
          </a:bodyPr>
          <a:lstStyle/>
          <a:p>
            <a:r>
              <a:rPr lang="bg-BG" sz="1600" dirty="0" smtClean="0">
                <a:solidFill>
                  <a:srgbClr val="FF9900"/>
                </a:solidFill>
              </a:rPr>
              <a:t>От Преслав Паскалев, 12г клас, №21</a:t>
            </a:r>
            <a:endParaRPr lang="bg-BG" sz="16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02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0697" y="186711"/>
            <a:ext cx="5422180" cy="553122"/>
          </a:xfrm>
        </p:spPr>
        <p:txBody>
          <a:bodyPr/>
          <a:lstStyle/>
          <a:p>
            <a:pPr algn="ctr"/>
            <a:r>
              <a:rPr lang="bg-BG" sz="2800" b="1" dirty="0" smtClean="0">
                <a:solidFill>
                  <a:srgbClr val="FF9900"/>
                </a:solidFill>
              </a:rPr>
              <a:t>Съдържание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2" y="739833"/>
            <a:ext cx="10756669" cy="5968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1. </a:t>
            </a:r>
            <a:r>
              <a:rPr lang="bg-BG" sz="2400" b="1" dirty="0" smtClean="0">
                <a:solidFill>
                  <a:srgbClr val="FF9900"/>
                </a:solidFill>
              </a:rPr>
              <a:t>Същност </a:t>
            </a:r>
            <a:r>
              <a:rPr lang="bg-BG" sz="2400" b="1" dirty="0">
                <a:solidFill>
                  <a:srgbClr val="FF9900"/>
                </a:solidFill>
              </a:rPr>
              <a:t>на дънната платка </a:t>
            </a:r>
            <a:endParaRPr lang="bg-BG" sz="2400" b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2. </a:t>
            </a:r>
            <a:r>
              <a:rPr lang="bg-BG" sz="2400" b="1" dirty="0">
                <a:solidFill>
                  <a:srgbClr val="FF9900"/>
                </a:solidFill>
              </a:rPr>
              <a:t>Компоненти на дънната платка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А</a:t>
            </a:r>
            <a:r>
              <a:rPr lang="en-US" sz="2400" dirty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Процесор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Б</a:t>
            </a:r>
            <a:r>
              <a:rPr lang="en-US" sz="2400" dirty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CHIPSET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В</a:t>
            </a:r>
            <a:r>
              <a:rPr lang="en-US" sz="2400" dirty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Памет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Г</a:t>
            </a:r>
            <a:r>
              <a:rPr lang="en-US" sz="2400" dirty="0">
                <a:solidFill>
                  <a:srgbClr val="FF9900"/>
                </a:solidFill>
              </a:rPr>
              <a:t>) </a:t>
            </a:r>
            <a:r>
              <a:rPr lang="ru-RU" sz="2400" dirty="0">
                <a:solidFill>
                  <a:srgbClr val="FF9900"/>
                </a:solidFill>
              </a:rPr>
              <a:t>Памет </a:t>
            </a:r>
            <a:r>
              <a:rPr lang="ru-RU" sz="2400" dirty="0" smtClean="0">
                <a:solidFill>
                  <a:srgbClr val="FF9900"/>
                </a:solidFill>
              </a:rPr>
              <a:t>ROM-BIOS</a:t>
            </a:r>
          </a:p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Д</a:t>
            </a:r>
            <a:r>
              <a:rPr lang="en-US" sz="2400" dirty="0">
                <a:solidFill>
                  <a:srgbClr val="FF9900"/>
                </a:solidFill>
              </a:rPr>
              <a:t>) </a:t>
            </a:r>
            <a:r>
              <a:rPr lang="ru-RU" sz="2400" dirty="0">
                <a:solidFill>
                  <a:srgbClr val="FF9900"/>
                </a:solidFill>
              </a:rPr>
              <a:t>Слотове за </a:t>
            </a:r>
            <a:r>
              <a:rPr lang="ru-RU" sz="2400" dirty="0" smtClean="0">
                <a:solidFill>
                  <a:srgbClr val="FF9900"/>
                </a:solidFill>
              </a:rPr>
              <a:t>разширение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Е) Адаптерни </a:t>
            </a:r>
            <a:r>
              <a:rPr lang="ru-RU" sz="2400" dirty="0" smtClean="0">
                <a:solidFill>
                  <a:srgbClr val="FF9900"/>
                </a:solidFill>
              </a:rPr>
              <a:t>платки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Ж</a:t>
            </a:r>
            <a:r>
              <a:rPr lang="ru-RU" sz="2400" dirty="0">
                <a:solidFill>
                  <a:srgbClr val="FF9900"/>
                </a:solidFill>
              </a:rPr>
              <a:t>) </a:t>
            </a:r>
            <a:r>
              <a:rPr lang="en-US" sz="2400" dirty="0" smtClean="0">
                <a:solidFill>
                  <a:srgbClr val="FF9900"/>
                </a:solidFill>
              </a:rPr>
              <a:t>CMOS-RAM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З</a:t>
            </a:r>
            <a:r>
              <a:rPr lang="ru-RU" sz="2400" dirty="0">
                <a:solidFill>
                  <a:srgbClr val="FF9900"/>
                </a:solidFill>
              </a:rPr>
              <a:t>) Интерфейс за външни запомнящи </a:t>
            </a:r>
            <a:r>
              <a:rPr lang="ru-RU" sz="2400" dirty="0" smtClean="0">
                <a:solidFill>
                  <a:srgbClr val="FF9900"/>
                </a:solidFill>
              </a:rPr>
              <a:t>устройства</a:t>
            </a:r>
          </a:p>
          <a:p>
            <a:pPr marL="0" indent="0">
              <a:buNone/>
            </a:pPr>
            <a:r>
              <a:rPr lang="bg-BG" sz="2400" i="1" dirty="0">
                <a:solidFill>
                  <a:srgbClr val="FF9900"/>
                </a:solidFill>
              </a:rPr>
              <a:t>И</a:t>
            </a:r>
            <a:r>
              <a:rPr lang="en-US" sz="2400" i="1" dirty="0">
                <a:solidFill>
                  <a:srgbClr val="FF9900"/>
                </a:solidFill>
              </a:rPr>
              <a:t>) </a:t>
            </a:r>
            <a:r>
              <a:rPr lang="ru-RU" sz="2400" i="1" dirty="0">
                <a:solidFill>
                  <a:srgbClr val="FF9900"/>
                </a:solidFill>
              </a:rPr>
              <a:t>Конектори за входно-</a:t>
            </a:r>
            <a:r>
              <a:rPr lang="ru-RU" sz="2400" i="1" dirty="0" err="1">
                <a:solidFill>
                  <a:srgbClr val="FF9900"/>
                </a:solidFill>
              </a:rPr>
              <a:t>изходни</a:t>
            </a:r>
            <a:r>
              <a:rPr lang="ru-RU" sz="2400" i="1" dirty="0">
                <a:solidFill>
                  <a:srgbClr val="FF9900"/>
                </a:solidFill>
              </a:rPr>
              <a:t> </a:t>
            </a:r>
            <a:r>
              <a:rPr lang="ru-RU" sz="2400" i="1" dirty="0" smtClean="0">
                <a:solidFill>
                  <a:srgbClr val="FF9900"/>
                </a:solidFill>
              </a:rPr>
              <a:t>устройства</a:t>
            </a:r>
          </a:p>
          <a:p>
            <a:pPr marL="0" indent="0">
              <a:buNone/>
            </a:pPr>
            <a:r>
              <a:rPr lang="ru-RU" sz="2400" i="1" dirty="0">
                <a:solidFill>
                  <a:srgbClr val="FF9900"/>
                </a:solidFill>
              </a:rPr>
              <a:t>Й) Тактов </a:t>
            </a:r>
            <a:r>
              <a:rPr lang="ru-RU" sz="2400" i="1" dirty="0" smtClean="0">
                <a:solidFill>
                  <a:srgbClr val="FF9900"/>
                </a:solidFill>
              </a:rPr>
              <a:t>генератор</a:t>
            </a:r>
          </a:p>
          <a:p>
            <a:pPr marL="0" indent="0">
              <a:buNone/>
            </a:pPr>
            <a:endParaRPr lang="ru-RU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76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0697" y="186710"/>
            <a:ext cx="5422180" cy="553122"/>
          </a:xfrm>
        </p:spPr>
        <p:txBody>
          <a:bodyPr/>
          <a:lstStyle/>
          <a:p>
            <a:pPr algn="ctr"/>
            <a:r>
              <a:rPr lang="bg-BG" sz="2800" b="1" dirty="0" smtClean="0">
                <a:solidFill>
                  <a:srgbClr val="FF9900"/>
                </a:solidFill>
              </a:rPr>
              <a:t>Съдържание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824" y="739832"/>
            <a:ext cx="11055926" cy="611816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9600" dirty="0" smtClean="0">
                <a:solidFill>
                  <a:srgbClr val="FF9900"/>
                </a:solidFill>
              </a:rPr>
              <a:t>К</a:t>
            </a:r>
            <a:r>
              <a:rPr lang="ru-RU" sz="9600" dirty="0">
                <a:solidFill>
                  <a:srgbClr val="FF9900"/>
                </a:solidFill>
              </a:rPr>
              <a:t>) Конектор за захранващия </a:t>
            </a:r>
            <a:r>
              <a:rPr lang="ru-RU" sz="9600" dirty="0" smtClean="0">
                <a:solidFill>
                  <a:srgbClr val="FF9900"/>
                </a:solidFill>
              </a:rPr>
              <a:t>блок</a:t>
            </a:r>
          </a:p>
          <a:p>
            <a:pPr marL="0" indent="0">
              <a:buNone/>
            </a:pPr>
            <a:r>
              <a:rPr lang="ru-RU" sz="9600" dirty="0">
                <a:solidFill>
                  <a:srgbClr val="FF9900"/>
                </a:solidFill>
              </a:rPr>
              <a:t>Л) Вентилатори за </a:t>
            </a:r>
            <a:r>
              <a:rPr lang="ru-RU" sz="9600" dirty="0" smtClean="0">
                <a:solidFill>
                  <a:srgbClr val="FF9900"/>
                </a:solidFill>
              </a:rPr>
              <a:t>процесори</a:t>
            </a:r>
          </a:p>
          <a:p>
            <a:pPr marL="0" indent="0">
              <a:buNone/>
            </a:pPr>
            <a:r>
              <a:rPr lang="ru-RU" sz="9600" dirty="0">
                <a:solidFill>
                  <a:srgbClr val="FF9900"/>
                </a:solidFill>
              </a:rPr>
              <a:t>М) Схеми за следене на състоянието на </a:t>
            </a:r>
            <a:r>
              <a:rPr lang="ru-RU" sz="9600" dirty="0" smtClean="0">
                <a:solidFill>
                  <a:srgbClr val="FF9900"/>
                </a:solidFill>
              </a:rPr>
              <a:t>системата</a:t>
            </a:r>
          </a:p>
          <a:p>
            <a:pPr marL="0" indent="0">
              <a:buNone/>
            </a:pPr>
            <a:r>
              <a:rPr lang="ru-RU" sz="9600" dirty="0">
                <a:solidFill>
                  <a:srgbClr val="FF9900"/>
                </a:solidFill>
              </a:rPr>
              <a:t>Н) Обслужващи </a:t>
            </a:r>
            <a:r>
              <a:rPr lang="ru-RU" sz="9600" dirty="0" smtClean="0">
                <a:solidFill>
                  <a:srgbClr val="FF9900"/>
                </a:solidFill>
              </a:rPr>
              <a:t>елементи</a:t>
            </a:r>
          </a:p>
          <a:p>
            <a:pPr marL="0" indent="0">
              <a:buNone/>
            </a:pPr>
            <a:r>
              <a:rPr lang="ru-RU" sz="9600" dirty="0" smtClean="0">
                <a:solidFill>
                  <a:srgbClr val="FF9900"/>
                </a:solidFill>
              </a:rPr>
              <a:t>3. </a:t>
            </a:r>
            <a:r>
              <a:rPr lang="ru-RU" sz="9600" b="1" dirty="0" smtClean="0">
                <a:solidFill>
                  <a:srgbClr val="FF9900"/>
                </a:solidFill>
              </a:rPr>
              <a:t>Мостова </a:t>
            </a:r>
            <a:r>
              <a:rPr lang="ru-RU" sz="9600" b="1" dirty="0">
                <a:solidFill>
                  <a:srgbClr val="FF9900"/>
                </a:solidFill>
              </a:rPr>
              <a:t>и Хъбова </a:t>
            </a:r>
            <a:r>
              <a:rPr lang="ru-RU" sz="9600" b="1" dirty="0" smtClean="0">
                <a:solidFill>
                  <a:srgbClr val="FF9900"/>
                </a:solidFill>
              </a:rPr>
              <a:t>архитектура</a:t>
            </a:r>
          </a:p>
          <a:p>
            <a:pPr marL="0" indent="0">
              <a:buNone/>
            </a:pPr>
            <a:r>
              <a:rPr lang="ru-RU" sz="9600" dirty="0" smtClean="0">
                <a:solidFill>
                  <a:srgbClr val="FF9900"/>
                </a:solidFill>
              </a:rPr>
              <a:t>- </a:t>
            </a:r>
            <a:r>
              <a:rPr lang="ru-RU" sz="9600" dirty="0" err="1" smtClean="0">
                <a:solidFill>
                  <a:srgbClr val="FF9900"/>
                </a:solidFill>
              </a:rPr>
              <a:t>Същност</a:t>
            </a:r>
            <a:r>
              <a:rPr lang="ru-RU" sz="9600" dirty="0" smtClean="0">
                <a:solidFill>
                  <a:srgbClr val="FF9900"/>
                </a:solidFill>
              </a:rPr>
              <a:t> на </a:t>
            </a:r>
            <a:r>
              <a:rPr lang="ru-RU" sz="9600" dirty="0" err="1" smtClean="0">
                <a:solidFill>
                  <a:srgbClr val="FF9900"/>
                </a:solidFill>
              </a:rPr>
              <a:t>архитектурата</a:t>
            </a:r>
            <a:r>
              <a:rPr lang="ru-RU" sz="9600" dirty="0" smtClean="0">
                <a:solidFill>
                  <a:srgbClr val="FF9900"/>
                </a:solidFill>
              </a:rPr>
              <a:t> </a:t>
            </a:r>
            <a:r>
              <a:rPr lang="ru-RU" sz="9600" dirty="0" err="1" smtClean="0">
                <a:solidFill>
                  <a:srgbClr val="FF9900"/>
                </a:solidFill>
              </a:rPr>
              <a:t>Северен</a:t>
            </a:r>
            <a:r>
              <a:rPr lang="ru-RU" sz="9600" dirty="0" smtClean="0">
                <a:solidFill>
                  <a:srgbClr val="FF9900"/>
                </a:solidFill>
              </a:rPr>
              <a:t>/</a:t>
            </a:r>
            <a:r>
              <a:rPr lang="ru-RU" sz="9600" dirty="0" err="1" smtClean="0">
                <a:solidFill>
                  <a:srgbClr val="FF9900"/>
                </a:solidFill>
              </a:rPr>
              <a:t>Южен</a:t>
            </a:r>
            <a:r>
              <a:rPr lang="ru-RU" sz="9600" dirty="0" smtClean="0">
                <a:solidFill>
                  <a:srgbClr val="FF9900"/>
                </a:solidFill>
              </a:rPr>
              <a:t> мост</a:t>
            </a:r>
          </a:p>
          <a:p>
            <a:pPr marL="0" indent="0">
              <a:buNone/>
            </a:pPr>
            <a:r>
              <a:rPr lang="ru-RU" sz="9600" dirty="0">
                <a:solidFill>
                  <a:srgbClr val="FF9900"/>
                </a:solidFill>
              </a:rPr>
              <a:t>А) </a:t>
            </a:r>
            <a:r>
              <a:rPr lang="ru-RU" sz="9600" dirty="0" err="1">
                <a:solidFill>
                  <a:srgbClr val="FF9900"/>
                </a:solidFill>
              </a:rPr>
              <a:t>Северен</a:t>
            </a:r>
            <a:r>
              <a:rPr lang="ru-RU" sz="9600" dirty="0">
                <a:solidFill>
                  <a:srgbClr val="FF9900"/>
                </a:solidFill>
              </a:rPr>
              <a:t> </a:t>
            </a:r>
            <a:r>
              <a:rPr lang="ru-RU" sz="9600" dirty="0" smtClean="0">
                <a:solidFill>
                  <a:srgbClr val="FF9900"/>
                </a:solidFill>
              </a:rPr>
              <a:t>мост</a:t>
            </a:r>
          </a:p>
          <a:p>
            <a:pPr marL="0" indent="0">
              <a:buNone/>
            </a:pPr>
            <a:r>
              <a:rPr lang="ru-RU" sz="9600" dirty="0">
                <a:solidFill>
                  <a:srgbClr val="FF9900"/>
                </a:solidFill>
              </a:rPr>
              <a:t>Б) </a:t>
            </a:r>
            <a:r>
              <a:rPr lang="ru-RU" sz="9600" dirty="0" err="1">
                <a:solidFill>
                  <a:srgbClr val="FF9900"/>
                </a:solidFill>
              </a:rPr>
              <a:t>Южен</a:t>
            </a:r>
            <a:r>
              <a:rPr lang="ru-RU" sz="9600" dirty="0">
                <a:solidFill>
                  <a:srgbClr val="FF9900"/>
                </a:solidFill>
              </a:rPr>
              <a:t> </a:t>
            </a:r>
            <a:r>
              <a:rPr lang="ru-RU" sz="9600" dirty="0" smtClean="0">
                <a:solidFill>
                  <a:srgbClr val="FF9900"/>
                </a:solidFill>
              </a:rPr>
              <a:t>мост</a:t>
            </a:r>
          </a:p>
          <a:p>
            <a:pPr marL="0" indent="0">
              <a:buNone/>
            </a:pPr>
            <a:r>
              <a:rPr lang="ru-RU" sz="9600" dirty="0" smtClean="0">
                <a:solidFill>
                  <a:srgbClr val="FF9900"/>
                </a:solidFill>
              </a:rPr>
              <a:t>- </a:t>
            </a:r>
            <a:r>
              <a:rPr lang="ru-RU" sz="9600" dirty="0" err="1" smtClean="0">
                <a:solidFill>
                  <a:srgbClr val="FF9900"/>
                </a:solidFill>
              </a:rPr>
              <a:t>Същност</a:t>
            </a:r>
            <a:r>
              <a:rPr lang="ru-RU" sz="9600" dirty="0" smtClean="0">
                <a:solidFill>
                  <a:srgbClr val="FF9900"/>
                </a:solidFill>
              </a:rPr>
              <a:t> </a:t>
            </a:r>
            <a:r>
              <a:rPr lang="ru-RU" sz="9600" dirty="0">
                <a:solidFill>
                  <a:srgbClr val="FF9900"/>
                </a:solidFill>
              </a:rPr>
              <a:t>на </a:t>
            </a:r>
            <a:r>
              <a:rPr lang="ru-RU" sz="9600" dirty="0" err="1">
                <a:solidFill>
                  <a:srgbClr val="FF9900"/>
                </a:solidFill>
              </a:rPr>
              <a:t>Хъбовата</a:t>
            </a:r>
            <a:r>
              <a:rPr lang="ru-RU" sz="9600" dirty="0">
                <a:solidFill>
                  <a:srgbClr val="FF9900"/>
                </a:solidFill>
              </a:rPr>
              <a:t> </a:t>
            </a:r>
            <a:r>
              <a:rPr lang="ru-RU" sz="9600" dirty="0" smtClean="0">
                <a:solidFill>
                  <a:srgbClr val="FF9900"/>
                </a:solidFill>
              </a:rPr>
              <a:t>архитектура</a:t>
            </a:r>
            <a:endParaRPr lang="ru-RU" sz="96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9600" i="1" dirty="0" smtClean="0">
                <a:solidFill>
                  <a:srgbClr val="FF9900"/>
                </a:solidFill>
              </a:rPr>
              <a:t>- Предимства </a:t>
            </a:r>
            <a:r>
              <a:rPr lang="ru-RU" sz="9600" i="1" dirty="0">
                <a:solidFill>
                  <a:srgbClr val="FF9900"/>
                </a:solidFill>
              </a:rPr>
              <a:t>на </a:t>
            </a:r>
            <a:r>
              <a:rPr lang="ru-RU" sz="9600" i="1" dirty="0" err="1">
                <a:solidFill>
                  <a:srgbClr val="FF9900"/>
                </a:solidFill>
              </a:rPr>
              <a:t>Хъбовата</a:t>
            </a:r>
            <a:r>
              <a:rPr lang="ru-RU" sz="9600" i="1" dirty="0">
                <a:solidFill>
                  <a:srgbClr val="FF9900"/>
                </a:solidFill>
              </a:rPr>
              <a:t> </a:t>
            </a:r>
            <a:r>
              <a:rPr lang="ru-RU" sz="9600" i="1" dirty="0" smtClean="0">
                <a:solidFill>
                  <a:srgbClr val="FF9900"/>
                </a:solidFill>
              </a:rPr>
              <a:t>архитектура</a:t>
            </a:r>
            <a:endParaRPr lang="bg-BG" sz="9600" i="1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9600" dirty="0" smtClean="0">
                <a:solidFill>
                  <a:srgbClr val="FF9900"/>
                </a:solidFill>
              </a:rPr>
              <a:t>- Недостатъци </a:t>
            </a:r>
            <a:r>
              <a:rPr lang="ru-RU" sz="9600" dirty="0">
                <a:solidFill>
                  <a:srgbClr val="FF9900"/>
                </a:solidFill>
              </a:rPr>
              <a:t>на </a:t>
            </a:r>
            <a:r>
              <a:rPr lang="ru-RU" sz="9600" dirty="0" err="1">
                <a:solidFill>
                  <a:srgbClr val="FF9900"/>
                </a:solidFill>
              </a:rPr>
              <a:t>архитектурата</a:t>
            </a:r>
            <a:r>
              <a:rPr lang="ru-RU" sz="9600" dirty="0">
                <a:solidFill>
                  <a:srgbClr val="FF9900"/>
                </a:solidFill>
              </a:rPr>
              <a:t> </a:t>
            </a:r>
            <a:r>
              <a:rPr lang="ru-RU" sz="9600" dirty="0" err="1">
                <a:solidFill>
                  <a:srgbClr val="FF9900"/>
                </a:solidFill>
              </a:rPr>
              <a:t>Северен</a:t>
            </a:r>
            <a:r>
              <a:rPr lang="ru-RU" sz="9600" dirty="0">
                <a:solidFill>
                  <a:srgbClr val="FF9900"/>
                </a:solidFill>
              </a:rPr>
              <a:t>/</a:t>
            </a:r>
            <a:r>
              <a:rPr lang="ru-RU" sz="9600" dirty="0" err="1">
                <a:solidFill>
                  <a:srgbClr val="FF9900"/>
                </a:solidFill>
              </a:rPr>
              <a:t>Южен</a:t>
            </a:r>
            <a:r>
              <a:rPr lang="ru-RU" sz="9600" dirty="0">
                <a:solidFill>
                  <a:srgbClr val="FF9900"/>
                </a:solidFill>
              </a:rPr>
              <a:t> </a:t>
            </a:r>
            <a:r>
              <a:rPr lang="ru-RU" sz="9600" dirty="0" smtClean="0">
                <a:solidFill>
                  <a:srgbClr val="FF9900"/>
                </a:solidFill>
              </a:rPr>
              <a:t>мост</a:t>
            </a:r>
            <a:endParaRPr lang="ru-RU" sz="96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9600" dirty="0" smtClean="0">
                <a:solidFill>
                  <a:srgbClr val="FF9900"/>
                </a:solidFill>
              </a:rPr>
              <a:t>4. </a:t>
            </a:r>
            <a:r>
              <a:rPr lang="ru-RU" sz="9600" b="1" dirty="0" smtClean="0">
                <a:solidFill>
                  <a:srgbClr val="FF9900"/>
                </a:solidFill>
              </a:rPr>
              <a:t>Тест</a:t>
            </a:r>
          </a:p>
          <a:p>
            <a:pPr marL="0" indent="0">
              <a:buNone/>
            </a:pPr>
            <a:r>
              <a:rPr lang="ru-RU" sz="9600" dirty="0" smtClean="0">
                <a:solidFill>
                  <a:srgbClr val="FF9900"/>
                </a:solidFill>
              </a:rPr>
              <a:t>5.</a:t>
            </a:r>
            <a:r>
              <a:rPr lang="ru-RU" sz="9600" b="1" dirty="0" smtClean="0">
                <a:solidFill>
                  <a:srgbClr val="FF9900"/>
                </a:solidFill>
              </a:rPr>
              <a:t> </a:t>
            </a:r>
            <a:r>
              <a:rPr lang="ru-RU" sz="9600" b="1" dirty="0">
                <a:solidFill>
                  <a:srgbClr val="FF9900"/>
                </a:solidFill>
              </a:rPr>
              <a:t>Източници</a:t>
            </a:r>
            <a:endParaRPr lang="ru-RU" sz="9600" b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6000" dirty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b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74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321724"/>
            <a:ext cx="6344892" cy="4971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Дънната платка е един от най-</a:t>
            </a:r>
            <a:r>
              <a:rPr lang="ru-RU" sz="2400" dirty="0" err="1">
                <a:solidFill>
                  <a:srgbClr val="FF9900"/>
                </a:solidFill>
              </a:rPr>
              <a:t>важните</a:t>
            </a:r>
            <a:r>
              <a:rPr lang="ru-RU" sz="2400" dirty="0">
                <a:solidFill>
                  <a:srgbClr val="FF9900"/>
                </a:solidFill>
              </a:rPr>
              <a:t> компоненти в персоналния компютър. </a:t>
            </a:r>
            <a:r>
              <a:rPr lang="ru-RU" sz="2400" dirty="0" err="1">
                <a:solidFill>
                  <a:srgbClr val="FF9900"/>
                </a:solidFill>
              </a:rPr>
              <a:t>Голяма</a:t>
            </a:r>
            <a:r>
              <a:rPr lang="ru-RU" sz="2400" dirty="0">
                <a:solidFill>
                  <a:srgbClr val="FF9900"/>
                </a:solidFill>
              </a:rPr>
              <a:t> част от основната </a:t>
            </a:r>
            <a:r>
              <a:rPr lang="ru-RU" sz="2400" dirty="0" err="1">
                <a:solidFill>
                  <a:srgbClr val="FF9900"/>
                </a:solidFill>
              </a:rPr>
              <a:t>електроника</a:t>
            </a:r>
            <a:r>
              <a:rPr lang="ru-RU" sz="2400" dirty="0">
                <a:solidFill>
                  <a:srgbClr val="FF9900"/>
                </a:solidFill>
              </a:rPr>
              <a:t> е </a:t>
            </a:r>
            <a:r>
              <a:rPr lang="ru-RU" sz="2400" dirty="0" err="1">
                <a:solidFill>
                  <a:srgbClr val="FF9900"/>
                </a:solidFill>
              </a:rPr>
              <a:t>интегрирана</a:t>
            </a:r>
            <a:r>
              <a:rPr lang="ru-RU" sz="2400" dirty="0">
                <a:solidFill>
                  <a:srgbClr val="FF9900"/>
                </a:solidFill>
              </a:rPr>
              <a:t> върху обща </a:t>
            </a:r>
            <a:r>
              <a:rPr lang="ru-RU" sz="2400" dirty="0" err="1">
                <a:solidFill>
                  <a:srgbClr val="FF9900"/>
                </a:solidFill>
              </a:rPr>
              <a:t>печатна</a:t>
            </a:r>
            <a:r>
              <a:rPr lang="ru-RU" sz="2400" dirty="0">
                <a:solidFill>
                  <a:srgbClr val="FF9900"/>
                </a:solidFill>
              </a:rPr>
              <a:t> платка, наречена </a:t>
            </a:r>
            <a:r>
              <a:rPr lang="ru-RU" sz="2400" dirty="0" err="1">
                <a:solidFill>
                  <a:srgbClr val="FF9900"/>
                </a:solidFill>
              </a:rPr>
              <a:t>дънна</a:t>
            </a:r>
            <a:r>
              <a:rPr lang="ru-RU" sz="2400" dirty="0">
                <a:solidFill>
                  <a:srgbClr val="FF9900"/>
                </a:solidFill>
              </a:rPr>
              <a:t> платка или по 9-кратко-дъно. Тя </a:t>
            </a:r>
            <a:r>
              <a:rPr lang="ru-RU" sz="2400" dirty="0" err="1">
                <a:solidFill>
                  <a:srgbClr val="FF9900"/>
                </a:solidFill>
              </a:rPr>
              <a:t>свързва</a:t>
            </a:r>
            <a:r>
              <a:rPr lang="ru-RU" sz="2400" dirty="0">
                <a:solidFill>
                  <a:srgbClr val="FF9900"/>
                </a:solidFill>
              </a:rPr>
              <a:t> всички модули, служи за мост между процесора, паметта и </a:t>
            </a:r>
            <a:r>
              <a:rPr lang="ru-RU" sz="2400" dirty="0" err="1">
                <a:solidFill>
                  <a:srgbClr val="FF9900"/>
                </a:solidFill>
              </a:rPr>
              <a:t>контролерите</a:t>
            </a:r>
            <a:r>
              <a:rPr lang="ru-RU" sz="2400" dirty="0">
                <a:solidFill>
                  <a:srgbClr val="FF9900"/>
                </a:solidFill>
              </a:rPr>
              <a:t> на останалите устройства.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33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479667"/>
            <a:ext cx="6344892" cy="4971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Дънната платка съдържа интегралните чипове на </a:t>
            </a:r>
            <a:r>
              <a:rPr lang="en-US" sz="2400" dirty="0">
                <a:solidFill>
                  <a:srgbClr val="FF9900"/>
                </a:solidFill>
              </a:rPr>
              <a:t>CPU, RAM, ROM-BIOS, CHIPSET, </a:t>
            </a:r>
            <a:r>
              <a:rPr lang="bg-BG" sz="2400" dirty="0">
                <a:solidFill>
                  <a:srgbClr val="FF9900"/>
                </a:solidFill>
              </a:rPr>
              <a:t>слотове за разширение, конектори за </a:t>
            </a:r>
            <a:r>
              <a:rPr lang="en-US" sz="2400" dirty="0">
                <a:solidFill>
                  <a:srgbClr val="FF9900"/>
                </a:solidFill>
              </a:rPr>
              <a:t>FDD, HDD, CD/DVD-ROM/R/RW, </a:t>
            </a:r>
            <a:r>
              <a:rPr lang="bg-BG" sz="2400" dirty="0">
                <a:solidFill>
                  <a:srgbClr val="FF9900"/>
                </a:solidFill>
              </a:rPr>
              <a:t>конектор за захранващия блок, входно-изходни портове и др. функционални блокове. </a:t>
            </a:r>
          </a:p>
        </p:txBody>
      </p:sp>
    </p:spTree>
    <p:extLst>
      <p:ext uri="{BB962C8B-B14F-4D97-AF65-F5344CB8AC3E}">
        <p14:creationId xmlns:p14="http://schemas.microsoft.com/office/powerpoint/2010/main" val="6904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878676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От нея в </a:t>
            </a:r>
            <a:r>
              <a:rPr lang="ru-RU" sz="2400" dirty="0" err="1">
                <a:solidFill>
                  <a:srgbClr val="FF9900"/>
                </a:solidFill>
              </a:rPr>
              <a:t>голяма</a:t>
            </a:r>
            <a:r>
              <a:rPr lang="ru-RU" sz="2400" dirty="0">
                <a:solidFill>
                  <a:srgbClr val="FF9900"/>
                </a:solidFill>
              </a:rPr>
              <a:t> степен зависят бързодействието, </a:t>
            </a:r>
            <a:r>
              <a:rPr lang="ru-RU" sz="2400" dirty="0" err="1">
                <a:solidFill>
                  <a:srgbClr val="FF9900"/>
                </a:solidFill>
              </a:rPr>
              <a:t>надеждността</a:t>
            </a:r>
            <a:r>
              <a:rPr lang="ru-RU" sz="2400" dirty="0">
                <a:solidFill>
                  <a:srgbClr val="FF9900"/>
                </a:solidFill>
              </a:rPr>
              <a:t>, </a:t>
            </a:r>
            <a:r>
              <a:rPr lang="ru-RU" sz="2400" dirty="0" err="1">
                <a:solidFill>
                  <a:srgbClr val="FF9900"/>
                </a:solidFill>
              </a:rPr>
              <a:t>стабилността</a:t>
            </a:r>
            <a:r>
              <a:rPr lang="ru-RU" sz="2400" dirty="0">
                <a:solidFill>
                  <a:srgbClr val="FF9900"/>
                </a:solidFill>
              </a:rPr>
              <a:t> на работа на системата, </a:t>
            </a:r>
            <a:r>
              <a:rPr lang="ru-RU" sz="2400" dirty="0" err="1">
                <a:solidFill>
                  <a:srgbClr val="FF9900"/>
                </a:solidFill>
              </a:rPr>
              <a:t>възможността</a:t>
            </a:r>
            <a:r>
              <a:rPr lang="ru-RU" sz="2400" dirty="0">
                <a:solidFill>
                  <a:srgbClr val="FF9900"/>
                </a:solidFill>
              </a:rPr>
              <a:t> за разширение и </a:t>
            </a:r>
            <a:r>
              <a:rPr lang="ru-RU" sz="2400" dirty="0" err="1">
                <a:solidFill>
                  <a:srgbClr val="FF9900"/>
                </a:solidFill>
              </a:rPr>
              <a:t>поставяне</a:t>
            </a:r>
            <a:r>
              <a:rPr lang="ru-RU" sz="2400" dirty="0">
                <a:solidFill>
                  <a:srgbClr val="FF9900"/>
                </a:solidFill>
              </a:rPr>
              <a:t> на по-нови компоненти.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243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354976"/>
            <a:ext cx="6344892" cy="4971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- </a:t>
            </a:r>
            <a:r>
              <a:rPr lang="ru-RU" sz="2400" dirty="0" err="1">
                <a:solidFill>
                  <a:srgbClr val="FF9900"/>
                </a:solidFill>
              </a:rPr>
              <a:t>Популярни</a:t>
            </a:r>
            <a:r>
              <a:rPr lang="ru-RU" sz="2400" dirty="0">
                <a:solidFill>
                  <a:srgbClr val="FF9900"/>
                </a:solidFill>
              </a:rPr>
              <a:t> са 3 типа платки: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1.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 err="1" smtClean="0">
                <a:solidFill>
                  <a:srgbClr val="FF9900"/>
                </a:solidFill>
              </a:rPr>
              <a:t>Backplane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– </a:t>
            </a:r>
            <a:r>
              <a:rPr lang="ru-RU" sz="2400" dirty="0" err="1">
                <a:solidFill>
                  <a:srgbClr val="FF9900"/>
                </a:solidFill>
              </a:rPr>
              <a:t>шинно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ориентирани</a:t>
            </a:r>
            <a:r>
              <a:rPr lang="ru-RU" sz="2400" dirty="0">
                <a:solidFill>
                  <a:srgbClr val="FF9900"/>
                </a:solidFill>
              </a:rPr>
              <a:t> платки, при които на дънната платка има една шина с много сигнали, а всички </a:t>
            </a:r>
            <a:r>
              <a:rPr lang="ru-RU" sz="2400" dirty="0" err="1">
                <a:solidFill>
                  <a:srgbClr val="FF9900"/>
                </a:solidFill>
              </a:rPr>
              <a:t>останали</a:t>
            </a:r>
            <a:r>
              <a:rPr lang="ru-RU" sz="2400" dirty="0">
                <a:solidFill>
                  <a:srgbClr val="FF9900"/>
                </a:solidFill>
              </a:rPr>
              <a:t> компоненти са в разширителни платки</a:t>
            </a:r>
            <a:r>
              <a:rPr lang="ru-RU" sz="2400" dirty="0" smtClean="0">
                <a:solidFill>
                  <a:srgbClr val="FF9900"/>
                </a:solidFill>
              </a:rPr>
              <a:t>.</a:t>
            </a:r>
            <a:endParaRPr lang="en-US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2.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 err="1" smtClean="0">
                <a:solidFill>
                  <a:srgbClr val="FF9900"/>
                </a:solidFill>
              </a:rPr>
              <a:t>Едноплаткови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– на дънната платка са разположени всички </a:t>
            </a:r>
            <a:r>
              <a:rPr lang="ru-RU" sz="2400" dirty="0" smtClean="0">
                <a:solidFill>
                  <a:srgbClr val="FF9900"/>
                </a:solidFill>
              </a:rPr>
              <a:t>компоненти</a:t>
            </a:r>
            <a:r>
              <a:rPr lang="en-US" sz="2400" dirty="0">
                <a:solidFill>
                  <a:srgbClr val="FF9900"/>
                </a:solidFill>
              </a:rPr>
              <a:t>.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397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454729"/>
            <a:ext cx="6344892" cy="4971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3. </a:t>
            </a:r>
            <a:r>
              <a:rPr lang="en-US" sz="2400" dirty="0" smtClean="0">
                <a:solidFill>
                  <a:srgbClr val="FF9900"/>
                </a:solidFill>
              </a:rPr>
              <a:t>Processor </a:t>
            </a:r>
            <a:r>
              <a:rPr lang="en-US" sz="2400" dirty="0">
                <a:solidFill>
                  <a:srgbClr val="FF9900"/>
                </a:solidFill>
              </a:rPr>
              <a:t>Complex Design – </a:t>
            </a:r>
            <a:r>
              <a:rPr lang="bg-BG" sz="2400" dirty="0">
                <a:solidFill>
                  <a:srgbClr val="FF9900"/>
                </a:solidFill>
              </a:rPr>
              <a:t>на дънната платка са разположени </a:t>
            </a:r>
            <a:r>
              <a:rPr lang="en-US" sz="2400" dirty="0">
                <a:solidFill>
                  <a:srgbClr val="FF9900"/>
                </a:solidFill>
              </a:rPr>
              <a:t>CPU, RAM, ROM-BIOS, CHIPSET </a:t>
            </a:r>
            <a:r>
              <a:rPr lang="bg-BG" sz="2400" dirty="0">
                <a:solidFill>
                  <a:srgbClr val="FF9900"/>
                </a:solidFill>
              </a:rPr>
              <a:t>и разширителни слотове, в които се поставят разширителни платки с останалите </a:t>
            </a:r>
            <a:r>
              <a:rPr lang="bg-BG" sz="2400" dirty="0" smtClean="0">
                <a:solidFill>
                  <a:srgbClr val="FF9900"/>
                </a:solidFill>
              </a:rPr>
              <a:t>компоненти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bg-BG" sz="2400" dirty="0" smtClean="0">
                <a:solidFill>
                  <a:srgbClr val="FF9900"/>
                </a:solidFill>
              </a:rPr>
              <a:t>(видеоконтролери</a:t>
            </a:r>
            <a:r>
              <a:rPr lang="bg-BG" sz="2400" dirty="0">
                <a:solidFill>
                  <a:srgbClr val="FF9900"/>
                </a:solidFill>
              </a:rPr>
              <a:t>, мрежови карти, звукови карти, модеми и др.). 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821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346663"/>
            <a:ext cx="6344892" cy="49710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Дънната платка осигурява връзката между процесора и другите компоненти чрез </a:t>
            </a:r>
            <a:r>
              <a:rPr lang="ru-RU" sz="2400" dirty="0" err="1">
                <a:solidFill>
                  <a:srgbClr val="FF9900"/>
                </a:solidFill>
              </a:rPr>
              <a:t>шините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  <a:r>
              <a:rPr lang="ru-RU" sz="2400" dirty="0" err="1">
                <a:solidFill>
                  <a:srgbClr val="FF9900"/>
                </a:solidFill>
              </a:rPr>
              <a:t>Шините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действат</a:t>
            </a:r>
            <a:r>
              <a:rPr lang="ru-RU" sz="2400" dirty="0">
                <a:solidFill>
                  <a:srgbClr val="FF9900"/>
                </a:solidFill>
              </a:rPr>
              <a:t> като магистрала за данни, </a:t>
            </a:r>
            <a:r>
              <a:rPr lang="ru-RU" sz="2400" dirty="0" err="1">
                <a:solidFill>
                  <a:srgbClr val="FF9900"/>
                </a:solidFill>
              </a:rPr>
              <a:t>давайки</a:t>
            </a:r>
            <a:r>
              <a:rPr lang="ru-RU" sz="2400" dirty="0">
                <a:solidFill>
                  <a:srgbClr val="FF9900"/>
                </a:solidFill>
              </a:rPr>
              <a:t> възможност на </a:t>
            </a:r>
            <a:r>
              <a:rPr lang="ru-RU" sz="2400" dirty="0" err="1">
                <a:solidFill>
                  <a:srgbClr val="FF9900"/>
                </a:solidFill>
              </a:rPr>
              <a:t>порциите</a:t>
            </a:r>
            <a:r>
              <a:rPr lang="ru-RU" sz="2400" dirty="0">
                <a:solidFill>
                  <a:srgbClr val="FF9900"/>
                </a:solidFill>
              </a:rPr>
              <a:t> данни да бъдат </a:t>
            </a:r>
            <a:r>
              <a:rPr lang="ru-RU" sz="2400" dirty="0" err="1">
                <a:solidFill>
                  <a:srgbClr val="FF9900"/>
                </a:solidFill>
              </a:rPr>
              <a:t>изпращани</a:t>
            </a:r>
            <a:r>
              <a:rPr lang="ru-RU" sz="2400" dirty="0">
                <a:solidFill>
                  <a:srgbClr val="FF9900"/>
                </a:solidFill>
              </a:rPr>
              <a:t> от една точка до друга. </a:t>
            </a:r>
            <a:endParaRPr lang="en-US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FF9900"/>
                </a:solidFill>
              </a:rPr>
              <a:t>- </a:t>
            </a:r>
            <a:r>
              <a:rPr lang="ru-RU" sz="2400" dirty="0" smtClean="0">
                <a:solidFill>
                  <a:srgbClr val="FF9900"/>
                </a:solidFill>
              </a:rPr>
              <a:t>Основната </a:t>
            </a:r>
            <a:r>
              <a:rPr lang="ru-RU" sz="2400" dirty="0">
                <a:solidFill>
                  <a:srgbClr val="FF9900"/>
                </a:solidFill>
              </a:rPr>
              <a:t>шина е тази, която </a:t>
            </a:r>
            <a:r>
              <a:rPr lang="ru-RU" sz="2400" dirty="0" err="1">
                <a:solidFill>
                  <a:srgbClr val="FF9900"/>
                </a:solidFill>
              </a:rPr>
              <a:t>свързва</a:t>
            </a:r>
            <a:r>
              <a:rPr lang="ru-RU" sz="2400" dirty="0">
                <a:solidFill>
                  <a:srgbClr val="FF9900"/>
                </a:solidFill>
              </a:rPr>
              <a:t> процесора с паметта. Тази шина се нарича системна шина.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471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29542"/>
            <a:ext cx="6344892" cy="4754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rgbClr val="FF9900"/>
                </a:solidFill>
              </a:rPr>
              <a:t>- </a:t>
            </a:r>
            <a:r>
              <a:rPr lang="ru-RU" sz="2400" dirty="0" smtClean="0">
                <a:solidFill>
                  <a:srgbClr val="FF9900"/>
                </a:solidFill>
              </a:rPr>
              <a:t>Системната </a:t>
            </a:r>
            <a:r>
              <a:rPr lang="ru-RU" sz="2400" dirty="0">
                <a:solidFill>
                  <a:srgbClr val="FF9900"/>
                </a:solidFill>
              </a:rPr>
              <a:t>шина е </a:t>
            </a:r>
            <a:r>
              <a:rPr lang="ru-RU" sz="2400" dirty="0" err="1">
                <a:solidFill>
                  <a:srgbClr val="FF9900"/>
                </a:solidFill>
              </a:rPr>
              <a:t>главният</a:t>
            </a:r>
            <a:r>
              <a:rPr lang="ru-RU" sz="2400" dirty="0">
                <a:solidFill>
                  <a:srgbClr val="FF9900"/>
                </a:solidFill>
              </a:rPr>
              <a:t> механизъм за </a:t>
            </a:r>
            <a:r>
              <a:rPr lang="ru-RU" sz="2400" dirty="0" err="1">
                <a:solidFill>
                  <a:srgbClr val="FF9900"/>
                </a:solidFill>
              </a:rPr>
              <a:t>придвижване</a:t>
            </a:r>
            <a:r>
              <a:rPr lang="ru-RU" sz="2400" dirty="0">
                <a:solidFill>
                  <a:srgbClr val="FF9900"/>
                </a:solidFill>
              </a:rPr>
              <a:t> на данни към различните части на компютъра. Тя </a:t>
            </a:r>
            <a:r>
              <a:rPr lang="ru-RU" sz="2400" dirty="0" err="1">
                <a:solidFill>
                  <a:srgbClr val="FF9900"/>
                </a:solidFill>
              </a:rPr>
              <a:t>свързва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микропроцесора</a:t>
            </a:r>
            <a:r>
              <a:rPr lang="ru-RU" sz="2400" dirty="0">
                <a:solidFill>
                  <a:srgbClr val="FF9900"/>
                </a:solidFill>
              </a:rPr>
              <a:t> с оперативната памет, както и с другите шини, а те от своя страна се свързват към различните входни и </a:t>
            </a:r>
            <a:r>
              <a:rPr lang="ru-RU" sz="2400" dirty="0" err="1">
                <a:solidFill>
                  <a:srgbClr val="FF9900"/>
                </a:solidFill>
              </a:rPr>
              <a:t>изходни</a:t>
            </a:r>
            <a:r>
              <a:rPr lang="ru-RU" sz="2400" dirty="0">
                <a:solidFill>
                  <a:srgbClr val="FF9900"/>
                </a:solidFill>
              </a:rPr>
              <a:t> устройства. Важен </a:t>
            </a:r>
            <a:r>
              <a:rPr lang="ru-RU" sz="2400" dirty="0" err="1">
                <a:solidFill>
                  <a:srgbClr val="FF9900"/>
                </a:solidFill>
              </a:rPr>
              <a:t>параметър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smtClean="0">
                <a:solidFill>
                  <a:srgbClr val="FF9900"/>
                </a:solidFill>
              </a:rPr>
              <a:t>е, </a:t>
            </a:r>
            <a:r>
              <a:rPr lang="ru-RU" sz="2400" dirty="0">
                <a:solidFill>
                  <a:srgbClr val="FF9900"/>
                </a:solidFill>
              </a:rPr>
              <a:t>че </a:t>
            </a:r>
            <a:r>
              <a:rPr lang="ru-RU" sz="2400" dirty="0" err="1">
                <a:solidFill>
                  <a:srgbClr val="FF9900"/>
                </a:solidFill>
              </a:rPr>
              <a:t>процесорите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работят</a:t>
            </a:r>
            <a:r>
              <a:rPr lang="ru-RU" sz="2400" dirty="0">
                <a:solidFill>
                  <a:srgbClr val="FF9900"/>
                </a:solidFill>
              </a:rPr>
              <a:t> при скорости, които са </a:t>
            </a:r>
            <a:r>
              <a:rPr lang="ru-RU" sz="2400" dirty="0" err="1">
                <a:solidFill>
                  <a:srgbClr val="FF9900"/>
                </a:solidFill>
              </a:rPr>
              <a:t>кратни</a:t>
            </a:r>
            <a:r>
              <a:rPr lang="ru-RU" sz="2400" dirty="0">
                <a:solidFill>
                  <a:srgbClr val="FF9900"/>
                </a:solidFill>
              </a:rPr>
              <a:t> на скоростта на </a:t>
            </a:r>
            <a:r>
              <a:rPr lang="ru-RU" sz="2400" dirty="0" err="1">
                <a:solidFill>
                  <a:srgbClr val="FF9900"/>
                </a:solidFill>
              </a:rPr>
              <a:t>системната</a:t>
            </a:r>
            <a:r>
              <a:rPr lang="ru-RU" sz="2400" dirty="0">
                <a:solidFill>
                  <a:srgbClr val="FF9900"/>
                </a:solidFill>
              </a:rPr>
              <a:t> шина. </a:t>
            </a: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973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679171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Освен системна шина, се използват и други шини, </a:t>
            </a:r>
            <a:r>
              <a:rPr lang="ru-RU" sz="2400" dirty="0" err="1">
                <a:solidFill>
                  <a:srgbClr val="FF9900"/>
                </a:solidFill>
              </a:rPr>
              <a:t>наричани</a:t>
            </a:r>
            <a:r>
              <a:rPr lang="ru-RU" sz="2400" dirty="0">
                <a:solidFill>
                  <a:srgbClr val="FF9900"/>
                </a:solidFill>
              </a:rPr>
              <a:t> разширителни, които </a:t>
            </a:r>
            <a:r>
              <a:rPr lang="ru-RU" sz="2400" dirty="0" err="1">
                <a:solidFill>
                  <a:srgbClr val="FF9900"/>
                </a:solidFill>
              </a:rPr>
              <a:t>помагат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периферните</a:t>
            </a:r>
            <a:r>
              <a:rPr lang="ru-RU" sz="2400" dirty="0">
                <a:solidFill>
                  <a:srgbClr val="FF9900"/>
                </a:solidFill>
              </a:rPr>
              <a:t> устройства, като твърд диск, видео и </a:t>
            </a:r>
            <a:r>
              <a:rPr lang="ru-RU" sz="2400" dirty="0" err="1">
                <a:solidFill>
                  <a:srgbClr val="FF9900"/>
                </a:solidFill>
              </a:rPr>
              <a:t>звукова</a:t>
            </a:r>
            <a:r>
              <a:rPr lang="ru-RU" sz="2400" dirty="0">
                <a:solidFill>
                  <a:srgbClr val="FF9900"/>
                </a:solidFill>
              </a:rPr>
              <a:t> карта да </a:t>
            </a:r>
            <a:r>
              <a:rPr lang="ru-RU" sz="2400" dirty="0" err="1">
                <a:solidFill>
                  <a:srgbClr val="FF9900"/>
                </a:solidFill>
              </a:rPr>
              <a:t>общуват</a:t>
            </a:r>
            <a:r>
              <a:rPr lang="ru-RU" sz="2400" dirty="0">
                <a:solidFill>
                  <a:srgbClr val="FF9900"/>
                </a:solidFill>
              </a:rPr>
              <a:t> с процесора. </a:t>
            </a:r>
            <a:endParaRPr lang="en-US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975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2954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i="1" dirty="0" smtClean="0">
                <a:solidFill>
                  <a:srgbClr val="FF9900"/>
                </a:solidFill>
              </a:rPr>
              <a:t>Съществуват </a:t>
            </a:r>
            <a:r>
              <a:rPr lang="ru-RU" sz="2400" i="1" dirty="0">
                <a:solidFill>
                  <a:srgbClr val="FF9900"/>
                </a:solidFill>
              </a:rPr>
              <a:t>следните </a:t>
            </a:r>
            <a:r>
              <a:rPr lang="ru-RU" sz="2400" i="1" dirty="0" err="1">
                <a:solidFill>
                  <a:srgbClr val="FF9900"/>
                </a:solidFill>
              </a:rPr>
              <a:t>стандартни</a:t>
            </a:r>
            <a:r>
              <a:rPr lang="ru-RU" sz="2400" i="1" dirty="0">
                <a:solidFill>
                  <a:srgbClr val="FF9900"/>
                </a:solidFill>
              </a:rPr>
              <a:t> шини: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 smtClean="0">
                <a:solidFill>
                  <a:srgbClr val="FF9900"/>
                </a:solidFill>
              </a:rPr>
              <a:t>ISA </a:t>
            </a:r>
            <a:r>
              <a:rPr lang="ru-RU" sz="2400" dirty="0">
                <a:solidFill>
                  <a:srgbClr val="FF9900"/>
                </a:solidFill>
              </a:rPr>
              <a:t>– архитектура на </a:t>
            </a:r>
            <a:r>
              <a:rPr lang="ru-RU" sz="2400" dirty="0" err="1">
                <a:solidFill>
                  <a:srgbClr val="FF9900"/>
                </a:solidFill>
              </a:rPr>
              <a:t>промишлен</a:t>
            </a:r>
            <a:r>
              <a:rPr lang="ru-RU" sz="2400" dirty="0">
                <a:solidFill>
                  <a:srgbClr val="FF9900"/>
                </a:solidFill>
              </a:rPr>
              <a:t> стандарт, входно/</a:t>
            </a:r>
            <a:r>
              <a:rPr lang="ru-RU" sz="2400" dirty="0" err="1">
                <a:solidFill>
                  <a:srgbClr val="FF9900"/>
                </a:solidFill>
              </a:rPr>
              <a:t>изходни</a:t>
            </a:r>
            <a:r>
              <a:rPr lang="ru-RU" sz="2400" dirty="0">
                <a:solidFill>
                  <a:srgbClr val="FF9900"/>
                </a:solidFill>
              </a:rPr>
              <a:t> шини за </a:t>
            </a:r>
            <a:r>
              <a:rPr lang="ru-RU" sz="2400" dirty="0" err="1">
                <a:solidFill>
                  <a:srgbClr val="FF9900"/>
                </a:solidFill>
              </a:rPr>
              <a:t>пренасяне</a:t>
            </a:r>
            <a:r>
              <a:rPr lang="ru-RU" sz="2400" dirty="0">
                <a:solidFill>
                  <a:srgbClr val="FF9900"/>
                </a:solidFill>
              </a:rPr>
              <a:t> на данни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 smtClean="0">
                <a:solidFill>
                  <a:srgbClr val="FF9900"/>
                </a:solidFill>
              </a:rPr>
              <a:t>MCA </a:t>
            </a:r>
            <a:r>
              <a:rPr lang="ru-RU" sz="2400" dirty="0">
                <a:solidFill>
                  <a:srgbClr val="FF9900"/>
                </a:solidFill>
              </a:rPr>
              <a:t>– архитектура на първата 32 </a:t>
            </a:r>
            <a:r>
              <a:rPr lang="ru-RU" sz="2400" dirty="0" err="1">
                <a:solidFill>
                  <a:srgbClr val="FF9900"/>
                </a:solidFill>
              </a:rPr>
              <a:t>битова</a:t>
            </a:r>
            <a:r>
              <a:rPr lang="ru-RU" sz="2400" dirty="0">
                <a:solidFill>
                  <a:srgbClr val="FF9900"/>
                </a:solidFill>
              </a:rPr>
              <a:t> шина на IBM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 smtClean="0">
                <a:solidFill>
                  <a:srgbClr val="FF9900"/>
                </a:solidFill>
              </a:rPr>
              <a:t>EISA </a:t>
            </a:r>
            <a:r>
              <a:rPr lang="ru-RU" sz="2400" dirty="0">
                <a:solidFill>
                  <a:srgbClr val="FF9900"/>
                </a:solidFill>
              </a:rPr>
              <a:t>– </a:t>
            </a:r>
            <a:r>
              <a:rPr lang="ru-RU" sz="2400" dirty="0" err="1">
                <a:solidFill>
                  <a:srgbClr val="FF9900"/>
                </a:solidFill>
              </a:rPr>
              <a:t>разширена</a:t>
            </a:r>
            <a:r>
              <a:rPr lang="ru-RU" sz="2400" dirty="0">
                <a:solidFill>
                  <a:srgbClr val="FF9900"/>
                </a:solidFill>
              </a:rPr>
              <a:t> 32 </a:t>
            </a:r>
            <a:r>
              <a:rPr lang="ru-RU" sz="2400" dirty="0" err="1">
                <a:solidFill>
                  <a:srgbClr val="FF9900"/>
                </a:solidFill>
              </a:rPr>
              <a:t>битова</a:t>
            </a:r>
            <a:r>
              <a:rPr lang="ru-RU" sz="2400" dirty="0">
                <a:solidFill>
                  <a:srgbClr val="FF9900"/>
                </a:solidFill>
              </a:rPr>
              <a:t> ISA шина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 smtClean="0">
                <a:solidFill>
                  <a:srgbClr val="FF9900"/>
                </a:solidFill>
              </a:rPr>
              <a:t>PCI </a:t>
            </a:r>
            <a:r>
              <a:rPr lang="ru-RU" sz="2400" dirty="0">
                <a:solidFill>
                  <a:srgbClr val="FF9900"/>
                </a:solidFill>
              </a:rPr>
              <a:t>– интерфейс за свързване на периферни компоненти 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63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Същност на дънната </a:t>
            </a:r>
            <a:r>
              <a:rPr lang="bg-BG" sz="2800" b="1" dirty="0" smtClean="0">
                <a:solidFill>
                  <a:srgbClr val="FF9900"/>
                </a:solidFill>
              </a:rPr>
              <a:t>платка 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454727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</a:t>
            </a:r>
            <a:r>
              <a:rPr lang="ru-RU" sz="2400" dirty="0">
                <a:solidFill>
                  <a:srgbClr val="FF9900"/>
                </a:solidFill>
              </a:rPr>
              <a:t>AGP – ускорен </a:t>
            </a:r>
            <a:r>
              <a:rPr lang="ru-RU" sz="2400" dirty="0" err="1">
                <a:solidFill>
                  <a:srgbClr val="FF9900"/>
                </a:solidFill>
              </a:rPr>
              <a:t>графичен</a:t>
            </a:r>
            <a:r>
              <a:rPr lang="ru-RU" sz="2400" dirty="0">
                <a:solidFill>
                  <a:srgbClr val="FF9900"/>
                </a:solidFill>
              </a:rPr>
              <a:t> порт за видеокарта </a:t>
            </a:r>
            <a:endParaRPr lang="en-US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</a:t>
            </a:r>
            <a:r>
              <a:rPr lang="ru-RU" sz="2400" dirty="0">
                <a:solidFill>
                  <a:srgbClr val="FF9900"/>
                </a:solidFill>
              </a:rPr>
              <a:t>USB – </a:t>
            </a:r>
            <a:r>
              <a:rPr lang="ru-RU" sz="2400" dirty="0" err="1">
                <a:solidFill>
                  <a:srgbClr val="FF9900"/>
                </a:solidFill>
              </a:rPr>
              <a:t>универсална</a:t>
            </a:r>
            <a:r>
              <a:rPr lang="ru-RU" sz="2400" dirty="0">
                <a:solidFill>
                  <a:srgbClr val="FF9900"/>
                </a:solidFill>
              </a:rPr>
              <a:t> серийна шина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-PCI – Express – интерфейс за свързване на съвременни </a:t>
            </a:r>
            <a:r>
              <a:rPr lang="ru-RU" sz="2400" dirty="0" err="1">
                <a:solidFill>
                  <a:srgbClr val="FF9900"/>
                </a:solidFill>
              </a:rPr>
              <a:t>видеокарти</a:t>
            </a:r>
            <a:r>
              <a:rPr lang="ru-RU" sz="2400" dirty="0">
                <a:solidFill>
                  <a:srgbClr val="FF9900"/>
                </a:solidFill>
              </a:rPr>
              <a:t> и други разширителни карти,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Всяка стандартна шина функционира със </a:t>
            </a:r>
            <a:r>
              <a:rPr lang="ru-RU" sz="2400" dirty="0" err="1">
                <a:solidFill>
                  <a:srgbClr val="FF9900"/>
                </a:solidFill>
              </a:rPr>
              <a:t>собствена</a:t>
            </a:r>
            <a:r>
              <a:rPr lang="ru-RU" sz="2400" dirty="0">
                <a:solidFill>
                  <a:srgbClr val="FF9900"/>
                </a:solidFill>
              </a:rPr>
              <a:t> скорост и </a:t>
            </a:r>
            <a:r>
              <a:rPr lang="ru-RU" sz="2400" dirty="0" err="1">
                <a:solidFill>
                  <a:srgbClr val="FF9900"/>
                </a:solidFill>
              </a:rPr>
              <a:t>общува</a:t>
            </a:r>
            <a:r>
              <a:rPr lang="ru-RU" sz="2400" dirty="0">
                <a:solidFill>
                  <a:srgbClr val="FF9900"/>
                </a:solidFill>
              </a:rPr>
              <a:t> с </a:t>
            </a:r>
            <a:r>
              <a:rPr lang="ru-RU" sz="2400" dirty="0" err="1">
                <a:solidFill>
                  <a:srgbClr val="FF9900"/>
                </a:solidFill>
              </a:rPr>
              <a:t>главната</a:t>
            </a:r>
            <a:r>
              <a:rPr lang="ru-RU" sz="2400" dirty="0">
                <a:solidFill>
                  <a:srgbClr val="FF9900"/>
                </a:solidFill>
              </a:rPr>
              <a:t> шина чрез т.нар. „</a:t>
            </a:r>
            <a:r>
              <a:rPr lang="ru-RU" sz="2400" dirty="0" err="1">
                <a:solidFill>
                  <a:srgbClr val="FF9900"/>
                </a:solidFill>
              </a:rPr>
              <a:t>мостови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чипове</a:t>
            </a:r>
            <a:r>
              <a:rPr lang="ru-RU" sz="2400" dirty="0">
                <a:solidFill>
                  <a:srgbClr val="FF9900"/>
                </a:solidFill>
              </a:rPr>
              <a:t>”, които се наричат </a:t>
            </a:r>
            <a:r>
              <a:rPr lang="ru-RU" sz="2400" dirty="0" err="1" smtClean="0">
                <a:solidFill>
                  <a:srgbClr val="FF9900"/>
                </a:solidFill>
              </a:rPr>
              <a:t>Chipset</a:t>
            </a:r>
            <a:r>
              <a:rPr lang="ru-RU" sz="2400" dirty="0" smtClean="0">
                <a:solidFill>
                  <a:srgbClr val="FF9900"/>
                </a:solidFill>
              </a:rPr>
              <a:t>.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40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77072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53985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А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Процесор </a:t>
            </a:r>
            <a:r>
              <a:rPr lang="ru-RU" sz="2400" dirty="0">
                <a:solidFill>
                  <a:srgbClr val="FF9900"/>
                </a:solidFill>
              </a:rPr>
              <a:t>(CPU) – Процесорът лесно се </a:t>
            </a:r>
            <a:r>
              <a:rPr lang="ru-RU" sz="2400" dirty="0" err="1">
                <a:solidFill>
                  <a:srgbClr val="FF9900"/>
                </a:solidFill>
              </a:rPr>
              <a:t>открива</a:t>
            </a:r>
            <a:r>
              <a:rPr lang="ru-RU" sz="2400" dirty="0">
                <a:solidFill>
                  <a:srgbClr val="FF9900"/>
                </a:solidFill>
              </a:rPr>
              <a:t>, тъй като е надписан с </a:t>
            </a:r>
            <a:r>
              <a:rPr lang="ru-RU" sz="2400" dirty="0" err="1">
                <a:solidFill>
                  <a:srgbClr val="FF9900"/>
                </a:solidFill>
              </a:rPr>
              <a:t>фирмения</a:t>
            </a:r>
            <a:r>
              <a:rPr lang="ru-RU" sz="2400" dirty="0">
                <a:solidFill>
                  <a:srgbClr val="FF9900"/>
                </a:solidFill>
              </a:rPr>
              <a:t> знак на производителя. За IBM </a:t>
            </a:r>
            <a:r>
              <a:rPr lang="ru-RU" sz="2400" dirty="0" err="1">
                <a:solidFill>
                  <a:srgbClr val="FF9900"/>
                </a:solidFill>
              </a:rPr>
              <a:t>съвместимите</a:t>
            </a:r>
            <a:r>
              <a:rPr lang="ru-RU" sz="2400" dirty="0">
                <a:solidFill>
                  <a:srgbClr val="FF9900"/>
                </a:solidFill>
              </a:rPr>
              <a:t> компютри това са </a:t>
            </a:r>
            <a:r>
              <a:rPr lang="ru-RU" sz="2400" dirty="0" err="1">
                <a:solidFill>
                  <a:srgbClr val="FF9900"/>
                </a:solidFill>
              </a:rPr>
              <a:t>процесорите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фирмите</a:t>
            </a:r>
            <a:r>
              <a:rPr lang="ru-RU" sz="2400" dirty="0">
                <a:solidFill>
                  <a:srgbClr val="FF9900"/>
                </a:solidFill>
              </a:rPr>
              <a:t> INTEL, AMD, CYRIX и др. </a:t>
            </a:r>
            <a:r>
              <a:rPr lang="ru-RU" sz="2400" dirty="0" err="1">
                <a:solidFill>
                  <a:srgbClr val="FF9900"/>
                </a:solidFill>
              </a:rPr>
              <a:t>Процесорите</a:t>
            </a:r>
            <a:r>
              <a:rPr lang="ru-RU" sz="2400" dirty="0">
                <a:solidFill>
                  <a:srgbClr val="FF9900"/>
                </a:solidFill>
              </a:rPr>
              <a:t> на INTEL са 80286, 80386, 80486, </a:t>
            </a:r>
            <a:r>
              <a:rPr lang="ru-RU" sz="2400" dirty="0" err="1">
                <a:solidFill>
                  <a:srgbClr val="FF9900"/>
                </a:solidFill>
              </a:rPr>
              <a:t>Pentium</a:t>
            </a:r>
            <a:r>
              <a:rPr lang="ru-RU" sz="2400" dirty="0">
                <a:solidFill>
                  <a:srgbClr val="FF9900"/>
                </a:solidFill>
              </a:rPr>
              <a:t>, </a:t>
            </a:r>
            <a:r>
              <a:rPr lang="ru-RU" sz="2400" dirty="0" err="1">
                <a:solidFill>
                  <a:srgbClr val="FF9900"/>
                </a:solidFill>
              </a:rPr>
              <a:t>Pentium</a:t>
            </a:r>
            <a:r>
              <a:rPr lang="ru-RU" sz="2400" dirty="0">
                <a:solidFill>
                  <a:srgbClr val="FF9900"/>
                </a:solidFill>
              </a:rPr>
              <a:t> II, </a:t>
            </a:r>
            <a:r>
              <a:rPr lang="ru-RU" sz="2400" dirty="0" err="1">
                <a:solidFill>
                  <a:srgbClr val="FF9900"/>
                </a:solidFill>
              </a:rPr>
              <a:t>Celeron</a:t>
            </a:r>
            <a:r>
              <a:rPr lang="ru-RU" sz="2400" dirty="0">
                <a:solidFill>
                  <a:srgbClr val="FF9900"/>
                </a:solidFill>
              </a:rPr>
              <a:t>, </a:t>
            </a:r>
            <a:r>
              <a:rPr lang="ru-RU" sz="2400" dirty="0" err="1">
                <a:solidFill>
                  <a:srgbClr val="FF9900"/>
                </a:solidFill>
              </a:rPr>
              <a:t>Pentium</a:t>
            </a:r>
            <a:r>
              <a:rPr lang="ru-RU" sz="2400" dirty="0">
                <a:solidFill>
                  <a:srgbClr val="FF9900"/>
                </a:solidFill>
              </a:rPr>
              <a:t> III, </a:t>
            </a:r>
            <a:r>
              <a:rPr lang="ru-RU" sz="2400" dirty="0" err="1">
                <a:solidFill>
                  <a:srgbClr val="FF9900"/>
                </a:solidFill>
              </a:rPr>
              <a:t>Pentium</a:t>
            </a:r>
            <a:r>
              <a:rPr lang="ru-RU" sz="2400" dirty="0">
                <a:solidFill>
                  <a:srgbClr val="FF9900"/>
                </a:solidFill>
              </a:rPr>
              <a:t> 4. По-старите процесори се поставят в </a:t>
            </a:r>
            <a:r>
              <a:rPr lang="ru-RU" sz="2400" dirty="0" err="1">
                <a:solidFill>
                  <a:srgbClr val="FF9900"/>
                </a:solidFill>
              </a:rPr>
              <a:t>цокъл</a:t>
            </a:r>
            <a:r>
              <a:rPr lang="ru-RU" sz="2400" dirty="0">
                <a:solidFill>
                  <a:srgbClr val="FF9900"/>
                </a:solidFill>
              </a:rPr>
              <a:t>, като повечето процесори на INTEL са в PGA </a:t>
            </a:r>
            <a:r>
              <a:rPr lang="ru-RU" sz="2400" dirty="0" err="1">
                <a:solidFill>
                  <a:srgbClr val="FF9900"/>
                </a:solidFill>
              </a:rPr>
              <a:t>корпуси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904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10570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62298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Б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CHIPSET </a:t>
            </a:r>
            <a:r>
              <a:rPr lang="ru-RU" sz="2400" dirty="0">
                <a:solidFill>
                  <a:srgbClr val="FF9900"/>
                </a:solidFill>
              </a:rPr>
              <a:t>– </a:t>
            </a:r>
            <a:r>
              <a:rPr lang="ru-RU" sz="2400" dirty="0" err="1">
                <a:solidFill>
                  <a:srgbClr val="FF9900"/>
                </a:solidFill>
              </a:rPr>
              <a:t>Схемният</a:t>
            </a:r>
            <a:r>
              <a:rPr lang="ru-RU" sz="2400" dirty="0">
                <a:solidFill>
                  <a:srgbClr val="FF9900"/>
                </a:solidFill>
              </a:rPr>
              <a:t> набор е един от най-</a:t>
            </a:r>
            <a:r>
              <a:rPr lang="ru-RU" sz="2400" dirty="0" err="1">
                <a:solidFill>
                  <a:srgbClr val="FF9900"/>
                </a:solidFill>
              </a:rPr>
              <a:t>важните</a:t>
            </a:r>
            <a:r>
              <a:rPr lang="ru-RU" sz="2400" dirty="0">
                <a:solidFill>
                  <a:srgbClr val="FF9900"/>
                </a:solidFill>
              </a:rPr>
              <a:t> компоненти на дънната платка. От него </a:t>
            </a:r>
            <a:r>
              <a:rPr lang="ru-RU" sz="2400" dirty="0" err="1">
                <a:solidFill>
                  <a:srgbClr val="FF9900"/>
                </a:solidFill>
              </a:rPr>
              <a:t>зависи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начинът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осъществяване</a:t>
            </a:r>
            <a:r>
              <a:rPr lang="ru-RU" sz="2400" dirty="0">
                <a:solidFill>
                  <a:srgbClr val="FF9900"/>
                </a:solidFill>
              </a:rPr>
              <a:t> на връзката между отделните компоненти. </a:t>
            </a:r>
            <a:r>
              <a:rPr lang="ru-RU" sz="2400" dirty="0" err="1">
                <a:solidFill>
                  <a:srgbClr val="FF9900"/>
                </a:solidFill>
              </a:rPr>
              <a:t>Схемните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набори</a:t>
            </a:r>
            <a:r>
              <a:rPr lang="ru-RU" sz="2400" dirty="0">
                <a:solidFill>
                  <a:srgbClr val="FF9900"/>
                </a:solidFill>
              </a:rPr>
              <a:t> служат като „</a:t>
            </a:r>
            <a:r>
              <a:rPr lang="ru-RU" sz="2400" dirty="0" err="1">
                <a:solidFill>
                  <a:srgbClr val="FF9900"/>
                </a:solidFill>
              </a:rPr>
              <a:t>преводачи</a:t>
            </a:r>
            <a:r>
              <a:rPr lang="ru-RU" sz="2400" dirty="0">
                <a:solidFill>
                  <a:srgbClr val="FF9900"/>
                </a:solidFill>
              </a:rPr>
              <a:t>” между процесора и различните периферни шини на компютъра, като му </a:t>
            </a:r>
            <a:r>
              <a:rPr lang="ru-RU" sz="2400" dirty="0" err="1">
                <a:solidFill>
                  <a:srgbClr val="FF9900"/>
                </a:solidFill>
              </a:rPr>
              <a:t>позволяват</a:t>
            </a:r>
            <a:r>
              <a:rPr lang="ru-RU" sz="2400" dirty="0">
                <a:solidFill>
                  <a:srgbClr val="FF9900"/>
                </a:solidFill>
              </a:rPr>
              <a:t> да </a:t>
            </a:r>
            <a:r>
              <a:rPr lang="ru-RU" sz="2400" dirty="0" err="1">
                <a:solidFill>
                  <a:srgbClr val="FF9900"/>
                </a:solidFill>
              </a:rPr>
              <a:t>обменя</a:t>
            </a:r>
            <a:r>
              <a:rPr lang="ru-RU" sz="2400" dirty="0">
                <a:solidFill>
                  <a:srgbClr val="FF9900"/>
                </a:solidFill>
              </a:rPr>
              <a:t> данни с </a:t>
            </a:r>
            <a:r>
              <a:rPr lang="ru-RU" sz="2400" dirty="0" err="1">
                <a:solidFill>
                  <a:srgbClr val="FF9900"/>
                </a:solidFill>
              </a:rPr>
              <a:t>разширителните</a:t>
            </a:r>
            <a:r>
              <a:rPr lang="ru-RU" sz="2400" dirty="0">
                <a:solidFill>
                  <a:srgbClr val="FF9900"/>
                </a:solidFill>
              </a:rPr>
              <a:t> карти. Те се наричат </a:t>
            </a:r>
            <a:r>
              <a:rPr lang="ru-RU" sz="2400" dirty="0" err="1">
                <a:solidFill>
                  <a:srgbClr val="FF9900"/>
                </a:solidFill>
              </a:rPr>
              <a:t>мостови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чипове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80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52133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1242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 smtClean="0">
                <a:solidFill>
                  <a:srgbClr val="FF9900"/>
                </a:solidFill>
              </a:rPr>
              <a:t>Схемният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набор е този, който определя дали един компютър може да </a:t>
            </a:r>
            <a:r>
              <a:rPr lang="ru-RU" sz="2400" dirty="0" err="1">
                <a:solidFill>
                  <a:srgbClr val="FF9900"/>
                </a:solidFill>
              </a:rPr>
              <a:t>поддържа</a:t>
            </a:r>
            <a:r>
              <a:rPr lang="ru-RU" sz="2400" dirty="0">
                <a:solidFill>
                  <a:srgbClr val="FF9900"/>
                </a:solidFill>
              </a:rPr>
              <a:t> няколко процесора, памет от даден тип , стандарта за видеокарта или интерфейса за твърдия диск. Поради тази си характеристика, </a:t>
            </a:r>
            <a:r>
              <a:rPr lang="ru-RU" sz="2400" dirty="0" err="1">
                <a:solidFill>
                  <a:srgbClr val="FF9900"/>
                </a:solidFill>
              </a:rPr>
              <a:t>типът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схемния</a:t>
            </a:r>
            <a:r>
              <a:rPr lang="ru-RU" sz="2400" dirty="0">
                <a:solidFill>
                  <a:srgbClr val="FF9900"/>
                </a:solidFill>
              </a:rPr>
              <a:t> набор е една от основните </a:t>
            </a:r>
            <a:r>
              <a:rPr lang="ru-RU" sz="2400" dirty="0" err="1">
                <a:solidFill>
                  <a:srgbClr val="FF9900"/>
                </a:solidFill>
              </a:rPr>
              <a:t>отличителни</a:t>
            </a:r>
            <a:r>
              <a:rPr lang="ru-RU" sz="2400" dirty="0">
                <a:solidFill>
                  <a:srgbClr val="FF9900"/>
                </a:solidFill>
              </a:rPr>
              <a:t> характеристики между различните типове платки.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403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27195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695796"/>
            <a:ext cx="6344892" cy="50541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 err="1">
                <a:solidFill>
                  <a:srgbClr val="FF9900"/>
                </a:solidFill>
              </a:rPr>
              <a:t>Чипсетът</a:t>
            </a:r>
            <a:r>
              <a:rPr lang="ru-RU" sz="2400" dirty="0">
                <a:solidFill>
                  <a:srgbClr val="FF9900"/>
                </a:solidFill>
              </a:rPr>
              <a:t> е комплект от </a:t>
            </a:r>
            <a:r>
              <a:rPr lang="ru-RU" sz="2400" dirty="0" err="1">
                <a:solidFill>
                  <a:srgbClr val="FF9900"/>
                </a:solidFill>
              </a:rPr>
              <a:t>чипове</a:t>
            </a:r>
            <a:r>
              <a:rPr lang="ru-RU" sz="2400" dirty="0">
                <a:solidFill>
                  <a:srgbClr val="FF9900"/>
                </a:solidFill>
              </a:rPr>
              <a:t> (може да бъде и само един), който включва важни функционални блокове на компютърната система: контролер на паметта, </a:t>
            </a:r>
            <a:r>
              <a:rPr lang="ru-RU" sz="2400" dirty="0" err="1">
                <a:solidFill>
                  <a:srgbClr val="FF9900"/>
                </a:solidFill>
              </a:rPr>
              <a:t>контролери</a:t>
            </a:r>
            <a:r>
              <a:rPr lang="ru-RU" sz="2400" dirty="0">
                <a:solidFill>
                  <a:srgbClr val="FF9900"/>
                </a:solidFill>
              </a:rPr>
              <a:t> на входно </a:t>
            </a:r>
            <a:r>
              <a:rPr lang="ru-RU" sz="2400" dirty="0" err="1">
                <a:solidFill>
                  <a:srgbClr val="FF9900"/>
                </a:solidFill>
              </a:rPr>
              <a:t>изходните</a:t>
            </a:r>
            <a:r>
              <a:rPr lang="ru-RU" sz="2400" dirty="0">
                <a:solidFill>
                  <a:srgbClr val="FF9900"/>
                </a:solidFill>
              </a:rPr>
              <a:t> устройства, DMA-контролер за </a:t>
            </a:r>
            <a:r>
              <a:rPr lang="ru-RU" sz="2400" dirty="0" err="1">
                <a:solidFill>
                  <a:srgbClr val="FF9900"/>
                </a:solidFill>
              </a:rPr>
              <a:t>директен</a:t>
            </a:r>
            <a:r>
              <a:rPr lang="ru-RU" sz="2400" dirty="0">
                <a:solidFill>
                  <a:srgbClr val="FF9900"/>
                </a:solidFill>
              </a:rPr>
              <a:t> достъп до паметта, IRQ-</a:t>
            </a:r>
            <a:r>
              <a:rPr lang="ru-RU" sz="2400" dirty="0" err="1">
                <a:solidFill>
                  <a:srgbClr val="FF9900"/>
                </a:solidFill>
              </a:rPr>
              <a:t>контролeр</a:t>
            </a:r>
            <a:r>
              <a:rPr lang="ru-RU" sz="2400" dirty="0">
                <a:solidFill>
                  <a:srgbClr val="FF9900"/>
                </a:solidFill>
              </a:rPr>
              <a:t> за хардуерни </a:t>
            </a:r>
            <a:r>
              <a:rPr lang="ru-RU" sz="2400" dirty="0" err="1">
                <a:solidFill>
                  <a:srgbClr val="FF9900"/>
                </a:solidFill>
              </a:rPr>
              <a:t>прекъсвания</a:t>
            </a:r>
            <a:r>
              <a:rPr lang="ru-RU" sz="2400" dirty="0">
                <a:solidFill>
                  <a:srgbClr val="FF9900"/>
                </a:solidFill>
              </a:rPr>
              <a:t>, часовник за </a:t>
            </a:r>
            <a:r>
              <a:rPr lang="ru-RU" sz="2400" dirty="0" err="1">
                <a:solidFill>
                  <a:srgbClr val="FF9900"/>
                </a:solidFill>
              </a:rPr>
              <a:t>реално</a:t>
            </a:r>
            <a:r>
              <a:rPr lang="ru-RU" sz="2400" dirty="0">
                <a:solidFill>
                  <a:srgbClr val="FF9900"/>
                </a:solidFill>
              </a:rPr>
              <a:t> време-RTC, системния таймер с програмируеми </a:t>
            </a:r>
            <a:r>
              <a:rPr lang="ru-RU" sz="2400" dirty="0" err="1">
                <a:solidFill>
                  <a:srgbClr val="FF9900"/>
                </a:solidFill>
              </a:rPr>
              <a:t>интервали</a:t>
            </a:r>
            <a:r>
              <a:rPr lang="ru-RU" sz="2400" dirty="0">
                <a:solidFill>
                  <a:srgbClr val="FF9900"/>
                </a:solidFill>
              </a:rPr>
              <a:t>, който прави </a:t>
            </a:r>
            <a:r>
              <a:rPr lang="ru-RU" sz="2400" dirty="0" err="1">
                <a:solidFill>
                  <a:srgbClr val="FF9900"/>
                </a:solidFill>
              </a:rPr>
              <a:t>опресняване</a:t>
            </a:r>
            <a:r>
              <a:rPr lang="ru-RU" sz="2400" dirty="0">
                <a:solidFill>
                  <a:srgbClr val="FF9900"/>
                </a:solidFill>
              </a:rPr>
              <a:t> на DRAM паметта, </a:t>
            </a:r>
            <a:r>
              <a:rPr lang="ru-RU" sz="2400" dirty="0" err="1">
                <a:solidFill>
                  <a:srgbClr val="FF9900"/>
                </a:solidFill>
              </a:rPr>
              <a:t>контролери</a:t>
            </a:r>
            <a:r>
              <a:rPr lang="ru-RU" sz="2400" dirty="0">
                <a:solidFill>
                  <a:srgbClr val="FF9900"/>
                </a:solidFill>
              </a:rPr>
              <a:t> за твърди дискове, CD, DVD устройства.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849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1002010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87235"/>
            <a:ext cx="7043162" cy="4979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В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Памет - </a:t>
            </a:r>
            <a:r>
              <a:rPr lang="ru-RU" sz="2400" dirty="0">
                <a:solidFill>
                  <a:srgbClr val="FF9900"/>
                </a:solidFill>
              </a:rPr>
              <a:t>DRAM паметта при по-старите компютри е под формата на малки </a:t>
            </a:r>
            <a:r>
              <a:rPr lang="ru-RU" sz="2400" dirty="0" err="1">
                <a:solidFill>
                  <a:srgbClr val="FF9900"/>
                </a:solidFill>
              </a:rPr>
              <a:t>чипове</a:t>
            </a:r>
            <a:r>
              <a:rPr lang="ru-RU" sz="2400" dirty="0">
                <a:solidFill>
                  <a:srgbClr val="FF9900"/>
                </a:solidFill>
              </a:rPr>
              <a:t>, подредени в </a:t>
            </a:r>
            <a:r>
              <a:rPr lang="ru-RU" sz="2400" dirty="0" err="1">
                <a:solidFill>
                  <a:srgbClr val="FF9900"/>
                </a:solidFill>
              </a:rPr>
              <a:t>редици</a:t>
            </a:r>
            <a:r>
              <a:rPr lang="ru-RU" sz="2400" dirty="0">
                <a:solidFill>
                  <a:srgbClr val="FF9900"/>
                </a:solidFill>
              </a:rPr>
              <a:t> и </a:t>
            </a:r>
            <a:r>
              <a:rPr lang="ru-RU" sz="2400" dirty="0" err="1">
                <a:solidFill>
                  <a:srgbClr val="FF9900"/>
                </a:solidFill>
              </a:rPr>
              <a:t>поставени</a:t>
            </a:r>
            <a:r>
              <a:rPr lang="ru-RU" sz="2400" dirty="0">
                <a:solidFill>
                  <a:srgbClr val="FF9900"/>
                </a:solidFill>
              </a:rPr>
              <a:t> в </a:t>
            </a:r>
            <a:r>
              <a:rPr lang="ru-RU" sz="2400" dirty="0" err="1">
                <a:solidFill>
                  <a:srgbClr val="FF9900"/>
                </a:solidFill>
              </a:rPr>
              <a:t>цокли</a:t>
            </a:r>
            <a:r>
              <a:rPr lang="ru-RU" sz="2400" dirty="0">
                <a:solidFill>
                  <a:srgbClr val="FF9900"/>
                </a:solidFill>
              </a:rPr>
              <a:t> тип DIP. При следващите модели паметта е под формата на SIMM или DIMM </a:t>
            </a:r>
          </a:p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Г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Памет </a:t>
            </a:r>
            <a:r>
              <a:rPr lang="ru-RU" sz="2400" dirty="0">
                <a:solidFill>
                  <a:srgbClr val="FF9900"/>
                </a:solidFill>
              </a:rPr>
              <a:t>ROM-BIOS. BIOS е </a:t>
            </a:r>
            <a:r>
              <a:rPr lang="ru-RU" sz="2400" dirty="0" err="1">
                <a:solidFill>
                  <a:srgbClr val="FF9900"/>
                </a:solidFill>
              </a:rPr>
              <a:t>софтуерът</a:t>
            </a:r>
            <a:r>
              <a:rPr lang="ru-RU" sz="2400" dirty="0">
                <a:solidFill>
                  <a:srgbClr val="FF9900"/>
                </a:solidFill>
              </a:rPr>
              <a:t>, който е записан на един ROM чип, </a:t>
            </a:r>
            <a:r>
              <a:rPr lang="ru-RU" sz="2400" dirty="0" err="1">
                <a:solidFill>
                  <a:srgbClr val="FF9900"/>
                </a:solidFill>
              </a:rPr>
              <a:t>поставен</a:t>
            </a:r>
            <a:r>
              <a:rPr lang="ru-RU" sz="2400" dirty="0">
                <a:solidFill>
                  <a:srgbClr val="FF9900"/>
                </a:solidFill>
              </a:rPr>
              <a:t> на дънната платка и </a:t>
            </a:r>
            <a:r>
              <a:rPr lang="ru-RU" sz="2400" dirty="0" err="1">
                <a:solidFill>
                  <a:srgbClr val="FF9900"/>
                </a:solidFill>
              </a:rPr>
              <a:t>поемащ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управлението</a:t>
            </a:r>
            <a:r>
              <a:rPr lang="ru-RU" sz="2400" dirty="0">
                <a:solidFill>
                  <a:srgbClr val="FF9900"/>
                </a:solidFill>
              </a:rPr>
              <a:t> на връзката между </a:t>
            </a:r>
            <a:r>
              <a:rPr lang="ru-RU" sz="2400" dirty="0" err="1">
                <a:solidFill>
                  <a:srgbClr val="FF9900"/>
                </a:solidFill>
              </a:rPr>
              <a:t>апаратната</a:t>
            </a:r>
            <a:r>
              <a:rPr lang="ru-RU" sz="2400" dirty="0">
                <a:solidFill>
                  <a:srgbClr val="FF9900"/>
                </a:solidFill>
              </a:rPr>
              <a:t> част и операционната система на компютъра.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441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18883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78923"/>
            <a:ext cx="6344892" cy="5145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Д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Слотове </a:t>
            </a:r>
            <a:r>
              <a:rPr lang="ru-RU" sz="2400" dirty="0">
                <a:solidFill>
                  <a:srgbClr val="FF9900"/>
                </a:solidFill>
              </a:rPr>
              <a:t>за разширение – те </a:t>
            </a:r>
            <a:r>
              <a:rPr lang="ru-RU" sz="2400" dirty="0" err="1">
                <a:solidFill>
                  <a:srgbClr val="FF9900"/>
                </a:solidFill>
              </a:rPr>
              <a:t>представляват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дълги</a:t>
            </a:r>
            <a:r>
              <a:rPr lang="ru-RU" sz="2400" dirty="0">
                <a:solidFill>
                  <a:srgbClr val="FF9900"/>
                </a:solidFill>
              </a:rPr>
              <a:t> и тесни електрически </a:t>
            </a:r>
            <a:r>
              <a:rPr lang="ru-RU" sz="2400" dirty="0" err="1">
                <a:solidFill>
                  <a:srgbClr val="FF9900"/>
                </a:solidFill>
              </a:rPr>
              <a:t>съединители</a:t>
            </a:r>
            <a:r>
              <a:rPr lang="ru-RU" sz="2400" dirty="0">
                <a:solidFill>
                  <a:srgbClr val="FF9900"/>
                </a:solidFill>
              </a:rPr>
              <a:t>, които са </a:t>
            </a:r>
            <a:r>
              <a:rPr lang="ru-RU" sz="2400" dirty="0" err="1">
                <a:solidFill>
                  <a:srgbClr val="FF9900"/>
                </a:solidFill>
              </a:rPr>
              <a:t>продължение</a:t>
            </a:r>
            <a:r>
              <a:rPr lang="ru-RU" sz="2400" dirty="0">
                <a:solidFill>
                  <a:srgbClr val="FF9900"/>
                </a:solidFill>
              </a:rPr>
              <a:t> на съответните разширителни шини. В </a:t>
            </a:r>
            <a:r>
              <a:rPr lang="ru-RU" sz="2400" dirty="0" err="1">
                <a:solidFill>
                  <a:srgbClr val="FF9900"/>
                </a:solidFill>
              </a:rPr>
              <a:t>слотовете</a:t>
            </a:r>
            <a:r>
              <a:rPr lang="ru-RU" sz="2400" dirty="0">
                <a:solidFill>
                  <a:srgbClr val="FF9900"/>
                </a:solidFill>
              </a:rPr>
              <a:t> за разширение се поставят разширителни карти, които се наричат </a:t>
            </a:r>
            <a:r>
              <a:rPr lang="ru-RU" sz="2400" dirty="0" err="1">
                <a:solidFill>
                  <a:srgbClr val="FF9900"/>
                </a:solidFill>
              </a:rPr>
              <a:t>адаптери</a:t>
            </a:r>
            <a:r>
              <a:rPr lang="ru-RU" sz="2400" dirty="0">
                <a:solidFill>
                  <a:srgbClr val="FF9900"/>
                </a:solidFill>
              </a:rPr>
              <a:t> или </a:t>
            </a:r>
            <a:r>
              <a:rPr lang="ru-RU" sz="2400" dirty="0" err="1">
                <a:solidFill>
                  <a:srgbClr val="FF9900"/>
                </a:solidFill>
              </a:rPr>
              <a:t>контролери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94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103526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04109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Е</a:t>
            </a:r>
            <a:r>
              <a:rPr lang="en-US" sz="2400" dirty="0" smtClean="0">
                <a:solidFill>
                  <a:srgbClr val="FF9900"/>
                </a:solidFill>
              </a:rPr>
              <a:t>)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Адаптерни платки – това са платки за разширение. Те са допълнителни платки, които се инсталират в </a:t>
            </a:r>
            <a:r>
              <a:rPr lang="ru-RU" sz="2400" dirty="0" err="1">
                <a:solidFill>
                  <a:srgbClr val="FF9900"/>
                </a:solidFill>
              </a:rPr>
              <a:t>специално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конструирано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циклиразширителни</a:t>
            </a:r>
            <a:r>
              <a:rPr lang="ru-RU" sz="2400" dirty="0">
                <a:solidFill>
                  <a:srgbClr val="FF9900"/>
                </a:solidFill>
              </a:rPr>
              <a:t> слотове върху дънната платка. </a:t>
            </a:r>
            <a:r>
              <a:rPr lang="ru-RU" sz="2400" dirty="0" err="1">
                <a:solidFill>
                  <a:srgbClr val="FF9900"/>
                </a:solidFill>
              </a:rPr>
              <a:t>Архитектурата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адаптерните</a:t>
            </a:r>
            <a:r>
              <a:rPr lang="ru-RU" sz="2400" dirty="0">
                <a:solidFill>
                  <a:srgbClr val="FF9900"/>
                </a:solidFill>
              </a:rPr>
              <a:t> платки се определя от </a:t>
            </a:r>
            <a:r>
              <a:rPr lang="ru-RU" sz="2400" dirty="0" err="1">
                <a:solidFill>
                  <a:srgbClr val="FF9900"/>
                </a:solidFill>
              </a:rPr>
              <a:t>архитектурата</a:t>
            </a:r>
            <a:r>
              <a:rPr lang="ru-RU" sz="2400" dirty="0">
                <a:solidFill>
                  <a:srgbClr val="FF9900"/>
                </a:solidFill>
              </a:rPr>
              <a:t> на компютъра. 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933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1002010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828801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Ж</a:t>
            </a:r>
            <a:r>
              <a:rPr lang="en-US" sz="2400" dirty="0" smtClean="0">
                <a:solidFill>
                  <a:srgbClr val="FF9900"/>
                </a:solidFill>
              </a:rPr>
              <a:t>)</a:t>
            </a:r>
            <a:r>
              <a:rPr lang="ru-RU" sz="2400" dirty="0" smtClean="0">
                <a:solidFill>
                  <a:srgbClr val="FF9900"/>
                </a:solidFill>
              </a:rPr>
              <a:t> CMOS-RAM </a:t>
            </a:r>
            <a:r>
              <a:rPr lang="ru-RU" sz="2400" dirty="0">
                <a:solidFill>
                  <a:srgbClr val="FF9900"/>
                </a:solidFill>
              </a:rPr>
              <a:t>с </a:t>
            </a:r>
            <a:r>
              <a:rPr lang="ru-RU" sz="2400" dirty="0" err="1">
                <a:solidFill>
                  <a:srgbClr val="FF9900"/>
                </a:solidFill>
              </a:rPr>
              <a:t>батерия</a:t>
            </a:r>
            <a:r>
              <a:rPr lang="ru-RU" sz="2400" dirty="0">
                <a:solidFill>
                  <a:srgbClr val="FF9900"/>
                </a:solidFill>
              </a:rPr>
              <a:t> и часовник за </a:t>
            </a:r>
            <a:r>
              <a:rPr lang="ru-RU" sz="2400" dirty="0" err="1">
                <a:solidFill>
                  <a:srgbClr val="FF9900"/>
                </a:solidFill>
              </a:rPr>
              <a:t>реално</a:t>
            </a:r>
            <a:r>
              <a:rPr lang="ru-RU" sz="2400" dirty="0">
                <a:solidFill>
                  <a:srgbClr val="FF9900"/>
                </a:solidFill>
              </a:rPr>
              <a:t> време. Тук се </a:t>
            </a:r>
            <a:r>
              <a:rPr lang="ru-RU" sz="2400" dirty="0" err="1">
                <a:solidFill>
                  <a:srgbClr val="FF9900"/>
                </a:solidFill>
              </a:rPr>
              <a:t>задават</a:t>
            </a:r>
            <a:r>
              <a:rPr lang="ru-RU" sz="2400" dirty="0">
                <a:solidFill>
                  <a:srgbClr val="FF9900"/>
                </a:solidFill>
              </a:rPr>
              <a:t> дата, час, типа на </a:t>
            </a:r>
            <a:r>
              <a:rPr lang="ru-RU" sz="2400" dirty="0" err="1">
                <a:solidFill>
                  <a:srgbClr val="FF9900"/>
                </a:solidFill>
              </a:rPr>
              <a:t>дисковите</a:t>
            </a:r>
            <a:r>
              <a:rPr lang="ru-RU" sz="2400" dirty="0">
                <a:solidFill>
                  <a:srgbClr val="FF9900"/>
                </a:solidFill>
              </a:rPr>
              <a:t> устройства и други важни </a:t>
            </a:r>
            <a:r>
              <a:rPr lang="ru-RU" sz="2400" dirty="0" err="1">
                <a:solidFill>
                  <a:srgbClr val="FF9900"/>
                </a:solidFill>
              </a:rPr>
              <a:t>параметри.Данните</a:t>
            </a:r>
            <a:r>
              <a:rPr lang="ru-RU" sz="2400" dirty="0">
                <a:solidFill>
                  <a:srgbClr val="FF9900"/>
                </a:solidFill>
              </a:rPr>
              <a:t> се запомнят и след изключване на захранването. За </a:t>
            </a:r>
            <a:r>
              <a:rPr lang="ru-RU" sz="2400" dirty="0" err="1">
                <a:solidFill>
                  <a:srgbClr val="FF9900"/>
                </a:solidFill>
              </a:rPr>
              <a:t>запазване</a:t>
            </a:r>
            <a:r>
              <a:rPr lang="ru-RU" sz="2400" dirty="0">
                <a:solidFill>
                  <a:srgbClr val="FF9900"/>
                </a:solidFill>
              </a:rPr>
              <a:t> на данните в тази памет е необходимо допълнително захранване на чипа, за което се използва </a:t>
            </a:r>
            <a:r>
              <a:rPr lang="ru-RU" sz="2400" dirty="0" err="1">
                <a:solidFill>
                  <a:srgbClr val="FF9900"/>
                </a:solidFill>
              </a:rPr>
              <a:t>акумулатор</a:t>
            </a:r>
            <a:r>
              <a:rPr lang="ru-RU" sz="2400" dirty="0">
                <a:solidFill>
                  <a:srgbClr val="FF9900"/>
                </a:solidFill>
              </a:rPr>
              <a:t> или </a:t>
            </a:r>
            <a:r>
              <a:rPr lang="ru-RU" sz="2400" dirty="0" err="1">
                <a:solidFill>
                  <a:srgbClr val="FF9900"/>
                </a:solidFill>
              </a:rPr>
              <a:t>литиева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батерия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439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52133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98674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В новите </a:t>
            </a:r>
            <a:r>
              <a:rPr lang="ru-RU" sz="2400" dirty="0" err="1">
                <a:solidFill>
                  <a:srgbClr val="FF9900"/>
                </a:solidFill>
              </a:rPr>
              <a:t>дъни</a:t>
            </a:r>
            <a:r>
              <a:rPr lang="ru-RU" sz="2400" dirty="0">
                <a:solidFill>
                  <a:srgbClr val="FF9900"/>
                </a:solidFill>
              </a:rPr>
              <a:t> платки CMOSRAM паметта и </a:t>
            </a:r>
            <a:r>
              <a:rPr lang="ru-RU" sz="2400" dirty="0" err="1">
                <a:solidFill>
                  <a:srgbClr val="FF9900"/>
                </a:solidFill>
              </a:rPr>
              <a:t>часовникът</a:t>
            </a:r>
            <a:r>
              <a:rPr lang="ru-RU" sz="2400" dirty="0">
                <a:solidFill>
                  <a:srgbClr val="FF9900"/>
                </a:solidFill>
              </a:rPr>
              <a:t> са вградени в чипсета, а </a:t>
            </a:r>
            <a:r>
              <a:rPr lang="ru-RU" sz="2400" dirty="0" err="1">
                <a:solidFill>
                  <a:srgbClr val="FF9900"/>
                </a:solidFill>
              </a:rPr>
              <a:t>батерията</a:t>
            </a:r>
            <a:r>
              <a:rPr lang="ru-RU" sz="2400" dirty="0">
                <a:solidFill>
                  <a:srgbClr val="FF9900"/>
                </a:solidFill>
              </a:rPr>
              <a:t> е на дънната платка. CMOS-</a:t>
            </a:r>
            <a:r>
              <a:rPr lang="ru-RU" sz="2400" dirty="0" err="1">
                <a:solidFill>
                  <a:srgbClr val="FF9900"/>
                </a:solidFill>
              </a:rPr>
              <a:t>Setup</a:t>
            </a:r>
            <a:r>
              <a:rPr lang="ru-RU" sz="2400" dirty="0">
                <a:solidFill>
                  <a:srgbClr val="FF9900"/>
                </a:solidFill>
              </a:rPr>
              <a:t> позволява да се сложи защита както на цялата система, така и на достъпа до </a:t>
            </a:r>
            <a:r>
              <a:rPr lang="ru-RU" sz="2400" dirty="0" err="1">
                <a:solidFill>
                  <a:srgbClr val="FF9900"/>
                </a:solidFill>
              </a:rPr>
              <a:t>нейните</a:t>
            </a:r>
            <a:r>
              <a:rPr lang="ru-RU" sz="2400" dirty="0">
                <a:solidFill>
                  <a:srgbClr val="FF9900"/>
                </a:solidFill>
              </a:rPr>
              <a:t> настройки.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484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68759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845426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solidFill>
                  <a:srgbClr val="FF9900"/>
                </a:solidFill>
              </a:rPr>
              <a:t>З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Интерфейс </a:t>
            </a:r>
            <a:r>
              <a:rPr lang="ru-RU" sz="2400" dirty="0">
                <a:solidFill>
                  <a:srgbClr val="FF9900"/>
                </a:solidFill>
              </a:rPr>
              <a:t>за външни запомнящи устройства. Това са </a:t>
            </a:r>
            <a:r>
              <a:rPr lang="ru-RU" sz="2400" dirty="0" err="1">
                <a:solidFill>
                  <a:srgbClr val="FF9900"/>
                </a:solidFill>
              </a:rPr>
              <a:t>флопидисковите</a:t>
            </a:r>
            <a:r>
              <a:rPr lang="ru-RU" sz="2400" dirty="0">
                <a:solidFill>
                  <a:srgbClr val="FF9900"/>
                </a:solidFill>
              </a:rPr>
              <a:t> устройства, </a:t>
            </a:r>
            <a:r>
              <a:rPr lang="ru-RU" sz="2400" dirty="0" err="1">
                <a:solidFill>
                  <a:srgbClr val="FF9900"/>
                </a:solidFill>
              </a:rPr>
              <a:t>твърдите</a:t>
            </a:r>
            <a:r>
              <a:rPr lang="ru-RU" sz="2400" dirty="0">
                <a:solidFill>
                  <a:srgbClr val="FF9900"/>
                </a:solidFill>
              </a:rPr>
              <a:t> дискове, CD, DVD. </a:t>
            </a:r>
            <a:r>
              <a:rPr lang="ru-RU" sz="2400" dirty="0" err="1">
                <a:solidFill>
                  <a:srgbClr val="FF9900"/>
                </a:solidFill>
              </a:rPr>
              <a:t>Интерфейсът</a:t>
            </a:r>
            <a:r>
              <a:rPr lang="ru-RU" sz="2400" dirty="0">
                <a:solidFill>
                  <a:srgbClr val="FF9900"/>
                </a:solidFill>
              </a:rPr>
              <a:t> за </a:t>
            </a:r>
            <a:r>
              <a:rPr lang="ru-RU" sz="2400" dirty="0" err="1">
                <a:solidFill>
                  <a:srgbClr val="FF9900"/>
                </a:solidFill>
              </a:rPr>
              <a:t>съхраняващите</a:t>
            </a:r>
            <a:r>
              <a:rPr lang="ru-RU" sz="2400" dirty="0">
                <a:solidFill>
                  <a:srgbClr val="FF9900"/>
                </a:solidFill>
              </a:rPr>
              <a:t> устройства </a:t>
            </a:r>
            <a:r>
              <a:rPr lang="ru-RU" sz="2400" dirty="0" err="1">
                <a:solidFill>
                  <a:srgbClr val="FF9900"/>
                </a:solidFill>
              </a:rPr>
              <a:t>свързва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запомнящите</a:t>
            </a:r>
            <a:r>
              <a:rPr lang="ru-RU" sz="2400" dirty="0">
                <a:solidFill>
                  <a:srgbClr val="FF9900"/>
                </a:solidFill>
              </a:rPr>
              <a:t> устройства с техните </a:t>
            </a:r>
            <a:r>
              <a:rPr lang="ru-RU" sz="2400" dirty="0" err="1">
                <a:solidFill>
                  <a:srgbClr val="FF9900"/>
                </a:solidFill>
              </a:rPr>
              <a:t>контролери</a:t>
            </a:r>
            <a:r>
              <a:rPr lang="ru-RU" sz="2400" dirty="0">
                <a:solidFill>
                  <a:srgbClr val="FF9900"/>
                </a:solidFill>
              </a:rPr>
              <a:t>(вградени в чипсета при новите системи) и останалата част от системата.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290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27195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96042"/>
            <a:ext cx="7383983" cy="569421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bg-BG" sz="2600" i="1" dirty="0" smtClean="0">
                <a:solidFill>
                  <a:srgbClr val="FF9900"/>
                </a:solidFill>
              </a:rPr>
              <a:t>И</a:t>
            </a:r>
            <a:r>
              <a:rPr lang="en-US" sz="2600" i="1" dirty="0" smtClean="0">
                <a:solidFill>
                  <a:srgbClr val="FF9900"/>
                </a:solidFill>
              </a:rPr>
              <a:t>) </a:t>
            </a:r>
            <a:r>
              <a:rPr lang="ru-RU" sz="2600" i="1" dirty="0" smtClean="0">
                <a:solidFill>
                  <a:srgbClr val="FF9900"/>
                </a:solidFill>
              </a:rPr>
              <a:t>Конектори </a:t>
            </a:r>
            <a:r>
              <a:rPr lang="ru-RU" sz="2600" i="1" dirty="0">
                <a:solidFill>
                  <a:srgbClr val="FF9900"/>
                </a:solidFill>
              </a:rPr>
              <a:t>за входно-</a:t>
            </a:r>
            <a:r>
              <a:rPr lang="ru-RU" sz="2600" i="1" dirty="0" err="1">
                <a:solidFill>
                  <a:srgbClr val="FF9900"/>
                </a:solidFill>
              </a:rPr>
              <a:t>изходни</a:t>
            </a:r>
            <a:r>
              <a:rPr lang="ru-RU" sz="2600" i="1" dirty="0">
                <a:solidFill>
                  <a:srgbClr val="FF9900"/>
                </a:solidFill>
              </a:rPr>
              <a:t> устройства : </a:t>
            </a:r>
          </a:p>
          <a:p>
            <a:pPr marL="0" indent="0">
              <a:buNone/>
            </a:pPr>
            <a:r>
              <a:rPr lang="ru-RU" sz="2600" dirty="0" smtClean="0">
                <a:solidFill>
                  <a:srgbClr val="FF9900"/>
                </a:solidFill>
              </a:rPr>
              <a:t>- D </a:t>
            </a:r>
            <a:r>
              <a:rPr lang="ru-RU" sz="2600" dirty="0">
                <a:solidFill>
                  <a:srgbClr val="FF9900"/>
                </a:solidFill>
              </a:rPr>
              <a:t>– образен – </a:t>
            </a:r>
            <a:r>
              <a:rPr lang="ru-RU" sz="2600" dirty="0" err="1">
                <a:solidFill>
                  <a:srgbClr val="FF9900"/>
                </a:solidFill>
              </a:rPr>
              <a:t>мъжки</a:t>
            </a:r>
            <a:r>
              <a:rPr lang="ru-RU" sz="2600" dirty="0">
                <a:solidFill>
                  <a:srgbClr val="FF9900"/>
                </a:solidFill>
              </a:rPr>
              <a:t> и </a:t>
            </a:r>
            <a:r>
              <a:rPr lang="ru-RU" sz="2600" dirty="0" err="1">
                <a:solidFill>
                  <a:srgbClr val="FF9900"/>
                </a:solidFill>
              </a:rPr>
              <a:t>женски</a:t>
            </a:r>
            <a:r>
              <a:rPr lang="ru-RU" sz="2600" dirty="0">
                <a:solidFill>
                  <a:srgbClr val="FF9900"/>
                </a:solidFill>
              </a:rPr>
              <a:t> с различен брой </a:t>
            </a:r>
            <a:r>
              <a:rPr lang="ru-RU" sz="2600" dirty="0" err="1">
                <a:solidFill>
                  <a:srgbClr val="FF9900"/>
                </a:solidFill>
              </a:rPr>
              <a:t>пинове</a:t>
            </a:r>
            <a:r>
              <a:rPr lang="ru-RU" sz="2600" dirty="0">
                <a:solidFill>
                  <a:srgbClr val="FF9900"/>
                </a:solidFill>
              </a:rPr>
              <a:t> 15 и 25. Използва се при </a:t>
            </a:r>
            <a:r>
              <a:rPr lang="ru-RU" sz="2600" dirty="0" err="1">
                <a:solidFill>
                  <a:srgbClr val="FF9900"/>
                </a:solidFill>
              </a:rPr>
              <a:t>серийни</a:t>
            </a:r>
            <a:r>
              <a:rPr lang="ru-RU" sz="2600" dirty="0">
                <a:solidFill>
                  <a:srgbClr val="FF9900"/>
                </a:solidFill>
              </a:rPr>
              <a:t> (COM1 иCOM2) и </a:t>
            </a:r>
            <a:r>
              <a:rPr lang="ru-RU" sz="2600" dirty="0" err="1">
                <a:solidFill>
                  <a:srgbClr val="FF9900"/>
                </a:solidFill>
              </a:rPr>
              <a:t>паралелни</a:t>
            </a:r>
            <a:r>
              <a:rPr lang="ru-RU" sz="2600" dirty="0">
                <a:solidFill>
                  <a:srgbClr val="FF9900"/>
                </a:solidFill>
              </a:rPr>
              <a:t> портове (LPT1) </a:t>
            </a:r>
          </a:p>
          <a:p>
            <a:pPr marL="0" indent="0">
              <a:buNone/>
            </a:pPr>
            <a:r>
              <a:rPr lang="ru-RU" sz="2600" dirty="0">
                <a:solidFill>
                  <a:srgbClr val="FF9900"/>
                </a:solidFill>
              </a:rPr>
              <a:t>-	USB конектор – </a:t>
            </a:r>
            <a:r>
              <a:rPr lang="ru-RU" sz="2600" dirty="0" err="1">
                <a:solidFill>
                  <a:srgbClr val="FF9900"/>
                </a:solidFill>
              </a:rPr>
              <a:t>правоъгълен</a:t>
            </a:r>
            <a:r>
              <a:rPr lang="ru-RU" sz="2600" dirty="0">
                <a:solidFill>
                  <a:srgbClr val="FF9900"/>
                </a:solidFill>
              </a:rPr>
              <a:t> конектор с език </a:t>
            </a:r>
            <a:r>
              <a:rPr lang="ru-RU" sz="2600" dirty="0" err="1">
                <a:solidFill>
                  <a:srgbClr val="FF9900"/>
                </a:solidFill>
              </a:rPr>
              <a:t>вътре</a:t>
            </a:r>
            <a:r>
              <a:rPr lang="ru-RU" sz="2600" dirty="0">
                <a:solidFill>
                  <a:srgbClr val="FF9900"/>
                </a:solidFill>
              </a:rPr>
              <a:t> в него </a:t>
            </a:r>
          </a:p>
          <a:p>
            <a:pPr marL="0" indent="0">
              <a:buNone/>
            </a:pPr>
            <a:r>
              <a:rPr lang="ru-RU" sz="2600" dirty="0" smtClean="0">
                <a:solidFill>
                  <a:srgbClr val="FF9900"/>
                </a:solidFill>
              </a:rPr>
              <a:t>- Mini </a:t>
            </a:r>
            <a:r>
              <a:rPr lang="ru-RU" sz="2600" dirty="0">
                <a:solidFill>
                  <a:srgbClr val="FF9900"/>
                </a:solidFill>
              </a:rPr>
              <a:t>DIN конектор тип PS/2 – за свързване на клавиатура и мишка </a:t>
            </a:r>
          </a:p>
          <a:p>
            <a:pPr marL="0" indent="0">
              <a:buNone/>
            </a:pPr>
            <a:r>
              <a:rPr lang="ru-RU" sz="2600" dirty="0" smtClean="0">
                <a:solidFill>
                  <a:srgbClr val="FF9900"/>
                </a:solidFill>
              </a:rPr>
              <a:t>- RJ45 </a:t>
            </a:r>
            <a:r>
              <a:rPr lang="ru-RU" sz="2600" dirty="0">
                <a:solidFill>
                  <a:srgbClr val="FF9900"/>
                </a:solidFill>
              </a:rPr>
              <a:t>– за свързване на UTP кабел към </a:t>
            </a:r>
            <a:r>
              <a:rPr lang="ru-RU" sz="2600" dirty="0" err="1">
                <a:solidFill>
                  <a:srgbClr val="FF9900"/>
                </a:solidFill>
              </a:rPr>
              <a:t>мрежовата</a:t>
            </a:r>
            <a:r>
              <a:rPr lang="ru-RU" sz="2600" dirty="0">
                <a:solidFill>
                  <a:srgbClr val="FF9900"/>
                </a:solidFill>
              </a:rPr>
              <a:t> карта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2183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93697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04108"/>
            <a:ext cx="6344892" cy="5153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Й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Тактов генератор - </a:t>
            </a:r>
            <a:r>
              <a:rPr lang="ru-RU" sz="2400" dirty="0">
                <a:solidFill>
                  <a:srgbClr val="FF9900"/>
                </a:solidFill>
              </a:rPr>
              <a:t>това е </a:t>
            </a:r>
            <a:r>
              <a:rPr lang="ru-RU" sz="2400" dirty="0" err="1">
                <a:solidFill>
                  <a:srgbClr val="FF9900"/>
                </a:solidFill>
              </a:rPr>
              <a:t>кварцов</a:t>
            </a:r>
            <a:r>
              <a:rPr lang="ru-RU" sz="2400" dirty="0">
                <a:solidFill>
                  <a:srgbClr val="FF9900"/>
                </a:solidFill>
              </a:rPr>
              <a:t> генератор, който при </a:t>
            </a:r>
            <a:r>
              <a:rPr lang="ru-RU" sz="2400" dirty="0" err="1">
                <a:solidFill>
                  <a:srgbClr val="FF9900"/>
                </a:solidFill>
              </a:rPr>
              <a:t>включване</a:t>
            </a:r>
            <a:r>
              <a:rPr lang="ru-RU" sz="2400" dirty="0">
                <a:solidFill>
                  <a:srgbClr val="FF9900"/>
                </a:solidFill>
              </a:rPr>
              <a:t> на захранването започва да </a:t>
            </a:r>
            <a:r>
              <a:rPr lang="ru-RU" sz="2400" dirty="0" err="1">
                <a:solidFill>
                  <a:srgbClr val="FF9900"/>
                </a:solidFill>
              </a:rPr>
              <a:t>генерира</a:t>
            </a:r>
            <a:r>
              <a:rPr lang="ru-RU" sz="2400" dirty="0">
                <a:solidFill>
                  <a:srgbClr val="FF9900"/>
                </a:solidFill>
              </a:rPr>
              <a:t> основна честота 14.31814 </a:t>
            </a:r>
            <a:r>
              <a:rPr lang="ru-RU" sz="2400" dirty="0" err="1">
                <a:solidFill>
                  <a:srgbClr val="FF9900"/>
                </a:solidFill>
              </a:rPr>
              <a:t>MHz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</a:p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К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Конектор </a:t>
            </a:r>
            <a:r>
              <a:rPr lang="ru-RU" sz="2400" dirty="0">
                <a:solidFill>
                  <a:srgbClr val="FF9900"/>
                </a:solidFill>
              </a:rPr>
              <a:t>за захранващия блок. </a:t>
            </a:r>
            <a:r>
              <a:rPr lang="ru-RU" sz="2400" dirty="0" err="1">
                <a:solidFill>
                  <a:srgbClr val="FF9900"/>
                </a:solidFill>
              </a:rPr>
              <a:t>Захранващият</a:t>
            </a:r>
            <a:r>
              <a:rPr lang="ru-RU" sz="2400" dirty="0">
                <a:solidFill>
                  <a:srgbClr val="FF9900"/>
                </a:solidFill>
              </a:rPr>
              <a:t> блок се </a:t>
            </a:r>
            <a:r>
              <a:rPr lang="ru-RU" sz="2400" dirty="0" err="1">
                <a:solidFill>
                  <a:srgbClr val="FF9900"/>
                </a:solidFill>
              </a:rPr>
              <a:t>свързва</a:t>
            </a:r>
            <a:r>
              <a:rPr lang="ru-RU" sz="2400" dirty="0">
                <a:solidFill>
                  <a:srgbClr val="FF9900"/>
                </a:solidFill>
              </a:rPr>
              <a:t> към </a:t>
            </a:r>
            <a:r>
              <a:rPr lang="ru-RU" sz="2400" dirty="0" err="1">
                <a:solidFill>
                  <a:srgbClr val="FF9900"/>
                </a:solidFill>
              </a:rPr>
              <a:t>електрическата</a:t>
            </a:r>
            <a:r>
              <a:rPr lang="ru-RU" sz="2400" dirty="0">
                <a:solidFill>
                  <a:srgbClr val="FF9900"/>
                </a:solidFill>
              </a:rPr>
              <a:t> мрежа от 220 V, за да осигури </a:t>
            </a:r>
            <a:r>
              <a:rPr lang="ru-RU" sz="2400" dirty="0" err="1">
                <a:solidFill>
                  <a:srgbClr val="FF9900"/>
                </a:solidFill>
              </a:rPr>
              <a:t>необходимото</a:t>
            </a:r>
            <a:r>
              <a:rPr lang="ru-RU" sz="2400" dirty="0">
                <a:solidFill>
                  <a:srgbClr val="FF9900"/>
                </a:solidFill>
              </a:rPr>
              <a:t> напрежение. Има 2 вида захранващи блокове: AT и ATX.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50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52133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604357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Л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Вентилатори </a:t>
            </a:r>
            <a:r>
              <a:rPr lang="ru-RU" sz="2400" dirty="0">
                <a:solidFill>
                  <a:srgbClr val="FF9900"/>
                </a:solidFill>
              </a:rPr>
              <a:t>за </a:t>
            </a:r>
            <a:r>
              <a:rPr lang="ru-RU" sz="2400" dirty="0" smtClean="0">
                <a:solidFill>
                  <a:srgbClr val="FF9900"/>
                </a:solidFill>
              </a:rPr>
              <a:t>процесори. </a:t>
            </a:r>
            <a:r>
              <a:rPr lang="ru-RU" sz="2400" dirty="0">
                <a:solidFill>
                  <a:srgbClr val="FF9900"/>
                </a:solidFill>
              </a:rPr>
              <a:t>За всички процесори е необходимо активно </a:t>
            </a:r>
            <a:r>
              <a:rPr lang="ru-RU" sz="2400" dirty="0" err="1">
                <a:solidFill>
                  <a:srgbClr val="FF9900"/>
                </a:solidFill>
              </a:rPr>
              <a:t>охлаждане</a:t>
            </a:r>
            <a:r>
              <a:rPr lang="ru-RU" sz="2400" dirty="0">
                <a:solidFill>
                  <a:srgbClr val="FF9900"/>
                </a:solidFill>
              </a:rPr>
              <a:t>, което се осъществява от радиатор (</a:t>
            </a:r>
            <a:r>
              <a:rPr lang="ru-RU" sz="2400" dirty="0" err="1">
                <a:solidFill>
                  <a:srgbClr val="FF9900"/>
                </a:solidFill>
              </a:rPr>
              <a:t>алуминиев</a:t>
            </a:r>
            <a:r>
              <a:rPr lang="ru-RU" sz="2400" dirty="0">
                <a:solidFill>
                  <a:srgbClr val="FF9900"/>
                </a:solidFill>
              </a:rPr>
              <a:t>, </a:t>
            </a:r>
            <a:r>
              <a:rPr lang="ru-RU" sz="2400" dirty="0" err="1">
                <a:solidFill>
                  <a:srgbClr val="FF9900"/>
                </a:solidFill>
              </a:rPr>
              <a:t>меден</a:t>
            </a:r>
            <a:r>
              <a:rPr lang="ru-RU" sz="2400" dirty="0">
                <a:solidFill>
                  <a:srgbClr val="FF9900"/>
                </a:solidFill>
              </a:rPr>
              <a:t>) или </a:t>
            </a:r>
            <a:r>
              <a:rPr lang="ru-RU" sz="2400" dirty="0" err="1">
                <a:solidFill>
                  <a:srgbClr val="FF9900"/>
                </a:solidFill>
              </a:rPr>
              <a:t>вентилатор</a:t>
            </a:r>
            <a:r>
              <a:rPr lang="ru-RU" sz="2400" dirty="0">
                <a:solidFill>
                  <a:srgbClr val="FF9900"/>
                </a:solidFill>
              </a:rPr>
              <a:t>. Според дънната платка </a:t>
            </a:r>
            <a:r>
              <a:rPr lang="ru-RU" sz="2400" dirty="0" err="1">
                <a:solidFill>
                  <a:srgbClr val="FF9900"/>
                </a:solidFill>
              </a:rPr>
              <a:t>охладителите</a:t>
            </a:r>
            <a:r>
              <a:rPr lang="ru-RU" sz="2400" dirty="0">
                <a:solidFill>
                  <a:srgbClr val="FF9900"/>
                </a:solidFill>
              </a:rPr>
              <a:t> са </a:t>
            </a:r>
            <a:r>
              <a:rPr lang="ru-RU" sz="2400" dirty="0" smtClean="0">
                <a:solidFill>
                  <a:srgbClr val="FF9900"/>
                </a:solidFill>
              </a:rPr>
              <a:t>следните</a:t>
            </a:r>
            <a:r>
              <a:rPr lang="en-US" sz="2400" dirty="0" smtClean="0">
                <a:solidFill>
                  <a:srgbClr val="FF9900"/>
                </a:solidFill>
              </a:rPr>
              <a:t>: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</a:t>
            </a:r>
            <a:r>
              <a:rPr lang="en-US" sz="2400" dirty="0" smtClean="0">
                <a:solidFill>
                  <a:srgbClr val="FF9900"/>
                </a:solidFill>
              </a:rPr>
              <a:t>Slot </a:t>
            </a:r>
            <a:r>
              <a:rPr lang="en-US" sz="2400" dirty="0">
                <a:solidFill>
                  <a:srgbClr val="FF9900"/>
                </a:solidFill>
              </a:rPr>
              <a:t>1/a - Pentium II, Pentium II -Celeron, Pentium III Katmai, Athlon </a:t>
            </a:r>
            <a:r>
              <a:rPr lang="ru-RU" sz="2400" dirty="0">
                <a:solidFill>
                  <a:srgbClr val="FF9900"/>
                </a:solidFill>
              </a:rPr>
              <a:t>с К7 и К7-5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</a:t>
            </a:r>
            <a:r>
              <a:rPr lang="en-US" sz="2400" dirty="0" err="1" smtClean="0">
                <a:solidFill>
                  <a:srgbClr val="FF9900"/>
                </a:solidFill>
              </a:rPr>
              <a:t>Sosket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en-US" sz="2400" dirty="0">
                <a:solidFill>
                  <a:srgbClr val="FF9900"/>
                </a:solidFill>
              </a:rPr>
              <a:t>7, 370, A  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9900"/>
                </a:solidFill>
              </a:rPr>
              <a:t>-</a:t>
            </a:r>
            <a:r>
              <a:rPr lang="bg-BG" sz="2400" dirty="0" smtClean="0">
                <a:solidFill>
                  <a:srgbClr val="FF9900"/>
                </a:solidFill>
              </a:rPr>
              <a:t> </a:t>
            </a:r>
            <a:r>
              <a:rPr lang="en-US" sz="2400" dirty="0" err="1" smtClean="0">
                <a:solidFill>
                  <a:srgbClr val="FF9900"/>
                </a:solidFill>
              </a:rPr>
              <a:t>Sosket</a:t>
            </a:r>
            <a:r>
              <a:rPr lang="en-US" sz="2400" dirty="0" smtClean="0">
                <a:solidFill>
                  <a:srgbClr val="FF9900"/>
                </a:solidFill>
              </a:rPr>
              <a:t> </a:t>
            </a:r>
            <a:r>
              <a:rPr lang="en-US" sz="2400" dirty="0">
                <a:solidFill>
                  <a:srgbClr val="FF9900"/>
                </a:solidFill>
              </a:rPr>
              <a:t>423/478  </a:t>
            </a:r>
            <a:r>
              <a:rPr lang="ru-RU" sz="2400" dirty="0">
                <a:solidFill>
                  <a:srgbClr val="FF9900"/>
                </a:solidFill>
              </a:rPr>
              <a:t>за </a:t>
            </a:r>
            <a:r>
              <a:rPr lang="en-US" sz="2400" dirty="0">
                <a:solidFill>
                  <a:srgbClr val="FF9900"/>
                </a:solidFill>
              </a:rPr>
              <a:t>Pentium 4 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05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952133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978429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М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Схеми </a:t>
            </a:r>
            <a:r>
              <a:rPr lang="ru-RU" sz="2400" dirty="0">
                <a:solidFill>
                  <a:srgbClr val="FF9900"/>
                </a:solidFill>
              </a:rPr>
              <a:t>за следене на състоянието на системата</a:t>
            </a:r>
            <a:r>
              <a:rPr lang="ru-RU" sz="2400" dirty="0" smtClean="0">
                <a:solidFill>
                  <a:srgbClr val="FF9900"/>
                </a:solidFill>
              </a:rPr>
              <a:t>. </a:t>
            </a:r>
            <a:r>
              <a:rPr lang="ru-RU" sz="2400" dirty="0" err="1" smtClean="0">
                <a:solidFill>
                  <a:srgbClr val="FF9900"/>
                </a:solidFill>
              </a:rPr>
              <a:t>Предвидени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са за наблюдение на </a:t>
            </a:r>
            <a:r>
              <a:rPr lang="ru-RU" sz="2400" dirty="0" err="1">
                <a:solidFill>
                  <a:srgbClr val="FF9900"/>
                </a:solidFill>
              </a:rPr>
              <a:t>напреженията</a:t>
            </a:r>
            <a:r>
              <a:rPr lang="ru-RU" sz="2400" dirty="0">
                <a:solidFill>
                  <a:srgbClr val="FF9900"/>
                </a:solidFill>
              </a:rPr>
              <a:t>, контрол на </a:t>
            </a:r>
            <a:r>
              <a:rPr lang="ru-RU" sz="2400" dirty="0" err="1">
                <a:solidFill>
                  <a:srgbClr val="FF9900"/>
                </a:solidFill>
              </a:rPr>
              <a:t>активността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вентилаторите</a:t>
            </a:r>
            <a:r>
              <a:rPr lang="ru-RU" sz="2400" dirty="0">
                <a:solidFill>
                  <a:srgbClr val="FF9900"/>
                </a:solidFill>
              </a:rPr>
              <a:t> и за измерване на различни </a:t>
            </a:r>
            <a:r>
              <a:rPr lang="ru-RU" sz="2400" dirty="0" err="1">
                <a:solidFill>
                  <a:srgbClr val="FF9900"/>
                </a:solidFill>
              </a:rPr>
              <a:t>температури</a:t>
            </a:r>
            <a:r>
              <a:rPr lang="ru-RU" sz="2400" dirty="0">
                <a:solidFill>
                  <a:srgbClr val="FF9900"/>
                </a:solidFill>
              </a:rPr>
              <a:t> - на процесора, </a:t>
            </a:r>
            <a:r>
              <a:rPr lang="ru-RU" sz="2400" dirty="0" err="1">
                <a:solidFill>
                  <a:srgbClr val="FF9900"/>
                </a:solidFill>
              </a:rPr>
              <a:t>вътрешността</a:t>
            </a:r>
            <a:r>
              <a:rPr lang="ru-RU" sz="2400" dirty="0">
                <a:solidFill>
                  <a:srgbClr val="FF9900"/>
                </a:solidFill>
              </a:rPr>
              <a:t> на компютъра. 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707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5422180" cy="1018635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Компоненти на дънната платка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878676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Н</a:t>
            </a:r>
            <a:r>
              <a:rPr lang="en-US" sz="2400" dirty="0" smtClean="0">
                <a:solidFill>
                  <a:srgbClr val="FF9900"/>
                </a:solidFill>
              </a:rPr>
              <a:t>) </a:t>
            </a:r>
            <a:r>
              <a:rPr lang="ru-RU" sz="2400" dirty="0" smtClean="0">
                <a:solidFill>
                  <a:srgbClr val="FF9900"/>
                </a:solidFill>
              </a:rPr>
              <a:t>Обслужващи </a:t>
            </a:r>
            <a:r>
              <a:rPr lang="ru-RU" sz="2400" dirty="0">
                <a:solidFill>
                  <a:srgbClr val="FF9900"/>
                </a:solidFill>
              </a:rPr>
              <a:t>елементи. Това са кондензатори, резистори, </a:t>
            </a:r>
            <a:r>
              <a:rPr lang="ru-RU" sz="2400" dirty="0" err="1">
                <a:solidFill>
                  <a:srgbClr val="FF9900"/>
                </a:solidFill>
              </a:rPr>
              <a:t>дросели</a:t>
            </a:r>
            <a:r>
              <a:rPr lang="ru-RU" sz="2400" dirty="0">
                <a:solidFill>
                  <a:srgbClr val="FF9900"/>
                </a:solidFill>
              </a:rPr>
              <a:t>, мощни транзистори, </a:t>
            </a:r>
            <a:r>
              <a:rPr lang="ru-RU" sz="2400" dirty="0" err="1">
                <a:solidFill>
                  <a:srgbClr val="FF9900"/>
                </a:solidFill>
              </a:rPr>
              <a:t>контролери</a:t>
            </a:r>
            <a:r>
              <a:rPr lang="ru-RU" sz="2400" dirty="0">
                <a:solidFill>
                  <a:srgbClr val="FF9900"/>
                </a:solidFill>
              </a:rPr>
              <a:t>, </a:t>
            </a:r>
            <a:r>
              <a:rPr lang="ru-RU" sz="2400" dirty="0" err="1">
                <a:solidFill>
                  <a:srgbClr val="FF9900"/>
                </a:solidFill>
              </a:rPr>
              <a:t>конвертори</a:t>
            </a:r>
            <a:r>
              <a:rPr lang="ru-RU" sz="2400" dirty="0">
                <a:solidFill>
                  <a:srgbClr val="FF9900"/>
                </a:solidFill>
              </a:rPr>
              <a:t> на сигнали, като всеки от тези елементи има свой начин на въздействие върху работата на системата.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31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253453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221971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i="1" dirty="0">
                <a:solidFill>
                  <a:srgbClr val="FF9900"/>
                </a:solidFill>
              </a:rPr>
              <a:t>Същност на архитектурата Северен/Южен </a:t>
            </a:r>
            <a:r>
              <a:rPr lang="bg-BG" sz="2400" i="1" dirty="0" smtClean="0">
                <a:solidFill>
                  <a:srgbClr val="FF9900"/>
                </a:solidFill>
              </a:rPr>
              <a:t>мост</a:t>
            </a:r>
            <a:r>
              <a:rPr lang="en-US" sz="2400" i="1" dirty="0" smtClean="0">
                <a:solidFill>
                  <a:srgbClr val="FF9900"/>
                </a:solidFill>
              </a:rPr>
              <a:t>:</a:t>
            </a:r>
            <a:r>
              <a:rPr lang="bg-BG" sz="2400" i="1" dirty="0" smtClean="0">
                <a:solidFill>
                  <a:srgbClr val="FF9900"/>
                </a:solidFill>
              </a:rPr>
              <a:t> </a:t>
            </a:r>
          </a:p>
          <a:p>
            <a:pPr marL="0" indent="0">
              <a:buNone/>
            </a:pPr>
            <a:endParaRPr lang="bg-BG" sz="2400" i="1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Повечето от </a:t>
            </a:r>
            <a:r>
              <a:rPr lang="ru-RU" sz="2400" dirty="0" err="1">
                <a:solidFill>
                  <a:srgbClr val="FF9900"/>
                </a:solidFill>
              </a:rPr>
              <a:t>по-ранните</a:t>
            </a:r>
            <a:r>
              <a:rPr lang="ru-RU" sz="2400" dirty="0">
                <a:solidFill>
                  <a:srgbClr val="FF9900"/>
                </a:solidFill>
              </a:rPr>
              <a:t> чипсети на Intel (и фактически всички не-Intel чипсети) са </a:t>
            </a:r>
            <a:r>
              <a:rPr lang="ru-RU" sz="2400" dirty="0" err="1">
                <a:solidFill>
                  <a:srgbClr val="FF9900"/>
                </a:solidFill>
              </a:rPr>
              <a:t>разделени</a:t>
            </a:r>
            <a:r>
              <a:rPr lang="ru-RU" sz="2400" dirty="0">
                <a:solidFill>
                  <a:srgbClr val="FF9900"/>
                </a:solidFill>
              </a:rPr>
              <a:t> на многостепенна архитектура, </a:t>
            </a:r>
            <a:r>
              <a:rPr lang="ru-RU" sz="2400" dirty="0" err="1">
                <a:solidFill>
                  <a:srgbClr val="FF9900"/>
                </a:solidFill>
              </a:rPr>
              <a:t>включваща</a:t>
            </a:r>
            <a:r>
              <a:rPr lang="ru-RU" sz="2400" dirty="0">
                <a:solidFill>
                  <a:srgbClr val="FF9900"/>
                </a:solidFill>
              </a:rPr>
              <a:t> така наречените </a:t>
            </a:r>
            <a:r>
              <a:rPr lang="ru-RU" sz="2400" dirty="0" err="1">
                <a:solidFill>
                  <a:srgbClr val="FF9900"/>
                </a:solidFill>
              </a:rPr>
              <a:t>северен</a:t>
            </a:r>
            <a:r>
              <a:rPr lang="ru-RU" sz="2400" dirty="0">
                <a:solidFill>
                  <a:srgbClr val="FF9900"/>
                </a:solidFill>
              </a:rPr>
              <a:t> мост (</a:t>
            </a:r>
            <a:r>
              <a:rPr lang="ru-RU" sz="2400" dirty="0" err="1">
                <a:solidFill>
                  <a:srgbClr val="FF9900"/>
                </a:solidFill>
              </a:rPr>
              <a:t>North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Bridge</a:t>
            </a:r>
            <a:r>
              <a:rPr lang="ru-RU" sz="2400" dirty="0">
                <a:solidFill>
                  <a:srgbClr val="FF9900"/>
                </a:solidFill>
              </a:rPr>
              <a:t>) и </a:t>
            </a:r>
            <a:r>
              <a:rPr lang="ru-RU" sz="2400" dirty="0" err="1">
                <a:solidFill>
                  <a:srgbClr val="FF9900"/>
                </a:solidFill>
              </a:rPr>
              <a:t>южен</a:t>
            </a:r>
            <a:r>
              <a:rPr lang="ru-RU" sz="2400" dirty="0">
                <a:solidFill>
                  <a:srgbClr val="FF9900"/>
                </a:solidFill>
              </a:rPr>
              <a:t> мост (</a:t>
            </a:r>
            <a:r>
              <a:rPr lang="ru-RU" sz="2400" dirty="0" err="1">
                <a:solidFill>
                  <a:srgbClr val="FF9900"/>
                </a:solidFill>
              </a:rPr>
              <a:t>South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Bridge</a:t>
            </a:r>
            <a:r>
              <a:rPr lang="ru-RU" sz="2400" dirty="0">
                <a:solidFill>
                  <a:srgbClr val="FF9900"/>
                </a:solidFill>
              </a:rPr>
              <a:t>), както и един </a:t>
            </a:r>
            <a:r>
              <a:rPr lang="ru-RU" sz="2400" dirty="0" err="1">
                <a:solidFill>
                  <a:srgbClr val="FF9900"/>
                </a:solidFill>
              </a:rPr>
              <a:t>Super</a:t>
            </a:r>
            <a:r>
              <a:rPr lang="ru-RU" sz="2400" dirty="0">
                <a:solidFill>
                  <a:srgbClr val="FF9900"/>
                </a:solidFill>
              </a:rPr>
              <a:t> I/O чип.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742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344892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604356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Причината </a:t>
            </a:r>
            <a:r>
              <a:rPr lang="ru-RU" sz="2400" dirty="0">
                <a:solidFill>
                  <a:srgbClr val="FF9900"/>
                </a:solidFill>
              </a:rPr>
              <a:t>за тази многостепенна архитектура е че в компютърната система има устройства, работещи с различна скорост, като разликата може да бъде десетки и </a:t>
            </a:r>
            <a:r>
              <a:rPr lang="ru-RU" sz="2400" dirty="0" err="1">
                <a:solidFill>
                  <a:srgbClr val="FF9900"/>
                </a:solidFill>
              </a:rPr>
              <a:t>стотици</a:t>
            </a:r>
            <a:r>
              <a:rPr lang="ru-RU" sz="2400" dirty="0">
                <a:solidFill>
                  <a:srgbClr val="FF9900"/>
                </a:solidFill>
              </a:rPr>
              <a:t> пъти. Бавните устройства не могат да </a:t>
            </a:r>
            <a:r>
              <a:rPr lang="ru-RU" sz="2400" dirty="0" err="1">
                <a:solidFill>
                  <a:srgbClr val="FF9900"/>
                </a:solidFill>
              </a:rPr>
              <a:t>работят</a:t>
            </a:r>
            <a:r>
              <a:rPr lang="ru-RU" sz="2400" dirty="0">
                <a:solidFill>
                  <a:srgbClr val="FF9900"/>
                </a:solidFill>
              </a:rPr>
              <a:t> на високи скорости, тъй като няма да </a:t>
            </a:r>
            <a:r>
              <a:rPr lang="ru-RU" sz="2400" dirty="0" err="1">
                <a:solidFill>
                  <a:srgbClr val="FF9900"/>
                </a:solidFill>
              </a:rPr>
              <a:t>смогват</a:t>
            </a:r>
            <a:r>
              <a:rPr lang="ru-RU" sz="2400" dirty="0">
                <a:solidFill>
                  <a:srgbClr val="FF9900"/>
                </a:solidFill>
              </a:rPr>
              <a:t> да </a:t>
            </a:r>
            <a:r>
              <a:rPr lang="ru-RU" sz="2400" dirty="0" err="1">
                <a:solidFill>
                  <a:srgbClr val="FF9900"/>
                </a:solidFill>
              </a:rPr>
              <a:t>обработват</a:t>
            </a:r>
            <a:r>
              <a:rPr lang="ru-RU" sz="2400" dirty="0">
                <a:solidFill>
                  <a:srgbClr val="FF9900"/>
                </a:solidFill>
              </a:rPr>
              <a:t> данните и ще се появяват грешки.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080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220202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454728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Ако </a:t>
            </a:r>
            <a:r>
              <a:rPr lang="ru-RU" sz="2400" dirty="0">
                <a:solidFill>
                  <a:srgbClr val="FF9900"/>
                </a:solidFill>
              </a:rPr>
              <a:t>всички устройства бъдат </a:t>
            </a:r>
            <a:r>
              <a:rPr lang="ru-RU" sz="2400" dirty="0" err="1">
                <a:solidFill>
                  <a:srgbClr val="FF9900"/>
                </a:solidFill>
              </a:rPr>
              <a:t>принудени</a:t>
            </a:r>
            <a:r>
              <a:rPr lang="ru-RU" sz="2400" dirty="0">
                <a:solidFill>
                  <a:srgbClr val="FF9900"/>
                </a:solidFill>
              </a:rPr>
              <a:t> да </a:t>
            </a:r>
            <a:r>
              <a:rPr lang="ru-RU" sz="2400" dirty="0" err="1">
                <a:solidFill>
                  <a:srgbClr val="FF9900"/>
                </a:solidFill>
              </a:rPr>
              <a:t>работят</a:t>
            </a:r>
            <a:r>
              <a:rPr lang="ru-RU" sz="2400" dirty="0">
                <a:solidFill>
                  <a:srgbClr val="FF9900"/>
                </a:solidFill>
              </a:rPr>
              <a:t> с една и </a:t>
            </a:r>
            <a:r>
              <a:rPr lang="ru-RU" sz="2400" dirty="0" err="1">
                <a:solidFill>
                  <a:srgbClr val="FF9900"/>
                </a:solidFill>
              </a:rPr>
              <a:t>съща</a:t>
            </a:r>
            <a:r>
              <a:rPr lang="ru-RU" sz="2400" dirty="0">
                <a:solidFill>
                  <a:srgbClr val="FF9900"/>
                </a:solidFill>
              </a:rPr>
              <a:t> скорост (както е в </a:t>
            </a:r>
            <a:r>
              <a:rPr lang="ru-RU" sz="2400" dirty="0" err="1">
                <a:solidFill>
                  <a:srgbClr val="FF9900"/>
                </a:solidFill>
              </a:rPr>
              <a:t>оригиналното</a:t>
            </a:r>
            <a:r>
              <a:rPr lang="ru-RU" sz="2400" dirty="0">
                <a:solidFill>
                  <a:srgbClr val="FF9900"/>
                </a:solidFill>
              </a:rPr>
              <a:t> РС), то тази скорост трябва да е такава, </a:t>
            </a:r>
            <a:r>
              <a:rPr lang="ru-RU" sz="2400" dirty="0" err="1">
                <a:solidFill>
                  <a:srgbClr val="FF9900"/>
                </a:solidFill>
              </a:rPr>
              <a:t>каквато</a:t>
            </a:r>
            <a:r>
              <a:rPr lang="ru-RU" sz="2400" dirty="0">
                <a:solidFill>
                  <a:srgbClr val="FF9900"/>
                </a:solidFill>
              </a:rPr>
              <a:t> може да поддържат най-бавните устройства. С други думи, </a:t>
            </a:r>
            <a:r>
              <a:rPr lang="ru-RU" sz="2400" dirty="0" err="1">
                <a:solidFill>
                  <a:srgbClr val="FF9900"/>
                </a:solidFill>
              </a:rPr>
              <a:t>бързите</a:t>
            </a:r>
            <a:r>
              <a:rPr lang="ru-RU" sz="2400" dirty="0">
                <a:solidFill>
                  <a:srgbClr val="FF9900"/>
                </a:solidFill>
              </a:rPr>
              <a:t> устройства са </a:t>
            </a:r>
            <a:r>
              <a:rPr lang="ru-RU" sz="2400" dirty="0" err="1">
                <a:solidFill>
                  <a:srgbClr val="FF9900"/>
                </a:solidFill>
              </a:rPr>
              <a:t>принудени</a:t>
            </a:r>
            <a:r>
              <a:rPr lang="ru-RU" sz="2400" dirty="0">
                <a:solidFill>
                  <a:srgbClr val="FF9900"/>
                </a:solidFill>
              </a:rPr>
              <a:t> да </a:t>
            </a:r>
            <a:r>
              <a:rPr lang="ru-RU" sz="2400" dirty="0" err="1">
                <a:solidFill>
                  <a:srgbClr val="FF9900"/>
                </a:solidFill>
              </a:rPr>
              <a:t>изчакват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по-бавните</a:t>
            </a:r>
            <a:r>
              <a:rPr lang="ru-RU" sz="2400" dirty="0">
                <a:solidFill>
                  <a:srgbClr val="FF9900"/>
                </a:solidFill>
              </a:rPr>
              <a:t>, като от това спада значително производителността на системата. 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005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170325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379913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Първоначално</a:t>
            </a:r>
            <a:r>
              <a:rPr lang="ru-RU" sz="2400" dirty="0">
                <a:solidFill>
                  <a:srgbClr val="FF9900"/>
                </a:solidFill>
              </a:rPr>
              <a:t>, през 1987 г. </a:t>
            </a:r>
            <a:r>
              <a:rPr lang="ru-RU" sz="2400" dirty="0" err="1">
                <a:solidFill>
                  <a:srgbClr val="FF9900"/>
                </a:solidFill>
              </a:rPr>
              <a:t>Compaq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лансират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идеята</a:t>
            </a:r>
            <a:r>
              <a:rPr lang="ru-RU" sz="2400" dirty="0">
                <a:solidFill>
                  <a:srgbClr val="FF9900"/>
                </a:solidFill>
              </a:rPr>
              <a:t> за </a:t>
            </a:r>
            <a:r>
              <a:rPr lang="ru-RU" sz="2400" dirty="0" err="1">
                <a:solidFill>
                  <a:srgbClr val="FF9900"/>
                </a:solidFill>
              </a:rPr>
              <a:t>отделяне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системната</a:t>
            </a:r>
            <a:r>
              <a:rPr lang="ru-RU" sz="2400" dirty="0">
                <a:solidFill>
                  <a:srgbClr val="FF9900"/>
                </a:solidFill>
              </a:rPr>
              <a:t> шина от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на входно-</a:t>
            </a:r>
            <a:r>
              <a:rPr lang="ru-RU" sz="2400" dirty="0" err="1">
                <a:solidFill>
                  <a:srgbClr val="FF9900"/>
                </a:solidFill>
              </a:rPr>
              <a:t>изходните</a:t>
            </a:r>
            <a:r>
              <a:rPr lang="ru-RU" sz="2400" dirty="0">
                <a:solidFill>
                  <a:srgbClr val="FF9900"/>
                </a:solidFill>
              </a:rPr>
              <a:t> устройства, така че те да могат да </a:t>
            </a:r>
            <a:r>
              <a:rPr lang="ru-RU" sz="2400" dirty="0" err="1">
                <a:solidFill>
                  <a:srgbClr val="FF9900"/>
                </a:solidFill>
              </a:rPr>
              <a:t>работят</a:t>
            </a:r>
            <a:r>
              <a:rPr lang="ru-RU" sz="2400" dirty="0">
                <a:solidFill>
                  <a:srgbClr val="FF9900"/>
                </a:solidFill>
              </a:rPr>
              <a:t> с различни </a:t>
            </a:r>
            <a:r>
              <a:rPr lang="ru-RU" sz="2400" dirty="0" err="1">
                <a:solidFill>
                  <a:srgbClr val="FF9900"/>
                </a:solidFill>
              </a:rPr>
              <a:t>тактови</a:t>
            </a:r>
            <a:r>
              <a:rPr lang="ru-RU" sz="2400" dirty="0">
                <a:solidFill>
                  <a:srgbClr val="FF9900"/>
                </a:solidFill>
              </a:rPr>
              <a:t> честоти. Това дава възможност на процесора и оперативната памет </a:t>
            </a:r>
            <a:r>
              <a:rPr lang="ru-RU" sz="2400" dirty="0" err="1">
                <a:solidFill>
                  <a:srgbClr val="FF9900"/>
                </a:solidFill>
              </a:rPr>
              <a:t>работят</a:t>
            </a:r>
            <a:r>
              <a:rPr lang="ru-RU" sz="2400" dirty="0">
                <a:solidFill>
                  <a:srgbClr val="FF9900"/>
                </a:solidFill>
              </a:rPr>
              <a:t> с по-висока скорост от тази на входно-</a:t>
            </a:r>
            <a:r>
              <a:rPr lang="ru-RU" sz="2400" dirty="0" err="1">
                <a:solidFill>
                  <a:srgbClr val="FF9900"/>
                </a:solidFill>
              </a:rPr>
              <a:t>изходните</a:t>
            </a:r>
            <a:r>
              <a:rPr lang="ru-RU" sz="2400" dirty="0">
                <a:solidFill>
                  <a:srgbClr val="FF9900"/>
                </a:solidFill>
              </a:rPr>
              <a:t> устройства (видеокарта, твърд диск и др.). Връзката между двете шини се управлява от контролер, който работи като мост между тях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3892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195263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396539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По-късно в </a:t>
            </a:r>
            <a:r>
              <a:rPr lang="ru-RU" sz="2400" dirty="0" err="1">
                <a:solidFill>
                  <a:srgbClr val="FF9900"/>
                </a:solidFill>
              </a:rPr>
              <a:t>практиката</a:t>
            </a:r>
            <a:r>
              <a:rPr lang="ru-RU" sz="2400" dirty="0">
                <a:solidFill>
                  <a:srgbClr val="FF9900"/>
                </a:solidFill>
              </a:rPr>
              <a:t> се налага многостепенна архитектура с 3 главни шини, като в най-горния слой се намира най-бързата шина – </a:t>
            </a:r>
            <a:r>
              <a:rPr lang="ru-RU" sz="2400" dirty="0" err="1">
                <a:solidFill>
                  <a:srgbClr val="FF9900"/>
                </a:solidFill>
              </a:rPr>
              <a:t>процесорната</a:t>
            </a:r>
            <a:r>
              <a:rPr lang="ru-RU" sz="2400" dirty="0">
                <a:solidFill>
                  <a:srgbClr val="FF9900"/>
                </a:solidFill>
              </a:rPr>
              <a:t> (FSB – </a:t>
            </a:r>
            <a:r>
              <a:rPr lang="ru-RU" sz="2400" dirty="0" err="1">
                <a:solidFill>
                  <a:srgbClr val="FF9900"/>
                </a:solidFill>
              </a:rPr>
              <a:t>предна</a:t>
            </a:r>
            <a:r>
              <a:rPr lang="ru-RU" sz="2400" dirty="0">
                <a:solidFill>
                  <a:srgbClr val="FF9900"/>
                </a:solidFill>
              </a:rPr>
              <a:t> шина), в средния слой – PCI и в най-</a:t>
            </a:r>
            <a:r>
              <a:rPr lang="ru-RU" sz="2400" dirty="0" err="1">
                <a:solidFill>
                  <a:srgbClr val="FF9900"/>
                </a:solidFill>
              </a:rPr>
              <a:t>долния</a:t>
            </a:r>
            <a:r>
              <a:rPr lang="ru-RU" sz="2400" dirty="0">
                <a:solidFill>
                  <a:srgbClr val="FF9900"/>
                </a:solidFill>
              </a:rPr>
              <a:t> – </a:t>
            </a:r>
            <a:r>
              <a:rPr lang="ru-RU" sz="2400" dirty="0" err="1">
                <a:solidFill>
                  <a:srgbClr val="FF9900"/>
                </a:solidFill>
              </a:rPr>
              <a:t>бавната</a:t>
            </a:r>
            <a:r>
              <a:rPr lang="ru-RU" sz="2400" dirty="0">
                <a:solidFill>
                  <a:srgbClr val="FF9900"/>
                </a:solidFill>
              </a:rPr>
              <a:t> ISA </a:t>
            </a:r>
            <a:r>
              <a:rPr lang="ru-RU" sz="2400" dirty="0" smtClean="0">
                <a:solidFill>
                  <a:srgbClr val="FF9900"/>
                </a:solidFill>
              </a:rPr>
              <a:t>шина. </a:t>
            </a:r>
            <a:r>
              <a:rPr lang="ru-RU" sz="2400" dirty="0">
                <a:solidFill>
                  <a:srgbClr val="FF9900"/>
                </a:solidFill>
              </a:rPr>
              <a:t>Устройствата се свързват към три чипа: </a:t>
            </a:r>
            <a:r>
              <a:rPr lang="ru-RU" sz="2400" dirty="0" err="1">
                <a:solidFill>
                  <a:srgbClr val="FF9900"/>
                </a:solidFill>
              </a:rPr>
              <a:t>северен</a:t>
            </a:r>
            <a:r>
              <a:rPr lang="ru-RU" sz="2400" dirty="0">
                <a:solidFill>
                  <a:srgbClr val="FF9900"/>
                </a:solidFill>
              </a:rPr>
              <a:t> мост, </a:t>
            </a:r>
            <a:r>
              <a:rPr lang="ru-RU" sz="2400" dirty="0" err="1">
                <a:solidFill>
                  <a:srgbClr val="FF9900"/>
                </a:solidFill>
              </a:rPr>
              <a:t>южен</a:t>
            </a:r>
            <a:r>
              <a:rPr lang="ru-RU" sz="2400" dirty="0">
                <a:solidFill>
                  <a:srgbClr val="FF9900"/>
                </a:solidFill>
              </a:rPr>
              <a:t> мост и входно-</a:t>
            </a:r>
            <a:r>
              <a:rPr lang="ru-RU" sz="2400" dirty="0" err="1">
                <a:solidFill>
                  <a:srgbClr val="FF9900"/>
                </a:solidFill>
              </a:rPr>
              <a:t>изходен</a:t>
            </a:r>
            <a:r>
              <a:rPr lang="ru-RU" sz="2400" dirty="0">
                <a:solidFill>
                  <a:srgbClr val="FF9900"/>
                </a:solidFill>
              </a:rPr>
              <a:t> контролер (супер I/O чип). Тази архитектура получава името „архитектура </a:t>
            </a:r>
            <a:r>
              <a:rPr lang="ru-RU" sz="2400" dirty="0" err="1">
                <a:solidFill>
                  <a:srgbClr val="FF9900"/>
                </a:solidFill>
              </a:rPr>
              <a:t>северен-южен</a:t>
            </a:r>
            <a:r>
              <a:rPr lang="ru-RU" sz="2400" dirty="0">
                <a:solidFill>
                  <a:srgbClr val="FF9900"/>
                </a:solidFill>
              </a:rPr>
              <a:t> мост”.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725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162012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263535"/>
            <a:ext cx="6344892" cy="53284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i="1" dirty="0" smtClean="0">
                <a:solidFill>
                  <a:srgbClr val="FF9900"/>
                </a:solidFill>
              </a:rPr>
              <a:t>А</a:t>
            </a:r>
            <a:r>
              <a:rPr lang="en-US" sz="2400" i="1" dirty="0" smtClean="0">
                <a:solidFill>
                  <a:srgbClr val="FF9900"/>
                </a:solidFill>
              </a:rPr>
              <a:t>) </a:t>
            </a:r>
            <a:r>
              <a:rPr lang="ru-RU" sz="2400" i="1" dirty="0" err="1" smtClean="0">
                <a:solidFill>
                  <a:srgbClr val="FF9900"/>
                </a:solidFill>
              </a:rPr>
              <a:t>Северен</a:t>
            </a:r>
            <a:r>
              <a:rPr lang="ru-RU" sz="2400" i="1" dirty="0" smtClean="0">
                <a:solidFill>
                  <a:srgbClr val="FF9900"/>
                </a:solidFill>
              </a:rPr>
              <a:t> мост</a:t>
            </a:r>
            <a:r>
              <a:rPr lang="en-US" sz="2400" i="1" dirty="0" smtClean="0">
                <a:solidFill>
                  <a:srgbClr val="FF9900"/>
                </a:solidFill>
              </a:rPr>
              <a:t>:</a:t>
            </a:r>
            <a:endParaRPr lang="bg-BG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err="1" smtClean="0">
                <a:solidFill>
                  <a:srgbClr val="FF9900"/>
                </a:solidFill>
              </a:rPr>
              <a:t>Северният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мост осъществява връзката между </a:t>
            </a:r>
            <a:r>
              <a:rPr lang="ru-RU" sz="2400" dirty="0" err="1">
                <a:solidFill>
                  <a:srgbClr val="FF9900"/>
                </a:solidFill>
              </a:rPr>
              <a:t>високоскоростната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процесорна</a:t>
            </a:r>
            <a:r>
              <a:rPr lang="ru-RU" sz="2400" dirty="0">
                <a:solidFill>
                  <a:srgbClr val="FF9900"/>
                </a:solidFill>
              </a:rPr>
              <a:t> шина (533/400/266/200/133/100/66MHz) и </a:t>
            </a:r>
            <a:r>
              <a:rPr lang="ru-RU" sz="2400" dirty="0" err="1">
                <a:solidFill>
                  <a:srgbClr val="FF9900"/>
                </a:solidFill>
              </a:rPr>
              <a:t>по-бавните</a:t>
            </a:r>
            <a:r>
              <a:rPr lang="ru-RU" sz="2400" dirty="0">
                <a:solidFill>
                  <a:srgbClr val="FF9900"/>
                </a:solidFill>
              </a:rPr>
              <a:t> AGP (533/266/133/66MHz) и PCI (33MHz) шини. </a:t>
            </a:r>
            <a:r>
              <a:rPr lang="ru-RU" sz="2400" dirty="0" err="1">
                <a:solidFill>
                  <a:srgbClr val="FF9900"/>
                </a:solidFill>
              </a:rPr>
              <a:t>Свързва</a:t>
            </a:r>
            <a:r>
              <a:rPr lang="ru-RU" sz="2400" dirty="0">
                <a:solidFill>
                  <a:srgbClr val="FF9900"/>
                </a:solidFill>
              </a:rPr>
              <a:t> устройствата, за които е нужно да имат </a:t>
            </a:r>
            <a:r>
              <a:rPr lang="ru-RU" sz="2400" dirty="0" err="1">
                <a:solidFill>
                  <a:srgbClr val="FF9900"/>
                </a:solidFill>
              </a:rPr>
              <a:t>бърза</a:t>
            </a:r>
            <a:r>
              <a:rPr lang="ru-RU" sz="2400" dirty="0">
                <a:solidFill>
                  <a:srgbClr val="FF9900"/>
                </a:solidFill>
              </a:rPr>
              <a:t> връзка помежду си: централния процесор, оперативната памет, </a:t>
            </a:r>
            <a:r>
              <a:rPr lang="ru-RU" sz="2400" dirty="0" err="1">
                <a:solidFill>
                  <a:srgbClr val="FF9900"/>
                </a:solidFill>
              </a:rPr>
              <a:t>видеокартата</a:t>
            </a:r>
            <a:r>
              <a:rPr lang="ru-RU" sz="2400" dirty="0">
                <a:solidFill>
                  <a:srgbClr val="FF9900"/>
                </a:solidFill>
              </a:rPr>
              <a:t> и </a:t>
            </a:r>
            <a:r>
              <a:rPr lang="ru-RU" sz="2400" dirty="0" err="1">
                <a:solidFill>
                  <a:srgbClr val="FF9900"/>
                </a:solidFill>
              </a:rPr>
              <a:t>южния</a:t>
            </a:r>
            <a:r>
              <a:rPr lang="ru-RU" sz="2400" dirty="0">
                <a:solidFill>
                  <a:srgbClr val="FF9900"/>
                </a:solidFill>
              </a:rPr>
              <a:t> мост.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427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627525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687484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По същество това е най-</a:t>
            </a:r>
            <a:r>
              <a:rPr lang="ru-RU" sz="2400" dirty="0" err="1">
                <a:solidFill>
                  <a:srgbClr val="FF9900"/>
                </a:solidFill>
              </a:rPr>
              <a:t>важният</a:t>
            </a:r>
            <a:r>
              <a:rPr lang="ru-RU" sz="2400" dirty="0">
                <a:solidFill>
                  <a:srgbClr val="FF9900"/>
                </a:solidFill>
              </a:rPr>
              <a:t> компонент в една </a:t>
            </a:r>
            <a:r>
              <a:rPr lang="ru-RU" sz="2400" dirty="0" err="1">
                <a:solidFill>
                  <a:srgbClr val="FF9900"/>
                </a:solidFill>
              </a:rPr>
              <a:t>дънна</a:t>
            </a:r>
            <a:r>
              <a:rPr lang="ru-RU" sz="2400" dirty="0">
                <a:solidFill>
                  <a:srgbClr val="FF9900"/>
                </a:solidFill>
              </a:rPr>
              <a:t> платка и е </a:t>
            </a:r>
            <a:r>
              <a:rPr lang="ru-RU" sz="2400" dirty="0" err="1">
                <a:solidFill>
                  <a:srgbClr val="FF9900"/>
                </a:solidFill>
              </a:rPr>
              <a:t>единствената</a:t>
            </a:r>
            <a:r>
              <a:rPr lang="ru-RU" sz="2400" dirty="0">
                <a:solidFill>
                  <a:srgbClr val="FF9900"/>
                </a:solidFill>
              </a:rPr>
              <a:t> схема (освен процесора), работеща на </a:t>
            </a:r>
            <a:r>
              <a:rPr lang="ru-RU" sz="2400" dirty="0" err="1">
                <a:solidFill>
                  <a:srgbClr val="FF9900"/>
                </a:solidFill>
              </a:rPr>
              <a:t>пълната</a:t>
            </a:r>
            <a:r>
              <a:rPr lang="ru-RU" sz="2400" dirty="0">
                <a:solidFill>
                  <a:srgbClr val="FF9900"/>
                </a:solidFill>
              </a:rPr>
              <a:t> честота на </a:t>
            </a:r>
            <a:r>
              <a:rPr lang="ru-RU" sz="2400" dirty="0" err="1">
                <a:solidFill>
                  <a:srgbClr val="FF9900"/>
                </a:solidFill>
              </a:rPr>
              <a:t>дъното</a:t>
            </a:r>
            <a:r>
              <a:rPr lang="ru-RU" sz="2400" dirty="0">
                <a:solidFill>
                  <a:srgbClr val="FF9900"/>
                </a:solidFill>
              </a:rPr>
              <a:t> (т.е. на честотата на </a:t>
            </a:r>
            <a:r>
              <a:rPr lang="ru-RU" sz="2400" dirty="0" err="1">
                <a:solidFill>
                  <a:srgbClr val="FF9900"/>
                </a:solidFill>
              </a:rPr>
              <a:t>процесорната</a:t>
            </a:r>
            <a:r>
              <a:rPr lang="ru-RU" sz="2400" dirty="0">
                <a:solidFill>
                  <a:srgbClr val="FF9900"/>
                </a:solidFill>
              </a:rPr>
              <a:t> шина).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4054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037322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263535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Повечето съвременни чипсети използват </a:t>
            </a:r>
            <a:r>
              <a:rPr lang="ru-RU" sz="2400" dirty="0" err="1">
                <a:solidFill>
                  <a:srgbClr val="FF9900"/>
                </a:solidFill>
              </a:rPr>
              <a:t>едночипов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северен</a:t>
            </a:r>
            <a:r>
              <a:rPr lang="ru-RU" sz="2400" dirty="0">
                <a:solidFill>
                  <a:srgbClr val="FF9900"/>
                </a:solidFill>
              </a:rPr>
              <a:t> мост; някои от по-старите обаче са се </a:t>
            </a:r>
            <a:r>
              <a:rPr lang="ru-RU" sz="2400" dirty="0" err="1">
                <a:solidFill>
                  <a:srgbClr val="FF9900"/>
                </a:solidFill>
              </a:rPr>
              <a:t>състояли</a:t>
            </a:r>
            <a:r>
              <a:rPr lang="ru-RU" sz="2400" dirty="0">
                <a:solidFill>
                  <a:srgbClr val="FF9900"/>
                </a:solidFill>
              </a:rPr>
              <a:t> от три отделни чипа, за да </a:t>
            </a:r>
            <a:r>
              <a:rPr lang="ru-RU" sz="2400" dirty="0" err="1">
                <a:solidFill>
                  <a:srgbClr val="FF9900"/>
                </a:solidFill>
              </a:rPr>
              <a:t>съставят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пълната</a:t>
            </a:r>
            <a:r>
              <a:rPr lang="ru-RU" sz="2400" dirty="0">
                <a:solidFill>
                  <a:srgbClr val="FF9900"/>
                </a:solidFill>
              </a:rPr>
              <a:t> схема на </a:t>
            </a:r>
            <a:r>
              <a:rPr lang="ru-RU" sz="2400" dirty="0" err="1">
                <a:solidFill>
                  <a:srgbClr val="FF9900"/>
                </a:solidFill>
              </a:rPr>
              <a:t>северния</a:t>
            </a:r>
            <a:r>
              <a:rPr lang="ru-RU" sz="2400" dirty="0">
                <a:solidFill>
                  <a:srgbClr val="FF9900"/>
                </a:solidFill>
              </a:rPr>
              <a:t> мост. В първите конструкции </a:t>
            </a:r>
            <a:r>
              <a:rPr lang="ru-RU" sz="2400" dirty="0" err="1">
                <a:solidFill>
                  <a:srgbClr val="FF9900"/>
                </a:solidFill>
              </a:rPr>
              <a:t>видеокартата</a:t>
            </a:r>
            <a:r>
              <a:rPr lang="ru-RU" sz="2400" dirty="0">
                <a:solidFill>
                  <a:srgbClr val="FF9900"/>
                </a:solidFill>
              </a:rPr>
              <a:t> е свързана към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PCI и това се </a:t>
            </a:r>
            <a:r>
              <a:rPr lang="ru-RU" sz="2400" dirty="0" err="1">
                <a:solidFill>
                  <a:srgbClr val="FF9900"/>
                </a:solidFill>
              </a:rPr>
              <a:t>оказва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тясно</a:t>
            </a:r>
            <a:r>
              <a:rPr lang="ru-RU" sz="2400" dirty="0">
                <a:solidFill>
                  <a:srgbClr val="FF9900"/>
                </a:solidFill>
              </a:rPr>
              <a:t> място в системата.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559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253452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79418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Затова </a:t>
            </a:r>
            <a:r>
              <a:rPr lang="ru-RU" sz="2400" dirty="0" err="1">
                <a:solidFill>
                  <a:srgbClr val="FF9900"/>
                </a:solidFill>
              </a:rPr>
              <a:t>покъсно</a:t>
            </a:r>
            <a:r>
              <a:rPr lang="ru-RU" sz="2400" dirty="0">
                <a:solidFill>
                  <a:srgbClr val="FF9900"/>
                </a:solidFill>
              </a:rPr>
              <a:t>, в </a:t>
            </a:r>
            <a:r>
              <a:rPr lang="ru-RU" sz="2400" dirty="0" err="1">
                <a:solidFill>
                  <a:srgbClr val="FF9900"/>
                </a:solidFill>
              </a:rPr>
              <a:t>системите</a:t>
            </a:r>
            <a:r>
              <a:rPr lang="ru-RU" sz="2400" dirty="0">
                <a:solidFill>
                  <a:srgbClr val="FF9900"/>
                </a:solidFill>
              </a:rPr>
              <a:t> с процесори от </a:t>
            </a:r>
            <a:r>
              <a:rPr lang="ru-RU" sz="2400" dirty="0" err="1">
                <a:solidFill>
                  <a:srgbClr val="FF9900"/>
                </a:solidFill>
              </a:rPr>
              <a:t>шесто</a:t>
            </a:r>
            <a:r>
              <a:rPr lang="ru-RU" sz="2400" dirty="0">
                <a:solidFill>
                  <a:srgbClr val="FF9900"/>
                </a:solidFill>
              </a:rPr>
              <a:t> поколение, се </a:t>
            </a:r>
            <a:r>
              <a:rPr lang="ru-RU" sz="2400" dirty="0" err="1">
                <a:solidFill>
                  <a:srgbClr val="FF9900"/>
                </a:solidFill>
              </a:rPr>
              <a:t>създава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локалната</a:t>
            </a:r>
            <a:r>
              <a:rPr lang="ru-RU" sz="2400" dirty="0">
                <a:solidFill>
                  <a:srgbClr val="FF9900"/>
                </a:solidFill>
              </a:rPr>
              <a:t> шина AGP, която е директно свързана към </a:t>
            </a:r>
            <a:r>
              <a:rPr lang="ru-RU" sz="2400" dirty="0" err="1">
                <a:solidFill>
                  <a:srgbClr val="FF9900"/>
                </a:solidFill>
              </a:rPr>
              <a:t>северния</a:t>
            </a:r>
            <a:r>
              <a:rPr lang="ru-RU" sz="2400" dirty="0">
                <a:solidFill>
                  <a:srgbClr val="FF9900"/>
                </a:solidFill>
              </a:rPr>
              <a:t> мост и осигурява високоскоростна връзка на </a:t>
            </a:r>
            <a:r>
              <a:rPr lang="ru-RU" sz="2400" dirty="0" err="1">
                <a:solidFill>
                  <a:srgbClr val="FF9900"/>
                </a:solidFill>
              </a:rPr>
              <a:t>видеокартата</a:t>
            </a:r>
            <a:r>
              <a:rPr lang="ru-RU" sz="2400" dirty="0">
                <a:solidFill>
                  <a:srgbClr val="FF9900"/>
                </a:solidFill>
              </a:rPr>
              <a:t> с процесора и оперативната памет. 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2067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344892" cy="85238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79418"/>
            <a:ext cx="6344892" cy="5020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i="1" dirty="0" smtClean="0">
                <a:solidFill>
                  <a:srgbClr val="FF9900"/>
                </a:solidFill>
              </a:rPr>
              <a:t>Б</a:t>
            </a:r>
            <a:r>
              <a:rPr lang="en-US" sz="2400" i="1" dirty="0" smtClean="0">
                <a:solidFill>
                  <a:srgbClr val="FF9900"/>
                </a:solidFill>
              </a:rPr>
              <a:t>)</a:t>
            </a:r>
            <a:r>
              <a:rPr lang="bg-BG" sz="2400" i="1" dirty="0" smtClean="0">
                <a:solidFill>
                  <a:srgbClr val="FF9900"/>
                </a:solidFill>
              </a:rPr>
              <a:t> </a:t>
            </a:r>
            <a:r>
              <a:rPr lang="ru-RU" sz="2400" i="1" dirty="0" err="1" smtClean="0">
                <a:solidFill>
                  <a:srgbClr val="FF9900"/>
                </a:solidFill>
              </a:rPr>
              <a:t>Южен</a:t>
            </a:r>
            <a:r>
              <a:rPr lang="ru-RU" sz="2400" i="1" dirty="0" smtClean="0">
                <a:solidFill>
                  <a:srgbClr val="FF9900"/>
                </a:solidFill>
              </a:rPr>
              <a:t> мост</a:t>
            </a:r>
            <a:r>
              <a:rPr lang="en-US" sz="2400" i="1" dirty="0" smtClean="0">
                <a:solidFill>
                  <a:srgbClr val="FF9900"/>
                </a:solidFill>
              </a:rPr>
              <a:t>:</a:t>
            </a:r>
            <a:endParaRPr lang="ru-RU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Южният </a:t>
            </a:r>
            <a:r>
              <a:rPr lang="ru-RU" sz="2400" dirty="0">
                <a:solidFill>
                  <a:srgbClr val="FF9900"/>
                </a:solidFill>
              </a:rPr>
              <a:t>мост  осъществява връзката между шина PCI (66/33MHz) и </a:t>
            </a:r>
            <a:r>
              <a:rPr lang="ru-RU" sz="2400" dirty="0" err="1">
                <a:solidFill>
                  <a:srgbClr val="FF9900"/>
                </a:solidFill>
              </a:rPr>
              <a:t>по-бавната</a:t>
            </a:r>
            <a:r>
              <a:rPr lang="ru-RU" sz="2400" dirty="0">
                <a:solidFill>
                  <a:srgbClr val="FF9900"/>
                </a:solidFill>
              </a:rPr>
              <a:t> шина ISA (8MHz).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378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286703" cy="553123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255222"/>
            <a:ext cx="6685714" cy="53118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Той е директно свързан към </a:t>
            </a:r>
            <a:r>
              <a:rPr lang="ru-RU" sz="2400" dirty="0" err="1">
                <a:solidFill>
                  <a:srgbClr val="FF9900"/>
                </a:solidFill>
              </a:rPr>
              <a:t>северния</a:t>
            </a:r>
            <a:r>
              <a:rPr lang="ru-RU" sz="2400" dirty="0">
                <a:solidFill>
                  <a:srgbClr val="FF9900"/>
                </a:solidFill>
              </a:rPr>
              <a:t> мост и е отговорен за производителността на входно-</a:t>
            </a:r>
            <a:r>
              <a:rPr lang="ru-RU" sz="2400" dirty="0" err="1">
                <a:solidFill>
                  <a:srgbClr val="FF9900"/>
                </a:solidFill>
              </a:rPr>
              <a:t>изходните</a:t>
            </a:r>
            <a:r>
              <a:rPr lang="ru-RU" sz="2400" dirty="0">
                <a:solidFill>
                  <a:srgbClr val="FF9900"/>
                </a:solidFill>
              </a:rPr>
              <a:t> устройства и </a:t>
            </a:r>
            <a:r>
              <a:rPr lang="ru-RU" sz="2400" dirty="0" err="1">
                <a:solidFill>
                  <a:srgbClr val="FF9900"/>
                </a:solidFill>
              </a:rPr>
              <a:t>допълнителните</a:t>
            </a:r>
            <a:r>
              <a:rPr lang="ru-RU" sz="2400" dirty="0">
                <a:solidFill>
                  <a:srgbClr val="FF9900"/>
                </a:solidFill>
              </a:rPr>
              <a:t> вградени функции на </a:t>
            </a:r>
            <a:r>
              <a:rPr lang="ru-RU" sz="2400" dirty="0" err="1">
                <a:solidFill>
                  <a:srgbClr val="FF9900"/>
                </a:solidFill>
              </a:rPr>
              <a:t>дъното</a:t>
            </a:r>
            <a:r>
              <a:rPr lang="ru-RU" sz="2400" dirty="0">
                <a:solidFill>
                  <a:srgbClr val="FF9900"/>
                </a:solidFill>
              </a:rPr>
              <a:t>: </a:t>
            </a:r>
            <a:r>
              <a:rPr lang="ru-RU" sz="2400" dirty="0" err="1">
                <a:solidFill>
                  <a:srgbClr val="FF9900"/>
                </a:solidFill>
              </a:rPr>
              <a:t>наличните</a:t>
            </a:r>
            <a:r>
              <a:rPr lang="ru-RU" sz="2400" dirty="0">
                <a:solidFill>
                  <a:srgbClr val="FF9900"/>
                </a:solidFill>
              </a:rPr>
              <a:t> портове за твърди дискове и USB </a:t>
            </a:r>
            <a:r>
              <a:rPr lang="ru-RU" sz="2400" dirty="0" err="1">
                <a:solidFill>
                  <a:srgbClr val="FF9900"/>
                </a:solidFill>
              </a:rPr>
              <a:t>портовете</a:t>
            </a:r>
            <a:r>
              <a:rPr lang="ru-RU" sz="2400" dirty="0">
                <a:solidFill>
                  <a:srgbClr val="FF9900"/>
                </a:solidFill>
              </a:rPr>
              <a:t>; вградената </a:t>
            </a:r>
            <a:r>
              <a:rPr lang="ru-RU" sz="2400" dirty="0" err="1">
                <a:solidFill>
                  <a:srgbClr val="FF9900"/>
                </a:solidFill>
              </a:rPr>
              <a:t>звукова</a:t>
            </a:r>
            <a:r>
              <a:rPr lang="ru-RU" sz="2400" dirty="0">
                <a:solidFill>
                  <a:srgbClr val="FF9900"/>
                </a:solidFill>
              </a:rPr>
              <a:t> и </a:t>
            </a:r>
            <a:r>
              <a:rPr lang="ru-RU" sz="2400" dirty="0" err="1">
                <a:solidFill>
                  <a:srgbClr val="FF9900"/>
                </a:solidFill>
              </a:rPr>
              <a:t>мрежова</a:t>
            </a:r>
            <a:r>
              <a:rPr lang="ru-RU" sz="2400" dirty="0">
                <a:solidFill>
                  <a:srgbClr val="FF9900"/>
                </a:solidFill>
              </a:rPr>
              <a:t> карта; а в </a:t>
            </a:r>
            <a:r>
              <a:rPr lang="ru-RU" sz="2400" dirty="0" err="1">
                <a:solidFill>
                  <a:srgbClr val="FF9900"/>
                </a:solidFill>
              </a:rPr>
              <a:t>покъсните</a:t>
            </a:r>
            <a:r>
              <a:rPr lang="ru-RU" sz="2400" dirty="0">
                <a:solidFill>
                  <a:srgbClr val="FF9900"/>
                </a:solidFill>
              </a:rPr>
              <a:t> конструкции дори </a:t>
            </a:r>
            <a:r>
              <a:rPr lang="ru-RU" sz="2400" dirty="0" err="1">
                <a:solidFill>
                  <a:srgbClr val="FF9900"/>
                </a:solidFill>
              </a:rPr>
              <a:t>функциите</a:t>
            </a:r>
            <a:r>
              <a:rPr lang="ru-RU" sz="2400" dirty="0">
                <a:solidFill>
                  <a:srgbClr val="FF9900"/>
                </a:solidFill>
              </a:rPr>
              <a:t> на CMOS-RAM и </a:t>
            </a:r>
            <a:r>
              <a:rPr lang="ru-RU" sz="2400" dirty="0" err="1">
                <a:solidFill>
                  <a:srgbClr val="FF9900"/>
                </a:solidFill>
              </a:rPr>
              <a:t>часовника</a:t>
            </a:r>
            <a:r>
              <a:rPr lang="ru-RU" sz="2400" dirty="0">
                <a:solidFill>
                  <a:srgbClr val="FF9900"/>
                </a:solidFill>
              </a:rPr>
              <a:t> за </a:t>
            </a:r>
            <a:r>
              <a:rPr lang="ru-RU" sz="2400" dirty="0" err="1">
                <a:solidFill>
                  <a:srgbClr val="FF9900"/>
                </a:solidFill>
              </a:rPr>
              <a:t>реално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smtClean="0">
                <a:solidFill>
                  <a:srgbClr val="FF9900"/>
                </a:solidFill>
              </a:rPr>
              <a:t>време. Южният </a:t>
            </a:r>
            <a:r>
              <a:rPr lang="ru-RU" sz="2400" dirty="0">
                <a:solidFill>
                  <a:srgbClr val="FF9900"/>
                </a:solidFill>
              </a:rPr>
              <a:t>мост съдържа всички компоненти, </a:t>
            </a:r>
            <a:r>
              <a:rPr lang="ru-RU" sz="2400" dirty="0" err="1">
                <a:solidFill>
                  <a:srgbClr val="FF9900"/>
                </a:solidFill>
              </a:rPr>
              <a:t>изграждащи</a:t>
            </a:r>
            <a:r>
              <a:rPr lang="ru-RU" sz="2400" dirty="0">
                <a:solidFill>
                  <a:srgbClr val="FF9900"/>
                </a:solidFill>
              </a:rPr>
              <a:t> ISA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, включително DMA </a:t>
            </a:r>
            <a:r>
              <a:rPr lang="ru-RU" sz="2400" dirty="0" err="1">
                <a:solidFill>
                  <a:srgbClr val="FF9900"/>
                </a:solidFill>
              </a:rPr>
              <a:t>контролерите</a:t>
            </a:r>
            <a:r>
              <a:rPr lang="ru-RU" sz="2400" dirty="0">
                <a:solidFill>
                  <a:srgbClr val="FF9900"/>
                </a:solidFill>
              </a:rPr>
              <a:t> и </a:t>
            </a:r>
            <a:r>
              <a:rPr lang="ru-RU" sz="2400" dirty="0" err="1">
                <a:solidFill>
                  <a:srgbClr val="FF9900"/>
                </a:solidFill>
              </a:rPr>
              <a:t>контролерите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прекъсванията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</a:p>
          <a:p>
            <a:pPr marL="0" indent="0">
              <a:buNone/>
            </a:pP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487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344892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479664"/>
            <a:ext cx="6344892" cy="5203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i="1" dirty="0">
                <a:solidFill>
                  <a:srgbClr val="FF9900"/>
                </a:solidFill>
              </a:rPr>
              <a:t>Същност на </a:t>
            </a:r>
            <a:r>
              <a:rPr lang="bg-BG" sz="2400" i="1" dirty="0" err="1">
                <a:solidFill>
                  <a:srgbClr val="FF9900"/>
                </a:solidFill>
              </a:rPr>
              <a:t>Х</a:t>
            </a:r>
            <a:r>
              <a:rPr lang="bg-BG" sz="2400" i="1" dirty="0" err="1" smtClean="0">
                <a:solidFill>
                  <a:srgbClr val="FF9900"/>
                </a:solidFill>
              </a:rPr>
              <a:t>ъбовата</a:t>
            </a:r>
            <a:r>
              <a:rPr lang="bg-BG" sz="2400" i="1" dirty="0" smtClean="0">
                <a:solidFill>
                  <a:srgbClr val="FF9900"/>
                </a:solidFill>
              </a:rPr>
              <a:t> архитектура</a:t>
            </a:r>
            <a:r>
              <a:rPr lang="en-US" sz="2400" i="1" dirty="0" smtClean="0">
                <a:solidFill>
                  <a:srgbClr val="FF9900"/>
                </a:solidFill>
              </a:rPr>
              <a:t>:</a:t>
            </a:r>
            <a:endParaRPr lang="bg-BG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bg-BG" sz="2400" i="1" dirty="0" smtClean="0">
                <a:solidFill>
                  <a:srgbClr val="FF9900"/>
                </a:solidFill>
              </a:rPr>
              <a:t> </a:t>
            </a:r>
            <a:endParaRPr lang="bg-BG" sz="2400" i="1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От началото на 1999 г., новите </a:t>
            </a:r>
            <a:r>
              <a:rPr lang="ru-RU" sz="2400" dirty="0" err="1">
                <a:solidFill>
                  <a:srgbClr val="FF9900"/>
                </a:solidFill>
              </a:rPr>
              <a:t>чипове</a:t>
            </a:r>
            <a:r>
              <a:rPr lang="ru-RU" sz="2400" dirty="0">
                <a:solidFill>
                  <a:srgbClr val="FF9900"/>
                </a:solidFill>
              </a:rPr>
              <a:t> от серията 800 използват архитектура с </a:t>
            </a:r>
            <a:r>
              <a:rPr lang="ru-RU" sz="2400" dirty="0" err="1">
                <a:solidFill>
                  <a:srgbClr val="FF9900"/>
                </a:solidFill>
              </a:rPr>
              <a:t>хъбове</a:t>
            </a:r>
            <a:r>
              <a:rPr lang="ru-RU" sz="2400" dirty="0">
                <a:solidFill>
                  <a:srgbClr val="FF9900"/>
                </a:solidFill>
              </a:rPr>
              <a:t>, в която </a:t>
            </a:r>
            <a:r>
              <a:rPr lang="ru-RU" sz="2400" dirty="0" err="1">
                <a:solidFill>
                  <a:srgbClr val="FF9900"/>
                </a:solidFill>
              </a:rPr>
              <a:t>предишният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северен</a:t>
            </a:r>
            <a:r>
              <a:rPr lang="ru-RU" sz="2400" dirty="0">
                <a:solidFill>
                  <a:srgbClr val="FF9900"/>
                </a:solidFill>
              </a:rPr>
              <a:t> мост се нарича MCH (</a:t>
            </a:r>
            <a:r>
              <a:rPr lang="ru-RU" sz="2400" dirty="0" err="1">
                <a:solidFill>
                  <a:srgbClr val="FF9900"/>
                </a:solidFill>
              </a:rPr>
              <a:t>Memory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Controller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Hub</a:t>
            </a:r>
            <a:r>
              <a:rPr lang="ru-RU" sz="2400" dirty="0">
                <a:solidFill>
                  <a:srgbClr val="FF9900"/>
                </a:solidFill>
              </a:rPr>
              <a:t> – </a:t>
            </a:r>
            <a:r>
              <a:rPr lang="ru-RU" sz="2400" dirty="0" err="1">
                <a:solidFill>
                  <a:srgbClr val="FF9900"/>
                </a:solidFill>
              </a:rPr>
              <a:t>хъб</a:t>
            </a:r>
            <a:r>
              <a:rPr lang="ru-RU" sz="2400" dirty="0">
                <a:solidFill>
                  <a:srgbClr val="FF9900"/>
                </a:solidFill>
              </a:rPr>
              <a:t>  на контролера на паметта), а </a:t>
            </a:r>
            <a:r>
              <a:rPr lang="ru-RU" sz="2400" dirty="0" err="1">
                <a:solidFill>
                  <a:srgbClr val="FF9900"/>
                </a:solidFill>
              </a:rPr>
              <a:t>предишният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южен</a:t>
            </a:r>
            <a:r>
              <a:rPr lang="ru-RU" sz="2400" dirty="0">
                <a:solidFill>
                  <a:srgbClr val="FF9900"/>
                </a:solidFill>
              </a:rPr>
              <a:t> мост се нарича ICH (I/O </a:t>
            </a:r>
            <a:r>
              <a:rPr lang="ru-RU" sz="2400" dirty="0" err="1">
                <a:solidFill>
                  <a:srgbClr val="FF9900"/>
                </a:solidFill>
              </a:rPr>
              <a:t>Controller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Hub</a:t>
            </a:r>
            <a:r>
              <a:rPr lang="ru-RU" sz="2400" dirty="0">
                <a:solidFill>
                  <a:srgbClr val="FF9900"/>
                </a:solidFill>
              </a:rPr>
              <a:t> – </a:t>
            </a:r>
            <a:r>
              <a:rPr lang="ru-RU" sz="2400" dirty="0" err="1">
                <a:solidFill>
                  <a:srgbClr val="FF9900"/>
                </a:solidFill>
              </a:rPr>
              <a:t>хъб</a:t>
            </a:r>
            <a:r>
              <a:rPr lang="ru-RU" sz="2400" dirty="0">
                <a:solidFill>
                  <a:srgbClr val="FF9900"/>
                </a:solidFill>
              </a:rPr>
              <a:t> на контролера за вход/изход).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914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137074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2954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Системите, които включват </a:t>
            </a:r>
            <a:r>
              <a:rPr lang="ru-RU" sz="2400" dirty="0" err="1">
                <a:solidFill>
                  <a:srgbClr val="FF9900"/>
                </a:solidFill>
              </a:rPr>
              <a:t>интегрирана</a:t>
            </a:r>
            <a:r>
              <a:rPr lang="ru-RU" sz="2400" dirty="0">
                <a:solidFill>
                  <a:srgbClr val="FF9900"/>
                </a:solidFill>
              </a:rPr>
              <a:t> графика използват GMCH (</a:t>
            </a:r>
            <a:r>
              <a:rPr lang="ru-RU" sz="2400" dirty="0" err="1">
                <a:solidFill>
                  <a:srgbClr val="FF9900"/>
                </a:solidFill>
              </a:rPr>
              <a:t>Graphics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Memory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Controller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Hub</a:t>
            </a:r>
            <a:r>
              <a:rPr lang="ru-RU" sz="2400" dirty="0">
                <a:solidFill>
                  <a:srgbClr val="FF9900"/>
                </a:solidFill>
              </a:rPr>
              <a:t> – </a:t>
            </a:r>
            <a:r>
              <a:rPr lang="ru-RU" sz="2400" dirty="0" err="1">
                <a:solidFill>
                  <a:srgbClr val="FF9900"/>
                </a:solidFill>
              </a:rPr>
              <a:t>хъб</a:t>
            </a:r>
            <a:r>
              <a:rPr lang="ru-RU" sz="2400" dirty="0">
                <a:solidFill>
                  <a:srgbClr val="FF9900"/>
                </a:solidFill>
              </a:rPr>
              <a:t> на контролера за графика и памет) на мястото на стандартните MCH. Вместо да се свързват през PCI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, както е при стандартната конструкция със </a:t>
            </a:r>
            <a:r>
              <a:rPr lang="ru-RU" sz="2400" dirty="0" err="1">
                <a:solidFill>
                  <a:srgbClr val="FF9900"/>
                </a:solidFill>
              </a:rPr>
              <a:t>северен</a:t>
            </a:r>
            <a:r>
              <a:rPr lang="ru-RU" sz="2400" dirty="0">
                <a:solidFill>
                  <a:srgbClr val="FF9900"/>
                </a:solidFill>
              </a:rPr>
              <a:t>/</a:t>
            </a:r>
            <a:r>
              <a:rPr lang="ru-RU" sz="2400" dirty="0" err="1">
                <a:solidFill>
                  <a:srgbClr val="FF9900"/>
                </a:solidFill>
              </a:rPr>
              <a:t>южен</a:t>
            </a:r>
            <a:r>
              <a:rPr lang="ru-RU" sz="2400" dirty="0">
                <a:solidFill>
                  <a:srgbClr val="FF9900"/>
                </a:solidFill>
              </a:rPr>
              <a:t> мост, те се свързват по </a:t>
            </a:r>
            <a:r>
              <a:rPr lang="ru-RU" sz="2400" dirty="0" err="1">
                <a:solidFill>
                  <a:srgbClr val="FF9900"/>
                </a:solidFill>
              </a:rPr>
              <a:t>специализиран</a:t>
            </a:r>
            <a:r>
              <a:rPr lang="ru-RU" sz="2400" dirty="0">
                <a:solidFill>
                  <a:srgbClr val="FF9900"/>
                </a:solidFill>
              </a:rPr>
              <a:t> интерфейс, който е поне два пъти по-бърз от PCI (фиг.1). 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0130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186951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58773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MCH </a:t>
            </a:r>
            <a:r>
              <a:rPr lang="ru-RU" sz="2400" dirty="0" err="1">
                <a:solidFill>
                  <a:srgbClr val="FF9900"/>
                </a:solidFill>
              </a:rPr>
              <a:t>чипът</a:t>
            </a:r>
            <a:r>
              <a:rPr lang="ru-RU" sz="2400" dirty="0">
                <a:solidFill>
                  <a:srgbClr val="FF9900"/>
                </a:solidFill>
              </a:rPr>
              <a:t> осъществява връзката между </a:t>
            </a:r>
            <a:r>
              <a:rPr lang="ru-RU" sz="2400" dirty="0" err="1">
                <a:solidFill>
                  <a:srgbClr val="FF9900"/>
                </a:solidFill>
              </a:rPr>
              <a:t>високоскоростната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процесорна</a:t>
            </a:r>
            <a:r>
              <a:rPr lang="ru-RU" sz="2400" dirty="0">
                <a:solidFill>
                  <a:srgbClr val="FF9900"/>
                </a:solidFill>
              </a:rPr>
              <a:t> шина (533/400/133/100/66 </a:t>
            </a:r>
            <a:r>
              <a:rPr lang="ru-RU" sz="2400" dirty="0" err="1">
                <a:solidFill>
                  <a:srgbClr val="FF9900"/>
                </a:solidFill>
              </a:rPr>
              <a:t>MHz</a:t>
            </a:r>
            <a:r>
              <a:rPr lang="ru-RU" sz="2400" dirty="0">
                <a:solidFill>
                  <a:srgbClr val="FF9900"/>
                </a:solidFill>
              </a:rPr>
              <a:t>),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на паметта, AGP порта (533/266/133/66MHz) и </a:t>
            </a:r>
            <a:r>
              <a:rPr lang="ru-RU" sz="2400" dirty="0" err="1">
                <a:solidFill>
                  <a:srgbClr val="FF9900"/>
                </a:solidFill>
              </a:rPr>
              <a:t>хъбовия</a:t>
            </a:r>
            <a:r>
              <a:rPr lang="ru-RU" sz="2400" dirty="0">
                <a:solidFill>
                  <a:srgbClr val="FF9900"/>
                </a:solidFill>
              </a:rPr>
              <a:t> интерфейс (66MHz).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9912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120449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2954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9900"/>
                </a:solidFill>
              </a:rPr>
              <a:t>ICH </a:t>
            </a:r>
            <a:r>
              <a:rPr lang="ru-RU" sz="2400" dirty="0" err="1">
                <a:solidFill>
                  <a:srgbClr val="FF9900"/>
                </a:solidFill>
              </a:rPr>
              <a:t>чипът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свързва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хъбовия</a:t>
            </a:r>
            <a:r>
              <a:rPr lang="ru-RU" sz="2400" dirty="0">
                <a:solidFill>
                  <a:srgbClr val="FF9900"/>
                </a:solidFill>
              </a:rPr>
              <a:t> интерфейс (66</a:t>
            </a:r>
            <a:r>
              <a:rPr lang="en-US" sz="2400" dirty="0">
                <a:solidFill>
                  <a:srgbClr val="FF9900"/>
                </a:solidFill>
              </a:rPr>
              <a:t>MHz), ATA(IDE) </a:t>
            </a:r>
            <a:r>
              <a:rPr lang="ru-RU" sz="2400" dirty="0" err="1">
                <a:solidFill>
                  <a:srgbClr val="FF9900"/>
                </a:solidFill>
              </a:rPr>
              <a:t>портовете</a:t>
            </a:r>
            <a:r>
              <a:rPr lang="ru-RU" sz="2400" dirty="0">
                <a:solidFill>
                  <a:srgbClr val="FF9900"/>
                </a:solidFill>
              </a:rPr>
              <a:t> (66/100/133</a:t>
            </a:r>
            <a:r>
              <a:rPr lang="en-US" sz="2400" dirty="0">
                <a:solidFill>
                  <a:srgbClr val="FF9900"/>
                </a:solidFill>
              </a:rPr>
              <a:t>MHz) </a:t>
            </a:r>
            <a:r>
              <a:rPr lang="ru-RU" sz="2400" dirty="0">
                <a:solidFill>
                  <a:srgbClr val="FF9900"/>
                </a:solidFill>
              </a:rPr>
              <a:t>и </a:t>
            </a:r>
            <a:r>
              <a:rPr lang="en-US" sz="2400" dirty="0">
                <a:solidFill>
                  <a:srgbClr val="FF9900"/>
                </a:solidFill>
              </a:rPr>
              <a:t>PCI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(33</a:t>
            </a:r>
            <a:r>
              <a:rPr lang="en-US" sz="2400" dirty="0">
                <a:solidFill>
                  <a:srgbClr val="FF9900"/>
                </a:solidFill>
              </a:rPr>
              <a:t>MHz). ICH </a:t>
            </a:r>
            <a:r>
              <a:rPr lang="ru-RU" sz="2400" dirty="0" err="1">
                <a:solidFill>
                  <a:srgbClr val="FF9900"/>
                </a:solidFill>
              </a:rPr>
              <a:t>чипът</a:t>
            </a:r>
            <a:r>
              <a:rPr lang="ru-RU" sz="2400" dirty="0">
                <a:solidFill>
                  <a:srgbClr val="FF9900"/>
                </a:solidFill>
              </a:rPr>
              <a:t> включва също и нова </a:t>
            </a:r>
            <a:r>
              <a:rPr lang="en-US" sz="2400" dirty="0">
                <a:solidFill>
                  <a:srgbClr val="FF9900"/>
                </a:solidFill>
              </a:rPr>
              <a:t>LPC (Low-Pin-Count–</a:t>
            </a:r>
            <a:r>
              <a:rPr lang="ru-RU" sz="2400" dirty="0">
                <a:solidFill>
                  <a:srgbClr val="FF9900"/>
                </a:solidFill>
              </a:rPr>
              <a:t>малък брой изводи) шина, </a:t>
            </a:r>
            <a:r>
              <a:rPr lang="ru-RU" sz="2400" dirty="0" err="1">
                <a:solidFill>
                  <a:srgbClr val="FF9900"/>
                </a:solidFill>
              </a:rPr>
              <a:t>представляваща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орязана</a:t>
            </a:r>
            <a:r>
              <a:rPr lang="ru-RU" sz="2400" dirty="0">
                <a:solidFill>
                  <a:srgbClr val="FF9900"/>
                </a:solidFill>
              </a:rPr>
              <a:t>, 4-битова версия на </a:t>
            </a:r>
            <a:r>
              <a:rPr lang="en-US" sz="2400" dirty="0">
                <a:solidFill>
                  <a:srgbClr val="FF9900"/>
                </a:solidFill>
              </a:rPr>
              <a:t>PCI, </a:t>
            </a:r>
            <a:r>
              <a:rPr lang="ru-RU" sz="2400" dirty="0">
                <a:solidFill>
                  <a:srgbClr val="FF9900"/>
                </a:solidFill>
              </a:rPr>
              <a:t>която е предназначена да осигурява връзка с </a:t>
            </a:r>
            <a:r>
              <a:rPr lang="en-US" sz="2400" dirty="0">
                <a:solidFill>
                  <a:srgbClr val="FF9900"/>
                </a:solidFill>
              </a:rPr>
              <a:t>ROM BIOS-</a:t>
            </a:r>
            <a:r>
              <a:rPr lang="ru-RU" sz="2400" dirty="0">
                <a:solidFill>
                  <a:srgbClr val="FF9900"/>
                </a:solidFill>
              </a:rPr>
              <a:t>а (наречен </a:t>
            </a:r>
            <a:r>
              <a:rPr lang="ru-RU" sz="2400" dirty="0" err="1">
                <a:solidFill>
                  <a:srgbClr val="FF9900"/>
                </a:solidFill>
              </a:rPr>
              <a:t>хъб</a:t>
            </a:r>
            <a:r>
              <a:rPr lang="ru-RU" sz="2400" dirty="0">
                <a:solidFill>
                  <a:srgbClr val="FF9900"/>
                </a:solidFill>
              </a:rPr>
              <a:t> за фърмуер </a:t>
            </a:r>
            <a:r>
              <a:rPr lang="en-US" sz="2400" dirty="0">
                <a:solidFill>
                  <a:srgbClr val="FF9900"/>
                </a:solidFill>
              </a:rPr>
              <a:t>FWH- </a:t>
            </a:r>
            <a:r>
              <a:rPr lang="en-US" sz="2400" dirty="0" err="1">
                <a:solidFill>
                  <a:srgbClr val="FF9900"/>
                </a:solidFill>
              </a:rPr>
              <a:t>FirmWare</a:t>
            </a:r>
            <a:r>
              <a:rPr lang="en-US" sz="2400" dirty="0">
                <a:solidFill>
                  <a:srgbClr val="FF9900"/>
                </a:solidFill>
              </a:rPr>
              <a:t> Hub) </a:t>
            </a:r>
            <a:r>
              <a:rPr lang="ru-RU" sz="2400" dirty="0">
                <a:solidFill>
                  <a:srgbClr val="FF9900"/>
                </a:solidFill>
              </a:rPr>
              <a:t>и </a:t>
            </a:r>
            <a:r>
              <a:rPr lang="en-US" sz="2400" dirty="0">
                <a:solidFill>
                  <a:srgbClr val="FF9900"/>
                </a:solidFill>
              </a:rPr>
              <a:t>Super I/O </a:t>
            </a:r>
            <a:r>
              <a:rPr lang="ru-RU" sz="2400" dirty="0">
                <a:solidFill>
                  <a:srgbClr val="FF9900"/>
                </a:solidFill>
              </a:rPr>
              <a:t>чипа на дънната платка.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52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270078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338349"/>
            <a:ext cx="6344892" cy="512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i="1" dirty="0">
                <a:solidFill>
                  <a:srgbClr val="FF9900"/>
                </a:solidFill>
              </a:rPr>
              <a:t>Има две основни разновидности на </a:t>
            </a:r>
            <a:r>
              <a:rPr lang="ru-RU" sz="2400" i="1" dirty="0" err="1">
                <a:solidFill>
                  <a:srgbClr val="FF9900"/>
                </a:solidFill>
              </a:rPr>
              <a:t>хъбов</a:t>
            </a:r>
            <a:r>
              <a:rPr lang="ru-RU" sz="2400" i="1" dirty="0">
                <a:solidFill>
                  <a:srgbClr val="FF9900"/>
                </a:solidFill>
              </a:rPr>
              <a:t> </a:t>
            </a:r>
            <a:r>
              <a:rPr lang="ru-RU" sz="2400" i="1">
                <a:solidFill>
                  <a:srgbClr val="FF9900"/>
                </a:solidFill>
              </a:rPr>
              <a:t>интерфейс</a:t>
            </a:r>
            <a:r>
              <a:rPr lang="ru-RU" sz="2400" i="1" smtClean="0">
                <a:solidFill>
                  <a:srgbClr val="FF9900"/>
                </a:solidFill>
              </a:rPr>
              <a:t>:</a:t>
            </a:r>
          </a:p>
          <a:p>
            <a:pPr marL="0" indent="0">
              <a:buNone/>
            </a:pPr>
            <a:r>
              <a:rPr lang="ru-RU" sz="2400" i="1" smtClean="0">
                <a:solidFill>
                  <a:srgbClr val="FF9900"/>
                </a:solidFill>
              </a:rPr>
              <a:t>  </a:t>
            </a:r>
          </a:p>
          <a:p>
            <a:pPr marL="0" indent="0">
              <a:buNone/>
            </a:pPr>
            <a:r>
              <a:rPr lang="ru-RU" sz="2400" smtClean="0">
                <a:solidFill>
                  <a:srgbClr val="FF9900"/>
                </a:solidFill>
              </a:rPr>
              <a:t>- </a:t>
            </a:r>
            <a:r>
              <a:rPr lang="ru-RU" sz="2400" dirty="0" smtClean="0">
                <a:solidFill>
                  <a:srgbClr val="FF9900"/>
                </a:solidFill>
              </a:rPr>
              <a:t>АНА </a:t>
            </a:r>
            <a:r>
              <a:rPr lang="ru-RU" sz="2400" dirty="0">
                <a:solidFill>
                  <a:srgbClr val="FF9900"/>
                </a:solidFill>
              </a:rPr>
              <a:t>(ускорена хъбова архитектура) </a:t>
            </a:r>
            <a:r>
              <a:rPr lang="ru-RU" sz="2400" dirty="0" err="1">
                <a:solidFill>
                  <a:srgbClr val="FF9900"/>
                </a:solidFill>
              </a:rPr>
              <a:t>използвани</a:t>
            </a:r>
            <a:r>
              <a:rPr lang="ru-RU" sz="2400" dirty="0">
                <a:solidFill>
                  <a:srgbClr val="FF9900"/>
                </a:solidFill>
              </a:rPr>
              <a:t> от серията 8xx на чипсети. </a:t>
            </a:r>
            <a:r>
              <a:rPr lang="ru-RU" sz="2400" dirty="0" err="1">
                <a:solidFill>
                  <a:srgbClr val="FF9900"/>
                </a:solidFill>
              </a:rPr>
              <a:t>Хъбовият</a:t>
            </a:r>
            <a:r>
              <a:rPr lang="ru-RU" sz="2400" dirty="0">
                <a:solidFill>
                  <a:srgbClr val="FF9900"/>
                </a:solidFill>
              </a:rPr>
              <a:t> интерфейс АНА е </a:t>
            </a:r>
            <a:r>
              <a:rPr lang="ru-RU" sz="2400" dirty="0" err="1">
                <a:solidFill>
                  <a:srgbClr val="FF9900"/>
                </a:solidFill>
              </a:rPr>
              <a:t>двупосочен</a:t>
            </a:r>
            <a:r>
              <a:rPr lang="ru-RU" sz="2400" dirty="0">
                <a:solidFill>
                  <a:srgbClr val="FF9900"/>
                </a:solidFill>
              </a:rPr>
              <a:t>, 8-битов, с честота 66 </a:t>
            </a:r>
            <a:r>
              <a:rPr lang="ru-RU" sz="2400" dirty="0" err="1">
                <a:solidFill>
                  <a:srgbClr val="FF9900"/>
                </a:solidFill>
              </a:rPr>
              <a:t>MHz</a:t>
            </a:r>
            <a:r>
              <a:rPr lang="ru-RU" sz="2400" dirty="0">
                <a:solidFill>
                  <a:srgbClr val="FF9900"/>
                </a:solidFill>
              </a:rPr>
              <a:t> и извършва четири трансфера за един такт. При това положение </a:t>
            </a:r>
            <a:r>
              <a:rPr lang="ru-RU" sz="2400" dirty="0" err="1">
                <a:solidFill>
                  <a:srgbClr val="FF9900"/>
                </a:solidFill>
              </a:rPr>
              <a:t>ефективната</a:t>
            </a:r>
            <a:r>
              <a:rPr lang="ru-RU" sz="2400" dirty="0">
                <a:solidFill>
                  <a:srgbClr val="FF9900"/>
                </a:solidFill>
              </a:rPr>
              <a:t> му пропускателна способност е 4 x 66 </a:t>
            </a:r>
            <a:r>
              <a:rPr lang="ru-RU" sz="2400" dirty="0" err="1">
                <a:solidFill>
                  <a:srgbClr val="FF9900"/>
                </a:solidFill>
              </a:rPr>
              <a:t>MHz</a:t>
            </a:r>
            <a:r>
              <a:rPr lang="ru-RU" sz="2400" dirty="0">
                <a:solidFill>
                  <a:srgbClr val="FF9900"/>
                </a:solidFill>
              </a:rPr>
              <a:t> x 1 байт =266MB/сек. 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362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053947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562793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</a:t>
            </a:r>
            <a:r>
              <a:rPr lang="en-US" sz="2400" dirty="0" smtClean="0">
                <a:solidFill>
                  <a:srgbClr val="FF9900"/>
                </a:solidFill>
              </a:rPr>
              <a:t>DMI </a:t>
            </a:r>
            <a:r>
              <a:rPr lang="en-US" sz="2400" dirty="0">
                <a:solidFill>
                  <a:srgbClr val="FF9900"/>
                </a:solidFill>
              </a:rPr>
              <a:t>(Direct Media Interface), </a:t>
            </a:r>
            <a:r>
              <a:rPr lang="ru-RU" sz="2400" dirty="0">
                <a:solidFill>
                  <a:srgbClr val="FF9900"/>
                </a:solidFill>
              </a:rPr>
              <a:t>използван от 9</a:t>
            </a:r>
            <a:r>
              <a:rPr lang="en-US" sz="2400" dirty="0">
                <a:solidFill>
                  <a:srgbClr val="FF9900"/>
                </a:solidFill>
              </a:rPr>
              <a:t>xx </a:t>
            </a:r>
            <a:r>
              <a:rPr lang="ru-RU" sz="2400" dirty="0">
                <a:solidFill>
                  <a:srgbClr val="FF9900"/>
                </a:solidFill>
              </a:rPr>
              <a:t>и следващи серии чипсети. </a:t>
            </a:r>
            <a:r>
              <a:rPr lang="en-US" sz="2400" dirty="0">
                <a:solidFill>
                  <a:srgbClr val="FF9900"/>
                </a:solidFill>
              </a:rPr>
              <a:t>DMI </a:t>
            </a:r>
            <a:r>
              <a:rPr lang="ru-RU" sz="2400" dirty="0">
                <a:solidFill>
                  <a:srgbClr val="FF9900"/>
                </a:solidFill>
              </a:rPr>
              <a:t>е </a:t>
            </a:r>
            <a:r>
              <a:rPr lang="en-US" sz="2400" dirty="0">
                <a:solidFill>
                  <a:srgbClr val="FF9900"/>
                </a:solidFill>
              </a:rPr>
              <a:t>PCI Express </a:t>
            </a:r>
            <a:r>
              <a:rPr lang="ru-RU" sz="2400" dirty="0">
                <a:solidFill>
                  <a:srgbClr val="FF9900"/>
                </a:solidFill>
              </a:rPr>
              <a:t>връзка с 4 </a:t>
            </a:r>
            <a:r>
              <a:rPr lang="ru-RU" sz="2400" dirty="0" err="1">
                <a:solidFill>
                  <a:srgbClr val="FF9900"/>
                </a:solidFill>
              </a:rPr>
              <a:t>алеи</a:t>
            </a:r>
            <a:r>
              <a:rPr lang="ru-RU" sz="2400" dirty="0">
                <a:solidFill>
                  <a:srgbClr val="FF9900"/>
                </a:solidFill>
              </a:rPr>
              <a:t> (широка 4 бита). Използват се две отделни </a:t>
            </a:r>
            <a:r>
              <a:rPr lang="ru-RU" sz="2400" dirty="0" err="1">
                <a:solidFill>
                  <a:srgbClr val="FF9900"/>
                </a:solidFill>
              </a:rPr>
              <a:t>еднопосочни</a:t>
            </a:r>
            <a:r>
              <a:rPr lang="ru-RU" sz="2400" dirty="0">
                <a:solidFill>
                  <a:srgbClr val="FF9900"/>
                </a:solidFill>
              </a:rPr>
              <a:t> връзки, като данните се предават едновременно и в двете </a:t>
            </a:r>
            <a:r>
              <a:rPr lang="ru-RU" sz="2400" dirty="0" err="1">
                <a:solidFill>
                  <a:srgbClr val="FF9900"/>
                </a:solidFill>
              </a:rPr>
              <a:t>посоки</a:t>
            </a:r>
            <a:r>
              <a:rPr lang="ru-RU" sz="2400" dirty="0">
                <a:solidFill>
                  <a:srgbClr val="FF9900"/>
                </a:solidFill>
              </a:rPr>
              <a:t> (</a:t>
            </a:r>
            <a:r>
              <a:rPr lang="ru-RU" sz="2400" dirty="0" err="1">
                <a:solidFill>
                  <a:srgbClr val="FF9900"/>
                </a:solidFill>
              </a:rPr>
              <a:t>дуплексен</a:t>
            </a:r>
            <a:r>
              <a:rPr lang="ru-RU" sz="2400" dirty="0">
                <a:solidFill>
                  <a:srgbClr val="FF9900"/>
                </a:solidFill>
              </a:rPr>
              <a:t> режим). Във всяка посока </a:t>
            </a:r>
            <a:r>
              <a:rPr lang="ru-RU" sz="2400" dirty="0" err="1">
                <a:solidFill>
                  <a:srgbClr val="FF9900"/>
                </a:solidFill>
              </a:rPr>
              <a:t>пропускателната</a:t>
            </a:r>
            <a:r>
              <a:rPr lang="ru-RU" sz="2400" dirty="0">
                <a:solidFill>
                  <a:srgbClr val="FF9900"/>
                </a:solidFill>
              </a:rPr>
              <a:t> способност е 1</a:t>
            </a:r>
            <a:r>
              <a:rPr lang="en-US" sz="2400" dirty="0">
                <a:solidFill>
                  <a:srgbClr val="FF9900"/>
                </a:solidFill>
              </a:rPr>
              <a:t>GB/s (250 MB/s </a:t>
            </a:r>
            <a:r>
              <a:rPr lang="ru-RU" sz="2400" dirty="0">
                <a:solidFill>
                  <a:srgbClr val="FF9900"/>
                </a:solidFill>
              </a:rPr>
              <a:t>Х 4 </a:t>
            </a:r>
            <a:r>
              <a:rPr lang="ru-RU" sz="2400" dirty="0" err="1">
                <a:solidFill>
                  <a:srgbClr val="FF9900"/>
                </a:solidFill>
              </a:rPr>
              <a:t>алеи</a:t>
            </a:r>
            <a:r>
              <a:rPr lang="ru-RU" sz="2400" dirty="0">
                <a:solidFill>
                  <a:srgbClr val="FF9900"/>
                </a:solidFill>
              </a:rPr>
              <a:t>) или общо 2</a:t>
            </a:r>
            <a:r>
              <a:rPr lang="en-US" sz="2400" dirty="0">
                <a:solidFill>
                  <a:srgbClr val="FF9900"/>
                </a:solidFill>
              </a:rPr>
              <a:t>GB/s, </a:t>
            </a:r>
            <a:r>
              <a:rPr lang="ru-RU" sz="2400" dirty="0">
                <a:solidFill>
                  <a:srgbClr val="FF9900"/>
                </a:solidFill>
              </a:rPr>
              <a:t>което е 7,5 до 14 пъти </a:t>
            </a:r>
            <a:r>
              <a:rPr lang="ru-RU" sz="2400" dirty="0" err="1">
                <a:solidFill>
                  <a:srgbClr val="FF9900"/>
                </a:solidFill>
              </a:rPr>
              <a:t>по-бързо</a:t>
            </a:r>
            <a:r>
              <a:rPr lang="ru-RU" sz="2400" dirty="0">
                <a:solidFill>
                  <a:srgbClr val="FF9900"/>
                </a:solidFill>
              </a:rPr>
              <a:t> от </a:t>
            </a:r>
            <a:r>
              <a:rPr lang="en-US" sz="2400" dirty="0">
                <a:solidFill>
                  <a:srgbClr val="FF9900"/>
                </a:solidFill>
              </a:rPr>
              <a:t>PCI.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5181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053947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604356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>
                <a:solidFill>
                  <a:srgbClr val="FF9900"/>
                </a:solidFill>
              </a:rPr>
              <a:t>Тясната</a:t>
            </a:r>
            <a:r>
              <a:rPr lang="ru-RU" sz="2400" dirty="0">
                <a:solidFill>
                  <a:srgbClr val="FF9900"/>
                </a:solidFill>
              </a:rPr>
              <a:t> шина на </a:t>
            </a:r>
            <a:r>
              <a:rPr lang="ru-RU" sz="2400" dirty="0" err="1">
                <a:solidFill>
                  <a:srgbClr val="FF9900"/>
                </a:solidFill>
              </a:rPr>
              <a:t>хъбовия</a:t>
            </a:r>
            <a:r>
              <a:rPr lang="ru-RU" sz="2400" dirty="0">
                <a:solidFill>
                  <a:srgbClr val="FF9900"/>
                </a:solidFill>
              </a:rPr>
              <a:t> интерфейс позволява </a:t>
            </a:r>
            <a:r>
              <a:rPr lang="ru-RU" sz="2400" dirty="0" err="1">
                <a:solidFill>
                  <a:srgbClr val="FF9900"/>
                </a:solidFill>
              </a:rPr>
              <a:t>постигането</a:t>
            </a:r>
            <a:r>
              <a:rPr lang="ru-RU" sz="2400" dirty="0">
                <a:solidFill>
                  <a:srgbClr val="FF9900"/>
                </a:solidFill>
              </a:rPr>
              <a:t> на по-високи честоти, поради </a:t>
            </a:r>
            <a:r>
              <a:rPr lang="ru-RU" sz="2400" dirty="0" err="1">
                <a:solidFill>
                  <a:srgbClr val="FF9900"/>
                </a:solidFill>
              </a:rPr>
              <a:t>намаляването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електрическите</a:t>
            </a:r>
            <a:r>
              <a:rPr lang="ru-RU" sz="2400" dirty="0">
                <a:solidFill>
                  <a:srgbClr val="FF9900"/>
                </a:solidFill>
              </a:rPr>
              <a:t> смущения, а </a:t>
            </a:r>
            <a:r>
              <a:rPr lang="ru-RU" sz="2400" dirty="0" err="1">
                <a:solidFill>
                  <a:srgbClr val="FF9900"/>
                </a:solidFill>
              </a:rPr>
              <a:t>оттам</a:t>
            </a:r>
            <a:r>
              <a:rPr lang="ru-RU" sz="2400" dirty="0">
                <a:solidFill>
                  <a:srgbClr val="FF9900"/>
                </a:solidFill>
              </a:rPr>
              <a:t> и по-висока пропускателна способност и е </a:t>
            </a:r>
            <a:r>
              <a:rPr lang="ru-RU" sz="2400" dirty="0" err="1">
                <a:solidFill>
                  <a:srgbClr val="FF9900"/>
                </a:solidFill>
              </a:rPr>
              <a:t>по-икономична</a:t>
            </a:r>
            <a:r>
              <a:rPr lang="ru-RU" sz="2400" dirty="0">
                <a:solidFill>
                  <a:srgbClr val="FF9900"/>
                </a:solidFill>
              </a:rPr>
              <a:t> за производство от </a:t>
            </a:r>
            <a:r>
              <a:rPr lang="ru-RU" sz="2400" dirty="0" err="1">
                <a:solidFill>
                  <a:srgbClr val="FF9900"/>
                </a:solidFill>
              </a:rPr>
              <a:t>предишните</a:t>
            </a:r>
            <a:r>
              <a:rPr lang="ru-RU" sz="2400" dirty="0">
                <a:solidFill>
                  <a:srgbClr val="FF9900"/>
                </a:solidFill>
              </a:rPr>
              <a:t> конструкции, </a:t>
            </a:r>
            <a:r>
              <a:rPr lang="ru-RU" sz="2400" dirty="0" smtClean="0">
                <a:solidFill>
                  <a:srgbClr val="FF9900"/>
                </a:solidFill>
              </a:rPr>
              <a:t>използващи </a:t>
            </a:r>
            <a:r>
              <a:rPr lang="ru-RU" sz="2400" dirty="0" err="1" smtClean="0">
                <a:solidFill>
                  <a:srgbClr val="FF9900"/>
                </a:solidFill>
              </a:rPr>
              <a:t>архитектурата</a:t>
            </a:r>
            <a:r>
              <a:rPr lang="ru-RU" sz="2400" dirty="0" smtClean="0">
                <a:solidFill>
                  <a:srgbClr val="FF9900"/>
                </a:solidFill>
              </a:rPr>
              <a:t> „</a:t>
            </a:r>
            <a:r>
              <a:rPr lang="ru-RU" sz="2400" dirty="0" err="1" smtClean="0">
                <a:solidFill>
                  <a:srgbClr val="FF9900"/>
                </a:solidFill>
              </a:rPr>
              <a:t>северен-южен</a:t>
            </a:r>
            <a:r>
              <a:rPr lang="ru-RU" sz="2400" dirty="0" smtClean="0">
                <a:solidFill>
                  <a:srgbClr val="FF9900"/>
                </a:solidFill>
              </a:rPr>
              <a:t> мост”.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3972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195263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496291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i="1" dirty="0" smtClean="0">
                <a:solidFill>
                  <a:srgbClr val="FF9900"/>
                </a:solidFill>
              </a:rPr>
              <a:t>Предимства </a:t>
            </a:r>
            <a:r>
              <a:rPr lang="ru-RU" sz="2400" i="1" dirty="0">
                <a:solidFill>
                  <a:srgbClr val="FF9900"/>
                </a:solidFill>
              </a:rPr>
              <a:t>на </a:t>
            </a:r>
            <a:r>
              <a:rPr lang="ru-RU" sz="2400" i="1" dirty="0" err="1">
                <a:solidFill>
                  <a:srgbClr val="FF9900"/>
                </a:solidFill>
              </a:rPr>
              <a:t>Х</a:t>
            </a:r>
            <a:r>
              <a:rPr lang="ru-RU" sz="2400" i="1" dirty="0" err="1" smtClean="0">
                <a:solidFill>
                  <a:srgbClr val="FF9900"/>
                </a:solidFill>
              </a:rPr>
              <a:t>ъбовата</a:t>
            </a:r>
            <a:r>
              <a:rPr lang="ru-RU" sz="2400" i="1" dirty="0" smtClean="0">
                <a:solidFill>
                  <a:srgbClr val="FF9900"/>
                </a:solidFill>
              </a:rPr>
              <a:t> архитектура</a:t>
            </a:r>
            <a:r>
              <a:rPr lang="en-US" sz="2400" i="1" dirty="0" smtClean="0">
                <a:solidFill>
                  <a:srgbClr val="FF9900"/>
                </a:solidFill>
              </a:rPr>
              <a:t>:</a:t>
            </a:r>
            <a:endParaRPr lang="bg-BG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err="1" smtClean="0">
                <a:solidFill>
                  <a:srgbClr val="FF9900"/>
                </a:solidFill>
              </a:rPr>
              <a:t>Хъбовата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конструкция предлага няколко предимства пред </a:t>
            </a:r>
            <a:r>
              <a:rPr lang="ru-RU" sz="2400" dirty="0" err="1">
                <a:solidFill>
                  <a:srgbClr val="FF9900"/>
                </a:solidFill>
              </a:rPr>
              <a:t>традиционната</a:t>
            </a:r>
            <a:r>
              <a:rPr lang="ru-RU" sz="2400" dirty="0">
                <a:solidFill>
                  <a:srgbClr val="FF9900"/>
                </a:solidFill>
              </a:rPr>
              <a:t> архитектура „</a:t>
            </a:r>
            <a:r>
              <a:rPr lang="ru-RU" sz="2400" dirty="0" err="1">
                <a:solidFill>
                  <a:srgbClr val="FF9900"/>
                </a:solidFill>
              </a:rPr>
              <a:t>северен</a:t>
            </a:r>
            <a:r>
              <a:rPr lang="ru-RU" sz="2400" dirty="0">
                <a:solidFill>
                  <a:srgbClr val="FF9900"/>
                </a:solidFill>
              </a:rPr>
              <a:t>/</a:t>
            </a:r>
            <a:r>
              <a:rPr lang="ru-RU" sz="2400" dirty="0" err="1">
                <a:solidFill>
                  <a:srgbClr val="FF9900"/>
                </a:solidFill>
              </a:rPr>
              <a:t>южен</a:t>
            </a:r>
            <a:r>
              <a:rPr lang="ru-RU" sz="2400" dirty="0">
                <a:solidFill>
                  <a:srgbClr val="FF9900"/>
                </a:solidFill>
              </a:rPr>
              <a:t> мост”: 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i="1" dirty="0" smtClean="0">
                <a:solidFill>
                  <a:srgbClr val="FF9900"/>
                </a:solidFill>
              </a:rPr>
              <a:t> </a:t>
            </a:r>
            <a:endParaRPr lang="ru-RU" sz="2400" i="1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0211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112136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29542"/>
            <a:ext cx="6344892" cy="4754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</a:t>
            </a:r>
            <a:r>
              <a:rPr lang="ru-RU" sz="2400" dirty="0" err="1" smtClean="0">
                <a:solidFill>
                  <a:srgbClr val="FF9900"/>
                </a:solidFill>
              </a:rPr>
              <a:t>Хъбовият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интерфейс </a:t>
            </a:r>
            <a:r>
              <a:rPr lang="en-US" sz="2400" dirty="0">
                <a:solidFill>
                  <a:srgbClr val="FF9900"/>
                </a:solidFill>
              </a:rPr>
              <a:t>AHA (Accelerated Hub Architecture – </a:t>
            </a:r>
            <a:r>
              <a:rPr lang="ru-RU" sz="2400" dirty="0">
                <a:solidFill>
                  <a:srgbClr val="FF9900"/>
                </a:solidFill>
              </a:rPr>
              <a:t>ускорена хъбова архитектура), използван от 8</a:t>
            </a:r>
            <a:r>
              <a:rPr lang="en-US" sz="2400" dirty="0">
                <a:solidFill>
                  <a:srgbClr val="FF9900"/>
                </a:solidFill>
              </a:rPr>
              <a:t>xx </a:t>
            </a:r>
            <a:r>
              <a:rPr lang="ru-RU" sz="2400" dirty="0">
                <a:solidFill>
                  <a:srgbClr val="FF9900"/>
                </a:solidFill>
              </a:rPr>
              <a:t>серията, има два пъти по-голяма пропускателна способност от </a:t>
            </a:r>
            <a:r>
              <a:rPr lang="en-US" sz="2400" dirty="0">
                <a:solidFill>
                  <a:srgbClr val="FF9900"/>
                </a:solidFill>
              </a:rPr>
              <a:t>PCI (33,3 MHz x 4 </a:t>
            </a:r>
            <a:r>
              <a:rPr lang="ru-RU" sz="2400" dirty="0">
                <a:solidFill>
                  <a:srgbClr val="FF9900"/>
                </a:solidFill>
              </a:rPr>
              <a:t>байта = 133</a:t>
            </a:r>
            <a:r>
              <a:rPr lang="en-US" sz="2400" dirty="0">
                <a:solidFill>
                  <a:srgbClr val="FF9900"/>
                </a:solidFill>
              </a:rPr>
              <a:t>MB/</a:t>
            </a:r>
            <a:r>
              <a:rPr lang="ru-RU" sz="2400" dirty="0">
                <a:solidFill>
                  <a:srgbClr val="FF9900"/>
                </a:solidFill>
              </a:rPr>
              <a:t>сек.). В </a:t>
            </a:r>
            <a:r>
              <a:rPr lang="ru-RU" sz="2400" dirty="0" err="1">
                <a:solidFill>
                  <a:srgbClr val="FF9900"/>
                </a:solidFill>
              </a:rPr>
              <a:t>чипсетите</a:t>
            </a:r>
            <a:r>
              <a:rPr lang="ru-RU" sz="2400" dirty="0">
                <a:solidFill>
                  <a:srgbClr val="FF9900"/>
                </a:solidFill>
              </a:rPr>
              <a:t> от серията 9</a:t>
            </a:r>
            <a:r>
              <a:rPr lang="en-US" sz="2400" dirty="0">
                <a:solidFill>
                  <a:srgbClr val="FF9900"/>
                </a:solidFill>
              </a:rPr>
              <a:t>xx </a:t>
            </a:r>
            <a:r>
              <a:rPr lang="ru-RU" sz="2400" dirty="0">
                <a:solidFill>
                  <a:srgbClr val="FF9900"/>
                </a:solidFill>
              </a:rPr>
              <a:t>и по-нови серии се използва още </a:t>
            </a:r>
            <a:r>
              <a:rPr lang="ru-RU" sz="2400" dirty="0" err="1">
                <a:solidFill>
                  <a:srgbClr val="FF9900"/>
                </a:solidFill>
              </a:rPr>
              <a:t>по-бърза</a:t>
            </a:r>
            <a:r>
              <a:rPr lang="ru-RU" sz="2400" dirty="0">
                <a:solidFill>
                  <a:srgbClr val="FF9900"/>
                </a:solidFill>
              </a:rPr>
              <a:t> връзка, наречена </a:t>
            </a:r>
            <a:r>
              <a:rPr lang="en-US" sz="2400" dirty="0">
                <a:solidFill>
                  <a:srgbClr val="FF9900"/>
                </a:solidFill>
              </a:rPr>
              <a:t>DMI (Direct Media Interface – </a:t>
            </a:r>
            <a:r>
              <a:rPr lang="ru-RU" sz="2400" dirty="0" err="1">
                <a:solidFill>
                  <a:srgbClr val="FF9900"/>
                </a:solidFill>
              </a:rPr>
              <a:t>директен</a:t>
            </a:r>
            <a:r>
              <a:rPr lang="ru-RU" sz="2400" dirty="0">
                <a:solidFill>
                  <a:srgbClr val="FF9900"/>
                </a:solidFill>
              </a:rPr>
              <a:t> интерфейс на средата), която е 7.5 до 14 пъти </a:t>
            </a:r>
            <a:r>
              <a:rPr lang="ru-RU" sz="2400" dirty="0" err="1">
                <a:solidFill>
                  <a:srgbClr val="FF9900"/>
                </a:solidFill>
              </a:rPr>
              <a:t>по-бърза</a:t>
            </a:r>
            <a:r>
              <a:rPr lang="ru-RU" sz="2400" dirty="0">
                <a:solidFill>
                  <a:srgbClr val="FF9900"/>
                </a:solidFill>
              </a:rPr>
              <a:t> от </a:t>
            </a:r>
            <a:r>
              <a:rPr lang="en-US" sz="2400" dirty="0">
                <a:solidFill>
                  <a:srgbClr val="FF9900"/>
                </a:solidFill>
              </a:rPr>
              <a:t>PCI. </a:t>
            </a: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7491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278391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52954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</a:t>
            </a:r>
            <a:r>
              <a:rPr lang="ru-RU" sz="2400" dirty="0" err="1" smtClean="0">
                <a:solidFill>
                  <a:srgbClr val="FF9900"/>
                </a:solidFill>
              </a:rPr>
              <a:t>Намалено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натоварване на PCI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  <a:r>
              <a:rPr lang="ru-RU" sz="2400" dirty="0" err="1">
                <a:solidFill>
                  <a:srgbClr val="FF9900"/>
                </a:solidFill>
              </a:rPr>
              <a:t>Хъбовият</a:t>
            </a:r>
            <a:r>
              <a:rPr lang="ru-RU" sz="2400" dirty="0">
                <a:solidFill>
                  <a:srgbClr val="FF9900"/>
                </a:solidFill>
              </a:rPr>
              <a:t> интерфейс е независим от PCI и не </a:t>
            </a:r>
            <a:r>
              <a:rPr lang="ru-RU" sz="2400" dirty="0" err="1">
                <a:solidFill>
                  <a:srgbClr val="FF9900"/>
                </a:solidFill>
              </a:rPr>
              <a:t>завзема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капацитета</a:t>
            </a:r>
            <a:r>
              <a:rPr lang="ru-RU" sz="2400" dirty="0">
                <a:solidFill>
                  <a:srgbClr val="FF9900"/>
                </a:solidFill>
              </a:rPr>
              <a:t> на PCI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.  Това позволява </a:t>
            </a:r>
            <a:r>
              <a:rPr lang="ru-RU" sz="2400" dirty="0" err="1">
                <a:solidFill>
                  <a:srgbClr val="FF9900"/>
                </a:solidFill>
              </a:rPr>
              <a:t>доста</a:t>
            </a:r>
            <a:r>
              <a:rPr lang="ru-RU" sz="2400" dirty="0">
                <a:solidFill>
                  <a:srgbClr val="FF9900"/>
                </a:solidFill>
              </a:rPr>
              <a:t> по-голяма пропускателна способност за PCI устройствата, тъй като PCI не </a:t>
            </a:r>
            <a:r>
              <a:rPr lang="ru-RU" sz="2400" dirty="0" err="1">
                <a:solidFill>
                  <a:srgbClr val="FF9900"/>
                </a:solidFill>
              </a:rPr>
              <a:t>обслужва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южния</a:t>
            </a:r>
            <a:r>
              <a:rPr lang="ru-RU" sz="2400" dirty="0">
                <a:solidFill>
                  <a:srgbClr val="FF9900"/>
                </a:solidFill>
              </a:rPr>
              <a:t> мост (</a:t>
            </a:r>
            <a:r>
              <a:rPr lang="ru-RU" sz="2400" dirty="0" err="1">
                <a:solidFill>
                  <a:srgbClr val="FF9900"/>
                </a:solidFill>
              </a:rPr>
              <a:t>поемащ</a:t>
            </a:r>
            <a:r>
              <a:rPr lang="ru-RU" sz="2400" dirty="0">
                <a:solidFill>
                  <a:srgbClr val="FF9900"/>
                </a:solidFill>
              </a:rPr>
              <a:t> и трафика от </a:t>
            </a:r>
            <a:r>
              <a:rPr lang="ru-RU" sz="2400" dirty="0" err="1">
                <a:solidFill>
                  <a:srgbClr val="FF9900"/>
                </a:solidFill>
              </a:rPr>
              <a:t>Super</a:t>
            </a:r>
            <a:r>
              <a:rPr lang="ru-RU" sz="2400" dirty="0">
                <a:solidFill>
                  <a:srgbClr val="FF9900"/>
                </a:solidFill>
              </a:rPr>
              <a:t> I/O чипа).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4368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236827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496291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Поради </a:t>
            </a:r>
            <a:r>
              <a:rPr lang="ru-RU" sz="2400" dirty="0">
                <a:solidFill>
                  <a:srgbClr val="FF9900"/>
                </a:solidFill>
              </a:rPr>
              <a:t>това, че </a:t>
            </a:r>
            <a:r>
              <a:rPr lang="ru-RU" sz="2400" dirty="0" err="1">
                <a:solidFill>
                  <a:srgbClr val="FF9900"/>
                </a:solidFill>
              </a:rPr>
              <a:t>заобикаля</a:t>
            </a:r>
            <a:r>
              <a:rPr lang="ru-RU" sz="2400" dirty="0">
                <a:solidFill>
                  <a:srgbClr val="FF9900"/>
                </a:solidFill>
              </a:rPr>
              <a:t> PCI, </a:t>
            </a:r>
            <a:r>
              <a:rPr lang="ru-RU" sz="2400" dirty="0" err="1">
                <a:solidFill>
                  <a:srgbClr val="FF9900"/>
                </a:solidFill>
              </a:rPr>
              <a:t>хъбовата</a:t>
            </a:r>
            <a:r>
              <a:rPr lang="ru-RU" sz="2400" dirty="0">
                <a:solidFill>
                  <a:srgbClr val="FF9900"/>
                </a:solidFill>
              </a:rPr>
              <a:t> архитектура позволява по-висока пропускателна способност и за устройствата, свързани директно към </a:t>
            </a:r>
            <a:r>
              <a:rPr lang="ru-RU" sz="2400" dirty="0" err="1">
                <a:solidFill>
                  <a:srgbClr val="FF9900"/>
                </a:solidFill>
              </a:rPr>
              <a:t>хъба</a:t>
            </a:r>
            <a:r>
              <a:rPr lang="ru-RU" sz="2400" dirty="0">
                <a:solidFill>
                  <a:srgbClr val="FF9900"/>
                </a:solidFill>
              </a:rPr>
              <a:t> на контролера за вход/изход (</a:t>
            </a:r>
            <a:r>
              <a:rPr lang="ru-RU" sz="2400" dirty="0" err="1">
                <a:solidFill>
                  <a:srgbClr val="FF9900"/>
                </a:solidFill>
              </a:rPr>
              <a:t>предишния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южен</a:t>
            </a:r>
            <a:r>
              <a:rPr lang="ru-RU" sz="2400" dirty="0">
                <a:solidFill>
                  <a:srgbClr val="FF9900"/>
                </a:solidFill>
              </a:rPr>
              <a:t> мост), каквито са новите и </a:t>
            </a:r>
            <a:r>
              <a:rPr lang="ru-RU" sz="2400" dirty="0" err="1">
                <a:solidFill>
                  <a:srgbClr val="FF9900"/>
                </a:solidFill>
              </a:rPr>
              <a:t>по-бързи</a:t>
            </a:r>
            <a:r>
              <a:rPr lang="ru-RU" sz="2400" dirty="0">
                <a:solidFill>
                  <a:srgbClr val="FF9900"/>
                </a:solidFill>
              </a:rPr>
              <a:t> интерфейси АТА-133, SATA-300 и USB 2.0.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655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103823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62098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</a:t>
            </a:r>
            <a:r>
              <a:rPr lang="ru-RU" sz="2400" dirty="0" err="1" smtClean="0">
                <a:solidFill>
                  <a:srgbClr val="FF9900"/>
                </a:solidFill>
              </a:rPr>
              <a:t>Намалено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опроводяване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платката</a:t>
            </a:r>
            <a:r>
              <a:rPr lang="ru-RU" sz="2400" dirty="0">
                <a:solidFill>
                  <a:srgbClr val="FF9900"/>
                </a:solidFill>
              </a:rPr>
              <a:t>. </a:t>
            </a:r>
            <a:r>
              <a:rPr lang="ru-RU" sz="2400" dirty="0" err="1">
                <a:solidFill>
                  <a:srgbClr val="FF9900"/>
                </a:solidFill>
              </a:rPr>
              <a:t>Хъбовият</a:t>
            </a:r>
            <a:r>
              <a:rPr lang="ru-RU" sz="2400" dirty="0">
                <a:solidFill>
                  <a:srgbClr val="FF9900"/>
                </a:solidFill>
              </a:rPr>
              <a:t> интерфейс е широк само 8 бита и изисква 15 сигнала, за да бъде реализиран на дънната платка.  DMI е само 4 бита широк и изисква само </a:t>
            </a:r>
            <a:r>
              <a:rPr lang="ru-RU" sz="2400" dirty="0" err="1">
                <a:solidFill>
                  <a:srgbClr val="FF9900"/>
                </a:solidFill>
              </a:rPr>
              <a:t>осем</a:t>
            </a:r>
            <a:r>
              <a:rPr lang="ru-RU" sz="2400" dirty="0">
                <a:solidFill>
                  <a:srgbClr val="FF9900"/>
                </a:solidFill>
              </a:rPr>
              <a:t> двойки </a:t>
            </a:r>
            <a:r>
              <a:rPr lang="ru-RU" sz="2400" dirty="0" err="1">
                <a:solidFill>
                  <a:srgbClr val="FF9900"/>
                </a:solidFill>
              </a:rPr>
              <a:t>диференциални</a:t>
            </a:r>
            <a:r>
              <a:rPr lang="ru-RU" sz="2400" dirty="0">
                <a:solidFill>
                  <a:srgbClr val="FF9900"/>
                </a:solidFill>
              </a:rPr>
              <a:t> сигнали. За сравнение,  32битовата PCI шина изисква 64 сигнала.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9306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053947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587731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Намаленият брой изводи означава по-малко </a:t>
            </a:r>
            <a:r>
              <a:rPr lang="ru-RU" sz="2400" dirty="0" err="1">
                <a:solidFill>
                  <a:srgbClr val="FF9900"/>
                </a:solidFill>
              </a:rPr>
              <a:t>писти</a:t>
            </a:r>
            <a:r>
              <a:rPr lang="ru-RU" sz="2400" dirty="0">
                <a:solidFill>
                  <a:srgbClr val="FF9900"/>
                </a:solidFill>
              </a:rPr>
              <a:t> по дънната платка, по-малко </a:t>
            </a:r>
            <a:r>
              <a:rPr lang="ru-RU" sz="2400" dirty="0" err="1">
                <a:solidFill>
                  <a:srgbClr val="FF9900"/>
                </a:solidFill>
              </a:rPr>
              <a:t>електромагнитни</a:t>
            </a:r>
            <a:r>
              <a:rPr lang="ru-RU" sz="2400" dirty="0">
                <a:solidFill>
                  <a:srgbClr val="FF9900"/>
                </a:solidFill>
              </a:rPr>
              <a:t> смущения и грешки при </a:t>
            </a:r>
            <a:r>
              <a:rPr lang="ru-RU" sz="2400" dirty="0" err="1">
                <a:solidFill>
                  <a:srgbClr val="FF9900"/>
                </a:solidFill>
              </a:rPr>
              <a:t>синхронизацията</a:t>
            </a:r>
            <a:r>
              <a:rPr lang="ru-RU" sz="2400" dirty="0">
                <a:solidFill>
                  <a:srgbClr val="FF9900"/>
                </a:solidFill>
              </a:rPr>
              <a:t>, а </a:t>
            </a:r>
            <a:r>
              <a:rPr lang="ru-RU" sz="2400" dirty="0" err="1">
                <a:solidFill>
                  <a:srgbClr val="FF9900"/>
                </a:solidFill>
              </a:rPr>
              <a:t>самите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чипове</a:t>
            </a:r>
            <a:r>
              <a:rPr lang="ru-RU" sz="2400" dirty="0">
                <a:solidFill>
                  <a:srgbClr val="FF9900"/>
                </a:solidFill>
              </a:rPr>
              <a:t> имат по-малко изводи, което ги прави </a:t>
            </a:r>
            <a:r>
              <a:rPr lang="ru-RU" sz="2400" dirty="0" err="1">
                <a:solidFill>
                  <a:srgbClr val="FF9900"/>
                </a:solidFill>
              </a:rPr>
              <a:t>по-малки</a:t>
            </a:r>
            <a:r>
              <a:rPr lang="ru-RU" sz="2400" dirty="0">
                <a:solidFill>
                  <a:srgbClr val="FF9900"/>
                </a:solidFill>
              </a:rPr>
              <a:t> и </a:t>
            </a:r>
            <a:r>
              <a:rPr lang="ru-RU" sz="2400" dirty="0" err="1">
                <a:solidFill>
                  <a:srgbClr val="FF9900"/>
                </a:solidFill>
              </a:rPr>
              <a:t>по-изгодни</a:t>
            </a:r>
            <a:r>
              <a:rPr lang="ru-RU" sz="2400" dirty="0">
                <a:solidFill>
                  <a:srgbClr val="FF9900"/>
                </a:solidFill>
              </a:rPr>
              <a:t> за производство.</a:t>
            </a:r>
          </a:p>
          <a:p>
            <a:pPr marL="0" indent="0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7434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153701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812175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- LPC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има </a:t>
            </a:r>
            <a:r>
              <a:rPr lang="ru-RU" sz="2400" dirty="0" err="1">
                <a:solidFill>
                  <a:srgbClr val="FF9900"/>
                </a:solidFill>
              </a:rPr>
              <a:t>максимална</a:t>
            </a:r>
            <a:r>
              <a:rPr lang="ru-RU" sz="2400" dirty="0">
                <a:solidFill>
                  <a:srgbClr val="FF9900"/>
                </a:solidFill>
              </a:rPr>
              <a:t> пропускателна способност 16,67 MB/s, която е около 2 пъти по-голяма от тази на ISA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и е с </a:t>
            </a:r>
            <a:r>
              <a:rPr lang="ru-RU" sz="2400" dirty="0" err="1">
                <a:solidFill>
                  <a:srgbClr val="FF9900"/>
                </a:solidFill>
              </a:rPr>
              <a:t>намален</a:t>
            </a:r>
            <a:r>
              <a:rPr lang="ru-RU" sz="2400" dirty="0">
                <a:solidFill>
                  <a:srgbClr val="FF9900"/>
                </a:solidFill>
              </a:rPr>
              <a:t> брой </a:t>
            </a:r>
            <a:r>
              <a:rPr lang="ru-RU" sz="2400" dirty="0" err="1">
                <a:solidFill>
                  <a:srgbClr val="FF9900"/>
                </a:solidFill>
              </a:rPr>
              <a:t>писти</a:t>
            </a:r>
            <a:r>
              <a:rPr lang="ru-RU" sz="2400" dirty="0">
                <a:solidFill>
                  <a:srgbClr val="FF9900"/>
                </a:solidFill>
              </a:rPr>
              <a:t> в сравнение с ISA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(13 сигнала </a:t>
            </a:r>
            <a:r>
              <a:rPr lang="ru-RU" sz="2400" dirty="0" err="1">
                <a:solidFill>
                  <a:srgbClr val="FF9900"/>
                </a:solidFill>
              </a:rPr>
              <a:t>срещу</a:t>
            </a:r>
            <a:r>
              <a:rPr lang="ru-RU" sz="2400" dirty="0">
                <a:solidFill>
                  <a:srgbClr val="FF9900"/>
                </a:solidFill>
              </a:rPr>
              <a:t> 96 при ISA).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6077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170325" cy="794191"/>
          </a:xfrm>
        </p:spPr>
        <p:txBody>
          <a:bodyPr/>
          <a:lstStyle/>
          <a:p>
            <a:r>
              <a:rPr lang="bg-BG" sz="2800" b="1" dirty="0" smtClean="0">
                <a:solidFill>
                  <a:srgbClr val="FF9900"/>
                </a:solidFill>
              </a:rPr>
              <a:t>Мостова и Хъбова архитектура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338349"/>
            <a:ext cx="6344892" cy="49460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i="1" dirty="0" smtClean="0">
                <a:solidFill>
                  <a:srgbClr val="FF9900"/>
                </a:solidFill>
              </a:rPr>
              <a:t>Недостатъци </a:t>
            </a:r>
            <a:r>
              <a:rPr lang="ru-RU" sz="2400" i="1" dirty="0">
                <a:solidFill>
                  <a:srgbClr val="FF9900"/>
                </a:solidFill>
              </a:rPr>
              <a:t>на </a:t>
            </a:r>
            <a:r>
              <a:rPr lang="ru-RU" sz="2400" i="1" dirty="0" err="1">
                <a:solidFill>
                  <a:srgbClr val="FF9900"/>
                </a:solidFill>
              </a:rPr>
              <a:t>архитектурата</a:t>
            </a:r>
            <a:r>
              <a:rPr lang="ru-RU" sz="2400" i="1" dirty="0">
                <a:solidFill>
                  <a:srgbClr val="FF9900"/>
                </a:solidFill>
              </a:rPr>
              <a:t> </a:t>
            </a:r>
            <a:r>
              <a:rPr lang="ru-RU" sz="2400" i="1" dirty="0" err="1">
                <a:solidFill>
                  <a:srgbClr val="FF9900"/>
                </a:solidFill>
              </a:rPr>
              <a:t>Северен</a:t>
            </a:r>
            <a:r>
              <a:rPr lang="ru-RU" sz="2400" i="1" dirty="0">
                <a:solidFill>
                  <a:srgbClr val="FF9900"/>
                </a:solidFill>
              </a:rPr>
              <a:t>/</a:t>
            </a:r>
            <a:r>
              <a:rPr lang="ru-RU" sz="2400" i="1" dirty="0" err="1">
                <a:solidFill>
                  <a:srgbClr val="FF9900"/>
                </a:solidFill>
              </a:rPr>
              <a:t>Южен</a:t>
            </a:r>
            <a:r>
              <a:rPr lang="ru-RU" sz="2400" i="1" dirty="0">
                <a:solidFill>
                  <a:srgbClr val="FF9900"/>
                </a:solidFill>
              </a:rPr>
              <a:t> </a:t>
            </a:r>
            <a:r>
              <a:rPr lang="ru-RU" sz="2400" i="1" dirty="0" smtClean="0">
                <a:solidFill>
                  <a:srgbClr val="FF9900"/>
                </a:solidFill>
              </a:rPr>
              <a:t>мост</a:t>
            </a:r>
            <a:r>
              <a:rPr lang="en-US" sz="2400" i="1" dirty="0" smtClean="0">
                <a:solidFill>
                  <a:srgbClr val="FF9900"/>
                </a:solidFill>
              </a:rPr>
              <a:t>:</a:t>
            </a:r>
            <a:endParaRPr lang="bg-BG" sz="2400" i="1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endParaRPr lang="bg-BG" sz="2400" i="1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i="1" dirty="0">
                <a:solidFill>
                  <a:srgbClr val="FF9900"/>
                </a:solidFill>
              </a:rPr>
              <a:t> В компютърната система има устройства, работещи с различна скорост, като разликата може да бъде десетки и </a:t>
            </a:r>
            <a:r>
              <a:rPr lang="ru-RU" sz="2400" i="1" dirty="0" err="1">
                <a:solidFill>
                  <a:srgbClr val="FF9900"/>
                </a:solidFill>
              </a:rPr>
              <a:t>стотици</a:t>
            </a:r>
            <a:r>
              <a:rPr lang="ru-RU" sz="2400" i="1" dirty="0">
                <a:solidFill>
                  <a:srgbClr val="FF9900"/>
                </a:solidFill>
              </a:rPr>
              <a:t> пъти. Ако всички устройства бъдат </a:t>
            </a:r>
            <a:r>
              <a:rPr lang="ru-RU" sz="2400" i="1" dirty="0" err="1">
                <a:solidFill>
                  <a:srgbClr val="FF9900"/>
                </a:solidFill>
              </a:rPr>
              <a:t>принудени</a:t>
            </a:r>
            <a:r>
              <a:rPr lang="ru-RU" sz="2400" i="1" dirty="0">
                <a:solidFill>
                  <a:srgbClr val="FF9900"/>
                </a:solidFill>
              </a:rPr>
              <a:t> да </a:t>
            </a:r>
            <a:r>
              <a:rPr lang="ru-RU" sz="2400" i="1" dirty="0" err="1">
                <a:solidFill>
                  <a:srgbClr val="FF9900"/>
                </a:solidFill>
              </a:rPr>
              <a:t>работят</a:t>
            </a:r>
            <a:r>
              <a:rPr lang="ru-RU" sz="2400" i="1" dirty="0">
                <a:solidFill>
                  <a:srgbClr val="FF9900"/>
                </a:solidFill>
              </a:rPr>
              <a:t> с една и </a:t>
            </a:r>
            <a:r>
              <a:rPr lang="ru-RU" sz="2400" i="1" dirty="0" err="1">
                <a:solidFill>
                  <a:srgbClr val="FF9900"/>
                </a:solidFill>
              </a:rPr>
              <a:t>съща</a:t>
            </a:r>
            <a:r>
              <a:rPr lang="ru-RU" sz="2400" i="1" dirty="0">
                <a:solidFill>
                  <a:srgbClr val="FF9900"/>
                </a:solidFill>
              </a:rPr>
              <a:t> скорост (както е в </a:t>
            </a:r>
            <a:r>
              <a:rPr lang="ru-RU" sz="2400" i="1" dirty="0" err="1">
                <a:solidFill>
                  <a:srgbClr val="FF9900"/>
                </a:solidFill>
              </a:rPr>
              <a:t>оригиналното</a:t>
            </a:r>
            <a:r>
              <a:rPr lang="ru-RU" sz="2400" i="1" dirty="0">
                <a:solidFill>
                  <a:srgbClr val="FF9900"/>
                </a:solidFill>
              </a:rPr>
              <a:t> РС), то тази скорост трябва да е такава, </a:t>
            </a:r>
            <a:r>
              <a:rPr lang="ru-RU" sz="2400" i="1" dirty="0" err="1">
                <a:solidFill>
                  <a:srgbClr val="FF9900"/>
                </a:solidFill>
              </a:rPr>
              <a:t>каквато</a:t>
            </a:r>
            <a:r>
              <a:rPr lang="ru-RU" sz="2400" i="1" dirty="0">
                <a:solidFill>
                  <a:srgbClr val="FF9900"/>
                </a:solidFill>
              </a:rPr>
              <a:t> може да поддържат най-бавните устройства.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0560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2" y="344652"/>
            <a:ext cx="6037323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2" y="1679171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Бавните устройства не могат да </a:t>
            </a:r>
            <a:r>
              <a:rPr lang="ru-RU" sz="2400" dirty="0" err="1">
                <a:solidFill>
                  <a:srgbClr val="FF9900"/>
                </a:solidFill>
              </a:rPr>
              <a:t>работят</a:t>
            </a:r>
            <a:r>
              <a:rPr lang="ru-RU" sz="2400" dirty="0">
                <a:solidFill>
                  <a:srgbClr val="FF9900"/>
                </a:solidFill>
              </a:rPr>
              <a:t> на високи скорости, тъй като няма да </a:t>
            </a:r>
            <a:r>
              <a:rPr lang="ru-RU" sz="2400" dirty="0" err="1">
                <a:solidFill>
                  <a:srgbClr val="FF9900"/>
                </a:solidFill>
              </a:rPr>
              <a:t>смогват</a:t>
            </a:r>
            <a:r>
              <a:rPr lang="ru-RU" sz="2400" dirty="0">
                <a:solidFill>
                  <a:srgbClr val="FF9900"/>
                </a:solidFill>
              </a:rPr>
              <a:t> да </a:t>
            </a:r>
            <a:r>
              <a:rPr lang="ru-RU" sz="2400" dirty="0" err="1">
                <a:solidFill>
                  <a:srgbClr val="FF9900"/>
                </a:solidFill>
              </a:rPr>
              <a:t>обработват</a:t>
            </a:r>
            <a:r>
              <a:rPr lang="ru-RU" sz="2400" dirty="0">
                <a:solidFill>
                  <a:srgbClr val="FF9900"/>
                </a:solidFill>
              </a:rPr>
              <a:t> данните и ще се появяват грешки. С други думи, </a:t>
            </a:r>
            <a:r>
              <a:rPr lang="ru-RU" sz="2400" dirty="0" err="1">
                <a:solidFill>
                  <a:srgbClr val="FF9900"/>
                </a:solidFill>
              </a:rPr>
              <a:t>бързите</a:t>
            </a:r>
            <a:r>
              <a:rPr lang="ru-RU" sz="2400" dirty="0">
                <a:solidFill>
                  <a:srgbClr val="FF9900"/>
                </a:solidFill>
              </a:rPr>
              <a:t> устройства са </a:t>
            </a:r>
            <a:r>
              <a:rPr lang="ru-RU" sz="2400" dirty="0" err="1">
                <a:solidFill>
                  <a:srgbClr val="FF9900"/>
                </a:solidFill>
              </a:rPr>
              <a:t>принудени</a:t>
            </a:r>
            <a:r>
              <a:rPr lang="ru-RU" sz="2400" dirty="0">
                <a:solidFill>
                  <a:srgbClr val="FF9900"/>
                </a:solidFill>
              </a:rPr>
              <a:t> да </a:t>
            </a:r>
            <a:r>
              <a:rPr lang="ru-RU" sz="2400" dirty="0" err="1">
                <a:solidFill>
                  <a:srgbClr val="FF9900"/>
                </a:solidFill>
              </a:rPr>
              <a:t>изчакват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по-бавните</a:t>
            </a:r>
            <a:r>
              <a:rPr lang="ru-RU" sz="2400" dirty="0">
                <a:solidFill>
                  <a:srgbClr val="FF9900"/>
                </a:solidFill>
              </a:rPr>
              <a:t>, като от това спада значително производителността на системата.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517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344892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911927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Поради това в </a:t>
            </a:r>
            <a:r>
              <a:rPr lang="ru-RU" sz="2400" dirty="0" err="1">
                <a:solidFill>
                  <a:srgbClr val="FF9900"/>
                </a:solidFill>
              </a:rPr>
              <a:t>практиката</a:t>
            </a:r>
            <a:r>
              <a:rPr lang="ru-RU" sz="2400" dirty="0">
                <a:solidFill>
                  <a:srgbClr val="FF9900"/>
                </a:solidFill>
              </a:rPr>
              <a:t> се налага многостепенна архитектура с 3 главни шини, като в най-горния слой се намира най-бързата шина – </a:t>
            </a:r>
            <a:r>
              <a:rPr lang="ru-RU" sz="2400" dirty="0" err="1">
                <a:solidFill>
                  <a:srgbClr val="FF9900"/>
                </a:solidFill>
              </a:rPr>
              <a:t>процесорната</a:t>
            </a:r>
            <a:r>
              <a:rPr lang="ru-RU" sz="2400" dirty="0">
                <a:solidFill>
                  <a:srgbClr val="FF9900"/>
                </a:solidFill>
              </a:rPr>
              <a:t> (FSB – </a:t>
            </a:r>
            <a:r>
              <a:rPr lang="ru-RU" sz="2400" dirty="0" err="1">
                <a:solidFill>
                  <a:srgbClr val="FF9900"/>
                </a:solidFill>
              </a:rPr>
              <a:t>предна</a:t>
            </a:r>
            <a:r>
              <a:rPr lang="ru-RU" sz="2400" dirty="0">
                <a:solidFill>
                  <a:srgbClr val="FF9900"/>
                </a:solidFill>
              </a:rPr>
              <a:t> шина), в средния слой – PCI и в най-</a:t>
            </a:r>
            <a:r>
              <a:rPr lang="ru-RU" sz="2400" dirty="0" err="1">
                <a:solidFill>
                  <a:srgbClr val="FF9900"/>
                </a:solidFill>
              </a:rPr>
              <a:t>долния</a:t>
            </a:r>
            <a:r>
              <a:rPr lang="ru-RU" sz="2400" dirty="0">
                <a:solidFill>
                  <a:srgbClr val="FF9900"/>
                </a:solidFill>
              </a:rPr>
              <a:t> – </a:t>
            </a:r>
            <a:r>
              <a:rPr lang="ru-RU" sz="2400" dirty="0" err="1">
                <a:solidFill>
                  <a:srgbClr val="FF9900"/>
                </a:solidFill>
              </a:rPr>
              <a:t>бавната</a:t>
            </a:r>
            <a:r>
              <a:rPr lang="ru-RU" sz="2400" dirty="0">
                <a:solidFill>
                  <a:srgbClr val="FF9900"/>
                </a:solidFill>
              </a:rPr>
              <a:t> ISA шина. 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3833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128762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604357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Устройствата се свързват към три чипа: </a:t>
            </a:r>
            <a:r>
              <a:rPr lang="ru-RU" sz="2400" dirty="0" err="1">
                <a:solidFill>
                  <a:srgbClr val="FF9900"/>
                </a:solidFill>
              </a:rPr>
              <a:t>северен</a:t>
            </a:r>
            <a:r>
              <a:rPr lang="ru-RU" sz="2400" dirty="0">
                <a:solidFill>
                  <a:srgbClr val="FF9900"/>
                </a:solidFill>
              </a:rPr>
              <a:t> мост, </a:t>
            </a:r>
            <a:r>
              <a:rPr lang="ru-RU" sz="2400" dirty="0" err="1">
                <a:solidFill>
                  <a:srgbClr val="FF9900"/>
                </a:solidFill>
              </a:rPr>
              <a:t>южен</a:t>
            </a:r>
            <a:r>
              <a:rPr lang="ru-RU" sz="2400" dirty="0">
                <a:solidFill>
                  <a:srgbClr val="FF9900"/>
                </a:solidFill>
              </a:rPr>
              <a:t> мост и входно-</a:t>
            </a:r>
            <a:r>
              <a:rPr lang="ru-RU" sz="2400" dirty="0" err="1">
                <a:solidFill>
                  <a:srgbClr val="FF9900"/>
                </a:solidFill>
              </a:rPr>
              <a:t>изходен</a:t>
            </a:r>
            <a:r>
              <a:rPr lang="ru-RU" sz="2400" dirty="0">
                <a:solidFill>
                  <a:srgbClr val="FF9900"/>
                </a:solidFill>
              </a:rPr>
              <a:t> контролер (супер I/O чип). Тази архитектура получава името „архитектура </a:t>
            </a:r>
            <a:r>
              <a:rPr lang="ru-RU" sz="2400" dirty="0" err="1">
                <a:solidFill>
                  <a:srgbClr val="FF9900"/>
                </a:solidFill>
              </a:rPr>
              <a:t>северен-южен</a:t>
            </a:r>
            <a:r>
              <a:rPr lang="ru-RU" sz="2400" dirty="0">
                <a:solidFill>
                  <a:srgbClr val="FF9900"/>
                </a:solidFill>
              </a:rPr>
              <a:t> мост”. При нея </a:t>
            </a:r>
            <a:r>
              <a:rPr lang="ru-RU" sz="2400" dirty="0" err="1">
                <a:solidFill>
                  <a:srgbClr val="FF9900"/>
                </a:solidFill>
              </a:rPr>
              <a:t>северният</a:t>
            </a:r>
            <a:r>
              <a:rPr lang="ru-RU" sz="2400" dirty="0">
                <a:solidFill>
                  <a:srgbClr val="FF9900"/>
                </a:solidFill>
              </a:rPr>
              <a:t> и </a:t>
            </a:r>
            <a:r>
              <a:rPr lang="ru-RU" sz="2400" dirty="0" err="1">
                <a:solidFill>
                  <a:srgbClr val="FF9900"/>
                </a:solidFill>
              </a:rPr>
              <a:t>южният</a:t>
            </a:r>
            <a:r>
              <a:rPr lang="ru-RU" sz="2400" dirty="0">
                <a:solidFill>
                  <a:srgbClr val="FF9900"/>
                </a:solidFill>
              </a:rPr>
              <a:t> мост се свързват чрез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PCI, а </a:t>
            </a:r>
            <a:r>
              <a:rPr lang="ru-RU" sz="2400" dirty="0" err="1">
                <a:solidFill>
                  <a:srgbClr val="FF9900"/>
                </a:solidFill>
              </a:rPr>
              <a:t>южният</a:t>
            </a:r>
            <a:r>
              <a:rPr lang="ru-RU" sz="2400" dirty="0">
                <a:solidFill>
                  <a:srgbClr val="FF9900"/>
                </a:solidFill>
              </a:rPr>
              <a:t> мост и супер I/O чипа – чрез ISA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940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178638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620982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Използването </a:t>
            </a:r>
            <a:r>
              <a:rPr lang="ru-RU" sz="2400" dirty="0">
                <a:solidFill>
                  <a:srgbClr val="FF9900"/>
                </a:solidFill>
              </a:rPr>
              <a:t>на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PCI като връзка между двата моста води до </a:t>
            </a:r>
            <a:r>
              <a:rPr lang="ru-RU" sz="2400" dirty="0" err="1">
                <a:solidFill>
                  <a:srgbClr val="FF9900"/>
                </a:solidFill>
              </a:rPr>
              <a:t>значителното</a:t>
            </a:r>
            <a:r>
              <a:rPr lang="ru-RU" sz="2400" dirty="0">
                <a:solidFill>
                  <a:srgbClr val="FF9900"/>
                </a:solidFill>
              </a:rPr>
              <a:t> й натоварване и </a:t>
            </a:r>
            <a:r>
              <a:rPr lang="ru-RU" sz="2400" dirty="0" err="1">
                <a:solidFill>
                  <a:srgbClr val="FF9900"/>
                </a:solidFill>
              </a:rPr>
              <a:t>превръщането</a:t>
            </a:r>
            <a:r>
              <a:rPr lang="ru-RU" sz="2400" dirty="0">
                <a:solidFill>
                  <a:srgbClr val="FF9900"/>
                </a:solidFill>
              </a:rPr>
              <a:t> й в </a:t>
            </a:r>
            <a:r>
              <a:rPr lang="ru-RU" sz="2400" dirty="0" err="1">
                <a:solidFill>
                  <a:srgbClr val="FF9900"/>
                </a:solidFill>
              </a:rPr>
              <a:t>тясно</a:t>
            </a:r>
            <a:r>
              <a:rPr lang="ru-RU" sz="2400" dirty="0">
                <a:solidFill>
                  <a:srgbClr val="FF9900"/>
                </a:solidFill>
              </a:rPr>
              <a:t> място за системата, тъй като освен че </a:t>
            </a:r>
            <a:r>
              <a:rPr lang="ru-RU" sz="2400" dirty="0" err="1">
                <a:solidFill>
                  <a:srgbClr val="FF9900"/>
                </a:solidFill>
              </a:rPr>
              <a:t>обслужва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разширителните</a:t>
            </a:r>
            <a:r>
              <a:rPr lang="ru-RU" sz="2400" dirty="0">
                <a:solidFill>
                  <a:srgbClr val="FF9900"/>
                </a:solidFill>
              </a:rPr>
              <a:t> PCI карти, през нея преминава целия информационен поток към устройствата, свързани към </a:t>
            </a:r>
            <a:r>
              <a:rPr lang="ru-RU" sz="2400" dirty="0" err="1">
                <a:solidFill>
                  <a:srgbClr val="FF9900"/>
                </a:solidFill>
              </a:rPr>
              <a:t>южния</a:t>
            </a:r>
            <a:r>
              <a:rPr lang="ru-RU" sz="2400" dirty="0">
                <a:solidFill>
                  <a:srgbClr val="FF9900"/>
                </a:solidFill>
              </a:rPr>
              <a:t> мост и </a:t>
            </a:r>
            <a:r>
              <a:rPr lang="ru-RU" sz="2400" dirty="0" err="1">
                <a:solidFill>
                  <a:srgbClr val="FF9900"/>
                </a:solidFill>
              </a:rPr>
              <a:t>Super</a:t>
            </a:r>
            <a:r>
              <a:rPr lang="ru-RU" sz="2400" dirty="0">
                <a:solidFill>
                  <a:srgbClr val="FF9900"/>
                </a:solidFill>
              </a:rPr>
              <a:t> I/O чипа. Освен това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PCI  е сравнително бавна.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8926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253452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995055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 smtClean="0">
                <a:solidFill>
                  <a:srgbClr val="FF9900"/>
                </a:solidFill>
              </a:rPr>
              <a:t>По-рано</a:t>
            </a:r>
            <a:r>
              <a:rPr lang="ru-RU" sz="2400" dirty="0" smtClean="0">
                <a:solidFill>
                  <a:srgbClr val="FF9900"/>
                </a:solidFill>
              </a:rPr>
              <a:t> </a:t>
            </a:r>
            <a:r>
              <a:rPr lang="ru-RU" sz="2400" dirty="0">
                <a:solidFill>
                  <a:srgbClr val="FF9900"/>
                </a:solidFill>
              </a:rPr>
              <a:t>бяха </a:t>
            </a:r>
            <a:r>
              <a:rPr lang="ru-RU" sz="2400" dirty="0" err="1">
                <a:solidFill>
                  <a:srgbClr val="FF9900"/>
                </a:solidFill>
              </a:rPr>
              <a:t>коментирани</a:t>
            </a:r>
            <a:r>
              <a:rPr lang="ru-RU" sz="2400" dirty="0">
                <a:solidFill>
                  <a:srgbClr val="FF9900"/>
                </a:solidFill>
              </a:rPr>
              <a:t> и </a:t>
            </a:r>
            <a:r>
              <a:rPr lang="ru-RU" sz="2400" dirty="0" err="1">
                <a:solidFill>
                  <a:srgbClr val="FF9900"/>
                </a:solidFill>
              </a:rPr>
              <a:t>недостатъците</a:t>
            </a:r>
            <a:r>
              <a:rPr lang="ru-RU" sz="2400" dirty="0">
                <a:solidFill>
                  <a:srgbClr val="FF9900"/>
                </a:solidFill>
              </a:rPr>
              <a:t> на </a:t>
            </a:r>
            <a:r>
              <a:rPr lang="ru-RU" sz="2400" dirty="0" err="1">
                <a:solidFill>
                  <a:srgbClr val="FF9900"/>
                </a:solidFill>
              </a:rPr>
              <a:t>шината</a:t>
            </a:r>
            <a:r>
              <a:rPr lang="ru-RU" sz="2400" dirty="0">
                <a:solidFill>
                  <a:srgbClr val="FF9900"/>
                </a:solidFill>
              </a:rPr>
              <a:t> ISA: не позволява </a:t>
            </a:r>
            <a:r>
              <a:rPr lang="ru-RU" sz="2400" dirty="0" err="1">
                <a:solidFill>
                  <a:srgbClr val="FF9900"/>
                </a:solidFill>
              </a:rPr>
              <a:t>съвместното</a:t>
            </a:r>
            <a:r>
              <a:rPr lang="ru-RU" sz="2400" dirty="0">
                <a:solidFill>
                  <a:srgbClr val="FF9900"/>
                </a:solidFill>
              </a:rPr>
              <a:t> използване на IRQ или </a:t>
            </a:r>
            <a:r>
              <a:rPr lang="ru-RU" sz="2400" dirty="0" err="1">
                <a:solidFill>
                  <a:srgbClr val="FF9900"/>
                </a:solidFill>
              </a:rPr>
              <a:t>каналите</a:t>
            </a:r>
            <a:r>
              <a:rPr lang="ru-RU" sz="2400" dirty="0">
                <a:solidFill>
                  <a:srgbClr val="FF9900"/>
                </a:solidFill>
              </a:rPr>
              <a:t> за </a:t>
            </a:r>
            <a:r>
              <a:rPr lang="ru-RU" sz="2400" dirty="0" err="1">
                <a:solidFill>
                  <a:srgbClr val="FF9900"/>
                </a:solidFill>
              </a:rPr>
              <a:t>пряк</a:t>
            </a:r>
            <a:r>
              <a:rPr lang="ru-RU" sz="2400" dirty="0">
                <a:solidFill>
                  <a:srgbClr val="FF9900"/>
                </a:solidFill>
              </a:rPr>
              <a:t> достъп до паметта (DMA) и не дава възможност за </a:t>
            </a:r>
            <a:r>
              <a:rPr lang="ru-RU" sz="2400" dirty="0" err="1">
                <a:solidFill>
                  <a:srgbClr val="FF9900"/>
                </a:solidFill>
              </a:rPr>
              <a:t>преразпределяне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ресурсите</a:t>
            </a:r>
            <a:r>
              <a:rPr lang="ru-RU" sz="2400" dirty="0">
                <a:solidFill>
                  <a:srgbClr val="FF9900"/>
                </a:solidFill>
              </a:rPr>
              <a:t> в случай на </a:t>
            </a:r>
            <a:r>
              <a:rPr lang="ru-RU" sz="2400" dirty="0" err="1">
                <a:solidFill>
                  <a:srgbClr val="FF9900"/>
                </a:solidFill>
              </a:rPr>
              <a:t>възникване</a:t>
            </a:r>
            <a:r>
              <a:rPr lang="ru-RU" sz="2400" dirty="0">
                <a:solidFill>
                  <a:srgbClr val="FF9900"/>
                </a:solidFill>
              </a:rPr>
              <a:t> на конфликт.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578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3" y="344652"/>
            <a:ext cx="6128762" cy="794191"/>
          </a:xfrm>
        </p:spPr>
        <p:txBody>
          <a:bodyPr/>
          <a:lstStyle/>
          <a:p>
            <a:r>
              <a:rPr lang="bg-BG" sz="2800" b="1" dirty="0">
                <a:solidFill>
                  <a:srgbClr val="FF9900"/>
                </a:solidFill>
              </a:rPr>
              <a:t>Мостова и Хъбова 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33" y="1795550"/>
            <a:ext cx="6344892" cy="4754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Затова </a:t>
            </a:r>
            <a:r>
              <a:rPr lang="ru-RU" sz="2400" dirty="0">
                <a:solidFill>
                  <a:srgbClr val="FF9900"/>
                </a:solidFill>
              </a:rPr>
              <a:t>в </a:t>
            </a:r>
            <a:r>
              <a:rPr lang="ru-RU" sz="2400" dirty="0" err="1">
                <a:solidFill>
                  <a:srgbClr val="FF9900"/>
                </a:solidFill>
              </a:rPr>
              <a:t>по-късните</a:t>
            </a:r>
            <a:r>
              <a:rPr lang="ru-RU" sz="2400" dirty="0">
                <a:solidFill>
                  <a:srgbClr val="FF9900"/>
                </a:solidFill>
              </a:rPr>
              <a:t> конструкции (от </a:t>
            </a:r>
            <a:r>
              <a:rPr lang="ru-RU" sz="2400" dirty="0" err="1">
                <a:solidFill>
                  <a:srgbClr val="FF9900"/>
                </a:solidFill>
              </a:rPr>
              <a:t>Pentium</a:t>
            </a:r>
            <a:r>
              <a:rPr lang="ru-RU" sz="2400" dirty="0">
                <a:solidFill>
                  <a:srgbClr val="FF9900"/>
                </a:solidFill>
              </a:rPr>
              <a:t> III и чипсети от </a:t>
            </a:r>
            <a:r>
              <a:rPr lang="ru-RU" sz="2400" dirty="0" err="1">
                <a:solidFill>
                  <a:srgbClr val="FF9900"/>
                </a:solidFill>
              </a:rPr>
              <a:t>сериите</a:t>
            </a:r>
            <a:r>
              <a:rPr lang="ru-RU" sz="2400" dirty="0">
                <a:solidFill>
                  <a:srgbClr val="FF9900"/>
                </a:solidFill>
              </a:rPr>
              <a:t> 810, 815, 820, 840 и следващи) се преминава към хъбова архитектура, при която връзката между двата моста е </a:t>
            </a:r>
            <a:r>
              <a:rPr lang="ru-RU" sz="2400" dirty="0" err="1">
                <a:solidFill>
                  <a:srgbClr val="FF9900"/>
                </a:solidFill>
              </a:rPr>
              <a:t>специализиран</a:t>
            </a:r>
            <a:r>
              <a:rPr lang="ru-RU" sz="2400" dirty="0">
                <a:solidFill>
                  <a:srgbClr val="FF9900"/>
                </a:solidFill>
              </a:rPr>
              <a:t> </a:t>
            </a:r>
            <a:r>
              <a:rPr lang="ru-RU" sz="2400" dirty="0" err="1">
                <a:solidFill>
                  <a:srgbClr val="FF9900"/>
                </a:solidFill>
              </a:rPr>
              <a:t>високоскоростен</a:t>
            </a:r>
            <a:r>
              <a:rPr lang="ru-RU" sz="2400" dirty="0">
                <a:solidFill>
                  <a:srgbClr val="FF9900"/>
                </a:solidFill>
              </a:rPr>
              <a:t> интерфейс, наречен </a:t>
            </a:r>
            <a:r>
              <a:rPr lang="ru-RU" sz="2400" dirty="0" err="1">
                <a:solidFill>
                  <a:srgbClr val="FF9900"/>
                </a:solidFill>
              </a:rPr>
              <a:t>хъбов</a:t>
            </a:r>
            <a:r>
              <a:rPr lang="ru-RU" sz="2400" dirty="0">
                <a:solidFill>
                  <a:srgbClr val="FF9900"/>
                </a:solidFill>
              </a:rPr>
              <a:t> интерфейс.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9883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0575" y="860040"/>
            <a:ext cx="4632472" cy="536498"/>
          </a:xfrm>
        </p:spPr>
        <p:txBody>
          <a:bodyPr/>
          <a:lstStyle/>
          <a:p>
            <a:pPr algn="ctr"/>
            <a:r>
              <a:rPr lang="bg-BG" sz="2800" b="1" dirty="0" smtClean="0">
                <a:solidFill>
                  <a:srgbClr val="FF9900"/>
                </a:solidFill>
              </a:rPr>
              <a:t>Тест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330" y="1396538"/>
            <a:ext cx="10166465" cy="5104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1. </a:t>
            </a:r>
            <a:r>
              <a:rPr lang="bg-BG" sz="2400" dirty="0" smtClean="0">
                <a:solidFill>
                  <a:srgbClr val="FF9900"/>
                </a:solidFill>
                <a:hlinkClick r:id="rId2" action="ppaction://hlinksldjump"/>
              </a:rPr>
              <a:t>Какво представлява дънната платка?</a:t>
            </a: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2. </a:t>
            </a:r>
            <a:r>
              <a:rPr lang="ru-RU" sz="2400" dirty="0" smtClean="0">
                <a:solidFill>
                  <a:srgbClr val="FF9900"/>
                </a:solidFill>
                <a:hlinkClick r:id="rId2" action="ppaction://hlinksldjump"/>
              </a:rPr>
              <a:t>За какво служи дънната платка?</a:t>
            </a: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3. </a:t>
            </a:r>
            <a:r>
              <a:rPr lang="ru-RU" sz="2400" dirty="0" smtClean="0">
                <a:solidFill>
                  <a:srgbClr val="FF9900"/>
                </a:solidFill>
                <a:hlinkClick r:id="rId3" action="ppaction://hlinksldjump"/>
              </a:rPr>
              <a:t>Какво </a:t>
            </a:r>
            <a:r>
              <a:rPr lang="ru-RU" sz="2400" dirty="0" err="1" smtClean="0">
                <a:solidFill>
                  <a:srgbClr val="FF9900"/>
                </a:solidFill>
                <a:hlinkClick r:id="rId3" action="ppaction://hlinksldjump"/>
              </a:rPr>
              <a:t>зависи</a:t>
            </a:r>
            <a:r>
              <a:rPr lang="ru-RU" sz="2400" dirty="0" smtClean="0">
                <a:solidFill>
                  <a:srgbClr val="FF9900"/>
                </a:solidFill>
                <a:hlinkClick r:id="rId3" action="ppaction://hlinksldjump"/>
              </a:rPr>
              <a:t> от дънната платка?</a:t>
            </a: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4. </a:t>
            </a:r>
            <a:r>
              <a:rPr lang="ru-RU" sz="2400" dirty="0" smtClean="0">
                <a:solidFill>
                  <a:srgbClr val="FF9900"/>
                </a:solidFill>
                <a:hlinkClick r:id="rId4" action="ppaction://hlinksldjump"/>
              </a:rPr>
              <a:t>Кои са трите </a:t>
            </a:r>
            <a:r>
              <a:rPr lang="ru-RU" sz="2400" dirty="0" err="1" smtClean="0">
                <a:solidFill>
                  <a:srgbClr val="FF9900"/>
                </a:solidFill>
                <a:hlinkClick r:id="rId4" action="ppaction://hlinksldjump"/>
              </a:rPr>
              <a:t>популярни</a:t>
            </a:r>
            <a:r>
              <a:rPr lang="ru-RU" sz="2400" dirty="0" smtClean="0">
                <a:solidFill>
                  <a:srgbClr val="FF9900"/>
                </a:solidFill>
                <a:hlinkClick r:id="rId4" action="ppaction://hlinksldjump"/>
              </a:rPr>
              <a:t> вида дънни платки?</a:t>
            </a:r>
            <a:endParaRPr lang="ru-RU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 smtClean="0">
                <a:solidFill>
                  <a:srgbClr val="FF9900"/>
                </a:solidFill>
              </a:rPr>
              <a:t>5</a:t>
            </a:r>
            <a:r>
              <a:rPr lang="bg-BG" sz="2400" dirty="0" smtClean="0">
                <a:solidFill>
                  <a:srgbClr val="FF9900"/>
                </a:solidFill>
              </a:rPr>
              <a:t>. </a:t>
            </a:r>
            <a:r>
              <a:rPr lang="bg-BG" sz="2400" dirty="0" smtClean="0">
                <a:solidFill>
                  <a:srgbClr val="FF9900"/>
                </a:solidFill>
                <a:hlinkClick r:id="rId5" action="ppaction://hlinksldjump"/>
              </a:rPr>
              <a:t>Какво представлява системната шина в дънната платка?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6. </a:t>
            </a:r>
            <a:r>
              <a:rPr lang="bg-BG" sz="2400" dirty="0" smtClean="0">
                <a:solidFill>
                  <a:srgbClr val="FF9900"/>
                </a:solidFill>
                <a:hlinkClick r:id="rId6" action="ppaction://hlinksldjump"/>
              </a:rPr>
              <a:t>Кои са компонентите на дънната платка?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7. </a:t>
            </a:r>
            <a:r>
              <a:rPr lang="bg-BG" sz="2400" dirty="0" smtClean="0">
                <a:solidFill>
                  <a:srgbClr val="FF9900"/>
                </a:solidFill>
                <a:hlinkClick r:id="rId7" action="ppaction://hlinksldjump"/>
              </a:rPr>
              <a:t>Какво представлява Мостовата архитектура?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8. </a:t>
            </a:r>
            <a:r>
              <a:rPr lang="bg-BG" sz="2400" dirty="0" smtClean="0">
                <a:solidFill>
                  <a:srgbClr val="FF9900"/>
                </a:solidFill>
                <a:hlinkClick r:id="rId8" action="ppaction://hlinksldjump"/>
              </a:rPr>
              <a:t>Какво представлява </a:t>
            </a:r>
            <a:r>
              <a:rPr lang="bg-BG" sz="2400" dirty="0" err="1" smtClean="0">
                <a:solidFill>
                  <a:srgbClr val="FF9900"/>
                </a:solidFill>
                <a:hlinkClick r:id="rId8" action="ppaction://hlinksldjump"/>
              </a:rPr>
              <a:t>Хъбовата</a:t>
            </a:r>
            <a:r>
              <a:rPr lang="bg-BG" sz="2400" dirty="0" smtClean="0">
                <a:solidFill>
                  <a:srgbClr val="FF9900"/>
                </a:solidFill>
                <a:hlinkClick r:id="rId8" action="ppaction://hlinksldjump"/>
              </a:rPr>
              <a:t> архитектура?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9. </a:t>
            </a:r>
            <a:r>
              <a:rPr lang="bg-BG" sz="2400" dirty="0" smtClean="0">
                <a:solidFill>
                  <a:srgbClr val="FF9900"/>
                </a:solidFill>
                <a:hlinkClick r:id="rId9" action="ppaction://hlinksldjump"/>
              </a:rPr>
              <a:t>Кои са </a:t>
            </a:r>
            <a:r>
              <a:rPr lang="ru-RU" sz="2400" dirty="0" err="1">
                <a:solidFill>
                  <a:srgbClr val="FF9900"/>
                </a:solidFill>
                <a:hlinkClick r:id="rId9" action="ppaction://hlinksldjump"/>
              </a:rPr>
              <a:t>п</a:t>
            </a:r>
            <a:r>
              <a:rPr lang="ru-RU" sz="2400" dirty="0" err="1" smtClean="0">
                <a:solidFill>
                  <a:srgbClr val="FF9900"/>
                </a:solidFill>
                <a:hlinkClick r:id="rId9" action="ppaction://hlinksldjump"/>
              </a:rPr>
              <a:t>редимствата</a:t>
            </a:r>
            <a:r>
              <a:rPr lang="ru-RU" sz="2400" dirty="0" smtClean="0">
                <a:solidFill>
                  <a:srgbClr val="FF9900"/>
                </a:solidFill>
                <a:hlinkClick r:id="rId9" action="ppaction://hlinksldjump"/>
              </a:rPr>
              <a:t> </a:t>
            </a:r>
            <a:r>
              <a:rPr lang="ru-RU" sz="2400" dirty="0">
                <a:solidFill>
                  <a:srgbClr val="FF9900"/>
                </a:solidFill>
                <a:hlinkClick r:id="rId9" action="ppaction://hlinksldjump"/>
              </a:rPr>
              <a:t>на </a:t>
            </a:r>
            <a:r>
              <a:rPr lang="ru-RU" sz="2400" dirty="0" err="1">
                <a:solidFill>
                  <a:srgbClr val="FF9900"/>
                </a:solidFill>
                <a:hlinkClick r:id="rId9" action="ppaction://hlinksldjump"/>
              </a:rPr>
              <a:t>Хъбовата</a:t>
            </a:r>
            <a:r>
              <a:rPr lang="ru-RU" sz="2400" dirty="0">
                <a:solidFill>
                  <a:srgbClr val="FF9900"/>
                </a:solidFill>
                <a:hlinkClick r:id="rId9" action="ppaction://hlinksldjump"/>
              </a:rPr>
              <a:t> </a:t>
            </a:r>
            <a:r>
              <a:rPr lang="ru-RU" sz="2400" dirty="0" smtClean="0">
                <a:solidFill>
                  <a:srgbClr val="FF9900"/>
                </a:solidFill>
                <a:hlinkClick r:id="rId9" action="ppaction://hlinksldjump"/>
              </a:rPr>
              <a:t>архитектура?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bg-BG" sz="2400" dirty="0" smtClean="0">
                <a:solidFill>
                  <a:srgbClr val="FF9900"/>
                </a:solidFill>
              </a:rPr>
              <a:t>10. </a:t>
            </a:r>
            <a:r>
              <a:rPr lang="ru-RU" sz="2400" dirty="0" smtClean="0">
                <a:solidFill>
                  <a:srgbClr val="FF9900"/>
                </a:solidFill>
                <a:hlinkClick r:id="rId10" action="ppaction://hlinksldjump"/>
              </a:rPr>
              <a:t>Кои са </a:t>
            </a:r>
            <a:r>
              <a:rPr lang="ru-RU" sz="2400" dirty="0" err="1" smtClean="0">
                <a:solidFill>
                  <a:srgbClr val="FF9900"/>
                </a:solidFill>
                <a:hlinkClick r:id="rId10" action="ppaction://hlinksldjump"/>
              </a:rPr>
              <a:t>недостатъците</a:t>
            </a:r>
            <a:r>
              <a:rPr lang="ru-RU" sz="2400" dirty="0" smtClean="0">
                <a:solidFill>
                  <a:srgbClr val="FF9900"/>
                </a:solidFill>
                <a:hlinkClick r:id="rId10" action="ppaction://hlinksldjump"/>
              </a:rPr>
              <a:t> на </a:t>
            </a:r>
            <a:r>
              <a:rPr lang="ru-RU" sz="2400" dirty="0" err="1" smtClean="0">
                <a:solidFill>
                  <a:srgbClr val="FF9900"/>
                </a:solidFill>
                <a:hlinkClick r:id="rId10" action="ppaction://hlinksldjump"/>
              </a:rPr>
              <a:t>Мостовата</a:t>
            </a:r>
            <a:r>
              <a:rPr lang="ru-RU" sz="2400" dirty="0" smtClean="0">
                <a:solidFill>
                  <a:srgbClr val="FF9900"/>
                </a:solidFill>
                <a:hlinkClick r:id="rId10" action="ppaction://hlinksldjump"/>
              </a:rPr>
              <a:t> архитектура?</a:t>
            </a:r>
            <a:endParaRPr lang="ru-RU" sz="2400" dirty="0" smtClean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8986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0707" y="868355"/>
            <a:ext cx="5372303" cy="794191"/>
          </a:xfrm>
        </p:spPr>
        <p:txBody>
          <a:bodyPr/>
          <a:lstStyle/>
          <a:p>
            <a:pPr algn="ctr"/>
            <a:r>
              <a:rPr lang="bg-BG" sz="2800" b="1" dirty="0" smtClean="0">
                <a:solidFill>
                  <a:srgbClr val="FF9900"/>
                </a:solidFill>
              </a:rPr>
              <a:t>Източници</a:t>
            </a:r>
            <a:endParaRPr lang="bg-BG" sz="2800" b="1" dirty="0">
              <a:solidFill>
                <a:srgbClr val="FF99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889" y="1662546"/>
            <a:ext cx="10093937" cy="521208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 smtClean="0">
                <a:solidFill>
                  <a:srgbClr val="FF9900"/>
                </a:solidFill>
                <a:hlinkClick r:id="rId2"/>
              </a:rPr>
              <a:t>https</a:t>
            </a:r>
            <a:r>
              <a:rPr lang="en-US" sz="2400" dirty="0">
                <a:solidFill>
                  <a:srgbClr val="FF9900"/>
                </a:solidFill>
                <a:hlinkClick r:id="rId2"/>
              </a:rPr>
              <a:t>://dokumen.tips/download/link/-</a:t>
            </a:r>
            <a:r>
              <a:rPr lang="en-US" sz="2400" dirty="0" smtClean="0">
                <a:solidFill>
                  <a:srgbClr val="FF9900"/>
                </a:solidFill>
                <a:hlinkClick r:id="rId2"/>
              </a:rPr>
              <a:t>5584b22dd8b42a9c768b474b.html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 algn="ctr">
              <a:buNone/>
            </a:pPr>
            <a:endParaRPr lang="bg-BG" sz="2400" dirty="0" smtClean="0">
              <a:solidFill>
                <a:srgbClr val="FF990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FF9900"/>
                </a:solidFill>
                <a:hlinkClick r:id="rId3"/>
              </a:rPr>
              <a:t>http://</a:t>
            </a:r>
            <a:r>
              <a:rPr lang="en-US" sz="2400" dirty="0" smtClean="0">
                <a:solidFill>
                  <a:srgbClr val="FF9900"/>
                </a:solidFill>
                <a:hlinkClick r:id="rId3"/>
              </a:rPr>
              <a:t>www.daskalo.com/nezabravka/files/2013/10/Osobenosti-na-habovata-arhitektura.pdf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 algn="ctr">
              <a:buNone/>
            </a:pPr>
            <a:endParaRPr lang="bg-BG" sz="2400" dirty="0">
              <a:solidFill>
                <a:srgbClr val="FF9900"/>
              </a:solidFill>
            </a:endParaRPr>
          </a:p>
          <a:p>
            <a:pPr marL="0" indent="0" algn="ctr">
              <a:buNone/>
            </a:pPr>
            <a:endParaRPr lang="bg-BG" sz="2400" dirty="0" smtClean="0">
              <a:solidFill>
                <a:srgbClr val="FF990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FF9900"/>
                </a:solidFill>
                <a:hlinkClick r:id="rId4"/>
              </a:rPr>
              <a:t>http://</a:t>
            </a:r>
            <a:r>
              <a:rPr lang="en-US" sz="2400" dirty="0" smtClean="0">
                <a:solidFill>
                  <a:srgbClr val="FF9900"/>
                </a:solidFill>
                <a:hlinkClick r:id="rId4"/>
              </a:rPr>
              <a:t>www.daskalo.com/nezabravka/files/2013/10/Osobenosti-na-arhitekturata-North-South-Bridge.pdf</a:t>
            </a:r>
            <a:endParaRPr lang="bg-BG" sz="2400" dirty="0" smtClean="0">
              <a:solidFill>
                <a:srgbClr val="FF9900"/>
              </a:solidFill>
            </a:endParaRPr>
          </a:p>
          <a:p>
            <a:pPr marL="0" indent="0" algn="ctr">
              <a:buNone/>
            </a:pPr>
            <a:endParaRPr lang="bg-BG" sz="2400" dirty="0" smtClean="0">
              <a:solidFill>
                <a:srgbClr val="FF9900"/>
              </a:solidFill>
            </a:endParaRPr>
          </a:p>
          <a:p>
            <a:pPr marL="0" indent="0" algn="ctr">
              <a:buNone/>
            </a:pPr>
            <a:endParaRPr lang="ru-RU" sz="2400" dirty="0">
              <a:solidFill>
                <a:srgbClr val="FF9900"/>
              </a:solidFill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FF9900"/>
                </a:solidFill>
              </a:rPr>
              <a:t> </a:t>
            </a:r>
            <a:endParaRPr lang="bg-BG" sz="24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991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175</TotalTime>
  <Words>3344</Words>
  <Application>Microsoft Office PowerPoint</Application>
  <PresentationFormat>Custom</PresentationFormat>
  <Paragraphs>264</Paragraphs>
  <Slides>62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Ion</vt:lpstr>
      <vt:lpstr>Архитектури на дънните платки. Съпоставка между Мостова и Хъбова архитектура </vt:lpstr>
      <vt:lpstr>Съдържание </vt:lpstr>
      <vt:lpstr>Съдържание </vt:lpstr>
      <vt:lpstr>Същност на дънната платка </vt:lpstr>
      <vt:lpstr>Същност на дънната платка </vt:lpstr>
      <vt:lpstr>Същност на дънната платка </vt:lpstr>
      <vt:lpstr>Същност на дънната платка </vt:lpstr>
      <vt:lpstr>Същност на дънната платка </vt:lpstr>
      <vt:lpstr>Същност на дънната платка </vt:lpstr>
      <vt:lpstr>Същност на дънната платка </vt:lpstr>
      <vt:lpstr>Същност на дънната платка </vt:lpstr>
      <vt:lpstr>Същност на дънната платка </vt:lpstr>
      <vt:lpstr>Същност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Компоненти на дънната платка 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Мостова и Хъбова архитектура</vt:lpstr>
      <vt:lpstr>Тест</vt:lpstr>
      <vt:lpstr>Източници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Архитектури на дънните платки. Съпоставка между мостова и хъбова архитектура</dc:title>
  <dc:creator>WSPPPC</dc:creator>
  <cp:lastModifiedBy>PC-0</cp:lastModifiedBy>
  <cp:revision>28</cp:revision>
  <dcterms:created xsi:type="dcterms:W3CDTF">2023-03-15T16:40:47Z</dcterms:created>
  <dcterms:modified xsi:type="dcterms:W3CDTF">2023-03-16T09:59:38Z</dcterms:modified>
</cp:coreProperties>
</file>