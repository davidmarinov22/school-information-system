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88" r:id="rId4"/>
    <p:sldId id="258" r:id="rId5"/>
    <p:sldId id="261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6" r:id="rId27"/>
    <p:sldId id="280" r:id="rId28"/>
    <p:sldId id="281" r:id="rId29"/>
    <p:sldId id="282" r:id="rId30"/>
    <p:sldId id="283" r:id="rId31"/>
    <p:sldId id="284" r:id="rId32"/>
    <p:sldId id="285" r:id="rId33"/>
    <p:sldId id="287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7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191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69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77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01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71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37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99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97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332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3932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90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68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 с карти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182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46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96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0241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" Target="slide10.xml"/><Relationship Id="rId7" Type="http://schemas.openxmlformats.org/officeDocument/2006/relationships/slide" Target="slide2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slide" Target="slide14.xml"/><Relationship Id="rId4" Type="http://schemas.openxmlformats.org/officeDocument/2006/relationships/slide" Target="slide11.xml"/><Relationship Id="rId9" Type="http://schemas.openxmlformats.org/officeDocument/2006/relationships/slide" Target="slide3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Windows_10" TargetMode="External"/><Relationship Id="rId3" Type="http://schemas.openxmlformats.org/officeDocument/2006/relationships/hyperlink" Target="https://edu.gcfglobal.org/en/windows8/upgrading-to-windows-81/1/" TargetMode="External"/><Relationship Id="rId7" Type="http://schemas.openxmlformats.org/officeDocument/2006/relationships/hyperlink" Target="https://translate.google.com/?sl=bg&amp;tl=en&amp;text=%D0%B8%D0%B7%D0%B8%D1%81%D0%BA%D0%B2%D0%B0%D0%BD%D0%B5%20&amp;op=translate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icrosoft.com/bg-bg/software-download/" TargetMode="External"/><Relationship Id="rId5" Type="http://schemas.openxmlformats.org/officeDocument/2006/relationships/hyperlink" Target="https://www.pcrequirements.net/en/softwares/windows-8.1-system-requirements/" TargetMode="External"/><Relationship Id="rId10" Type="http://schemas.openxmlformats.org/officeDocument/2006/relationships/hyperlink" Target="https://www.microsoft.com/bg-bg/windows/compare-windows-10-home-vs-pro" TargetMode="External"/><Relationship Id="rId4" Type="http://schemas.openxmlformats.org/officeDocument/2006/relationships/hyperlink" Target="https://windowstechies.com/windows-8-1-system-requirements/" TargetMode="External"/><Relationship Id="rId9" Type="http://schemas.openxmlformats.org/officeDocument/2006/relationships/hyperlink" Target="https://support.brother.com/g/b/oscontents.aspx?c=bg&amp;lang=bg&amp;ossid=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0818912A-E9A4-DE50-AB99-AB9E6141B3A5}"/>
              </a:ext>
            </a:extLst>
          </p:cNvPr>
          <p:cNvSpPr txBox="1"/>
          <p:nvPr/>
        </p:nvSpPr>
        <p:spPr>
          <a:xfrm>
            <a:off x="1960774" y="2247525"/>
            <a:ext cx="78902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dirty="0"/>
              <a:t>Операционни среди – </a:t>
            </a:r>
            <a:r>
              <a:rPr lang="en-US" sz="3200" dirty="0"/>
              <a:t>Windows 7, Windows 8.1 </a:t>
            </a:r>
            <a:r>
              <a:rPr lang="bg-BG" sz="3200" dirty="0"/>
              <a:t>и </a:t>
            </a:r>
            <a:r>
              <a:rPr lang="en-US" sz="3200" dirty="0"/>
              <a:t>Windows 10. </a:t>
            </a:r>
            <a:r>
              <a:rPr lang="bg-BG" sz="3200" dirty="0"/>
              <a:t>Характеристики на диагностични елементи. Предимства и недостатъци.</a:t>
            </a:r>
          </a:p>
        </p:txBody>
      </p:sp>
    </p:spTree>
    <p:extLst>
      <p:ext uri="{BB962C8B-B14F-4D97-AF65-F5344CB8AC3E}">
        <p14:creationId xmlns:p14="http://schemas.microsoft.com/office/powerpoint/2010/main" val="2096044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867266" y="1762813"/>
            <a:ext cx="68155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bg-BG" sz="2400" dirty="0"/>
          </a:p>
          <a:p>
            <a:pPr marL="342900" indent="-342900">
              <a:buAutoNum type="arabicPeriod"/>
            </a:pPr>
            <a:r>
              <a:rPr lang="bg-BG" sz="2400" dirty="0"/>
              <a:t>Видове софтуер</a:t>
            </a:r>
          </a:p>
          <a:p>
            <a:pPr marL="342900" indent="-342900">
              <a:buAutoNum type="arabicPeriod"/>
            </a:pPr>
            <a:r>
              <a:rPr lang="bg-BG" sz="2400" dirty="0"/>
              <a:t>Операционни системи</a:t>
            </a:r>
          </a:p>
          <a:p>
            <a:pPr marL="342900" indent="-342900">
              <a:buAutoNum type="arabicPeriod"/>
            </a:pPr>
            <a:r>
              <a:rPr lang="en-US" sz="2400" dirty="0"/>
              <a:t>Windows </a:t>
            </a:r>
            <a:r>
              <a:rPr lang="bg-BG" sz="2400" dirty="0"/>
              <a:t>ОС</a:t>
            </a:r>
          </a:p>
          <a:p>
            <a:pPr marL="342900" indent="-342900">
              <a:buAutoNum type="arabicPeriod"/>
            </a:pPr>
            <a:r>
              <a:rPr lang="en-US" sz="2400" dirty="0"/>
              <a:t>Windows 7</a:t>
            </a:r>
          </a:p>
          <a:p>
            <a:pPr marL="342900" indent="-342900">
              <a:buAutoNum type="alphaLcParenR"/>
            </a:pPr>
            <a:r>
              <a:rPr lang="bg-BG" sz="2400" dirty="0"/>
              <a:t>Определение</a:t>
            </a:r>
          </a:p>
          <a:p>
            <a:pPr marL="342900" indent="-342900">
              <a:buAutoNum type="alphaLcParenR"/>
            </a:pPr>
            <a:r>
              <a:rPr lang="bg-BG" sz="2400" dirty="0"/>
              <a:t>Нововъведения</a:t>
            </a:r>
          </a:p>
          <a:p>
            <a:pPr marL="342900" indent="-342900">
              <a:buAutoNum type="alphaLcParenR"/>
            </a:pPr>
            <a:r>
              <a:rPr lang="bg-BG" sz="2400" dirty="0"/>
              <a:t>Издания</a:t>
            </a:r>
          </a:p>
          <a:p>
            <a:pPr marL="342900" indent="-342900">
              <a:buAutoNum type="alphaLcParenR"/>
            </a:pPr>
            <a:r>
              <a:rPr lang="bg-BG" sz="2400" dirty="0"/>
              <a:t>Минимални и препоръчителни изисквания</a:t>
            </a:r>
          </a:p>
          <a:p>
            <a:pPr marL="342900" indent="-342900">
              <a:buAutoNum type="alphaLcParenR"/>
            </a:pPr>
            <a:r>
              <a:rPr lang="bg-BG" sz="2400" dirty="0"/>
              <a:t>Диагностични програми</a:t>
            </a:r>
          </a:p>
          <a:p>
            <a:pPr marL="342900" indent="-342900">
              <a:buAutoNum type="alphaLcParenR"/>
            </a:pPr>
            <a:endParaRPr lang="bg-BG" sz="2400" dirty="0"/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CB7251FD-132E-B990-2FF1-7359DEAFCB9E}"/>
              </a:ext>
            </a:extLst>
          </p:cNvPr>
          <p:cNvSpPr txBox="1"/>
          <p:nvPr/>
        </p:nvSpPr>
        <p:spPr>
          <a:xfrm>
            <a:off x="4458878" y="499621"/>
            <a:ext cx="32239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/>
              <a:t>Съдържание</a:t>
            </a:r>
          </a:p>
        </p:txBody>
      </p:sp>
    </p:spTree>
    <p:extLst>
      <p:ext uri="{BB962C8B-B14F-4D97-AF65-F5344CB8AC3E}">
        <p14:creationId xmlns:p14="http://schemas.microsoft.com/office/powerpoint/2010/main" val="2520056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867266" y="1941921"/>
            <a:ext cx="68155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5. </a:t>
            </a:r>
            <a:r>
              <a:rPr lang="en-US" sz="2400" dirty="0" err="1"/>
              <a:t>Wundows</a:t>
            </a:r>
            <a:r>
              <a:rPr lang="en-US" sz="2400" dirty="0"/>
              <a:t> 8.1</a:t>
            </a:r>
          </a:p>
          <a:p>
            <a:pPr marL="342900" indent="-342900">
              <a:buAutoNum type="alphaLcParenR"/>
            </a:pPr>
            <a:r>
              <a:rPr lang="bg-BG" sz="2400" dirty="0"/>
              <a:t>Определение</a:t>
            </a:r>
          </a:p>
          <a:p>
            <a:pPr marL="342900" indent="-342900">
              <a:buAutoNum type="alphaLcParenR"/>
            </a:pPr>
            <a:r>
              <a:rPr lang="bg-BG" sz="2400" dirty="0"/>
              <a:t>Подобрения </a:t>
            </a:r>
          </a:p>
          <a:p>
            <a:pPr marL="342900" indent="-342900">
              <a:buAutoNum type="alphaLcParenR"/>
            </a:pPr>
            <a:r>
              <a:rPr lang="bg-BG" sz="2400" dirty="0"/>
              <a:t>Минимални и препоръчителни </a:t>
            </a:r>
            <a:r>
              <a:rPr lang="bg-BG" sz="2400" dirty="0" err="1"/>
              <a:t>изистквания</a:t>
            </a:r>
            <a:endParaRPr lang="bg-BG" sz="2400" dirty="0"/>
          </a:p>
          <a:p>
            <a:r>
              <a:rPr lang="bg-BG" sz="2400" dirty="0"/>
              <a:t>6. </a:t>
            </a:r>
            <a:r>
              <a:rPr lang="en-US" sz="2400" dirty="0"/>
              <a:t>Windows 10</a:t>
            </a:r>
            <a:endParaRPr lang="bg-BG" sz="2400" dirty="0"/>
          </a:p>
          <a:p>
            <a:pPr marL="342900" indent="-342900">
              <a:buAutoNum type="alphaLcParenR"/>
            </a:pPr>
            <a:r>
              <a:rPr lang="bg-BG" sz="2400" dirty="0"/>
              <a:t>Определение</a:t>
            </a:r>
          </a:p>
          <a:p>
            <a:pPr marL="342900" indent="-342900">
              <a:buAutoNum type="alphaLcParenR"/>
            </a:pPr>
            <a:r>
              <a:rPr lang="bg-BG" sz="2400" dirty="0"/>
              <a:t>Нововъведения</a:t>
            </a:r>
          </a:p>
          <a:p>
            <a:pPr marL="342900" indent="-342900">
              <a:buAutoNum type="alphaLcParenR"/>
            </a:pPr>
            <a:r>
              <a:rPr lang="bg-BG" sz="2400" dirty="0"/>
              <a:t>Минимални и препоръчителни изисквания</a:t>
            </a:r>
          </a:p>
          <a:p>
            <a:pPr marL="342900" indent="-342900">
              <a:buAutoNum type="alphaLcParenR"/>
            </a:pPr>
            <a:r>
              <a:rPr lang="bg-BG" sz="2400" dirty="0"/>
              <a:t>Предимства и недостатъци</a:t>
            </a:r>
            <a:endParaRPr lang="en-US" sz="2400" dirty="0"/>
          </a:p>
          <a:p>
            <a:endParaRPr lang="bg-BG" sz="2400" dirty="0"/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CDD250F2-9567-FAB7-D4CD-503204432E24}"/>
              </a:ext>
            </a:extLst>
          </p:cNvPr>
          <p:cNvSpPr txBox="1"/>
          <p:nvPr/>
        </p:nvSpPr>
        <p:spPr>
          <a:xfrm>
            <a:off x="3525625" y="329938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dirty="0"/>
              <a:t>Съдържание</a:t>
            </a:r>
          </a:p>
        </p:txBody>
      </p:sp>
    </p:spTree>
    <p:extLst>
      <p:ext uri="{BB962C8B-B14F-4D97-AF65-F5344CB8AC3E}">
        <p14:creationId xmlns:p14="http://schemas.microsoft.com/office/powerpoint/2010/main" val="3852747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bg-BG" sz="33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Видове софтуер</a:t>
            </a: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686A741-F678-058D-E834-FC0DB85F0BDE}"/>
              </a:ext>
            </a:extLst>
          </p:cNvPr>
          <p:cNvSpPr txBox="1"/>
          <p:nvPr/>
        </p:nvSpPr>
        <p:spPr>
          <a:xfrm>
            <a:off x="572286" y="1961890"/>
            <a:ext cx="4659590" cy="4757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bg-BG" sz="2400" dirty="0">
                <a:latin typeface="+mj-lt"/>
                <a:ea typeface="+mj-ea"/>
                <a:cs typeface="+mj-cs"/>
              </a:rPr>
              <a:t>Софтуерът се дели на два основни вида: Системен и приложен. В презентацията ще разгледаме най-важната част от системния софтуер, а именно операционните системи.</a:t>
            </a:r>
            <a:endParaRPr lang="en-US" sz="2400" dirty="0">
              <a:latin typeface="+mj-lt"/>
              <a:ea typeface="+mj-ea"/>
              <a:cs typeface="+mj-cs"/>
            </a:endParaRP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DC0EC9F5-D7AF-B996-F619-A21B10B34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297" y="1591120"/>
            <a:ext cx="2688985" cy="397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62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Операционна</a:t>
            </a:r>
            <a:r>
              <a:rPr lang="en-US" sz="33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система</a:t>
            </a:r>
            <a:r>
              <a:rPr lang="en-US" sz="33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- </a:t>
            </a:r>
            <a:r>
              <a:rPr lang="en-US" sz="33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определение</a:t>
            </a: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1279A830-EE37-960A-03F3-42E1CB50CB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73"/>
          <a:stretch/>
        </p:blipFill>
        <p:spPr>
          <a:xfrm>
            <a:off x="5876230" y="1702675"/>
            <a:ext cx="5536093" cy="450801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686A741-F678-058D-E834-FC0DB85F0BDE}"/>
              </a:ext>
            </a:extLst>
          </p:cNvPr>
          <p:cNvSpPr txBox="1"/>
          <p:nvPr/>
        </p:nvSpPr>
        <p:spPr>
          <a:xfrm>
            <a:off x="572286" y="1961890"/>
            <a:ext cx="4659590" cy="4757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dirty="0" err="1">
                <a:latin typeface="+mj-lt"/>
                <a:ea typeface="+mj-ea"/>
                <a:cs typeface="+mj-cs"/>
              </a:rPr>
              <a:t>Операционната</a:t>
            </a: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latin typeface="+mj-lt"/>
                <a:ea typeface="+mj-ea"/>
                <a:cs typeface="+mj-cs"/>
              </a:rPr>
              <a:t>система</a:t>
            </a:r>
            <a:r>
              <a:rPr lang="en-US" sz="2400" dirty="0">
                <a:latin typeface="+mj-lt"/>
                <a:ea typeface="+mj-ea"/>
                <a:cs typeface="+mj-cs"/>
              </a:rPr>
              <a:t> (ОС) е </a:t>
            </a:r>
            <a:r>
              <a:rPr lang="en-US" sz="2400" dirty="0" err="1">
                <a:latin typeface="+mj-lt"/>
                <a:ea typeface="+mj-ea"/>
                <a:cs typeface="+mj-cs"/>
              </a:rPr>
              <a:t>основна</a:t>
            </a: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latin typeface="+mj-lt"/>
                <a:ea typeface="+mj-ea"/>
                <a:cs typeface="+mj-cs"/>
              </a:rPr>
              <a:t>част</a:t>
            </a: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latin typeface="+mj-lt"/>
                <a:ea typeface="+mj-ea"/>
                <a:cs typeface="+mj-cs"/>
              </a:rPr>
              <a:t>от</a:t>
            </a:r>
            <a:r>
              <a:rPr lang="en-US" sz="2400" dirty="0">
                <a:latin typeface="+mj-lt"/>
                <a:ea typeface="+mj-ea"/>
                <a:cs typeface="+mj-cs"/>
              </a:rPr>
              <a:t> </a:t>
            </a:r>
            <a:r>
              <a:rPr lang="en-US" sz="2400" dirty="0" err="1">
                <a:latin typeface="+mj-lt"/>
                <a:ea typeface="+mj-ea"/>
                <a:cs typeface="+mj-cs"/>
              </a:rPr>
              <a:t>компютърния</a:t>
            </a:r>
            <a:r>
              <a:rPr lang="en-US" sz="2400" dirty="0">
                <a:latin typeface="+mj-lt"/>
                <a:ea typeface="+mj-ea"/>
                <a:cs typeface="+mj-cs"/>
              </a:rPr>
              <a:t> </a:t>
            </a:r>
            <a:r>
              <a:rPr lang="en-US" sz="2400" dirty="0" err="1">
                <a:latin typeface="+mj-lt"/>
                <a:ea typeface="+mj-ea"/>
                <a:cs typeface="+mj-cs"/>
              </a:rPr>
              <a:t>системен</a:t>
            </a: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latin typeface="+mj-lt"/>
                <a:ea typeface="+mj-ea"/>
                <a:cs typeface="+mj-cs"/>
              </a:rPr>
              <a:t>софтуер.Тя</a:t>
            </a: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latin typeface="+mj-lt"/>
                <a:ea typeface="+mj-ea"/>
                <a:cs typeface="+mj-cs"/>
              </a:rPr>
              <a:t>управлява</a:t>
            </a:r>
            <a:r>
              <a:rPr lang="en-US" sz="2400" dirty="0">
                <a:latin typeface="+mj-lt"/>
                <a:ea typeface="+mj-ea"/>
                <a:cs typeface="+mj-cs"/>
              </a:rPr>
              <a:t> и </a:t>
            </a:r>
            <a:r>
              <a:rPr lang="en-US" sz="2400" dirty="0" err="1">
                <a:latin typeface="+mj-lt"/>
                <a:ea typeface="+mj-ea"/>
                <a:cs typeface="+mj-cs"/>
              </a:rPr>
              <a:t>координира</a:t>
            </a: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latin typeface="+mj-lt"/>
                <a:ea typeface="+mj-ea"/>
                <a:cs typeface="+mj-cs"/>
              </a:rPr>
              <a:t>ресурсите</a:t>
            </a: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latin typeface="+mj-lt"/>
                <a:ea typeface="+mj-ea"/>
                <a:cs typeface="+mj-cs"/>
              </a:rPr>
              <a:t>на</a:t>
            </a:r>
            <a:r>
              <a:rPr lang="en-US" sz="2400" dirty="0">
                <a:latin typeface="+mj-lt"/>
                <a:ea typeface="+mj-ea"/>
                <a:cs typeface="+mj-cs"/>
              </a:rPr>
              <a:t> </a:t>
            </a:r>
            <a:r>
              <a:rPr lang="en-US" sz="2400" dirty="0" err="1">
                <a:latin typeface="+mj-lt"/>
                <a:ea typeface="+mj-ea"/>
                <a:cs typeface="+mj-cs"/>
              </a:rPr>
              <a:t>хардуера</a:t>
            </a:r>
            <a:r>
              <a:rPr lang="en-US" sz="2400" dirty="0">
                <a:latin typeface="+mj-lt"/>
                <a:ea typeface="+mj-ea"/>
                <a:cs typeface="+mj-cs"/>
              </a:rPr>
              <a:t> и </a:t>
            </a:r>
            <a:r>
              <a:rPr lang="en-US" sz="2400" dirty="0" err="1">
                <a:latin typeface="+mj-lt"/>
                <a:ea typeface="+mj-ea"/>
                <a:cs typeface="+mj-cs"/>
              </a:rPr>
              <a:t>софтуера</a:t>
            </a:r>
            <a:r>
              <a:rPr lang="en-US" sz="2400" dirty="0">
                <a:latin typeface="+mj-lt"/>
                <a:ea typeface="+mj-ea"/>
                <a:cs typeface="+mj-cs"/>
              </a:rPr>
              <a:t> и </a:t>
            </a:r>
            <a:r>
              <a:rPr lang="en-US" sz="2400" dirty="0" err="1">
                <a:latin typeface="+mj-lt"/>
                <a:ea typeface="+mj-ea"/>
                <a:cs typeface="+mj-cs"/>
              </a:rPr>
              <a:t>обслужва</a:t>
            </a: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latin typeface="+mj-lt"/>
                <a:ea typeface="+mj-ea"/>
                <a:cs typeface="+mj-cs"/>
              </a:rPr>
              <a:t>изпълняваните</a:t>
            </a:r>
            <a:r>
              <a:rPr lang="en-US" sz="2400" dirty="0">
                <a:latin typeface="+mj-lt"/>
                <a:ea typeface="+mj-ea"/>
                <a:cs typeface="+mj-cs"/>
              </a:rPr>
              <a:t> </a:t>
            </a:r>
            <a:r>
              <a:rPr lang="en-US" sz="2400" dirty="0" err="1">
                <a:latin typeface="+mj-lt"/>
                <a:ea typeface="+mj-ea"/>
                <a:cs typeface="+mj-cs"/>
              </a:rPr>
              <a:t>компютърни</a:t>
            </a: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latin typeface="+mj-lt"/>
                <a:ea typeface="+mj-ea"/>
                <a:cs typeface="+mj-cs"/>
              </a:rPr>
              <a:t>програми</a:t>
            </a:r>
            <a:r>
              <a:rPr lang="en-US" sz="2400" dirty="0">
                <a:latin typeface="+mj-lt"/>
                <a:ea typeface="+mj-ea"/>
                <a:cs typeface="+mj-cs"/>
              </a:rPr>
              <a:t>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2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421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Операционна</a:t>
            </a:r>
            <a:r>
              <a:rPr lang="en-US" sz="33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система</a:t>
            </a:r>
            <a:r>
              <a:rPr lang="en-US" sz="33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- </a:t>
            </a:r>
            <a:r>
              <a:rPr lang="en-US" sz="33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определение</a:t>
            </a: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686A741-F678-058D-E834-FC0DB85F0BDE}"/>
              </a:ext>
            </a:extLst>
          </p:cNvPr>
          <p:cNvSpPr txBox="1"/>
          <p:nvPr/>
        </p:nvSpPr>
        <p:spPr>
          <a:xfrm>
            <a:off x="572286" y="1961890"/>
            <a:ext cx="4659590" cy="4757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ru-RU" sz="2400" dirty="0" err="1">
                <a:latin typeface="+mj-lt"/>
                <a:ea typeface="+mj-ea"/>
                <a:cs typeface="+mj-cs"/>
              </a:rPr>
              <a:t>Предшествениците</a:t>
            </a:r>
            <a:r>
              <a:rPr lang="ru-RU" sz="2400" dirty="0">
                <a:latin typeface="+mj-lt"/>
                <a:ea typeface="+mj-ea"/>
                <a:cs typeface="+mj-cs"/>
              </a:rPr>
              <a:t> на </a:t>
            </a:r>
            <a:r>
              <a:rPr lang="ru-RU" sz="2400" dirty="0" err="1">
                <a:latin typeface="+mj-lt"/>
                <a:ea typeface="+mj-ea"/>
                <a:cs typeface="+mj-cs"/>
              </a:rPr>
              <a:t>първите</a:t>
            </a:r>
            <a:r>
              <a:rPr lang="ru-RU" sz="2400" dirty="0">
                <a:latin typeface="+mj-lt"/>
                <a:ea typeface="+mj-ea"/>
                <a:cs typeface="+mj-cs"/>
              </a:rPr>
              <a:t> </a:t>
            </a:r>
            <a:r>
              <a:rPr lang="ru-RU" sz="2400" dirty="0" err="1">
                <a:latin typeface="+mj-lt"/>
                <a:ea typeface="+mj-ea"/>
                <a:cs typeface="+mj-cs"/>
              </a:rPr>
              <a:t>компютри</a:t>
            </a:r>
            <a:r>
              <a:rPr lang="ru-RU" sz="2400" dirty="0">
                <a:latin typeface="+mj-lt"/>
                <a:ea typeface="+mj-ea"/>
                <a:cs typeface="+mj-cs"/>
              </a:rPr>
              <a:t> </a:t>
            </a:r>
            <a:r>
              <a:rPr lang="ru-RU" sz="2400" dirty="0" err="1">
                <a:latin typeface="+mj-lt"/>
                <a:ea typeface="+mj-ea"/>
                <a:cs typeface="+mj-cs"/>
              </a:rPr>
              <a:t>са</a:t>
            </a:r>
            <a:r>
              <a:rPr lang="ru-RU" sz="2400" dirty="0">
                <a:latin typeface="+mj-lt"/>
                <a:ea typeface="+mj-ea"/>
                <a:cs typeface="+mj-cs"/>
              </a:rPr>
              <a:t> </a:t>
            </a:r>
            <a:r>
              <a:rPr lang="ru-RU" sz="2400" dirty="0" err="1">
                <a:latin typeface="+mj-lt"/>
                <a:ea typeface="+mj-ea"/>
                <a:cs typeface="+mj-cs"/>
              </a:rPr>
              <a:t>създадени</a:t>
            </a:r>
            <a:r>
              <a:rPr lang="ru-RU" sz="2400" dirty="0">
                <a:latin typeface="+mj-lt"/>
                <a:ea typeface="+mj-ea"/>
                <a:cs typeface="+mj-cs"/>
              </a:rPr>
              <a:t> да </a:t>
            </a:r>
            <a:r>
              <a:rPr lang="ru-RU" sz="2400" dirty="0" err="1">
                <a:latin typeface="+mj-lt"/>
                <a:ea typeface="+mj-ea"/>
                <a:cs typeface="+mj-cs"/>
              </a:rPr>
              <a:t>изпълняват</a:t>
            </a:r>
            <a:r>
              <a:rPr lang="ru-RU" sz="2400" dirty="0">
                <a:latin typeface="+mj-lt"/>
                <a:ea typeface="+mj-ea"/>
                <a:cs typeface="+mj-cs"/>
              </a:rPr>
              <a:t> </a:t>
            </a:r>
            <a:r>
              <a:rPr lang="ru-RU" sz="2400" dirty="0" err="1">
                <a:latin typeface="+mj-lt"/>
                <a:ea typeface="+mj-ea"/>
                <a:cs typeface="+mj-cs"/>
              </a:rPr>
              <a:t>единични</a:t>
            </a:r>
            <a:r>
              <a:rPr lang="ru-RU" sz="2400" dirty="0">
                <a:latin typeface="+mj-lt"/>
                <a:ea typeface="+mj-ea"/>
                <a:cs typeface="+mj-cs"/>
              </a:rPr>
              <a:t> задачи, например </a:t>
            </a:r>
            <a:r>
              <a:rPr lang="ru-RU" sz="2400" dirty="0" err="1">
                <a:latin typeface="+mj-lt"/>
                <a:ea typeface="+mj-ea"/>
                <a:cs typeface="+mj-cs"/>
              </a:rPr>
              <a:t>калкулаторът</a:t>
            </a:r>
            <a:r>
              <a:rPr lang="ru-RU" sz="2400" dirty="0">
                <a:latin typeface="+mj-lt"/>
                <a:ea typeface="+mj-ea"/>
                <a:cs typeface="+mj-cs"/>
              </a:rPr>
              <a:t>, и </a:t>
            </a:r>
            <a:r>
              <a:rPr lang="ru-RU" sz="2400" dirty="0" err="1">
                <a:latin typeface="+mj-lt"/>
                <a:ea typeface="+mj-ea"/>
                <a:cs typeface="+mj-cs"/>
              </a:rPr>
              <a:t>нямат</a:t>
            </a:r>
            <a:r>
              <a:rPr lang="ru-RU" sz="2400" dirty="0">
                <a:latin typeface="+mj-lt"/>
                <a:ea typeface="+mj-ea"/>
                <a:cs typeface="+mj-cs"/>
              </a:rPr>
              <a:t> ОС.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bg-BG" sz="2400" dirty="0">
                <a:latin typeface="+mj-lt"/>
                <a:ea typeface="+mj-ea"/>
                <a:cs typeface="+mj-cs"/>
              </a:rPr>
              <a:t>С напредъка на технологиите се появяват и п</a:t>
            </a:r>
            <a:r>
              <a:rPr lang="ru-RU" sz="2400" dirty="0" err="1">
                <a:latin typeface="+mj-lt"/>
                <a:ea typeface="+mj-ea"/>
                <a:cs typeface="+mj-cs"/>
              </a:rPr>
              <a:t>ървите</a:t>
            </a:r>
            <a:r>
              <a:rPr lang="ru-RU" sz="2400" dirty="0">
                <a:latin typeface="+mj-lt"/>
                <a:ea typeface="+mj-ea"/>
                <a:cs typeface="+mj-cs"/>
              </a:rPr>
              <a:t> концепции за ОС, </a:t>
            </a:r>
            <a:r>
              <a:rPr lang="ru-RU" sz="2400" dirty="0" err="1">
                <a:latin typeface="+mj-lt"/>
                <a:ea typeface="+mj-ea"/>
                <a:cs typeface="+mj-cs"/>
              </a:rPr>
              <a:t>изведени</a:t>
            </a:r>
            <a:r>
              <a:rPr lang="ru-RU" sz="2400" dirty="0">
                <a:latin typeface="+mj-lt"/>
                <a:ea typeface="+mj-ea"/>
                <a:cs typeface="+mj-cs"/>
              </a:rPr>
              <a:t> от </a:t>
            </a:r>
            <a:r>
              <a:rPr lang="ru-RU" sz="2400" dirty="0" err="1">
                <a:latin typeface="+mj-lt"/>
                <a:ea typeface="+mj-ea"/>
                <a:cs typeface="+mj-cs"/>
              </a:rPr>
              <a:t>Алън</a:t>
            </a:r>
            <a:r>
              <a:rPr lang="ru-RU" sz="2400" dirty="0">
                <a:latin typeface="+mj-lt"/>
                <a:ea typeface="+mj-ea"/>
                <a:cs typeface="+mj-cs"/>
              </a:rPr>
              <a:t> </a:t>
            </a:r>
            <a:r>
              <a:rPr lang="ru-RU" sz="2400" dirty="0" err="1">
                <a:latin typeface="+mj-lt"/>
                <a:ea typeface="+mj-ea"/>
                <a:cs typeface="+mj-cs"/>
              </a:rPr>
              <a:t>Тюринг.Тя</a:t>
            </a:r>
            <a:r>
              <a:rPr lang="ru-RU" sz="2400" dirty="0">
                <a:latin typeface="+mj-lt"/>
                <a:ea typeface="+mj-ea"/>
                <a:cs typeface="+mj-cs"/>
              </a:rPr>
              <a:t> се </a:t>
            </a:r>
            <a:r>
              <a:rPr lang="ru-RU" sz="2400" dirty="0" err="1">
                <a:latin typeface="+mj-lt"/>
                <a:ea typeface="+mj-ea"/>
                <a:cs typeface="+mj-cs"/>
              </a:rPr>
              <a:t>създава</a:t>
            </a:r>
            <a:r>
              <a:rPr lang="ru-RU" sz="2400" dirty="0">
                <a:latin typeface="+mj-lt"/>
                <a:ea typeface="+mj-ea"/>
                <a:cs typeface="+mj-cs"/>
              </a:rPr>
              <a:t> чрез </a:t>
            </a:r>
            <a:r>
              <a:rPr lang="ru-RU" sz="2400" dirty="0" err="1">
                <a:latin typeface="+mj-lt"/>
                <a:ea typeface="+mj-ea"/>
                <a:cs typeface="+mj-cs"/>
              </a:rPr>
              <a:t>компютъра</a:t>
            </a:r>
            <a:r>
              <a:rPr lang="ru-RU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>
                <a:latin typeface="+mj-lt"/>
                <a:ea typeface="+mj-ea"/>
                <a:cs typeface="+mj-cs"/>
              </a:rPr>
              <a:t>Mark 1</a:t>
            </a:r>
            <a:r>
              <a:rPr lang="bg-BG" sz="2400" dirty="0">
                <a:latin typeface="+mj-lt"/>
                <a:ea typeface="+mj-ea"/>
                <a:cs typeface="+mj-cs"/>
              </a:rPr>
              <a:t> в Манчестър.</a:t>
            </a:r>
            <a:endParaRPr lang="en-US" sz="2400" dirty="0">
              <a:latin typeface="+mj-lt"/>
              <a:ea typeface="+mj-ea"/>
              <a:cs typeface="+mj-cs"/>
            </a:endParaRPr>
          </a:p>
        </p:txBody>
      </p:sp>
      <p:pic>
        <p:nvPicPr>
          <p:cNvPr id="6" name="Картина 5" descr="Картина, която съдържа лице, костюм, мъж, стена&#10;&#10;Описанието е генерирано автоматично">
            <a:extLst>
              <a:ext uri="{FF2B5EF4-FFF2-40B4-BE49-F238E27FC236}">
                <a16:creationId xmlns:a16="http://schemas.microsoft.com/office/drawing/2014/main" id="{DE2539FA-091C-D85E-1ADF-70EA643D5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304" y="3884700"/>
            <a:ext cx="1921410" cy="2614646"/>
          </a:xfrm>
          <a:prstGeom prst="rect">
            <a:avLst/>
          </a:prstGeom>
        </p:spPr>
      </p:pic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83BA4EE7-A8D1-C4AE-E359-8FDA106937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402" t="19940" r="15473" b="17617"/>
          <a:stretch/>
        </p:blipFill>
        <p:spPr>
          <a:xfrm>
            <a:off x="5794689" y="662190"/>
            <a:ext cx="649373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87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686A741-F678-058D-E834-FC0DB85F0BDE}"/>
              </a:ext>
            </a:extLst>
          </p:cNvPr>
          <p:cNvSpPr txBox="1"/>
          <p:nvPr/>
        </p:nvSpPr>
        <p:spPr>
          <a:xfrm>
            <a:off x="511499" y="1509945"/>
            <a:ext cx="4659590" cy="47570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bg-BG" sz="2400" dirty="0">
                <a:latin typeface="+mj-lt"/>
                <a:ea typeface="+mj-ea"/>
                <a:cs typeface="+mj-cs"/>
              </a:rPr>
              <a:t>Най-разпространените операционни системи са: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itchFamily="34" charset="0"/>
              <a:buChar char="•"/>
            </a:pPr>
            <a:r>
              <a:rPr lang="en-US" sz="2400" dirty="0">
                <a:latin typeface="+mj-lt"/>
                <a:ea typeface="+mj-ea"/>
                <a:cs typeface="+mj-cs"/>
              </a:rPr>
              <a:t>Windows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itchFamily="34" charset="0"/>
              <a:buChar char="•"/>
            </a:pPr>
            <a:r>
              <a:rPr lang="en-US" sz="2400" dirty="0"/>
              <a:t>Mac OS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itchFamily="34" charset="0"/>
              <a:buChar char="•"/>
            </a:pPr>
            <a:r>
              <a:rPr lang="en-US" sz="2400" dirty="0"/>
              <a:t>Linux (Ubuntu)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itchFamily="34" charset="0"/>
              <a:buChar char="•"/>
            </a:pPr>
            <a:r>
              <a:rPr lang="en-US" sz="2400" dirty="0"/>
              <a:t>Android OS (</a:t>
            </a:r>
            <a:r>
              <a:rPr lang="ru-RU" sz="2400" dirty="0"/>
              <a:t>Тя се използва основно при смартфони и таблети</a:t>
            </a:r>
            <a:r>
              <a:rPr lang="en-US" sz="2400" dirty="0"/>
              <a:t>)</a:t>
            </a:r>
            <a:endParaRPr lang="bg-BG" sz="2400" dirty="0"/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bg-BG" sz="2400" dirty="0"/>
              <a:t>В тази презентация ние ще разгледаме операционната система </a:t>
            </a:r>
            <a:r>
              <a:rPr lang="en-US" sz="2400" dirty="0"/>
              <a:t>Windows</a:t>
            </a:r>
            <a:r>
              <a:rPr lang="bg-BG" sz="2400" dirty="0"/>
              <a:t> и нейните видове – 7, 8.1 и 10.</a:t>
            </a:r>
            <a:endParaRPr lang="en-US" sz="2400" dirty="0"/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2400" dirty="0"/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8690" y="248334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600" dirty="0"/>
              <a:t>Примери за операционни системи</a:t>
            </a:r>
            <a:endParaRPr lang="en-US" sz="3600" dirty="0"/>
          </a:p>
        </p:txBody>
      </p:sp>
      <p:pic>
        <p:nvPicPr>
          <p:cNvPr id="1026" name="Picture 2" descr="F:\10-best-operating-systems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896" y="1948633"/>
            <a:ext cx="5224189" cy="242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11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686A741-F678-058D-E834-FC0DB85F0BDE}"/>
              </a:ext>
            </a:extLst>
          </p:cNvPr>
          <p:cNvSpPr txBox="1"/>
          <p:nvPr/>
        </p:nvSpPr>
        <p:spPr>
          <a:xfrm>
            <a:off x="511499" y="2100963"/>
            <a:ext cx="4659590" cy="4757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dirty="0"/>
              <a:t>Microsoft Windows</a:t>
            </a:r>
            <a:r>
              <a:rPr lang="bg-BG" sz="2400" dirty="0"/>
              <a:t>, наричан просто </a:t>
            </a:r>
            <a:r>
              <a:rPr lang="en-US" sz="2400" dirty="0"/>
              <a:t>Windows</a:t>
            </a:r>
            <a:r>
              <a:rPr lang="bg-BG" sz="2400" dirty="0"/>
              <a:t>, е семейство от операционни системи със затворен код, разработвано от софтуерната компания </a:t>
            </a:r>
            <a:r>
              <a:rPr lang="en-US" sz="2400" dirty="0"/>
              <a:t>Microsoft. </a:t>
            </a:r>
            <a:endParaRPr lang="en-US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8690" y="248334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Windows </a:t>
            </a:r>
            <a:r>
              <a:rPr lang="bg-BG" sz="3600" dirty="0"/>
              <a:t>операционна система</a:t>
            </a:r>
            <a:endParaRPr lang="en-US" sz="3600" dirty="0"/>
          </a:p>
        </p:txBody>
      </p:sp>
      <p:pic>
        <p:nvPicPr>
          <p:cNvPr id="2050" name="Picture 2" descr="F:\what-is-windows.pn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9000" l="2500" r="96500">
                        <a14:foregroundMark x1="37500" y1="11500" x2="21500" y2="32500"/>
                        <a14:foregroundMark x1="44500" y1="17000" x2="44500" y2="43000"/>
                        <a14:foregroundMark x1="32500" y1="51000" x2="33000" y2="75500"/>
                        <a14:foregroundMark x1="76000" y1="24000" x2="75500" y2="49000"/>
                        <a14:foregroundMark x1="63500" y1="33500" x2="87500" y2="40500"/>
                        <a14:foregroundMark x1="19500" y1="65000" x2="44500" y2="60000"/>
                        <a14:foregroundMark x1="19500" y1="56000" x2="15000" y2="7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933" y="1440683"/>
            <a:ext cx="2276256" cy="227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F:\understanding_os_windows_01279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013" y="4137353"/>
            <a:ext cx="3814067" cy="214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36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686A741-F678-058D-E834-FC0DB85F0BDE}"/>
              </a:ext>
            </a:extLst>
          </p:cNvPr>
          <p:cNvSpPr txBox="1"/>
          <p:nvPr/>
        </p:nvSpPr>
        <p:spPr>
          <a:xfrm>
            <a:off x="511499" y="1659528"/>
            <a:ext cx="4659590" cy="47570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dirty="0"/>
              <a:t>Windows </a:t>
            </a:r>
            <a:r>
              <a:rPr lang="bg-BG" sz="2400" dirty="0"/>
              <a:t>за първи път излиза на пазара през 1985г. под името </a:t>
            </a:r>
            <a:r>
              <a:rPr lang="en-US" sz="2400" dirty="0"/>
              <a:t>Widows </a:t>
            </a:r>
            <a:r>
              <a:rPr lang="bg-BG" sz="2400" dirty="0"/>
              <a:t>1.01.</a:t>
            </a:r>
            <a:r>
              <a:rPr lang="ru-RU" sz="2400" dirty="0"/>
              <a:t> Windows 1.01 и е първият 16-битов софтуер за операционна система на Майкрософт.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ru-RU" sz="2400" dirty="0"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ru-RU" sz="2400" dirty="0">
                <a:latin typeface="+mj-lt"/>
                <a:ea typeface="+mj-ea"/>
                <a:cs typeface="+mj-cs"/>
              </a:rPr>
              <a:t>В последствие </a:t>
            </a:r>
            <a:r>
              <a:rPr lang="en-US" sz="2400" dirty="0">
                <a:latin typeface="+mj-lt"/>
                <a:ea typeface="+mj-ea"/>
                <a:cs typeface="+mj-cs"/>
              </a:rPr>
              <a:t>Windows </a:t>
            </a:r>
            <a:r>
              <a:rPr lang="bg-BG" sz="2400" dirty="0">
                <a:latin typeface="+mj-lt"/>
                <a:ea typeface="+mj-ea"/>
                <a:cs typeface="+mj-cs"/>
              </a:rPr>
              <a:t>ОС претърпява много промени и подобрения, докато стига до версиите 7, 8.1 и 10. Именно на тях ще обърнем внимание.</a:t>
            </a:r>
            <a:endParaRPr lang="en-US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0" y="395479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Windows </a:t>
            </a:r>
            <a:r>
              <a:rPr lang="bg-BG" sz="3600" dirty="0"/>
              <a:t>операционна система</a:t>
            </a:r>
            <a:endParaRPr lang="en-US" sz="3600" dirty="0"/>
          </a:p>
        </p:txBody>
      </p:sp>
      <p:pic>
        <p:nvPicPr>
          <p:cNvPr id="3074" name="Picture 2" descr="F:\1 D6c-FpAeWa0CgOU3fhfXNA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582" y="2306166"/>
            <a:ext cx="5990156" cy="329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889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686A741-F678-058D-E834-FC0DB85F0BDE}"/>
              </a:ext>
            </a:extLst>
          </p:cNvPr>
          <p:cNvSpPr txBox="1"/>
          <p:nvPr/>
        </p:nvSpPr>
        <p:spPr>
          <a:xfrm>
            <a:off x="603290" y="1953818"/>
            <a:ext cx="4659590" cy="4757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bg-BG" sz="2400" dirty="0"/>
              <a:t>Windows 7 е операционна система от Microsoft, пусната през 2009 г. Windows 7 последва Windows Vista и включва различни промени от предишни операционни системи. </a:t>
            </a:r>
            <a:endParaRPr lang="en-US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7700" y="363895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pic>
        <p:nvPicPr>
          <p:cNvPr id="4098" name="Picture 2" descr="F:\Windows_7_Logo_and_Wordmark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254" y="1764960"/>
            <a:ext cx="3600450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F:\Windows_7_SP1_screensho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655" y="3636578"/>
            <a:ext cx="3599793" cy="269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71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686A741-F678-058D-E834-FC0DB85F0BDE}"/>
              </a:ext>
            </a:extLst>
          </p:cNvPr>
          <p:cNvSpPr txBox="1"/>
          <p:nvPr/>
        </p:nvSpPr>
        <p:spPr>
          <a:xfrm>
            <a:off x="647700" y="1554425"/>
            <a:ext cx="4659590" cy="47570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itchFamily="34" charset="0"/>
              <a:buChar char="•"/>
            </a:pPr>
            <a:r>
              <a:rPr lang="ru-RU" sz="2400" dirty="0"/>
              <a:t>разпознаването на допир, реч и ръкопис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itchFamily="34" charset="0"/>
              <a:buChar char="•"/>
            </a:pPr>
            <a:r>
              <a:rPr lang="ru-RU" sz="2400" dirty="0"/>
              <a:t> поддръжка на виртуални харддискове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itchFamily="34" charset="0"/>
              <a:buChar char="•"/>
            </a:pPr>
            <a:r>
              <a:rPr lang="ru-RU" sz="2400" dirty="0"/>
              <a:t> подобрена производителност при мултиядрени процесори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itchFamily="34" charset="0"/>
              <a:buChar char="•"/>
            </a:pPr>
            <a:r>
              <a:rPr lang="ru-RU" sz="2400" dirty="0"/>
              <a:t> подобрена производителност при стартиране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itchFamily="34" charset="0"/>
              <a:buChar char="•"/>
            </a:pPr>
            <a:r>
              <a:rPr lang="ru-RU" sz="2400" dirty="0"/>
              <a:t> подобрения в ядрото на операционната система. </a:t>
            </a:r>
            <a:endParaRPr lang="en-US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4938" y="380949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Нововъведения при </a:t>
            </a:r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pic>
        <p:nvPicPr>
          <p:cNvPr id="5122" name="Picture 2" descr="F:\windows-7-vs-windows-81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88" y="1554425"/>
            <a:ext cx="3548758" cy="221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F:\73746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422" y="4264971"/>
            <a:ext cx="3666723" cy="206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144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686A741-F678-058D-E834-FC0DB85F0BDE}"/>
              </a:ext>
            </a:extLst>
          </p:cNvPr>
          <p:cNvSpPr txBox="1"/>
          <p:nvPr/>
        </p:nvSpPr>
        <p:spPr>
          <a:xfrm>
            <a:off x="647700" y="1554425"/>
            <a:ext cx="4659590" cy="47570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ru-RU" sz="2400" i="1" dirty="0"/>
              <a:t> </a:t>
            </a:r>
            <a:r>
              <a:rPr lang="ru-RU" sz="2400" b="1" dirty="0"/>
              <a:t>Windows 7 Starter</a:t>
            </a:r>
            <a:r>
              <a:rPr lang="ru-RU" sz="2400" i="1" dirty="0"/>
              <a:t> – силно ограничена функционалност. Само 32-битова версия.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ru-RU" sz="2400" i="1" dirty="0"/>
              <a:t>    </a:t>
            </a:r>
            <a:r>
              <a:rPr lang="ru-RU" sz="2400" b="1" dirty="0"/>
              <a:t>Windows 7 Home Basic</a:t>
            </a:r>
            <a:r>
              <a:rPr lang="ru-RU" sz="2400" i="1" dirty="0"/>
              <a:t> – силно ограничена функционалност, но и за 64 битова версия.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ru-RU" sz="2400" dirty="0"/>
              <a:t>    </a:t>
            </a:r>
            <a:r>
              <a:rPr lang="ru-RU" sz="2400" b="1" dirty="0"/>
              <a:t>Windows 7 Home Premium</a:t>
            </a:r>
            <a:r>
              <a:rPr lang="ru-RU" sz="2400" i="1" dirty="0"/>
              <a:t> – стандартно издание за класическия домашен потребител.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400" i="1" dirty="0"/>
              <a:t>    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44938" y="380949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Издания на </a:t>
            </a:r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pic>
        <p:nvPicPr>
          <p:cNvPr id="6146" name="Picture 2" descr="F:\pxUM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876" y="1860329"/>
            <a:ext cx="4953944" cy="445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592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686A741-F678-058D-E834-FC0DB85F0BDE}"/>
              </a:ext>
            </a:extLst>
          </p:cNvPr>
          <p:cNvSpPr txBox="1"/>
          <p:nvPr/>
        </p:nvSpPr>
        <p:spPr>
          <a:xfrm>
            <a:off x="647700" y="1554425"/>
            <a:ext cx="4659590" cy="4757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400" b="1" dirty="0"/>
              <a:t>Windows 7 Professional</a:t>
            </a:r>
            <a:r>
              <a:rPr lang="ru-RU" sz="2400" i="1" dirty="0"/>
              <a:t> – за малкия бизнес и напреднали потребители.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400" i="1" dirty="0"/>
              <a:t>    </a:t>
            </a:r>
            <a:r>
              <a:rPr lang="ru-RU" sz="2400" b="1" dirty="0"/>
              <a:t>Windows 7 Ultimate</a:t>
            </a:r>
            <a:r>
              <a:rPr lang="ru-RU" sz="2400" i="1" dirty="0"/>
              <a:t> – всички възможни функции. За хора, които се занимават професионално с компютри.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400" i="1" dirty="0"/>
              <a:t>    </a:t>
            </a:r>
            <a:r>
              <a:rPr lang="ru-RU" sz="2400" b="1" dirty="0"/>
              <a:t>Windows 7 Enterprise</a:t>
            </a:r>
            <a:r>
              <a:rPr lang="ru-RU" sz="2400" i="1" dirty="0"/>
              <a:t> – за среден и голям бизнес.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44938" y="380949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Издания на </a:t>
            </a:r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pic>
        <p:nvPicPr>
          <p:cNvPr id="7170" name="Picture 2" descr="F:\494x494_9NjNC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212" y="2394190"/>
            <a:ext cx="3077505" cy="307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710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144938" y="223294"/>
            <a:ext cx="10983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Системни изисквания за използване на </a:t>
            </a:r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256848"/>
              </p:ext>
            </p:extLst>
          </p:nvPr>
        </p:nvGraphicFramePr>
        <p:xfrm>
          <a:off x="2021489" y="2411831"/>
          <a:ext cx="8127999" cy="29311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Препоръчителни изисквания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Минимални изисквания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Честота на процесора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1</a:t>
                      </a:r>
                      <a:r>
                        <a:rPr lang="en-US" dirty="0"/>
                        <a:t>GHz</a:t>
                      </a:r>
                      <a:r>
                        <a:rPr lang="en-US" baseline="0" dirty="0"/>
                        <a:t> (32-bit </a:t>
                      </a:r>
                      <a:r>
                        <a:rPr lang="bg-BG" baseline="0" dirty="0"/>
                        <a:t>или 64-</a:t>
                      </a:r>
                      <a:r>
                        <a:rPr lang="en-US" baseline="0" dirty="0"/>
                        <a:t>bit)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 MHz (32-bit)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Оперативна памет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GB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GB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Памет на видео картата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 MB (</a:t>
                      </a:r>
                      <a:r>
                        <a:rPr lang="bg-BG" dirty="0"/>
                        <a:t>за </a:t>
                      </a:r>
                      <a:r>
                        <a:rPr lang="en-US" i="1" dirty="0"/>
                        <a:t>Windows 7 Ultimate Professional</a:t>
                      </a:r>
                      <a:r>
                        <a:rPr lang="en-US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MB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Свободна памет на диска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 GB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GB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924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144938" y="465354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Диагностични елементи на </a:t>
            </a:r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914399" y="2270234"/>
            <a:ext cx="552844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В</a:t>
            </a:r>
            <a:r>
              <a:rPr lang="ru-RU" sz="2400" dirty="0"/>
              <a:t> Windows 7 е вграден </a:t>
            </a:r>
            <a:r>
              <a:rPr lang="ru-RU" sz="2400" i="1" dirty="0"/>
              <a:t>инструмент за отстраняване на неизправности</a:t>
            </a:r>
            <a:r>
              <a:rPr lang="ru-RU" sz="2400" dirty="0"/>
              <a:t>. Той проверява работата на различни системни компоненти, и когато е открита грешка, уведомява потребителя и го поправя.</a:t>
            </a:r>
            <a:endParaRPr lang="en-US" sz="2400" dirty="0"/>
          </a:p>
        </p:txBody>
      </p:sp>
      <p:pic>
        <p:nvPicPr>
          <p:cNvPr id="1026" name="Picture 2" descr="D:\httpatomoreillycomsourcemspimages172998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386" y="2120424"/>
            <a:ext cx="4162644" cy="395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236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144938" y="465354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Диагностични елементи на </a:t>
            </a:r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914399" y="2270234"/>
            <a:ext cx="552844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 помощта на фърмуера за проверка на Windows можете да намерите и поправите следните грешки: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Програми (проблеми при свързване с интернет, стари програми на Windows 7, работа с принтер, Internet Explorer, Media Player);</a:t>
            </a:r>
          </a:p>
          <a:p>
            <a:br>
              <a:rPr lang="ru-RU" sz="2400" dirty="0"/>
            </a:br>
            <a:endParaRPr lang="en-US" sz="2400" dirty="0"/>
          </a:p>
        </p:txBody>
      </p:sp>
      <p:pic>
        <p:nvPicPr>
          <p:cNvPr id="2050" name="Picture 2" descr="D:\troubleshooter-in-windows-7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893" y="2488286"/>
            <a:ext cx="4443851" cy="335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416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144938" y="465354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Диагностични елементи на </a:t>
            </a:r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914399" y="2270234"/>
            <a:ext cx="552844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Оборудване и звук (звукозапис / възпроизвеждане не работи, проблеми с свързани устройства, работа на принтера, мрежов адаптер, възпроизвеждане на оптични дискове, поставени в дисковото устройство);</a:t>
            </a:r>
          </a:p>
        </p:txBody>
      </p:sp>
      <p:pic>
        <p:nvPicPr>
          <p:cNvPr id="3074" name="Picture 2" descr="D:\troubleshooter-in-windows-7_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041" y="2270234"/>
            <a:ext cx="5079300" cy="383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36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144938" y="465354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Диагностични елементи на </a:t>
            </a:r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914399" y="2270234"/>
            <a:ext cx="55284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Мрежа и интернет (неуспешни опити за свързване на компютър / лаптоп към мрежата, създаване на споделени папки, домашна група, свързване на други компютри към вас, проблеми с мрежовия адаптер, мрежов принтер);</a:t>
            </a:r>
          </a:p>
        </p:txBody>
      </p:sp>
      <p:pic>
        <p:nvPicPr>
          <p:cNvPr id="4098" name="Picture 2" descr="D:\troubleshooter-in-windows-7_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557" y="1948880"/>
            <a:ext cx="5379435" cy="405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032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144938" y="465354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Диагностични елементи на </a:t>
            </a:r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756744" y="2270234"/>
            <a:ext cx="55284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Регистрация и персонализация (неправилно работеща Aero, която отговаря за прозрачността на прозорците);</a:t>
            </a:r>
          </a:p>
        </p:txBody>
      </p:sp>
      <p:pic>
        <p:nvPicPr>
          <p:cNvPr id="5122" name="Picture 2" descr="D:\troubleshooter-in-windows-7_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414" y="2196064"/>
            <a:ext cx="5281097" cy="398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138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144938" y="465354"/>
            <a:ext cx="1098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Диагностични елементи на </a:t>
            </a:r>
            <a:r>
              <a:rPr lang="en-US" sz="3600" dirty="0"/>
              <a:t>Windows </a:t>
            </a:r>
            <a:r>
              <a:rPr lang="bg-BG" sz="3600" dirty="0"/>
              <a:t>7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756744" y="2270234"/>
            <a:ext cx="552844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Система и сигурност (защита на Internet Explorer, почистване на компютри от нежелани файлове, проблеми с производителността, захранване на Windows, поправка и индексиране на поправки, получаване на актуализации на операционната система).</a:t>
            </a:r>
          </a:p>
        </p:txBody>
      </p:sp>
      <p:pic>
        <p:nvPicPr>
          <p:cNvPr id="6146" name="Picture 2" descr="D:\troubleshooter-in-windows-7_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765" y="2120424"/>
            <a:ext cx="4957654" cy="373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519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397186" y="381271"/>
            <a:ext cx="1098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Принципът на "Инструменти за корекция на грешки"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6744" y="2270234"/>
            <a:ext cx="552844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Независимо от избрания тип грешка, системата проверява всички свързани системни компоненти, програми</a:t>
            </a:r>
            <a:r>
              <a:rPr lang="en-US" sz="2400" dirty="0"/>
              <a:t> </a:t>
            </a:r>
            <a:r>
              <a:rPr lang="bg-BG" sz="2400" dirty="0"/>
              <a:t>и</a:t>
            </a:r>
            <a:r>
              <a:rPr lang="ru-RU" sz="2400" dirty="0"/>
              <a:t> услуги. Ако е открит проблем, помощната програма може да го поправи сама, като уведоми потребителя за това.</a:t>
            </a:r>
          </a:p>
          <a:p>
            <a:br>
              <a:rPr lang="ru-RU" sz="2400" dirty="0"/>
            </a:br>
            <a:endParaRPr lang="ru-RU" sz="2400" dirty="0"/>
          </a:p>
        </p:txBody>
      </p:sp>
      <p:pic>
        <p:nvPicPr>
          <p:cNvPr id="7170" name="Picture 2" descr="D:\troubleshooter-in-windows-7_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441" y="1025983"/>
            <a:ext cx="3179207" cy="248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D:\troubleshooter-in-windows-7_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359" y="3938511"/>
            <a:ext cx="3618133" cy="2832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own Arrow 4"/>
          <p:cNvSpPr/>
          <p:nvPr/>
        </p:nvSpPr>
        <p:spPr>
          <a:xfrm rot="19522875">
            <a:off x="9062389" y="3492490"/>
            <a:ext cx="441435" cy="5981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93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397186" y="381271"/>
            <a:ext cx="1098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Windows 8.1</a:t>
            </a:r>
            <a:endParaRPr lang="ru-R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756744" y="2270234"/>
            <a:ext cx="55284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Windows 8.1</a:t>
            </a:r>
            <a:r>
              <a:rPr lang="ru-RU" sz="2400" dirty="0"/>
              <a:t> е ъпгрейд за Windows 8 – компютърна операционна система, издадена от Microsoft. </a:t>
            </a:r>
            <a:r>
              <a:rPr lang="ru-RU" sz="2400" dirty="0" err="1"/>
              <a:t>Първоначално</a:t>
            </a:r>
            <a:r>
              <a:rPr lang="ru-RU" sz="2400" dirty="0"/>
              <a:t> </a:t>
            </a:r>
            <a:r>
              <a:rPr lang="en-US" sz="2400" dirty="0"/>
              <a:t>e </a:t>
            </a:r>
            <a:r>
              <a:rPr lang="ru-RU" sz="2400" dirty="0" err="1"/>
              <a:t>представен</a:t>
            </a:r>
            <a:r>
              <a:rPr lang="ru-RU" sz="2400" dirty="0"/>
              <a:t> и пуснат като публична бета версия през юни 2013 г.</a:t>
            </a:r>
          </a:p>
        </p:txBody>
      </p:sp>
      <p:pic>
        <p:nvPicPr>
          <p:cNvPr id="8" name="Картина 7" descr="Картина, която съдържа квадрат&#10;&#10;Описанието е генерирано автоматично">
            <a:extLst>
              <a:ext uri="{FF2B5EF4-FFF2-40B4-BE49-F238E27FC236}">
                <a16:creationId xmlns:a16="http://schemas.microsoft.com/office/drawing/2014/main" id="{CE4D40D3-1C98-E2B9-B5B8-C38FF1501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468" y="4284846"/>
            <a:ext cx="3895526" cy="2191883"/>
          </a:xfrm>
          <a:prstGeom prst="rect">
            <a:avLst/>
          </a:prstGeom>
        </p:spPr>
      </p:pic>
      <p:pic>
        <p:nvPicPr>
          <p:cNvPr id="13" name="Картина 12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id="{A24C7FBF-63E3-54CE-5E19-2019A1535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722" y="1580027"/>
            <a:ext cx="3897998" cy="219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86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397186" y="381271"/>
            <a:ext cx="1098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dirty="0"/>
              <a:t>Подобрения при </a:t>
            </a:r>
            <a:r>
              <a:rPr lang="en-US" sz="3200" dirty="0"/>
              <a:t>Windows 8.1 </a:t>
            </a:r>
            <a:endParaRPr lang="ru-R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647700" y="2120424"/>
            <a:ext cx="55284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sz="2400" b="0" i="0" dirty="0">
                <a:effectLst/>
              </a:rPr>
              <a:t>подобрен начален екран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sz="2400" b="0" i="0" dirty="0">
                <a:effectLst/>
              </a:rPr>
              <a:t>допълнителни пакетни приложения</a:t>
            </a:r>
            <a:endParaRPr lang="bg-B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Internet Explorer 11</a:t>
            </a:r>
            <a:endParaRPr lang="bg-B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обединена</a:t>
            </a:r>
            <a:r>
              <a:rPr lang="ru-RU" sz="2400" dirty="0"/>
              <a:t> система за </a:t>
            </a:r>
            <a:r>
              <a:rPr lang="ru-RU" sz="2400" dirty="0" err="1"/>
              <a:t>търсене</a:t>
            </a:r>
            <a:r>
              <a:rPr lang="ru-RU" sz="2400" dirty="0"/>
              <a:t> с </a:t>
            </a:r>
            <a:r>
              <a:rPr lang="ru-RU" sz="2400" dirty="0" err="1"/>
              <a:t>Bing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err="1">
                <a:effectLst/>
              </a:rPr>
              <a:t>възстановяване</a:t>
            </a:r>
            <a:r>
              <a:rPr lang="ru-RU" sz="2400" b="0" i="0" dirty="0">
                <a:effectLst/>
              </a:rPr>
              <a:t> на видим бутон „Старт“ в </a:t>
            </a:r>
            <a:r>
              <a:rPr lang="ru-RU" sz="2400" b="0" i="0" dirty="0" err="1">
                <a:effectLst/>
              </a:rPr>
              <a:t>лентата</a:t>
            </a:r>
            <a:r>
              <a:rPr lang="ru-RU" sz="2400" b="0" i="0" dirty="0">
                <a:effectLst/>
              </a:rPr>
              <a:t> на </a:t>
            </a:r>
            <a:r>
              <a:rPr lang="ru-RU" sz="2400" b="0" i="0" dirty="0" err="1">
                <a:effectLst/>
              </a:rPr>
              <a:t>задачите</a:t>
            </a:r>
            <a:endParaRPr lang="ru-RU" sz="2400" dirty="0"/>
          </a:p>
          <a:p>
            <a:endParaRPr lang="ru-RU" sz="2400" dirty="0"/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F932C052-C16A-F6AF-88C1-A55AA2939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943" y="2564692"/>
            <a:ext cx="4774625" cy="26844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06475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397186" y="381271"/>
            <a:ext cx="1098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/>
              <a:t>Подобрения при </a:t>
            </a:r>
            <a:r>
              <a:rPr lang="en-US" sz="3200"/>
              <a:t>Windows 8.1 </a:t>
            </a:r>
            <a:endParaRPr lang="ru-R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567559" y="2090172"/>
            <a:ext cx="55284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Windows 8.1 </a:t>
            </a:r>
            <a:r>
              <a:rPr lang="ru-RU" sz="2400" dirty="0" err="1"/>
              <a:t>също</a:t>
            </a:r>
            <a:r>
              <a:rPr lang="ru-RU" sz="2400" dirty="0"/>
              <a:t> </a:t>
            </a:r>
            <a:r>
              <a:rPr lang="ru-RU" sz="2400" dirty="0" err="1"/>
              <a:t>така</a:t>
            </a:r>
            <a:r>
              <a:rPr lang="ru-RU" sz="2400" dirty="0"/>
              <a:t> </a:t>
            </a:r>
            <a:r>
              <a:rPr lang="ru-RU" sz="2400" dirty="0" err="1"/>
              <a:t>поддържа</a:t>
            </a:r>
            <a:r>
              <a:rPr lang="ru-RU" sz="2400" dirty="0"/>
              <a:t> </a:t>
            </a:r>
            <a:r>
              <a:rPr lang="ru-RU" sz="2400" dirty="0" err="1"/>
              <a:t>някои</a:t>
            </a:r>
            <a:r>
              <a:rPr lang="ru-RU" sz="2400" dirty="0"/>
              <a:t> </a:t>
            </a:r>
            <a:r>
              <a:rPr lang="ru-RU" sz="2400" dirty="0" err="1"/>
              <a:t>нововъзникващи</a:t>
            </a:r>
            <a:r>
              <a:rPr lang="ru-RU" sz="2400" dirty="0"/>
              <a:t> технологии </a:t>
            </a:r>
            <a:r>
              <a:rPr lang="ru-RU" sz="2400" dirty="0" err="1"/>
              <a:t>като</a:t>
            </a:r>
            <a:r>
              <a:rPr lang="ru-RU" sz="2400" dirty="0"/>
              <a:t> дисплеи с </a:t>
            </a:r>
            <a:r>
              <a:rPr lang="ru-RU" sz="2400" dirty="0" err="1"/>
              <a:t>висока</a:t>
            </a:r>
            <a:r>
              <a:rPr lang="ru-RU" sz="2400" dirty="0"/>
              <a:t> </a:t>
            </a:r>
            <a:r>
              <a:rPr lang="ru-RU" sz="2400" dirty="0" err="1"/>
              <a:t>разделителна</a:t>
            </a:r>
            <a:r>
              <a:rPr lang="ru-RU" sz="2400" dirty="0"/>
              <a:t> </a:t>
            </a:r>
            <a:r>
              <a:rPr lang="ru-RU" sz="2400" dirty="0" err="1"/>
              <a:t>способност</a:t>
            </a:r>
            <a:r>
              <a:rPr lang="ru-RU" sz="2400" dirty="0"/>
              <a:t>, 3D </a:t>
            </a:r>
            <a:r>
              <a:rPr lang="ru-RU" sz="2400" dirty="0" err="1"/>
              <a:t>печат</a:t>
            </a:r>
            <a:r>
              <a:rPr lang="ru-RU" sz="2400" dirty="0"/>
              <a:t>, </a:t>
            </a:r>
            <a:r>
              <a:rPr lang="ru-RU" sz="2400" dirty="0" err="1"/>
              <a:t>Wi</a:t>
            </a:r>
            <a:r>
              <a:rPr lang="ru-RU" sz="2400" dirty="0"/>
              <a:t>-Fi Direct, </a:t>
            </a:r>
            <a:r>
              <a:rPr lang="ru-RU" sz="2400" dirty="0" err="1"/>
              <a:t>Streaming</a:t>
            </a:r>
            <a:r>
              <a:rPr lang="ru-RU" sz="2400" dirty="0"/>
              <a:t> </a:t>
            </a:r>
            <a:r>
              <a:rPr lang="ru-RU" sz="2400" dirty="0" err="1"/>
              <a:t>Miracast</a:t>
            </a:r>
            <a:r>
              <a:rPr lang="ru-RU" sz="2400" dirty="0"/>
              <a:t> и </a:t>
            </a:r>
            <a:r>
              <a:rPr lang="ru-RU" sz="2400" dirty="0" err="1"/>
              <a:t>файловата</a:t>
            </a:r>
            <a:r>
              <a:rPr lang="ru-RU" sz="2400" dirty="0"/>
              <a:t> система </a:t>
            </a:r>
            <a:r>
              <a:rPr lang="ru-RU" sz="2400" dirty="0" err="1"/>
              <a:t>ReFS</a:t>
            </a:r>
            <a:r>
              <a:rPr lang="ru-RU" sz="2400" dirty="0"/>
              <a:t>.</a:t>
            </a:r>
            <a:endParaRPr lang="bg-BG" sz="2400" dirty="0"/>
          </a:p>
        </p:txBody>
      </p:sp>
      <p:pic>
        <p:nvPicPr>
          <p:cNvPr id="6" name="Картина 5" descr="Картина, която съдържа текст, електроника, компютър, дисплей&#10;&#10;Описанието е генерирано автоматично">
            <a:extLst>
              <a:ext uri="{FF2B5EF4-FFF2-40B4-BE49-F238E27FC236}">
                <a16:creationId xmlns:a16="http://schemas.microsoft.com/office/drawing/2014/main" id="{E057CAB1-FC42-A63B-F9C5-48B2AF54A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200" y="2120424"/>
            <a:ext cx="3848296" cy="2155046"/>
          </a:xfrm>
          <a:prstGeom prst="rect">
            <a:avLst/>
          </a:prstGeom>
        </p:spPr>
      </p:pic>
      <p:pic>
        <p:nvPicPr>
          <p:cNvPr id="8" name="Графика 7" descr="Monitor with solid fill">
            <a:extLst>
              <a:ext uri="{FF2B5EF4-FFF2-40B4-BE49-F238E27FC236}">
                <a16:creationId xmlns:a16="http://schemas.microsoft.com/office/drawing/2014/main" id="{6F0D29BA-CC51-E629-639F-84510FC26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53096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55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397186" y="381271"/>
            <a:ext cx="1098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/>
              <a:t>Подобрения при </a:t>
            </a:r>
            <a:r>
              <a:rPr lang="en-US" sz="3200"/>
              <a:t>Windows 8.1 </a:t>
            </a:r>
            <a:endParaRPr lang="ru-R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567559" y="2090172"/>
            <a:ext cx="55284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Въпреки, че основно, </a:t>
            </a:r>
            <a:r>
              <a:rPr lang="ru-RU" sz="2400" b="0" i="0" dirty="0">
                <a:effectLst/>
              </a:rPr>
              <a:t>Windows 8.1 не се </a:t>
            </a:r>
            <a:r>
              <a:rPr lang="ru-RU" sz="2400" b="0" i="0" dirty="0" err="1">
                <a:effectLst/>
              </a:rPr>
              <a:t>различава</a:t>
            </a:r>
            <a:r>
              <a:rPr lang="ru-RU" sz="2400" b="0" i="0" dirty="0">
                <a:effectLst/>
              </a:rPr>
              <a:t> кой-</a:t>
            </a:r>
            <a:r>
              <a:rPr lang="ru-RU" sz="2400" b="0" i="0" dirty="0" err="1">
                <a:effectLst/>
              </a:rPr>
              <a:t>знае</a:t>
            </a:r>
            <a:r>
              <a:rPr lang="ru-RU" sz="2400" b="0" i="0" dirty="0">
                <a:effectLst/>
              </a:rPr>
              <a:t> колко от своя </a:t>
            </a:r>
            <a:r>
              <a:rPr lang="ru-RU" sz="2400" b="0" i="0" dirty="0" err="1">
                <a:effectLst/>
              </a:rPr>
              <a:t>пресшектвеник</a:t>
            </a:r>
            <a:r>
              <a:rPr lang="ru-RU" sz="2400" b="0" i="0" dirty="0">
                <a:effectLst/>
              </a:rPr>
              <a:t> (</a:t>
            </a:r>
            <a:r>
              <a:rPr lang="en-US" sz="2400" b="0" i="0" dirty="0">
                <a:effectLst/>
              </a:rPr>
              <a:t>Windows 8</a:t>
            </a:r>
            <a:r>
              <a:rPr lang="bg-BG" sz="2400" b="0" i="0" dirty="0">
                <a:effectLst/>
              </a:rPr>
              <a:t>), той пак</a:t>
            </a:r>
            <a:r>
              <a:rPr lang="ru-RU" sz="2400" b="0" i="0" dirty="0">
                <a:effectLst/>
              </a:rPr>
              <a:t> получи </a:t>
            </a:r>
            <a:r>
              <a:rPr lang="ru-RU" sz="2400" b="0" i="0" dirty="0" err="1">
                <a:effectLst/>
              </a:rPr>
              <a:t>повече</a:t>
            </a:r>
            <a:r>
              <a:rPr lang="ru-RU" sz="2400" b="0" i="0" dirty="0">
                <a:effectLst/>
              </a:rPr>
              <a:t> </a:t>
            </a:r>
            <a:r>
              <a:rPr lang="ru-RU" sz="2400" b="0" i="0" dirty="0" err="1">
                <a:effectLst/>
              </a:rPr>
              <a:t>положителни</a:t>
            </a:r>
            <a:r>
              <a:rPr lang="ru-RU" sz="2400" b="0" i="0" dirty="0">
                <a:effectLst/>
              </a:rPr>
              <a:t> </a:t>
            </a:r>
            <a:r>
              <a:rPr lang="ru-RU" sz="2400" b="0" i="0" dirty="0" err="1">
                <a:effectLst/>
              </a:rPr>
              <a:t>отзиви</a:t>
            </a:r>
            <a:r>
              <a:rPr lang="ru-RU" sz="2400" b="0" i="0" dirty="0">
                <a:effectLst/>
              </a:rPr>
              <a:t>. </a:t>
            </a:r>
            <a:r>
              <a:rPr lang="ru-RU" sz="2400" b="0" i="0" dirty="0" err="1">
                <a:effectLst/>
              </a:rPr>
              <a:t>Това</a:t>
            </a:r>
            <a:r>
              <a:rPr lang="ru-RU" sz="2400" b="0" i="0" dirty="0">
                <a:effectLst/>
              </a:rPr>
              <a:t> се </a:t>
            </a:r>
            <a:r>
              <a:rPr lang="ru-RU" sz="2400" b="0" i="0" dirty="0" err="1">
                <a:effectLst/>
              </a:rPr>
              <a:t>дължи</a:t>
            </a:r>
            <a:r>
              <a:rPr lang="ru-RU" sz="2400" b="0" i="0" dirty="0">
                <a:effectLst/>
              </a:rPr>
              <a:t> на </a:t>
            </a:r>
            <a:r>
              <a:rPr lang="ru-RU" sz="2400" b="0" i="0" dirty="0" err="1">
                <a:effectLst/>
              </a:rPr>
              <a:t>многото</a:t>
            </a:r>
            <a:r>
              <a:rPr lang="ru-RU" sz="2400" b="0" i="0" dirty="0">
                <a:effectLst/>
              </a:rPr>
              <a:t> </a:t>
            </a:r>
            <a:r>
              <a:rPr lang="ru-RU" sz="2400" b="0" i="0" dirty="0" err="1">
                <a:effectLst/>
              </a:rPr>
              <a:t>му</a:t>
            </a:r>
            <a:r>
              <a:rPr lang="ru-RU" sz="2400" b="0" i="0" dirty="0">
                <a:effectLst/>
              </a:rPr>
              <a:t> </a:t>
            </a:r>
            <a:r>
              <a:rPr lang="ru-RU" sz="2400" b="0" i="0" dirty="0" err="1">
                <a:effectLst/>
              </a:rPr>
              <a:t>подобрения</a:t>
            </a:r>
            <a:r>
              <a:rPr lang="ru-RU" sz="2400" b="0" i="0" dirty="0">
                <a:effectLst/>
              </a:rPr>
              <a:t>. </a:t>
            </a:r>
            <a:endParaRPr lang="bg-BG" sz="2400" dirty="0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976E5CAD-DEE8-6DE5-310F-F47E076E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138" y="2257535"/>
            <a:ext cx="4713303" cy="314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63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-83581" y="571500"/>
            <a:ext cx="109833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dirty="0"/>
              <a:t>Минимални и препоръчителни изисквания при използване на </a:t>
            </a:r>
            <a:r>
              <a:rPr lang="en-US" sz="3200" dirty="0"/>
              <a:t>Windows 8.1 </a:t>
            </a:r>
            <a:endParaRPr lang="ru-RU" sz="3200" dirty="0"/>
          </a:p>
        </p:txBody>
      </p:sp>
      <p:graphicFrame>
        <p:nvGraphicFramePr>
          <p:cNvPr id="5" name="Таблица 6">
            <a:extLst>
              <a:ext uri="{FF2B5EF4-FFF2-40B4-BE49-F238E27FC236}">
                <a16:creationId xmlns:a16="http://schemas.microsoft.com/office/drawing/2014/main" id="{3D1EF64A-7499-9402-6EF2-2733715BB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159820"/>
              </p:ext>
            </p:extLst>
          </p:nvPr>
        </p:nvGraphicFramePr>
        <p:xfrm>
          <a:off x="867267" y="1990492"/>
          <a:ext cx="9737889" cy="455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963">
                  <a:extLst>
                    <a:ext uri="{9D8B030D-6E8A-4147-A177-3AD203B41FA5}">
                      <a16:colId xmlns:a16="http://schemas.microsoft.com/office/drawing/2014/main" val="2753026391"/>
                    </a:ext>
                  </a:extLst>
                </a:gridCol>
                <a:gridCol w="3245963">
                  <a:extLst>
                    <a:ext uri="{9D8B030D-6E8A-4147-A177-3AD203B41FA5}">
                      <a16:colId xmlns:a16="http://schemas.microsoft.com/office/drawing/2014/main" val="4083151374"/>
                    </a:ext>
                  </a:extLst>
                </a:gridCol>
                <a:gridCol w="3245963">
                  <a:extLst>
                    <a:ext uri="{9D8B030D-6E8A-4147-A177-3AD203B41FA5}">
                      <a16:colId xmlns:a16="http://schemas.microsoft.com/office/drawing/2014/main" val="1520502239"/>
                    </a:ext>
                  </a:extLst>
                </a:gridCol>
              </a:tblGrid>
              <a:tr h="681872">
                <a:tc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Минимални изисквания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Препоръчителни изисквания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652059"/>
                  </a:ext>
                </a:extLst>
              </a:tr>
              <a:tr h="681872">
                <a:tc>
                  <a:txBody>
                    <a:bodyPr/>
                    <a:lstStyle/>
                    <a:p>
                      <a:r>
                        <a:rPr lang="bg-BG" dirty="0"/>
                        <a:t>Процесор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1 </a:t>
                      </a:r>
                      <a:r>
                        <a:rPr lang="en-US" dirty="0"/>
                        <a:t>GHz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2</a:t>
                      </a:r>
                      <a:r>
                        <a:rPr lang="en-US" dirty="0"/>
                        <a:t>GHz dual core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089959"/>
                  </a:ext>
                </a:extLst>
              </a:tr>
              <a:tr h="681872">
                <a:tc>
                  <a:txBody>
                    <a:bodyPr/>
                    <a:lstStyle/>
                    <a:p>
                      <a:r>
                        <a:rPr lang="bg-BG" dirty="0"/>
                        <a:t>Рам памет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1GB</a:t>
                      </a:r>
                      <a:r>
                        <a:rPr lang="bg-BG" dirty="0"/>
                        <a:t> за 32-битова ОС, или 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</a:t>
                      </a:r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за 64-битова</a:t>
                      </a:r>
                      <a:r>
                        <a:rPr lang="en-US" dirty="0"/>
                        <a:t> 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4GB RAM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58391"/>
                  </a:ext>
                </a:extLst>
              </a:tr>
              <a:tr h="681872">
                <a:tc>
                  <a:txBody>
                    <a:bodyPr/>
                    <a:lstStyle/>
                    <a:p>
                      <a:r>
                        <a:rPr lang="bg-BG" dirty="0"/>
                        <a:t>Памет на диск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</a:t>
                      </a:r>
                      <a:r>
                        <a:rPr lang="bg-BG" dirty="0"/>
                        <a:t>6</a:t>
                      </a:r>
                      <a:r>
                        <a:rPr lang="en-US" dirty="0"/>
                        <a:t>GB</a:t>
                      </a:r>
                      <a:r>
                        <a:rPr lang="bg-BG" dirty="0"/>
                        <a:t> за 32-битова ОС и 2</a:t>
                      </a:r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</a:t>
                      </a:r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за 64-битова</a:t>
                      </a:r>
                      <a:r>
                        <a:rPr lang="en-US" dirty="0"/>
                        <a:t> </a:t>
                      </a:r>
                      <a:endParaRPr lang="bg-BG" dirty="0"/>
                    </a:p>
                    <a:p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60GB </a:t>
                      </a:r>
                      <a:r>
                        <a:rPr lang="bg-BG" dirty="0"/>
                        <a:t>място в диска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682204"/>
                  </a:ext>
                </a:extLst>
              </a:tr>
              <a:tr h="681872">
                <a:tc>
                  <a:txBody>
                    <a:bodyPr/>
                    <a:lstStyle/>
                    <a:p>
                      <a:r>
                        <a:rPr lang="bg-BG" dirty="0"/>
                        <a:t>Видео карта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DirectX 9 </a:t>
                      </a:r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или по-нова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WDDM 1.0 driver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DirectX 9 </a:t>
                      </a:r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или по-нова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WDDM 1.0 driver</a:t>
                      </a:r>
                      <a:endParaRPr lang="bg-BG" dirty="0"/>
                    </a:p>
                    <a:p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393245"/>
                  </a:ext>
                </a:extLst>
              </a:tr>
              <a:tr h="681872">
                <a:tc>
                  <a:txBody>
                    <a:bodyPr/>
                    <a:lstStyle/>
                    <a:p>
                      <a:r>
                        <a:rPr lang="bg-BG" dirty="0"/>
                        <a:t>Дисплей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1024x768 pixels</a:t>
                      </a:r>
                      <a:endParaRPr lang="bg-B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1024x768 pixels</a:t>
                      </a:r>
                      <a:endParaRPr lang="bg-BG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73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121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144938" y="478437"/>
            <a:ext cx="1098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Windows 10 </a:t>
            </a:r>
            <a:endParaRPr lang="ru-R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567559" y="2090172"/>
            <a:ext cx="55284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0" dirty="0">
                <a:effectLst/>
              </a:rPr>
              <a:t>Windows 10 е </a:t>
            </a:r>
            <a:r>
              <a:rPr lang="ru-RU" sz="2400" i="0" dirty="0" err="1">
                <a:effectLst/>
              </a:rPr>
              <a:t>операционна</a:t>
            </a:r>
            <a:r>
              <a:rPr lang="ru-RU" sz="2400" i="0" dirty="0">
                <a:effectLst/>
              </a:rPr>
              <a:t> система </a:t>
            </a:r>
            <a:r>
              <a:rPr lang="ru-RU" sz="2400" i="0" dirty="0" err="1">
                <a:effectLst/>
              </a:rPr>
              <a:t>разработена</a:t>
            </a:r>
            <a:r>
              <a:rPr lang="ru-RU" sz="2400" i="0" dirty="0">
                <a:effectLst/>
              </a:rPr>
              <a:t> от </a:t>
            </a:r>
            <a:r>
              <a:rPr lang="bg-BG" sz="2400" dirty="0"/>
              <a:t>и е </a:t>
            </a:r>
            <a:r>
              <a:rPr lang="bg-BG" sz="2400" dirty="0" err="1"/>
              <a:t>об</a:t>
            </a:r>
            <a:r>
              <a:rPr lang="ru-RU" sz="2400" i="0" dirty="0" err="1">
                <a:effectLst/>
              </a:rPr>
              <a:t>явена</a:t>
            </a:r>
            <a:r>
              <a:rPr lang="ru-RU" sz="2400" i="0" dirty="0">
                <a:effectLst/>
              </a:rPr>
              <a:t> за </a:t>
            </a:r>
            <a:r>
              <a:rPr lang="ru-RU" sz="2400" i="0" dirty="0" err="1">
                <a:effectLst/>
              </a:rPr>
              <a:t>първи</a:t>
            </a:r>
            <a:r>
              <a:rPr lang="ru-RU" sz="2400" i="0" dirty="0">
                <a:effectLst/>
              </a:rPr>
              <a:t> </a:t>
            </a:r>
            <a:r>
              <a:rPr lang="ru-RU" sz="2400" i="0" dirty="0" err="1">
                <a:effectLst/>
              </a:rPr>
              <a:t>път</a:t>
            </a:r>
            <a:r>
              <a:rPr lang="ru-RU" sz="2400" i="0" dirty="0">
                <a:effectLst/>
              </a:rPr>
              <a:t> </a:t>
            </a:r>
            <a:r>
              <a:rPr lang="ru-RU" sz="2400" i="0" dirty="0" err="1">
                <a:effectLst/>
              </a:rPr>
              <a:t>през</a:t>
            </a:r>
            <a:r>
              <a:rPr lang="ru-RU" sz="2400" i="0" dirty="0">
                <a:effectLst/>
              </a:rPr>
              <a:t> </a:t>
            </a:r>
            <a:r>
              <a:rPr lang="ru-RU" sz="2400" i="0" dirty="0" err="1">
                <a:effectLst/>
              </a:rPr>
              <a:t>април</a:t>
            </a:r>
            <a:r>
              <a:rPr lang="ru-RU" sz="2400" i="0" dirty="0">
                <a:effectLst/>
              </a:rPr>
              <a:t> 2014 г, а е </a:t>
            </a:r>
            <a:r>
              <a:rPr lang="ru-RU" sz="2400" i="0" dirty="0" err="1">
                <a:effectLst/>
              </a:rPr>
              <a:t>предоставена</a:t>
            </a:r>
            <a:r>
              <a:rPr lang="ru-RU" sz="2400" i="0" dirty="0">
                <a:effectLst/>
              </a:rPr>
              <a:t> за </a:t>
            </a:r>
            <a:r>
              <a:rPr lang="ru-RU" sz="2400" i="0" dirty="0" err="1">
                <a:effectLst/>
              </a:rPr>
              <a:t>ползване</a:t>
            </a:r>
            <a:r>
              <a:rPr lang="ru-RU" sz="2400" i="0" dirty="0">
                <a:effectLst/>
              </a:rPr>
              <a:t> на </a:t>
            </a:r>
            <a:r>
              <a:rPr lang="ru-RU" sz="2400" i="0" dirty="0" err="1">
                <a:effectLst/>
              </a:rPr>
              <a:t>потребителите</a:t>
            </a:r>
            <a:r>
              <a:rPr lang="ru-RU" sz="2400" i="0" dirty="0">
                <a:effectLst/>
              </a:rPr>
              <a:t> </a:t>
            </a:r>
            <a:r>
              <a:rPr lang="ru-RU" sz="2400" i="0" dirty="0" err="1">
                <a:effectLst/>
              </a:rPr>
              <a:t>през</a:t>
            </a:r>
            <a:r>
              <a:rPr lang="ru-RU" sz="2400" i="0" dirty="0">
                <a:effectLst/>
              </a:rPr>
              <a:t> </a:t>
            </a:r>
            <a:r>
              <a:rPr lang="ru-RU" sz="2400" i="0" dirty="0" err="1">
                <a:effectLst/>
              </a:rPr>
              <a:t>следващата</a:t>
            </a:r>
            <a:r>
              <a:rPr lang="ru-RU" sz="2400" i="0" dirty="0">
                <a:effectLst/>
              </a:rPr>
              <a:t> година. </a:t>
            </a:r>
            <a:endParaRPr lang="bg-BG" sz="2400" dirty="0"/>
          </a:p>
        </p:txBody>
      </p:sp>
      <p:pic>
        <p:nvPicPr>
          <p:cNvPr id="6" name="Картина 5" descr="Картина, която съдържа текст, електроника, дисплей&#10;&#10;Описанието е генерирано автоматично">
            <a:extLst>
              <a:ext uri="{FF2B5EF4-FFF2-40B4-BE49-F238E27FC236}">
                <a16:creationId xmlns:a16="http://schemas.microsoft.com/office/drawing/2014/main" id="{C599EB65-B62E-7A96-F9E3-07986A8B9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614" y="3752124"/>
            <a:ext cx="3734492" cy="2489661"/>
          </a:xfrm>
          <a:prstGeom prst="rect">
            <a:avLst/>
          </a:prstGeom>
        </p:spPr>
      </p:pic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3F03EED2-0DC5-CDBA-EE9C-F148C0363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56" y="1295116"/>
            <a:ext cx="2414346" cy="181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85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144938" y="478437"/>
            <a:ext cx="1098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Windows 10</a:t>
            </a:r>
            <a:r>
              <a:rPr lang="bg-BG" sz="3200" dirty="0"/>
              <a:t> – цел на създаване</a:t>
            </a:r>
            <a:r>
              <a:rPr lang="en-US" sz="3200" dirty="0"/>
              <a:t> </a:t>
            </a:r>
            <a:endParaRPr lang="ru-R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567559" y="2090172"/>
            <a:ext cx="55284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b="0" i="0" dirty="0">
                <a:effectLst/>
              </a:rPr>
              <a:t>Целта на </a:t>
            </a:r>
            <a:r>
              <a:rPr lang="en-US" sz="2400" b="0" i="0" dirty="0">
                <a:effectLst/>
              </a:rPr>
              <a:t>Windows 10 </a:t>
            </a:r>
            <a:r>
              <a:rPr lang="bg-BG" sz="2400" b="0" i="0" dirty="0">
                <a:effectLst/>
              </a:rPr>
              <a:t>е да се обединят семействата ОС на </a:t>
            </a:r>
            <a:r>
              <a:rPr lang="en-US" sz="2400" b="0" i="0" dirty="0">
                <a:effectLst/>
              </a:rPr>
              <a:t>Windows Phone, Windows PC</a:t>
            </a:r>
            <a:r>
              <a:rPr lang="bg-BG" sz="2400" b="0" i="0" dirty="0">
                <a:effectLst/>
              </a:rPr>
              <a:t> и </a:t>
            </a:r>
            <a:r>
              <a:rPr lang="bg-BG" sz="2400" dirty="0"/>
              <a:t>др. </a:t>
            </a:r>
            <a:r>
              <a:rPr lang="bg-BG" sz="2400" b="0" i="0" dirty="0">
                <a:effectLst/>
              </a:rPr>
              <a:t>около общо вътрешно ядро. Тези продукти ще споделят обща, „универсална“ архитектура</a:t>
            </a:r>
            <a:endParaRPr lang="bg-BG" sz="2400" dirty="0"/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FCA7F6E7-1E89-C7F4-5396-943436DB1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701" y="1980655"/>
            <a:ext cx="4546862" cy="255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08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144938" y="478437"/>
            <a:ext cx="1098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dirty="0"/>
              <a:t>Нововъведения при </a:t>
            </a:r>
            <a:r>
              <a:rPr lang="en-US" sz="3200" dirty="0"/>
              <a:t>Windows 10</a:t>
            </a:r>
            <a:endParaRPr lang="ru-R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560990" y="2120424"/>
            <a:ext cx="111291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bg-BG" sz="2400" b="0" i="0" u="none" strike="noStrike" dirty="0">
                <a:effectLst/>
              </a:rPr>
              <a:t>Новото меню "Старт".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effectLst/>
              </a:rPr>
              <a:t>Cortana: </a:t>
            </a:r>
            <a:r>
              <a:rPr lang="bg-BG" sz="2400" b="0" i="0" u="none" strike="noStrike" dirty="0">
                <a:effectLst/>
              </a:rPr>
              <a:t>виртуален личен асистент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effectLst/>
              </a:rPr>
              <a:t>Microsoft Edge: </a:t>
            </a:r>
            <a:r>
              <a:rPr lang="bg-BG" sz="2400" b="0" i="0" u="none" strike="noStrike" dirty="0">
                <a:effectLst/>
              </a:rPr>
              <a:t>нов уеб браузър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bg-BG" sz="2400" b="0" i="0" u="none" strike="noStrike" dirty="0">
                <a:effectLst/>
              </a:rPr>
              <a:t>Нов магазин на </a:t>
            </a:r>
            <a:r>
              <a:rPr lang="en-US" sz="2400" b="0" i="0" u="none" strike="noStrike" dirty="0">
                <a:effectLst/>
              </a:rPr>
              <a:t>Windows: </a:t>
            </a:r>
            <a:r>
              <a:rPr lang="bg-BG" sz="2400" b="0" i="0" u="none" strike="noStrike" dirty="0">
                <a:effectLst/>
              </a:rPr>
              <a:t>едно гише за приложения, игри и забавления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bg-BG" sz="2400" b="0" i="0" u="none" strike="noStrike" dirty="0">
                <a:effectLst/>
              </a:rPr>
              <a:t>Разширена </a:t>
            </a:r>
            <a:r>
              <a:rPr lang="bg-BG" sz="2400" b="0" i="0" u="none" strike="noStrike" dirty="0" err="1">
                <a:effectLst/>
              </a:rPr>
              <a:t>многозадачност</a:t>
            </a:r>
            <a:endParaRPr lang="bg-BG" sz="2400" b="0" i="0" u="none" strike="noStrike" dirty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effectLst/>
              </a:rPr>
              <a:t>Windows Hello: </a:t>
            </a:r>
            <a:r>
              <a:rPr lang="bg-BG" sz="2400" b="0" i="0" u="none" strike="noStrike" dirty="0">
                <a:effectLst/>
              </a:rPr>
              <a:t>персонализиран, сигурен начин за достъп до вашето устройство (без парола)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effectLst/>
              </a:rPr>
              <a:t>Microsoft Continuum: </a:t>
            </a:r>
            <a:r>
              <a:rPr lang="bg-BG" sz="2400" b="0" i="0" u="none" strike="noStrike" dirty="0">
                <a:effectLst/>
              </a:rPr>
              <a:t>интегрирайте телефона си с компютъра си</a:t>
            </a:r>
            <a:endParaRPr lang="bg-BG" sz="2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6252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-197962" y="537041"/>
            <a:ext cx="1098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/>
              <a:t>Предимства и недостатъци на </a:t>
            </a:r>
            <a:r>
              <a:rPr lang="en-US" sz="3200"/>
              <a:t>Windows 10</a:t>
            </a:r>
            <a:endParaRPr lang="ru-R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415118" y="2290106"/>
            <a:ext cx="111291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bg-BG" sz="2400" b="0" i="0" u="none" strike="noStrike">
                <a:effectLst/>
              </a:rPr>
              <a:t>Предимства: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bg-BG" sz="2400" b="0" i="0">
                <a:effectLst/>
              </a:rPr>
              <a:t>По-добра сигурност.</a:t>
            </a:r>
            <a:endParaRPr lang="bg-BG" sz="240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0" i="0">
                <a:effectLst/>
              </a:rPr>
              <a:t>Една свързана екосистема. 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b="0" i="0">
                <a:effectLst/>
              </a:rPr>
              <a:t>Настолен и таблетен режим.</a:t>
            </a:r>
          </a:p>
          <a:p>
            <a:pPr algn="l"/>
            <a:r>
              <a:rPr lang="bg-BG" sz="2400"/>
              <a:t>Недостатъци: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bg-BG" sz="2400" b="0" i="0">
                <a:effectLst/>
              </a:rPr>
              <a:t>Задължителни актуализации на </a:t>
            </a:r>
            <a:r>
              <a:rPr lang="en-US" sz="2400" b="0" i="0">
                <a:effectLst/>
              </a:rPr>
              <a:t>Windows. </a:t>
            </a:r>
            <a:endParaRPr lang="bg-BG" sz="2400" b="0" i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bg-BG" sz="2400" b="0" i="0">
                <a:effectLst/>
              </a:rPr>
              <a:t>Въпроси относно поверителността.</a:t>
            </a:r>
            <a:endParaRPr lang="bg-BG" sz="240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bg-BG" sz="2400" b="0" i="0">
                <a:effectLst/>
              </a:rPr>
              <a:t>Загубени приложения.</a:t>
            </a:r>
            <a:endParaRPr lang="bg-BG" sz="2400" dirty="0"/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02A71A21-2B90-AB87-03ED-2441A3EA0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584" y="1560230"/>
            <a:ext cx="4384298" cy="2194469"/>
          </a:xfrm>
          <a:prstGeom prst="rect">
            <a:avLst/>
          </a:prstGeom>
        </p:spPr>
      </p:pic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54396E6C-CA37-15B0-09B4-B9682DD97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626" y="4562678"/>
            <a:ext cx="3220559" cy="188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013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-197962" y="537041"/>
            <a:ext cx="109833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dirty="0"/>
              <a:t>Минимални и препоръчителни изисквания за </a:t>
            </a:r>
            <a:r>
              <a:rPr lang="en-US" sz="3200" dirty="0"/>
              <a:t>Windows 10</a:t>
            </a:r>
            <a:endParaRPr lang="ru-RU" sz="3200" dirty="0"/>
          </a:p>
        </p:txBody>
      </p:sp>
      <p:graphicFrame>
        <p:nvGraphicFramePr>
          <p:cNvPr id="5" name="Таблица 6">
            <a:extLst>
              <a:ext uri="{FF2B5EF4-FFF2-40B4-BE49-F238E27FC236}">
                <a16:creationId xmlns:a16="http://schemas.microsoft.com/office/drawing/2014/main" id="{72903310-8797-6956-66B8-21C13DCD0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075384"/>
              </p:ext>
            </p:extLst>
          </p:nvPr>
        </p:nvGraphicFramePr>
        <p:xfrm>
          <a:off x="867267" y="1990492"/>
          <a:ext cx="9737889" cy="455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963">
                  <a:extLst>
                    <a:ext uri="{9D8B030D-6E8A-4147-A177-3AD203B41FA5}">
                      <a16:colId xmlns:a16="http://schemas.microsoft.com/office/drawing/2014/main" val="2753026391"/>
                    </a:ext>
                  </a:extLst>
                </a:gridCol>
                <a:gridCol w="3245963">
                  <a:extLst>
                    <a:ext uri="{9D8B030D-6E8A-4147-A177-3AD203B41FA5}">
                      <a16:colId xmlns:a16="http://schemas.microsoft.com/office/drawing/2014/main" val="4083151374"/>
                    </a:ext>
                  </a:extLst>
                </a:gridCol>
                <a:gridCol w="3245963">
                  <a:extLst>
                    <a:ext uri="{9D8B030D-6E8A-4147-A177-3AD203B41FA5}">
                      <a16:colId xmlns:a16="http://schemas.microsoft.com/office/drawing/2014/main" val="1520502239"/>
                    </a:ext>
                  </a:extLst>
                </a:gridCol>
              </a:tblGrid>
              <a:tr h="681872">
                <a:tc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Минимални изисквания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Препоръчителни изисквания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652059"/>
                  </a:ext>
                </a:extLst>
              </a:tr>
              <a:tr h="681872">
                <a:tc>
                  <a:txBody>
                    <a:bodyPr/>
                    <a:lstStyle/>
                    <a:p>
                      <a:r>
                        <a:rPr lang="bg-BG" dirty="0"/>
                        <a:t>Процесор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1 </a:t>
                      </a:r>
                      <a:r>
                        <a:rPr lang="en-US" dirty="0"/>
                        <a:t>GHz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2</a:t>
                      </a:r>
                      <a:r>
                        <a:rPr lang="en-US" dirty="0"/>
                        <a:t>GHz dual core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089959"/>
                  </a:ext>
                </a:extLst>
              </a:tr>
              <a:tr h="681872">
                <a:tc>
                  <a:txBody>
                    <a:bodyPr/>
                    <a:lstStyle/>
                    <a:p>
                      <a:r>
                        <a:rPr lang="bg-BG" dirty="0"/>
                        <a:t>Рам памет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1GB</a:t>
                      </a:r>
                      <a:r>
                        <a:rPr lang="bg-BG" dirty="0"/>
                        <a:t> за 32-битова ОС, или 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</a:t>
                      </a:r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за 64-битова</a:t>
                      </a:r>
                      <a:r>
                        <a:rPr lang="en-US" dirty="0"/>
                        <a:t> 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4GB RAM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58391"/>
                  </a:ext>
                </a:extLst>
              </a:tr>
              <a:tr h="681872">
                <a:tc>
                  <a:txBody>
                    <a:bodyPr/>
                    <a:lstStyle/>
                    <a:p>
                      <a:r>
                        <a:rPr lang="bg-BG" dirty="0"/>
                        <a:t>Памет на диск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</a:t>
                      </a:r>
                      <a:r>
                        <a:rPr lang="bg-BG" dirty="0"/>
                        <a:t>6</a:t>
                      </a:r>
                      <a:r>
                        <a:rPr lang="en-US" dirty="0"/>
                        <a:t>GB</a:t>
                      </a:r>
                      <a:r>
                        <a:rPr lang="bg-BG" dirty="0"/>
                        <a:t> за 32-битова ОС и 2</a:t>
                      </a:r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</a:t>
                      </a:r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за 64-битова</a:t>
                      </a:r>
                      <a:r>
                        <a:rPr lang="en-US" dirty="0"/>
                        <a:t> </a:t>
                      </a:r>
                      <a:endParaRPr lang="bg-BG" dirty="0"/>
                    </a:p>
                    <a:p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60GB </a:t>
                      </a:r>
                      <a:r>
                        <a:rPr lang="bg-BG" dirty="0"/>
                        <a:t>място в диска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682204"/>
                  </a:ext>
                </a:extLst>
              </a:tr>
              <a:tr h="681872">
                <a:tc>
                  <a:txBody>
                    <a:bodyPr/>
                    <a:lstStyle/>
                    <a:p>
                      <a:r>
                        <a:rPr lang="bg-BG" dirty="0"/>
                        <a:t>Видео карта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DirectX 9 </a:t>
                      </a:r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или по-нова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WDDM 1.0 driver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DirectX 9 </a:t>
                      </a:r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или по-нова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WDDM 1.0 driver</a:t>
                      </a:r>
                      <a:endParaRPr lang="bg-BG" dirty="0"/>
                    </a:p>
                    <a:p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393245"/>
                  </a:ext>
                </a:extLst>
              </a:tr>
              <a:tr h="681872">
                <a:tc>
                  <a:txBody>
                    <a:bodyPr/>
                    <a:lstStyle/>
                    <a:p>
                      <a:r>
                        <a:rPr lang="bg-BG" dirty="0"/>
                        <a:t>Дисплей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800 x 600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800 x 600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73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603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-197962" y="537041"/>
            <a:ext cx="1098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dirty="0"/>
              <a:t>Тест</a:t>
            </a:r>
            <a:endParaRPr lang="ru-RU" sz="3200" dirty="0"/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8B0AFF83-E9D9-FEEB-EC8C-6302E256F05E}"/>
              </a:ext>
            </a:extLst>
          </p:cNvPr>
          <p:cNvSpPr txBox="1"/>
          <p:nvPr/>
        </p:nvSpPr>
        <p:spPr>
          <a:xfrm>
            <a:off x="735292" y="1855248"/>
            <a:ext cx="80410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hlinkClick r:id="rId3" action="ppaction://hlinksldjump"/>
              </a:rPr>
              <a:t>Кога е пуснат на пазара</a:t>
            </a:r>
            <a:r>
              <a:rPr lang="en-US" sz="2400" dirty="0">
                <a:hlinkClick r:id="rId3" action="ppaction://hlinksldjump"/>
              </a:rPr>
              <a:t> Windows 7</a:t>
            </a:r>
            <a:r>
              <a:rPr lang="bg-BG" sz="2400" dirty="0">
                <a:hlinkClick r:id="rId3" action="ppaction://hlinksldjump"/>
              </a:rPr>
              <a:t>?</a:t>
            </a:r>
            <a:endParaRPr lang="bg-BG" sz="2400" dirty="0"/>
          </a:p>
          <a:p>
            <a:r>
              <a:rPr lang="bg-BG" sz="2400" dirty="0">
                <a:hlinkClick r:id="rId4" action="ppaction://hlinksldjump"/>
              </a:rPr>
              <a:t>Кои са нововъведенията при </a:t>
            </a:r>
            <a:r>
              <a:rPr lang="en-US" sz="2400" dirty="0">
                <a:hlinkClick r:id="rId4" action="ppaction://hlinksldjump"/>
              </a:rPr>
              <a:t>Windows 7?</a:t>
            </a:r>
            <a:endParaRPr lang="bg-BG" sz="2400" dirty="0"/>
          </a:p>
          <a:p>
            <a:r>
              <a:rPr lang="bg-BG" sz="2400" dirty="0">
                <a:hlinkClick r:id="rId5" action="ppaction://hlinksldjump"/>
              </a:rPr>
              <a:t>Каква е минималната  </a:t>
            </a:r>
            <a:r>
              <a:rPr lang="en-US" sz="2400" dirty="0">
                <a:hlinkClick r:id="rId5" action="ppaction://hlinksldjump"/>
              </a:rPr>
              <a:t>RAM </a:t>
            </a:r>
            <a:r>
              <a:rPr lang="bg-BG" sz="2400" dirty="0">
                <a:hlinkClick r:id="rId5" action="ppaction://hlinksldjump"/>
              </a:rPr>
              <a:t>памет за използване на </a:t>
            </a:r>
            <a:r>
              <a:rPr lang="en-US" sz="2400" dirty="0">
                <a:hlinkClick r:id="rId5" action="ppaction://hlinksldjump"/>
              </a:rPr>
              <a:t>Windows </a:t>
            </a:r>
            <a:r>
              <a:rPr lang="bg-BG" sz="2400" dirty="0">
                <a:hlinkClick r:id="rId5" action="ppaction://hlinksldjump"/>
              </a:rPr>
              <a:t>8.1?</a:t>
            </a:r>
            <a:endParaRPr lang="bg-BG" sz="2400" dirty="0"/>
          </a:p>
          <a:p>
            <a:r>
              <a:rPr lang="bg-BG" sz="2400" dirty="0">
                <a:hlinkClick r:id="rId6" action="ppaction://hlinksldjump"/>
              </a:rPr>
              <a:t>Кой е предшественикът на </a:t>
            </a:r>
            <a:r>
              <a:rPr lang="en-US" sz="2400" dirty="0">
                <a:hlinkClick r:id="rId6" action="ppaction://hlinksldjump"/>
              </a:rPr>
              <a:t>Windows </a:t>
            </a:r>
            <a:r>
              <a:rPr lang="bg-BG" sz="2400" dirty="0">
                <a:hlinkClick r:id="rId6" action="ppaction://hlinksldjump"/>
              </a:rPr>
              <a:t>8.1?</a:t>
            </a:r>
            <a:endParaRPr lang="bg-BG" sz="2400" dirty="0"/>
          </a:p>
          <a:p>
            <a:r>
              <a:rPr lang="bg-BG" sz="2400" dirty="0">
                <a:hlinkClick r:id="rId7" action="ppaction://hlinksldjump"/>
              </a:rPr>
              <a:t>Какви са целите за създаването на </a:t>
            </a:r>
            <a:r>
              <a:rPr lang="en-US" sz="2400" dirty="0">
                <a:hlinkClick r:id="rId7" action="ppaction://hlinksldjump"/>
              </a:rPr>
              <a:t>Windows 10?</a:t>
            </a:r>
            <a:endParaRPr lang="bg-BG" sz="2400" dirty="0"/>
          </a:p>
          <a:p>
            <a:r>
              <a:rPr lang="bg-BG" sz="2400" dirty="0">
                <a:hlinkClick r:id="rId8" action="ppaction://hlinksldjump"/>
              </a:rPr>
              <a:t>Кои са нововъведенията при </a:t>
            </a:r>
            <a:r>
              <a:rPr lang="en-US" sz="2400" dirty="0">
                <a:hlinkClick r:id="rId8" action="ppaction://hlinksldjump"/>
              </a:rPr>
              <a:t>Windows </a:t>
            </a:r>
            <a:r>
              <a:rPr lang="bg-BG" sz="2400" dirty="0">
                <a:hlinkClick r:id="rId8" action="ppaction://hlinksldjump"/>
              </a:rPr>
              <a:t>10</a:t>
            </a:r>
            <a:r>
              <a:rPr lang="en-US" sz="2400" dirty="0">
                <a:hlinkClick r:id="rId8" action="ppaction://hlinksldjump"/>
              </a:rPr>
              <a:t>?</a:t>
            </a:r>
            <a:endParaRPr lang="bg-BG" sz="2400" dirty="0"/>
          </a:p>
          <a:p>
            <a:r>
              <a:rPr lang="bg-BG" sz="2400" dirty="0">
                <a:hlinkClick r:id="rId9" action="ppaction://hlinksldjump"/>
              </a:rPr>
              <a:t>Какви са недостатъците на </a:t>
            </a:r>
            <a:r>
              <a:rPr lang="en-US" sz="2400" dirty="0">
                <a:hlinkClick r:id="rId9" action="ppaction://hlinksldjump"/>
              </a:rPr>
              <a:t>Windows 10?</a:t>
            </a:r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988861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B130A7E-941E-ABC4-7192-EE1EFE244BE6}"/>
              </a:ext>
            </a:extLst>
          </p:cNvPr>
          <p:cNvSpPr txBox="1"/>
          <p:nvPr/>
        </p:nvSpPr>
        <p:spPr>
          <a:xfrm>
            <a:off x="647700" y="478437"/>
            <a:ext cx="923036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461915" y="678442"/>
            <a:ext cx="109833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Използвана литература:</a:t>
            </a:r>
          </a:p>
          <a:p>
            <a:endParaRPr lang="ru-RU" sz="2400" dirty="0"/>
          </a:p>
          <a:p>
            <a:r>
              <a:rPr lang="en-US" sz="2000" dirty="0">
                <a:hlinkClick r:id="rId3"/>
              </a:rPr>
              <a:t>https://edu.gcfglobal.org/en/windows8/upgrading-to-windows-81/1/</a:t>
            </a:r>
            <a:endParaRPr lang="bg-BG" sz="2000" dirty="0"/>
          </a:p>
          <a:p>
            <a:r>
              <a:rPr lang="en-US" sz="2000" dirty="0">
                <a:hlinkClick r:id="rId4"/>
              </a:rPr>
              <a:t>https://windowstechies.com/windows-8-1-system-requirements/</a:t>
            </a:r>
            <a:endParaRPr lang="bg-BG" sz="2000" dirty="0"/>
          </a:p>
          <a:p>
            <a:r>
              <a:rPr lang="en-US" sz="2000" dirty="0">
                <a:hlinkClick r:id="rId5"/>
              </a:rPr>
              <a:t>https://www.pcrequirements.net/en/softwares/windows-8.1-system-requirements/</a:t>
            </a:r>
            <a:endParaRPr lang="bg-BG" sz="2000" dirty="0"/>
          </a:p>
          <a:p>
            <a:r>
              <a:rPr lang="en-US" sz="2000" dirty="0">
                <a:hlinkClick r:id="rId5"/>
              </a:rPr>
              <a:t>https://www.pcrequirements.net/en/softwares/windows-8.1-system-requirements/</a:t>
            </a:r>
            <a:endParaRPr lang="bg-BG" sz="2000" dirty="0"/>
          </a:p>
          <a:p>
            <a:r>
              <a:rPr lang="en-US" sz="2000" dirty="0">
                <a:hlinkClick r:id="rId6"/>
              </a:rPr>
              <a:t>https://www.microsoft.com/bg-bg/software-download/</a:t>
            </a:r>
            <a:endParaRPr lang="bg-BG" sz="2000" dirty="0"/>
          </a:p>
          <a:p>
            <a:r>
              <a:rPr lang="en-US" sz="2000" dirty="0">
                <a:hlinkClick r:id="rId3"/>
              </a:rPr>
              <a:t>https://edu.gcfglobal.org/en/windows8/upgrading-to-windows-81/1/</a:t>
            </a:r>
            <a:endParaRPr lang="bg-BG" sz="2000" dirty="0"/>
          </a:p>
          <a:p>
            <a:r>
              <a:rPr lang="en-US" sz="2000" dirty="0">
                <a:hlinkClick r:id="rId7"/>
              </a:rPr>
              <a:t>https://translate.google.com/?sl=bg&amp;tl=en&amp;text=%D0%B8%D0%B7%D0%B8%D1%81%D0%BA%D0%B2%D0%B0%D0%BD%D0%B5%20&amp;op=translate</a:t>
            </a:r>
            <a:endParaRPr lang="bg-BG" sz="2000" dirty="0"/>
          </a:p>
          <a:p>
            <a:r>
              <a:rPr lang="en-US" sz="2000" dirty="0">
                <a:hlinkClick r:id="rId8"/>
              </a:rPr>
              <a:t>https://en.wikipedia.org/wiki/Windows_10</a:t>
            </a:r>
            <a:endParaRPr lang="bg-BG" sz="2000" dirty="0"/>
          </a:p>
          <a:p>
            <a:r>
              <a:rPr lang="en-US" sz="2000" dirty="0">
                <a:hlinkClick r:id="rId9"/>
              </a:rPr>
              <a:t>https://support.brother.com/g/b/oscontents.aspx?c=bg&amp;lang=bg&amp;ossid=7</a:t>
            </a:r>
            <a:endParaRPr lang="bg-BG" sz="2000" dirty="0"/>
          </a:p>
          <a:p>
            <a:r>
              <a:rPr lang="en-US" sz="2000" dirty="0">
                <a:hlinkClick r:id="rId10"/>
              </a:rPr>
              <a:t>https://www.microsoft.com/bg-bg/windows/compare-windows-10-home-vs-pro</a:t>
            </a:r>
            <a:endParaRPr lang="bg-BG" sz="2000" dirty="0"/>
          </a:p>
          <a:p>
            <a:r>
              <a:rPr lang="en-US" sz="2000" dirty="0"/>
              <a:t>https://www.pcrequirements.net/en/softwares/windows-8.1-system-requirements/</a:t>
            </a:r>
            <a:endParaRPr lang="ru-RU" sz="2000" dirty="0"/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851DCE82-E401-99D0-D9D9-12195E6EDC35}"/>
              </a:ext>
            </a:extLst>
          </p:cNvPr>
          <p:cNvSpPr txBox="1"/>
          <p:nvPr/>
        </p:nvSpPr>
        <p:spPr>
          <a:xfrm>
            <a:off x="8254047" y="6179558"/>
            <a:ext cx="3937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Изготвил: Ханаан Стаменов</a:t>
            </a:r>
          </a:p>
        </p:txBody>
      </p:sp>
    </p:spTree>
    <p:extLst>
      <p:ext uri="{BB962C8B-B14F-4D97-AF65-F5344CB8AC3E}">
        <p14:creationId xmlns:p14="http://schemas.microsoft.com/office/powerpoint/2010/main" val="33832967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Йон">
  <a:themeElements>
    <a:clrScheme name="Йон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Йон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Й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1069</TotalTime>
  <Words>1494</Words>
  <Application>Microsoft Office PowerPoint</Application>
  <PresentationFormat>Широк екран</PresentationFormat>
  <Paragraphs>184</Paragraphs>
  <Slides>33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33</vt:i4>
      </vt:variant>
    </vt:vector>
  </HeadingPairs>
  <TitlesOfParts>
    <vt:vector size="38" baseType="lpstr">
      <vt:lpstr>Arial</vt:lpstr>
      <vt:lpstr>Century Gothic</vt:lpstr>
      <vt:lpstr>Wingdings</vt:lpstr>
      <vt:lpstr>Wingdings 3</vt:lpstr>
      <vt:lpstr>Йон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Hanaan Stamenov</dc:creator>
  <cp:lastModifiedBy>Hanaan Stamenov</cp:lastModifiedBy>
  <cp:revision>23</cp:revision>
  <dcterms:created xsi:type="dcterms:W3CDTF">2022-12-19T18:07:48Z</dcterms:created>
  <dcterms:modified xsi:type="dcterms:W3CDTF">2022-12-20T21:54:10Z</dcterms:modified>
</cp:coreProperties>
</file>